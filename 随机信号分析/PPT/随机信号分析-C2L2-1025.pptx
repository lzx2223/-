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1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2"/>
    <p:sldMasterId id="2147483672" r:id="rId3"/>
    <p:sldMasterId id="2147483676" r:id="rId4"/>
    <p:sldMasterId id="2147483694" r:id="rId5"/>
  </p:sldMasterIdLst>
  <p:notesMasterIdLst>
    <p:notesMasterId r:id="rId43"/>
  </p:notesMasterIdLst>
  <p:handoutMasterIdLst>
    <p:handoutMasterId r:id="rId44"/>
  </p:handoutMasterIdLst>
  <p:sldIdLst>
    <p:sldId id="360" r:id="rId6"/>
    <p:sldId id="256" r:id="rId7"/>
    <p:sldId id="259" r:id="rId8"/>
    <p:sldId id="260" r:id="rId9"/>
    <p:sldId id="261" r:id="rId10"/>
    <p:sldId id="262" r:id="rId11"/>
    <p:sldId id="263" r:id="rId12"/>
    <p:sldId id="279" r:id="rId13"/>
    <p:sldId id="264" r:id="rId14"/>
    <p:sldId id="280" r:id="rId15"/>
    <p:sldId id="281" r:id="rId16"/>
    <p:sldId id="314" r:id="rId17"/>
    <p:sldId id="283" r:id="rId18"/>
    <p:sldId id="284" r:id="rId19"/>
    <p:sldId id="285" r:id="rId20"/>
    <p:sldId id="286" r:id="rId21"/>
    <p:sldId id="288" r:id="rId22"/>
    <p:sldId id="310" r:id="rId23"/>
    <p:sldId id="311" r:id="rId24"/>
    <p:sldId id="265" r:id="rId25"/>
    <p:sldId id="287" r:id="rId26"/>
    <p:sldId id="267" r:id="rId27"/>
    <p:sldId id="268" r:id="rId28"/>
    <p:sldId id="307" r:id="rId29"/>
    <p:sldId id="269" r:id="rId30"/>
    <p:sldId id="270" r:id="rId31"/>
    <p:sldId id="271" r:id="rId32"/>
    <p:sldId id="312" r:id="rId33"/>
    <p:sldId id="291" r:id="rId34"/>
    <p:sldId id="272" r:id="rId35"/>
    <p:sldId id="289" r:id="rId36"/>
    <p:sldId id="290" r:id="rId37"/>
    <p:sldId id="273" r:id="rId38"/>
    <p:sldId id="274" r:id="rId39"/>
    <p:sldId id="275" r:id="rId40"/>
    <p:sldId id="276" r:id="rId41"/>
    <p:sldId id="277" r:id="rId42"/>
  </p:sldIdLst>
  <p:sldSz cx="9144000" cy="6858000" type="screen4x3"/>
  <p:notesSz cx="6858000" cy="9144000"/>
  <p:custDataLst>
    <p:tags r:id="rId45"/>
  </p:custDataLst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6" autoAdjust="0"/>
    <p:restoredTop sz="90233" autoAdjust="0"/>
  </p:normalViewPr>
  <p:slideViewPr>
    <p:cSldViewPr showGuides="1">
      <p:cViewPr varScale="1">
        <p:scale>
          <a:sx n="82" d="100"/>
          <a:sy n="82" d="100"/>
        </p:scale>
        <p:origin x="12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复习随机过程定义！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维联合分布特性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两个随机信号，不是两个随机变量！需举例说明！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检查提问互相关函数求解</a:t>
            </a:r>
            <a:r>
              <a:rPr lang="zh-CN" altLang="en-US"/>
              <a:t>过程？自相关函数！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07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再次强调 两个随机信号 不相关  正交 独立的区别与判断方法！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60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看书</a:t>
            </a:r>
            <a:r>
              <a:rPr lang="en-US" altLang="zh-CN" dirty="0"/>
              <a:t>P43</a:t>
            </a:r>
            <a:r>
              <a:rPr lang="zh-CN" altLang="en-US" dirty="0"/>
              <a:t>和</a:t>
            </a:r>
            <a:r>
              <a:rPr lang="en-US" altLang="zh-CN" dirty="0"/>
              <a:t>P51</a:t>
            </a:r>
            <a:r>
              <a:rPr lang="zh-CN" altLang="en-US" dirty="0"/>
              <a:t>。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I  </a:t>
            </a:r>
            <a:r>
              <a:rPr lang="zh-CN" altLang="en-US" dirty="0"/>
              <a:t>两个随机信号 </a:t>
            </a:r>
            <a:r>
              <a:rPr lang="en-US" altLang="zh-CN" dirty="0"/>
              <a:t>In-phase  Quadrature component</a:t>
            </a:r>
            <a:r>
              <a:rPr lang="zh-CN" altLang="en-US" dirty="0"/>
              <a:t>解析信号 希尔伯特变换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互协方差函数的求法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67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同时刻 不相关！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97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理解这个结论！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587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每人都要交！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131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停一下， 需要检查一下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962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P59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04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t>25/10/2024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t>25/10/2024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/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/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22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1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26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130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/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 panose="02010600030101010101" pitchFamily="2" charset="-122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 panose="02010600030101010101" pitchFamily="2" charset="-122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 panose="02010600030101010101" pitchFamily="2" charset="-122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/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sd01234090-1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632848" cy="792088"/>
          </a:xfrm>
        </p:spPr>
        <p:txBody>
          <a:bodyPr/>
          <a:lstStyle/>
          <a:p>
            <a:r>
              <a:rPr lang="zh-CN" altLang="en-US" sz="4000" dirty="0"/>
              <a:t>第二章 随机信号（随机过程）</a:t>
            </a:r>
          </a:p>
        </p:txBody>
      </p:sp>
      <p:sp>
        <p:nvSpPr>
          <p:cNvPr id="3" name="矩形 2"/>
          <p:cNvSpPr/>
          <p:nvPr/>
        </p:nvSpPr>
        <p:spPr>
          <a:xfrm>
            <a:off x="1259632" y="2041120"/>
            <a:ext cx="6408712" cy="3222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2.1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、随机信号的定义与基本特性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2.2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、典型随机信号举例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2.3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、随机信号的一般特性与基本运算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2.4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、多维高斯分布与高斯信号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2.5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、独立信号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886700" cy="657209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学习目标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52736"/>
            <a:ext cx="8420353" cy="4896544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了解随机信号的</a:t>
            </a:r>
            <a:r>
              <a:rPr lang="en-US" altLang="zh-CN" sz="9600" dirty="0">
                <a:latin typeface="楷体" panose="02010609060101010101" pitchFamily="49" charset="-122"/>
              </a:rPr>
              <a:t>n</a:t>
            </a:r>
            <a:r>
              <a:rPr lang="zh-CN" altLang="en-US" sz="9600" dirty="0">
                <a:latin typeface="楷体" panose="02010609060101010101" pitchFamily="49" charset="-122"/>
              </a:rPr>
              <a:t>维概率特性；</a:t>
            </a:r>
            <a:endParaRPr lang="en-US" altLang="zh-CN" sz="9600" dirty="0">
              <a:latin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了解两个随机信号的</a:t>
            </a:r>
            <a:r>
              <a:rPr lang="en-US" altLang="zh-CN" sz="9600" dirty="0">
                <a:latin typeface="楷体" panose="02010609060101010101" pitchFamily="49" charset="-122"/>
              </a:rPr>
              <a:t>n</a:t>
            </a:r>
            <a:r>
              <a:rPr lang="zh-CN" altLang="en-US" sz="9600" dirty="0">
                <a:latin typeface="楷体" panose="02010609060101010101" pitchFamily="49" charset="-122"/>
              </a:rPr>
              <a:t>维联合概率特性；</a:t>
            </a:r>
            <a:endParaRPr lang="en-US" altLang="zh-CN" sz="9600" dirty="0">
              <a:latin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写出两个随机信号的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</a:rPr>
              <a:t>互相关函数</a:t>
            </a:r>
            <a:r>
              <a:rPr lang="zh-CN" altLang="en-US" sz="9600" dirty="0">
                <a:latin typeface="楷体" panose="02010609060101010101" pitchFamily="49" charset="-122"/>
              </a:rPr>
              <a:t>表达式、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</a:rPr>
              <a:t>互协方差函数</a:t>
            </a:r>
            <a:r>
              <a:rPr lang="zh-CN" altLang="en-US" sz="9600" dirty="0">
                <a:latin typeface="楷体" panose="02010609060101010101" pitchFamily="49" charset="-122"/>
              </a:rPr>
              <a:t>表达式和互相关系数表达式；</a:t>
            </a:r>
            <a:endParaRPr lang="en-US" altLang="zh-CN" sz="9600" dirty="0">
              <a:latin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区分随机信号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</a:rPr>
              <a:t>统计独立、不相关和正交的</a:t>
            </a:r>
            <a:r>
              <a:rPr lang="zh-CN" altLang="en-US" sz="9600" dirty="0">
                <a:latin typeface="楷体" panose="02010609060101010101" pitchFamily="49" charset="-122"/>
              </a:rPr>
              <a:t>异同；</a:t>
            </a:r>
            <a:endParaRPr lang="en-US" altLang="zh-CN" sz="9600" dirty="0">
              <a:latin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阐述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</a:rPr>
              <a:t>随机信号自相关函数、自协方差函数、互相关函数和互协方差函数的性质</a:t>
            </a:r>
            <a:r>
              <a:rPr lang="zh-CN" altLang="en-US" sz="9600" dirty="0">
                <a:latin typeface="楷体" panose="02010609060101010101" pitchFamily="49" charset="-122"/>
              </a:rPr>
              <a:t>；</a:t>
            </a:r>
            <a:endParaRPr lang="en-US" altLang="zh-CN" sz="9600" dirty="0">
              <a:latin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说明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</a:rPr>
              <a:t>高斯随机变量和高斯随机信号的性质，写出其</a:t>
            </a:r>
            <a:r>
              <a:rPr lang="en-US" altLang="zh-CN" sz="9600" dirty="0">
                <a:solidFill>
                  <a:srgbClr val="FF0000"/>
                </a:solidFill>
                <a:latin typeface="楷体" panose="02010609060101010101" pitchFamily="49" charset="-122"/>
              </a:rPr>
              <a:t>n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</a:rPr>
              <a:t>维概率密度公式</a:t>
            </a:r>
            <a:r>
              <a:rPr lang="zh-CN" altLang="en-US" sz="9600" dirty="0">
                <a:latin typeface="楷体" panose="02010609060101010101" pitchFamily="49" charset="-122"/>
              </a:rPr>
              <a:t>；</a:t>
            </a:r>
            <a:endParaRPr lang="en-US" altLang="zh-CN" sz="9600" dirty="0">
              <a:latin typeface="楷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9600" dirty="0">
                <a:latin typeface="楷体" panose="02010609060101010101" pitchFamily="49" charset="-122"/>
              </a:rPr>
              <a:t>了解独立信号和复随机信号</a:t>
            </a:r>
            <a:r>
              <a:rPr lang="zh-CN" altLang="en-US" sz="11200" dirty="0">
                <a:latin typeface="楷体" panose="02010609060101010101" pitchFamily="49" charset="-122"/>
              </a:rPr>
              <a:t>。</a:t>
            </a:r>
            <a:endParaRPr lang="en-US" altLang="zh-CN" sz="11200" dirty="0">
              <a:latin typeface="楷体" panose="02010609060101010101" pitchFamily="49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60648"/>
            <a:ext cx="7886700" cy="1119659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2.3 </a:t>
            </a:r>
            <a:r>
              <a:rPr lang="zh-CN" altLang="en-US" sz="3600" dirty="0"/>
              <a:t>随机信号的一般特性与基本运算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484785"/>
                <a:ext cx="7772400" cy="42545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2600" dirty="0">
                    <a:solidFill>
                      <a:srgbClr val="FF0000"/>
                    </a:solidFill>
                  </a:rPr>
                  <a:t>2.3.1 </a:t>
                </a:r>
                <a:r>
                  <a:rPr lang="en-US" altLang="zh-CN" sz="2600" i="1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zh-CN" sz="2600" dirty="0">
                    <a:solidFill>
                      <a:srgbClr val="FF0000"/>
                    </a:solidFill>
                  </a:rPr>
                  <a:t>阶概率特性</a:t>
                </a:r>
                <a:endParaRPr lang="en-US" altLang="zh-CN" sz="26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zh-CN" altLang="zh-CN" sz="26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sz="2600" dirty="0"/>
                  <a:t>随机信号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d>
                              <m:dPr>
                                <m:ctrlP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</m:d>
                        <m:r>
                          <a:rPr lang="en-US" altLang="zh-CN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,..</m:t>
                    </m:r>
                    <m:sSub>
                      <m:sSubPr>
                        <m:ctrlPr>
                          <a:rPr lang="zh-CN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600" b="1" i="0" smtClean="0">
                        <a:latin typeface="Cambria Math" panose="02040503050406030204" pitchFamily="18" charset="0"/>
                      </a:rPr>
                      <m:t>...</m:t>
                    </m:r>
                    <m:r>
                      <m:rPr>
                        <m:nor/>
                      </m:rPr>
                      <a:rPr lang="en-US" altLang="zh-CN" sz="260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600" i="1">
                        <a:latin typeface="Cambria Math" panose="02040503050406030204" pitchFamily="18" charset="0"/>
                      </a:rPr>
                      <m:t>,..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….</m:t>
                    </m:r>
                  </m:oMath>
                </a14:m>
                <a:endParaRPr lang="zh-CN" altLang="zh-CN" sz="26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600" i="1" dirty="0">
                    <a:solidFill>
                      <a:schemeClr val="accent2">
                        <a:lumMod val="75000"/>
                      </a:schemeClr>
                    </a:solidFill>
                  </a:rPr>
                  <a:t>n</a:t>
                </a:r>
                <a:r>
                  <a:rPr lang="zh-CN" altLang="zh-CN" sz="2600" dirty="0">
                    <a:solidFill>
                      <a:schemeClr val="accent2">
                        <a:lumMod val="75000"/>
                      </a:schemeClr>
                    </a:solidFill>
                  </a:rPr>
                  <a:t>维</a:t>
                </a:r>
                <a:r>
                  <a:rPr lang="en-US" altLang="zh-CN" sz="2600" dirty="0">
                    <a:solidFill>
                      <a:schemeClr val="accent2">
                        <a:lumMod val="75000"/>
                      </a:schemeClr>
                    </a:solidFill>
                  </a:rPr>
                  <a:t>CDF</a:t>
                </a:r>
                <a:r>
                  <a:rPr lang="zh-CN" altLang="zh-CN" sz="2600" dirty="0"/>
                  <a:t>：</a:t>
                </a:r>
                <a:endParaRPr lang="en-US" altLang="zh-CN" sz="26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,..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zh-CN" sz="2600" i="1">
                          <a:latin typeface="Cambria Math" panose="02040503050406030204" pitchFamily="18" charset="0"/>
                        </a:rPr>
                        <m:t>；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,..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,...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)≤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sz="26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600" i="1" dirty="0">
                    <a:solidFill>
                      <a:schemeClr val="accent2">
                        <a:lumMod val="75000"/>
                      </a:schemeClr>
                    </a:solidFill>
                  </a:rPr>
                  <a:t>n</a:t>
                </a:r>
                <a:r>
                  <a:rPr lang="zh-CN" altLang="zh-CN" sz="2600" dirty="0">
                    <a:solidFill>
                      <a:schemeClr val="accent2">
                        <a:lumMod val="75000"/>
                      </a:schemeClr>
                    </a:solidFill>
                  </a:rPr>
                  <a:t>维</a:t>
                </a:r>
                <a:r>
                  <a:rPr lang="en-US" altLang="zh-CN" sz="2600" dirty="0">
                    <a:solidFill>
                      <a:schemeClr val="accent2">
                        <a:lumMod val="75000"/>
                      </a:schemeClr>
                    </a:solidFill>
                  </a:rPr>
                  <a:t>PDF</a:t>
                </a:r>
                <a:r>
                  <a:rPr lang="zh-CN" altLang="zh-CN" sz="2600" dirty="0">
                    <a:solidFill>
                      <a:schemeClr val="accent2">
                        <a:lumMod val="75000"/>
                      </a:schemeClr>
                    </a:solidFill>
                  </a:rPr>
                  <a:t>：</a:t>
                </a:r>
                <a:endParaRPr lang="en-US" altLang="zh-CN" sz="26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,..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,..</m:t>
                      </m:r>
                      <m:sSub>
                        <m:sSub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,..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,..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..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26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84785"/>
                <a:ext cx="7772400" cy="4254500"/>
              </a:xfrm>
              <a:blipFill rotWithShape="1">
                <a:blip r:embed="rId2"/>
                <a:stretch>
                  <a:fillRect t="-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/>
              </p:nvPr>
            </p:nvSpPr>
            <p:spPr>
              <a:xfrm>
                <a:off x="457201" y="1325441"/>
                <a:ext cx="8255000" cy="378515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i="1" dirty="0"/>
                  <a:t> </a:t>
                </a:r>
                <a:r>
                  <a:rPr lang="en-US" altLang="zh-CN" sz="2400" i="1" dirty="0">
                    <a:solidFill>
                      <a:schemeClr val="accent2">
                        <a:lumMod val="75000"/>
                      </a:schemeClr>
                    </a:solidFill>
                  </a:rPr>
                  <a:t>n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</a:rPr>
                  <a:t>维特征函数：</a:t>
                </a:r>
                <a:endParaRPr lang="en-US" altLang="zh-CN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                                 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40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总结：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2400" i="1" dirty="0"/>
                  <a:t> n</a:t>
                </a:r>
                <a:r>
                  <a:rPr lang="zh-CN" altLang="zh-CN" sz="2400" dirty="0"/>
                  <a:t>增大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分布函数、密度函数、特征函数</a:t>
                </a:r>
                <a:r>
                  <a:rPr lang="zh-CN" altLang="zh-CN" sz="2400" dirty="0"/>
                  <a:t>包含的信息越多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400" dirty="0"/>
                  <a:t>只有</a:t>
                </a:r>
                <a:r>
                  <a:rPr lang="en-US" altLang="zh-CN" sz="2400" i="1" dirty="0"/>
                  <a:t>n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zh-CN" sz="2400" dirty="0"/>
                  <a:t>时</a:t>
                </a:r>
                <a:r>
                  <a:rPr lang="en-US" altLang="zh-CN" sz="2400" dirty="0"/>
                  <a:t>,</a:t>
                </a:r>
                <a:r>
                  <a:rPr lang="zh-CN" altLang="zh-CN" sz="2400" dirty="0"/>
                  <a:t>才能完全反映随机过程的统计特性。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400" dirty="0"/>
                  <a:t>一般工程上常用二维分布描述。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1"/>
                <a:ext cx="8255000" cy="3785155"/>
              </a:xfrm>
              <a:blipFill rotWithShape="1">
                <a:blip r:embed="rId3"/>
                <a:stretch>
                  <a:fillRect t="-5" b="-26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235527" y="260648"/>
                <a:ext cx="8672945" cy="465106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2.3.2    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两个随机信号的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联合特性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1</a:t>
                </a:r>
                <a:r>
                  <a:rPr lang="zh-CN" altLang="zh-CN" sz="20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．联合分布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联合随机过程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zh-CN" sz="20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altLang="zh-CN" sz="200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                       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),..,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),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     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),..,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2000" i="1" dirty="0" err="1"/>
                  <a:t>m</a:t>
                </a:r>
                <a:r>
                  <a:rPr lang="en-US" altLang="zh-CN" sz="2000" dirty="0" err="1"/>
                  <a:t>+</a:t>
                </a:r>
                <a:r>
                  <a:rPr lang="en-US" altLang="zh-CN" sz="2000" i="1" dirty="0" err="1"/>
                  <a:t>n</a:t>
                </a:r>
                <a:r>
                  <a:rPr lang="zh-CN" altLang="zh-CN" sz="2000" dirty="0"/>
                  <a:t>维的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联合分布函数</a:t>
                </a:r>
                <a:r>
                  <a:rPr lang="zh-CN" altLang="zh-CN" sz="2000" dirty="0"/>
                  <a:t>为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unc>
                      <m:func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fName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func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)≤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dirty="0"/>
                  <a:t> </a:t>
                </a:r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求导为联合</a:t>
                </a:r>
                <a:r>
                  <a:rPr lang="en-US" altLang="zh-CN" sz="2000" i="1" dirty="0" err="1"/>
                  <a:t>m</a:t>
                </a:r>
                <a:r>
                  <a:rPr lang="en-US" altLang="zh-CN" sz="2000" dirty="0" err="1"/>
                  <a:t>+</a:t>
                </a:r>
                <a:r>
                  <a:rPr lang="en-US" altLang="zh-CN" sz="2000" i="1" dirty="0" err="1"/>
                  <a:t>n</a:t>
                </a:r>
                <a:r>
                  <a:rPr lang="zh-CN" altLang="zh-CN" sz="2000" dirty="0"/>
                  <a:t>维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联合</a:t>
                </a:r>
                <a:r>
                  <a:rPr lang="en-US" altLang="zh-CN" sz="2000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sz="2000" dirty="0"/>
                  <a:t>。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000" dirty="0"/>
                  <a:t>可定义相应的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联合特征函数</a:t>
                </a:r>
                <a:r>
                  <a:rPr lang="zh-CN" altLang="en-US" sz="2000" dirty="0"/>
                  <a:t>。</a:t>
                </a:r>
                <a:endParaRPr lang="zh-CN" altLang="zh-CN" sz="20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35527" y="260648"/>
                <a:ext cx="8672945" cy="4651064"/>
              </a:xfrm>
              <a:blipFill rotWithShape="1">
                <a:blip r:embed="rId3"/>
                <a:stretch>
                  <a:fillRect l="-7" t="-6" r="1" b="-16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189759"/>
                <a:ext cx="8255000" cy="418234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1950" dirty="0">
                    <a:solidFill>
                      <a:schemeClr val="accent2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zh-CN" sz="1950" dirty="0">
                    <a:solidFill>
                      <a:schemeClr val="accent2"/>
                    </a:solidFill>
                    <a:latin typeface="+mj-ea"/>
                    <a:ea typeface="+mj-ea"/>
                  </a:rPr>
                  <a:t>．互相关函数和互协方差函数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1950" i="1">
                        <a:latin typeface="Cambria Math" panose="02040503050406030204" pitchFamily="18" charset="0"/>
                      </a:rPr>
                      <m:t>随机变量，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zh-CN" altLang="zh-CN" sz="1950" i="1">
                        <a:latin typeface="Cambria Math" panose="02040503050406030204" pitchFamily="18" charset="0"/>
                      </a:rPr>
                      <m:t>取值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1950" dirty="0"/>
                  <a:t> </a:t>
                </a:r>
                <a:r>
                  <a:rPr lang="zh-CN" altLang="en-US" sz="1950" dirty="0"/>
                  <a:t>；</a:t>
                </a:r>
                <a:endParaRPr lang="en-US" altLang="zh-CN" sz="195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sz="19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zh-CN" sz="195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1950" i="1">
                        <a:latin typeface="Cambria Math" panose="02040503050406030204" pitchFamily="18" charset="0"/>
                      </a:rPr>
                      <m:t>随机变量，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sz="19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1950" i="1">
                        <a:latin typeface="Cambria Math" panose="02040503050406030204" pitchFamily="18" charset="0"/>
                      </a:rPr>
                      <m:t>取值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1950" dirty="0"/>
                  <a:t>       </a:t>
                </a:r>
                <a:endParaRPr lang="zh-CN" altLang="zh-CN" sz="195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1950" dirty="0"/>
                  <a:t>联合概率分布函数为</a:t>
                </a:r>
                <a:r>
                  <a:rPr lang="zh-CN" altLang="en-US" sz="1950" dirty="0"/>
                  <a:t>：</a:t>
                </a:r>
                <a:r>
                  <a:rPr lang="zh-CN" altLang="zh-CN" sz="1950" dirty="0"/>
                  <a:t> </a:t>
                </a:r>
                <a:endParaRPr lang="en-US" altLang="zh-CN" sz="195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𝑦</m:t>
                    </m:r>
                    <m:func>
                      <m:func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func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1950" dirty="0"/>
                  <a:t>   </a:t>
                </a:r>
                <a:endParaRPr lang="zh-CN" altLang="zh-CN" sz="195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1950" dirty="0"/>
                  <a:t>联合</a:t>
                </a:r>
                <a:r>
                  <a:rPr lang="en-US" altLang="zh-CN" sz="1950" dirty="0"/>
                  <a:t>PDF</a:t>
                </a:r>
                <a:r>
                  <a:rPr lang="zh-CN" altLang="zh-CN" sz="1950" dirty="0"/>
                  <a:t>为</a:t>
                </a:r>
                <a:r>
                  <a:rPr lang="zh-CN" altLang="en-US" sz="1950" dirty="0"/>
                  <a:t>：</a:t>
                </a:r>
                <a:endParaRPr lang="en-US" altLang="zh-CN" sz="195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195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𝑦</m:t>
                    </m:r>
                    <m:func>
                      <m:func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;</m:t>
                        </m:r>
                      </m:fName>
                      <m:e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func>
                    <m:r>
                      <a:rPr lang="en-US" altLang="zh-CN" sz="195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95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9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195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19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𝑦</m:t>
                        </m:r>
                        <m:func>
                          <m:funcPr>
                            <m:ctrlPr>
                              <a:rPr lang="zh-CN" altLang="zh-CN" sz="195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;</m:t>
                            </m:r>
                          </m:fName>
                          <m:e>
                            <m:r>
                              <a:rPr lang="en-US" altLang="zh-CN" sz="195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func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1950" i="1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zh-CN" sz="1950" dirty="0"/>
                  <a:t>  </a:t>
                </a:r>
                <a:endParaRPr lang="zh-CN" altLang="zh-CN" sz="195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89759"/>
                <a:ext cx="8255000" cy="4182341"/>
              </a:xfrm>
              <a:blipFill rotWithShape="1">
                <a:blip r:embed="rId2"/>
                <a:stretch>
                  <a:fillRect t="-10" b="-2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互相关</a:t>
                </a:r>
                <a:r>
                  <a:rPr lang="zh-CN" altLang="en-US" dirty="0"/>
                  <a:t>函数</a:t>
                </a:r>
                <a:r>
                  <a:rPr lang="zh-CN" altLang="zh-CN" dirty="0"/>
                  <a:t>为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 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互协方差</a:t>
                </a:r>
                <a:r>
                  <a:rPr lang="zh-CN" altLang="en-US" dirty="0"/>
                  <a:t>函数</a:t>
                </a:r>
                <a:r>
                  <a:rPr lang="zh-CN" altLang="zh-CN" dirty="0"/>
                  <a:t>为 </a:t>
                </a:r>
                <a:r>
                  <a:rPr lang="zh-CN" altLang="en-US" dirty="0"/>
                  <a:t>：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			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互相关系数</a:t>
                </a:r>
                <a:r>
                  <a:rPr lang="zh-CN" altLang="en-US" dirty="0"/>
                  <a:t>为：</a:t>
                </a:r>
                <a:r>
                  <a:rPr lang="zh-CN" altLang="zh-CN" dirty="0"/>
                  <a:t> 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3"/>
                <a:stretch>
                  <a:fillRect t="-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  <a:latin typeface="+mj-lt"/>
                  </a:rPr>
                  <a:t>3</a:t>
                </a:r>
                <a:r>
                  <a:rPr lang="zh-CN" altLang="zh-CN" sz="2400" dirty="0">
                    <a:solidFill>
                      <a:schemeClr val="accent2"/>
                    </a:solidFill>
                    <a:latin typeface="+mj-lt"/>
                  </a:rPr>
                  <a:t>．两随机过程的不相关、正交、统计独立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）若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)=0</m:t>
                    </m:r>
                    <m:r>
                      <m:rPr>
                        <m:nor/>
                      </m:rPr>
                      <a:rPr lang="en-US" altLang="zh-CN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或</m:t>
                    </m:r>
                    <m:r>
                      <m:rPr>
                        <m:nor/>
                      </m:rPr>
                      <a:rPr lang="en-US" altLang="zh-CN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zh-CN" dirty="0"/>
                  <a:t> 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    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则随机过程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不相关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）对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</a:t>
                </a:r>
                <a:r>
                  <a:rPr lang="zh-CN" altLang="en-US" dirty="0"/>
                  <a:t>有</a:t>
                </a:r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)]=0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       则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随机过程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正交</a:t>
                </a:r>
                <a:r>
                  <a:rPr lang="zh-CN" altLang="zh-CN" dirty="0"/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 rotWithShape="1">
                <a:blip r:embed="rId2"/>
                <a:stretch>
                  <a:fillRect t="-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325441"/>
                <a:ext cx="8255000" cy="202562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zh-CN" dirty="0"/>
                  <a:t>）对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dirty="0"/>
                  <a:t>有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         则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随机过程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独立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与随机变量的正交、不相关、统计独立对应。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 </a:t>
                </a:r>
                <a:r>
                  <a:rPr lang="zh-CN" altLang="en-US" dirty="0"/>
                  <a:t>强调的是随机过程的每个时刻。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1"/>
                <a:ext cx="8255000" cy="2025628"/>
              </a:xfrm>
              <a:blipFill rotWithShape="1">
                <a:blip r:embed="rId3"/>
                <a:stretch>
                  <a:fillRect t="-10" b="-99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249382" y="986004"/>
                <a:ext cx="8769927" cy="4318555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>
                    <a:solidFill>
                      <a:srgbClr val="FF0000"/>
                    </a:solidFill>
                  </a:rPr>
                  <a:t>例：</a:t>
                </a:r>
                <a:r>
                  <a:rPr lang="zh-CN" altLang="en-US" b="0" dirty="0"/>
                  <a:t>讨论两个信号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𝐴𝑐𝑜𝑠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𝛩</m:t>
                        </m:r>
                      </m:e>
                    </m:d>
                    <m:r>
                      <a:rPr lang="zh-CN" altLang="en-US" b="0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𝐴𝑠𝑖𝑛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𝛩</m:t>
                        </m:r>
                      </m:e>
                    </m:d>
                  </m:oMath>
                </a14:m>
                <a:r>
                  <a:rPr lang="zh-CN" altLang="en-US" b="0" dirty="0"/>
                  <a:t>。其中</a:t>
                </a:r>
                <a:r>
                  <a:rPr lang="en-US" altLang="zh-CN" b="0" dirty="0"/>
                  <a:t>A</a:t>
                </a:r>
                <a:r>
                  <a:rPr lang="zh-CN" altLang="en-US" b="0" dirty="0"/>
                  <a:t>与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b="0" dirty="0"/>
                  <a:t>为实随机变量，且彼此独立。假定</a:t>
                </a:r>
                <a:r>
                  <a:rPr lang="en-US" altLang="zh-CN" b="0" dirty="0"/>
                  <a:t>A</a:t>
                </a:r>
                <a:r>
                  <a:rPr lang="zh-CN" altLang="en-US" b="0" dirty="0"/>
                  <a:t>服从参数为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b="0" dirty="0"/>
                  <a:t>的瑞利分布，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在</m:t>
                    </m:r>
                    <m:d>
                      <m:dPr>
                        <m:begChr m:val="[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</m:d>
                    <m:r>
                      <a:rPr lang="zh-CN" altLang="en-US" b="0" i="1">
                        <a:latin typeface="Cambria Math" panose="02040503050406030204" pitchFamily="18" charset="0"/>
                      </a:rPr>
                      <m:t>上</m:t>
                    </m:r>
                  </m:oMath>
                </a14:m>
                <a:r>
                  <a:rPr lang="zh-CN" altLang="en-US" b="0" dirty="0"/>
                  <a:t>均匀分布。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（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）讨论它们的联合概率特性；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（</a:t>
                </a:r>
                <a:r>
                  <a:rPr lang="en-US" altLang="zh-CN" b="0" dirty="0"/>
                  <a:t>2</a:t>
                </a:r>
                <a:r>
                  <a:rPr lang="zh-CN" altLang="en-US" b="0" dirty="0"/>
                  <a:t>）讨论它们的互相关函数、正交性与相关性。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49382" y="986004"/>
                <a:ext cx="8769927" cy="4318555"/>
              </a:xfrm>
              <a:blipFill rotWithShape="1">
                <a:blip r:embed="rId3"/>
                <a:stretch>
                  <a:fillRect l="-5" t="-11" r="5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 bwMode="auto">
              <a:xfrm>
                <a:off x="4620490" y="2194215"/>
                <a:ext cx="3207327" cy="374072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68580" tIns="34290" rIns="68580" bIns="34290" numCol="1" rtlCol="0" anchor="t" anchorCtr="0" compatLnSpc="1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同相信号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宋体" panose="02010600030101010101" pitchFamily="2" charset="-122"/>
                  </a:rPr>
                  <a:t>，正交信号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0490" y="2194215"/>
                <a:ext cx="3207327" cy="374072"/>
              </a:xfrm>
              <a:prstGeom prst="rect">
                <a:avLst/>
              </a:prstGeom>
              <a:blipFill rotWithShape="1">
                <a:blip r:embed="rId4"/>
                <a:stretch>
                  <a:fillRect l="-166" t="-1436" r="-133" b="-1265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/>
          <p:cNvSpPr/>
          <p:nvPr/>
        </p:nvSpPr>
        <p:spPr bwMode="auto">
          <a:xfrm>
            <a:off x="4191000" y="3835977"/>
            <a:ext cx="3886200" cy="1226128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/>
          <a:lstStyle/>
          <a:p>
            <a:pPr algn="ctr" defTabSz="685800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为什么常以正弦信号或余弦信号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algn="ctr" defTabSz="685800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为例进行研究分析？</a:t>
            </a:r>
          </a:p>
        </p:txBody>
      </p:sp>
      <p:cxnSp>
        <p:nvCxnSpPr>
          <p:cNvPr id="6" name="直接箭头连接符 5"/>
          <p:cNvCxnSpPr>
            <a:stCxn id="4" idx="0"/>
          </p:cNvCxnSpPr>
          <p:nvPr/>
        </p:nvCxnSpPr>
        <p:spPr bwMode="auto">
          <a:xfrm flipH="1" flipV="1">
            <a:off x="4080163" y="1390650"/>
            <a:ext cx="2053937" cy="244532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/>
          <p:cNvCxnSpPr>
            <a:stCxn id="4" idx="0"/>
          </p:cNvCxnSpPr>
          <p:nvPr/>
        </p:nvCxnSpPr>
        <p:spPr bwMode="auto">
          <a:xfrm flipV="1">
            <a:off x="6134101" y="1376796"/>
            <a:ext cx="619991" cy="245918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dashDot"/>
            <a:miter lim="800000"/>
            <a:headEnd type="stealth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圆角矩形 9"/>
          <p:cNvSpPr/>
          <p:nvPr/>
        </p:nvSpPr>
        <p:spPr bwMode="auto">
          <a:xfrm>
            <a:off x="299603" y="4708814"/>
            <a:ext cx="3553691" cy="92132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/>
          <a:lstStyle/>
          <a:p>
            <a:pPr defTabSz="685800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分析：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685800"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写出有关公式。</a:t>
            </a:r>
          </a:p>
        </p:txBody>
      </p:sp>
      <p:sp>
        <p:nvSpPr>
          <p:cNvPr id="11" name="圆角矩形 10"/>
          <p:cNvSpPr/>
          <p:nvPr/>
        </p:nvSpPr>
        <p:spPr bwMode="auto">
          <a:xfrm>
            <a:off x="299603" y="3718213"/>
            <a:ext cx="3553691" cy="879764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/>
          <a:lstStyle/>
          <a:p>
            <a:pPr defTabSz="68580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73626" y="3738583"/>
                <a:ext cx="3186547" cy="81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𝐴𝑐𝑜𝑠</m:t>
                              </m:r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1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100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100" i="1">
                                  <a:latin typeface="Cambria Math" panose="02040503050406030204" pitchFamily="18" charset="0"/>
                                </a:rPr>
                                <m:t>𝐴𝑠𝑖𝑛</m:t>
                              </m:r>
                              <m:d>
                                <m:dPr>
                                  <m:ctrlP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1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1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100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26" y="3738583"/>
                <a:ext cx="3186547" cy="813171"/>
              </a:xfrm>
              <a:prstGeom prst="rect">
                <a:avLst/>
              </a:prstGeom>
              <a:blipFill rotWithShape="1">
                <a:blip r:embed="rId5"/>
                <a:stretch>
                  <a:fillRect l="-18" t="-42" r="2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437418" cy="43185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0" dirty="0"/>
                  <a:t>解：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（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）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分别为</a:t>
                </a:r>
                <a:r>
                  <a:rPr lang="en-US" altLang="zh-CN" b="0" dirty="0"/>
                  <a:t>A</a:t>
                </a:r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b="0" dirty="0"/>
                  <a:t>的函数，可以由</a:t>
                </a:r>
                <a:r>
                  <a:rPr lang="en-US" altLang="zh-CN" b="0" dirty="0"/>
                  <a:t>A</a:t>
                </a:r>
                <a:r>
                  <a:rPr lang="zh-CN" altLang="en-US" b="0" dirty="0"/>
                  <a:t>、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b="0" dirty="0"/>
                  <a:t>的联合概率密度函数求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b="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的二阶联合概率密度函数。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由题干可知：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</m:d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437418" cy="4318555"/>
              </a:xfrm>
              <a:blipFill rotWithShape="1">
                <a:blip r:embed="rId2"/>
                <a:stretch>
                  <a:fillRect t="-5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23" y="3050331"/>
            <a:ext cx="5023695" cy="22680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085851"/>
                <a:ext cx="8255000" cy="458585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45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sz="1800" b="0" dirty="0"/>
                  <a:t>下面用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b="0" dirty="0"/>
                  <a:t>表示</a:t>
                </a:r>
                <a:r>
                  <a:rPr lang="en-US" altLang="zh-CN" sz="1800" b="0" i="1" dirty="0"/>
                  <a:t>A</a:t>
                </a:r>
                <a:r>
                  <a:rPr lang="zh-CN" altLang="en-US" sz="1800" b="0" dirty="0"/>
                  <a:t>。</a:t>
                </a:r>
                <a:endParaRPr lang="en-US" altLang="zh-CN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𝑎𝑐𝑜𝑠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𝑎𝑐𝑜𝑠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𝑎𝑠𝑖𝑛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𝑎𝑠𝑖𝑛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𝑎𝑠𝑖𝑛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𝑎𝑐𝑜𝑠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CN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𝑎𝑐𝑜𝑠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𝑎𝑠𝑖𝑛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b="0" dirty="0"/>
                  <a:t>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𝑎𝑐𝑜𝑠</m:t>
                    </m:r>
                    <m:r>
                      <a:rPr lang="zh-CN" altLang="en-US" sz="1800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8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800" b="0" i="1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CN" sz="18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𝑎𝑐𝑜𝑠</m:t>
                    </m:r>
                    <m:r>
                      <a:rPr lang="zh-CN" altLang="en-US" sz="1800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𝑟𝑐𝑜𝑠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𝑖𝑠𝑖𝑛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zh-CN" altLang="en-US" sz="1800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𝑎𝑠𝑖𝑛</m:t>
                    </m:r>
                    <m:r>
                      <a:rPr lang="zh-CN" altLang="en-US" sz="1800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18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𝑖𝑐𝑜𝑠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𝑟𝑠𝑖𝑛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1800" b="0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8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sz="1800" b="0" dirty="0"/>
              </a:p>
              <a:p>
                <a:pPr marL="0" indent="0">
                  <a:buNone/>
                </a:pPr>
                <a:r>
                  <a:rPr lang="zh-CN" altLang="en-US" sz="1800" b="0" dirty="0"/>
                  <a:t>故</a:t>
                </a:r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𝑟𝑐𝑜𝑠</m:t>
                                  </m:r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b="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𝑖𝑠𝑖𝑛</m:t>
                                  </m:r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b="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𝑖𝑐𝑜𝑠</m:t>
                                  </m:r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b="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𝑟𝑠𝑖𝑛</m:t>
                                  </m:r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b="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b="0" dirty="0"/>
                  <a:t>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𝑟𝑖𝑠𝑖𝑛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altLang="zh-CN" sz="1800" b="0" dirty="0"/>
              </a:p>
              <a:p>
                <a:pPr marL="0" indent="0">
                  <a:buNone/>
                </a:pPr>
                <a:endParaRPr lang="en-US" altLang="zh-CN" sz="1800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085851"/>
                <a:ext cx="8255000" cy="4585854"/>
              </a:xfrm>
              <a:blipFill rotWithShape="1">
                <a:blip r:embed="rId2"/>
                <a:stretch>
                  <a:fillRect b="-13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436011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b="0" dirty="0"/>
                  <a:t>二维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联合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概率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密度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4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  <m:sSup>
                        <m:sSupPr>
                          <m:ctrlPr>
                            <a:rPr lang="zh-CN" altLang="zh-CN" sz="1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altLang="zh-CN" sz="1800" b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𝑟𝑖𝑠𝑖𝑛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8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zh-CN" sz="1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18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altLang="zh-CN" sz="1800" b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altLang="zh-CN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𝑟𝑖</m:t>
                              </m:r>
                              <m:r>
                                <a:rPr lang="zh-CN" altLang="en-US" sz="1800" b="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sSup>
                                <m:sSupPr>
                                  <m:ctrlP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CN" sz="18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8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  其中令：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>
                  <a:spcAft>
                    <a:spcPts val="9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b="0" dirty="0"/>
                  <a:t>下面讨论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b="0" dirty="0"/>
                  <a:t>的物理意义：相关系数</a:t>
                </a:r>
                <a:endParaRPr lang="en-US" altLang="zh-CN" b="0" dirty="0"/>
              </a:p>
              <a:p>
                <a:pPr marL="0" indent="0">
                  <a:spcAft>
                    <a:spcPts val="900"/>
                  </a:spcAft>
                  <a:buNone/>
                </a:pPr>
                <a:r>
                  <a:rPr lang="en-US" altLang="zh-CN" b="0" dirty="0"/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𝑅𝐼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4360118"/>
              </a:xfrm>
              <a:blipFill rotWithShape="1">
                <a:blip r:embed="rId3"/>
                <a:stretch>
                  <a:fillRect t="-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4332410"/>
              </a:xfrm>
            </p:spPr>
            <p:txBody>
              <a:bodyPr>
                <a:normAutofit fontScale="92500"/>
              </a:bodyPr>
              <a:lstStyle/>
              <a:p>
                <a:pPr>
                  <a:spcAft>
                    <a:spcPts val="9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b="0" dirty="0"/>
                  <a:t>互协方差函数</a:t>
                </a:r>
                <a:endParaRPr lang="en-US" altLang="zh-CN" b="0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𝐴𝑐𝑜𝑠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𝐴𝑠𝑖𝑛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:r>
                  <a:rPr lang="en-US" altLang="zh-CN" b="0" dirty="0"/>
                  <a:t>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𝐴𝑐𝑜𝑠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𝐴𝑠𝑖𝑛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900"/>
                  </a:spcAft>
                  <a:buNone/>
                </a:pPr>
                <a:r>
                  <a:rPr lang="en-US" altLang="zh-CN" b="0" dirty="0"/>
                  <a:t>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𝑠𝑖𝑛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4332410"/>
              </a:xfrm>
              <a:blipFill rotWithShape="1">
                <a:blip r:embed="rId2"/>
                <a:stretch>
                  <a:fillRect t="-5" b="-12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1" y="1141269"/>
                <a:ext cx="8255000" cy="4405745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en-US" b="0" dirty="0">
                    <a:latin typeface="Cambria Math" panose="02040503050406030204" pitchFamily="18" charset="0"/>
                  </a:rPr>
                  <a:t>方差</a:t>
                </a:r>
                <a:endParaRPr lang="en-US" altLang="zh-CN" b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𝐴𝑐𝑜𝑠</m:t>
                                </m:r>
                                <m:d>
                                  <m:d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b="0" i="1">
                                        <a:latin typeface="Cambria Math" panose="02040503050406030204" pitchFamily="18" charset="0"/>
                                      </a:rPr>
                                      <m:t>𝛩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𝐴𝑐𝑜𝑠</m:t>
                                </m:r>
                                <m:d>
                                  <m:d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b="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zh-CN" altLang="en-US" b="0" i="1">
                                        <a:latin typeface="Cambria Math" panose="02040503050406030204" pitchFamily="18" charset="0"/>
                                      </a:rPr>
                                      <m:t>𝛩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d>
                              <m:d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zh-CN" altLang="en-US" b="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𝛩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同理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b="0" dirty="0"/>
              </a:p>
              <a:p>
                <a:pPr>
                  <a:lnSpc>
                    <a:spcPct val="17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b="0" dirty="0"/>
                  <a:t>故相关系数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𝑅𝐼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altLang="zh-CN" b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𝑠𝑖𝑛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𝑠𝑖𝑛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141269"/>
                <a:ext cx="8255000" cy="4405745"/>
              </a:xfrm>
              <a:blipFill rotWithShape="1">
                <a:blip r:embed="rId3"/>
                <a:stretch>
                  <a:fillRect t="-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57200" y="1044286"/>
                <a:ext cx="8534400" cy="458585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spcBef>
                    <a:spcPts val="450"/>
                  </a:spcBef>
                  <a:spcAft>
                    <a:spcPts val="900"/>
                  </a:spcAft>
                  <a:buNone/>
                </a:pPr>
                <a:r>
                  <a:rPr lang="en-US" altLang="zh-CN" b="0" dirty="0"/>
                  <a:t>(2) </a:t>
                </a:r>
                <a:r>
                  <a:rPr lang="zh-CN" altLang="en-US" b="0" dirty="0"/>
                  <a:t>讨论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的互相关函数、正交性与相关性。</a:t>
                </a:r>
                <a:endParaRPr lang="en-US" altLang="zh-CN" b="0" dirty="0"/>
              </a:p>
              <a:p>
                <a:pPr>
                  <a:spcAft>
                    <a:spcPts val="900"/>
                  </a:spcAft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𝑅𝐼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𝐴𝑐𝑜𝑠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𝐴𝑠𝑖𝑛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𝑠𝑖𝑛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>
                  <a:lnSpc>
                    <a:spcPct val="16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CN" b="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𝑐𝑜𝑠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𝑠𝑖𝑛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b="0" dirty="0"/>
                  <a:t>=0</a:t>
                </a:r>
              </a:p>
              <a:p>
                <a:pPr>
                  <a:lnSpc>
                    <a:spcPct val="17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b="0" dirty="0"/>
                  <a:t>只有当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（或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zh-CN" altLang="en-US" b="0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b="0" dirty="0"/>
                  <a:t>时，</a:t>
                </a:r>
                <a:endParaRPr lang="en-US" altLang="zh-CN" b="0" dirty="0"/>
              </a:p>
              <a:p>
                <a:pPr marL="0" indent="0"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               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𝑅𝐼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b="0" dirty="0"/>
                  <a:t>=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zh-CN" b="0" dirty="0"/>
              </a:p>
              <a:p>
                <a:pPr>
                  <a:lnSpc>
                    <a:spcPct val="160000"/>
                  </a:lnSpc>
                  <a:spcAft>
                    <a:spcPts val="900"/>
                  </a:spcAft>
                  <a:buFont typeface="Wingdings" panose="05000000000000000000" pitchFamily="2" charset="2"/>
                  <a:buChar char="p"/>
                </a:pPr>
                <a:r>
                  <a:rPr lang="zh-CN" altLang="en-US" b="0" dirty="0">
                    <a:solidFill>
                      <a:srgbClr val="FF0000"/>
                    </a:solidFill>
                  </a:rPr>
                  <a:t>故同一时刻，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</a:rPr>
                  <a:t>正交且无关，但是整个时间上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>
                    <a:solidFill>
                      <a:srgbClr val="FF0000"/>
                    </a:solidFill>
                  </a:rPr>
                  <a:t>非正交，且相关。</a:t>
                </a: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1044286"/>
                <a:ext cx="8534400" cy="4585855"/>
              </a:xfrm>
              <a:blipFill rotWithShape="1">
                <a:blip r:embed="rId3"/>
                <a:stretch>
                  <a:fillRect t="-8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54001" y="1772412"/>
                <a:ext cx="8710488" cy="2728722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+mn-ea"/>
                    <a:sym typeface="微软雅黑" panose="020B0503020204020204" charset="-122"/>
                  </a:rPr>
                  <a:t>两个随机信号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𝐴𝑐𝑜𝑠</m:t>
                    </m:r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100" i="1">
                            <a:latin typeface="Cambria Math" panose="02040503050406030204" pitchFamily="18" charset="0"/>
                          </a:rPr>
                          <m:t>𝛩</m:t>
                        </m:r>
                      </m:e>
                    </m:d>
                    <m:r>
                      <a:rPr lang="zh-CN" altLang="en-US" sz="2100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100" i="1">
                        <a:latin typeface="Cambria Math" panose="02040503050406030204" pitchFamily="18" charset="0"/>
                      </a:rPr>
                      <m:t>𝐵𝑠𝑖𝑛</m:t>
                    </m:r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altLang="zh-CN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zh-CN" alt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100" dirty="0"/>
                  <a:t>其中</a:t>
                </a:r>
                <a:r>
                  <a:rPr lang="en-US" altLang="zh-CN" sz="2100" dirty="0"/>
                  <a:t>A</a:t>
                </a:r>
                <a:r>
                  <a:rPr lang="zh-CN" altLang="en-US" sz="2100" dirty="0"/>
                  <a:t>、</a:t>
                </a:r>
                <a:r>
                  <a:rPr lang="en-US" altLang="zh-CN" sz="2100" dirty="0"/>
                  <a:t>B</a:t>
                </a:r>
                <a:r>
                  <a:rPr lang="zh-CN" altLang="en-US" sz="2100" dirty="0"/>
                  <a:t>、</a:t>
                </a:r>
                <a:r>
                  <a:rPr lang="en-US" altLang="zh-CN" sz="2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1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100" dirty="0"/>
                  <a:t>是常数，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zh-CN" alt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和</m:t>
                    </m:r>
                    <m:r>
                      <m:rPr>
                        <m:sty m:val="p"/>
                      </m:rPr>
                      <a:rPr lang="el-GR" altLang="zh-CN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zh-CN" altLang="en-US" sz="21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[0,2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21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100" i="1" dirty="0">
                        <a:latin typeface="Cambria Math" panose="02040503050406030204" pitchFamily="18" charset="0"/>
                      </a:rPr>
                      <m:t>内</m:t>
                    </m:r>
                  </m:oMath>
                </a14:m>
                <a:r>
                  <a:rPr lang="zh-CN" altLang="en-US" sz="2100" dirty="0"/>
                  <a:t>均匀分布的随机变量，且相互统计独立。</a:t>
                </a:r>
                <a:endParaRPr lang="en-US" altLang="zh-CN" sz="21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100" dirty="0"/>
                  <a:t>求</a:t>
                </a:r>
                <a:r>
                  <a:rPr lang="zh-CN" altLang="en-US" sz="2100" dirty="0">
                    <a:sym typeface="Wingdings" panose="05000000000000000000" pitchFamily="2" charset="2"/>
                  </a:rPr>
                  <a:t>：</a:t>
                </a:r>
                <a:endParaRPr lang="en-US" altLang="zh-CN" sz="2100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1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1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100" dirty="0">
                    <a:sym typeface="Wingdings" panose="05000000000000000000" pitchFamily="2" charset="2"/>
                  </a:rPr>
                  <a:t>）两个随机信号的互相关函数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1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1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21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1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1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100" dirty="0">
                    <a:sym typeface="Wingdings" panose="05000000000000000000" pitchFamily="2" charset="2"/>
                  </a:rPr>
                  <a:t>。</a:t>
                </a:r>
                <a:endParaRPr lang="en-US" altLang="zh-CN" sz="2100" dirty="0">
                  <a:sym typeface="Wingdings" panose="05000000000000000000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100" dirty="0"/>
                  <a:t>（</a:t>
                </a:r>
                <a:r>
                  <a:rPr lang="en-US" altLang="zh-CN" sz="2100" dirty="0"/>
                  <a:t>2</a:t>
                </a:r>
                <a:r>
                  <a:rPr lang="zh-CN" altLang="en-US" sz="2100" dirty="0"/>
                  <a:t>）讨论两个随机信号的正交性、互相关性与统计独立性。</a:t>
                </a:r>
                <a:endParaRPr lang="en-US" altLang="zh-CN" sz="2100" dirty="0"/>
              </a:p>
              <a:p>
                <a:endParaRPr lang="zh-CN" altLang="en-US" sz="195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54001" y="1772412"/>
                <a:ext cx="8710488" cy="2728722"/>
              </a:xfrm>
              <a:prstGeom prst="rect">
                <a:avLst/>
              </a:prstGeom>
              <a:blipFill>
                <a:blip r:embed="rId13"/>
                <a:stretch>
                  <a:fillRect l="-840" r="-3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/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/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/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519546" y="1155589"/>
                <a:ext cx="7937068" cy="4239025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解</a:t>
                </a:r>
                <a:r>
                  <a:rPr lang="zh-CN" altLang="en-US" b="0" dirty="0">
                    <a:sym typeface="Wingdings" panose="05000000000000000000" pitchFamily="2" charset="2"/>
                  </a:rPr>
                  <a:t>：</a:t>
                </a:r>
                <a:endParaRPr lang="en-US" altLang="zh-CN" b="0" dirty="0"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b="0" dirty="0">
                    <a:sym typeface="Wingdings" panose="05000000000000000000" pitchFamily="2" charset="2"/>
                  </a:rPr>
                  <a:t>）</a:t>
                </a:r>
                <a:endParaRPr lang="en-US" altLang="zh-CN" b="0" dirty="0"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𝐴𝑐𝑜𝑠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𝐵𝑠𝑖𝑛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l-GR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𝛷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𝐴𝑐𝑜𝑠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𝐵𝑠𝑖𝑛</m:t>
                          </m:r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故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</m:t>
                    </m:r>
                  </m:oMath>
                </a14:m>
                <a:r>
                  <a:rPr lang="zh-CN" altLang="en-US" b="0" dirty="0"/>
                  <a:t>，对任意的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2</a:t>
                </a:r>
                <a:r>
                  <a:rPr lang="zh-CN" altLang="en-US" b="0" dirty="0"/>
                  <a:t>）因此，两个信号正交，不相关和统计独立。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9546" y="1155589"/>
                <a:ext cx="7937068" cy="4239025"/>
              </a:xfrm>
              <a:blipFill rotWithShape="1">
                <a:blip r:embed="rId3"/>
                <a:stretch>
                  <a:fillRect l="-1" t="-12" r="4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444500" y="620688"/>
                <a:ext cx="8255000" cy="4637210"/>
              </a:xfrm>
            </p:spPr>
            <p:txBody>
              <a:bodyPr/>
              <a:lstStyle/>
              <a:p>
                <a:pPr marL="0" indent="0" algn="ctr">
                  <a:spcAft>
                    <a:spcPts val="90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2.3.3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相关函数与协方差函数的性质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自相关函数和自协方差函数的性质</a:t>
                </a:r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）对称性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）均方值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)≥0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）方差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4</a:t>
                </a:r>
                <a:r>
                  <a:rPr lang="zh-CN" altLang="zh-CN" dirty="0"/>
                  <a:t>）相关系数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≤1,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互相关函数和互协方差函数的性质</a:t>
                </a:r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）对称性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）协方差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spcAft>
                    <a:spcPts val="450"/>
                  </a:spcAft>
                  <a:buNone/>
                </a:pPr>
                <a:r>
                  <a:rPr lang="en-US" altLang="zh-CN" dirty="0"/>
                  <a:t>3</a:t>
                </a:r>
                <a:r>
                  <a:rPr lang="zh-CN" altLang="zh-CN" dirty="0"/>
                  <a:t>）相关系数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zh-CN" dirty="0"/>
              </a:p>
              <a:p>
                <a:pPr marL="0" indent="0">
                  <a:spcAft>
                    <a:spcPts val="450"/>
                  </a:spcAft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620688"/>
                <a:ext cx="8255000" cy="4637210"/>
              </a:xfrm>
              <a:blipFill rotWithShape="1">
                <a:blip r:embed="rId2"/>
                <a:stretch>
                  <a:fillRect t="-6" b="-153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422563" y="1333500"/>
                <a:ext cx="8465129" cy="3805952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例：讨论两个信号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𝐴𝑐𝑜𝑠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𝛩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𝐴𝑠𝑖𝑛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𝛩</m:t>
                        </m:r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dirty="0"/>
                  <a:t>为实随机变量，且彼此独立。假定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服从参数为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的瑞利分布，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在</m:t>
                    </m:r>
                    <m:d>
                      <m:dPr>
                        <m:begChr m:val="[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上</m:t>
                    </m:r>
                  </m:oMath>
                </a14:m>
                <a:r>
                  <a:rPr lang="zh-CN" altLang="en-US" dirty="0"/>
                  <a:t>均匀分布。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请验证：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≤1,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altLang="zh-CN" dirty="0"/>
                  <a:t> 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≤1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endParaRPr lang="en-US" altLang="zh-CN" sz="21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422563" y="1333500"/>
                <a:ext cx="8465129" cy="3805952"/>
              </a:xfrm>
              <a:prstGeom prst="rect">
                <a:avLst/>
              </a:prstGeom>
              <a:blipFill rotWithShape="1">
                <a:blip r:embed="rId13"/>
                <a:stretch>
                  <a:fillRect l="-3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/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以上版本雨课堂</a:t>
            </a: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/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/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7886700" cy="551914"/>
          </a:xfrm>
        </p:spPr>
        <p:txBody>
          <a:bodyPr>
            <a:normAutofit/>
          </a:bodyPr>
          <a:lstStyle/>
          <a:p>
            <a:r>
              <a:rPr lang="en-US" altLang="zh-CN" dirty="0"/>
              <a:t>2.4 </a:t>
            </a:r>
            <a:r>
              <a:rPr lang="zh-CN" altLang="zh-CN" dirty="0"/>
              <a:t>多维高斯分布与高斯随机信号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361823" y="764704"/>
                <a:ext cx="8420353" cy="434580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FF0000"/>
                    </a:solidFill>
                  </a:rPr>
                  <a:t>2.4.1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多维高斯变量分布的概率密度函数和特征函数</a:t>
                </a:r>
              </a:p>
              <a:p>
                <a:pPr>
                  <a:lnSpc>
                    <a:spcPct val="17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,...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zh-CN" sz="2000">
                        <a:latin typeface="Cambria Math" panose="02040503050406030204" pitchFamily="18" charset="0"/>
                      </a:rPr>
                      <m:t>高斯变量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000">
                        <a:latin typeface="Cambria Math" panose="02040503050406030204" pitchFamily="18" charset="0"/>
                      </a:rPr>
                      <m:t>均值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方差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altLang="zh-CN" sz="2000" i="1" dirty="0"/>
              </a:p>
              <a:p>
                <a:pPr marL="0" indent="0">
                  <a:lnSpc>
                    <a:spcPct val="17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zh-CN" sz="2000" i="1">
                          <a:latin typeface="Cambria Math" panose="02040503050406030204" pitchFamily="18" charset="0"/>
                        </a:rPr>
                        <m:t>协方差</m:t>
                      </m:r>
                      <m:func>
                        <m:func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)]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,..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dirty="0"/>
              </a:p>
              <a:p>
                <a:pPr>
                  <a:lnSpc>
                    <a:spcPct val="17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sz="2000" dirty="0"/>
                  <a:t>用矩阵和矢量表示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zh-CN" sz="2000" b="1" i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 ...  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 ...  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000" dirty="0"/>
                  <a:t>,          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 ...  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zh-CN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</a:t>
                </a:r>
                <a:r>
                  <a:rPr lang="zh-CN" altLang="zh-CN" sz="2000" dirty="0"/>
                  <a:t>协方差矩阵</a:t>
                </a:r>
                <a:endParaRPr lang="en-US" altLang="zh-CN" sz="20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…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…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..       ..     …     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…  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/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zh-CN" altLang="en-US" sz="2000" dirty="0"/>
                  <a:t>是非负定矩阵。</a:t>
                </a:r>
                <a:r>
                  <a:rPr lang="zh-CN" altLang="zh-CN" sz="2000" dirty="0"/>
                  <a:t>对于任意实数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000" dirty="0"/>
                  <a:t>，使得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zh-CN" altLang="zh-CN" sz="2000" dirty="0"/>
              </a:p>
            </p:txBody>
          </p:sp>
        </mc:Choice>
        <mc:Fallback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1823" y="764704"/>
                <a:ext cx="8420353" cy="4345806"/>
              </a:xfrm>
              <a:blipFill>
                <a:blip r:embed="rId2"/>
                <a:stretch>
                  <a:fillRect l="-724" t="-982" b="-36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364992" y="2210030"/>
            <a:ext cx="14628716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548680"/>
                <a:ext cx="8417052" cy="376996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400" i="1" dirty="0"/>
                  <a:t> </a:t>
                </a:r>
                <a:r>
                  <a:rPr lang="en-US" altLang="zh-CN" sz="2400" b="0" i="1" dirty="0"/>
                  <a:t>n</a:t>
                </a:r>
                <a:r>
                  <a:rPr lang="zh-CN" altLang="zh-CN" sz="2400" dirty="0"/>
                  <a:t>维正态分布可表示为</a:t>
                </a:r>
                <a:r>
                  <a:rPr lang="en-US" altLang="zh-CN" sz="2400" dirty="0"/>
                  <a:t> 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/>
                  <a:t>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]∼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400" dirty="0"/>
              </a:p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en-US" altLang="zh-CN" sz="2400" b="0" i="1" dirty="0"/>
                  <a:t> n</a:t>
                </a:r>
                <a:r>
                  <a:rPr lang="zh-CN" altLang="zh-CN" sz="2400" b="0" dirty="0"/>
                  <a:t>维随机变量的联合</a:t>
                </a:r>
                <a:r>
                  <a:rPr lang="en-US" altLang="zh-CN" sz="2400" b="0" dirty="0"/>
                  <a:t>PDF</a:t>
                </a:r>
                <a:r>
                  <a:rPr lang="zh-CN" altLang="zh-CN" sz="2400" b="0" dirty="0"/>
                  <a:t>为</a:t>
                </a:r>
                <a:r>
                  <a:rPr lang="en-US" altLang="zh-CN" sz="2400" b="0" dirty="0"/>
                  <a:t>:</a:t>
                </a:r>
                <a:endParaRPr lang="zh-CN" altLang="zh-CN" sz="2400" b="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𝐂</m:t>
                          </m:r>
                          <m:sSup>
                            <m:sSupPr>
                              <m:ctrlPr>
                                <a:rPr lang="zh-CN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400" b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func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p>
                        <m:sSup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b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CN" sz="2400" b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sz="2400" dirty="0"/>
              </a:p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zh-CN" altLang="zh-CN" sz="2400" dirty="0"/>
                  <a:t>特征函数为：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fNam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+...+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𝑗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𝛍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𝑪𝒗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548680"/>
                <a:ext cx="8417052" cy="3769961"/>
              </a:xfrm>
              <a:blipFill rotWithShape="1">
                <a:blip r:embed="rId2"/>
                <a:stretch>
                  <a:fillRect l="-5" t="-1" r="7" b="-29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260648"/>
                <a:ext cx="8417052" cy="4268724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sz="2400" dirty="0"/>
                  <a:t>特别地，对二维正态分布的随机变量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/>
                  <a:t>   </a:t>
                </a:r>
                <a:r>
                  <a:rPr lang="zh-CN" altLang="en-US" sz="2400" dirty="0"/>
                  <a:t>均值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矢量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m:rPr>
                        <m:nor/>
                      </m:rPr>
                      <a:rPr lang="en-US" altLang="zh-CN" sz="24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𝛍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/>
                  <a:t>， </a:t>
                </a:r>
                <a:endParaRPr lang="en-US" altLang="zh-CN" sz="240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/>
                  <a:t>   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协方差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矩阵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𝜌𝜎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𝜌𝜎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b="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相关系数：</m:t>
                      </m:r>
                      <m:r>
                        <a:rPr lang="zh-CN" altLang="en-US" sz="2400" b="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sz="2400" dirty="0"/>
                  <a:t>  二维随机变量的联合概率密度函数</a:t>
                </a:r>
                <a:endParaRPr lang="en-US" altLang="zh-CN" sz="2400" dirty="0"/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altLang="zh-CN" sz="2400" dirty="0"/>
                  <a:t> </a:t>
                </a:r>
              </a:p>
              <a:p>
                <a:pPr marL="0" indent="0">
                  <a:spcBef>
                    <a:spcPts val="135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2(1−</m:t>
                              </m:r>
                              <m:sSup>
                                <m:sSup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400" b="0" i="1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400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400" b="0" i="1"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400" b="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b="0" dirty="0"/>
              </a:p>
              <a:p>
                <a:pPr>
                  <a:buFont typeface="Wingdings" panose="05000000000000000000" pitchFamily="2" charset="2"/>
                  <a:buChar char="l"/>
                </a:pPr>
                <a:endParaRPr lang="zh-CN" altLang="zh-CN" sz="2400" b="0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60648"/>
                <a:ext cx="8417052" cy="4268724"/>
              </a:xfrm>
              <a:blipFill rotWithShape="1">
                <a:blip r:embed="rId2"/>
                <a:stretch>
                  <a:fillRect l="-5" t="-7" r="7" b="-46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332656"/>
                <a:ext cx="7772400" cy="4432988"/>
              </a:xfrm>
            </p:spPr>
            <p:txBody>
              <a:bodyPr>
                <a:noAutofit/>
              </a:bodyPr>
              <a:lstStyle/>
              <a:p>
                <a:pPr marL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2.4.2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多维高斯随机变量的性质</a:t>
                </a:r>
              </a:p>
              <a:p>
                <a:pPr marL="0" indent="0">
                  <a:buNone/>
                </a:pPr>
                <a:r>
                  <a:rPr lang="x-none" altLang="zh-CN" sz="2000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sz="2000" dirty="0">
                    <a:solidFill>
                      <a:schemeClr val="accent2"/>
                    </a:solidFill>
                  </a:rPr>
                  <a:t>多维高斯随机变量的统计独立和不相关等价</a:t>
                </a: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/>
                  <a:t>  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统计独立</a:t>
                </a:r>
                <a:r>
                  <a:rPr lang="zh-CN" altLang="zh-CN" sz="2000" dirty="0"/>
                  <a:t>一定</a:t>
                </a:r>
                <a:r>
                  <a:rPr lang="zh-CN" altLang="zh-CN" sz="2000" dirty="0">
                    <a:solidFill>
                      <a:srgbClr val="FF0000"/>
                    </a:solidFill>
                  </a:rPr>
                  <a:t>不相关</a:t>
                </a:r>
                <a:r>
                  <a:rPr lang="zh-CN" altLang="zh-CN" sz="2000" dirty="0"/>
                  <a:t>，现证明不相关一定统计独立。 </a:t>
                </a:r>
              </a:p>
              <a:p>
                <a:pPr>
                  <a:lnSpc>
                    <a:spcPct val="16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dirty="0"/>
                  <a:t>  </a:t>
                </a:r>
                <a:r>
                  <a:rPr lang="zh-CN" altLang="en-US" sz="2000" dirty="0"/>
                  <a:t>证明：</a:t>
                </a:r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)]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=1,2,..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zh-CN" altLang="en-US" sz="2000" dirty="0"/>
                  <a:t>      若不相关，则 </a:t>
                </a:r>
                <a:endParaRPr lang="en-US" altLang="zh-CN" sz="2000" dirty="0"/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=1,2,..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从而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zh-CN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sz="20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p>
                              </m:sSub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 …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sSubSup>
                                <m:sSubSupPr>
                                  <m:ctrlP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zh-CN" altLang="en-US" sz="20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0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Sup>
                                <m:sSubSupPr>
                                  <m:ctrlP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000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20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332656"/>
                <a:ext cx="7772400" cy="4432988"/>
              </a:xfrm>
              <a:blipFill rotWithShape="1">
                <a:blip r:embed="rId2"/>
                <a:stretch>
                  <a:fillRect l="-6" t="-12" r="6" b="-14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684213" y="995796"/>
                <a:ext cx="7772400" cy="4662054"/>
              </a:xfrm>
            </p:spPr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135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特征函数为</a:t>
                </a:r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𝑒𝑥𝑝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+...+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𝑪𝒗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zh-CN" altLang="zh-CN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m:rPr>
                          <m:nor/>
                        </m:rPr>
                        <a:rPr lang="en-US" altLang="zh-CN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𝑒𝑥𝑝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nary>
                                    <m:naryPr>
                                      <m:chr m:val="∑"/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bSup>
                                    <m:sSub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US" altLang="zh-CN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995796"/>
                <a:ext cx="7772400" cy="4662054"/>
              </a:xfrm>
              <a:blipFill rotWithShape="1">
                <a:blip r:embed="rId2"/>
                <a:stretch>
                  <a:fillRect l="-4" t="-2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 bwMode="auto">
          <a:xfrm>
            <a:off x="5148064" y="4653136"/>
            <a:ext cx="3369799" cy="110487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/>
          <a:lstStyle/>
          <a:p>
            <a:pPr algn="ctr">
              <a:spcBef>
                <a:spcPts val="900"/>
              </a:spcBef>
              <a:spcAft>
                <a:spcPts val="450"/>
              </a:spcAft>
            </a:pPr>
            <a:r>
              <a:rPr lang="en-US" altLang="zh-CN" sz="2000" dirty="0"/>
              <a:t>n</a:t>
            </a:r>
            <a:r>
              <a:rPr lang="zh-CN" altLang="en-US" sz="2000" dirty="0"/>
              <a:t>维联合特征函数等于各随</a:t>
            </a:r>
            <a:endParaRPr lang="en-US" altLang="zh-CN" sz="2000" dirty="0"/>
          </a:p>
          <a:p>
            <a:pPr algn="ctr">
              <a:spcBef>
                <a:spcPts val="900"/>
              </a:spcBef>
              <a:spcAft>
                <a:spcPts val="450"/>
              </a:spcAft>
            </a:pPr>
            <a:r>
              <a:rPr lang="zh-CN" altLang="en-US" sz="2000" dirty="0"/>
              <a:t>机变量特征函数的乘积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476672"/>
                <a:ext cx="8078787" cy="4434928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x-none" altLang="zh-CN" sz="2000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sz="2000" dirty="0">
                    <a:solidFill>
                      <a:schemeClr val="accent2"/>
                    </a:solidFill>
                  </a:rPr>
                  <a:t>多维高斯随机变量的线性变换仍是多维高斯随机变量</a:t>
                </a:r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sz="2000" i="1" dirty="0"/>
                  <a:t>n</a:t>
                </a:r>
                <a:r>
                  <a:rPr lang="zh-CN" altLang="zh-CN" sz="2000" dirty="0"/>
                  <a:t>维高斯随机矢量</a:t>
                </a:r>
                <a:r>
                  <a:rPr lang="en-US" altLang="zh-CN" sz="20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/>
                  <a:t>其线性变换</a:t>
                </a:r>
                <a:r>
                  <a:rPr lang="en-US" altLang="zh-CN" sz="2000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𝑮𝑿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zh-CN" altLang="zh-CN" sz="2000">
                        <a:latin typeface="Cambria Math" panose="02040503050406030204" pitchFamily="18" charset="0"/>
                      </a:rPr>
                      <m:t>为可逆矩阵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zh-CN" altLang="zh-CN" sz="2000" dirty="0"/>
                  <a:t>有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2000" dirty="0"/>
                  <a:t>    </a:t>
                </a:r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均值：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𝑮𝑿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𝑮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协方差矩阵：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                         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𝑮𝑿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𝑮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𝑮𝑿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                         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                         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𝑮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zh-CN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000" dirty="0"/>
                  <a:t>结论：</a:t>
                </a:r>
                <a:r>
                  <a:rPr lang="en-US" altLang="zh-CN" sz="2000" dirty="0"/>
                  <a:t> Y</a:t>
                </a:r>
                <a:r>
                  <a:rPr lang="zh-CN" altLang="zh-CN" sz="2000" dirty="0"/>
                  <a:t>仍是高斯随机矢量。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     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476672"/>
                <a:ext cx="8078787" cy="4434928"/>
              </a:xfrm>
              <a:blipFill rotWithShape="1">
                <a:blip r:embed="rId2"/>
                <a:stretch>
                  <a:fillRect l="-1" t="-10" r="5" b="-24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551511" y="908720"/>
                <a:ext cx="8040977" cy="4434928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x-none" altLang="zh-CN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多维高斯随机变量的线性变换仍是多维高斯随机变量</a:t>
                </a:r>
                <a:endParaRPr lang="en-US" altLang="zh-CN" dirty="0"/>
              </a:p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利用特征函数证明。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+...+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𝑮𝑿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m:rPr>
                          <m:nor/>
                        </m:rPr>
                        <a:rPr lang="en-US" altLang="zh-CN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zh-CN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𝑮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sup>
                                          </m:s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𝑒𝑥𝑝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𝑮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511" y="908720"/>
                <a:ext cx="8040977" cy="4434928"/>
              </a:xfrm>
              <a:blipFill rotWithShape="1">
                <a:blip r:embed="rId2"/>
                <a:stretch>
                  <a:fillRect l="-4" t="-1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/>
              </p:nvPr>
            </p:nvSpPr>
            <p:spPr>
              <a:xfrm>
                <a:off x="308263" y="188640"/>
                <a:ext cx="8527473" cy="491143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zh-CN" altLang="zh-CN" sz="1800" dirty="0"/>
                  <a:t>例</a:t>
                </a:r>
                <a:r>
                  <a:rPr lang="en-US" altLang="zh-CN" sz="1800" dirty="0"/>
                  <a:t>:</a:t>
                </a:r>
                <a:r>
                  <a:rPr lang="zh-CN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𝐵𝑡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≥0,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zh-CN" sz="180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zh-CN" sz="1800" dirty="0"/>
                  <a:t>为统计独立的标准正态分布的随机变量，试求随过程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r>
                  <a:rPr lang="zh-CN" altLang="zh-CN" sz="1800" dirty="0"/>
                  <a:t>的一维、二维概率密度函数。</a:t>
                </a:r>
                <a:endParaRPr lang="en-US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1800" dirty="0"/>
                  <a:t>解：</a:t>
                </a:r>
                <a:endParaRPr lang="en-US" altLang="zh-CN" sz="1800" dirty="0"/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dirty="0"/>
                  <a:t>一维</a:t>
                </a:r>
                <a:r>
                  <a:rPr lang="en-US" altLang="zh-CN" sz="1800" dirty="0"/>
                  <a:t> 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  </a:t>
                </a:r>
                <a:r>
                  <a:rPr lang="zh-CN" altLang="zh-CN" sz="1800" dirty="0"/>
                  <a:t>确定的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为正态随机变量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8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=1+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800" dirty="0"/>
                  <a:t>    </a:t>
                </a:r>
                <a:r>
                  <a:rPr lang="zh-CN" altLang="zh-CN" sz="1800" dirty="0"/>
                  <a:t>故一维随机变量的分布可以表示为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)~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(0,1+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1800" dirty="0"/>
                  <a:t>。</a:t>
                </a:r>
                <a:endParaRPr lang="en-US" altLang="zh-CN" sz="1800" dirty="0"/>
              </a:p>
              <a:p>
                <a:pPr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dirty="0"/>
                  <a:t>二维</a:t>
                </a:r>
                <a:r>
                  <a:rPr lang="zh-CN" altLang="en-US" sz="1800" dirty="0"/>
                  <a:t>：</a:t>
                </a:r>
                <a:r>
                  <a:rPr lang="en-US" altLang="zh-CN" sz="18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nor/>
                      </m:rPr>
                      <a:rPr lang="en-US" altLang="zh-CN" sz="180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en-US" altLang="zh-CN" sz="1800" dirty="0"/>
                  <a:t>,</a:t>
                </a:r>
                <a14:m>
                  <m:oMath xmlns:m="http://schemas.openxmlformats.org/officeDocument/2006/math">
                    <m:r>
                      <a:rPr lang="en-US" altLang="zh-CN" sz="1800" b="1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)]=1+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800" dirty="0"/>
                  <a:t>,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)]=1+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1800" dirty="0"/>
                  <a:t>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=1+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1800" b="1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180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1800" dirty="0"/>
                  <a:t>的均值矢量为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1800" dirty="0"/>
                  <a:t>，</a:t>
                </a:r>
                <a:endParaRPr lang="en-US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1800" dirty="0"/>
                  <a:t>                  </a:t>
                </a:r>
                <a:r>
                  <a:rPr lang="zh-CN" altLang="zh-CN" sz="1800" dirty="0"/>
                  <a:t>协方差矩阵为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Sup>
                              <m:sSubSup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Sup>
                              <m:sSubSup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nor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zh-CN" sz="1800" dirty="0"/>
                  <a:t>，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1800" dirty="0"/>
                  <a:t>故二维随机变量可以表示为</a:t>
                </a:r>
                <a:r>
                  <a:rPr lang="en-US" altLang="zh-CN" sz="1800" dirty="0"/>
                  <a:t> </a:t>
                </a:r>
                <a:endParaRPr lang="zh-CN" altLang="zh-CN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)]</m:t>
                      </m:r>
                      <m:func>
                        <m:func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~</m:t>
                          </m:r>
                        </m:fName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func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1800">
                          <a:latin typeface="Cambria Math" panose="02040503050406030204" pitchFamily="18" charset="0"/>
                        </a:rPr>
                        <m:t>  ,  </m:t>
                      </m:r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≥0,</m:t>
                      </m:r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08263" y="188640"/>
                <a:ext cx="8527473" cy="4911437"/>
              </a:xfrm>
              <a:blipFill rotWithShape="1">
                <a:blip r:embed="rId2"/>
                <a:stretch>
                  <a:fillRect l="-3" t="-1" r="4" b="-15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332656"/>
                <a:ext cx="8693728" cy="4273661"/>
              </a:xfrm>
            </p:spPr>
            <p:txBody>
              <a:bodyPr/>
              <a:lstStyle/>
              <a:p>
                <a:pPr marL="0" indent="0" algn="ctr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2.4.3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高斯随机信号 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定义 </a:t>
                </a:r>
              </a:p>
              <a:p>
                <a:pPr>
                  <a:lnSpc>
                    <a:spcPct val="150000"/>
                  </a:lnSpc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l"/>
                </a:pPr>
                <a:r>
                  <a:rPr lang="zh-CN" altLang="zh-CN" sz="2400" dirty="0"/>
                  <a:t>设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sz="2400" dirty="0"/>
                  <a:t>为随机过程，若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≥1, </m:t>
                    </m:r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sz="2400" b="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),...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为</a:t>
                </a:r>
                <a:r>
                  <a:rPr lang="en-US" altLang="zh-CN" sz="2400" dirty="0"/>
                  <a:t>n</a:t>
                </a:r>
                <a:r>
                  <a:rPr lang="zh-CN" altLang="zh-CN" sz="2400" dirty="0"/>
                  <a:t>维正态随机变量，则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2400" dirty="0"/>
                  <a:t>为正态随机过程。</a:t>
                </a:r>
                <a:endParaRPr lang="en-US" altLang="zh-CN" sz="2400" dirty="0"/>
              </a:p>
              <a:p>
                <a:pPr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l"/>
                </a:pPr>
                <a:r>
                  <a:rPr lang="zh-CN" altLang="zh-CN" sz="2400" dirty="0"/>
                  <a:t>正态过程的有限维分布由均值函数和协方差函数决定，是二阶矩过程。</a:t>
                </a:r>
                <a:endParaRPr lang="en-US" altLang="zh-CN" sz="240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x-none" altLang="zh-CN" sz="2400" dirty="0">
                    <a:solidFill>
                      <a:schemeClr val="accent2"/>
                    </a:solidFill>
                  </a:rPr>
                  <a:t>2.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性质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/>
                  <a:t>1</a:t>
                </a:r>
                <a:r>
                  <a:rPr lang="zh-CN" altLang="zh-CN" sz="2400" dirty="0"/>
                  <a:t>）高斯随机过程的分布由均值函数和协方差函数决定。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/>
                  <a:t>2</a:t>
                </a:r>
                <a:r>
                  <a:rPr lang="zh-CN" altLang="zh-CN" sz="2400" dirty="0"/>
                  <a:t>）高斯随机过程经线性变换后仍为高斯随机过程。</a:t>
                </a:r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332656"/>
                <a:ext cx="8693728" cy="4273661"/>
              </a:xfrm>
              <a:blipFill rotWithShape="1">
                <a:blip r:embed="rId2"/>
                <a:stretch>
                  <a:fillRect l="-4" t="-13" r="3" b="-42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692696"/>
                <a:ext cx="8687909" cy="464058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lang="zh-CN" altLang="en-US" sz="2000" b="0" dirty="0">
                    <a:latin typeface="+mn-ea"/>
                    <a:ea typeface="+mn-ea"/>
                  </a:rPr>
                  <a:t>例（</a:t>
                </a:r>
                <a:r>
                  <a:rPr lang="en-US" altLang="zh-CN" sz="2000" b="0" dirty="0">
                    <a:latin typeface="+mn-ea"/>
                    <a:ea typeface="+mn-ea"/>
                  </a:rPr>
                  <a:t>2.12</a:t>
                </a:r>
                <a:r>
                  <a:rPr lang="zh-CN" altLang="en-US" sz="2000" b="0" dirty="0">
                    <a:latin typeface="+mn-ea"/>
                    <a:ea typeface="+mn-ea"/>
                  </a:rPr>
                  <a:t>）设</a:t>
                </a:r>
                <a:r>
                  <a:rPr lang="en-US" altLang="zh-CN" sz="2000" b="0" dirty="0">
                    <a:latin typeface="+mn-ea"/>
                    <a:ea typeface="+mn-ea"/>
                  </a:rPr>
                  <a:t>A</a:t>
                </a:r>
                <a:r>
                  <a:rPr lang="zh-CN" altLang="en-US" sz="2000" b="0" dirty="0">
                    <a:latin typeface="+mn-ea"/>
                    <a:ea typeface="+mn-ea"/>
                  </a:rPr>
                  <a:t>与</a:t>
                </a:r>
                <a:r>
                  <a:rPr lang="en-US" altLang="zh-CN" sz="2000" b="0" dirty="0">
                    <a:latin typeface="+mn-ea"/>
                    <a:ea typeface="+mn-ea"/>
                  </a:rPr>
                  <a:t>B</a:t>
                </a:r>
                <a:r>
                  <a:rPr lang="zh-CN" altLang="en-US" sz="2000" b="0" dirty="0">
                    <a:latin typeface="+mn-ea"/>
                    <a:ea typeface="+mn-ea"/>
                  </a:rPr>
                  <a:t>时两个独立的随机变量，且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~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0,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b="0" dirty="0">
                    <a:latin typeface="+mn-ea"/>
                    <a:ea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𝐵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  <a:ea typeface="+mn-ea"/>
                      </a:rPr>
                      <m:t>~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  <m:d>
                      <m:dPr>
                        <m:ctrlP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0,</m:t>
                        </m:r>
                        <m:sSup>
                          <m:sSupPr>
                            <m:ctrlPr>
                              <a:rPr lang="en-US" altLang="zh-CN" sz="2000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zh-CN" altLang="en-US" sz="2000" b="0" i="1">
                                <a:latin typeface="Cambria Math" panose="02040503050406030204" pitchFamily="18" charset="0"/>
                                <a:ea typeface="+mn-ea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000" b="0" i="1">
                                <a:latin typeface="Cambria Math" panose="02040503050406030204" pitchFamily="18" charset="0"/>
                                <a:ea typeface="+mn-ea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000" b="0" dirty="0">
                    <a:latin typeface="+mn-ea"/>
                    <a:ea typeface="+mn-ea"/>
                  </a:rPr>
                  <a:t>, </a:t>
                </a:r>
                <a:r>
                  <a:rPr lang="zh-CN" altLang="en-US" sz="2000" b="0" dirty="0">
                    <a:latin typeface="+mn-ea"/>
                    <a:ea typeface="+mn-ea"/>
                  </a:rPr>
                  <a:t>随机信号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𝑋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𝐴𝑐𝑜𝑠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+mn-ea"/>
                      </a:rPr>
                      <m:t>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𝐵𝑠𝑖𝑛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+mn-ea"/>
                      </a:rPr>
                      <m:t>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, −∞&lt;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&lt;∞, </m:t>
                    </m:r>
                  </m:oMath>
                </a14:m>
                <a:r>
                  <a:rPr lang="zh-CN" altLang="en-US" sz="2000" b="0" dirty="0">
                    <a:latin typeface="+mn-ea"/>
                    <a:ea typeface="+mn-ea"/>
                  </a:rPr>
                  <a:t>是高斯信号，其中</a:t>
                </a:r>
                <a14:m>
                  <m:oMath xmlns:m="http://schemas.openxmlformats.org/officeDocument/2006/math"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+mn-ea"/>
                      </a:rPr>
                      <m:t>𝜔</m:t>
                    </m:r>
                  </m:oMath>
                </a14:m>
                <a:r>
                  <a:rPr lang="zh-CN" altLang="en-US" sz="2000" b="0" dirty="0">
                    <a:latin typeface="+mn-ea"/>
                    <a:ea typeface="+mn-ea"/>
                  </a:rPr>
                  <a:t>为常数，试写出该信号的一维、二维概率密度函数。</a:t>
                </a:r>
                <a:endParaRPr lang="en-US" altLang="zh-CN" sz="2000" b="0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lang="zh-CN" altLang="en-US" sz="2000" b="0" dirty="0">
                    <a:latin typeface="+mn-ea"/>
                    <a:ea typeface="+mn-ea"/>
                  </a:rPr>
                  <a:t>解：</a:t>
                </a:r>
                <a:endParaRPr lang="en-US" altLang="zh-CN" sz="2000" b="0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:r>
                  <a:rPr lang="zh-CN" altLang="en-US" sz="2000" b="0" dirty="0">
                    <a:latin typeface="+mn-ea"/>
                    <a:ea typeface="+mn-ea"/>
                  </a:rPr>
                  <a:t>高斯随机信号的一维、二维概率密度函数由其一阶矩和二阶矩决定。故</a:t>
                </a:r>
                <a:endParaRPr lang="en-US" altLang="zh-CN" sz="2000" b="0" dirty="0">
                  <a:latin typeface="+mn-ea"/>
                  <a:ea typeface="+mn-ea"/>
                </a:endParaRPr>
              </a:p>
              <a:p>
                <a:pPr>
                  <a:spcBef>
                    <a:spcPts val="0"/>
                  </a:spcBef>
                  <a:spcAft>
                    <a:spcPts val="450"/>
                  </a:spcAft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𝐴𝑐𝑜𝑠</m:t>
                        </m:r>
                        <m:r>
                          <a:rPr lang="zh-CN" altLang="en-US" sz="2000" b="0" i="1">
                            <a:latin typeface="Cambria Math" panose="02040503050406030204" pitchFamily="18" charset="0"/>
                            <a:ea typeface="+mn-ea"/>
                          </a:rPr>
                          <m:t>𝜔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+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𝐵𝑠𝑖𝑛</m:t>
                        </m:r>
                        <m:r>
                          <a:rPr lang="zh-CN" altLang="en-US" sz="2000" b="0" i="1">
                            <a:latin typeface="Cambria Math" panose="02040503050406030204" pitchFamily="18" charset="0"/>
                            <a:ea typeface="+mn-ea"/>
                          </a:rPr>
                          <m:t>𝜔</m:t>
                        </m:r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𝐴</m:t>
                        </m:r>
                      </m:e>
                    </m:d>
                    <m:r>
                      <a:rPr lang="en-US" altLang="zh-CN" sz="2000" b="0" i="1">
                        <a:latin typeface="Cambria Math" panose="02040503050406030204" pitchFamily="18" charset="0"/>
                        <a:ea typeface="+mn-ea"/>
                      </a:rPr>
                      <m:t>𝑐𝑜𝑠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  <a:ea typeface="+mn-ea"/>
                      </a:rPr>
                      <m:t>𝜔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>
                            <a:latin typeface="Cambria Math" panose="02040503050406030204" pitchFamily="18" charset="0"/>
                            <a:ea typeface="+mn-ea"/>
                          </a:rPr>
                          <m:t>𝐵</m:t>
                        </m:r>
                      </m:e>
                    </m:d>
                    <m:r>
                      <a:rPr lang="en-US" altLang="zh-CN" sz="2000" b="0" i="1">
                        <a:latin typeface="Cambria Math" panose="02040503050406030204" pitchFamily="18" charset="0"/>
                        <a:ea typeface="+mn-ea"/>
                      </a:rPr>
                      <m:t>𝑠𝑖𝑛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  <a:ea typeface="+mn-ea"/>
                      </a:rPr>
                      <m:t>𝜔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  <a:ea typeface="+mn-ea"/>
                      </a:rPr>
                      <m:t>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=0</m:t>
                    </m:r>
                  </m:oMath>
                </a14:m>
                <a:endParaRPr lang="en-US" altLang="zh-CN" sz="2000" b="0" dirty="0">
                  <a:latin typeface="+mn-ea"/>
                  <a:ea typeface="+mn-ea"/>
                </a:endParaRPr>
              </a:p>
              <a:p>
                <a:pPr>
                  <a:spcBef>
                    <a:spcPts val="0"/>
                  </a:spcBef>
                  <a:spcAft>
                    <a:spcPts val="450"/>
                  </a:spcAft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𝐶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𝑅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𝑅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</a:rPr>
                          <m:t>𝑋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n-US" altLang="zh-CN" sz="2000" b="0" i="1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𝐴𝑐𝑜𝑠</m:t>
                              </m:r>
                              <m:r>
                                <a:rPr lang="zh-CN" altLang="en-US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𝜔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𝑠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𝐵𝑠𝑖𝑛</m:t>
                              </m:r>
                              <m:r>
                                <a:rPr lang="zh-CN" altLang="en-US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𝜔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𝑠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𝐴𝑐𝑜𝑠</m:t>
                              </m:r>
                              <m:r>
                                <a:rPr lang="zh-CN" altLang="en-US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𝜔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𝑡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𝐵𝑠𝑖𝑛</m:t>
                              </m:r>
                              <m:r>
                                <a:rPr lang="zh-CN" altLang="en-US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𝜔</m:t>
                              </m:r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000" b="0" i="1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𝑐𝑜𝑠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𝑠𝑐𝑜𝑠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𝐴𝐵𝑐𝑜𝑠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𝑠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𝑠𝑖𝑛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𝐵𝐴𝑠𝑖𝑛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𝑠𝑐𝑜𝑠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𝑠𝑖𝑛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𝑠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𝑠𝑖𝑛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000" b="0" i="1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𝑐𝑜𝑠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𝑠𝑐𝑜𝑠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𝐴𝐵</m:t>
                          </m:r>
                        </m:e>
                      </m:d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𝑐𝑜𝑠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𝑠𝑠𝑖𝑛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𝐵𝐴</m:t>
                          </m:r>
                        </m:e>
                      </m:d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𝑠𝑖𝑛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𝑠𝑐𝑜𝑠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20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𝑠𝑖𝑛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𝑠𝑠𝑖𝑛</m:t>
                      </m:r>
                      <m:r>
                        <a:rPr lang="zh-CN" altLang="en-US" sz="2000" b="0" i="1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</m:oMath>
                  </m:oMathPara>
                </a14:m>
                <a:endParaRPr lang="en-US" altLang="zh-CN" sz="2000" b="0" i="1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𝑐𝑜𝑠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𝑠𝑐𝑜𝑠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𝑠𝑖𝑛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𝑠𝑠𝑖𝑛</m:t>
                          </m:r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000" b="0" i="1" dirty="0">
                  <a:latin typeface="+mn-ea"/>
                  <a:ea typeface="+mn-ea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zh-CN" altLang="en-US" sz="2000" b="0" i="1">
                              <a:latin typeface="Cambria Math" panose="02040503050406030204" pitchFamily="18" charset="0"/>
                              <a:ea typeface="+mn-ea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000" b="0" i="1"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𝑐𝑜𝑠</m:t>
                      </m:r>
                      <m:r>
                        <a:rPr lang="zh-CN" altLang="en-US" sz="2000" b="0" i="1" smtClean="0"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𝑠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000" b="0" i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692696"/>
                <a:ext cx="8687909" cy="4640580"/>
              </a:xfrm>
              <a:blipFill rotWithShape="1">
                <a:blip r:embed="rId3"/>
                <a:stretch>
                  <a:fillRect l="-4" t="-12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62344" y="1014776"/>
                <a:ext cx="9012382" cy="466011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当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dirty="0"/>
                  <a:t>时，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dirty="0"/>
                  <a:t>, </a:t>
                </a:r>
                <a:r>
                  <a:rPr lang="zh-CN" altLang="en-US" dirty="0"/>
                  <a:t>故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，一维概率密度函数为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对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任意的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𝒄𝒐𝒔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zh-CN" altLang="en-US" dirty="0"/>
                  <a:t>二维概率密度函数为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zh-CN" altLang="en-US" sz="1800" i="1">
                              <a:latin typeface="Cambria Math" panose="02040503050406030204" pitchFamily="18" charset="0"/>
                            </a:rPr>
                            <m:t>𝝅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𝒄𝒐𝒔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18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zh-CN" alt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r>
                                <m:rPr>
                                  <m:nor/>
                                </m:rPr>
                                <a:rPr lang="en-US" altLang="zh-CN" sz="1800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𝝅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𝒆𝒙𝒑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𝒄𝒐𝒔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𝒔𝒊𝒏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𝝎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344" y="1014776"/>
                <a:ext cx="9012382" cy="4660115"/>
              </a:xfrm>
              <a:blipFill rotWithShape="1">
                <a:blip r:embed="rId2"/>
                <a:stretch>
                  <a:fillRect l="-1" t="-1" r="6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9" y="4743450"/>
            <a:ext cx="8826672" cy="56110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00939" y="188640"/>
            <a:ext cx="7886700" cy="657209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2.5 </a:t>
            </a:r>
            <a:r>
              <a:rPr lang="zh-CN" altLang="zh-CN" sz="2400" dirty="0"/>
              <a:t>独立信号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334113" y="980729"/>
                <a:ext cx="8420353" cy="511256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altLang="zh-CN" sz="3100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sz="3100" dirty="0">
                    <a:solidFill>
                      <a:schemeClr val="accent2"/>
                    </a:solidFill>
                  </a:rPr>
                  <a:t>定义</a:t>
                </a:r>
              </a:p>
              <a:p>
                <a:pPr marL="0" indent="0">
                  <a:lnSpc>
                    <a:spcPct val="170000"/>
                  </a:lnSpc>
                  <a:buNone/>
                </a:pPr>
                <a:r>
                  <a:rPr lang="zh-CN" altLang="zh-CN" sz="3100" dirty="0"/>
                  <a:t>随机过程</a:t>
                </a:r>
                <a14:m>
                  <m:oMath xmlns:m="http://schemas.openxmlformats.org/officeDocument/2006/math">
                    <m:r>
                      <a:rPr lang="en-US" altLang="zh-CN" sz="31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31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zh-CN" sz="31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),...,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3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31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100" dirty="0"/>
                  <a:t>…,</a:t>
                </a:r>
                <a:r>
                  <a:rPr lang="zh-CN" altLang="zh-CN" sz="3100" dirty="0"/>
                  <a:t>在任意</a:t>
                </a:r>
                <a:r>
                  <a:rPr lang="en-US" altLang="zh-CN" sz="3100" i="1" dirty="0"/>
                  <a:t>n</a:t>
                </a:r>
                <a:r>
                  <a:rPr lang="zh-CN" altLang="zh-CN" sz="3100" dirty="0"/>
                  <a:t>个时刻上的随机变量都是两两统计独立的。</a:t>
                </a:r>
              </a:p>
              <a:p>
                <a:pPr marL="0" indent="0">
                  <a:buNone/>
                </a:pPr>
                <a:r>
                  <a:rPr lang="en-US" altLang="zh-CN" sz="3100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sz="3100" dirty="0">
                    <a:solidFill>
                      <a:schemeClr val="accent2"/>
                    </a:solidFill>
                  </a:rPr>
                  <a:t>性质</a:t>
                </a:r>
              </a:p>
              <a:p>
                <a:pPr marL="0" indent="0">
                  <a:buNone/>
                </a:pPr>
                <a:r>
                  <a:rPr lang="en-US" altLang="zh-CN" sz="3100" dirty="0"/>
                  <a:t>1</a:t>
                </a:r>
                <a:r>
                  <a:rPr lang="zh-CN" altLang="zh-CN" sz="3100" dirty="0"/>
                  <a:t>）联合概率密度函数为一维概率密度函数的乘积。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,..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31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100" b="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31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31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zh-CN" sz="3100" b="0" dirty="0"/>
              </a:p>
              <a:p>
                <a:pPr marL="0" indent="0">
                  <a:buNone/>
                </a:pPr>
                <a:r>
                  <a:rPr lang="en-US" altLang="zh-CN" sz="3100" dirty="0"/>
                  <a:t>2</a:t>
                </a:r>
                <a:r>
                  <a:rPr lang="zh-CN" altLang="zh-CN" sz="3100" dirty="0"/>
                  <a:t>）联合特征函数为一维特征函数的乘积。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unc>
                        <m:func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,..,</m:t>
                      </m:r>
                      <m:sSub>
                        <m:sSubPr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100" b="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zh-CN" altLang="zh-CN" sz="31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31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sz="31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31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100" b="0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zh-CN" sz="3100" b="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31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sz="31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zh-CN" sz="3100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113" y="980729"/>
                <a:ext cx="8420353" cy="5112568"/>
              </a:xfrm>
              <a:blipFill>
                <a:blip r:embed="rId2"/>
                <a:stretch>
                  <a:fillRect l="-941" t="-1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886700" cy="657209"/>
          </a:xfrm>
        </p:spPr>
        <p:txBody>
          <a:bodyPr>
            <a:normAutofit/>
          </a:bodyPr>
          <a:lstStyle/>
          <a:p>
            <a:r>
              <a:rPr lang="en-US" altLang="zh-CN" dirty="0"/>
              <a:t>2.6 </a:t>
            </a:r>
            <a:r>
              <a:rPr lang="zh-CN" altLang="zh-CN" dirty="0"/>
              <a:t>复随机信号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22150" y="1196752"/>
                <a:ext cx="8420353" cy="42075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</a:rPr>
                  <a:t>1.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复随机变量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如果</a:t>
                </a:r>
                <a:r>
                  <a:rPr lang="en-US" altLang="zh-CN" i="1" dirty="0"/>
                  <a:t>X</a:t>
                </a:r>
                <a:r>
                  <a:rPr lang="zh-CN" altLang="zh-CN" dirty="0"/>
                  <a:t>、</a:t>
                </a:r>
                <a:r>
                  <a:rPr lang="en-US" altLang="zh-CN" i="1" dirty="0"/>
                  <a:t>Y</a:t>
                </a:r>
                <a:r>
                  <a:rPr lang="zh-CN" altLang="zh-CN" dirty="0"/>
                  <a:t>是概率空间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上的实随机变量，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𝑗𝑌</m:t>
                    </m:r>
                  </m:oMath>
                </a14:m>
                <a:r>
                  <a:rPr lang="zh-CN" altLang="zh-CN" dirty="0"/>
                  <a:t>为复随机变量，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r>
                  <a:rPr lang="zh-CN" altLang="zh-CN" dirty="0"/>
                  <a:t>。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其数学期望为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𝑗𝐸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chemeClr val="accent2"/>
                    </a:solidFill>
                  </a:rPr>
                  <a:t>2. </a:t>
                </a:r>
                <a:r>
                  <a:rPr lang="zh-CN" altLang="zh-CN" dirty="0">
                    <a:solidFill>
                      <a:schemeClr val="accent2"/>
                    </a:solidFill>
                  </a:rPr>
                  <a:t>复随机信号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  </a:t>
                </a:r>
                <a:r>
                  <a:rPr lang="zh-CN" altLang="zh-CN" dirty="0"/>
                  <a:t>如果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，</a:t>
                </a:r>
                <a:r>
                  <a:rPr lang="en-US" altLang="zh-CN" i="1" dirty="0"/>
                  <a:t>Y(t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是定义在同一概率空间上的两个随机过程，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 </a:t>
                </a:r>
                <a:r>
                  <a:rPr lang="zh-CN" altLang="zh-CN" dirty="0"/>
                  <a:t>令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dirty="0"/>
                  <a:t>为复随机过程。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150" y="1196752"/>
                <a:ext cx="8420353" cy="4207544"/>
              </a:xfrm>
              <a:blipFill>
                <a:blip r:embed="rId2"/>
                <a:stretch>
                  <a:fillRect l="-868" t="-1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547255" y="1049274"/>
                <a:ext cx="7909358" cy="462935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3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．数字特征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dirty="0"/>
                  <a:t>为复随机过程，则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数学期望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dirty="0"/>
                  <a:t>,</a:t>
                </a: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方差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，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均方值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dirty="0"/>
                  <a:t> ,</a:t>
                </a: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自相关函数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dirty="0"/>
                  <a:t>,</a:t>
                </a: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自协方差函数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{[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de-DE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de-DE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de-DE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altLang="zh-CN" i="1"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若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),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 </a:t>
                </a:r>
                <a:r>
                  <a:rPr lang="zh-CN" altLang="zh-CN" dirty="0"/>
                  <a:t>为复随机过程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互相关函数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dirty="0"/>
                  <a:t>,</a:t>
                </a:r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互协方差函数</a:t>
                </a:r>
                <a:r>
                  <a:rPr lang="en-US" altLang="zh-CN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{[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255" y="1049274"/>
                <a:ext cx="7909358" cy="4629358"/>
              </a:xfrm>
              <a:blipFill rotWithShape="1">
                <a:blip r:embed="rId2"/>
                <a:stretch>
                  <a:fillRect l="-7" t="-5" r="4" b="-5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 业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课堂的知识点的总结</a:t>
            </a:r>
            <a:endParaRPr lang="en-US" altLang="zh-CN" sz="2400" dirty="0"/>
          </a:p>
          <a:p>
            <a:r>
              <a:rPr lang="zh-CN" altLang="en-US" sz="2400" dirty="0"/>
              <a:t>课堂练习总结</a:t>
            </a:r>
            <a:endParaRPr lang="en-US" altLang="zh-CN" sz="2400" dirty="0"/>
          </a:p>
          <a:p>
            <a:r>
              <a:rPr lang="zh-CN" altLang="en-US" sz="2400" dirty="0"/>
              <a:t>习题：</a:t>
            </a:r>
            <a:r>
              <a:rPr lang="en-US" altLang="zh-CN" sz="2400" dirty="0"/>
              <a:t>2.11</a:t>
            </a:r>
            <a:r>
              <a:rPr lang="zh-CN" altLang="en-US" sz="2400" dirty="0"/>
              <a:t>，</a:t>
            </a:r>
            <a:r>
              <a:rPr lang="en-US" altLang="zh-CN" sz="2400" dirty="0"/>
              <a:t>2.15</a:t>
            </a:r>
            <a:r>
              <a:rPr lang="zh-CN" altLang="en-US" sz="2400" dirty="0"/>
              <a:t>、</a:t>
            </a:r>
            <a:r>
              <a:rPr lang="en-US" altLang="zh-CN" sz="2400" dirty="0"/>
              <a:t>2.21</a:t>
            </a:r>
            <a:endParaRPr lang="zh-CN" altLang="en-US" sz="2400" dirty="0"/>
          </a:p>
          <a:p>
            <a:r>
              <a:rPr lang="zh-CN" altLang="en-US" sz="2400" dirty="0"/>
              <a:t>要求给出详细的思路和计算过程。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24799"/>
            <a:ext cx="7886700" cy="65720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总 结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" y="782008"/>
            <a:ext cx="4652010" cy="516727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724" y="2348880"/>
            <a:ext cx="4269105" cy="25922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k4MTg2MzFiYjg3YjQ0ZmM5ZTYxNzdmZGRjNGI4Y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235</TotalTime>
  <Words>3227</Words>
  <Application>Microsoft Office PowerPoint</Application>
  <PresentationFormat>全屏显示(4:3)</PresentationFormat>
  <Paragraphs>319</Paragraphs>
  <Slides>37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37</vt:i4>
      </vt:variant>
    </vt:vector>
  </HeadingPairs>
  <TitlesOfParts>
    <vt:vector size="56" baseType="lpstr">
      <vt:lpstr>Arial Unicode MS</vt:lpstr>
      <vt:lpstr>仿宋_GB2312</vt:lpstr>
      <vt:lpstr>黑体</vt:lpstr>
      <vt:lpstr>楷体</vt:lpstr>
      <vt:lpstr>宋体</vt:lpstr>
      <vt:lpstr>微软雅黑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PowerPoint 演示文稿</vt:lpstr>
      <vt:lpstr>第二章 随机信号（随机过程）</vt:lpstr>
      <vt:lpstr>学习目标</vt:lpstr>
      <vt:lpstr>2.3 随机信号的一般特性与基本运算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 多维高斯分布与高斯随机信号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2.5 独立信号</vt:lpstr>
      <vt:lpstr>2.6 复随机信号</vt:lpstr>
      <vt:lpstr>PowerPoint 演示文稿</vt:lpstr>
      <vt:lpstr>作 业</vt:lpstr>
      <vt:lpstr>总 结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805</cp:revision>
  <dcterms:created xsi:type="dcterms:W3CDTF">2012-07-10T00:46:00Z</dcterms:created>
  <dcterms:modified xsi:type="dcterms:W3CDTF">2024-10-25T00:42:59Z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2254BBA14AF445228665E646F0C1E8DB_12</vt:lpwstr>
  </property>
  <property fmtid="{D5CDD505-2E9C-101B-9397-08002B2CF9AE}" pid="3" name="KSOProductBuildVer">
    <vt:lpwstr>2052-12.1.0.15712</vt:lpwstr>
  </property>
</Properties>
</file>