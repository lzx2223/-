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60" r:id="rId2"/>
    <p:sldMasterId id="2147483686" r:id="rId3"/>
    <p:sldMasterId id="2147483690" r:id="rId4"/>
    <p:sldMasterId id="2147483708" r:id="rId5"/>
  </p:sldMasterIdLst>
  <p:notesMasterIdLst>
    <p:notesMasterId r:id="rId60"/>
  </p:notesMasterIdLst>
  <p:handoutMasterIdLst>
    <p:handoutMasterId r:id="rId61"/>
  </p:handoutMasterIdLst>
  <p:sldIdLst>
    <p:sldId id="360" r:id="rId6"/>
    <p:sldId id="298" r:id="rId7"/>
    <p:sldId id="299" r:id="rId8"/>
    <p:sldId id="300" r:id="rId9"/>
    <p:sldId id="301" r:id="rId10"/>
    <p:sldId id="302" r:id="rId11"/>
    <p:sldId id="303" r:id="rId12"/>
    <p:sldId id="284" r:id="rId13"/>
    <p:sldId id="287" r:id="rId14"/>
    <p:sldId id="288" r:id="rId15"/>
    <p:sldId id="289" r:id="rId16"/>
    <p:sldId id="290" r:id="rId17"/>
    <p:sldId id="371" r:id="rId18"/>
    <p:sldId id="261" r:id="rId19"/>
    <p:sldId id="262" r:id="rId20"/>
    <p:sldId id="263" r:id="rId21"/>
    <p:sldId id="264" r:id="rId22"/>
    <p:sldId id="265" r:id="rId23"/>
    <p:sldId id="275" r:id="rId24"/>
    <p:sldId id="266" r:id="rId25"/>
    <p:sldId id="276" r:id="rId26"/>
    <p:sldId id="277" r:id="rId27"/>
    <p:sldId id="367" r:id="rId28"/>
    <p:sldId id="368" r:id="rId29"/>
    <p:sldId id="369" r:id="rId30"/>
    <p:sldId id="278" r:id="rId31"/>
    <p:sldId id="370" r:id="rId32"/>
    <p:sldId id="372" r:id="rId33"/>
    <p:sldId id="279" r:id="rId34"/>
    <p:sldId id="280" r:id="rId35"/>
    <p:sldId id="292" r:id="rId36"/>
    <p:sldId id="293" r:id="rId37"/>
    <p:sldId id="294" r:id="rId38"/>
    <p:sldId id="295" r:id="rId39"/>
    <p:sldId id="296" r:id="rId40"/>
    <p:sldId id="297" r:id="rId41"/>
    <p:sldId id="361" r:id="rId42"/>
    <p:sldId id="362" r:id="rId43"/>
    <p:sldId id="363" r:id="rId44"/>
    <p:sldId id="364" r:id="rId45"/>
    <p:sldId id="365" r:id="rId46"/>
    <p:sldId id="366"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USER" initials="L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305"/>
    <a:srgbClr val="D09E00"/>
    <a:srgbClr val="FFD347"/>
    <a:srgbClr val="B88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96" autoAdjust="0"/>
    <p:restoredTop sz="83309" autoAdjust="0"/>
  </p:normalViewPr>
  <p:slideViewPr>
    <p:cSldViewPr>
      <p:cViewPr varScale="1">
        <p:scale>
          <a:sx n="75" d="100"/>
          <a:sy n="75" d="100"/>
        </p:scale>
        <p:origin x="1473" y="45"/>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1302"/>
    </p:cViewPr>
  </p:sorterViewPr>
  <p:notesViewPr>
    <p:cSldViewPr>
      <p:cViewPr varScale="1">
        <p:scale>
          <a:sx n="66" d="100"/>
          <a:sy n="66" d="100"/>
        </p:scale>
        <p:origin x="1579" y="5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7215D6-64B5-4D81-A068-018BC9D15C70}" type="datetimeFigureOut">
              <a:rPr lang="zh-CN" altLang="en-US" smtClean="0"/>
              <a:pPr/>
              <a:t>2024/12/6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B1B2BF-B727-4E7D-871C-58E4727485FE}" type="slidenum">
              <a:rPr lang="zh-CN" altLang="en-US" smtClean="0"/>
              <a:pPr/>
              <a:t>‹#›</a:t>
            </a:fld>
            <a:endParaRPr lang="zh-CN" altLang="en-US"/>
          </a:p>
        </p:txBody>
      </p:sp>
    </p:spTree>
    <p:extLst>
      <p:ext uri="{BB962C8B-B14F-4D97-AF65-F5344CB8AC3E}">
        <p14:creationId xmlns:p14="http://schemas.microsoft.com/office/powerpoint/2010/main" val="2216034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634918-EEE7-4DA3-9986-E691913FFCBE}" type="datetimeFigureOut">
              <a:rPr lang="zh-CN" altLang="en-US" smtClean="0"/>
              <a:pPr/>
              <a:t>2024/12/6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544D2F-56DD-4976-9716-D18248F9480C}" type="slidenum">
              <a:rPr lang="zh-CN" altLang="en-US" smtClean="0"/>
              <a:pPr/>
              <a:t>‹#›</a:t>
            </a:fld>
            <a:endParaRPr lang="zh-CN" altLang="en-US"/>
          </a:p>
        </p:txBody>
      </p:sp>
    </p:spTree>
    <p:extLst>
      <p:ext uri="{BB962C8B-B14F-4D97-AF65-F5344CB8AC3E}">
        <p14:creationId xmlns:p14="http://schemas.microsoft.com/office/powerpoint/2010/main" val="82587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544D2F-56DD-4976-9716-D18248F9480C}"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4094225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第三章 随机过程（信号）的定义和性质， 第四章 各态历经性 （遍历性）。 </a:t>
            </a:r>
            <a:endParaRPr lang="en-US" altLang="zh-CN" dirty="0"/>
          </a:p>
          <a:p>
            <a:r>
              <a:rPr lang="zh-CN" altLang="en-US" dirty="0"/>
              <a:t>线性系统最直接最简单的系统，也是应用最多的系统。 </a:t>
            </a:r>
            <a:r>
              <a:rPr lang="en-US" altLang="zh-CN" dirty="0"/>
              <a:t>Liner </a:t>
            </a:r>
            <a:r>
              <a:rPr lang="zh-CN" altLang="en-US" dirty="0"/>
              <a:t>线性，与此相对应的非线性系统。</a:t>
            </a:r>
            <a:endParaRPr lang="en-US" altLang="zh-CN" dirty="0"/>
          </a:p>
          <a:p>
            <a:r>
              <a:rPr lang="zh-CN" altLang="en-US" dirty="0"/>
              <a:t>目前</a:t>
            </a:r>
            <a:r>
              <a:rPr lang="en-US" altLang="zh-CN" dirty="0"/>
              <a:t>AI</a:t>
            </a:r>
            <a:r>
              <a:rPr lang="zh-CN" altLang="en-US" dirty="0"/>
              <a:t>为什么在特定领域取得了成功？ </a:t>
            </a:r>
            <a:r>
              <a:rPr lang="en-US" altLang="zh-CN" dirty="0"/>
              <a:t>1. </a:t>
            </a:r>
            <a:r>
              <a:rPr lang="zh-CN" altLang="en-US" dirty="0"/>
              <a:t>硬件系统加强  </a:t>
            </a:r>
            <a:r>
              <a:rPr lang="en-US" altLang="zh-CN" dirty="0"/>
              <a:t>2. </a:t>
            </a:r>
            <a:r>
              <a:rPr lang="zh-CN" altLang="en-US" dirty="0"/>
              <a:t>处理非线性问题能力 </a:t>
            </a:r>
            <a:r>
              <a:rPr lang="en-US" altLang="zh-CN" b="0" i="0" dirty="0">
                <a:effectLst/>
                <a:latin typeface="Inter"/>
              </a:rPr>
              <a:t>《Attention Is All You Need》</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a:t>
            </a:fld>
            <a:endParaRPr lang="zh-CN" altLang="en-US"/>
          </a:p>
        </p:txBody>
      </p:sp>
    </p:spTree>
    <p:extLst>
      <p:ext uri="{BB962C8B-B14F-4D97-AF65-F5344CB8AC3E}">
        <p14:creationId xmlns:p14="http://schemas.microsoft.com/office/powerpoint/2010/main" val="3940236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复习随机信号定义，各态历经性。 如何判断随机信号的广义平稳性？ </a:t>
            </a:r>
            <a:endParaRPr lang="en-US" altLang="zh-CN" dirty="0"/>
          </a:p>
          <a:p>
            <a:pPr marL="228600" indent="-228600">
              <a:buAutoNum type="arabicPeriod"/>
            </a:pPr>
            <a:r>
              <a:rPr lang="zh-CN" altLang="en-US" dirty="0"/>
              <a:t>为什么要计算输出过程的均值，自相关函数？ </a:t>
            </a:r>
            <a:endParaRPr lang="en-US" altLang="zh-CN" dirty="0"/>
          </a:p>
          <a:p>
            <a:pPr marL="0" indent="0">
              <a:buNone/>
            </a:pPr>
            <a:endParaRPr lang="en-US" altLang="zh-CN"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3</a:t>
            </a:fld>
            <a:endParaRPr lang="zh-CN" altLang="en-US"/>
          </a:p>
        </p:txBody>
      </p:sp>
    </p:spTree>
    <p:extLst>
      <p:ext uri="{BB962C8B-B14F-4D97-AF65-F5344CB8AC3E}">
        <p14:creationId xmlns:p14="http://schemas.microsoft.com/office/powerpoint/2010/main" val="1882610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稳定系统是指输入有界，输出必有界的系统。对线性时不变系统，当且仅当系统的单位脉冲响应</a:t>
            </a:r>
            <a:r>
              <a:rPr lang="en-US" altLang="zh-CN" sz="1200" b="0" i="0" kern="1200" dirty="0">
                <a:solidFill>
                  <a:schemeClr val="tx1"/>
                </a:solidFill>
                <a:effectLst/>
                <a:latin typeface="+mn-lt"/>
                <a:ea typeface="+mn-ea"/>
                <a:cs typeface="+mn-cs"/>
              </a:rPr>
              <a:t>h(t)</a:t>
            </a:r>
            <a:r>
              <a:rPr lang="zh-CN" altLang="en-US" sz="1200" b="0" i="0" kern="1200" dirty="0">
                <a:solidFill>
                  <a:schemeClr val="tx1"/>
                </a:solidFill>
                <a:effectLst/>
                <a:latin typeface="+mn-lt"/>
                <a:ea typeface="+mn-ea"/>
                <a:cs typeface="+mn-cs"/>
              </a:rPr>
              <a:t>绝对可和（或称绝对可加）时，系统稳定。</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7</a:t>
            </a:fld>
            <a:endParaRPr lang="zh-CN" altLang="en-US"/>
          </a:p>
        </p:txBody>
      </p:sp>
    </p:spTree>
    <p:extLst>
      <p:ext uri="{BB962C8B-B14F-4D97-AF65-F5344CB8AC3E}">
        <p14:creationId xmlns:p14="http://schemas.microsoft.com/office/powerpoint/2010/main" val="341610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因果稳定的线性时不变系统</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8</a:t>
            </a:fld>
            <a:endParaRPr lang="zh-CN" altLang="en-US"/>
          </a:p>
        </p:txBody>
      </p:sp>
    </p:spTree>
    <p:extLst>
      <p:ext uri="{BB962C8B-B14F-4D97-AF65-F5344CB8AC3E}">
        <p14:creationId xmlns:p14="http://schemas.microsoft.com/office/powerpoint/2010/main" val="1770518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时域表示</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9</a:t>
            </a:fld>
            <a:endParaRPr lang="zh-CN" altLang="en-US"/>
          </a:p>
        </p:txBody>
      </p:sp>
    </p:spTree>
    <p:extLst>
      <p:ext uri="{BB962C8B-B14F-4D97-AF65-F5344CB8AC3E}">
        <p14:creationId xmlns:p14="http://schemas.microsoft.com/office/powerpoint/2010/main" val="2538814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频域表示。确定性系统和随机系统。本课程仅讨论确定性系统。</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10</a:t>
            </a:fld>
            <a:endParaRPr lang="zh-CN" altLang="en-US"/>
          </a:p>
        </p:txBody>
      </p:sp>
    </p:spTree>
    <p:extLst>
      <p:ext uri="{BB962C8B-B14F-4D97-AF65-F5344CB8AC3E}">
        <p14:creationId xmlns:p14="http://schemas.microsoft.com/office/powerpoint/2010/main" val="19989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11</a:t>
            </a:fld>
            <a:endParaRPr lang="zh-CN" altLang="en-US"/>
          </a:p>
        </p:txBody>
      </p:sp>
    </p:spTree>
    <p:extLst>
      <p:ext uri="{BB962C8B-B14F-4D97-AF65-F5344CB8AC3E}">
        <p14:creationId xmlns:p14="http://schemas.microsoft.com/office/powerpoint/2010/main" val="4139898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为什么我们要求</a:t>
            </a:r>
            <a:r>
              <a:rPr lang="en-US" altLang="zh-CN" dirty="0"/>
              <a:t>Y(t)</a:t>
            </a:r>
            <a:r>
              <a:rPr lang="zh-CN" altLang="en-US" dirty="0"/>
              <a:t>的均值，自相关函数，功率谱密度函数？</a:t>
            </a:r>
            <a:endParaRPr lang="en-US" altLang="zh-CN" dirty="0"/>
          </a:p>
          <a:p>
            <a:r>
              <a:rPr lang="zh-CN" altLang="en-US" dirty="0"/>
              <a:t>因为很难计算出</a:t>
            </a:r>
            <a:r>
              <a:rPr lang="en-US" altLang="zh-CN" dirty="0"/>
              <a:t>Y(t) </a:t>
            </a:r>
            <a:r>
              <a:rPr lang="zh-CN" altLang="en-US" dirty="0"/>
              <a:t>概率分布函数，也没有必要。 从样本函数角度解释。</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12</a:t>
            </a:fld>
            <a:endParaRPr lang="zh-CN" altLang="en-US"/>
          </a:p>
        </p:txBody>
      </p:sp>
    </p:spTree>
    <p:extLst>
      <p:ext uri="{BB962C8B-B14F-4D97-AF65-F5344CB8AC3E}">
        <p14:creationId xmlns:p14="http://schemas.microsoft.com/office/powerpoint/2010/main" val="2969320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需要解释窄带随机信号和宽带随机信号。</a:t>
            </a:r>
            <a:r>
              <a:rPr lang="zh-CN" altLang="en-US" b="0" i="0" dirty="0">
                <a:solidFill>
                  <a:srgbClr val="05073B"/>
                </a:solidFill>
                <a:effectLst/>
                <a:latin typeface="-apple-system"/>
              </a:rPr>
              <a:t>窄带信号是指信号带宽远小于其中心频率的信号。如果信号带宽（</a:t>
            </a:r>
            <a:r>
              <a:rPr lang="en-US" altLang="zh-CN" b="0" i="0" dirty="0">
                <a:solidFill>
                  <a:srgbClr val="05073B"/>
                </a:solidFill>
                <a:effectLst/>
                <a:latin typeface="-apple-system"/>
              </a:rPr>
              <a:t>WB</a:t>
            </a:r>
            <a:r>
              <a:rPr lang="zh-CN" altLang="en-US" b="0" i="0" dirty="0">
                <a:solidFill>
                  <a:srgbClr val="05073B"/>
                </a:solidFill>
                <a:effectLst/>
                <a:latin typeface="-apple-system"/>
              </a:rPr>
              <a:t>）与其中心频率（</a:t>
            </a:r>
            <a:r>
              <a:rPr lang="en-US" altLang="zh-CN" b="0" i="0" dirty="0">
                <a:solidFill>
                  <a:srgbClr val="05073B"/>
                </a:solidFill>
                <a:effectLst/>
                <a:latin typeface="-apple-system"/>
              </a:rPr>
              <a:t>f0</a:t>
            </a:r>
            <a:r>
              <a:rPr lang="zh-CN" altLang="en-US" b="0" i="0" dirty="0">
                <a:solidFill>
                  <a:srgbClr val="05073B"/>
                </a:solidFill>
                <a:effectLst/>
                <a:latin typeface="-apple-system"/>
              </a:rPr>
              <a:t>）的比值（</a:t>
            </a:r>
            <a:r>
              <a:rPr lang="en-US" altLang="zh-CN" b="0" i="0" dirty="0">
                <a:solidFill>
                  <a:srgbClr val="05073B"/>
                </a:solidFill>
                <a:effectLst/>
                <a:latin typeface="-apple-system"/>
              </a:rPr>
              <a:t>WB/f0</a:t>
            </a:r>
            <a:r>
              <a:rPr lang="zh-CN" altLang="en-US" b="0" i="0" dirty="0">
                <a:solidFill>
                  <a:srgbClr val="05073B"/>
                </a:solidFill>
                <a:effectLst/>
                <a:latin typeface="-apple-system"/>
              </a:rPr>
              <a:t>）小于</a:t>
            </a:r>
            <a:r>
              <a:rPr lang="en-US" altLang="zh-CN" b="0" i="0" dirty="0">
                <a:solidFill>
                  <a:srgbClr val="05073B"/>
                </a:solidFill>
                <a:effectLst/>
                <a:latin typeface="-apple-system"/>
              </a:rPr>
              <a:t>1/10</a:t>
            </a:r>
            <a:r>
              <a:rPr lang="zh-CN" altLang="en-US" b="0" i="0" dirty="0">
                <a:solidFill>
                  <a:srgbClr val="05073B"/>
                </a:solidFill>
                <a:effectLst/>
                <a:latin typeface="-apple-system"/>
              </a:rPr>
              <a:t>，那么该信号就被称为窄带信号。宽带信号则是指与其中心频率相比有很大带宽的信号。一般而言，如果信号带宽（</a:t>
            </a:r>
            <a:r>
              <a:rPr lang="en-US" altLang="zh-CN" b="0" i="0" dirty="0">
                <a:solidFill>
                  <a:srgbClr val="05073B"/>
                </a:solidFill>
                <a:effectLst/>
                <a:latin typeface="-apple-system"/>
              </a:rPr>
              <a:t>B</a:t>
            </a:r>
            <a:r>
              <a:rPr lang="zh-CN" altLang="en-US" b="0" i="0" dirty="0">
                <a:solidFill>
                  <a:srgbClr val="05073B"/>
                </a:solidFill>
                <a:effectLst/>
                <a:latin typeface="-apple-system"/>
              </a:rPr>
              <a:t>）与其中心频率（</a:t>
            </a:r>
            <a:r>
              <a:rPr lang="en-US" altLang="zh-CN" b="0" i="0" dirty="0">
                <a:solidFill>
                  <a:srgbClr val="05073B"/>
                </a:solidFill>
                <a:effectLst/>
                <a:latin typeface="-apple-system"/>
              </a:rPr>
              <a:t>f0</a:t>
            </a:r>
            <a:r>
              <a:rPr lang="zh-CN" altLang="en-US" b="0" i="0" dirty="0">
                <a:solidFill>
                  <a:srgbClr val="05073B"/>
                </a:solidFill>
                <a:effectLst/>
                <a:latin typeface="-apple-system"/>
              </a:rPr>
              <a:t>）的比值（</a:t>
            </a:r>
            <a:r>
              <a:rPr lang="en-US" altLang="zh-CN" b="0" i="0" dirty="0">
                <a:solidFill>
                  <a:srgbClr val="05073B"/>
                </a:solidFill>
                <a:effectLst/>
                <a:latin typeface="-apple-system"/>
              </a:rPr>
              <a:t>B/f0</a:t>
            </a:r>
            <a:r>
              <a:rPr lang="zh-CN" altLang="en-US" b="0" i="0" dirty="0">
                <a:solidFill>
                  <a:srgbClr val="05073B"/>
                </a:solidFill>
                <a:effectLst/>
                <a:latin typeface="-apple-system"/>
              </a:rPr>
              <a:t>）远大于</a:t>
            </a:r>
            <a:r>
              <a:rPr lang="en-US" altLang="zh-CN" b="0" i="0" dirty="0">
                <a:solidFill>
                  <a:srgbClr val="05073B"/>
                </a:solidFill>
                <a:effectLst/>
                <a:latin typeface="-apple-system"/>
              </a:rPr>
              <a:t>1</a:t>
            </a:r>
            <a:r>
              <a:rPr lang="zh-CN" altLang="en-US" b="0" i="0" dirty="0">
                <a:solidFill>
                  <a:srgbClr val="05073B"/>
                </a:solidFill>
                <a:effectLst/>
                <a:latin typeface="-apple-system"/>
              </a:rPr>
              <a:t>，或者信号带宽</a:t>
            </a:r>
            <a:r>
              <a:rPr lang="en-US" altLang="zh-CN" b="0" i="0" dirty="0">
                <a:solidFill>
                  <a:srgbClr val="05073B"/>
                </a:solidFill>
                <a:effectLst/>
                <a:latin typeface="-apple-system"/>
              </a:rPr>
              <a:t>B</a:t>
            </a:r>
            <a:r>
              <a:rPr lang="zh-CN" altLang="en-US" b="0" i="0" dirty="0">
                <a:solidFill>
                  <a:srgbClr val="05073B"/>
                </a:solidFill>
                <a:effectLst/>
                <a:latin typeface="-apple-system"/>
              </a:rPr>
              <a:t>远大于中心频率</a:t>
            </a:r>
            <a:r>
              <a:rPr lang="en-US" altLang="zh-CN" b="0" i="0" dirty="0">
                <a:solidFill>
                  <a:srgbClr val="05073B"/>
                </a:solidFill>
                <a:effectLst/>
                <a:latin typeface="-apple-system"/>
              </a:rPr>
              <a:t>f0</a:t>
            </a:r>
            <a:r>
              <a:rPr lang="zh-CN" altLang="en-US" b="0" i="0" dirty="0">
                <a:solidFill>
                  <a:srgbClr val="05073B"/>
                </a:solidFill>
                <a:effectLst/>
                <a:latin typeface="-apple-system"/>
              </a:rPr>
              <a:t>，那么该信号就被称为宽带信号。相对而言。</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13</a:t>
            </a:fld>
            <a:endParaRPr lang="zh-CN" altLang="en-US"/>
          </a:p>
        </p:txBody>
      </p:sp>
    </p:spTree>
    <p:extLst>
      <p:ext uri="{BB962C8B-B14F-4D97-AF65-F5344CB8AC3E}">
        <p14:creationId xmlns:p14="http://schemas.microsoft.com/office/powerpoint/2010/main" val="3877552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r>
              <a:rPr lang="en-US" altLang="zh-CN" dirty="0"/>
              <a:t>h(t)</a:t>
            </a:r>
            <a:r>
              <a:rPr lang="zh-CN" altLang="en-US" dirty="0"/>
              <a:t>为</a:t>
            </a:r>
            <a:r>
              <a:rPr lang="en-US" altLang="zh-CN" dirty="0"/>
              <a:t>LTI </a:t>
            </a:r>
            <a:r>
              <a:rPr lang="zh-CN" altLang="en-US" dirty="0"/>
              <a:t>确定性系统而不是随机系统！</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14</a:t>
            </a:fld>
            <a:endParaRPr lang="zh-CN" altLang="en-US"/>
          </a:p>
        </p:txBody>
      </p:sp>
    </p:spTree>
    <p:extLst>
      <p:ext uri="{BB962C8B-B14F-4D97-AF65-F5344CB8AC3E}">
        <p14:creationId xmlns:p14="http://schemas.microsoft.com/office/powerpoint/2010/main" val="296489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主要过程。 判断所得随机信号</a:t>
            </a:r>
            <a:r>
              <a:rPr lang="en-US" altLang="zh-CN" dirty="0"/>
              <a:t>Y(t)</a:t>
            </a:r>
            <a:r>
              <a:rPr lang="zh-CN" altLang="en-US" dirty="0"/>
              <a:t>的平稳性？</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15</a:t>
            </a:fld>
            <a:endParaRPr lang="zh-CN" altLang="en-US"/>
          </a:p>
        </p:txBody>
      </p:sp>
    </p:spTree>
    <p:extLst>
      <p:ext uri="{BB962C8B-B14F-4D97-AF65-F5344CB8AC3E}">
        <p14:creationId xmlns:p14="http://schemas.microsoft.com/office/powerpoint/2010/main" val="521363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前提是系统为确定性系统。</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16</a:t>
            </a:fld>
            <a:endParaRPr lang="zh-CN" altLang="en-US"/>
          </a:p>
        </p:txBody>
      </p:sp>
    </p:spTree>
    <p:extLst>
      <p:ext uri="{BB962C8B-B14F-4D97-AF65-F5344CB8AC3E}">
        <p14:creationId xmlns:p14="http://schemas.microsoft.com/office/powerpoint/2010/main" val="148637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五个性质：均值，自相关 功率谱 互相关 互功率谱</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20</a:t>
            </a:fld>
            <a:endParaRPr lang="zh-CN" altLang="en-US"/>
          </a:p>
        </p:txBody>
      </p:sp>
    </p:spTree>
    <p:extLst>
      <p:ext uri="{BB962C8B-B14F-4D97-AF65-F5344CB8AC3E}">
        <p14:creationId xmlns:p14="http://schemas.microsoft.com/office/powerpoint/2010/main" val="2174639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注意计算。</a:t>
            </a:r>
            <a:r>
              <a:rPr lang="en-US" altLang="zh-CN" dirty="0"/>
              <a:t>P[Y&gt;=0]=0.5</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22</a:t>
            </a:fld>
            <a:endParaRPr lang="zh-CN" altLang="en-US"/>
          </a:p>
        </p:txBody>
      </p:sp>
    </p:spTree>
    <p:extLst>
      <p:ext uri="{BB962C8B-B14F-4D97-AF65-F5344CB8AC3E}">
        <p14:creationId xmlns:p14="http://schemas.microsoft.com/office/powerpoint/2010/main" val="4123919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参考第二章：随机正弦信号， </a:t>
            </a:r>
            <a:r>
              <a:rPr lang="en-US" altLang="zh-CN" dirty="0"/>
              <a:t>P42</a:t>
            </a:r>
            <a:r>
              <a:rPr lang="zh-CN" altLang="en-US" dirty="0"/>
              <a:t>，均值和自相关函数生成。</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24</a:t>
            </a:fld>
            <a:endParaRPr lang="zh-CN" altLang="en-US"/>
          </a:p>
        </p:txBody>
      </p:sp>
    </p:spTree>
    <p:extLst>
      <p:ext uri="{BB962C8B-B14F-4D97-AF65-F5344CB8AC3E}">
        <p14:creationId xmlns:p14="http://schemas.microsoft.com/office/powerpoint/2010/main" val="2752106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信号强度发生变化，符合功率传输函数的基本物理意义。</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25</a:t>
            </a:fld>
            <a:endParaRPr lang="zh-CN" altLang="en-US"/>
          </a:p>
        </p:txBody>
      </p:sp>
    </p:spTree>
    <p:extLst>
      <p:ext uri="{BB962C8B-B14F-4D97-AF65-F5344CB8AC3E}">
        <p14:creationId xmlns:p14="http://schemas.microsoft.com/office/powerpoint/2010/main" val="1551894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基本按照课本的章节逻辑： 平稳，非平稳，各态历经处理</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29</a:t>
            </a:fld>
            <a:endParaRPr lang="zh-CN" altLang="en-US"/>
          </a:p>
        </p:txBody>
      </p:sp>
    </p:spTree>
    <p:extLst>
      <p:ext uri="{BB962C8B-B14F-4D97-AF65-F5344CB8AC3E}">
        <p14:creationId xmlns:p14="http://schemas.microsoft.com/office/powerpoint/2010/main" val="3290723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60810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060645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15732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122956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80522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51970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90190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5078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46110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97835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518791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6251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671490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25282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3548887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11504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995888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24784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00396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2963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450175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321565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es-ES"/>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s-ES"/>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7500E5B7-4980-4DCB-B895-755E41E90C37}" type="datetime1">
              <a:rPr lang="es-ES" altLang="zh-CN" smtClean="0">
                <a:solidFill>
                  <a:prstClr val="black"/>
                </a:solidFill>
              </a:rPr>
              <a:pPr>
                <a:defRPr/>
              </a:pPr>
              <a:t>06/12/2024</a:t>
            </a:fld>
            <a:endParaRPr lang="es-ES" dirty="0">
              <a:solidFill>
                <a:prstClr val="black"/>
              </a:solidFill>
            </a:endParaRPr>
          </a:p>
        </p:txBody>
      </p:sp>
      <p:sp>
        <p:nvSpPr>
          <p:cNvPr id="5" name="4 Marcador de pie de página"/>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s-ES">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C089EF8F-819D-4663-82E4-C10ECE9AAC28}"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1749018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a:defRPr/>
            </a:pPr>
            <a:endParaRPr lang="es-ES" dirty="0">
              <a:solidFill>
                <a:prstClr val="black">
                  <a:tint val="75000"/>
                </a:prstClr>
              </a:solidFill>
            </a:endParaRPr>
          </a:p>
        </p:txBody>
      </p:sp>
      <p:sp>
        <p:nvSpPr>
          <p:cNvPr id="4" name="日期占位符 3"/>
          <p:cNvSpPr>
            <a:spLocks noGrp="1"/>
          </p:cNvSpPr>
          <p:nvPr>
            <p:ph type="dt" sz="half" idx="11"/>
          </p:nvPr>
        </p:nvSpPr>
        <p:spPr>
          <a:xfrm>
            <a:off x="0" y="6425952"/>
            <a:ext cx="1691680" cy="432048"/>
          </a:xfrm>
          <a:prstGeom prst="rect">
            <a:avLst/>
          </a:prstGeom>
        </p:spPr>
        <p:txBody>
          <a:bodyPr/>
          <a:lstStyle/>
          <a:p>
            <a:pPr>
              <a:defRPr/>
            </a:pPr>
            <a:r>
              <a:rPr lang="es-ES" altLang="zh-CN">
                <a:solidFill>
                  <a:prstClr val="black"/>
                </a:solidFill>
              </a:rPr>
              <a:t>Wensheng Zhang</a:t>
            </a:r>
            <a:endParaRPr lang="es-ES" dirty="0">
              <a:solidFill>
                <a:prstClr val="black"/>
              </a:solidFill>
            </a:endParaRPr>
          </a:p>
        </p:txBody>
      </p:sp>
    </p:spTree>
    <p:extLst>
      <p:ext uri="{BB962C8B-B14F-4D97-AF65-F5344CB8AC3E}">
        <p14:creationId xmlns:p14="http://schemas.microsoft.com/office/powerpoint/2010/main" val="1093588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8173156" cy="1417638"/>
          </a:xfrm>
          <a:prstGeom prst="rect">
            <a:avLst/>
          </a:prstGeom>
        </p:spPr>
        <p:txBody>
          <a:bodyPr/>
          <a:lstStyle/>
          <a:p>
            <a:r>
              <a:rPr lang="zh-CN" altLang="en-US"/>
              <a:t>单击此处编辑母版标题样式</a:t>
            </a:r>
            <a:endParaRPr lang="es-ES" dirty="0"/>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s-ES" dirty="0"/>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139C957B-D1FD-480F-B320-0EDA5B29C51F}" type="datetime1">
              <a:rPr lang="es-ES" altLang="zh-CN" smtClean="0">
                <a:solidFill>
                  <a:prstClr val="black"/>
                </a:solidFill>
              </a:rPr>
              <a:pPr>
                <a:defRPr/>
              </a:pPr>
              <a:t>06/12/2024</a:t>
            </a:fld>
            <a:endParaRPr lang="es-ES" dirty="0">
              <a:solidFill>
                <a:prstClr val="black"/>
              </a:solidFill>
            </a:endParaRPr>
          </a:p>
        </p:txBody>
      </p:sp>
      <p:sp>
        <p:nvSpPr>
          <p:cNvPr id="5" name="4 Marcador de pie de página"/>
          <p:cNvSpPr>
            <a:spLocks noGrp="1"/>
          </p:cNvSpPr>
          <p:nvPr>
            <p:ph type="ftr" sz="quarter" idx="11"/>
          </p:nvPr>
        </p:nvSpPr>
        <p:spPr>
          <a:xfrm>
            <a:off x="2627784" y="6381328"/>
            <a:ext cx="2895600" cy="365125"/>
          </a:xfrm>
          <a:prstGeom prst="rect">
            <a:avLst/>
          </a:prstGeom>
        </p:spPr>
        <p:txBody>
          <a:bodyPr/>
          <a:lstStyle>
            <a:lvl1pPr>
              <a:defRPr/>
            </a:lvl1pPr>
          </a:lstStyle>
          <a:p>
            <a:pPr>
              <a:defRPr/>
            </a:pPr>
            <a:endParaRPr lang="es-ES" dirty="0">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2FECF0F2-C070-45F9-912E-4BD4A0D78506}"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552746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1991805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151563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520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198766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25697970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9209834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2457134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39166170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2647829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38500959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446662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1766270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69345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15518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6533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922463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01328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2929912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027399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2961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33306357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24565599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5627861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7110670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1073337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Rectangle 3"/>
          <p:cNvSpPr>
            <a:spLocks noGrp="1" noChangeArrowheads="1"/>
          </p:cNvSpPr>
          <p:nvPr>
            <p:ph type="ftr" sz="quarter" idx="10"/>
          </p:nvPr>
        </p:nvSpPr>
        <p:spPr>
          <a:xfrm>
            <a:off x="3028950" y="6356352"/>
            <a:ext cx="3086100" cy="365125"/>
          </a:xfrm>
          <a:prstGeom prst="rect">
            <a:avLst/>
          </a:prstGeom>
        </p:spPr>
        <p:txBody>
          <a:bodyPr/>
          <a:lstStyle>
            <a:lvl1pPr eaLnBrk="1" hangingPunct="1">
              <a:defRPr/>
            </a:lvl1pPr>
          </a:lstStyle>
          <a:p>
            <a:pPr>
              <a:defRPr/>
            </a:pPr>
            <a:r>
              <a:rPr lang="en-US" altLang="zh-CN"/>
              <a:t>Copyright by Hailiang Xiong</a:t>
            </a:r>
            <a:r>
              <a:rPr lang="zh-CN" altLang="en-US"/>
              <a:t>山东大学</a:t>
            </a:r>
            <a:r>
              <a:rPr lang="en-US" altLang="zh-CN">
                <a:latin typeface="Arial" panose="020B0604020202020204" pitchFamily="34" charset="0"/>
              </a:rPr>
              <a:t>	                                                                </a:t>
            </a:r>
            <a:fld id="{8FBAAC0D-07A3-4AB9-A234-A9E9A2F0A6FD}" type="slidenum">
              <a:rPr lang="en-US" altLang="zh-CN">
                <a:latin typeface="Arial" panose="020B0604020202020204" pitchFamily="34" charset="0"/>
              </a:rPr>
              <a:pPr>
                <a:defRPr/>
              </a:pPr>
              <a:t>‹#›</a:t>
            </a:fld>
            <a:endParaRPr lang="en-US" altLang="zh-CN">
              <a:latin typeface="Arial" panose="020B0604020202020204" pitchFamily="34" charset="0"/>
            </a:endParaRPr>
          </a:p>
        </p:txBody>
      </p:sp>
    </p:spTree>
    <p:extLst>
      <p:ext uri="{BB962C8B-B14F-4D97-AF65-F5344CB8AC3E}">
        <p14:creationId xmlns:p14="http://schemas.microsoft.com/office/powerpoint/2010/main" val="26581336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10679253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30447978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25945021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333905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526853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265801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07996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9568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4.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image" Target="../media/image3.png"/><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9FDD8F-1499-4C79-8BBC-577CD559A01B}" type="datetimeFigureOut">
              <a:rPr lang="zh-CN" altLang="en-US" smtClean="0"/>
              <a:pPr/>
              <a:t>2024/12/6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054636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39855-D108-4DFB-8CB9-5769378610FC}" type="datetimeFigureOut">
              <a:rPr lang="zh-CN" altLang="en-US" smtClean="0"/>
              <a:pPr/>
              <a:t>2024/12/6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497910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5 Marcador de número de diapositiva"/>
          <p:cNvSpPr>
            <a:spLocks noGrp="1"/>
          </p:cNvSpPr>
          <p:nvPr>
            <p:ph type="sldNum" sz="quarter" idx="4"/>
          </p:nvPr>
        </p:nvSpPr>
        <p:spPr>
          <a:xfrm>
            <a:off x="8460432" y="6460772"/>
            <a:ext cx="718346"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endParaRPr lang="es-ES" dirty="0">
              <a:solidFill>
                <a:prstClr val="black">
                  <a:tint val="75000"/>
                </a:prstClr>
              </a:solidFill>
            </a:endParaRPr>
          </a:p>
        </p:txBody>
      </p:sp>
      <p:pic>
        <p:nvPicPr>
          <p:cNvPr id="7" name="Picture 2" descr="C:\Users\Administrator\Downloads\SDU.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080080" y="3235"/>
            <a:ext cx="880064" cy="83671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userDrawn="1"/>
        </p:nvCxnSpPr>
        <p:spPr>
          <a:xfrm>
            <a:off x="0" y="1124744"/>
            <a:ext cx="914302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7896225" y="839047"/>
            <a:ext cx="12477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32999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289062" y="6415221"/>
            <a:ext cx="1066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r>
              <a:rPr lang="de-DE" altLang="zh-CN" sz="900" dirty="0">
                <a:solidFill>
                  <a:srgbClr val="808080"/>
                </a:solidFill>
                <a:latin typeface="Arial" panose="020B0604020202020204" pitchFamily="34" charset="0"/>
              </a:rPr>
              <a:t>Slide </a:t>
            </a:r>
            <a:fld id="{ED94CCA2-7169-4BB5-975E-E6CC90B66E06}" type="slidenum">
              <a:rPr lang="de-DE" altLang="zh-CN" sz="900" smtClean="0">
                <a:solidFill>
                  <a:srgbClr val="808080"/>
                </a:solidFill>
                <a:latin typeface="Arial" panose="020B0604020202020204" pitchFamily="34" charset="0"/>
              </a:rPr>
              <a:pPr algn="r" eaLnBrk="1" hangingPunct="1">
                <a:defRPr/>
              </a:pPr>
              <a:t>‹#›</a:t>
            </a:fld>
            <a:endParaRPr lang="de-DE" altLang="zh-CN" sz="105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2612555" y="6521901"/>
            <a:ext cx="312420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05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050" dirty="0">
                <a:solidFill>
                  <a:schemeClr val="accent1">
                    <a:lumMod val="75000"/>
                  </a:schemeClr>
                </a:solidFill>
                <a:latin typeface="Arial" panose="020B0604020202020204" pitchFamily="34" charset="0"/>
              </a:rPr>
              <a:t>2022 </a:t>
            </a:r>
            <a:r>
              <a:rPr lang="en-US" altLang="zh-CN" sz="1050" dirty="0">
                <a:solidFill>
                  <a:schemeClr val="accent1">
                    <a:lumMod val="75000"/>
                  </a:schemeClr>
                </a:solidFill>
                <a:latin typeface="Arial" panose="020B0604020202020204" pitchFamily="34" charset="0"/>
              </a:rPr>
              <a:t>Fall</a:t>
            </a:r>
            <a:endParaRPr lang="zh-CN" altLang="de-DE" sz="105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808913" y="6461125"/>
            <a:ext cx="12954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
        <p:nvSpPr>
          <p:cNvPr id="208904" name="Text Box 8"/>
          <p:cNvSpPr txBox="1">
            <a:spLocks noChangeArrowheads="1"/>
          </p:cNvSpPr>
          <p:nvPr/>
        </p:nvSpPr>
        <p:spPr bwMode="auto">
          <a:xfrm>
            <a:off x="5720272" y="6461126"/>
            <a:ext cx="254635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rPr>
              <a:t>信息科学与工程学院</a:t>
            </a:r>
            <a:endParaRPr lang="zh-CN" altLang="en-U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endParaRPr>
          </a:p>
        </p:txBody>
      </p:sp>
      <p:pic>
        <p:nvPicPr>
          <p:cNvPr id="1033" name="Picture 9"/>
          <p:cNvPicPr preferRelativeResize="0">
            <a:picLocks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1246" y="58913"/>
            <a:ext cx="540000" cy="720000"/>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19791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611560" y="6415220"/>
            <a:ext cx="504056" cy="30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fld id="{ED94CCA2-7169-4BB5-975E-E6CC90B66E06}" type="slidenum">
              <a:rPr lang="de-DE" altLang="zh-CN" sz="1800" smtClean="0">
                <a:solidFill>
                  <a:srgbClr val="808080"/>
                </a:solidFill>
                <a:latin typeface="Arial" panose="020B0604020202020204" pitchFamily="34" charset="0"/>
              </a:rPr>
              <a:pPr algn="r" eaLnBrk="1" hangingPunct="1">
                <a:defRPr/>
              </a:pPr>
              <a:t>‹#›</a:t>
            </a:fld>
            <a:endParaRPr lang="de-DE" altLang="zh-CN" sz="180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3190419" y="6422607"/>
            <a:ext cx="2588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600" dirty="0">
                <a:solidFill>
                  <a:schemeClr val="accent1">
                    <a:lumMod val="75000"/>
                  </a:schemeClr>
                </a:solidFill>
                <a:latin typeface="Arial" panose="020B0604020202020204" pitchFamily="34" charset="0"/>
              </a:rPr>
              <a:t>2024 </a:t>
            </a:r>
            <a:r>
              <a:rPr lang="en-US" altLang="zh-CN" sz="1600" dirty="0">
                <a:solidFill>
                  <a:schemeClr val="accent1">
                    <a:lumMod val="75000"/>
                  </a:schemeClr>
                </a:solidFill>
                <a:latin typeface="Arial" panose="020B0604020202020204" pitchFamily="34" charset="0"/>
              </a:rPr>
              <a:t>Fall</a:t>
            </a:r>
            <a:endParaRPr lang="zh-CN" altLang="de-DE" sz="160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596336" y="6439619"/>
            <a:ext cx="1295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Tree>
    <p:extLst>
      <p:ext uri="{BB962C8B-B14F-4D97-AF65-F5344CB8AC3E}">
        <p14:creationId xmlns:p14="http://schemas.microsoft.com/office/powerpoint/2010/main" val="86486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5.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45.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tmp"/></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5.tmp"/><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45.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6.png"/><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59.xml"/></Relationships>
</file>

<file path=ppt/slides/_rels/slide2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4.xml"/><Relationship Id="rId1" Type="http://schemas.openxmlformats.org/officeDocument/2006/relationships/slideLayout" Target="../slideLayouts/slideLayout5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9.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00.png"/><Relationship Id="rId1" Type="http://schemas.openxmlformats.org/officeDocument/2006/relationships/slideLayout" Target="../slideLayouts/slideLayout59.xml"/><Relationship Id="rId5" Type="http://schemas.openxmlformats.org/officeDocument/2006/relationships/image" Target="../media/image231.png"/><Relationship Id="rId4" Type="http://schemas.openxmlformats.org/officeDocument/2006/relationships/image" Target="../media/image27.emf"/></Relationships>
</file>

<file path=ppt/slides/_rels/slide3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50.png"/><Relationship Id="rId1" Type="http://schemas.openxmlformats.org/officeDocument/2006/relationships/slideLayout" Target="../slideLayouts/slideLayout59.xml"/><Relationship Id="rId5" Type="http://schemas.openxmlformats.org/officeDocument/2006/relationships/image" Target="../media/image27.png"/><Relationship Id="rId4" Type="http://schemas.openxmlformats.org/officeDocument/2006/relationships/image" Target="../media/image28.emf"/></Relationships>
</file>

<file path=ppt/slides/_rels/slide3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30.png"/><Relationship Id="rId1" Type="http://schemas.openxmlformats.org/officeDocument/2006/relationships/slideLayout" Target="../slideLayouts/slideLayout59.xml"/><Relationship Id="rId4" Type="http://schemas.openxmlformats.org/officeDocument/2006/relationships/image" Target="../media/image30.emf"/></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260.png"/><Relationship Id="rId1" Type="http://schemas.openxmlformats.org/officeDocument/2006/relationships/slideLayout" Target="../slideLayouts/slideLayout59.xml"/><Relationship Id="rId5" Type="http://schemas.openxmlformats.org/officeDocument/2006/relationships/image" Target="../media/image30.emf"/><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2.png"/><Relationship Id="rId1" Type="http://schemas.openxmlformats.org/officeDocument/2006/relationships/slideLayout" Target="../slideLayouts/slideLayout59.xml"/><Relationship Id="rId5" Type="http://schemas.openxmlformats.org/officeDocument/2006/relationships/image" Target="../media/image35.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9.xml"/></Relationships>
</file>

<file path=ppt/slides/_rels/slide3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7.png"/><Relationship Id="rId1" Type="http://schemas.openxmlformats.org/officeDocument/2006/relationships/slideLayout" Target="../slideLayouts/slideLayout47.xml"/><Relationship Id="rId5" Type="http://schemas.openxmlformats.org/officeDocument/2006/relationships/image" Target="../media/image40.png"/><Relationship Id="rId4" Type="http://schemas.openxmlformats.org/officeDocument/2006/relationships/image" Target="../media/image35.emf"/></Relationships>
</file>

<file path=ppt/slides/_rels/slide4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41.png"/><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240.png"/><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45.png"/><Relationship Id="rId1" Type="http://schemas.openxmlformats.org/officeDocument/2006/relationships/slideLayout" Target="../slideLayouts/slideLayout44.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8.emf"/><Relationship Id="rId2" Type="http://schemas.openxmlformats.org/officeDocument/2006/relationships/image" Target="../media/image38.png"/><Relationship Id="rId1" Type="http://schemas.openxmlformats.org/officeDocument/2006/relationships/slideLayout" Target="../slideLayouts/slideLayout51.xml"/><Relationship Id="rId6" Type="http://schemas.openxmlformats.org/officeDocument/2006/relationships/image" Target="../media/image47.emf"/><Relationship Id="rId5" Type="http://schemas.openxmlformats.org/officeDocument/2006/relationships/image" Target="../media/image46.png"/><Relationship Id="rId4" Type="http://schemas.openxmlformats.org/officeDocument/2006/relationships/image" Target="../media/image43.emf"/></Relationships>
</file>

<file path=ppt/slides/_rels/slide4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500.png"/><Relationship Id="rId1" Type="http://schemas.openxmlformats.org/officeDocument/2006/relationships/slideLayout" Target="../slideLayouts/slideLayout51.xml"/><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1.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image" Target="../media/image57.png"/><Relationship Id="rId18" Type="http://schemas.openxmlformats.org/officeDocument/2006/relationships/image" Target="../media/image49.png"/><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tags" Target="../tags/tag22.xml"/><Relationship Id="rId17" Type="http://schemas.openxmlformats.org/officeDocument/2006/relationships/image" Target="../media/image61.png"/><Relationship Id="rId2" Type="http://schemas.openxmlformats.org/officeDocument/2006/relationships/tags" Target="../tags/tag22.xml"/><Relationship Id="rId16" Type="http://schemas.openxmlformats.org/officeDocument/2006/relationships/image" Target="../media/image60.png"/><Relationship Id="rId20" Type="http://schemas.openxmlformats.org/officeDocument/2006/relationships/image" Target="../media/image5.tmp"/><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slideLayout" Target="../slideLayouts/slideLayout45.xml"/><Relationship Id="rId5" Type="http://schemas.openxmlformats.org/officeDocument/2006/relationships/tags" Target="../tags/tag25.xml"/><Relationship Id="rId15" Type="http://schemas.openxmlformats.org/officeDocument/2006/relationships/image" Target="../media/image59.png"/><Relationship Id="rId10" Type="http://schemas.openxmlformats.org/officeDocument/2006/relationships/tags" Target="../tags/tag30.xml"/><Relationship Id="rId19" Type="http://schemas.openxmlformats.org/officeDocument/2006/relationships/image" Target="../media/image63.png"/><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image" Target="../media/image58.png"/></Relationships>
</file>

<file path=ppt/slides/_rels/slide52.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64.png"/><Relationship Id="rId18" Type="http://schemas.openxmlformats.org/officeDocument/2006/relationships/image" Target="../media/image5.tmp"/><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32.xml"/><Relationship Id="rId17" Type="http://schemas.openxmlformats.org/officeDocument/2006/relationships/image" Target="../media/image68.png"/><Relationship Id="rId2" Type="http://schemas.openxmlformats.org/officeDocument/2006/relationships/tags" Target="../tags/tag32.xml"/><Relationship Id="rId16" Type="http://schemas.openxmlformats.org/officeDocument/2006/relationships/image" Target="../media/image67.pn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45.xml"/><Relationship Id="rId5" Type="http://schemas.openxmlformats.org/officeDocument/2006/relationships/tags" Target="../tags/tag35.xml"/><Relationship Id="rId15" Type="http://schemas.openxmlformats.org/officeDocument/2006/relationships/image" Target="../media/image66.png"/><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1 Título"/>
          <p:cNvSpPr txBox="1">
            <a:spLocks/>
          </p:cNvSpPr>
          <p:nvPr/>
        </p:nvSpPr>
        <p:spPr>
          <a:xfrm>
            <a:off x="179512" y="512180"/>
            <a:ext cx="8496944" cy="122413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solidFill>
                  <a:srgbClr val="C00000"/>
                </a:solidFill>
                <a:latin typeface="宋体"/>
              </a:rPr>
              <a:t>随机信号分析</a:t>
            </a:r>
            <a:endParaRPr lang="en-US" altLang="zh-CN" b="1" dirty="0">
              <a:solidFill>
                <a:srgbClr val="C00000"/>
              </a:solidFill>
              <a:latin typeface="宋体"/>
            </a:endParaRPr>
          </a:p>
          <a:p>
            <a:pPr fontAlgn="auto">
              <a:lnSpc>
                <a:spcPts val="5760"/>
              </a:lnSpc>
              <a:spcBef>
                <a:spcPts val="0"/>
              </a:spcBef>
              <a:spcAft>
                <a:spcPts val="0"/>
              </a:spcAft>
              <a:defRPr/>
            </a:pPr>
            <a:r>
              <a:rPr lang="en-US" altLang="zh-CN" b="1" dirty="0">
                <a:solidFill>
                  <a:srgbClr val="C00000"/>
                </a:solidFill>
                <a:latin typeface="Arial" panose="020B0604020202020204" pitchFamily="34" charset="0"/>
                <a:cs typeface="Arial" panose="020B0604020202020204" pitchFamily="34" charset="0"/>
              </a:rPr>
              <a:t>Random signal analysis</a:t>
            </a:r>
            <a:endParaRPr lang="es-HN" b="1" dirty="0">
              <a:solidFill>
                <a:srgbClr val="C00000"/>
              </a:solidFill>
              <a:latin typeface="Arial" panose="020B0604020202020204" pitchFamily="34" charset="0"/>
              <a:cs typeface="Arial" panose="020B0604020202020204" pitchFamily="34" charset="0"/>
            </a:endParaRPr>
          </a:p>
        </p:txBody>
      </p:sp>
      <p:sp>
        <p:nvSpPr>
          <p:cNvPr id="5" name="矩形 4"/>
          <p:cNvSpPr/>
          <p:nvPr/>
        </p:nvSpPr>
        <p:spPr>
          <a:xfrm>
            <a:off x="1115616" y="3933056"/>
            <a:ext cx="7488832" cy="2862322"/>
          </a:xfrm>
          <a:prstGeom prst="rect">
            <a:avLst/>
          </a:prstGeom>
        </p:spPr>
        <p:txBody>
          <a:bodyPr wrap="square">
            <a:spAutoFit/>
          </a:bodyPr>
          <a:lstStyle/>
          <a:p>
            <a:pPr algn="ctr"/>
            <a:r>
              <a:rPr lang="zh-CN" altLang="en-US" sz="3600" b="1" dirty="0">
                <a:solidFill>
                  <a:prstClr val="white"/>
                </a:solidFill>
                <a:latin typeface="宋体"/>
              </a:rPr>
              <a:t>张文胜 </a:t>
            </a:r>
            <a:endParaRPr lang="en-US" altLang="zh-CN" sz="3600" b="1" dirty="0">
              <a:solidFill>
                <a:prstClr val="white"/>
              </a:solidFill>
              <a:latin typeface="宋体"/>
            </a:endParaRPr>
          </a:p>
          <a:p>
            <a:pPr algn="ctr"/>
            <a:r>
              <a:rPr lang="zh-CN" altLang="en-US" sz="2800" b="1" dirty="0">
                <a:solidFill>
                  <a:prstClr val="white"/>
                </a:solidFill>
                <a:latin typeface="宋体"/>
              </a:rPr>
              <a:t>微信：</a:t>
            </a:r>
            <a:r>
              <a:rPr lang="en-US" altLang="zh-CN" sz="2800" b="1" dirty="0">
                <a:solidFill>
                  <a:prstClr val="white"/>
                </a:solidFill>
                <a:latin typeface="宋体"/>
              </a:rPr>
              <a:t>15063339795  QQ:762329090</a:t>
            </a:r>
          </a:p>
          <a:p>
            <a:pPr algn="ctr"/>
            <a:r>
              <a:rPr lang="en-US" altLang="zh-CN" sz="2400" b="1" dirty="0">
                <a:solidFill>
                  <a:prstClr val="white"/>
                </a:solidFill>
                <a:latin typeface="Arial Unicode MS" pitchFamily="34" charset="-122"/>
                <a:ea typeface="Arial Unicode MS" pitchFamily="34" charset="-122"/>
                <a:cs typeface="Arial Unicode MS" pitchFamily="34" charset="-122"/>
              </a:rPr>
              <a:t>zhangwsh@sdu.edu.cn</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zhang8181@gmail.com</a:t>
            </a:r>
          </a:p>
          <a:p>
            <a:pPr algn="ctr"/>
            <a:r>
              <a:rPr lang="en-US" altLang="zh-HK" sz="2000" b="1" dirty="0">
                <a:solidFill>
                  <a:prstClr val="white"/>
                </a:solidFill>
                <a:latin typeface="Arial Unicode MS" pitchFamily="34" charset="-122"/>
                <a:ea typeface="Arial Unicode MS" pitchFamily="34" charset="-122"/>
                <a:cs typeface="Arial Unicode MS" pitchFamily="34" charset="-122"/>
              </a:rPr>
              <a:t>School of Information Science and Engineering</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Shandong University</a:t>
            </a:r>
            <a:endParaRPr lang="zh-TW" altLang="zh-HK" sz="2800" dirty="0">
              <a:solidFill>
                <a:prstClr val="white"/>
              </a:solidFill>
              <a:latin typeface="Arial Unicode MS" pitchFamily="34" charset="-122"/>
              <a:ea typeface="Arial Unicode MS" pitchFamily="34" charset="-122"/>
              <a:cs typeface="Arial Unicode MS" pitchFamily="34" charset="-122"/>
            </a:endParaRPr>
          </a:p>
          <a:p>
            <a:endParaRPr lang="zh-TW" altLang="zh-HK" sz="2400" dirty="0">
              <a:solidFill>
                <a:prstClr val="white"/>
              </a:solidFill>
              <a:latin typeface="Arial Unicode MS" pitchFamily="34" charset="-122"/>
              <a:ea typeface="Arial Unicode MS" pitchFamily="34" charset="-122"/>
              <a:cs typeface="Arial Unicode MS" pitchFamily="34" charset="-122"/>
            </a:endParaRPr>
          </a:p>
        </p:txBody>
      </p:sp>
      <p:sp>
        <p:nvSpPr>
          <p:cNvPr id="6" name="1 Título"/>
          <p:cNvSpPr txBox="1">
            <a:spLocks/>
          </p:cNvSpPr>
          <p:nvPr/>
        </p:nvSpPr>
        <p:spPr>
          <a:xfrm>
            <a:off x="827584" y="2248402"/>
            <a:ext cx="7488832" cy="64757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2800" b="1" dirty="0">
                <a:cs typeface="Arial Unicode MS" pitchFamily="34" charset="-122"/>
              </a:rPr>
              <a:t>课程号</a:t>
            </a:r>
            <a:r>
              <a:rPr lang="en-US" altLang="zh-CN" sz="2800" b="1" dirty="0">
                <a:cs typeface="Arial Unicode MS" pitchFamily="34" charset="-122"/>
              </a:rPr>
              <a:t>: </a:t>
            </a:r>
            <a:r>
              <a:rPr lang="en-US" altLang="zh-CN" sz="2800" b="1" dirty="0"/>
              <a:t>sd01234090-1    </a:t>
            </a:r>
            <a:r>
              <a:rPr lang="zh-CN" altLang="en-US" sz="2800" b="1" dirty="0"/>
              <a:t>周五</a:t>
            </a:r>
            <a:r>
              <a:rPr lang="en-US" altLang="zh-CN" sz="2800" b="1" dirty="0"/>
              <a:t>5-6</a:t>
            </a:r>
            <a:r>
              <a:rPr lang="zh-CN" altLang="en-US" sz="2800" b="1" dirty="0"/>
              <a:t>节  </a:t>
            </a:r>
            <a:endParaRPr lang="en-US" altLang="zh-CN" sz="2800" b="1" dirty="0"/>
          </a:p>
          <a:p>
            <a:pPr fontAlgn="auto">
              <a:lnSpc>
                <a:spcPts val="5760"/>
              </a:lnSpc>
              <a:spcBef>
                <a:spcPts val="0"/>
              </a:spcBef>
              <a:spcAft>
                <a:spcPts val="0"/>
              </a:spcAft>
              <a:defRPr/>
            </a:pPr>
            <a:r>
              <a:rPr lang="zh-CN" altLang="en-US" sz="2800" b="1" dirty="0">
                <a:cs typeface="Arial Unicode MS" pitchFamily="34" charset="-122"/>
              </a:rPr>
              <a:t>振声苑</a:t>
            </a:r>
            <a:r>
              <a:rPr lang="en-US" altLang="zh-CN" sz="2800" b="1" dirty="0">
                <a:cs typeface="Arial Unicode MS" pitchFamily="34" charset="-122"/>
              </a:rPr>
              <a:t>W106</a:t>
            </a:r>
            <a:r>
              <a:rPr lang="zh-CN" altLang="en-US" sz="2800" b="1" dirty="0">
                <a:cs typeface="Arial Unicode MS" pitchFamily="34" charset="-122"/>
              </a:rPr>
              <a:t>，通信</a:t>
            </a:r>
            <a:r>
              <a:rPr lang="en-US" altLang="zh-CN" sz="2800" b="1" dirty="0">
                <a:cs typeface="Arial Unicode MS" pitchFamily="34" charset="-122"/>
              </a:rPr>
              <a:t>23[2-3]</a:t>
            </a:r>
            <a:r>
              <a:rPr lang="zh-CN" altLang="en-US" sz="2800" b="1" dirty="0">
                <a:cs typeface="Arial Unicode MS" pitchFamily="34" charset="-122"/>
              </a:rPr>
              <a:t>班，</a:t>
            </a:r>
            <a:r>
              <a:rPr lang="en-US" altLang="zh-CN" sz="2800" b="1" dirty="0">
                <a:cs typeface="Arial Unicode MS" pitchFamily="34" charset="-122"/>
              </a:rPr>
              <a:t>2024</a:t>
            </a:r>
            <a:r>
              <a:rPr lang="zh-CN" altLang="en-US" sz="2800" b="1" dirty="0">
                <a:cs typeface="Arial Unicode MS" pitchFamily="34" charset="-122"/>
              </a:rPr>
              <a:t>年秋</a:t>
            </a:r>
            <a:endParaRPr lang="es-HN" sz="2800" b="1" dirty="0">
              <a:cs typeface="Arial Unicode MS" pitchFamily="34" charset="-122"/>
            </a:endParaRPr>
          </a:p>
        </p:txBody>
      </p:sp>
    </p:spTree>
    <p:extLst>
      <p:ext uri="{BB962C8B-B14F-4D97-AF65-F5344CB8AC3E}">
        <p14:creationId xmlns:p14="http://schemas.microsoft.com/office/powerpoint/2010/main" val="267010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A0A19-4259-4472-8BDE-77AEA81EF7F9}"/>
              </a:ext>
            </a:extLst>
          </p:cNvPr>
          <p:cNvSpPr>
            <a:spLocks noGrp="1"/>
          </p:cNvSpPr>
          <p:nvPr>
            <p:ph type="ctrTitle"/>
          </p:nvPr>
        </p:nvSpPr>
        <p:spPr>
          <a:xfrm>
            <a:off x="1143000" y="1844823"/>
            <a:ext cx="6858000" cy="1665139"/>
          </a:xfrm>
        </p:spPr>
        <p:txBody>
          <a:bodyPr/>
          <a:lstStyle/>
          <a:p>
            <a:r>
              <a:rPr lang="zh-CN" altLang="en-US" dirty="0"/>
              <a:t>第五章</a:t>
            </a:r>
            <a:br>
              <a:rPr lang="en-US" altLang="zh-CN" dirty="0"/>
            </a:br>
            <a:r>
              <a:rPr lang="zh-CN" altLang="zh-CN" dirty="0"/>
              <a:t>随机信号通过线性系统</a:t>
            </a:r>
            <a:endParaRPr lang="zh-CN" altLang="en-US" dirty="0"/>
          </a:p>
        </p:txBody>
      </p:sp>
    </p:spTree>
    <p:extLst>
      <p:ext uri="{BB962C8B-B14F-4D97-AF65-F5344CB8AC3E}">
        <p14:creationId xmlns:p14="http://schemas.microsoft.com/office/powerpoint/2010/main" val="2404487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学习目标</a:t>
            </a:r>
          </a:p>
        </p:txBody>
      </p:sp>
      <p:sp>
        <p:nvSpPr>
          <p:cNvPr id="3" name="内容占位符 2"/>
          <p:cNvSpPr>
            <a:spLocks noGrp="1"/>
          </p:cNvSpPr>
          <p:nvPr>
            <p:ph idx="1"/>
          </p:nvPr>
        </p:nvSpPr>
        <p:spPr>
          <a:xfrm>
            <a:off x="633234" y="2060848"/>
            <a:ext cx="8136259" cy="2449874"/>
          </a:xfrm>
        </p:spPr>
        <p:txBody>
          <a:bodyPr/>
          <a:lstStyle/>
          <a:p>
            <a:r>
              <a:rPr lang="zh-CN" altLang="en-US" sz="2800" dirty="0"/>
              <a:t>解释</a:t>
            </a:r>
            <a:r>
              <a:rPr lang="zh-CN" altLang="en-US" sz="2800" dirty="0">
                <a:highlight>
                  <a:srgbClr val="FFFF00"/>
                </a:highlight>
              </a:rPr>
              <a:t>随机信号</a:t>
            </a:r>
            <a:r>
              <a:rPr lang="zh-CN" altLang="en-US" sz="2800" dirty="0"/>
              <a:t>通过线性时不变（</a:t>
            </a:r>
            <a:r>
              <a:rPr lang="en-US" altLang="zh-CN" sz="2800" dirty="0"/>
              <a:t>LTI</a:t>
            </a:r>
            <a:r>
              <a:rPr lang="zh-CN" altLang="en-US" sz="2800" dirty="0"/>
              <a:t>，</a:t>
            </a:r>
            <a:r>
              <a:rPr lang="en-US" altLang="zh-CN" sz="2800" dirty="0"/>
              <a:t>linear time invariant</a:t>
            </a:r>
            <a:r>
              <a:rPr lang="zh-CN" altLang="en-US" sz="2800" dirty="0"/>
              <a:t>）系统的输出过程；</a:t>
            </a:r>
            <a:endParaRPr lang="en-US" altLang="zh-CN" sz="2800" dirty="0"/>
          </a:p>
          <a:p>
            <a:r>
              <a:rPr lang="zh-CN" altLang="en-US" sz="2800" dirty="0"/>
              <a:t>写出并计算</a:t>
            </a:r>
            <a:r>
              <a:rPr lang="zh-CN" altLang="en-US" sz="2800" dirty="0">
                <a:highlight>
                  <a:srgbClr val="FFFF00"/>
                </a:highlight>
              </a:rPr>
              <a:t>输出过程</a:t>
            </a:r>
            <a:r>
              <a:rPr lang="zh-CN" altLang="en-US" sz="2800" dirty="0"/>
              <a:t>的均值、自相关函数和互相关函数。</a:t>
            </a:r>
            <a:endParaRPr lang="en-US" altLang="zh-CN" sz="2800" dirty="0"/>
          </a:p>
          <a:p>
            <a:endParaRPr lang="zh-CN" altLang="en-US" dirty="0"/>
          </a:p>
        </p:txBody>
      </p:sp>
    </p:spTree>
    <p:extLst>
      <p:ext uri="{BB962C8B-B14F-4D97-AF65-F5344CB8AC3E}">
        <p14:creationId xmlns:p14="http://schemas.microsoft.com/office/powerpoint/2010/main" val="331269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custDataLst>
                  <p:tags r:id="rId2"/>
                </p:custDataLst>
              </p:nvPr>
            </p:nvSpPr>
            <p:spPr>
              <a:xfrm>
                <a:off x="914400" y="1333500"/>
                <a:ext cx="7315200" cy="1607344"/>
              </a:xfrm>
              <a:prstGeom prst="rect">
                <a:avLst/>
              </a:prstGeom>
              <a:noFill/>
            </p:spPr>
            <p:txBody>
              <a:bodyPr vert="horz" wrap="square" rtlCol="0" anchor="ctr" anchorCtr="0">
                <a:noAutofit/>
              </a:bodyPr>
              <a:lstStyle/>
              <a:p>
                <a:pPr>
                  <a:lnSpc>
                    <a:spcPct val="15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已知某线性时不变系统算子</a:t>
                </a:r>
                <a14:m>
                  <m:oMath xmlns:m="http://schemas.openxmlformats.org/officeDocument/2006/math">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𝐿</m:t>
                    </m:r>
                    <m:d>
                      <m:dPr>
                        <m:begChr m:val="["/>
                        <m:endChr m:val="]"/>
                        <m:ctrlP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2400" i="1">
                            <a:solidFill>
                              <a:srgbClr val="000000"/>
                            </a:solidFill>
                            <a:latin typeface="Cambria Math" panose="02040503050406030204" pitchFamily="18" charset="0"/>
                            <a:ea typeface="Cambria Math" panose="02040503050406030204" pitchFamily="18" charset="0"/>
                            <a:sym typeface="Microsoft Yahei" panose="020B0503020204020204" pitchFamily="34" charset="-122"/>
                          </a:rPr>
                          <m:t>∙</m:t>
                        </m:r>
                      </m:e>
                    </m:d>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r>
                      <a:rPr lang="zh-CN" altLang="en-US"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即</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𝑦</m:t>
                    </m:r>
                    <m:d>
                      <m:dPr>
                        <m:ctrlP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e>
                    </m:d>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𝐿</m:t>
                    </m:r>
                    <m:d>
                      <m:dPr>
                        <m:begChr m:val="["/>
                        <m:endChr m:val="]"/>
                        <m:ctrlP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r>
                          <a:rPr lang="en-US" altLang="zh-CN" sz="24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e>
                    </m:d>
                  </m:oMath>
                </a14:m>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，请分别写出其线性和时不变性表达式</a:t>
                </a:r>
                <a:r>
                  <a:rPr lang="zh-CN" altLang="en-US" sz="195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mc:Choice>
        <mc:Fallback xmlns="">
          <p:sp>
            <p:nvSpPr>
              <p:cNvPr id="5" name="文本框 4"/>
              <p:cNvSpPr txBox="1">
                <a:spLocks noRot="1" noChangeAspect="1" noMove="1" noResize="1" noEditPoints="1" noAdjustHandles="1" noChangeArrowheads="1" noChangeShapeType="1" noTextEdit="1"/>
              </p:cNvSpPr>
              <p:nvPr>
                <p:custDataLst>
                  <p:tags r:id="rId12"/>
                </p:custDataLst>
              </p:nvPr>
            </p:nvSpPr>
            <p:spPr>
              <a:xfrm>
                <a:off x="914400" y="1333500"/>
                <a:ext cx="7315200" cy="1607344"/>
              </a:xfrm>
              <a:prstGeom prst="rect">
                <a:avLst/>
              </a:prstGeom>
              <a:blipFill>
                <a:blip r:embed="rId13"/>
                <a:stretch>
                  <a:fillRect l="-1250"/>
                </a:stretch>
              </a:blipFill>
            </p:spPr>
            <p:txBody>
              <a:bodyPr/>
              <a:lstStyle/>
              <a:p>
                <a:r>
                  <a:rPr lang="zh-CN" altLang="en-US">
                    <a:noFill/>
                  </a:rPr>
                  <a:t> </a:t>
                </a:r>
              </a:p>
            </p:txBody>
          </p:sp>
        </mc:Fallback>
      </mc:AlternateContent>
      <p:sp>
        <p:nvSpPr>
          <p:cNvPr id="6" name="圆角矩形 5"/>
          <p:cNvSpPr/>
          <p:nvPr>
            <p:custDataLst>
              <p:tags r:id="rId3"/>
            </p:custDataLst>
          </p:nvPr>
        </p:nvSpPr>
        <p:spPr bwMode="auto">
          <a:xfrm>
            <a:off x="6686550" y="5518547"/>
            <a:ext cx="1157288" cy="308610"/>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defTabSz="685800"/>
            <a:r>
              <a:rPr lang="zh-CN" altLang="en-US" sz="12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2" name="矩形 11"/>
          <p:cNvSpPr/>
          <p:nvPr>
            <p:custDataLst>
              <p:tags r:id="rId4"/>
            </p:custDataLst>
          </p:nvPr>
        </p:nvSpPr>
        <p:spPr bwMode="auto">
          <a:xfrm>
            <a:off x="0" y="5152787"/>
            <a:ext cx="9144000" cy="36576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fontAlgn="base">
              <a:spcBef>
                <a:spcPct val="0"/>
              </a:spcBef>
              <a:spcAft>
                <a:spcPct val="0"/>
              </a:spcAft>
            </a:pP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1" name="组合 10"/>
          <p:cNvGrpSpPr/>
          <p:nvPr>
            <p:custDataLst>
              <p:tags r:id="rId5"/>
            </p:custDataLst>
          </p:nvPr>
        </p:nvGrpSpPr>
        <p:grpSpPr>
          <a:xfrm>
            <a:off x="0" y="0"/>
            <a:ext cx="9144000" cy="490220"/>
            <a:chOff x="0" y="-1143000"/>
            <a:chExt cx="12192000" cy="653627"/>
          </a:xfrm>
        </p:grpSpPr>
        <p:sp>
          <p:nvSpPr>
            <p:cNvPr id="7" name="TitleBackground"/>
            <p:cNvSpPr/>
            <p:nvPr>
              <p:custDataLst>
                <p:tags r:id="rId7"/>
              </p:custDataLst>
            </p:nvPr>
          </p:nvSpPr>
          <p:spPr bwMode="auto">
            <a:xfrm>
              <a:off x="0" y="-1143000"/>
              <a:ext cx="12192000" cy="635000"/>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8" name="ColorBlock"/>
            <p:cNvSpPr/>
            <p:nvPr>
              <p:custDataLst>
                <p:tags r:id="rId8"/>
              </p:custDataLst>
            </p:nvPr>
          </p:nvSpPr>
          <p:spPr bwMode="auto">
            <a:xfrm>
              <a:off x="0" y="-1143000"/>
              <a:ext cx="190500" cy="635000"/>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9" name="TypeText"/>
            <p:cNvSpPr txBox="1"/>
            <p:nvPr>
              <p:custDataLst>
                <p:tags r:id="rId9"/>
              </p:custDataLst>
            </p:nvPr>
          </p:nvSpPr>
          <p:spPr>
            <a:xfrm>
              <a:off x="338667" y="-1143000"/>
              <a:ext cx="1905000" cy="635000"/>
            </a:xfrm>
            <a:prstGeom prst="rect">
              <a:avLst/>
            </a:prstGeom>
            <a:noFill/>
          </p:spPr>
          <p:txBody>
            <a:bodyPr vert="horz" wrap="none" rtlCol="0" anchor="ctr" anchorCtr="0">
              <a:noAutofit/>
            </a:bodyPr>
            <a:lstStyle/>
            <a:p>
              <a:r>
                <a:rPr lang="zh-CN" altLang="en-US" sz="195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p:cNvSpPr txBox="1"/>
            <p:nvPr>
              <p:custDataLst>
                <p:tags r:id="rId10"/>
              </p:custDataLst>
            </p:nvPr>
          </p:nvSpPr>
          <p:spPr>
            <a:xfrm>
              <a:off x="1670473" y="-997373"/>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8898EF47-FC83-4AC7-B977-44217F6DDFD7}"/>
              </a:ext>
            </a:extLst>
          </p:cNvPr>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01187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84212" y="1259498"/>
                <a:ext cx="8064251" cy="3609661"/>
              </a:xfrm>
            </p:spPr>
            <p:txBody>
              <a:bodyPr/>
              <a:lstStyle/>
              <a:p>
                <a:pPr>
                  <a:lnSpc>
                    <a:spcPct val="150000"/>
                  </a:lnSpc>
                </a:pPr>
                <a:r>
                  <a:rPr lang="zh-CN" altLang="en-US" sz="2400" dirty="0"/>
                  <a:t>线性：</a:t>
                </a:r>
                <a:endParaRPr lang="en-US" altLang="zh-CN" sz="2400" dirty="0"/>
              </a:p>
              <a:p>
                <a:pPr marL="0" indent="0">
                  <a:lnSpc>
                    <a:spcPct val="150000"/>
                  </a:lnSpc>
                  <a:buNone/>
                </a:pPr>
                <a14:m>
                  <m:oMath xmlns:m="http://schemas.openxmlformats.org/officeDocument/2006/math">
                    <m:r>
                      <a:rPr lang="zh-CN" altLang="en-US" sz="2400" i="1" smtClean="0">
                        <a:latin typeface="Cambria Math" panose="02040503050406030204" pitchFamily="18" charset="0"/>
                      </a:rPr>
                      <m:t>∀</m:t>
                    </m:r>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r>
                      <a:rPr lang="en-US" altLang="zh-CN" sz="2400" b="1" i="1" smtClean="0">
                        <a:latin typeface="Cambria Math" panose="02040503050406030204" pitchFamily="18" charset="0"/>
                      </a:rPr>
                      <m:t>, </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 </m:t>
                    </m:r>
                  </m:oMath>
                </a14:m>
                <a:r>
                  <a:rPr lang="zh-CN" altLang="en-US" sz="2400" b="1" dirty="0"/>
                  <a:t>有</a:t>
                </a:r>
                <a:endParaRPr lang="en-US" altLang="zh-CN" sz="2400" b="1"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𝑳</m:t>
                      </m:r>
                      <m:d>
                        <m:dPr>
                          <m:begChr m:val="["/>
                          <m:endChr m:val="]"/>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𝒂</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i="1">
                                  <a:latin typeface="Cambria Math" panose="02040503050406030204" pitchFamily="18" charset="0"/>
                                </a:rPr>
                                <m:t>𝟏</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𝒂𝑳</m:t>
                      </m:r>
                      <m:d>
                        <m:dPr>
                          <m:begChr m:val="["/>
                          <m:endChr m:val="]"/>
                          <m:ctrlPr>
                            <a:rPr lang="en-US" altLang="zh-CN" sz="2400" b="1"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i="1">
                                  <a:latin typeface="Cambria Math" panose="02040503050406030204" pitchFamily="18" charset="0"/>
                                </a:rPr>
                                <m:t>𝟏</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𝒃𝑳</m:t>
                      </m:r>
                      <m:d>
                        <m:dPr>
                          <m:begChr m:val="["/>
                          <m:endChr m:val="]"/>
                          <m:ctrlPr>
                            <a:rPr lang="en-US" altLang="zh-CN" sz="2400" b="1"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𝒚</m:t>
                          </m:r>
                        </m:e>
                        <m:sub>
                          <m:r>
                            <a:rPr lang="en-US" altLang="zh-CN" sz="2400" b="1" i="1" smtClean="0">
                              <a:latin typeface="Cambria Math" panose="02040503050406030204" pitchFamily="18" charset="0"/>
                            </a:rPr>
                            <m:t>𝟏</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𝒚</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m:t>
                      </m:r>
                    </m:oMath>
                  </m:oMathPara>
                </a14:m>
                <a:endParaRPr lang="en-US" altLang="zh-CN" sz="2400" dirty="0"/>
              </a:p>
              <a:p>
                <a:pPr>
                  <a:lnSpc>
                    <a:spcPct val="150000"/>
                  </a:lnSpc>
                </a:pPr>
                <a:r>
                  <a:rPr lang="zh-CN" altLang="en-US" sz="2400" dirty="0"/>
                  <a:t>时不变性：</a:t>
                </a:r>
                <a:endParaRPr lang="en-US" altLang="zh-CN" sz="24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𝑳</m:t>
                      </m:r>
                      <m:d>
                        <m:dPr>
                          <m:begChr m:val="["/>
                          <m:endChr m:val="]"/>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m:t>
                          </m:r>
                          <m:r>
                            <a:rPr lang="zh-CN" altLang="en-US" sz="2400" b="1" i="1" smtClean="0">
                              <a:latin typeface="Cambria Math" panose="02040503050406030204" pitchFamily="18" charset="0"/>
                            </a:rPr>
                            <m:t>𝝉</m:t>
                          </m:r>
                          <m:r>
                            <a:rPr lang="en-US" altLang="zh-CN" sz="2400" b="1" i="1" smtClean="0">
                              <a:latin typeface="Cambria Math" panose="02040503050406030204" pitchFamily="18" charset="0"/>
                            </a:rPr>
                            <m:t>)</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𝒚</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m:t>
                      </m:r>
                      <m:r>
                        <a:rPr lang="zh-CN" altLang="en-US" sz="2400" b="1" i="1" smtClean="0">
                          <a:latin typeface="Cambria Math" panose="02040503050406030204" pitchFamily="18" charset="0"/>
                        </a:rPr>
                        <m:t>𝝉</m:t>
                      </m:r>
                      <m:r>
                        <a:rPr lang="en-US" altLang="zh-CN" sz="2400" b="1" i="1" smtClean="0">
                          <a:latin typeface="Cambria Math" panose="02040503050406030204" pitchFamily="18" charset="0"/>
                        </a:rPr>
                        <m:t>)</m:t>
                      </m:r>
                    </m:oMath>
                  </m:oMathPara>
                </a14:m>
                <a:endParaRPr lang="en-US" altLang="zh-CN" sz="24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84212" y="1259498"/>
                <a:ext cx="8064251" cy="3609661"/>
              </a:xfrm>
              <a:blipFill>
                <a:blip r:embed="rId2"/>
                <a:stretch>
                  <a:fillRect l="-9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110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1333500"/>
            <a:ext cx="7315200" cy="1607344"/>
          </a:xfrm>
          <a:prstGeom prst="rect">
            <a:avLst/>
          </a:prstGeom>
          <a:noFill/>
        </p:spPr>
        <p:txBody>
          <a:bodyPr vert="horz" wrap="square"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一个线性时不变系统是一个</a:t>
            </a:r>
            <a:r>
              <a:rPr lang="zh-CN" altLang="en-US" sz="2400" dirty="0">
                <a:solidFill>
                  <a:srgbClr val="000000"/>
                </a:solidFill>
                <a:highlight>
                  <a:srgbClr val="FFFF00"/>
                </a:highlight>
                <a:latin typeface="Microsoft Yahei" panose="020B0503020204020204" pitchFamily="34" charset="-122"/>
                <a:ea typeface="Microsoft Yahei" panose="020B0503020204020204" pitchFamily="34" charset="-122"/>
                <a:sym typeface="Microsoft Yahei" panose="020B0503020204020204" pitchFamily="34" charset="-122"/>
              </a:rPr>
              <a:t>因果稳定</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的系统，需要满足什么条件？</a:t>
            </a:r>
          </a:p>
        </p:txBody>
      </p:sp>
      <p:sp>
        <p:nvSpPr>
          <p:cNvPr id="5" name="圆角矩形 4"/>
          <p:cNvSpPr/>
          <p:nvPr>
            <p:custDataLst>
              <p:tags r:id="rId3"/>
            </p:custDataLst>
          </p:nvPr>
        </p:nvSpPr>
        <p:spPr bwMode="auto">
          <a:xfrm>
            <a:off x="6686550" y="5518547"/>
            <a:ext cx="1157288" cy="308610"/>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defTabSz="685800"/>
            <a:r>
              <a:rPr lang="zh-CN" altLang="en-US" sz="12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p:cNvSpPr/>
          <p:nvPr>
            <p:custDataLst>
              <p:tags r:id="rId4"/>
            </p:custDataLst>
          </p:nvPr>
        </p:nvSpPr>
        <p:spPr bwMode="auto">
          <a:xfrm>
            <a:off x="0" y="5152787"/>
            <a:ext cx="9144000" cy="36576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bodyPr>
          <a:lstStyle/>
          <a:p>
            <a:pPr fontAlgn="base">
              <a:spcBef>
                <a:spcPct val="0"/>
              </a:spcBef>
              <a:spcAft>
                <a:spcPct val="0"/>
              </a:spcAft>
            </a:pP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p:cNvGrpSpPr/>
          <p:nvPr>
            <p:custDataLst>
              <p:tags r:id="rId5"/>
            </p:custDataLst>
          </p:nvPr>
        </p:nvGrpSpPr>
        <p:grpSpPr>
          <a:xfrm>
            <a:off x="0" y="0"/>
            <a:ext cx="9144000" cy="490220"/>
            <a:chOff x="0" y="-1143000"/>
            <a:chExt cx="12192000" cy="653627"/>
          </a:xfrm>
        </p:grpSpPr>
        <p:sp>
          <p:nvSpPr>
            <p:cNvPr id="6" name="TitleBackground"/>
            <p:cNvSpPr/>
            <p:nvPr>
              <p:custDataLst>
                <p:tags r:id="rId7"/>
              </p:custDataLst>
            </p:nvPr>
          </p:nvSpPr>
          <p:spPr bwMode="auto">
            <a:xfrm>
              <a:off x="0" y="-1143000"/>
              <a:ext cx="12192000" cy="635000"/>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7" name="ColorBlock"/>
            <p:cNvSpPr/>
            <p:nvPr>
              <p:custDataLst>
                <p:tags r:id="rId8"/>
              </p:custDataLst>
            </p:nvPr>
          </p:nvSpPr>
          <p:spPr bwMode="auto">
            <a:xfrm>
              <a:off x="0" y="-1143000"/>
              <a:ext cx="190500" cy="635000"/>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endParaRPr lang="zh-CN" altLang="en-US">
                <a:latin typeface="Arial" panose="020B0604020202020204" pitchFamily="34" charset="0"/>
                <a:ea typeface="宋体" panose="02010600030101010101" pitchFamily="2" charset="-122"/>
              </a:endParaRPr>
            </a:p>
          </p:txBody>
        </p:sp>
        <p:sp>
          <p:nvSpPr>
            <p:cNvPr id="8" name="TypeText"/>
            <p:cNvSpPr txBox="1"/>
            <p:nvPr>
              <p:custDataLst>
                <p:tags r:id="rId9"/>
              </p:custDataLst>
            </p:nvPr>
          </p:nvSpPr>
          <p:spPr>
            <a:xfrm>
              <a:off x="338667" y="-1143000"/>
              <a:ext cx="1905000" cy="635000"/>
            </a:xfrm>
            <a:prstGeom prst="rect">
              <a:avLst/>
            </a:prstGeom>
            <a:noFill/>
          </p:spPr>
          <p:txBody>
            <a:bodyPr vert="horz" wrap="none" rtlCol="0" anchor="ctr" anchorCtr="0">
              <a:noAutofit/>
            </a:bodyPr>
            <a:lstStyle/>
            <a:p>
              <a:r>
                <a:rPr lang="zh-CN" altLang="en-US" sz="195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p:cNvSpPr txBox="1"/>
            <p:nvPr>
              <p:custDataLst>
                <p:tags r:id="rId10"/>
              </p:custDataLst>
            </p:nvPr>
          </p:nvSpPr>
          <p:spPr>
            <a:xfrm>
              <a:off x="1670473" y="-997373"/>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12" name="图片 11">
            <a:extLst>
              <a:ext uri="{FF2B5EF4-FFF2-40B4-BE49-F238E27FC236}">
                <a16:creationId xmlns:a16="http://schemas.microsoft.com/office/drawing/2014/main" id="{B8A1EB1E-4F46-40CF-BE15-7DA2293780C0}"/>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7743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pPr>
                  <a:lnSpc>
                    <a:spcPct val="150000"/>
                  </a:lnSpc>
                </a:pPr>
                <a:r>
                  <a:rPr lang="zh-CN" altLang="en-US" sz="2400" dirty="0"/>
                  <a:t>因果性条件：</a:t>
                </a:r>
                <a:r>
                  <a:rPr lang="zh-CN" altLang="en-US" sz="2400" b="0" dirty="0"/>
                  <a:t>因果性</a:t>
                </a:r>
                <a:r>
                  <a:rPr lang="en-US" altLang="zh-CN" sz="2400" b="0" dirty="0"/>
                  <a:t>(causality)</a:t>
                </a:r>
                <a:r>
                  <a:rPr lang="zh-CN" altLang="en-US" sz="2400" b="0" dirty="0"/>
                  <a:t>，是一种只有在输入信号激励下才能产生输出响应的性质。</a:t>
                </a:r>
                <a:endParaRPr lang="en-US" altLang="zh-CN" sz="2400" dirty="0"/>
              </a:p>
              <a:p>
                <a:pPr marL="0" indent="0">
                  <a:lnSpc>
                    <a:spcPct val="150000"/>
                  </a:lnSpc>
                  <a:buNone/>
                </a:pPr>
                <a:r>
                  <a:rPr lang="zh-CN" altLang="en-US" sz="2400" dirty="0"/>
                  <a:t>    系统的单位冲激响应：</a:t>
                </a:r>
                <a14:m>
                  <m:oMath xmlns:m="http://schemas.openxmlformats.org/officeDocument/2006/math">
                    <m:r>
                      <a:rPr lang="en-US" altLang="zh-CN" sz="2400" b="1" i="1" smtClean="0">
                        <a:latin typeface="Cambria Math" panose="02040503050406030204" pitchFamily="18" charset="0"/>
                      </a:rPr>
                      <m:t>𝒉</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𝟎</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&lt;</m:t>
                    </m:r>
                    <m:r>
                      <a:rPr lang="en-US" altLang="zh-CN" sz="2400" b="1" i="1" smtClean="0">
                        <a:latin typeface="Cambria Math" panose="02040503050406030204" pitchFamily="18" charset="0"/>
                      </a:rPr>
                      <m:t>𝟎</m:t>
                    </m:r>
                  </m:oMath>
                </a14:m>
                <a:endParaRPr lang="en-US" altLang="zh-CN" sz="2400" dirty="0"/>
              </a:p>
              <a:p>
                <a:pPr>
                  <a:lnSpc>
                    <a:spcPct val="150000"/>
                  </a:lnSpc>
                </a:pPr>
                <a:r>
                  <a:rPr lang="zh-CN" altLang="en-US" sz="2400" dirty="0"/>
                  <a:t>稳定性条件：单位冲击响应绝对可积</a:t>
                </a:r>
                <a:endParaRPr lang="en-US" altLang="zh-CN" sz="2400" dirty="0"/>
              </a:p>
              <a:p>
                <a:pPr marL="0" indent="0">
                  <a:lnSpc>
                    <a:spcPct val="150000"/>
                  </a:lnSpc>
                  <a:buNone/>
                </a:pPr>
                <a:r>
                  <a:rPr lang="zh-CN" altLang="en-US" sz="2400" dirty="0"/>
                  <a:t>    系统的单位冲激响应：</a:t>
                </a:r>
                <a14:m>
                  <m:oMath xmlns:m="http://schemas.openxmlformats.org/officeDocument/2006/math">
                    <m:nary>
                      <m:naryPr>
                        <m:ctrlPr>
                          <a:rPr lang="zh-CN" altLang="en-US" sz="2400" i="1" smtClean="0">
                            <a:latin typeface="Cambria Math" panose="02040503050406030204" pitchFamily="18" charset="0"/>
                          </a:rPr>
                        </m:ctrlPr>
                      </m:naryPr>
                      <m:sub>
                        <m:r>
                          <m:rPr>
                            <m:brk m:alnAt="23"/>
                          </m:rPr>
                          <a:rPr lang="en-US" altLang="zh-CN" sz="2400" b="1" i="1" smtClean="0">
                            <a:latin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m:t>
                        </m:r>
                      </m:sub>
                      <m:sup>
                        <m:r>
                          <a:rPr lang="en-US" altLang="zh-CN" sz="2400" b="1" i="1" smtClean="0">
                            <a:latin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m:t>
                        </m:r>
                      </m:sup>
                      <m:e>
                        <m:d>
                          <m:dPr>
                            <m:begChr m:val="|"/>
                            <m:endChr m:val="|"/>
                            <m:ctrlPr>
                              <a:rPr lang="en-US" altLang="zh-CN" sz="2400" i="1" smtClean="0">
                                <a:latin typeface="Cambria Math" panose="02040503050406030204" pitchFamily="18" charset="0"/>
                              </a:rPr>
                            </m:ctrlPr>
                          </m:dPr>
                          <m:e>
                            <m:r>
                              <a:rPr lang="en-US" altLang="zh-CN" sz="2400" b="1" i="1" smtClean="0">
                                <a:latin typeface="Cambria Math" panose="02040503050406030204" pitchFamily="18" charset="0"/>
                              </a:rPr>
                              <m:t>𝒉</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m:t>
                            </m:r>
                          </m:e>
                        </m:d>
                        <m:r>
                          <a:rPr lang="en-US" altLang="zh-CN" sz="2400" b="1" i="1" smtClean="0">
                            <a:latin typeface="Cambria Math" panose="02040503050406030204" pitchFamily="18" charset="0"/>
                          </a:rPr>
                          <m:t>𝒅𝒕</m:t>
                        </m:r>
                      </m:e>
                    </m:nary>
                    <m:r>
                      <a:rPr lang="en-US" altLang="zh-CN" sz="2400" b="1" i="1" smtClean="0">
                        <a:latin typeface="Cambria Math" panose="02040503050406030204" pitchFamily="18" charset="0"/>
                      </a:rPr>
                      <m:t>&lt;+</m:t>
                    </m:r>
                    <m:r>
                      <a:rPr lang="en-US" altLang="zh-CN" sz="2400" b="1" i="1" smtClean="0">
                        <a:latin typeface="Cambria Math" panose="02040503050406030204" pitchFamily="18" charset="0"/>
                        <a:ea typeface="Cambria Math" panose="02040503050406030204" pitchFamily="18" charset="0"/>
                      </a:rPr>
                      <m:t>∞</m:t>
                    </m:r>
                  </m:oMath>
                </a14:m>
                <a:endParaRPr lang="zh-CN" altLang="en-US" sz="24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3"/>
                <a:stretch>
                  <a:fillRect l="-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946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11560" y="404664"/>
                <a:ext cx="7772400" cy="2659607"/>
              </a:xfrm>
            </p:spPr>
            <p:txBody>
              <a:bodyPr/>
              <a:lstStyle/>
              <a:p>
                <a:pPr>
                  <a:lnSpc>
                    <a:spcPct val="150000"/>
                  </a:lnSpc>
                </a:pPr>
                <a:r>
                  <a:rPr lang="zh-CN" altLang="en-US" sz="2400" dirty="0"/>
                  <a:t>线性：</a:t>
                </a:r>
                <a:endParaRPr lang="en-US" altLang="zh-CN" sz="2400" dirty="0"/>
              </a:p>
              <a:p>
                <a:pPr marL="0" indent="0">
                  <a:lnSpc>
                    <a:spcPct val="150000"/>
                  </a:lnSpc>
                  <a:buNone/>
                </a:pPr>
                <a14:m>
                  <m:oMath xmlns:m="http://schemas.openxmlformats.org/officeDocument/2006/math">
                    <m:r>
                      <a:rPr lang="zh-CN" altLang="en-US" sz="2400" i="1" smtClean="0">
                        <a:latin typeface="Cambria Math" panose="02040503050406030204" pitchFamily="18" charset="0"/>
                      </a:rPr>
                      <m:t>∀</m:t>
                    </m:r>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r>
                      <a:rPr lang="en-US" altLang="zh-CN" sz="2400" b="1" i="1" smtClean="0">
                        <a:latin typeface="Cambria Math" panose="02040503050406030204" pitchFamily="18" charset="0"/>
                      </a:rPr>
                      <m:t>, </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𝟏</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 </m:t>
                    </m:r>
                  </m:oMath>
                </a14:m>
                <a:r>
                  <a:rPr lang="zh-CN" altLang="en-US" sz="2400" b="1" dirty="0"/>
                  <a:t>有</a:t>
                </a:r>
                <a:endParaRPr lang="en-US" altLang="zh-CN" sz="2400" b="1"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𝑳</m:t>
                      </m:r>
                      <m:d>
                        <m:dPr>
                          <m:begChr m:val="["/>
                          <m:endChr m:val="]"/>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𝒂</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i="1">
                                  <a:latin typeface="Cambria Math" panose="02040503050406030204" pitchFamily="18" charset="0"/>
                                </a:rPr>
                                <m:t>𝟏</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𝒂𝑳</m:t>
                      </m:r>
                      <m:d>
                        <m:dPr>
                          <m:begChr m:val="["/>
                          <m:endChr m:val="]"/>
                          <m:ctrlPr>
                            <a:rPr lang="en-US" altLang="zh-CN" sz="2400" b="1"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i="1">
                                  <a:latin typeface="Cambria Math" panose="02040503050406030204" pitchFamily="18" charset="0"/>
                                </a:rPr>
                                <m:t>𝟏</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𝒃𝑳</m:t>
                      </m:r>
                      <m:d>
                        <m:dPr>
                          <m:begChr m:val="["/>
                          <m:endChr m:val="]"/>
                          <m:ctrlPr>
                            <a:rPr lang="en-US" altLang="zh-CN" sz="2400" b="1"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𝒙</m:t>
                              </m:r>
                            </m:e>
                            <m:sub>
                              <m:r>
                                <a:rPr lang="en-US" altLang="zh-CN" sz="2400" b="1" i="1" smtClean="0">
                                  <a:latin typeface="Cambria Math" panose="02040503050406030204" pitchFamily="18" charset="0"/>
                                </a:rPr>
                                <m:t>𝟐</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𝒚</m:t>
                          </m:r>
                        </m:e>
                        <m:sub>
                          <m:r>
                            <a:rPr lang="en-US" altLang="zh-CN" sz="2400" b="1" i="1" smtClean="0">
                              <a:latin typeface="Cambria Math" panose="02040503050406030204" pitchFamily="18" charset="0"/>
                            </a:rPr>
                            <m:t>𝟏</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𝒕</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𝒃</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𝒚</m:t>
                          </m:r>
                        </m:e>
                        <m:sub>
                          <m:r>
                            <a:rPr lang="en-US" altLang="zh-CN" sz="2400" b="1" i="1" smtClean="0">
                              <a:latin typeface="Cambria Math" panose="02040503050406030204" pitchFamily="18" charset="0"/>
                            </a:rPr>
                            <m:t>𝟐</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𝒕</m:t>
                      </m:r>
                      <m:r>
                        <a:rPr lang="en-US" altLang="zh-CN" sz="2400" b="1" i="1" smtClean="0">
                          <a:latin typeface="Cambria Math" panose="02040503050406030204" pitchFamily="18" charset="0"/>
                        </a:rPr>
                        <m:t>)</m:t>
                      </m:r>
                    </m:oMath>
                  </m:oMathPara>
                </a14:m>
                <a:endParaRPr lang="en-US" altLang="zh-CN" sz="2400" dirty="0"/>
              </a:p>
              <a:p>
                <a:pPr>
                  <a:lnSpc>
                    <a:spcPct val="150000"/>
                  </a:lnSpc>
                </a:pPr>
                <a:r>
                  <a:rPr lang="zh-CN" altLang="en-US" sz="2400" dirty="0"/>
                  <a:t>时不变性：</a:t>
                </a:r>
                <a:endParaRPr lang="en-US" altLang="zh-CN" sz="24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𝑳</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oMath>
                  </m:oMathPara>
                </a14:m>
                <a:endParaRPr lang="en-US" altLang="zh-CN"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11560" y="404664"/>
                <a:ext cx="7772400" cy="2659607"/>
              </a:xfrm>
              <a:blipFill>
                <a:blip r:embed="rId3"/>
                <a:stretch>
                  <a:fillRect l="-1020" b="-256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1"/>
              <p:cNvSpPr txBox="1">
                <a:spLocks/>
              </p:cNvSpPr>
              <p:nvPr/>
            </p:nvSpPr>
            <p:spPr bwMode="auto">
              <a:xfrm>
                <a:off x="467544" y="3573016"/>
                <a:ext cx="7772400" cy="242407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Char char="•"/>
                  <a:defRPr sz="2800" b="1" kern="1200" baseline="0">
                    <a:solidFill>
                      <a:schemeClr val="tx1"/>
                    </a:solidFill>
                    <a:latin typeface="Times New Roman" panose="02020603050405020304" pitchFamily="18" charset="0"/>
                    <a:ea typeface="楷体" panose="02010609060101010101" pitchFamily="49" charset="-122"/>
                    <a:cs typeface="+mn-cs"/>
                  </a:defRPr>
                </a:lvl1pPr>
                <a:lvl2pPr marL="742950" indent="-285750" algn="l" rtl="0" eaLnBrk="0" fontAlgn="base" hangingPunct="0">
                  <a:spcBef>
                    <a:spcPct val="20000"/>
                  </a:spcBef>
                  <a:spcAft>
                    <a:spcPct val="0"/>
                  </a:spcAft>
                  <a:buChar char="–"/>
                  <a:defRPr sz="2400" b="1" kern="1200" baseline="0">
                    <a:solidFill>
                      <a:schemeClr val="tx1"/>
                    </a:solidFill>
                    <a:latin typeface="Times New Roman" panose="02020603050405020304" pitchFamily="18" charset="0"/>
                    <a:ea typeface="楷体" panose="02010609060101010101" pitchFamily="49" charset="-122"/>
                    <a:cs typeface="+mn-cs"/>
                  </a:defRPr>
                </a:lvl2pPr>
                <a:lvl3pPr marL="1143000" indent="-228600" algn="l" rtl="0" eaLnBrk="0" fontAlgn="base" hangingPunct="0">
                  <a:spcBef>
                    <a:spcPct val="20000"/>
                  </a:spcBef>
                  <a:spcAft>
                    <a:spcPct val="0"/>
                  </a:spcAft>
                  <a:buChar char="•"/>
                  <a:defRPr sz="2000" b="1" kern="1200" baseline="0">
                    <a:solidFill>
                      <a:schemeClr val="tx1"/>
                    </a:solidFill>
                    <a:latin typeface="Times New Roman" panose="02020603050405020304" pitchFamily="18" charset="0"/>
                    <a:ea typeface="楷体" panose="02010609060101010101" pitchFamily="49" charset="-122"/>
                    <a:cs typeface="+mn-cs"/>
                  </a:defRPr>
                </a:lvl3pPr>
                <a:lvl4pPr marL="1600200" indent="-228600" algn="l" rtl="0" eaLnBrk="0" fontAlgn="base" hangingPunct="0">
                  <a:spcBef>
                    <a:spcPct val="20000"/>
                  </a:spcBef>
                  <a:spcAft>
                    <a:spcPct val="0"/>
                  </a:spcAft>
                  <a:buChar char="–"/>
                  <a:defRPr sz="2000" b="1" kern="1200" baseline="0">
                    <a:solidFill>
                      <a:schemeClr val="tx1"/>
                    </a:solidFill>
                    <a:latin typeface="Times New Roman" panose="02020603050405020304" pitchFamily="18" charset="0"/>
                    <a:ea typeface="楷体" panose="02010609060101010101" pitchFamily="49"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dirty="0"/>
                  <a:t>因果性条件：</a:t>
                </a:r>
                <a:endParaRPr lang="en-US" altLang="zh-CN" sz="2400" dirty="0"/>
              </a:p>
              <a:p>
                <a:pPr marL="0" indent="0">
                  <a:lnSpc>
                    <a:spcPct val="150000"/>
                  </a:lnSpc>
                  <a:buNone/>
                </a:pPr>
                <a:r>
                  <a:rPr lang="zh-CN" altLang="en-US" sz="2400" dirty="0"/>
                  <a:t>   系统的单位冲激响应：</a:t>
                </a:r>
                <a14:m>
                  <m:oMath xmlns:m="http://schemas.openxmlformats.org/officeDocument/2006/math">
                    <m:r>
                      <a:rPr lang="en-US" altLang="zh-CN" sz="2400" i="1">
                        <a:latin typeface="Cambria Math" panose="02040503050406030204" pitchFamily="18" charset="0"/>
                      </a:rPr>
                      <m:t>𝒉</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e>
                    </m:d>
                    <m:r>
                      <a:rPr lang="en-US" altLang="zh-CN" sz="2400" i="1">
                        <a:latin typeface="Cambria Math" panose="02040503050406030204" pitchFamily="18" charset="0"/>
                      </a:rPr>
                      <m:t>=</m:t>
                    </m:r>
                    <m:r>
                      <a:rPr lang="en-US" altLang="zh-CN" sz="2400" i="1">
                        <a:latin typeface="Cambria Math" panose="02040503050406030204" pitchFamily="18" charset="0"/>
                      </a:rPr>
                      <m:t>𝟎</m:t>
                    </m:r>
                    <m:r>
                      <a:rPr lang="en-US" altLang="zh-CN" sz="2400" i="1">
                        <a:latin typeface="Cambria Math" panose="02040503050406030204" pitchFamily="18" charset="0"/>
                      </a:rPr>
                      <m:t>, </m:t>
                    </m:r>
                    <m:r>
                      <a:rPr lang="en-US" altLang="zh-CN" sz="2400" i="1">
                        <a:latin typeface="Cambria Math" panose="02040503050406030204" pitchFamily="18" charset="0"/>
                      </a:rPr>
                      <m:t>𝒕</m:t>
                    </m:r>
                    <m:r>
                      <a:rPr lang="en-US" altLang="zh-CN" sz="2400" i="1">
                        <a:latin typeface="Cambria Math" panose="02040503050406030204" pitchFamily="18" charset="0"/>
                      </a:rPr>
                      <m:t>&lt;</m:t>
                    </m:r>
                    <m:r>
                      <a:rPr lang="en-US" altLang="zh-CN" sz="2400" i="1">
                        <a:latin typeface="Cambria Math" panose="02040503050406030204" pitchFamily="18" charset="0"/>
                      </a:rPr>
                      <m:t>𝟎</m:t>
                    </m:r>
                  </m:oMath>
                </a14:m>
                <a:endParaRPr lang="en-US" altLang="zh-CN" sz="2400" dirty="0"/>
              </a:p>
              <a:p>
                <a:pPr>
                  <a:lnSpc>
                    <a:spcPct val="150000"/>
                  </a:lnSpc>
                </a:pPr>
                <a:r>
                  <a:rPr lang="zh-CN" altLang="en-US" sz="2400" dirty="0"/>
                  <a:t>稳定性条件：</a:t>
                </a:r>
                <a:endParaRPr lang="en-US" altLang="zh-CN" sz="2400" dirty="0"/>
              </a:p>
              <a:p>
                <a:pPr marL="0" indent="0">
                  <a:lnSpc>
                    <a:spcPct val="150000"/>
                  </a:lnSpc>
                  <a:buNone/>
                </a:pPr>
                <a:r>
                  <a:rPr lang="zh-CN" altLang="en-US" sz="2400" dirty="0"/>
                  <a:t>   系统的单位冲激响应：</a:t>
                </a:r>
                <a14:m>
                  <m:oMath xmlns:m="http://schemas.openxmlformats.org/officeDocument/2006/math">
                    <m:nary>
                      <m:naryPr>
                        <m:ctrlPr>
                          <a:rPr lang="zh-CN" altLang="en-US" sz="2400" i="1">
                            <a:latin typeface="Cambria Math" panose="02040503050406030204" pitchFamily="18" charset="0"/>
                          </a:rPr>
                        </m:ctrlPr>
                      </m:naryPr>
                      <m:sub>
                        <m:r>
                          <m:rPr>
                            <m:brk m:alnAt="23"/>
                          </m:rP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m:t>
                        </m:r>
                      </m:sub>
                      <m:sup>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m:t>
                        </m:r>
                      </m:sup>
                      <m:e>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e>
                        </m:d>
                        <m:r>
                          <a:rPr lang="en-US" altLang="zh-CN" sz="2400" i="1">
                            <a:latin typeface="Cambria Math" panose="02040503050406030204" pitchFamily="18" charset="0"/>
                          </a:rPr>
                          <m:t>𝒅𝒕</m:t>
                        </m:r>
                      </m:e>
                    </m:nary>
                    <m:r>
                      <a:rPr lang="en-US" altLang="zh-CN" sz="2400" i="1">
                        <a:latin typeface="Cambria Math" panose="02040503050406030204" pitchFamily="18" charset="0"/>
                      </a:rPr>
                      <m:t>&lt;+</m:t>
                    </m:r>
                    <m:r>
                      <a:rPr lang="en-US" altLang="zh-CN" sz="2400" i="1">
                        <a:latin typeface="Cambria Math" panose="02040503050406030204" pitchFamily="18" charset="0"/>
                        <a:ea typeface="Cambria Math" panose="02040503050406030204" pitchFamily="18" charset="0"/>
                      </a:rPr>
                      <m:t>∞</m:t>
                    </m:r>
                  </m:oMath>
                </a14:m>
                <a:endParaRPr lang="zh-CN" altLang="en-US" sz="2400" dirty="0"/>
              </a:p>
            </p:txBody>
          </p:sp>
        </mc:Choice>
        <mc:Fallback xmlns="">
          <p:sp>
            <p:nvSpPr>
              <p:cNvPr id="3" name="内容占位符 1"/>
              <p:cNvSpPr txBox="1">
                <a:spLocks noRot="1" noChangeAspect="1" noMove="1" noResize="1" noEditPoints="1" noAdjustHandles="1" noChangeArrowheads="1" noChangeShapeType="1" noTextEdit="1"/>
              </p:cNvSpPr>
              <p:nvPr/>
            </p:nvSpPr>
            <p:spPr bwMode="auto">
              <a:xfrm>
                <a:off x="467544" y="3573016"/>
                <a:ext cx="7772400" cy="2424079"/>
              </a:xfrm>
              <a:prstGeom prst="rect">
                <a:avLst/>
              </a:prstGeom>
              <a:blipFill>
                <a:blip r:embed="rId4"/>
                <a:stretch>
                  <a:fillRect l="-1412" b="-979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925571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3F9FF6-E09F-4489-BF2C-BF3EA6BFD321}"/>
              </a:ext>
            </a:extLst>
          </p:cNvPr>
          <p:cNvSpPr>
            <a:spLocks noGrp="1"/>
          </p:cNvSpPr>
          <p:nvPr>
            <p:ph type="title"/>
          </p:nvPr>
        </p:nvSpPr>
        <p:spPr/>
        <p:txBody>
          <a:bodyPr/>
          <a:lstStyle/>
          <a:p>
            <a:r>
              <a:rPr lang="en-US" altLang="zh-CN" dirty="0"/>
              <a:t>5.1 </a:t>
            </a:r>
            <a:r>
              <a:rPr lang="zh-CN" altLang="zh-CN" dirty="0"/>
              <a:t>具有随机输入的线性时不变系统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4CD91E-33D1-47F7-8255-3F2DFD2FA224}"/>
                  </a:ext>
                </a:extLst>
              </p:cNvPr>
              <p:cNvSpPr>
                <a:spLocks noGrp="1"/>
              </p:cNvSpPr>
              <p:nvPr>
                <p:ph idx="1"/>
              </p:nvPr>
            </p:nvSpPr>
            <p:spPr/>
            <p:txBody>
              <a:bodyPr/>
              <a:lstStyle/>
              <a:p>
                <a:pPr marL="0" indent="0">
                  <a:lnSpc>
                    <a:spcPct val="150000"/>
                  </a:lnSpc>
                  <a:buNone/>
                </a:pPr>
                <a:r>
                  <a:rPr lang="en-US" altLang="zh-CN" sz="2400" dirty="0">
                    <a:solidFill>
                      <a:srgbClr val="FF0000"/>
                    </a:solidFill>
                  </a:rPr>
                  <a:t>5.1.0 </a:t>
                </a:r>
                <a:r>
                  <a:rPr lang="zh-CN" altLang="zh-CN" sz="2400" dirty="0">
                    <a:solidFill>
                      <a:srgbClr val="FF0000"/>
                    </a:solidFill>
                  </a:rPr>
                  <a:t>线性时不变系统的表示</a:t>
                </a:r>
                <a:r>
                  <a:rPr lang="zh-CN" altLang="en-US" sz="2400" dirty="0"/>
                  <a:t>：</a:t>
                </a:r>
                <a:r>
                  <a:rPr lang="zh-CN" altLang="zh-CN" sz="2400" dirty="0"/>
                  <a:t>  因果稳定系统</a:t>
                </a:r>
              </a:p>
              <a:p>
                <a:pPr marL="0" indent="0">
                  <a:buNone/>
                </a:pPr>
                <a:r>
                  <a:rPr lang="en-US" altLang="zh-CN" sz="2400" dirty="0">
                    <a:solidFill>
                      <a:schemeClr val="accent2"/>
                    </a:solidFill>
                  </a:rPr>
                  <a:t>1</a:t>
                </a:r>
                <a:r>
                  <a:rPr lang="zh-CN" altLang="en-US" sz="2400" dirty="0">
                    <a:solidFill>
                      <a:schemeClr val="accent2"/>
                    </a:solidFill>
                  </a:rPr>
                  <a:t>、</a:t>
                </a:r>
                <a:r>
                  <a:rPr lang="zh-CN" altLang="zh-CN" sz="2400" dirty="0">
                    <a:solidFill>
                      <a:schemeClr val="accent2"/>
                    </a:solidFill>
                  </a:rPr>
                  <a:t>单位冲激响应 </a:t>
                </a:r>
              </a:p>
              <a:p>
                <a:pPr marL="0" indent="0">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𝜹</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oMath>
                    <m:oMath xmlns:m="http://schemas.openxmlformats.org/officeDocument/2006/math">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𝒚</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𝒅</m:t>
                          </m:r>
                          <m:r>
                            <a:rPr lang="en-US" altLang="zh-CN" sz="2400" i="1">
                              <a:latin typeface="Cambria Math" panose="02040503050406030204" pitchFamily="18" charset="0"/>
                            </a:rPr>
                            <m:t>𝝉</m:t>
                          </m:r>
                          <m:r>
                            <a:rPr lang="en-US" altLang="zh-CN" sz="2400" i="1">
                              <a:latin typeface="Cambria Math" panose="02040503050406030204" pitchFamily="18" charset="0"/>
                            </a:rPr>
                            <m:t>=</m:t>
                          </m:r>
                        </m:e>
                      </m:nary>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𝒅</m:t>
                          </m:r>
                          <m:r>
                            <a:rPr lang="en-US" altLang="zh-CN" sz="2400" i="1">
                              <a:latin typeface="Cambria Math" panose="02040503050406030204" pitchFamily="18" charset="0"/>
                            </a:rPr>
                            <m:t>𝝉</m:t>
                          </m:r>
                        </m:e>
                      </m:nary>
                    </m:oMath>
                  </m:oMathPara>
                </a14:m>
                <a:endParaRPr lang="zh-CN" altLang="zh-CN" sz="2400" dirty="0"/>
              </a:p>
              <a:p>
                <a:r>
                  <a:rPr lang="zh-CN" altLang="zh-CN" sz="2400" dirty="0"/>
                  <a:t>离散时</a:t>
                </a:r>
                <a:r>
                  <a:rPr lang="en-US" altLang="zh-CN" sz="2400" dirty="0"/>
                  <a:t>  </a:t>
                </a:r>
                <a14:m>
                  <m:oMath xmlns:m="http://schemas.openxmlformats.org/officeDocument/2006/math">
                    <m:r>
                      <a:rPr lang="en-US" altLang="zh-CN" sz="2400" i="1">
                        <a:latin typeface="Cambria Math" panose="02040503050406030204" pitchFamily="18" charset="0"/>
                      </a:rPr>
                      <m:t>𝒚</m:t>
                    </m:r>
                    <m:r>
                      <a:rPr lang="en-US" altLang="zh-CN" sz="2400" i="1">
                        <a:latin typeface="Cambria Math" panose="02040503050406030204" pitchFamily="18" charset="0"/>
                      </a:rPr>
                      <m:t>(</m:t>
                    </m:r>
                    <m:r>
                      <a:rPr lang="en-US" altLang="zh-CN" sz="2400" i="1">
                        <a:latin typeface="Cambria Math" panose="02040503050406030204" pitchFamily="18" charset="0"/>
                      </a:rPr>
                      <m:t>𝒏</m:t>
                    </m:r>
                    <m:r>
                      <a:rPr lang="en-US" altLang="zh-CN" sz="2400" i="1">
                        <a:latin typeface="Cambria Math" panose="02040503050406030204" pitchFamily="18" charset="0"/>
                      </a:rPr>
                      <m:t>)=</m:t>
                    </m:r>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𝒏</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𝒏</m:t>
                    </m:r>
                    <m:r>
                      <a:rPr lang="en-US" altLang="zh-CN" sz="2400" i="1">
                        <a:latin typeface="Cambria Math" panose="02040503050406030204" pitchFamily="18" charset="0"/>
                      </a:rPr>
                      <m:t>)=</m:t>
                    </m:r>
                    <m:nary>
                      <m:naryPr>
                        <m:chr m:val="∑"/>
                        <m:supHide m:val="on"/>
                        <m:ctrlPr>
                          <a:rPr lang="zh-CN" altLang="zh-CN" sz="2400" i="1">
                            <a:latin typeface="Cambria Math" panose="02040503050406030204" pitchFamily="18" charset="0"/>
                          </a:rPr>
                        </m:ctrlPr>
                      </m:naryPr>
                      <m:sub>
                        <m:r>
                          <a:rPr lang="en-US" altLang="zh-CN" sz="2400" i="1">
                            <a:latin typeface="Cambria Math" panose="02040503050406030204" pitchFamily="18" charset="0"/>
                          </a:rPr>
                          <m:t>𝒎</m:t>
                        </m:r>
                      </m:sub>
                      <m:sup/>
                      <m:e>
                        <m:r>
                          <a:rPr lang="en-US" altLang="zh-CN" sz="2400" i="1">
                            <a:latin typeface="Cambria Math" panose="02040503050406030204" pitchFamily="18" charset="0"/>
                          </a:rPr>
                          <m:t>𝒙</m:t>
                        </m:r>
                        <m:r>
                          <a:rPr lang="en-US" altLang="zh-CN" sz="2400" i="1">
                            <a:latin typeface="Cambria Math" panose="02040503050406030204" pitchFamily="18" charset="0"/>
                          </a:rPr>
                          <m:t>(</m:t>
                        </m:r>
                        <m:r>
                          <a:rPr lang="en-US" altLang="zh-CN" sz="2400" i="1">
                            <a:latin typeface="Cambria Math" panose="02040503050406030204" pitchFamily="18" charset="0"/>
                          </a:rPr>
                          <m:t>𝒎</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𝒏</m:t>
                        </m:r>
                        <m:r>
                          <a:rPr lang="en-US" altLang="zh-CN" sz="2400" i="1">
                            <a:latin typeface="Cambria Math" panose="02040503050406030204" pitchFamily="18" charset="0"/>
                          </a:rPr>
                          <m:t>−</m:t>
                        </m:r>
                        <m:r>
                          <a:rPr lang="en-US" altLang="zh-CN" sz="2400" i="1">
                            <a:latin typeface="Cambria Math" panose="02040503050406030204" pitchFamily="18" charset="0"/>
                          </a:rPr>
                          <m:t>𝒎</m:t>
                        </m:r>
                        <m:r>
                          <a:rPr lang="en-US" altLang="zh-CN" sz="2400" i="1">
                            <a:latin typeface="Cambria Math" panose="02040503050406030204" pitchFamily="18" charset="0"/>
                          </a:rPr>
                          <m:t>)</m:t>
                        </m:r>
                      </m:e>
                    </m:nary>
                  </m:oMath>
                </a14:m>
                <a:endParaRPr lang="zh-CN" altLang="zh-CN" sz="2400" dirty="0"/>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8C4CD91E-33D1-47F7-8255-3F2DFD2FA224}"/>
                  </a:ext>
                </a:extLst>
              </p:cNvPr>
              <p:cNvSpPr>
                <a:spLocks noGrp="1" noRot="1" noChangeAspect="1" noMove="1" noResize="1" noEditPoints="1" noAdjustHandles="1" noChangeArrowheads="1" noChangeShapeType="1" noTextEdit="1"/>
              </p:cNvSpPr>
              <p:nvPr>
                <p:ph idx="1"/>
              </p:nvPr>
            </p:nvSpPr>
            <p:spPr>
              <a:blipFill>
                <a:blip r:embed="rId3"/>
                <a:stretch>
                  <a:fillRect l="-1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15764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69F53A74-A732-48C5-A955-5BBD24032427}"/>
                  </a:ext>
                </a:extLst>
              </p:cNvPr>
              <p:cNvSpPr>
                <a:spLocks noGrp="1"/>
              </p:cNvSpPr>
              <p:nvPr>
                <p:ph idx="1"/>
              </p:nvPr>
            </p:nvSpPr>
            <p:spPr/>
            <p:txBody>
              <a:bodyPr/>
              <a:lstStyle/>
              <a:p>
                <a:pPr marL="0" indent="0">
                  <a:lnSpc>
                    <a:spcPct val="150000"/>
                  </a:lnSpc>
                  <a:buNone/>
                </a:pPr>
                <a:r>
                  <a:rPr lang="x-none" altLang="zh-CN" sz="2400" dirty="0">
                    <a:solidFill>
                      <a:schemeClr val="accent2"/>
                    </a:solidFill>
                  </a:rPr>
                  <a:t>2.  </a:t>
                </a:r>
                <a:r>
                  <a:rPr lang="zh-CN" altLang="en-US" sz="2400" dirty="0">
                    <a:solidFill>
                      <a:schemeClr val="accent2"/>
                    </a:solidFill>
                  </a:rPr>
                  <a:t>频率</a:t>
                </a:r>
                <a:r>
                  <a:rPr lang="zh-CN" altLang="zh-CN" sz="2400" dirty="0">
                    <a:solidFill>
                      <a:schemeClr val="accent2"/>
                    </a:solidFill>
                  </a:rPr>
                  <a:t>传输函数</a:t>
                </a:r>
                <a:r>
                  <a:rPr lang="zh-CN" altLang="en-US" sz="2400" dirty="0">
                    <a:solidFill>
                      <a:schemeClr val="accent2"/>
                    </a:solidFill>
                  </a:rPr>
                  <a:t>（频率响应）</a:t>
                </a:r>
                <a:endParaRPr lang="zh-CN" altLang="zh-CN" sz="2400" dirty="0">
                  <a:solidFill>
                    <a:schemeClr val="accent2"/>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m:t>
                              </m:r>
                              <m:r>
                                <a:rPr lang="en-US" altLang="zh-CN" sz="2400" i="1">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𝒕</m:t>
                              </m:r>
                            </m:sup>
                          </m:sSup>
                          <m:r>
                            <a:rPr lang="en-US" altLang="zh-CN" sz="2400" i="1">
                              <a:latin typeface="Cambria Math" panose="02040503050406030204" pitchFamily="18" charset="0"/>
                            </a:rPr>
                            <m:t>𝒅𝒕</m:t>
                          </m:r>
                          <m:r>
                            <a:rPr lang="en-US" altLang="zh-CN" sz="2400" i="1">
                              <a:latin typeface="Cambria Math" panose="02040503050406030204" pitchFamily="18" charset="0"/>
                            </a:rPr>
                            <m:t>,</m:t>
                          </m:r>
                          <m:r>
                            <m:rPr>
                              <m:nor/>
                            </m:rPr>
                            <a:rPr lang="en-US" altLang="zh-CN" sz="2400"/>
                            <m:t> </m:t>
                          </m:r>
                        </m:e>
                      </m:nary>
                    </m:oMath>
                  </m:oMathPara>
                </a14:m>
                <a:endParaRPr lang="en-US" altLang="zh-CN" sz="24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𝒀</m:t>
                      </m:r>
                      <m:r>
                        <a:rPr lang="en-US" altLang="zh-CN" sz="2400">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a:latin typeface="Cambria Math" panose="02040503050406030204" pitchFamily="18" charset="0"/>
                        </a:rPr>
                        <m:t>)=</m:t>
                      </m:r>
                      <m:r>
                        <a:rPr lang="en-US" altLang="zh-CN" sz="2400" i="1">
                          <a:latin typeface="Cambria Math" panose="02040503050406030204" pitchFamily="18" charset="0"/>
                        </a:rPr>
                        <m:t>𝑯</m:t>
                      </m:r>
                      <m:r>
                        <a:rPr lang="en-US" altLang="zh-CN" sz="2400">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a:latin typeface="Cambria Math" panose="02040503050406030204" pitchFamily="18" charset="0"/>
                        </a:rPr>
                        <m:t>)</m:t>
                      </m:r>
                      <m:r>
                        <a:rPr lang="en-US" altLang="zh-CN" sz="2400" i="1">
                          <a:latin typeface="Cambria Math" panose="02040503050406030204" pitchFamily="18" charset="0"/>
                        </a:rPr>
                        <m:t>𝑿</m:t>
                      </m:r>
                      <m:r>
                        <a:rPr lang="en-US" altLang="zh-CN" sz="2400">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a:latin typeface="Cambria Math" panose="02040503050406030204" pitchFamily="18" charset="0"/>
                        </a:rPr>
                        <m:t>)</m:t>
                      </m:r>
                    </m:oMath>
                  </m:oMathPara>
                </a14:m>
                <a:endParaRPr lang="zh-CN" altLang="zh-CN" sz="2400" dirty="0"/>
              </a:p>
              <a:p>
                <a:pPr>
                  <a:lnSpc>
                    <a:spcPct val="150000"/>
                  </a:lnSpc>
                  <a:buFont typeface="Arial" panose="020B0604020202020204" pitchFamily="34" charset="0"/>
                  <a:buChar char="•"/>
                </a:pPr>
                <a:r>
                  <a:rPr lang="zh-CN" altLang="zh-CN" sz="2400" dirty="0"/>
                  <a:t>离散时</a:t>
                </a:r>
                <a:r>
                  <a:rPr lang="en-US" altLang="zh-CN" sz="2400" dirty="0"/>
                  <a:t> </a:t>
                </a:r>
              </a:p>
              <a:p>
                <a:pPr marL="0" indent="0" algn="ctr">
                  <a:lnSpc>
                    <a:spcPct val="150000"/>
                  </a:lnSpc>
                  <a:buNone/>
                </a:pPr>
                <a:r>
                  <a:rPr lang="en-US" altLang="zh-CN" sz="2400" dirty="0"/>
                  <a:t> </a:t>
                </a:r>
                <a14:m>
                  <m:oMath xmlns:m="http://schemas.openxmlformats.org/officeDocument/2006/math">
                    <m:r>
                      <a:rPr lang="en-US" altLang="zh-CN" sz="2400" i="1">
                        <a:latin typeface="Cambria Math" panose="02040503050406030204" pitchFamily="18" charset="0"/>
                      </a:rPr>
                      <m:t>𝑯</m:t>
                    </m:r>
                    <m:r>
                      <a:rPr lang="en-US" altLang="zh-CN" sz="2400" i="1">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b="1" i="1" smtClean="0">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sup>
                    </m:sSup>
                    <m:r>
                      <a:rPr lang="en-US" altLang="zh-CN" sz="2400" i="1">
                        <a:latin typeface="Cambria Math" panose="02040503050406030204" pitchFamily="18" charset="0"/>
                      </a:rPr>
                      <m:t>)=</m:t>
                    </m:r>
                    <m:nary>
                      <m:naryPr>
                        <m:chr m:val="∑"/>
                        <m:supHide m:val="on"/>
                        <m:ctrlPr>
                          <a:rPr lang="zh-CN" altLang="zh-CN" sz="2400" i="1">
                            <a:latin typeface="Cambria Math" panose="02040503050406030204" pitchFamily="18" charset="0"/>
                          </a:rPr>
                        </m:ctrlPr>
                      </m:naryPr>
                      <m:sub>
                        <m:r>
                          <a:rPr lang="en-US" altLang="zh-CN" sz="2400" i="1">
                            <a:latin typeface="Cambria Math" panose="02040503050406030204" pitchFamily="18" charset="0"/>
                          </a:rPr>
                          <m:t>𝒏</m:t>
                        </m:r>
                      </m:sub>
                      <m:sup/>
                      <m:e>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𝒏</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𝒏</m:t>
                            </m:r>
                          </m:sup>
                        </m:sSup>
                      </m:e>
                    </m:nary>
                  </m:oMath>
                </a14:m>
                <a:endParaRPr lang="en-US" altLang="zh-CN" sz="2400" dirty="0"/>
              </a:p>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𝒀</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sup>
                      </m:sSup>
                      <m:r>
                        <a:rPr lang="en-US" altLang="zh-CN" sz="2400">
                          <a:latin typeface="Cambria Math" panose="02040503050406030204" pitchFamily="18" charset="0"/>
                        </a:rPr>
                        <m:t>)=</m:t>
                      </m:r>
                      <m:r>
                        <a:rPr lang="en-US" altLang="zh-CN" sz="2400" i="1">
                          <a:latin typeface="Cambria Math" panose="02040503050406030204" pitchFamily="18" charset="0"/>
                        </a:rPr>
                        <m:t>𝑿</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sup>
                      </m:sSup>
                      <m:r>
                        <a:rPr lang="en-US" altLang="zh-CN" sz="2400">
                          <a:latin typeface="Cambria Math" panose="02040503050406030204" pitchFamily="18" charset="0"/>
                        </a:rPr>
                        <m:t>)</m:t>
                      </m:r>
                      <m:r>
                        <a:rPr lang="en-US" altLang="zh-CN" sz="2400" i="1">
                          <a:latin typeface="Cambria Math" panose="02040503050406030204" pitchFamily="18" charset="0"/>
                        </a:rPr>
                        <m:t>𝑯</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sup>
                      </m:sSup>
                      <m:r>
                        <a:rPr lang="en-US" altLang="zh-CN" sz="2400">
                          <a:latin typeface="Cambria Math" panose="02040503050406030204" pitchFamily="18" charset="0"/>
                        </a:rPr>
                        <m:t>)</m:t>
                      </m:r>
                    </m:oMath>
                  </m:oMathPara>
                </a14:m>
                <a:endParaRPr lang="zh-CN" altLang="zh-CN" sz="2400" dirty="0"/>
              </a:p>
              <a:p>
                <a:pPr marL="0" indent="0" algn="ctr">
                  <a:lnSpc>
                    <a:spcPct val="150000"/>
                  </a:lnSpc>
                  <a:buNone/>
                </a:pPr>
                <a:endParaRPr lang="en-US" altLang="zh-CN" dirty="0"/>
              </a:p>
              <a:p>
                <a:pPr marL="0" indent="0">
                  <a:buNone/>
                </a:pPr>
                <a:endParaRPr lang="zh-CN" altLang="en-US" dirty="0"/>
              </a:p>
            </p:txBody>
          </p:sp>
        </mc:Choice>
        <mc:Fallback xmlns="">
          <p:sp>
            <p:nvSpPr>
              <p:cNvPr id="4" name="内容占位符 3">
                <a:extLst>
                  <a:ext uri="{FF2B5EF4-FFF2-40B4-BE49-F238E27FC236}">
                    <a16:creationId xmlns:a16="http://schemas.microsoft.com/office/drawing/2014/main" id="{69F53A74-A732-48C5-A955-5BBD24032427}"/>
                  </a:ext>
                </a:extLst>
              </p:cNvPr>
              <p:cNvSpPr>
                <a:spLocks noGrp="1" noRot="1" noChangeAspect="1" noMove="1" noResize="1" noEditPoints="1" noAdjustHandles="1" noChangeArrowheads="1" noChangeShapeType="1" noTextEdit="1"/>
              </p:cNvSpPr>
              <p:nvPr>
                <p:ph idx="1"/>
              </p:nvPr>
            </p:nvSpPr>
            <p:spPr>
              <a:blipFill>
                <a:blip r:embed="rId3"/>
                <a:stretch>
                  <a:fillRect l="-1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725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70B5FAE-8B23-44C7-8AAE-ED1593781218}"/>
                  </a:ext>
                </a:extLst>
              </p:cNvPr>
              <p:cNvSpPr>
                <a:spLocks noGrp="1"/>
              </p:cNvSpPr>
              <p:nvPr>
                <p:ph idx="1"/>
              </p:nvPr>
            </p:nvSpPr>
            <p:spPr>
              <a:xfrm>
                <a:off x="755576" y="548680"/>
                <a:ext cx="7920880" cy="4440380"/>
              </a:xfrm>
            </p:spPr>
            <p:txBody>
              <a:bodyPr/>
              <a:lstStyle/>
              <a:p>
                <a:pPr marL="0" indent="0">
                  <a:lnSpc>
                    <a:spcPct val="150000"/>
                  </a:lnSpc>
                  <a:buNone/>
                </a:pPr>
                <a:r>
                  <a:rPr lang="en-US" altLang="zh-CN" sz="2400" dirty="0">
                    <a:solidFill>
                      <a:srgbClr val="FF0000"/>
                    </a:solidFill>
                  </a:rPr>
                  <a:t>5.1.1 </a:t>
                </a:r>
                <a:r>
                  <a:rPr lang="zh-CN" altLang="zh-CN" sz="2400" dirty="0">
                    <a:solidFill>
                      <a:srgbClr val="FF0000"/>
                    </a:solidFill>
                  </a:rPr>
                  <a:t>系统的输出信号</a:t>
                </a:r>
              </a:p>
              <a:p>
                <a:pPr marL="0" indent="0">
                  <a:lnSpc>
                    <a:spcPct val="150000"/>
                  </a:lnSpc>
                  <a:buNone/>
                </a:pPr>
                <a:r>
                  <a:rPr lang="x-none" altLang="zh-CN" sz="2400" dirty="0">
                    <a:solidFill>
                      <a:schemeClr val="accent2"/>
                    </a:solidFill>
                  </a:rPr>
                  <a:t>1. </a:t>
                </a:r>
                <a:r>
                  <a:rPr lang="zh-CN" altLang="zh-CN" sz="2400" dirty="0">
                    <a:solidFill>
                      <a:schemeClr val="accent2"/>
                    </a:solidFill>
                  </a:rPr>
                  <a:t>输出信号的表达式</a:t>
                </a:r>
              </a:p>
              <a:p>
                <a:pPr>
                  <a:lnSpc>
                    <a:spcPct val="150000"/>
                  </a:lnSpc>
                  <a:buFont typeface="Wingdings" panose="05000000000000000000" pitchFamily="2" charset="2"/>
                  <a:buChar char="p"/>
                </a:pPr>
                <a:r>
                  <a:rPr lang="zh-CN" altLang="en-US" sz="2400" dirty="0"/>
                  <a:t>已知：</a:t>
                </a:r>
                <a:r>
                  <a:rPr lang="zh-CN" altLang="zh-CN" sz="2400" dirty="0"/>
                  <a:t>线性时不变</a:t>
                </a:r>
                <a:r>
                  <a:rPr lang="zh-CN" altLang="en-US" sz="2400" dirty="0"/>
                  <a:t>、实、</a:t>
                </a:r>
                <a:r>
                  <a:rPr lang="zh-CN" altLang="zh-CN" sz="2400" dirty="0"/>
                  <a:t>稳定系统，</a:t>
                </a:r>
                <a14:m>
                  <m:oMath xmlns:m="http://schemas.openxmlformats.org/officeDocument/2006/math">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m:rPr>
                        <m:nor/>
                      </m:rPr>
                      <a:rPr lang="en-US" altLang="zh-CN" sz="2400"/>
                      <m:t>   </m:t>
                    </m:r>
                    <m:r>
                      <a:rPr lang="en-US" altLang="zh-CN" sz="2400" i="1">
                        <a:latin typeface="Cambria Math" panose="02040503050406030204" pitchFamily="18" charset="0"/>
                      </a:rPr>
                      <m:t>𝑯</m:t>
                    </m:r>
                    <m:r>
                      <a:rPr lang="en-US" altLang="zh-CN" sz="2400">
                        <a:latin typeface="Cambria Math" panose="02040503050406030204" pitchFamily="18" charset="0"/>
                      </a:rPr>
                      <m:t>(</m:t>
                    </m:r>
                    <m:r>
                      <a:rPr lang="en-US" altLang="zh-CN" sz="2400" i="1">
                        <a:latin typeface="Cambria Math" panose="02040503050406030204" pitchFamily="18" charset="0"/>
                      </a:rPr>
                      <m:t>𝒋</m:t>
                    </m:r>
                    <m:r>
                      <a:rPr lang="en-US" altLang="zh-CN" sz="2400" i="1">
                        <a:latin typeface="Cambria Math" panose="02040503050406030204" pitchFamily="18" charset="0"/>
                      </a:rPr>
                      <m:t>𝝎</m:t>
                    </m:r>
                    <m:r>
                      <a:rPr lang="en-US" altLang="zh-CN" sz="2400">
                        <a:latin typeface="Cambria Math" panose="02040503050406030204" pitchFamily="18" charset="0"/>
                      </a:rPr>
                      <m:t>)</m:t>
                    </m:r>
                  </m:oMath>
                </a14:m>
                <a:r>
                  <a:rPr lang="en-US" altLang="zh-CN" sz="2400" dirty="0"/>
                  <a:t> </a:t>
                </a:r>
                <a:endParaRPr lang="zh-CN" altLang="zh-CN" sz="2400" dirty="0">
                  <a:solidFill>
                    <a:srgbClr val="FF0000"/>
                  </a:solidFill>
                </a:endParaRPr>
              </a:p>
              <a:p>
                <a:pPr marL="0" indent="0">
                  <a:lnSpc>
                    <a:spcPct val="150000"/>
                  </a:lnSpc>
                  <a:buNone/>
                </a:pPr>
                <a:r>
                  <a:rPr lang="en-US" altLang="zh-CN" sz="2400" dirty="0"/>
                  <a:t>   </a:t>
                </a:r>
                <a:r>
                  <a:rPr lang="zh-CN" altLang="zh-CN" sz="2400" dirty="0"/>
                  <a:t>实</a:t>
                </a:r>
                <a:r>
                  <a:rPr lang="zh-CN" altLang="en-US" sz="2400" dirty="0"/>
                  <a:t>、</a:t>
                </a:r>
                <a:r>
                  <a:rPr lang="zh-CN" altLang="en-US" sz="2400" dirty="0">
                    <a:highlight>
                      <a:srgbClr val="FFFF00"/>
                    </a:highlight>
                  </a:rPr>
                  <a:t>宽</a:t>
                </a:r>
                <a:r>
                  <a:rPr lang="zh-CN" altLang="zh-CN" sz="2400" dirty="0">
                    <a:highlight>
                      <a:srgbClr val="FFFF00"/>
                    </a:highlight>
                  </a:rPr>
                  <a:t>平稳输入信号</a:t>
                </a:r>
                <a:r>
                  <a:rPr lang="en-US" altLang="zh-CN" sz="2400" i="1" dirty="0"/>
                  <a:t>X</a:t>
                </a:r>
                <a:r>
                  <a:rPr lang="en-US" altLang="zh-CN" sz="2400" dirty="0"/>
                  <a:t>(</a:t>
                </a:r>
                <a:r>
                  <a:rPr lang="en-US" altLang="zh-CN" sz="2400" i="1" dirty="0"/>
                  <a:t>t</a:t>
                </a:r>
                <a:r>
                  <a:rPr lang="en-US" altLang="zh-CN" sz="2400" dirty="0"/>
                  <a:t>)</a:t>
                </a:r>
                <a:r>
                  <a:rPr lang="zh-CN" altLang="en-US" sz="2400" dirty="0"/>
                  <a:t>，</a:t>
                </a:r>
                <a:r>
                  <a:rPr lang="zh-CN" altLang="zh-CN" sz="2400" dirty="0"/>
                  <a:t>统计特性</a:t>
                </a:r>
                <a:r>
                  <a:rPr lang="zh-CN" altLang="en-US" sz="2400" dirty="0"/>
                  <a:t>为</a:t>
                </a:r>
                <a:endParaRPr lang="en-US" altLang="zh-CN" sz="2400" i="1" dirty="0">
                  <a:latin typeface="Cambria Math" panose="02040503050406030204" pitchFamily="18" charset="0"/>
                </a:endParaRPr>
              </a:p>
              <a:p>
                <a:pPr marL="0" indent="0">
                  <a:lnSpc>
                    <a:spcPct val="150000"/>
                  </a:lnSpc>
                  <a:buNone/>
                </a:pPr>
                <a14:m>
                  <m:oMath xmlns:m="http://schemas.openxmlformats.org/officeDocument/2006/math">
                    <m:r>
                      <a:rPr lang="en-US" altLang="zh-CN" sz="2400" b="1" i="1" smtClean="0">
                        <a:latin typeface="Cambria Math" panose="02040503050406030204" pitchFamily="18" charset="0"/>
                      </a:rPr>
                      <m:t>       </m:t>
                    </m:r>
                    <m:r>
                      <a:rPr lang="en-US" altLang="zh-CN" sz="2400" i="1">
                        <a:latin typeface="Cambria Math" panose="02040503050406030204" pitchFamily="18" charset="0"/>
                      </a:rPr>
                      <m:t>𝑬</m:t>
                    </m:r>
                    <m:r>
                      <a:rPr lang="en-US" altLang="zh-CN" sz="2400" i="1">
                        <a:latin typeface="Cambria Math" panose="02040503050406030204" pitchFamily="18" charset="0"/>
                      </a:rPr>
                      <m:t>[</m:t>
                    </m:r>
                    <m:r>
                      <a:rPr lang="en-US" altLang="zh-CN" sz="2400" i="1">
                        <a:latin typeface="Cambria Math" panose="02040503050406030204" pitchFamily="18" charset="0"/>
                      </a:rPr>
                      <m:t>𝑿</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𝒎</m:t>
                        </m:r>
                      </m:e>
                      <m:sub>
                        <m:r>
                          <a:rPr lang="en-US" altLang="zh-CN" sz="2400" i="1">
                            <a:latin typeface="Cambria Math" panose="02040503050406030204" pitchFamily="18" charset="0"/>
                          </a:rPr>
                          <m:t>𝑿</m:t>
                        </m:r>
                      </m:sub>
                    </m:sSub>
                  </m:oMath>
                </a14:m>
                <a:r>
                  <a:rPr lang="en-US" altLang="zh-CN" sz="2400" dirty="0"/>
                  <a:t> </a:t>
                </a:r>
                <a:r>
                  <a:rPr lang="zh-CN"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𝑬</m:t>
                    </m:r>
                    <m:r>
                      <a:rPr lang="en-US" altLang="zh-CN" sz="2400" i="1">
                        <a:latin typeface="Cambria Math" panose="02040503050406030204" pitchFamily="18" charset="0"/>
                      </a:rPr>
                      <m:t>[</m:t>
                    </m:r>
                    <m:r>
                      <a:rPr lang="en-US" altLang="zh-CN" sz="2400" i="1">
                        <a:latin typeface="Cambria Math" panose="02040503050406030204" pitchFamily="18" charset="0"/>
                      </a:rPr>
                      <m:t>𝑿</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𝑿</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oMath>
                </a14:m>
                <a:r>
                  <a:rPr lang="en-US" altLang="zh-CN" sz="2400" dirty="0"/>
                  <a:t> </a:t>
                </a:r>
                <a:r>
                  <a:rPr lang="zh-CN"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oMath>
                </a14:m>
                <a:endParaRPr lang="en-US" altLang="zh-CN" sz="2400" dirty="0"/>
              </a:p>
              <a:p>
                <a:pPr>
                  <a:lnSpc>
                    <a:spcPct val="150000"/>
                  </a:lnSpc>
                  <a:buFont typeface="Wingdings" panose="05000000000000000000" pitchFamily="2" charset="2"/>
                  <a:buChar char="p"/>
                </a:pPr>
                <a:r>
                  <a:rPr lang="zh-CN" altLang="zh-CN" sz="2400" dirty="0"/>
                  <a:t>输出</a:t>
                </a:r>
                <a:r>
                  <a:rPr lang="zh-CN" altLang="en-US" sz="2400" dirty="0"/>
                  <a:t>信号：</a:t>
                </a:r>
                <a14:m>
                  <m:oMath xmlns:m="http://schemas.openxmlformats.org/officeDocument/2006/math">
                    <m:r>
                      <a:rPr lang="en-US" altLang="zh-CN" sz="2400" i="1" smtClean="0">
                        <a:solidFill>
                          <a:srgbClr val="FF0000"/>
                        </a:solidFill>
                        <a:latin typeface="Cambria Math" panose="02040503050406030204" pitchFamily="18" charset="0"/>
                      </a:rPr>
                      <m:t>𝒀</m:t>
                    </m:r>
                    <m:r>
                      <a:rPr lang="en-US" altLang="zh-CN" sz="2400" i="1" smtClean="0">
                        <a:solidFill>
                          <a:srgbClr val="FF0000"/>
                        </a:solidFill>
                        <a:latin typeface="Cambria Math" panose="02040503050406030204" pitchFamily="18" charset="0"/>
                      </a:rPr>
                      <m:t>(</m:t>
                    </m:r>
                    <m:r>
                      <a:rPr lang="en-US" altLang="zh-CN" sz="2400" i="1" smtClean="0">
                        <a:solidFill>
                          <a:srgbClr val="FF0000"/>
                        </a:solidFill>
                        <a:latin typeface="Cambria Math" panose="02040503050406030204" pitchFamily="18" charset="0"/>
                      </a:rPr>
                      <m:t>𝒕</m:t>
                    </m:r>
                    <m:r>
                      <a:rPr lang="en-US" altLang="zh-CN" sz="2400" i="1" smtClean="0">
                        <a:solidFill>
                          <a:srgbClr val="FF0000"/>
                        </a:solidFill>
                        <a:latin typeface="Cambria Math" panose="02040503050406030204" pitchFamily="18" charset="0"/>
                      </a:rPr>
                      <m:t>)=</m:t>
                    </m:r>
                    <m:r>
                      <a:rPr lang="en-US" altLang="zh-CN" sz="2400" i="1" smtClean="0">
                        <a:solidFill>
                          <a:srgbClr val="FF0000"/>
                        </a:solidFill>
                        <a:latin typeface="Cambria Math" panose="02040503050406030204" pitchFamily="18" charset="0"/>
                      </a:rPr>
                      <m:t>𝑿</m:t>
                    </m:r>
                    <m:r>
                      <a:rPr lang="en-US" altLang="zh-CN" sz="2400" i="1" smtClean="0">
                        <a:solidFill>
                          <a:srgbClr val="FF0000"/>
                        </a:solidFill>
                        <a:latin typeface="Cambria Math" panose="02040503050406030204" pitchFamily="18" charset="0"/>
                      </a:rPr>
                      <m:t>(</m:t>
                    </m:r>
                    <m:r>
                      <a:rPr lang="en-US" altLang="zh-CN" sz="2400" i="1" smtClean="0">
                        <a:solidFill>
                          <a:srgbClr val="FF0000"/>
                        </a:solidFill>
                        <a:latin typeface="Cambria Math" panose="02040503050406030204" pitchFamily="18" charset="0"/>
                      </a:rPr>
                      <m:t>𝒕</m:t>
                    </m:r>
                    <m:r>
                      <a:rPr lang="en-US" altLang="zh-CN" sz="2400" i="1" smtClean="0">
                        <a:solidFill>
                          <a:srgbClr val="FF0000"/>
                        </a:solidFill>
                        <a:latin typeface="Cambria Math" panose="02040503050406030204" pitchFamily="18" charset="0"/>
                      </a:rPr>
                      <m:t>)∗</m:t>
                    </m:r>
                    <m:r>
                      <a:rPr lang="en-US" altLang="zh-CN" sz="2400" i="1" smtClean="0">
                        <a:solidFill>
                          <a:srgbClr val="FF0000"/>
                        </a:solidFill>
                        <a:latin typeface="Cambria Math" panose="02040503050406030204" pitchFamily="18" charset="0"/>
                      </a:rPr>
                      <m:t>𝒉</m:t>
                    </m:r>
                    <m:r>
                      <a:rPr lang="en-US" altLang="zh-CN" sz="2400" i="1" smtClean="0">
                        <a:solidFill>
                          <a:srgbClr val="FF0000"/>
                        </a:solidFill>
                        <a:latin typeface="Cambria Math" panose="02040503050406030204" pitchFamily="18" charset="0"/>
                      </a:rPr>
                      <m:t>(</m:t>
                    </m:r>
                    <m:r>
                      <a:rPr lang="en-US" altLang="zh-CN" sz="2400" i="1" smtClean="0">
                        <a:solidFill>
                          <a:srgbClr val="FF0000"/>
                        </a:solidFill>
                        <a:latin typeface="Cambria Math" panose="02040503050406030204" pitchFamily="18" charset="0"/>
                      </a:rPr>
                      <m:t>𝒕</m:t>
                    </m:r>
                    <m:r>
                      <a:rPr lang="en-US" altLang="zh-CN" sz="2400" i="1" smtClean="0">
                        <a:solidFill>
                          <a:srgbClr val="FF0000"/>
                        </a:solidFill>
                        <a:latin typeface="Cambria Math" panose="02040503050406030204" pitchFamily="18" charset="0"/>
                      </a:rPr>
                      <m:t>)=</m:t>
                    </m:r>
                    <m:nary>
                      <m:naryPr>
                        <m:ctrlPr>
                          <a:rPr lang="zh-CN" altLang="zh-CN" sz="2400" i="1">
                            <a:solidFill>
                              <a:srgbClr val="FF0000"/>
                            </a:solidFill>
                            <a:latin typeface="Cambria Math" panose="02040503050406030204" pitchFamily="18" charset="0"/>
                          </a:rPr>
                        </m:ctrlPr>
                      </m:naryPr>
                      <m:sub>
                        <m:r>
                          <a:rPr lang="en-US" altLang="zh-CN" sz="2400" i="1">
                            <a:solidFill>
                              <a:srgbClr val="FF0000"/>
                            </a:solidFill>
                            <a:latin typeface="Cambria Math" panose="02040503050406030204" pitchFamily="18" charset="0"/>
                          </a:rPr>
                          <m:t>−∞</m:t>
                        </m:r>
                      </m:sub>
                      <m:sup>
                        <m:r>
                          <a:rPr lang="en-US" altLang="zh-CN" sz="2400" i="1">
                            <a:solidFill>
                              <a:srgbClr val="FF0000"/>
                            </a:solidFill>
                            <a:latin typeface="Cambria Math" panose="02040503050406030204" pitchFamily="18" charset="0"/>
                          </a:rPr>
                          <m:t>∞</m:t>
                        </m:r>
                      </m:sup>
                      <m:e>
                        <m:r>
                          <a:rPr lang="en-US" altLang="zh-CN" sz="2400" i="1">
                            <a:solidFill>
                              <a:srgbClr val="FF0000"/>
                            </a:solidFill>
                            <a:latin typeface="Cambria Math" panose="02040503050406030204" pitchFamily="18" charset="0"/>
                          </a:rPr>
                          <m:t>𝒉</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𝝉</m:t>
                        </m:r>
                        <m:r>
                          <a:rPr lang="en-US" altLang="zh-CN" sz="2400" i="1">
                            <a:solidFill>
                              <a:srgbClr val="FF0000"/>
                            </a:solidFill>
                            <a:latin typeface="Cambria Math" panose="02040503050406030204" pitchFamily="18" charset="0"/>
                          </a:rPr>
                          <m:t>)</m:t>
                        </m:r>
                      </m:e>
                    </m:nary>
                    <m:r>
                      <a:rPr lang="en-US" altLang="zh-CN" sz="2400" i="1">
                        <a:solidFill>
                          <a:srgbClr val="FF0000"/>
                        </a:solidFill>
                        <a:latin typeface="Cambria Math" panose="02040503050406030204" pitchFamily="18" charset="0"/>
                      </a:rPr>
                      <m:t>𝑿</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𝒕</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𝝉</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𝒅</m:t>
                    </m:r>
                    <m:r>
                      <a:rPr lang="en-US" altLang="zh-CN" sz="2400" i="1">
                        <a:solidFill>
                          <a:srgbClr val="FF0000"/>
                        </a:solidFill>
                        <a:latin typeface="Cambria Math" panose="02040503050406030204" pitchFamily="18" charset="0"/>
                      </a:rPr>
                      <m:t>𝝉</m:t>
                    </m:r>
                  </m:oMath>
                </a14:m>
                <a:endParaRPr lang="en-US" altLang="zh-CN" sz="2400" dirty="0">
                  <a:solidFill>
                    <a:srgbClr val="FF0000"/>
                  </a:solidFill>
                </a:endParaRPr>
              </a:p>
              <a:p>
                <a:pPr>
                  <a:lnSpc>
                    <a:spcPct val="150000"/>
                  </a:lnSpc>
                  <a:buFont typeface="Wingdings" panose="05000000000000000000" pitchFamily="2" charset="2"/>
                  <a:buChar char="p"/>
                </a:pPr>
                <a:r>
                  <a:rPr lang="zh-CN" altLang="zh-CN" sz="2400" dirty="0"/>
                  <a:t>求</a:t>
                </a:r>
                <a:r>
                  <a:rPr lang="zh-CN" altLang="en-US" sz="2400" dirty="0"/>
                  <a:t>：</a:t>
                </a:r>
                <a:r>
                  <a:rPr lang="en-US" altLang="zh-CN" sz="2400" dirty="0"/>
                  <a:t>  </a:t>
                </a:r>
                <a14:m>
                  <m:oMath xmlns:m="http://schemas.openxmlformats.org/officeDocument/2006/math">
                    <m:r>
                      <a:rPr lang="en-US" altLang="zh-CN" sz="2400" i="1">
                        <a:latin typeface="Cambria Math" panose="02040503050406030204" pitchFamily="18" charset="0"/>
                      </a:rPr>
                      <m:t>𝑬</m:t>
                    </m:r>
                    <m:r>
                      <a:rPr lang="en-US" altLang="zh-CN" sz="2400" i="1">
                        <a:latin typeface="Cambria Math" panose="02040503050406030204" pitchFamily="18" charset="0"/>
                      </a:rPr>
                      <m:t>[</m:t>
                    </m:r>
                    <m:r>
                      <a:rPr lang="en-US" altLang="zh-CN" sz="2400" i="1">
                        <a:latin typeface="Cambria Math" panose="02040503050406030204" pitchFamily="18" charset="0"/>
                      </a:rPr>
                      <m:t>𝒀</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m:rPr>
                        <m:nor/>
                      </m:rPr>
                      <a:rPr lang="en-US" altLang="zh-CN" sz="2400"/>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𝒀</m:t>
                        </m:r>
                      </m:sub>
                    </m:sSub>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m:rPr>
                        <m:nor/>
                      </m:rPr>
                      <a:rPr lang="en-US" altLang="zh-CN" sz="2400"/>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r>
                      <m:rPr>
                        <m:nor/>
                      </m:rPr>
                      <a:rPr lang="en-US" altLang="zh-CN" sz="2400"/>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𝑿𝒀</m:t>
                        </m:r>
                      </m:sub>
                    </m:sSub>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oMath>
                </a14:m>
                <a:r>
                  <a:rPr lang="zh-CN" altLang="en-US" sz="2400" dirty="0"/>
                  <a:t>，</a:t>
                </a:r>
                <a:r>
                  <a:rPr lang="zh-CN" altLang="zh-CN" sz="2400" dirty="0"/>
                  <a:t> </a:t>
                </a:r>
                <a:r>
                  <a:rPr lang="en-US" altLang="zh-CN" sz="2400" dirty="0"/>
                  <a:t>      </a:t>
                </a:r>
              </a:p>
              <a:p>
                <a:pPr marL="0" indent="0">
                  <a:lnSpc>
                    <a:spcPct val="150000"/>
                  </a:lnSpc>
                  <a:buNone/>
                </a:pPr>
                <a:r>
                  <a:rPr lang="en-US"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b="1" i="1" smtClean="0">
                            <a:latin typeface="Cambria Math" panose="02040503050406030204" pitchFamily="18" charset="0"/>
                          </a:rPr>
                          <m:t>𝑿</m:t>
                        </m:r>
                        <m:r>
                          <a:rPr lang="en-US" altLang="zh-CN" sz="2400" i="1">
                            <a:latin typeface="Cambria Math" panose="02040503050406030204" pitchFamily="18" charset="0"/>
                          </a:rPr>
                          <m:t>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r>
                      <m:rPr>
                        <m:nor/>
                      </m:rPr>
                      <a:rPr lang="en-US" altLang="zh-CN" sz="2400"/>
                      <m:t> </m:t>
                    </m:r>
                  </m:oMath>
                </a14:m>
                <a:r>
                  <a:rPr lang="zh-CN" altLang="zh-CN" sz="2400" dirty="0"/>
                  <a:t>。</a:t>
                </a:r>
              </a:p>
              <a:p>
                <a:endParaRPr lang="zh-CN" altLang="en-US" dirty="0"/>
              </a:p>
            </p:txBody>
          </p:sp>
        </mc:Choice>
        <mc:Fallback xmlns="">
          <p:sp>
            <p:nvSpPr>
              <p:cNvPr id="2" name="内容占位符 1">
                <a:extLst>
                  <a:ext uri="{FF2B5EF4-FFF2-40B4-BE49-F238E27FC236}">
                    <a16:creationId xmlns:a16="http://schemas.microsoft.com/office/drawing/2014/main" id="{170B5FAE-8B23-44C7-8AAE-ED1593781218}"/>
                  </a:ext>
                </a:extLst>
              </p:cNvPr>
              <p:cNvSpPr>
                <a:spLocks noGrp="1" noRot="1" noChangeAspect="1" noMove="1" noResize="1" noEditPoints="1" noAdjustHandles="1" noChangeArrowheads="1" noChangeShapeType="1" noTextEdit="1"/>
              </p:cNvSpPr>
              <p:nvPr>
                <p:ph idx="1"/>
              </p:nvPr>
            </p:nvSpPr>
            <p:spPr>
              <a:xfrm>
                <a:off x="755576" y="548680"/>
                <a:ext cx="7920880" cy="4440380"/>
              </a:xfrm>
              <a:blipFill>
                <a:blip r:embed="rId3"/>
                <a:stretch>
                  <a:fillRect l="-1232" r="-308" b="-174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899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2AB0F08-2753-4129-8595-380D6EB0DF7C}"/>
              </a:ext>
            </a:extLst>
          </p:cNvPr>
          <p:cNvSpPr>
            <a:spLocks noGrp="1"/>
          </p:cNvSpPr>
          <p:nvPr>
            <p:ph idx="1"/>
          </p:nvPr>
        </p:nvSpPr>
        <p:spPr/>
        <p:txBody>
          <a:bodyPr/>
          <a:lstStyle/>
          <a:p>
            <a:pPr marL="0" indent="0">
              <a:lnSpc>
                <a:spcPct val="150000"/>
              </a:lnSpc>
              <a:buNone/>
            </a:pPr>
            <a:r>
              <a:rPr lang="en-US" altLang="zh-CN" sz="2400" dirty="0">
                <a:solidFill>
                  <a:schemeClr val="accent2"/>
                </a:solidFill>
              </a:rPr>
              <a:t>2</a:t>
            </a:r>
            <a:r>
              <a:rPr lang="zh-CN" altLang="en-US" sz="2400" dirty="0">
                <a:solidFill>
                  <a:schemeClr val="accent2"/>
                </a:solidFill>
              </a:rPr>
              <a:t>、</a:t>
            </a:r>
            <a:r>
              <a:rPr lang="zh-CN" altLang="zh-CN" sz="2400" dirty="0">
                <a:solidFill>
                  <a:schemeClr val="accent2"/>
                </a:solidFill>
              </a:rPr>
              <a:t>输出信号的概率分布</a:t>
            </a:r>
          </a:p>
          <a:p>
            <a:pPr marL="0" indent="0">
              <a:lnSpc>
                <a:spcPct val="150000"/>
              </a:lnSpc>
              <a:buNone/>
            </a:pPr>
            <a:r>
              <a:rPr lang="zh-CN" altLang="zh-CN" sz="2400" dirty="0">
                <a:solidFill>
                  <a:srgbClr val="FF0000"/>
                </a:solidFill>
              </a:rPr>
              <a:t>一般很难计算 </a:t>
            </a:r>
            <a:r>
              <a:rPr lang="zh-CN" altLang="en-US" sz="2400" dirty="0">
                <a:solidFill>
                  <a:srgbClr val="FF0000"/>
                </a:solidFill>
              </a:rPr>
              <a:t>。</a:t>
            </a:r>
            <a:endParaRPr lang="zh-CN" altLang="zh-CN" sz="2400" dirty="0">
              <a:solidFill>
                <a:srgbClr val="FF0000"/>
              </a:solidFill>
            </a:endParaRPr>
          </a:p>
          <a:p>
            <a:pPr marL="0" indent="0">
              <a:lnSpc>
                <a:spcPct val="150000"/>
              </a:lnSpc>
              <a:buNone/>
            </a:pPr>
            <a:r>
              <a:rPr lang="zh-CN" altLang="en-US" sz="2400" dirty="0">
                <a:highlight>
                  <a:srgbClr val="FFFF00"/>
                </a:highlight>
              </a:rPr>
              <a:t>特例：</a:t>
            </a:r>
            <a:r>
              <a:rPr lang="zh-CN" altLang="zh-CN" sz="2400" dirty="0">
                <a:highlight>
                  <a:srgbClr val="FFFF00"/>
                </a:highlight>
              </a:rPr>
              <a:t>输入信号为高斯时，输出信号也是高斯的</a:t>
            </a:r>
            <a:r>
              <a:rPr lang="zh-CN" altLang="zh-CN" sz="2400" dirty="0"/>
              <a:t>，</a:t>
            </a:r>
            <a:endParaRPr lang="en-US" altLang="zh-CN" sz="2400" dirty="0"/>
          </a:p>
          <a:p>
            <a:pPr marL="0" indent="0">
              <a:lnSpc>
                <a:spcPct val="150000"/>
              </a:lnSpc>
              <a:buNone/>
            </a:pPr>
            <a:r>
              <a:rPr lang="zh-CN" altLang="zh-CN" sz="2400" dirty="0"/>
              <a:t>可以通过计算均值和协方差获得概率分布。</a:t>
            </a:r>
            <a:endParaRPr lang="en-US" altLang="zh-CN" sz="2400" dirty="0"/>
          </a:p>
          <a:p>
            <a:pPr marL="0" indent="0">
              <a:lnSpc>
                <a:spcPct val="150000"/>
              </a:lnSpc>
              <a:buNone/>
            </a:pPr>
            <a:r>
              <a:rPr lang="zh-CN" altLang="en-US" sz="2400" dirty="0"/>
              <a:t>但是均值、自相关、功率谱以及与输入过程的互相关、互谱密度可以获得。</a:t>
            </a:r>
          </a:p>
        </p:txBody>
      </p:sp>
    </p:spTree>
    <p:extLst>
      <p:ext uri="{BB962C8B-B14F-4D97-AF65-F5344CB8AC3E}">
        <p14:creationId xmlns:p14="http://schemas.microsoft.com/office/powerpoint/2010/main" val="3722774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2AB0F08-2753-4129-8595-380D6EB0DF7C}"/>
              </a:ext>
            </a:extLst>
          </p:cNvPr>
          <p:cNvSpPr>
            <a:spLocks noGrp="1"/>
          </p:cNvSpPr>
          <p:nvPr>
            <p:ph idx="1"/>
          </p:nvPr>
        </p:nvSpPr>
        <p:spPr>
          <a:xfrm>
            <a:off x="611560" y="476672"/>
            <a:ext cx="7772400" cy="5302983"/>
          </a:xfrm>
        </p:spPr>
        <p:txBody>
          <a:bodyPr/>
          <a:lstStyle/>
          <a:p>
            <a:pPr marL="0" indent="0">
              <a:lnSpc>
                <a:spcPct val="150000"/>
              </a:lnSpc>
              <a:buNone/>
            </a:pPr>
            <a:r>
              <a:rPr lang="en-US" altLang="zh-CN" sz="2400" dirty="0">
                <a:solidFill>
                  <a:schemeClr val="accent2"/>
                </a:solidFill>
              </a:rPr>
              <a:t>2</a:t>
            </a:r>
            <a:r>
              <a:rPr lang="zh-CN" altLang="en-US" sz="2400" dirty="0">
                <a:solidFill>
                  <a:schemeClr val="accent2"/>
                </a:solidFill>
              </a:rPr>
              <a:t>、</a:t>
            </a:r>
            <a:r>
              <a:rPr lang="zh-CN" altLang="zh-CN" sz="2400" dirty="0">
                <a:solidFill>
                  <a:schemeClr val="accent2"/>
                </a:solidFill>
              </a:rPr>
              <a:t>输出信号的概率分布</a:t>
            </a:r>
          </a:p>
        </p:txBody>
      </p:sp>
      <p:pic>
        <p:nvPicPr>
          <p:cNvPr id="4" name="图片 3">
            <a:extLst>
              <a:ext uri="{FF2B5EF4-FFF2-40B4-BE49-F238E27FC236}">
                <a16:creationId xmlns:a16="http://schemas.microsoft.com/office/drawing/2014/main" id="{0F60FE78-78DF-427D-A280-03F6025B014C}"/>
              </a:ext>
            </a:extLst>
          </p:cNvPr>
          <p:cNvPicPr>
            <a:picLocks noChangeAspect="1"/>
          </p:cNvPicPr>
          <p:nvPr/>
        </p:nvPicPr>
        <p:blipFill>
          <a:blip r:embed="rId3"/>
          <a:stretch>
            <a:fillRect/>
          </a:stretch>
        </p:blipFill>
        <p:spPr>
          <a:xfrm>
            <a:off x="464782" y="1210394"/>
            <a:ext cx="8211262" cy="4522862"/>
          </a:xfrm>
          <a:prstGeom prst="rect">
            <a:avLst/>
          </a:prstGeom>
        </p:spPr>
      </p:pic>
    </p:spTree>
    <p:extLst>
      <p:ext uri="{BB962C8B-B14F-4D97-AF65-F5344CB8AC3E}">
        <p14:creationId xmlns:p14="http://schemas.microsoft.com/office/powerpoint/2010/main" val="165241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DE1CBB2D-52F6-4D18-A68F-683757F65451}"/>
                  </a:ext>
                </a:extLst>
              </p:cNvPr>
              <p:cNvSpPr>
                <a:spLocks noGrp="1"/>
              </p:cNvSpPr>
              <p:nvPr>
                <p:ph idx="1"/>
              </p:nvPr>
            </p:nvSpPr>
            <p:spPr>
              <a:xfrm>
                <a:off x="683568" y="836712"/>
                <a:ext cx="8023369" cy="4219908"/>
              </a:xfrm>
            </p:spPr>
            <p:txBody>
              <a:bodyPr/>
              <a:lstStyle/>
              <a:p>
                <a:pPr marL="0" indent="0">
                  <a:lnSpc>
                    <a:spcPct val="150000"/>
                  </a:lnSpc>
                  <a:buNone/>
                </a:pPr>
                <a:r>
                  <a:rPr lang="en-US" altLang="zh-CN" sz="2400" dirty="0">
                    <a:solidFill>
                      <a:srgbClr val="FF0000"/>
                    </a:solidFill>
                  </a:rPr>
                  <a:t>5.1.2 </a:t>
                </a:r>
                <a:r>
                  <a:rPr lang="zh-CN" altLang="zh-CN" sz="2400" dirty="0">
                    <a:solidFill>
                      <a:srgbClr val="FF0000"/>
                    </a:solidFill>
                  </a:rPr>
                  <a:t>输出信号的均值、自相关函数、功率谱密度</a:t>
                </a:r>
              </a:p>
              <a:p>
                <a:pPr marL="0" indent="0">
                  <a:lnSpc>
                    <a:spcPct val="150000"/>
                  </a:lnSpc>
                  <a:buNone/>
                </a:pPr>
                <a:r>
                  <a:rPr lang="x-none" altLang="zh-CN" sz="2400" dirty="0">
                    <a:solidFill>
                      <a:schemeClr val="accent2"/>
                    </a:solidFill>
                  </a:rPr>
                  <a:t>1</a:t>
                </a:r>
                <a:r>
                  <a:rPr lang="zh-CN" altLang="zh-CN" sz="2400" dirty="0">
                    <a:solidFill>
                      <a:schemeClr val="accent2"/>
                    </a:solidFill>
                  </a:rPr>
                  <a:t>．均值</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𝑬</m:t>
                      </m:r>
                      <m:r>
                        <a:rPr lang="en-US" altLang="zh-CN" sz="2400" i="1">
                          <a:latin typeface="Cambria Math" panose="02040503050406030204" pitchFamily="18" charset="0"/>
                        </a:rPr>
                        <m:t>[</m:t>
                      </m:r>
                      <m:r>
                        <a:rPr lang="en-US" altLang="zh-CN" sz="2400" i="1">
                          <a:latin typeface="Cambria Math" panose="02040503050406030204" pitchFamily="18" charset="0"/>
                        </a:rPr>
                        <m:t>𝒀</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𝑬</m:t>
                      </m:r>
                      <m:r>
                        <a:rPr lang="en-US" altLang="zh-CN" sz="2400" i="1">
                          <a:latin typeface="Cambria Math" panose="02040503050406030204" pitchFamily="18" charset="0"/>
                        </a:rPr>
                        <m:t>[</m:t>
                      </m:r>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𝒉</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𝝉</m:t>
                              </m:r>
                            </m:e>
                          </m:d>
                          <m:r>
                            <a:rPr lang="en-US" altLang="zh-CN" sz="2400" i="1">
                              <a:latin typeface="Cambria Math" panose="02040503050406030204" pitchFamily="18" charset="0"/>
                            </a:rPr>
                            <m:t>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e>
                          </m:d>
                          <m:r>
                            <a:rPr lang="en-US" altLang="zh-CN" sz="2400" i="1">
                              <a:latin typeface="Cambria Math" panose="02040503050406030204" pitchFamily="18" charset="0"/>
                            </a:rPr>
                            <m:t>𝒅</m:t>
                          </m:r>
                          <m:r>
                            <a:rPr lang="en-US" altLang="zh-CN" sz="2400" i="1">
                              <a:latin typeface="Cambria Math" panose="02040503050406030204" pitchFamily="18" charset="0"/>
                            </a:rPr>
                            <m:t>𝝉</m:t>
                          </m:r>
                          <m:r>
                            <a:rPr lang="en-US" altLang="zh-CN" sz="2400" i="1">
                              <a:latin typeface="Cambria Math" panose="02040503050406030204" pitchFamily="18" charset="0"/>
                            </a:rPr>
                            <m:t>=</m:t>
                          </m:r>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𝒉</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𝝉</m:t>
                                  </m:r>
                                </m:e>
                              </m:d>
                              <m:r>
                                <a:rPr lang="en-US" altLang="zh-CN" sz="2400" i="1">
                                  <a:latin typeface="Cambria Math" panose="02040503050406030204" pitchFamily="18" charset="0"/>
                                </a:rPr>
                                <m:t>𝑬</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𝒙</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e>
                                  </m:d>
                                </m:e>
                              </m:d>
                              <m:r>
                                <a:rPr lang="en-US" altLang="zh-CN" sz="2400" i="1">
                                  <a:latin typeface="Cambria Math" panose="02040503050406030204" pitchFamily="18" charset="0"/>
                                </a:rPr>
                                <m:t>𝒅</m:t>
                              </m:r>
                              <m:r>
                                <a:rPr lang="en-US" altLang="zh-CN" sz="2400" i="1">
                                  <a:latin typeface="Cambria Math" panose="02040503050406030204" pitchFamily="18" charset="0"/>
                                </a:rPr>
                                <m:t>𝝉</m:t>
                              </m:r>
                            </m:e>
                          </m:nary>
                        </m:e>
                      </m:nary>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𝒎</m:t>
                          </m:r>
                        </m:e>
                        <m:sub>
                          <m:r>
                            <a:rPr lang="en-US" altLang="zh-CN" sz="2400" i="1">
                              <a:latin typeface="Cambria Math" panose="02040503050406030204" pitchFamily="18" charset="0"/>
                            </a:rPr>
                            <m:t>𝑿</m:t>
                          </m:r>
                        </m:sub>
                      </m:sSub>
                      <m:nary>
                        <m:naryPr>
                          <m:ctrlPr>
                            <a:rPr lang="zh-CN" altLang="zh-CN" sz="2400" i="1">
                              <a:latin typeface="Cambria Math" panose="02040503050406030204" pitchFamily="18" charset="0"/>
                            </a:rPr>
                          </m:ctrlPr>
                        </m:naryPr>
                        <m:sub>
                          <m:r>
                            <a:rPr lang="en-US" altLang="zh-CN" sz="2400" i="1">
                              <a:latin typeface="Cambria Math" panose="02040503050406030204" pitchFamily="18" charset="0"/>
                            </a:rPr>
                            <m:t>−∞</m:t>
                          </m:r>
                        </m:sub>
                        <m:sup>
                          <m:r>
                            <a:rPr lang="en-US" altLang="zh-CN" sz="2400" i="1">
                              <a:latin typeface="Cambria Math" panose="02040503050406030204" pitchFamily="18" charset="0"/>
                            </a:rPr>
                            <m:t>∞</m:t>
                          </m:r>
                        </m:sup>
                        <m:e>
                          <m:r>
                            <a:rPr lang="en-US" altLang="zh-CN" sz="2400" i="1">
                              <a:latin typeface="Cambria Math" panose="02040503050406030204" pitchFamily="18" charset="0"/>
                            </a:rPr>
                            <m:t>𝒉</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𝝉</m:t>
                              </m:r>
                            </m:e>
                          </m:d>
                          <m:r>
                            <a:rPr lang="en-US" altLang="zh-CN" sz="2400" i="1">
                              <a:latin typeface="Cambria Math" panose="02040503050406030204" pitchFamily="18" charset="0"/>
                            </a:rPr>
                            <m:t>𝒅</m:t>
                          </m:r>
                          <m:r>
                            <a:rPr lang="en-US" altLang="zh-CN" sz="2400" i="1">
                              <a:latin typeface="Cambria Math" panose="02040503050406030204" pitchFamily="18" charset="0"/>
                            </a:rPr>
                            <m:t>𝝉</m:t>
                          </m:r>
                          <m:r>
                            <a:rPr lang="en-US" altLang="zh-CN" sz="2400" i="1">
                              <a:latin typeface="Cambria Math" panose="02040503050406030204" pitchFamily="18" charset="0"/>
                            </a:rPr>
                            <m:t>=</m:t>
                          </m:r>
                        </m:e>
                      </m:nary>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𝒎</m:t>
                          </m:r>
                        </m:e>
                        <m:sub>
                          <m:r>
                            <a:rPr lang="en-US" altLang="zh-CN" sz="2400" i="1">
                              <a:latin typeface="Cambria Math" panose="02040503050406030204" pitchFamily="18" charset="0"/>
                            </a:rPr>
                            <m:t>𝑿</m:t>
                          </m:r>
                        </m:sub>
                      </m:sSub>
                      <m:r>
                        <a:rPr lang="en-US" altLang="zh-CN" sz="2400" b="1" i="1" smtClean="0">
                          <a:latin typeface="Cambria Math" panose="02040503050406030204" pitchFamily="18" charset="0"/>
                        </a:rPr>
                        <m:t> </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𝟎</m:t>
                      </m:r>
                      <m:r>
                        <a:rPr lang="en-US" altLang="zh-CN" sz="2400" i="1">
                          <a:latin typeface="Cambria Math" panose="02040503050406030204" pitchFamily="18" charset="0"/>
                        </a:rPr>
                        <m:t>)</m:t>
                      </m:r>
                    </m:oMath>
                  </m:oMathPara>
                </a14:m>
                <a:endParaRPr lang="en-US" altLang="zh-CN" sz="2400" dirty="0"/>
              </a:p>
              <a:p>
                <a:pPr>
                  <a:lnSpc>
                    <a:spcPct val="150000"/>
                  </a:lnSpc>
                  <a:buFont typeface="Wingdings" panose="05000000000000000000" pitchFamily="2" charset="2"/>
                  <a:buChar char="l"/>
                </a:pPr>
                <a:r>
                  <a:rPr lang="zh-CN" altLang="en-US" sz="2400" dirty="0">
                    <a:solidFill>
                      <a:srgbClr val="FF0000"/>
                    </a:solidFill>
                    <a:highlight>
                      <a:srgbClr val="FFFF00"/>
                    </a:highlight>
                  </a:rPr>
                  <a:t>结论：输入输出信号的均值成比例关系，加权系数为系统直流分量的幅度</a:t>
                </a:r>
                <a:r>
                  <a:rPr lang="zh-CN" altLang="en-US" sz="2400" dirty="0"/>
                  <a:t>。</a:t>
                </a:r>
                <a:endParaRPr lang="zh-CN" altLang="zh-CN" sz="2400"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DE1CBB2D-52F6-4D18-A68F-683757F65451}"/>
                  </a:ext>
                </a:extLst>
              </p:cNvPr>
              <p:cNvSpPr>
                <a:spLocks noGrp="1" noRot="1" noChangeAspect="1" noMove="1" noResize="1" noEditPoints="1" noAdjustHandles="1" noChangeArrowheads="1" noChangeShapeType="1" noTextEdit="1"/>
              </p:cNvSpPr>
              <p:nvPr>
                <p:ph idx="1"/>
              </p:nvPr>
            </p:nvSpPr>
            <p:spPr>
              <a:xfrm>
                <a:off x="683568" y="836712"/>
                <a:ext cx="8023369" cy="4219908"/>
              </a:xfrm>
              <a:blipFill>
                <a:blip r:embed="rId3"/>
                <a:stretch>
                  <a:fillRect l="-1140" b="-150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421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2AE1661-BB7B-4070-B604-299C0364ED21}"/>
                  </a:ext>
                </a:extLst>
              </p:cNvPr>
              <p:cNvSpPr>
                <a:spLocks noGrp="1"/>
              </p:cNvSpPr>
              <p:nvPr>
                <p:ph idx="1"/>
              </p:nvPr>
            </p:nvSpPr>
            <p:spPr>
              <a:xfrm>
                <a:off x="684213" y="998982"/>
                <a:ext cx="7772400" cy="4679650"/>
              </a:xfrm>
            </p:spPr>
            <p:txBody>
              <a:bodyPr>
                <a:normAutofit/>
              </a:bodyPr>
              <a:lstStyle/>
              <a:p>
                <a:pPr marL="0" indent="0">
                  <a:lnSpc>
                    <a:spcPct val="150000"/>
                  </a:lnSpc>
                  <a:buNone/>
                </a:pPr>
                <a:r>
                  <a:rPr lang="x-none" altLang="zh-CN" dirty="0">
                    <a:solidFill>
                      <a:schemeClr val="accent2"/>
                    </a:solidFill>
                  </a:rPr>
                  <a:t>2</a:t>
                </a:r>
                <a:r>
                  <a:rPr lang="zh-CN" altLang="zh-CN" dirty="0">
                    <a:solidFill>
                      <a:schemeClr val="accent2"/>
                    </a:solidFill>
                  </a:rPr>
                  <a:t>．自</a:t>
                </a:r>
                <a:r>
                  <a:rPr lang="zh-CN" altLang="en-US" dirty="0">
                    <a:solidFill>
                      <a:schemeClr val="accent2"/>
                    </a:solidFill>
                  </a:rPr>
                  <a:t>相关函数</a:t>
                </a:r>
                <a:endParaRPr lang="zh-CN" altLang="zh-CN" dirty="0">
                  <a:solidFill>
                    <a:schemeClr val="accent2"/>
                  </a:solidFill>
                </a:endParaRPr>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sub>
                      </m:sSub>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𝒅</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e>
                      </m:nary>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𝒅</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e>
                      </m:nary>
                    </m:oMath>
                    <m:oMath xmlns:m="http://schemas.openxmlformats.org/officeDocument/2006/math">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𝒅</m:t>
                              </m:r>
                            </m:e>
                          </m:nary>
                        </m:e>
                      </m:nary>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𝒅</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en-US" altLang="zh-CN" i="1">
                                  <a:latin typeface="Cambria Math" panose="02040503050406030204" pitchFamily="18" charset="0"/>
                                </a:rPr>
                                <m:t>)</m:t>
                              </m:r>
                              <m:r>
                                <a:rPr lang="en-US" altLang="zh-CN" i="1">
                                  <a:latin typeface="Cambria Math" panose="02040503050406030204" pitchFamily="18" charset="0"/>
                                </a:rPr>
                                <m:t>𝒅</m:t>
                              </m:r>
                            </m:e>
                          </m:nary>
                        </m:e>
                      </m:nary>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𝒅</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oMath>
                  </m:oMathPara>
                </a14:m>
                <a:endParaRPr lang="zh-CN" altLang="zh-CN"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i="1" smtClean="0">
                              <a:latin typeface="Cambria Math" panose="02040503050406030204" pitchFamily="18" charset="0"/>
                            </a:rPr>
                          </m:ctrlPr>
                        </m:mPr>
                        <m:mr>
                          <m:e>
                            <m:r>
                              <a:rPr lang="en-US" altLang="zh-CN" i="1">
                                <a:latin typeface="Cambria Math" panose="02040503050406030204" pitchFamily="18" charset="0"/>
                              </a:rPr>
                              <m:t>𝒖</m:t>
                            </m:r>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𝟐</m:t>
                                </m:r>
                              </m:sub>
                            </m:sSub>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e>
                        </m:mr>
                        <m:mr>
                          <m:e>
                            <m:r>
                              <a:rPr lang="en-US" altLang="zh-CN" b="1" i="1" smtClean="0">
                                <a:latin typeface="Cambria Math" panose="02040503050406030204" pitchFamily="18" charset="0"/>
                              </a:rPr>
                              <m:t>=</m:t>
                            </m:r>
                          </m:e>
                        </m:mr>
                      </m:m>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𝒖</m:t>
                          </m:r>
                          <m:r>
                            <a:rPr lang="en-US" altLang="zh-CN" i="1">
                              <a:latin typeface="Cambria Math" panose="02040503050406030204" pitchFamily="18" charset="0"/>
                            </a:rPr>
                            <m:t>)</m:t>
                          </m:r>
                          <m:r>
                            <a:rPr lang="en-US" altLang="zh-CN" i="1">
                              <a:latin typeface="Cambria Math" panose="02040503050406030204" pitchFamily="18" charset="0"/>
                            </a:rPr>
                            <m:t>𝒅𝒖</m:t>
                          </m:r>
                        </m:e>
                      </m:nary>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𝒖</m:t>
                          </m:r>
                          <m:r>
                            <a:rPr lang="en-US" altLang="zh-CN" i="1">
                              <a:latin typeface="Cambria Math" panose="02040503050406030204" pitchFamily="18" charset="0"/>
                            </a:rPr>
                            <m:t>+</m:t>
                          </m:r>
                        </m:e>
                      </m:nary>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r>
                        <a:rPr lang="en-US" altLang="zh-CN" i="1">
                          <a:latin typeface="Cambria Math" panose="02040503050406030204" pitchFamily="18" charset="0"/>
                        </a:rPr>
                        <m:t>𝒅</m:t>
                      </m:r>
                      <m:sSub>
                        <m:sSubPr>
                          <m:ctrlPr>
                            <a:rPr lang="zh-CN" altLang="zh-CN" i="1">
                              <a:latin typeface="Cambria Math" panose="02040503050406030204" pitchFamily="18" charset="0"/>
                            </a:rPr>
                          </m:ctrlPr>
                        </m:sSubPr>
                        <m:e>
                          <m:r>
                            <a:rPr lang="en-US" altLang="zh-CN" i="1">
                              <a:latin typeface="Cambria Math" panose="02040503050406030204" pitchFamily="18" charset="0"/>
                            </a:rPr>
                            <m:t>𝝉</m:t>
                          </m:r>
                        </m:e>
                        <m:sub>
                          <m:r>
                            <a:rPr lang="en-US" altLang="zh-CN" i="1">
                              <a:latin typeface="Cambria Math" panose="02040503050406030204" pitchFamily="18" charset="0"/>
                            </a:rPr>
                            <m:t>𝟏</m:t>
                          </m:r>
                        </m:sub>
                      </m:sSub>
                      <m:r>
                        <a:rPr lang="en-US" altLang="zh-CN" i="1">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𝒖</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𝒖</m:t>
                          </m:r>
                          <m:r>
                            <a:rPr lang="en-US" altLang="zh-CN" i="1">
                              <a:latin typeface="Cambria Math" panose="02040503050406030204" pitchFamily="18" charset="0"/>
                            </a:rPr>
                            <m:t>)</m:t>
                          </m:r>
                          <m:r>
                            <a:rPr lang="en-US" altLang="zh-CN" i="1">
                              <a:latin typeface="Cambria Math" panose="02040503050406030204" pitchFamily="18" charset="0"/>
                            </a:rPr>
                            <m:t>𝒅𝒖</m:t>
                          </m:r>
                        </m:e>
                      </m:nary>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m:oMathPara>
                </a14:m>
                <a:endParaRPr lang="zh-CN"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42AE1661-BB7B-4070-B604-299C0364ED21}"/>
                  </a:ext>
                </a:extLst>
              </p:cNvPr>
              <p:cNvSpPr>
                <a:spLocks noGrp="1" noRot="1" noChangeAspect="1" noMove="1" noResize="1" noEditPoints="1" noAdjustHandles="1" noChangeArrowheads="1" noChangeShapeType="1" noTextEdit="1"/>
              </p:cNvSpPr>
              <p:nvPr>
                <p:ph idx="1"/>
              </p:nvPr>
            </p:nvSpPr>
            <p:spPr>
              <a:xfrm>
                <a:off x="684213" y="998982"/>
                <a:ext cx="7772400" cy="4679650"/>
              </a:xfrm>
              <a:blipFill>
                <a:blip r:embed="rId3"/>
                <a:stretch>
                  <a:fillRect l="-941" b="-13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9082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76A88DCC-ABD8-4DEC-806D-A4B9EF74C1D0}"/>
                  </a:ext>
                </a:extLst>
              </p:cNvPr>
              <p:cNvSpPr>
                <a:spLocks noGrp="1"/>
              </p:cNvSpPr>
              <p:nvPr>
                <p:ph idx="1"/>
              </p:nvPr>
            </p:nvSpPr>
            <p:spPr>
              <a:xfrm>
                <a:off x="333756" y="116632"/>
                <a:ext cx="8476488" cy="4510854"/>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sz="2400" i="1" smtClean="0">
                              <a:solidFill>
                                <a:schemeClr val="tx2"/>
                              </a:solidFill>
                              <a:latin typeface="Cambria Math" panose="02040503050406030204" pitchFamily="18" charset="0"/>
                            </a:rPr>
                          </m:ctrlPr>
                        </m:sSubPr>
                        <m:e>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𝒀</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m:rPr>
                              <m:nor/>
                            </m:rPr>
                            <a:rPr lang="zh-CN" altLang="zh-CN" sz="2400" dirty="0">
                              <a:solidFill>
                                <a:schemeClr val="tx2"/>
                              </a:solidFill>
                            </a:rPr>
                            <m:t> </m:t>
                          </m:r>
                          <m:r>
                            <m:rPr>
                              <m:nor/>
                            </m:rPr>
                            <a:rPr lang="en-US" altLang="zh-CN" sz="2400" b="1" i="0" dirty="0" smtClean="0">
                              <a:solidFill>
                                <a:schemeClr val="tx2"/>
                              </a:solidFill>
                            </a:rPr>
                            <m:t>=</m:t>
                          </m:r>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𝑿</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𝒉</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𝑿</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oMath>
                  </m:oMathPara>
                </a14:m>
                <a:endParaRPr lang="en-US" altLang="zh-CN" sz="2400" dirty="0">
                  <a:solidFill>
                    <a:schemeClr val="tx2"/>
                  </a:solidFill>
                </a:endParaRPr>
              </a:p>
              <a:p>
                <a:pPr marL="0" indent="0">
                  <a:lnSpc>
                    <a:spcPct val="150000"/>
                  </a:lnSpc>
                  <a:buNone/>
                </a:pPr>
                <a:r>
                  <a:rPr lang="zh-CN" altLang="en-US" sz="2400" dirty="0"/>
                  <a:t>上式中：</a:t>
                </a:r>
                <a:endParaRPr lang="en-US" altLang="zh-CN" sz="2400" dirty="0"/>
              </a:p>
              <a:p>
                <a:pPr marL="0" indent="0">
                  <a:lnSpc>
                    <a:spcPct val="150000"/>
                  </a:lnSpc>
                  <a:buNone/>
                </a:pPr>
                <a:r>
                  <a:rPr lang="zh-CN" altLang="zh-CN" sz="2400" dirty="0">
                    <a:solidFill>
                      <a:schemeClr val="accent2"/>
                    </a:solidFill>
                  </a:rPr>
                  <a:t> </a:t>
                </a:r>
                <a14:m>
                  <m:oMath xmlns:m="http://schemas.openxmlformats.org/officeDocument/2006/math">
                    <m:sSub>
                      <m:sSubPr>
                        <m:ctrlPr>
                          <a:rPr lang="zh-CN" altLang="zh-CN" sz="2400" i="1" smtClean="0">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𝒉</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𝒖</m:t>
                    </m:r>
                    <m:r>
                      <a:rPr lang="en-US" altLang="zh-CN" sz="2400" i="1">
                        <a:solidFill>
                          <a:schemeClr val="tx2"/>
                        </a:solidFill>
                        <a:latin typeface="Cambria Math" panose="02040503050406030204" pitchFamily="18" charset="0"/>
                      </a:rPr>
                      <m:t>)</m:t>
                    </m:r>
                    <m:r>
                      <a:rPr lang="zh-CN"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𝒖</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𝒖</m:t>
                    </m:r>
                    <m:r>
                      <a:rPr lang="en-US" altLang="zh-CN" sz="2400" i="1">
                        <a:solidFill>
                          <a:schemeClr val="tx2"/>
                        </a:solidFill>
                        <a:latin typeface="Cambria Math" panose="02040503050406030204" pitchFamily="18" charset="0"/>
                      </a:rPr>
                      <m:t>)=</m:t>
                    </m:r>
                    <m:nary>
                      <m:naryPr>
                        <m:ctrlPr>
                          <a:rPr lang="zh-CN" altLang="zh-CN" sz="2400" i="1">
                            <a:solidFill>
                              <a:schemeClr val="tx2"/>
                            </a:solidFill>
                            <a:latin typeface="Cambria Math" panose="02040503050406030204" pitchFamily="18" charset="0"/>
                          </a:rPr>
                        </m:ctrlPr>
                      </m:naryPr>
                      <m:sub>
                        <m:r>
                          <a:rPr lang="en-US" altLang="zh-CN" sz="2400" i="1">
                            <a:solidFill>
                              <a:schemeClr val="tx2"/>
                            </a:solidFill>
                            <a:latin typeface="Cambria Math" panose="02040503050406030204" pitchFamily="18" charset="0"/>
                          </a:rPr>
                          <m:t>−∞</m:t>
                        </m:r>
                      </m:sub>
                      <m:sup>
                        <m:r>
                          <a:rPr lang="en-US" altLang="zh-CN" sz="2400" i="1">
                            <a:solidFill>
                              <a:schemeClr val="tx2"/>
                            </a:solidFill>
                            <a:latin typeface="Cambria Math" panose="02040503050406030204" pitchFamily="18" charset="0"/>
                          </a:rPr>
                          <m:t>∞</m:t>
                        </m:r>
                      </m:sup>
                      <m:e>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𝝀</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𝒖</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𝝀</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𝒅</m:t>
                        </m:r>
                        <m:r>
                          <a:rPr lang="en-US" altLang="zh-CN" sz="2400" i="1">
                            <a:solidFill>
                              <a:schemeClr val="tx2"/>
                            </a:solidFill>
                            <a:latin typeface="Cambria Math" panose="02040503050406030204" pitchFamily="18" charset="0"/>
                          </a:rPr>
                          <m:t>𝝀</m:t>
                        </m:r>
                      </m:e>
                    </m:nary>
                    <m:r>
                      <a:rPr lang="en-US" altLang="zh-CN" sz="2400" i="1">
                        <a:solidFill>
                          <a:schemeClr val="tx2"/>
                        </a:solidFill>
                        <a:latin typeface="Cambria Math" panose="02040503050406030204" pitchFamily="18" charset="0"/>
                      </a:rPr>
                      <m:t>=</m:t>
                    </m:r>
                    <m:nary>
                      <m:naryPr>
                        <m:ctrlPr>
                          <a:rPr lang="zh-CN" altLang="zh-CN" sz="2400" i="1">
                            <a:solidFill>
                              <a:schemeClr val="tx2"/>
                            </a:solidFill>
                            <a:latin typeface="Cambria Math" panose="02040503050406030204" pitchFamily="18" charset="0"/>
                          </a:rPr>
                        </m:ctrlPr>
                      </m:naryPr>
                      <m:sub>
                        <m:r>
                          <a:rPr lang="en-US" altLang="zh-CN" sz="2400" i="1">
                            <a:solidFill>
                              <a:schemeClr val="tx2"/>
                            </a:solidFill>
                            <a:latin typeface="Cambria Math" panose="02040503050406030204" pitchFamily="18" charset="0"/>
                          </a:rPr>
                          <m:t>−∞</m:t>
                        </m:r>
                      </m:sub>
                      <m:sup>
                        <m:r>
                          <a:rPr lang="en-US" altLang="zh-CN" sz="2400" i="1">
                            <a:solidFill>
                              <a:schemeClr val="tx2"/>
                            </a:solidFill>
                            <a:latin typeface="Cambria Math" panose="02040503050406030204" pitchFamily="18" charset="0"/>
                          </a:rPr>
                          <m:t>∞</m:t>
                        </m:r>
                      </m:sup>
                      <m:e>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𝝀</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𝒖</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𝝀</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𝒅</m:t>
                        </m:r>
                        <m:r>
                          <a:rPr lang="en-US" altLang="zh-CN" sz="2400" i="1">
                            <a:solidFill>
                              <a:schemeClr val="tx2"/>
                            </a:solidFill>
                            <a:latin typeface="Cambria Math" panose="02040503050406030204" pitchFamily="18" charset="0"/>
                          </a:rPr>
                          <m:t>𝝀</m:t>
                        </m:r>
                      </m:e>
                    </m:nary>
                  </m:oMath>
                </a14:m>
                <a:endParaRPr lang="en-US" altLang="zh-CN" sz="2400" dirty="0"/>
              </a:p>
              <a:p>
                <a:pPr marL="0" indent="0">
                  <a:lnSpc>
                    <a:spcPct val="150000"/>
                  </a:lnSpc>
                  <a:buNone/>
                </a:pPr>
                <a:r>
                  <a:rPr lang="zh-CN" altLang="zh-CN" sz="2400" dirty="0"/>
                  <a:t>为</a:t>
                </a:r>
                <a:r>
                  <a:rPr lang="zh-CN" altLang="zh-CN" sz="2400" dirty="0">
                    <a:solidFill>
                      <a:srgbClr val="FF0000"/>
                    </a:solidFill>
                  </a:rPr>
                  <a:t>系统单位冲激</a:t>
                </a:r>
                <a:r>
                  <a:rPr lang="zh-CN" altLang="en-US" sz="2400" dirty="0">
                    <a:solidFill>
                      <a:srgbClr val="FF0000"/>
                    </a:solidFill>
                  </a:rPr>
                  <a:t>响应</a:t>
                </a:r>
                <a:r>
                  <a:rPr lang="zh-CN" altLang="zh-CN" sz="2400" dirty="0">
                    <a:solidFill>
                      <a:srgbClr val="FF0000"/>
                    </a:solidFill>
                  </a:rPr>
                  <a:t>的自相关函数</a:t>
                </a:r>
                <a:r>
                  <a:rPr lang="zh-CN" altLang="zh-CN" sz="2400" dirty="0"/>
                  <a:t>。</a:t>
                </a:r>
              </a:p>
              <a:p>
                <a:pPr>
                  <a:lnSpc>
                    <a:spcPct val="150000"/>
                  </a:lnSpc>
                  <a:buFont typeface="Wingdings" panose="05000000000000000000" pitchFamily="2" charset="2"/>
                  <a:buChar char="l"/>
                </a:pPr>
                <a:r>
                  <a:rPr lang="zh-CN" altLang="zh-CN" sz="2400" dirty="0">
                    <a:solidFill>
                      <a:srgbClr val="FF0000"/>
                    </a:solidFill>
                    <a:highlight>
                      <a:srgbClr val="FFFF00"/>
                    </a:highlight>
                  </a:rPr>
                  <a:t>结论：</a:t>
                </a:r>
                <a:r>
                  <a:rPr lang="en-US" altLang="zh-CN" sz="2400" dirty="0">
                    <a:solidFill>
                      <a:srgbClr val="FF0000"/>
                    </a:solidFill>
                    <a:highlight>
                      <a:srgbClr val="FFFF00"/>
                    </a:highlight>
                  </a:rPr>
                  <a:t>1</a:t>
                </a:r>
                <a:r>
                  <a:rPr lang="zh-CN" altLang="en-US" sz="2400" dirty="0">
                    <a:solidFill>
                      <a:srgbClr val="FF0000"/>
                    </a:solidFill>
                    <a:highlight>
                      <a:srgbClr val="FFFF00"/>
                    </a:highlight>
                  </a:rPr>
                  <a:t>）输出信号的自相关函数为输入信号的自相关函数与系统单位冲激响应的自相关函数卷积。</a:t>
                </a:r>
                <a:r>
                  <a:rPr lang="en-US" altLang="zh-CN" sz="2400" dirty="0">
                    <a:solidFill>
                      <a:srgbClr val="FF0000"/>
                    </a:solidFill>
                    <a:highlight>
                      <a:srgbClr val="FFFF00"/>
                    </a:highlight>
                  </a:rPr>
                  <a:t>2</a:t>
                </a:r>
                <a:r>
                  <a:rPr lang="zh-CN" altLang="en-US" sz="2400" dirty="0">
                    <a:solidFill>
                      <a:srgbClr val="FF0000"/>
                    </a:solidFill>
                    <a:highlight>
                      <a:srgbClr val="FFFF00"/>
                    </a:highlight>
                  </a:rPr>
                  <a:t>）</a:t>
                </a:r>
                <a:r>
                  <a:rPr lang="zh-CN" altLang="zh-CN" sz="2400" dirty="0">
                    <a:solidFill>
                      <a:srgbClr val="FF0000"/>
                    </a:solidFill>
                    <a:highlight>
                      <a:srgbClr val="FFFF00"/>
                    </a:highlight>
                  </a:rPr>
                  <a:t>若输入信号为实平稳过程，则输出也为实平稳过程</a:t>
                </a:r>
                <a:r>
                  <a:rPr lang="zh-CN" altLang="zh-CN" sz="2400" dirty="0">
                    <a:highlight>
                      <a:srgbClr val="FFFF00"/>
                    </a:highlight>
                  </a:rPr>
                  <a:t>。</a:t>
                </a:r>
              </a:p>
              <a:p>
                <a:pPr>
                  <a:lnSpc>
                    <a:spcPct val="150000"/>
                  </a:lnSpc>
                  <a:buFont typeface="Wingdings" panose="05000000000000000000" pitchFamily="2" charset="2"/>
                  <a:buChar char="p"/>
                </a:pPr>
                <a:r>
                  <a:rPr lang="zh-CN" altLang="zh-CN" sz="2400" dirty="0"/>
                  <a:t>离散时</a:t>
                </a:r>
                <a:r>
                  <a:rPr lang="zh-CN" altLang="en-US" sz="2400" dirty="0"/>
                  <a:t>，</a:t>
                </a:r>
                <a:r>
                  <a:rPr lang="zh-CN" altLang="zh-CN" sz="2400" dirty="0"/>
                  <a:t>有</a:t>
                </a:r>
                <a:r>
                  <a:rPr lang="zh-CN" altLang="zh-CN" sz="2400" dirty="0">
                    <a:solidFill>
                      <a:schemeClr val="accent2"/>
                    </a:solidFill>
                  </a:rPr>
                  <a:t> </a:t>
                </a:r>
                <a14:m>
                  <m:oMath xmlns:m="http://schemas.openxmlformats.org/officeDocument/2006/math">
                    <m:sSub>
                      <m:sSubPr>
                        <m:ctrlPr>
                          <a:rPr lang="zh-CN" altLang="zh-CN" sz="2400" i="1" smtClean="0">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𝒀</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𝒏</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𝒏</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𝒎</m:t>
                    </m:r>
                    <m:r>
                      <a:rPr lang="en-US" altLang="zh-CN" sz="2400" i="1">
                        <a:solidFill>
                          <a:schemeClr val="tx2"/>
                        </a:solidFill>
                        <a:latin typeface="Cambria Math" panose="02040503050406030204" pitchFamily="18" charset="0"/>
                      </a:rPr>
                      <m:t>)=</m:t>
                    </m:r>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𝑿</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𝒎</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𝒎</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𝒎</m:t>
                    </m:r>
                    <m:r>
                      <a:rPr lang="en-US" altLang="zh-CN" sz="2400" i="1">
                        <a:solidFill>
                          <a:schemeClr val="tx2"/>
                        </a:solidFill>
                        <a:latin typeface="Cambria Math" panose="02040503050406030204" pitchFamily="18" charset="0"/>
                      </a:rPr>
                      <m:t>)=</m:t>
                    </m:r>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𝒀</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𝒎</m:t>
                    </m:r>
                    <m:r>
                      <a:rPr lang="en-US" altLang="zh-CN" sz="2400" i="1">
                        <a:solidFill>
                          <a:schemeClr val="tx2"/>
                        </a:solidFill>
                        <a:latin typeface="Cambria Math" panose="02040503050406030204" pitchFamily="18" charset="0"/>
                      </a:rPr>
                      <m:t>)</m:t>
                    </m:r>
                  </m:oMath>
                </a14:m>
                <a:endParaRPr lang="zh-CN" altLang="zh-CN" sz="2400" dirty="0">
                  <a:solidFill>
                    <a:schemeClr val="tx2"/>
                  </a:solidFill>
                </a:endParaRPr>
              </a:p>
              <a:p>
                <a:pPr marL="0" indent="0">
                  <a:buNone/>
                </a:pPr>
                <a:endParaRPr lang="zh-CN" altLang="en-US" dirty="0"/>
              </a:p>
            </p:txBody>
          </p:sp>
        </mc:Choice>
        <mc:Fallback>
          <p:sp>
            <p:nvSpPr>
              <p:cNvPr id="2" name="内容占位符 1">
                <a:extLst>
                  <a:ext uri="{FF2B5EF4-FFF2-40B4-BE49-F238E27FC236}">
                    <a16:creationId xmlns:a16="http://schemas.microsoft.com/office/drawing/2014/main" id="{76A88DCC-ABD8-4DEC-806D-A4B9EF74C1D0}"/>
                  </a:ext>
                </a:extLst>
              </p:cNvPr>
              <p:cNvSpPr>
                <a:spLocks noGrp="1" noRot="1" noChangeAspect="1" noMove="1" noResize="1" noEditPoints="1" noAdjustHandles="1" noChangeArrowheads="1" noChangeShapeType="1" noTextEdit="1"/>
              </p:cNvSpPr>
              <p:nvPr>
                <p:ph idx="1"/>
              </p:nvPr>
            </p:nvSpPr>
            <p:spPr>
              <a:xfrm>
                <a:off x="333756" y="116632"/>
                <a:ext cx="8476488" cy="4510854"/>
              </a:xfrm>
              <a:blipFill>
                <a:blip r:embed="rId3"/>
                <a:stretch>
                  <a:fillRect l="-1151" b="-393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5795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32F4FC3E-7411-4360-A620-9A1C11CC3B17}"/>
                  </a:ext>
                </a:extLst>
              </p:cNvPr>
              <p:cNvSpPr>
                <a:spLocks noGrp="1"/>
              </p:cNvSpPr>
              <p:nvPr>
                <p:ph idx="1"/>
              </p:nvPr>
            </p:nvSpPr>
            <p:spPr>
              <a:xfrm>
                <a:off x="684213" y="1126998"/>
                <a:ext cx="8238114" cy="4270248"/>
              </a:xfrm>
            </p:spPr>
            <p:txBody>
              <a:bodyPr/>
              <a:lstStyle/>
              <a:p>
                <a:pPr marL="0" indent="0">
                  <a:lnSpc>
                    <a:spcPct val="150000"/>
                  </a:lnSpc>
                  <a:buNone/>
                </a:pPr>
                <a:r>
                  <a:rPr lang="x-none" altLang="zh-CN" sz="2400" dirty="0">
                    <a:solidFill>
                      <a:srgbClr val="FF0000"/>
                    </a:solidFill>
                  </a:rPr>
                  <a:t>3</a:t>
                </a:r>
                <a:r>
                  <a:rPr lang="zh-CN" altLang="zh-CN" sz="2400" dirty="0">
                    <a:solidFill>
                      <a:srgbClr val="FF0000"/>
                    </a:solidFill>
                  </a:rPr>
                  <a:t>．输出信号的</a:t>
                </a:r>
                <a:r>
                  <a:rPr lang="x-none" altLang="zh-CN" sz="2400" dirty="0">
                    <a:solidFill>
                      <a:srgbClr val="FF0000"/>
                    </a:solidFill>
                  </a:rPr>
                  <a:t>PSD</a:t>
                </a:r>
                <a:endParaRPr lang="en-US" altLang="zh-CN" sz="2400" dirty="0">
                  <a:solidFill>
                    <a:srgbClr val="FF0000"/>
                  </a:solidFill>
                </a:endParaRPr>
              </a:p>
              <a:p>
                <a:pPr marL="0" indent="0">
                  <a:lnSpc>
                    <a:spcPct val="150000"/>
                  </a:lnSpc>
                  <a:buNone/>
                </a:pPr>
                <a:r>
                  <a:rPr lang="zh-CN" altLang="en-US" sz="2400" dirty="0">
                    <a:solidFill>
                      <a:schemeClr val="tx2"/>
                    </a:solidFill>
                  </a:rPr>
                  <a:t>由</a:t>
                </a:r>
                <a14:m>
                  <m:oMath xmlns:m="http://schemas.openxmlformats.org/officeDocument/2006/math">
                    <m:sSub>
                      <m:sSubPr>
                        <m:ctrlPr>
                          <a:rPr lang="zh-CN" altLang="zh-CN" sz="2400" i="1" smtClean="0">
                            <a:solidFill>
                              <a:schemeClr val="tx2"/>
                            </a:solidFill>
                            <a:latin typeface="Cambria Math" panose="02040503050406030204" pitchFamily="18" charset="0"/>
                          </a:rPr>
                        </m:ctrlPr>
                      </m:sSubPr>
                      <m:e>
                        <m:sSub>
                          <m:sSubPr>
                            <m:ctrlPr>
                              <a:rPr lang="zh-CN" altLang="zh-CN" sz="2400" i="1">
                                <a:solidFill>
                                  <a:schemeClr val="tx2"/>
                                </a:solidFill>
                                <a:latin typeface="Cambria Math" panose="02040503050406030204" pitchFamily="18" charset="0"/>
                              </a:rPr>
                            </m:ctrlPr>
                          </m:sSubPr>
                          <m:e>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𝒀</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m:rPr>
                            <m:nor/>
                          </m:rPr>
                          <a:rPr lang="zh-CN" altLang="zh-CN" sz="2400" dirty="0">
                            <a:solidFill>
                              <a:schemeClr val="tx2"/>
                            </a:solidFill>
                          </a:rPr>
                          <m:t> </m:t>
                        </m:r>
                        <m:r>
                          <m:rPr>
                            <m:nor/>
                          </m:rPr>
                          <a:rPr lang="en-US" altLang="zh-CN" sz="2400" dirty="0">
                            <a:solidFill>
                              <a:schemeClr val="tx2"/>
                            </a:solidFill>
                          </a:rPr>
                          <m:t>=</m:t>
                        </m:r>
                        <m:r>
                          <a:rPr lang="en-US" altLang="zh-CN" sz="2400" i="1">
                            <a:solidFill>
                              <a:schemeClr val="tx2"/>
                            </a:solidFill>
                            <a:latin typeface="Cambria Math" panose="02040503050406030204" pitchFamily="18" charset="0"/>
                          </a:rPr>
                          <m:t>𝑹</m:t>
                        </m:r>
                      </m:e>
                      <m:sub>
                        <m:r>
                          <a:rPr lang="en-US" altLang="zh-CN" sz="2400" i="1">
                            <a:solidFill>
                              <a:schemeClr val="tx2"/>
                            </a:solidFill>
                            <a:latin typeface="Cambria Math" panose="02040503050406030204" pitchFamily="18" charset="0"/>
                          </a:rPr>
                          <m:t>𝑿</m:t>
                        </m:r>
                      </m:sub>
                    </m:sSub>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𝒉</m:t>
                    </m:r>
                    <m:r>
                      <a:rPr lang="en-US" altLang="zh-CN" sz="2400" i="1">
                        <a:solidFill>
                          <a:schemeClr val="tx2"/>
                        </a:solidFill>
                        <a:latin typeface="Cambria Math" panose="02040503050406030204" pitchFamily="18" charset="0"/>
                      </a:rPr>
                      <m:t>(−</m:t>
                    </m:r>
                    <m:r>
                      <a:rPr lang="en-US" altLang="zh-CN" sz="2400" i="1">
                        <a:solidFill>
                          <a:schemeClr val="tx2"/>
                        </a:solidFill>
                        <a:latin typeface="Cambria Math" panose="02040503050406030204" pitchFamily="18" charset="0"/>
                      </a:rPr>
                      <m:t>𝝉</m:t>
                    </m:r>
                    <m:r>
                      <a:rPr lang="en-US" altLang="zh-CN" sz="2400" i="1">
                        <a:solidFill>
                          <a:schemeClr val="tx2"/>
                        </a:solidFill>
                        <a:latin typeface="Cambria Math" panose="02040503050406030204" pitchFamily="18" charset="0"/>
                      </a:rPr>
                      <m:t>)</m:t>
                    </m:r>
                  </m:oMath>
                </a14:m>
                <a:endParaRPr lang="en-US" altLang="zh-CN" sz="2400" dirty="0">
                  <a:solidFill>
                    <a:schemeClr val="tx2"/>
                  </a:solidFill>
                </a:endParaRPr>
              </a:p>
              <a:p>
                <a:pPr marL="0" indent="0">
                  <a:lnSpc>
                    <a:spcPct val="150000"/>
                  </a:lnSpc>
                  <a:buNone/>
                </a:pPr>
                <a14:m>
                  <m:oMath xmlns:m="http://schemas.openxmlformats.org/officeDocument/2006/math">
                    <m:r>
                      <a:rPr lang="zh-CN" altLang="en-US" sz="2400" i="1" smtClean="0">
                        <a:solidFill>
                          <a:srgbClr val="FF0000"/>
                        </a:solidFill>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𝟐</m:t>
                        </m:r>
                      </m:sup>
                    </m:sSup>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oMath>
                </a14:m>
                <a:r>
                  <a:rPr lang="en-US" altLang="zh-CN" sz="2400" dirty="0"/>
                  <a:t>  </a:t>
                </a:r>
              </a:p>
              <a:p>
                <a:pPr marL="0" indent="0">
                  <a:lnSpc>
                    <a:spcPct val="150000"/>
                  </a:lnSpc>
                  <a:buNone/>
                </a:pPr>
                <a:r>
                  <a:rPr lang="zh-CN" altLang="en-US" sz="2400" dirty="0"/>
                  <a:t>其中：</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𝟐</m:t>
                        </m:r>
                      </m:sup>
                    </m:sSup>
                  </m:oMath>
                </a14:m>
                <a:r>
                  <a:rPr lang="zh-CN" altLang="zh-CN" sz="2400" dirty="0"/>
                  <a:t>为系统的</a:t>
                </a:r>
                <a:r>
                  <a:rPr lang="zh-CN" altLang="zh-CN" sz="2400" dirty="0">
                    <a:solidFill>
                      <a:srgbClr val="FF0000"/>
                    </a:solidFill>
                  </a:rPr>
                  <a:t>功率传输函数</a:t>
                </a:r>
                <a:r>
                  <a:rPr lang="zh-CN" altLang="en-US" sz="2400" dirty="0"/>
                  <a:t>。</a:t>
                </a:r>
                <a:endParaRPr lang="zh-CN" altLang="zh-CN" sz="2400" dirty="0"/>
              </a:p>
              <a:p>
                <a:pPr>
                  <a:lnSpc>
                    <a:spcPct val="150000"/>
                  </a:lnSpc>
                  <a:buFont typeface="Wingdings" panose="05000000000000000000" pitchFamily="2" charset="2"/>
                  <a:buChar char="p"/>
                </a:pPr>
                <a:r>
                  <a:rPr lang="zh-CN" altLang="zh-CN" sz="2400" dirty="0"/>
                  <a:t>离散系统时</a:t>
                </a:r>
                <a:endParaRPr lang="en-US" altLang="zh-CN" sz="2400" dirty="0"/>
              </a:p>
              <a:p>
                <a:pPr marL="0" indent="0" algn="ctr">
                  <a:lnSpc>
                    <a:spcPct val="150000"/>
                  </a:lnSpc>
                  <a:buNone/>
                </a:pPr>
                <a:r>
                  <a:rPr lang="en-US"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𝒆</m:t>
                        </m:r>
                      </m:e>
                      <m:sup>
                        <m:r>
                          <a:rPr lang="en-US" altLang="zh-CN" sz="2400" i="1">
                            <a:latin typeface="Cambria Math" panose="02040503050406030204" pitchFamily="18" charset="0"/>
                          </a:rPr>
                          <m:t>𝒋</m:t>
                        </m:r>
                        <m:r>
                          <a:rPr lang="en-US" altLang="zh-CN" sz="2400" i="1">
                            <a:latin typeface="Cambria Math" panose="02040503050406030204" pitchFamily="18" charset="0"/>
                          </a:rPr>
                          <m:t>𝝎</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𝟐</m:t>
                        </m:r>
                      </m:sup>
                    </m:sSup>
                  </m:oMath>
                </a14:m>
                <a:endParaRPr lang="zh-CN" altLang="zh-CN" sz="2400"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32F4FC3E-7411-4360-A620-9A1C11CC3B17}"/>
                  </a:ext>
                </a:extLst>
              </p:cNvPr>
              <p:cNvSpPr>
                <a:spLocks noGrp="1" noRot="1" noChangeAspect="1" noMove="1" noResize="1" noEditPoints="1" noAdjustHandles="1" noChangeArrowheads="1" noChangeShapeType="1" noTextEdit="1"/>
              </p:cNvSpPr>
              <p:nvPr>
                <p:ph idx="1"/>
              </p:nvPr>
            </p:nvSpPr>
            <p:spPr>
              <a:xfrm>
                <a:off x="684213" y="1126998"/>
                <a:ext cx="8238114" cy="4270248"/>
              </a:xfrm>
              <a:blipFill>
                <a:blip r:embed="rId2"/>
                <a:stretch>
                  <a:fillRect l="-11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bwMode="auto">
              <a:xfrm>
                <a:off x="6426329" y="764704"/>
                <a:ext cx="2008910" cy="1198418"/>
              </a:xfrm>
              <a:prstGeom prst="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fontAlgn="base">
                  <a:spcBef>
                    <a:spcPct val="0"/>
                  </a:spcBef>
                  <a:spcAft>
                    <a:spcPct val="0"/>
                  </a:spcAft>
                </a:pPr>
                <a14:m>
                  <m:oMath xmlns:m="http://schemas.openxmlformats.org/officeDocument/2006/math">
                    <m:r>
                      <a:rPr lang="en-US" altLang="zh-CN" i="1">
                        <a:latin typeface="Cambria Math" panose="02040503050406030204" pitchFamily="18" charset="0"/>
                      </a:rPr>
                      <m:t>h</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zh-CN" altLang="en-US" i="1">
                        <a:latin typeface="Cambria Math" panose="02040503050406030204" pitchFamily="18" charset="0"/>
                      </a:rPr>
                      <m:t>为</m:t>
                    </m:r>
                  </m:oMath>
                </a14:m>
                <a:r>
                  <a:rPr lang="zh-CN" altLang="en-US" dirty="0">
                    <a:latin typeface="Cambria Math" panose="02040503050406030204" pitchFamily="18" charset="0"/>
                  </a:rPr>
                  <a:t>实数</a:t>
                </a:r>
                <a:endParaRPr lang="en-US" altLang="zh-CN" dirty="0">
                  <a:latin typeface="Cambria Math" panose="02040503050406030204" pitchFamily="18" charset="0"/>
                </a:endParaRPr>
              </a:p>
              <a:p>
                <a:pPr fontAlgn="base">
                  <a:spcBef>
                    <a:spcPct val="0"/>
                  </a:spcBef>
                  <a:spcAft>
                    <a:spcPct val="0"/>
                  </a:spcAft>
                </a:pPr>
                <a:endParaRPr lang="en-US" altLang="zh-CN" i="1" dirty="0">
                  <a:latin typeface="Cambria Math" panose="02040503050406030204" pitchFamily="18" charset="0"/>
                </a:endParaRPr>
              </a:p>
              <a:p>
                <a:pPr fontAlgn="base">
                  <a:spcBef>
                    <a:spcPct val="0"/>
                  </a:spcBef>
                  <a:spcAft>
                    <a:spcPct val="0"/>
                  </a:spcAft>
                </a:pPr>
                <a14:m>
                  <m:oMathPara xmlns:m="http://schemas.openxmlformats.org/officeDocument/2006/math">
                    <m:oMathParaPr>
                      <m:jc m:val="centerGroup"/>
                    </m:oMathParaPr>
                    <m:oMath xmlns:m="http://schemas.openxmlformats.org/officeDocument/2006/math">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𝑯</m:t>
                          </m:r>
                        </m:e>
                        <m:sup>
                          <m:r>
                            <a:rPr lang="en-US" altLang="zh-CN" b="1" i="1">
                              <a:latin typeface="Cambria Math" panose="02040503050406030204" pitchFamily="18" charset="0"/>
                            </a:rPr>
                            <m:t>∗</m:t>
                          </m:r>
                        </m:sup>
                      </m:sSup>
                      <m:d>
                        <m:dPr>
                          <m:ctrlPr>
                            <a:rPr lang="en-US" altLang="zh-CN" b="1" i="1">
                              <a:latin typeface="Cambria Math" panose="02040503050406030204" pitchFamily="18" charset="0"/>
                            </a:rPr>
                          </m:ctrlPr>
                        </m:dPr>
                        <m:e>
                          <m:r>
                            <a:rPr lang="en-US" altLang="zh-CN" b="1" i="1">
                              <a:latin typeface="Cambria Math" panose="02040503050406030204" pitchFamily="18" charset="0"/>
                            </a:rPr>
                            <m:t>𝒋</m:t>
                          </m:r>
                          <m:r>
                            <a:rPr lang="en-US" altLang="zh-CN" b="1" i="1">
                              <a:latin typeface="Cambria Math" panose="02040503050406030204" pitchFamily="18" charset="0"/>
                            </a:rPr>
                            <m:t>𝝎</m:t>
                          </m:r>
                        </m:e>
                      </m:d>
                      <m:r>
                        <a:rPr lang="en-US" altLang="zh-CN" i="1">
                          <a:latin typeface="Cambria Math" panose="02040503050406030204" pitchFamily="18" charset="0"/>
                        </a:rPr>
                        <m:t>=</m:t>
                      </m:r>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b="1" i="1">
                          <a:latin typeface="Cambria Math" panose="02040503050406030204" pitchFamily="18" charset="0"/>
                        </a:rPr>
                        <m:t>𝒋</m:t>
                      </m:r>
                      <m:r>
                        <a:rPr lang="en-US" altLang="zh-CN" i="1">
                          <a:latin typeface="Cambria Math" panose="02040503050406030204" pitchFamily="18" charset="0"/>
                        </a:rPr>
                        <m:t>𝝎</m:t>
                      </m:r>
                      <m:r>
                        <a:rPr lang="en-US" altLang="zh-CN" i="1">
                          <a:latin typeface="Cambria Math" panose="02040503050406030204" pitchFamily="18" charset="0"/>
                        </a:rPr>
                        <m:t>)</m:t>
                      </m:r>
                    </m:oMath>
                  </m:oMathPara>
                </a14:m>
                <a:endParaRPr lang="zh-CN" altLang="en-US" dirty="0">
                  <a:latin typeface="Arial" panose="020B0604020202020204" pitchFamily="34" charset="0"/>
                  <a:ea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bwMode="auto">
              <a:xfrm>
                <a:off x="6426329" y="764704"/>
                <a:ext cx="2008910" cy="1198418"/>
              </a:xfrm>
              <a:prstGeom prst="rect">
                <a:avLst/>
              </a:prstGeom>
              <a:blipFill>
                <a:blip r:embed="rId3"/>
                <a:stretch>
                  <a:fillRect l="-602" t="-3015" r="-1205"/>
                </a:stretch>
              </a:blip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08043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31456E23-E45B-44F9-A43C-B97E97D270C0}"/>
                  </a:ext>
                </a:extLst>
              </p:cNvPr>
              <p:cNvSpPr>
                <a:spLocks noGrp="1"/>
              </p:cNvSpPr>
              <p:nvPr>
                <p:ph idx="1"/>
              </p:nvPr>
            </p:nvSpPr>
            <p:spPr/>
            <p:txBody>
              <a:bodyPr/>
              <a:lstStyle/>
              <a:p>
                <a:pPr marL="0" indent="0">
                  <a:spcBef>
                    <a:spcPts val="900"/>
                  </a:spcBef>
                  <a:spcAft>
                    <a:spcPts val="450"/>
                  </a:spcAft>
                  <a:buNone/>
                </a:pPr>
                <a:r>
                  <a:rPr lang="en-US" altLang="zh-CN" dirty="0">
                    <a:solidFill>
                      <a:srgbClr val="FF0000"/>
                    </a:solidFill>
                  </a:rPr>
                  <a:t>5.1.3 </a:t>
                </a:r>
                <a:r>
                  <a:rPr lang="zh-CN" altLang="zh-CN" dirty="0">
                    <a:solidFill>
                      <a:srgbClr val="FF0000"/>
                    </a:solidFill>
                  </a:rPr>
                  <a:t>输入信号与输出信号的互相关函数和互功率谱密度</a:t>
                </a:r>
              </a:p>
              <a:p>
                <a:pPr marL="0" indent="0">
                  <a:spcBef>
                    <a:spcPts val="900"/>
                  </a:spcBef>
                  <a:spcAft>
                    <a:spcPts val="450"/>
                  </a:spcAft>
                  <a:buNone/>
                </a:pPr>
                <a:r>
                  <a:rPr lang="x-none" altLang="zh-CN" dirty="0">
                    <a:solidFill>
                      <a:schemeClr val="accent2"/>
                    </a:solidFill>
                  </a:rPr>
                  <a:t>1. </a:t>
                </a:r>
                <a:r>
                  <a:rPr lang="zh-CN" altLang="zh-CN" dirty="0">
                    <a:solidFill>
                      <a:schemeClr val="accent2"/>
                    </a:solidFill>
                  </a:rPr>
                  <a:t>互相关函数</a:t>
                </a: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i="1">
                          <a:latin typeface="Cambria Math" panose="02040503050406030204" pitchFamily="18" charset="0"/>
                        </a:rPr>
                        <m:t>𝑿</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r>
                        <a:rPr lang="en-US" altLang="zh-CN" i="1">
                          <a:latin typeface="Cambria Math" panose="02040503050406030204" pitchFamily="18" charset="0"/>
                        </a:rPr>
                        <m:t>𝒀</m:t>
                      </m:r>
                      <m:d>
                        <m:dPr>
                          <m:ctrlPr>
                            <a:rPr lang="en-US" altLang="zh-CN" i="1">
                              <a:latin typeface="Cambria Math" panose="02040503050406030204" pitchFamily="18" charset="0"/>
                            </a:rPr>
                          </m:ctrlPr>
                        </m:dPr>
                        <m:e>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e>
                      </m:d>
                      <m:r>
                        <a:rPr lang="en-US" altLang="zh-CN" b="1" i="1" smtClean="0">
                          <a:latin typeface="Cambria Math" panose="02040503050406030204" pitchFamily="18" charset="0"/>
                        </a:rPr>
                        <m:t>]</m:t>
                      </m:r>
                    </m:oMath>
                    <m:oMath xmlns:m="http://schemas.openxmlformats.org/officeDocument/2006/math">
                      <m:r>
                        <m:rPr>
                          <m:nor/>
                        </m:rPr>
                        <a:rPr lang="en-US" altLang="zh-CN"/>
                        <m:t>                  </m:t>
                      </m:r>
                      <m:r>
                        <a:rPr lang="en-US" altLang="zh-CN">
                          <a:latin typeface="Cambria Math" panose="02040503050406030204" pitchFamily="18" charset="0"/>
                        </a:rPr>
                        <m:t>=</m:t>
                      </m:r>
                      <m:r>
                        <a:rPr lang="en-US" altLang="zh-CN" i="1">
                          <a:latin typeface="Cambria Math" panose="02040503050406030204" pitchFamily="18" charset="0"/>
                        </a:rPr>
                        <m:t>𝑬</m:t>
                      </m:r>
                      <m:r>
                        <a:rPr lang="en-US" altLang="zh-CN">
                          <a:latin typeface="Cambria Math" panose="02040503050406030204" pitchFamily="18" charset="0"/>
                        </a:rPr>
                        <m:t>[</m:t>
                      </m:r>
                      <m:r>
                        <a:rPr lang="en-US" altLang="zh-CN" i="1">
                          <a:latin typeface="Cambria Math" panose="02040503050406030204" pitchFamily="18" charset="0"/>
                        </a:rPr>
                        <m:t>𝑿</m:t>
                      </m:r>
                      <m:r>
                        <a:rPr lang="en-US" altLang="zh-CN">
                          <a:latin typeface="Cambria Math" panose="02040503050406030204" pitchFamily="18" charset="0"/>
                        </a:rPr>
                        <m:t>(</m:t>
                      </m:r>
                      <m:r>
                        <a:rPr lang="en-US" altLang="zh-CN" i="1">
                          <a:latin typeface="Cambria Math" panose="02040503050406030204" pitchFamily="18" charset="0"/>
                        </a:rPr>
                        <m:t>𝒕</m:t>
                      </m:r>
                      <m:r>
                        <a:rPr lang="en-US" altLang="zh-CN">
                          <a:latin typeface="Cambria Math" panose="02040503050406030204" pitchFamily="18" charset="0"/>
                        </a:rPr>
                        <m:t>)</m:t>
                      </m:r>
                      <m:r>
                        <a:rPr lang="en-US" altLang="zh-CN" i="1" smtClean="0">
                          <a:latin typeface="Cambria Math" panose="02040503050406030204" pitchFamily="18" charset="0"/>
                        </a:rPr>
                        <m:t> </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𝝀</m:t>
                          </m:r>
                        </m:e>
                      </m:nary>
                      <m:r>
                        <a:rPr lang="en-US" altLang="zh-CN">
                          <a:latin typeface="Cambria Math" panose="02040503050406030204" pitchFamily="18" charset="0"/>
                        </a:rPr>
                        <m:t>]</m:t>
                      </m:r>
                    </m:oMath>
                    <m:oMath xmlns:m="http://schemas.openxmlformats.org/officeDocument/2006/math">
                      <m:r>
                        <m:rPr>
                          <m:nor/>
                        </m:rPr>
                        <a:rPr lang="en-US" altLang="zh-CN"/>
                        <m:t>                  </m:t>
                      </m:r>
                      <m:r>
                        <a:rPr lang="en-US" altLang="zh-CN">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e>
                      </m:nary>
                    </m:oMath>
                  </m:oMathPara>
                </a14:m>
                <a:endParaRPr lang="zh-CN" altLang="zh-CN" dirty="0"/>
              </a:p>
              <a:p>
                <a:pPr marL="0" indent="0">
                  <a:spcBef>
                    <a:spcPts val="900"/>
                  </a:spcBef>
                  <a:spcAft>
                    <a:spcPts val="450"/>
                  </a:spcAft>
                  <a:buNone/>
                </a:pPr>
                <a:r>
                  <a:rPr lang="zh-CN" altLang="zh-CN" dirty="0">
                    <a:solidFill>
                      <a:srgbClr val="FF0000"/>
                    </a:solidFill>
                    <a:highlight>
                      <a:srgbClr val="FFFF00"/>
                    </a:highlight>
                  </a:rPr>
                  <a:t>结论：</a:t>
                </a:r>
                <a:r>
                  <a:rPr lang="en-US" altLang="zh-CN" i="1" dirty="0">
                    <a:solidFill>
                      <a:srgbClr val="FF0000"/>
                    </a:solidFill>
                    <a:highlight>
                      <a:srgbClr val="FFFF00"/>
                    </a:highlight>
                  </a:rPr>
                  <a:t>X</a:t>
                </a:r>
                <a:r>
                  <a:rPr lang="en-US" altLang="zh-CN" dirty="0">
                    <a:solidFill>
                      <a:srgbClr val="FF0000"/>
                    </a:solidFill>
                    <a:highlight>
                      <a:srgbClr val="FFFF00"/>
                    </a:highlight>
                  </a:rPr>
                  <a:t>(</a:t>
                </a:r>
                <a:r>
                  <a:rPr lang="en-US" altLang="zh-CN" i="1" dirty="0">
                    <a:solidFill>
                      <a:srgbClr val="FF0000"/>
                    </a:solidFill>
                    <a:highlight>
                      <a:srgbClr val="FFFF00"/>
                    </a:highlight>
                  </a:rPr>
                  <a:t>t</a:t>
                </a:r>
                <a:r>
                  <a:rPr lang="en-US" altLang="zh-CN" dirty="0">
                    <a:solidFill>
                      <a:srgbClr val="FF0000"/>
                    </a:solidFill>
                    <a:highlight>
                      <a:srgbClr val="FFFF00"/>
                    </a:highlight>
                  </a:rPr>
                  <a:t>) </a:t>
                </a:r>
                <a:r>
                  <a:rPr lang="zh-CN" altLang="zh-CN" dirty="0">
                    <a:solidFill>
                      <a:srgbClr val="FF0000"/>
                    </a:solidFill>
                    <a:highlight>
                      <a:srgbClr val="FFFF00"/>
                    </a:highlight>
                  </a:rPr>
                  <a:t>平稳，输入输出联合平稳</a:t>
                </a:r>
                <a:r>
                  <a:rPr lang="zh-CN" altLang="en-US" dirty="0">
                    <a:solidFill>
                      <a:srgbClr val="FF0000"/>
                    </a:solidFill>
                    <a:highlight>
                      <a:srgbClr val="FFFF00"/>
                    </a:highlight>
                  </a:rPr>
                  <a:t>。</a:t>
                </a:r>
                <a:endParaRPr lang="zh-CN" altLang="zh-CN" dirty="0">
                  <a:solidFill>
                    <a:srgbClr val="FF0000"/>
                  </a:solidFill>
                  <a:highlight>
                    <a:srgbClr val="FFFF00"/>
                  </a:highlight>
                </a:endParaRPr>
              </a:p>
              <a:p>
                <a:pPr>
                  <a:spcBef>
                    <a:spcPts val="900"/>
                  </a:spcBef>
                  <a:spcAft>
                    <a:spcPts val="450"/>
                  </a:spcAft>
                  <a:buFont typeface="Wingdings" panose="05000000000000000000" pitchFamily="2" charset="2"/>
                  <a:buChar char="p"/>
                </a:pPr>
                <a:r>
                  <a:rPr lang="zh-CN" altLang="zh-CN" dirty="0"/>
                  <a:t>离散时</a:t>
                </a: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oMath>
                </a14:m>
                <a:endParaRPr lang="zh-CN" altLang="zh-CN" dirty="0"/>
              </a:p>
              <a:p>
                <a:endParaRPr lang="zh-CN" altLang="en-US" dirty="0"/>
              </a:p>
            </p:txBody>
          </p:sp>
        </mc:Choice>
        <mc:Fallback xmlns="">
          <p:sp>
            <p:nvSpPr>
              <p:cNvPr id="2" name="内容占位符 1">
                <a:extLst>
                  <a:ext uri="{FF2B5EF4-FFF2-40B4-BE49-F238E27FC236}">
                    <a16:creationId xmlns:a16="http://schemas.microsoft.com/office/drawing/2014/main" id="{31456E23-E45B-44F9-A43C-B97E97D270C0}"/>
                  </a:ext>
                </a:extLst>
              </p:cNvPr>
              <p:cNvSpPr>
                <a:spLocks noGrp="1" noRot="1" noChangeAspect="1" noMove="1" noResize="1" noEditPoints="1" noAdjustHandles="1" noChangeArrowheads="1" noChangeShapeType="1" noTextEdit="1"/>
              </p:cNvSpPr>
              <p:nvPr>
                <p:ph idx="1"/>
              </p:nvPr>
            </p:nvSpPr>
            <p:spPr>
              <a:blipFill>
                <a:blip r:embed="rId2"/>
                <a:stretch>
                  <a:fillRect l="-1235" t="-14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605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77286" y="1050015"/>
                <a:ext cx="8030296" cy="4524709"/>
              </a:xfrm>
            </p:spPr>
            <p:txBody>
              <a:bodyPr/>
              <a:lstStyle/>
              <a:p>
                <a:pPr marL="0" indent="0">
                  <a:spcBef>
                    <a:spcPts val="900"/>
                  </a:spcBef>
                  <a:spcAft>
                    <a:spcPts val="450"/>
                  </a:spcAft>
                  <a:buNone/>
                </a:pPr>
                <a:r>
                  <a:rPr lang="zh-CN" altLang="en-US" dirty="0"/>
                  <a:t>另外</a:t>
                </a:r>
                <a14:m>
                  <m:oMath xmlns:m="http://schemas.openxmlformats.org/officeDocument/2006/math">
                    <m:r>
                      <a:rPr lang="zh-CN" altLang="en-US" i="1">
                        <a:latin typeface="Cambria Math" panose="02040503050406030204" pitchFamily="18" charset="0"/>
                      </a:rPr>
                      <m:t>，</m:t>
                    </m:r>
                  </m:oMath>
                </a14:m>
                <a:endParaRPr lang="en-US" altLang="zh-CN" i="1" dirty="0">
                  <a:latin typeface="Cambria Math" panose="02040503050406030204" pitchFamily="18" charset="0"/>
                </a:endParaRP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r>
                            <a:rPr lang="en-US" altLang="zh-CN" b="1" i="1" smtClean="0">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r>
                        <a:rPr lang="en-US" altLang="zh-CN" i="1">
                          <a:latin typeface="Cambria Math" panose="02040503050406030204" pitchFamily="18" charset="0"/>
                        </a:rPr>
                        <m:t>𝑬</m:t>
                      </m:r>
                      <m:r>
                        <a:rPr lang="en-US" altLang="zh-CN" i="1">
                          <a:latin typeface="Cambria Math" panose="02040503050406030204" pitchFamily="18" charset="0"/>
                        </a:rPr>
                        <m:t>[</m:t>
                      </m:r>
                      <m:r>
                        <a:rPr lang="en-US" altLang="zh-CN" b="1" i="1" smtClean="0">
                          <a:latin typeface="Cambria Math" panose="02040503050406030204" pitchFamily="18" charset="0"/>
                        </a:rPr>
                        <m:t>𝒀</m:t>
                      </m:r>
                      <m:d>
                        <m:dPr>
                          <m:ctrlPr>
                            <a:rPr lang="en-US" altLang="zh-CN" b="1" i="1">
                              <a:latin typeface="Cambria Math" panose="02040503050406030204" pitchFamily="18" charset="0"/>
                            </a:rPr>
                          </m:ctrlPr>
                        </m:dPr>
                        <m:e>
                          <m:r>
                            <a:rPr lang="en-US" altLang="zh-CN" i="1">
                              <a:latin typeface="Cambria Math" panose="02040503050406030204" pitchFamily="18" charset="0"/>
                            </a:rPr>
                            <m:t>𝒕</m:t>
                          </m:r>
                        </m:e>
                      </m:d>
                      <m:r>
                        <a:rPr lang="en-US" altLang="zh-CN" b="1" i="1" smtClean="0">
                          <a:latin typeface="Cambria Math" panose="02040503050406030204" pitchFamily="18" charset="0"/>
                        </a:rPr>
                        <m:t>𝑿</m:t>
                      </m:r>
                      <m:d>
                        <m:dPr>
                          <m:ctrlPr>
                            <a:rPr lang="en-US" altLang="zh-CN" b="1" i="1">
                              <a:latin typeface="Cambria Math" panose="02040503050406030204" pitchFamily="18" charset="0"/>
                            </a:rPr>
                          </m:ctrlPr>
                        </m:dPr>
                        <m:e>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𝝉</m:t>
                          </m:r>
                        </m:e>
                      </m:d>
                      <m:r>
                        <a:rPr lang="en-US" altLang="zh-CN" b="1" i="1" smtClean="0">
                          <a:latin typeface="Cambria Math" panose="02040503050406030204" pitchFamily="18" charset="0"/>
                        </a:rPr>
                        <m:t>]</m:t>
                      </m:r>
                    </m:oMath>
                    <m:oMath xmlns:m="http://schemas.openxmlformats.org/officeDocument/2006/math">
                      <m:r>
                        <m:rPr>
                          <m:nor/>
                        </m:rPr>
                        <a:rPr lang="en-US" altLang="zh-CN"/>
                        <m:t>                  </m:t>
                      </m:r>
                      <m:r>
                        <a:rPr lang="en-US" altLang="zh-CN">
                          <a:latin typeface="Cambria Math" panose="02040503050406030204" pitchFamily="18" charset="0"/>
                        </a:rPr>
                        <m:t>=</m:t>
                      </m:r>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𝝀</m:t>
                              </m:r>
                              <m:r>
                                <a:rPr lang="en-US" altLang="zh-CN" i="1" smtClean="0">
                                  <a:latin typeface="Cambria Math" panose="02040503050406030204" pitchFamily="18" charset="0"/>
                                  <a:ea typeface="Cambria Math" panose="02040503050406030204" pitchFamily="18" charset="0"/>
                                </a:rPr>
                                <m:t>∙</m:t>
                              </m:r>
                              <m:r>
                                <a:rPr lang="en-US" altLang="zh-CN">
                                  <a:latin typeface="Cambria Math" panose="02040503050406030204" pitchFamily="18" charset="0"/>
                                </a:rPr>
                                <m:t>𝐗</m:t>
                              </m:r>
                              <m:r>
                                <a:rPr lang="en-US" altLang="zh-CN">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zh-CN" altLang="en-US" i="1">
                                  <a:latin typeface="Cambria Math" panose="02040503050406030204" pitchFamily="18" charset="0"/>
                                </a:rPr>
                                <m:t>𝝉</m:t>
                              </m:r>
                              <m:r>
                                <a:rPr lang="en-US" altLang="zh-CN">
                                  <a:latin typeface="Cambria Math" panose="02040503050406030204" pitchFamily="18" charset="0"/>
                                </a:rPr>
                                <m:t>)</m:t>
                              </m:r>
                            </m:e>
                          </m:nary>
                        </m:e>
                      </m:d>
                    </m:oMath>
                  </m:oMathPara>
                </a14:m>
                <a:endParaRPr lang="en-US" altLang="zh-CN" b="1" i="1" dirty="0">
                  <a:latin typeface="Cambria Math" panose="02040503050406030204" pitchFamily="18" charset="0"/>
                </a:endParaRPr>
              </a:p>
              <a:p>
                <a:pPr marL="0" indent="0">
                  <a:spcBef>
                    <a:spcPts val="900"/>
                  </a:spcBef>
                  <a:spcAft>
                    <a:spcPts val="450"/>
                  </a:spcAft>
                  <a:buNone/>
                </a:pPr>
                <a14:m>
                  <m:oMathPara xmlns:m="http://schemas.openxmlformats.org/officeDocument/2006/math">
                    <m:oMathParaPr>
                      <m:jc m:val="center"/>
                    </m:oMathParaPr>
                    <m:oMath xmlns:m="http://schemas.openxmlformats.org/officeDocument/2006/math">
                      <m:r>
                        <a:rPr lang="en-US" altLang="zh-CN" b="1" i="1" smtClean="0">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𝒉</m:t>
                          </m:r>
                          <m:d>
                            <m:dPr>
                              <m:ctrlPr>
                                <a:rPr lang="en-US" altLang="zh-CN" i="1">
                                  <a:latin typeface="Cambria Math" panose="02040503050406030204" pitchFamily="18" charset="0"/>
                                </a:rPr>
                              </m:ctrlPr>
                            </m:dPr>
                            <m:e>
                              <m:r>
                                <a:rPr lang="en-US" altLang="zh-CN" i="1">
                                  <a:latin typeface="Cambria Math" panose="02040503050406030204" pitchFamily="18" charset="0"/>
                                </a:rPr>
                                <m:t>𝝀</m:t>
                              </m:r>
                            </m:e>
                          </m:d>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b="1" i="1">
                                  <a:latin typeface="Cambria Math" panose="02040503050406030204" pitchFamily="18" charset="0"/>
                                </a:rPr>
                                <m:t>𝑿</m:t>
                              </m:r>
                              <m:r>
                                <a:rPr lang="en-US" altLang="zh-CN">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zh-CN" altLang="en-US" i="1">
                                  <a:latin typeface="Cambria Math" panose="02040503050406030204" pitchFamily="18" charset="0"/>
                                </a:rPr>
                                <m:t>𝝉</m:t>
                              </m:r>
                              <m:r>
                                <a:rPr lang="en-US" altLang="zh-CN">
                                  <a:latin typeface="Cambria Math" panose="02040503050406030204" pitchFamily="18" charset="0"/>
                                </a:rPr>
                                <m:t>)</m:t>
                              </m:r>
                            </m:e>
                          </m:d>
                          <m:r>
                            <a:rPr lang="en-US" altLang="zh-CN" i="1">
                              <a:latin typeface="Cambria Math" panose="02040503050406030204" pitchFamily="18" charset="0"/>
                            </a:rPr>
                            <m:t>𝒅</m:t>
                          </m:r>
                          <m:r>
                            <a:rPr lang="en-US" altLang="zh-CN" i="1">
                              <a:latin typeface="Cambria Math" panose="02040503050406030204" pitchFamily="18" charset="0"/>
                            </a:rPr>
                            <m:t>𝝀</m:t>
                          </m:r>
                        </m:e>
                      </m:nary>
                    </m:oMath>
                    <m:oMath xmlns:m="http://schemas.openxmlformats.org/officeDocument/2006/math">
                      <m:r>
                        <m:rPr>
                          <m:nor/>
                        </m:rPr>
                        <a:rPr lang="en-US" altLang="zh-CN"/>
                        <m:t>                  </m:t>
                      </m:r>
                      <m:r>
                        <a:rPr lang="en-US" altLang="zh-CN">
                          <a:latin typeface="Cambria Math" panose="02040503050406030204" pitchFamily="18" charset="0"/>
                        </a:rPr>
                        <m:t>=</m:t>
                      </m:r>
                      <m:nary>
                        <m:naryPr>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b="1" i="1" smtClean="0">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𝒅</m:t>
                          </m:r>
                          <m:r>
                            <a:rPr lang="en-US" altLang="zh-CN" i="1">
                              <a:latin typeface="Cambria Math" panose="02040503050406030204" pitchFamily="18" charset="0"/>
                            </a:rPr>
                            <m:t>𝝀</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b="1" i="1" smtClean="0">
                                  <a:latin typeface="Cambria Math" panose="02040503050406030204" pitchFamily="18" charset="0"/>
                                </a:rPr>
                                <m:t>𝒀</m:t>
                              </m:r>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e>
                      </m:nary>
                    </m:oMath>
                  </m:oMathPara>
                </a14:m>
                <a:endParaRPr lang="en-US" altLang="zh-CN" dirty="0"/>
              </a:p>
              <a:p>
                <a:pPr>
                  <a:spcBef>
                    <a:spcPts val="900"/>
                  </a:spcBef>
                  <a:spcAft>
                    <a:spcPts val="450"/>
                  </a:spcAft>
                  <a:buFont typeface="Wingdings" panose="05000000000000000000" pitchFamily="2" charset="2"/>
                  <a:buChar char="p"/>
                </a:pPr>
                <a:r>
                  <a:rPr lang="zh-CN" altLang="zh-CN" dirty="0"/>
                  <a:t>离散时</a:t>
                </a: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r>
                          <a:rPr lang="en-US" altLang="zh-CN" b="1" i="1" smtClean="0">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𝒏</m:t>
                    </m:r>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r>
                          <a:rPr lang="en-US" altLang="zh-CN" b="1" i="1" smtClean="0">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𝒎</m:t>
                    </m:r>
                    <m:r>
                      <a:rPr lang="en-US" altLang="zh-CN" i="1">
                        <a:latin typeface="Cambria Math" panose="02040503050406030204" pitchFamily="18" charset="0"/>
                      </a:rPr>
                      <m:t>)</m:t>
                    </m:r>
                  </m:oMath>
                </a14:m>
                <a:endParaRPr lang="en-US" altLang="zh-CN" dirty="0"/>
              </a:p>
              <a:p>
                <a:pPr marL="0" indent="0">
                  <a:spcBef>
                    <a:spcPts val="900"/>
                  </a:spcBef>
                  <a:spcAft>
                    <a:spcPts val="450"/>
                  </a:spcAft>
                  <a:buNone/>
                </a:pPr>
                <a:r>
                  <a:rPr lang="zh-CN" altLang="en-US" dirty="0">
                    <a:solidFill>
                      <a:srgbClr val="00B050"/>
                    </a:solidFill>
                  </a:rPr>
                  <a:t>注：这里我们假设</a:t>
                </a:r>
                <a14:m>
                  <m:oMath xmlns:m="http://schemas.openxmlformats.org/officeDocument/2006/math">
                    <m:r>
                      <a:rPr lang="zh-CN" altLang="en-US" i="1" smtClean="0">
                        <a:solidFill>
                          <a:srgbClr val="00B050"/>
                        </a:solidFill>
                        <a:latin typeface="Cambria Math" panose="02040503050406030204" pitchFamily="18" charset="0"/>
                      </a:rPr>
                      <m:t>𝝉</m:t>
                    </m:r>
                    <m:r>
                      <a:rPr lang="en-US" altLang="zh-CN" b="1" i="1" smtClean="0">
                        <a:solidFill>
                          <a:srgbClr val="00B050"/>
                        </a:solidFill>
                        <a:latin typeface="Cambria Math" panose="02040503050406030204" pitchFamily="18" charset="0"/>
                      </a:rPr>
                      <m:t>=</m:t>
                    </m:r>
                    <m:sSub>
                      <m:sSubPr>
                        <m:ctrlPr>
                          <a:rPr lang="en-US" altLang="zh-CN" b="1" i="1" smtClean="0">
                            <a:solidFill>
                              <a:srgbClr val="00B050"/>
                            </a:solidFill>
                            <a:latin typeface="Cambria Math" panose="02040503050406030204" pitchFamily="18" charset="0"/>
                          </a:rPr>
                        </m:ctrlPr>
                      </m:sSubPr>
                      <m:e>
                        <m:r>
                          <a:rPr lang="en-US" altLang="zh-CN" b="1" i="1" smtClean="0">
                            <a:solidFill>
                              <a:srgbClr val="00B050"/>
                            </a:solidFill>
                            <a:latin typeface="Cambria Math" panose="02040503050406030204" pitchFamily="18" charset="0"/>
                          </a:rPr>
                          <m:t>𝒕</m:t>
                        </m:r>
                      </m:e>
                      <m:sub>
                        <m:r>
                          <a:rPr lang="en-US" altLang="zh-CN" b="1" i="1" smtClean="0">
                            <a:solidFill>
                              <a:srgbClr val="00B050"/>
                            </a:solidFill>
                            <a:latin typeface="Cambria Math" panose="02040503050406030204" pitchFamily="18" charset="0"/>
                          </a:rPr>
                          <m:t>𝟐</m:t>
                        </m:r>
                      </m:sub>
                    </m:sSub>
                    <m:r>
                      <a:rPr lang="en-US" altLang="zh-CN" b="1" i="1" smtClean="0">
                        <a:solidFill>
                          <a:srgbClr val="00B050"/>
                        </a:solidFill>
                        <a:latin typeface="Cambria Math" panose="02040503050406030204" pitchFamily="18" charset="0"/>
                      </a:rPr>
                      <m:t>−</m:t>
                    </m:r>
                    <m:sSub>
                      <m:sSubPr>
                        <m:ctrlPr>
                          <a:rPr lang="en-US" altLang="zh-CN" b="1" i="1" smtClean="0">
                            <a:solidFill>
                              <a:srgbClr val="00B050"/>
                            </a:solidFill>
                            <a:latin typeface="Cambria Math" panose="02040503050406030204" pitchFamily="18" charset="0"/>
                          </a:rPr>
                        </m:ctrlPr>
                      </m:sSubPr>
                      <m:e>
                        <m:r>
                          <a:rPr lang="en-US" altLang="zh-CN" b="1" i="1" smtClean="0">
                            <a:solidFill>
                              <a:srgbClr val="00B050"/>
                            </a:solidFill>
                            <a:latin typeface="Cambria Math" panose="02040503050406030204" pitchFamily="18" charset="0"/>
                          </a:rPr>
                          <m:t>𝒕</m:t>
                        </m:r>
                      </m:e>
                      <m:sub>
                        <m:r>
                          <a:rPr lang="en-US" altLang="zh-CN" b="1" i="1" smtClean="0">
                            <a:solidFill>
                              <a:srgbClr val="00B050"/>
                            </a:solidFill>
                            <a:latin typeface="Cambria Math" panose="02040503050406030204" pitchFamily="18" charset="0"/>
                          </a:rPr>
                          <m:t>𝟏</m:t>
                        </m:r>
                      </m:sub>
                    </m:sSub>
                  </m:oMath>
                </a14:m>
                <a:r>
                  <a:rPr lang="en-US" altLang="zh-CN" dirty="0">
                    <a:solidFill>
                      <a:srgbClr val="00B050"/>
                    </a:solidFill>
                  </a:rPr>
                  <a:t>, </a:t>
                </a:r>
                <a:r>
                  <a:rPr lang="zh-CN" altLang="en-US" dirty="0">
                    <a:solidFill>
                      <a:srgbClr val="00B050"/>
                    </a:solidFill>
                  </a:rPr>
                  <a:t>书上是假设</a:t>
                </a:r>
                <a14:m>
                  <m:oMath xmlns:m="http://schemas.openxmlformats.org/officeDocument/2006/math">
                    <m:r>
                      <a:rPr lang="zh-CN" altLang="en-US" i="1">
                        <a:solidFill>
                          <a:srgbClr val="00B050"/>
                        </a:solidFill>
                        <a:latin typeface="Cambria Math" panose="02040503050406030204" pitchFamily="18" charset="0"/>
                      </a:rPr>
                      <m:t>𝝉</m:t>
                    </m:r>
                    <m:r>
                      <a:rPr lang="en-US" altLang="zh-CN" i="1">
                        <a:solidFill>
                          <a:srgbClr val="00B050"/>
                        </a:solidFill>
                        <a:latin typeface="Cambria Math" panose="02040503050406030204" pitchFamily="18" charset="0"/>
                      </a:rPr>
                      <m:t>=</m:t>
                    </m:r>
                    <m:sSub>
                      <m:sSubPr>
                        <m:ctrlPr>
                          <a:rPr lang="en-US" altLang="zh-CN" i="1">
                            <a:solidFill>
                              <a:srgbClr val="00B050"/>
                            </a:solidFill>
                            <a:latin typeface="Cambria Math" panose="02040503050406030204" pitchFamily="18" charset="0"/>
                          </a:rPr>
                        </m:ctrlPr>
                      </m:sSubPr>
                      <m:e>
                        <m:r>
                          <a:rPr lang="en-US" altLang="zh-CN" i="1">
                            <a:solidFill>
                              <a:srgbClr val="00B050"/>
                            </a:solidFill>
                            <a:latin typeface="Cambria Math" panose="02040503050406030204" pitchFamily="18" charset="0"/>
                          </a:rPr>
                          <m:t>𝒕</m:t>
                        </m:r>
                      </m:e>
                      <m:sub>
                        <m:r>
                          <a:rPr lang="en-US" altLang="zh-CN" b="1" i="1" smtClean="0">
                            <a:solidFill>
                              <a:srgbClr val="00B050"/>
                            </a:solidFill>
                            <a:latin typeface="Cambria Math" panose="02040503050406030204" pitchFamily="18" charset="0"/>
                          </a:rPr>
                          <m:t>𝟏</m:t>
                        </m:r>
                      </m:sub>
                    </m:sSub>
                    <m:r>
                      <a:rPr lang="en-US" altLang="zh-CN" i="1">
                        <a:solidFill>
                          <a:srgbClr val="00B050"/>
                        </a:solidFill>
                        <a:latin typeface="Cambria Math" panose="02040503050406030204" pitchFamily="18" charset="0"/>
                      </a:rPr>
                      <m:t>−</m:t>
                    </m:r>
                    <m:sSub>
                      <m:sSubPr>
                        <m:ctrlPr>
                          <a:rPr lang="en-US" altLang="zh-CN" i="1">
                            <a:solidFill>
                              <a:srgbClr val="00B050"/>
                            </a:solidFill>
                            <a:latin typeface="Cambria Math" panose="02040503050406030204" pitchFamily="18" charset="0"/>
                          </a:rPr>
                        </m:ctrlPr>
                      </m:sSubPr>
                      <m:e>
                        <m:r>
                          <a:rPr lang="en-US" altLang="zh-CN" i="1">
                            <a:solidFill>
                              <a:srgbClr val="00B050"/>
                            </a:solidFill>
                            <a:latin typeface="Cambria Math" panose="02040503050406030204" pitchFamily="18" charset="0"/>
                          </a:rPr>
                          <m:t>𝒕</m:t>
                        </m:r>
                      </m:e>
                      <m:sub>
                        <m:r>
                          <a:rPr lang="en-US" altLang="zh-CN" b="1" i="1" smtClean="0">
                            <a:solidFill>
                              <a:srgbClr val="00B050"/>
                            </a:solidFill>
                            <a:latin typeface="Cambria Math" panose="02040503050406030204" pitchFamily="18" charset="0"/>
                          </a:rPr>
                          <m:t>𝟐</m:t>
                        </m:r>
                      </m:sub>
                    </m:sSub>
                  </m:oMath>
                </a14:m>
                <a:r>
                  <a:rPr lang="zh-CN" altLang="en-US" dirty="0">
                    <a:solidFill>
                      <a:srgbClr val="00B050"/>
                    </a:solidFill>
                  </a:rPr>
                  <a:t>。</a:t>
                </a:r>
                <a:endParaRPr lang="en-US" altLang="zh-CN" dirty="0">
                  <a:solidFill>
                    <a:srgbClr val="00B050"/>
                  </a:solidFill>
                </a:endParaRPr>
              </a:p>
              <a:p>
                <a:pPr>
                  <a:spcBef>
                    <a:spcPts val="900"/>
                  </a:spcBef>
                  <a:spcAft>
                    <a:spcPts val="450"/>
                  </a:spcAft>
                  <a:buFont typeface="Wingdings" panose="05000000000000000000" pitchFamily="2" charset="2"/>
                  <a:buChar char="p"/>
                </a:pPr>
                <a:r>
                  <a:rPr lang="en-US" altLang="zh-CN" dirty="0">
                    <a:solidFill>
                      <a:srgbClr val="00B050"/>
                    </a:solidFill>
                  </a:rPr>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𝒀𝑿</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𝝉</m:t>
                        </m:r>
                      </m:e>
                    </m:d>
                    <m:r>
                      <a:rPr lang="en-US" altLang="zh-CN" b="1" i="0"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𝑿𝒀</m:t>
                        </m:r>
                      </m:sub>
                    </m:sSub>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b="1" i="1" smtClean="0">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𝝉</m:t>
                    </m:r>
                    <m:r>
                      <a:rPr lang="en-US" altLang="zh-CN" i="1">
                        <a:latin typeface="Cambria Math" panose="02040503050406030204" pitchFamily="18" charset="0"/>
                      </a:rPr>
                      <m:t>)</m:t>
                    </m:r>
                  </m:oMath>
                </a14:m>
                <a:endParaRPr lang="zh-CN" altLang="zh-CN" dirty="0">
                  <a:solidFill>
                    <a:srgbClr val="00B050"/>
                  </a:solidFill>
                </a:endParaRPr>
              </a:p>
              <a:p>
                <a:pPr marL="0" indent="0">
                  <a:buNone/>
                </a:pP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77286" y="1050015"/>
                <a:ext cx="8030296" cy="4524709"/>
              </a:xfrm>
              <a:blipFill>
                <a:blip r:embed="rId2"/>
                <a:stretch>
                  <a:fillRect l="-911" t="-1213" b="-5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29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5575607-5BEA-4A16-846F-797EAE57C877}"/>
                  </a:ext>
                </a:extLst>
              </p:cNvPr>
              <p:cNvSpPr>
                <a:spLocks noGrp="1"/>
              </p:cNvSpPr>
              <p:nvPr>
                <p:ph idx="1"/>
              </p:nvPr>
            </p:nvSpPr>
            <p:spPr/>
            <p:txBody>
              <a:bodyPr/>
              <a:lstStyle/>
              <a:p>
                <a:pPr marL="0" indent="0">
                  <a:buNone/>
                </a:pPr>
                <a:r>
                  <a:rPr lang="x-none" altLang="zh-CN" sz="2400" dirty="0">
                    <a:solidFill>
                      <a:schemeClr val="accent2"/>
                    </a:solidFill>
                  </a:rPr>
                  <a:t>2. </a:t>
                </a:r>
                <a:r>
                  <a:rPr lang="zh-CN" altLang="zh-CN" sz="2400" dirty="0">
                    <a:solidFill>
                      <a:schemeClr val="accent2"/>
                    </a:solidFill>
                  </a:rPr>
                  <a:t>互功率谱密度</a:t>
                </a:r>
                <a:endParaRPr lang="en-US" altLang="zh-CN" sz="2400" dirty="0">
                  <a:solidFill>
                    <a:schemeClr val="accent2"/>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𝑿𝒀</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e>
                      </m:d>
                      <m:r>
                        <a:rPr lang="en-US" altLang="zh-CN" sz="2400" b="1" i="1" smtClean="0">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oMath>
                  </m:oMathPara>
                </a14:m>
                <a:endParaRPr lang="en-US" altLang="zh-CN" sz="2400" i="1" dirty="0">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altLang="zh-CN" sz="2400" i="1" smtClean="0">
                          <a:solidFill>
                            <a:srgbClr val="FF0000"/>
                          </a:solidFill>
                          <a:latin typeface="Cambria Math" panose="02040503050406030204" pitchFamily="18" charset="0"/>
                          <a:ea typeface="Cambria Math" panose="02040503050406030204" pitchFamily="18" charset="0"/>
                        </a:rPr>
                        <m:t>⇒</m:t>
                      </m:r>
                    </m:oMath>
                  </m:oMathPara>
                </a14:m>
                <a:endParaRPr lang="zh-CN" altLang="zh-CN" sz="2400" dirty="0">
                  <a:solidFill>
                    <a:srgbClr val="FF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r>
                        <a:rPr lang="zh-CN" altLang="zh-CN" sz="2400" i="1">
                          <a:latin typeface="Cambria Math" panose="02040503050406030204" pitchFamily="18" charset="0"/>
                        </a:rPr>
                        <m:t>＝</m:t>
                      </m:r>
                      <m:r>
                        <a:rPr lang="en-US" altLang="zh-CN" sz="2400" i="1">
                          <a:latin typeface="Cambria Math" panose="02040503050406030204" pitchFamily="18" charset="0"/>
                        </a:rPr>
                        <m:t>𝑯</m:t>
                      </m:r>
                      <m:r>
                        <a:rPr lang="en-US" altLang="zh-CN" sz="2400" i="1">
                          <a:latin typeface="Cambria Math" panose="02040503050406030204" pitchFamily="18" charset="0"/>
                        </a:rPr>
                        <m:t>(</m:t>
                      </m:r>
                      <m:r>
                        <a:rPr lang="en-US" altLang="zh-CN" sz="2400" b="1" i="1" smtClean="0">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oMath>
                  </m:oMathPara>
                </a14:m>
                <a:endParaRPr lang="en-US" altLang="zh-CN" sz="2400" dirty="0"/>
              </a:p>
              <a:p>
                <a:pPr marL="0" indent="0">
                  <a:buNone/>
                </a:pPr>
                <a:endParaRPr lang="en-US" altLang="zh-CN" sz="2400" dirty="0"/>
              </a:p>
              <a:p>
                <a:pPr marL="0" indent="0">
                  <a:buNone/>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𝒀𝑿</m:t>
                          </m:r>
                        </m:sub>
                      </m:sSub>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𝒕</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r>
                        <a:rPr lang="en-US" altLang="zh-CN" sz="2400" i="1">
                          <a:latin typeface="Cambria Math" panose="02040503050406030204" pitchFamily="18" charset="0"/>
                        </a:rPr>
                        <m:t>𝒉</m:t>
                      </m:r>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𝑹</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𝝉</m:t>
                      </m:r>
                      <m:r>
                        <a:rPr lang="en-US" altLang="zh-CN" sz="2400" b="1" i="0" smtClean="0">
                          <a:latin typeface="Cambria Math" panose="02040503050406030204" pitchFamily="18" charset="0"/>
                        </a:rPr>
                        <m:t>)</m:t>
                      </m:r>
                    </m:oMath>
                  </m:oMathPara>
                </a14:m>
                <a:endParaRPr lang="en-US" altLang="zh-CN" sz="2400" dirty="0"/>
              </a:p>
              <a:p>
                <a:pPr marL="0" indent="0" algn="ctr">
                  <a:buNone/>
                </a:pPr>
                <a14:m>
                  <m:oMathPara xmlns:m="http://schemas.openxmlformats.org/officeDocument/2006/math">
                    <m:oMathParaPr>
                      <m:jc m:val="left"/>
                    </m:oMathParaPr>
                    <m:oMath xmlns:m="http://schemas.openxmlformats.org/officeDocument/2006/math">
                      <m:r>
                        <a:rPr lang="en-US" altLang="zh-CN" sz="2400" i="1">
                          <a:solidFill>
                            <a:srgbClr val="FF0000"/>
                          </a:solidFill>
                          <a:latin typeface="Cambria Math" panose="02040503050406030204" pitchFamily="18" charset="0"/>
                          <a:ea typeface="Cambria Math" panose="02040503050406030204" pitchFamily="18" charset="0"/>
                        </a:rPr>
                        <m:t>⇒</m:t>
                      </m:r>
                    </m:oMath>
                  </m:oMathPara>
                </a14:m>
                <a:endParaRPr lang="zh-CN" altLang="zh-CN" sz="2400" dirty="0">
                  <a:solidFill>
                    <a:srgbClr val="FF0000"/>
                  </a:solidFill>
                </a:endParaRPr>
              </a:p>
              <a:p>
                <a:pPr marL="0" indent="0">
                  <a:buNone/>
                </a:pPr>
                <a14:m>
                  <m:oMath xmlns:m="http://schemas.openxmlformats.org/officeDocument/2006/math">
                    <m:sSub>
                      <m:sSubPr>
                        <m:ctrlPr>
                          <a:rPr lang="zh-CN" altLang="zh-CN" sz="2400" i="1">
                            <a:latin typeface="Cambria Math" panose="02040503050406030204" pitchFamily="18" charset="0"/>
                          </a:rPr>
                        </m:ctrlPr>
                      </m:sSubPr>
                      <m:e>
                        <m:r>
                          <a:rPr lang="en-US" altLang="zh-CN" sz="2400" b="1" i="1" smtClean="0">
                            <a:latin typeface="Cambria Math" panose="02040503050406030204" pitchFamily="18" charset="0"/>
                          </a:rPr>
                          <m:t>                             </m:t>
                        </m:r>
                        <m:r>
                          <a:rPr lang="en-US" altLang="zh-CN" sz="2400" i="1">
                            <a:latin typeface="Cambria Math" panose="02040503050406030204" pitchFamily="18" charset="0"/>
                          </a:rPr>
                          <m:t>𝑺</m:t>
                        </m:r>
                      </m:e>
                      <m:sub>
                        <m:r>
                          <a:rPr lang="en-US" altLang="zh-CN" sz="2400" i="1">
                            <a:latin typeface="Cambria Math" panose="02040503050406030204" pitchFamily="18" charset="0"/>
                          </a:rPr>
                          <m:t>𝒀</m:t>
                        </m:r>
                        <m:r>
                          <a:rPr lang="en-US" altLang="zh-CN" sz="2400" b="1" i="1" smtClean="0">
                            <a:latin typeface="Cambria Math" panose="02040503050406030204" pitchFamily="18" charset="0"/>
                          </a:rPr>
                          <m:t>𝑿</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𝝎</m:t>
                        </m:r>
                      </m:e>
                    </m:d>
                    <m:r>
                      <a:rPr lang="zh-CN" altLang="zh-CN" sz="2400" i="1">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i="1">
                            <a:latin typeface="Cambria Math" panose="02040503050406030204" pitchFamily="18" charset="0"/>
                          </a:rPr>
                          <m:t>𝑯</m:t>
                        </m:r>
                      </m:e>
                      <m:sup>
                        <m:r>
                          <a:rPr lang="en-US" altLang="zh-CN" sz="2400" b="1" i="1" smtClean="0">
                            <a:latin typeface="Cambria Math" panose="02040503050406030204" pitchFamily="18" charset="0"/>
                          </a:rPr>
                          <m:t>∗</m:t>
                        </m:r>
                      </m:sup>
                    </m:sSup>
                    <m:r>
                      <a:rPr lang="en-US" altLang="zh-CN" sz="2400" i="1" smtClean="0">
                        <a:latin typeface="Cambria Math" panose="02040503050406030204" pitchFamily="18" charset="0"/>
                      </a:rPr>
                      <m:t> </m:t>
                    </m:r>
                    <m:r>
                      <a:rPr lang="en-US" altLang="zh-CN" sz="2400" i="1">
                        <a:latin typeface="Cambria Math" panose="02040503050406030204" pitchFamily="18" charset="0"/>
                      </a:rPr>
                      <m:t>(</m:t>
                    </m:r>
                    <m:r>
                      <a:rPr lang="en-US" altLang="zh-CN" sz="2400" i="1">
                        <a:latin typeface="Cambria Math" panose="02040503050406030204" pitchFamily="18" charset="0"/>
                      </a:rPr>
                      <m:t>𝒋</m:t>
                    </m:r>
                    <m:r>
                      <a:rPr lang="en-US" altLang="zh-CN" sz="2400" i="1">
                        <a:latin typeface="Cambria Math" panose="02040503050406030204" pitchFamily="18" charset="0"/>
                      </a:rPr>
                      <m:t>𝝎</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𝑺</m:t>
                        </m:r>
                      </m:e>
                      <m:sub>
                        <m:r>
                          <a:rPr lang="en-US" altLang="zh-CN" sz="2400" i="1">
                            <a:latin typeface="Cambria Math" panose="02040503050406030204" pitchFamily="18" charset="0"/>
                          </a:rPr>
                          <m:t>𝑿</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oMath>
                </a14:m>
                <a:r>
                  <a:rPr lang="zh-CN" altLang="zh-CN" sz="2400" dirty="0"/>
                  <a:t> </a:t>
                </a:r>
                <a14:m>
                  <m:oMath xmlns:m="http://schemas.openxmlformats.org/officeDocument/2006/math">
                    <m:sSub>
                      <m:sSubPr>
                        <m:ctrlPr>
                          <a:rPr lang="zh-CN"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𝑺</m:t>
                            </m:r>
                          </m:e>
                          <m:sup>
                            <m:r>
                              <a:rPr lang="en-US" altLang="zh-CN" sz="2400" i="1">
                                <a:latin typeface="Cambria Math" panose="02040503050406030204" pitchFamily="18" charset="0"/>
                              </a:rPr>
                              <m:t>∗</m:t>
                            </m:r>
                          </m:sup>
                        </m:sSup>
                      </m:e>
                      <m:sub>
                        <m:r>
                          <a:rPr lang="en-US" altLang="zh-CN" sz="2400" i="1">
                            <a:latin typeface="Cambria Math" panose="02040503050406030204" pitchFamily="18" charset="0"/>
                          </a:rPr>
                          <m:t>𝑿𝒀</m:t>
                        </m:r>
                      </m:sub>
                    </m:sSub>
                    <m:r>
                      <a:rPr lang="en-US" altLang="zh-CN" sz="2400" i="1">
                        <a:latin typeface="Cambria Math" panose="02040503050406030204" pitchFamily="18" charset="0"/>
                      </a:rPr>
                      <m:t>(</m:t>
                    </m:r>
                    <m:r>
                      <a:rPr lang="en-US" altLang="zh-CN" sz="2400" i="1">
                        <a:latin typeface="Cambria Math" panose="02040503050406030204" pitchFamily="18" charset="0"/>
                      </a:rPr>
                      <m:t>𝝎</m:t>
                    </m:r>
                    <m:r>
                      <a:rPr lang="en-US" altLang="zh-CN" sz="2400" i="1">
                        <a:latin typeface="Cambria Math" panose="02040503050406030204" pitchFamily="18" charset="0"/>
                      </a:rPr>
                      <m:t>)</m:t>
                    </m:r>
                  </m:oMath>
                </a14:m>
                <a:r>
                  <a:rPr lang="en-US" altLang="zh-CN" sz="2400" dirty="0"/>
                  <a:t> </a:t>
                </a:r>
              </a:p>
              <a:p>
                <a:pPr marL="0" indent="0">
                  <a:buNone/>
                </a:pPr>
                <a:endParaRPr lang="zh-CN"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15575607-5BEA-4A16-846F-797EAE57C877}"/>
                  </a:ext>
                </a:extLst>
              </p:cNvPr>
              <p:cNvSpPr>
                <a:spLocks noGrp="1" noRot="1" noChangeAspect="1" noMove="1" noResize="1" noEditPoints="1" noAdjustHandles="1" noChangeArrowheads="1" noChangeShapeType="1" noTextEdit="1"/>
              </p:cNvSpPr>
              <p:nvPr>
                <p:ph idx="1"/>
              </p:nvPr>
            </p:nvSpPr>
            <p:spPr>
              <a:blipFill>
                <a:blip r:embed="rId3"/>
                <a:stretch>
                  <a:fillRect l="-1176" t="-12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65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57200" y="116632"/>
                <a:ext cx="8507288" cy="6120680"/>
              </a:xfrm>
            </p:spPr>
            <p:txBody>
              <a:bodyPr>
                <a:normAutofit fontScale="40000" lnSpcReduction="20000"/>
              </a:bodyPr>
              <a:lstStyle/>
              <a:p>
                <a:pPr marL="0" indent="0">
                  <a:lnSpc>
                    <a:spcPct val="170000"/>
                  </a:lnSpc>
                  <a:spcBef>
                    <a:spcPts val="900"/>
                  </a:spcBef>
                  <a:spcAft>
                    <a:spcPts val="450"/>
                  </a:spcAft>
                  <a:buNone/>
                </a:pPr>
                <a:r>
                  <a:rPr lang="zh-CN" altLang="en-US" sz="4500" dirty="0"/>
                  <a:t>例题</a:t>
                </a:r>
                <a:r>
                  <a:rPr lang="en-US" altLang="zh-CN" sz="4500" dirty="0"/>
                  <a:t>5.1</a:t>
                </a:r>
                <a:r>
                  <a:rPr lang="zh-CN" altLang="en-US" sz="4500" dirty="0"/>
                  <a:t>：已知某</a:t>
                </a:r>
                <a:r>
                  <a:rPr lang="en-US" altLang="zh-CN" sz="4500" dirty="0"/>
                  <a:t>LTI</a:t>
                </a:r>
                <a:r>
                  <a:rPr lang="zh-CN" altLang="en-US" sz="4500" dirty="0"/>
                  <a:t>系统冲激响应为 </a:t>
                </a:r>
                <a14:m>
                  <m:oMath xmlns:m="http://schemas.openxmlformats.org/officeDocument/2006/math">
                    <m:r>
                      <a:rPr lang="en-US" altLang="zh-CN" sz="4500" i="1">
                        <a:latin typeface="Cambria Math" panose="02040503050406030204" pitchFamily="18" charset="0"/>
                      </a:rPr>
                      <m:t>𝒉</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𝒕</m:t>
                        </m:r>
                      </m:e>
                    </m:d>
                    <m:r>
                      <a:rPr lang="en-US" altLang="zh-CN" sz="4500" i="1">
                        <a:latin typeface="Cambria Math" panose="02040503050406030204" pitchFamily="18" charset="0"/>
                      </a:rPr>
                      <m:t>=</m:t>
                    </m:r>
                    <m:r>
                      <a:rPr lang="en-US" altLang="zh-CN" sz="4500" i="1">
                        <a:latin typeface="Cambria Math" panose="02040503050406030204" pitchFamily="18" charset="0"/>
                      </a:rPr>
                      <m:t>𝒆𝒙𝒑</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m:t>
                        </m:r>
                        <m:r>
                          <a:rPr lang="en-US" altLang="zh-CN" sz="4500" i="1">
                            <a:latin typeface="Cambria Math" panose="02040503050406030204" pitchFamily="18" charset="0"/>
                          </a:rPr>
                          <m:t>𝒃𝒕</m:t>
                        </m:r>
                      </m:e>
                    </m:d>
                    <m:r>
                      <a:rPr lang="en-US" altLang="zh-CN" sz="4500" i="1">
                        <a:latin typeface="Cambria Math" panose="02040503050406030204" pitchFamily="18" charset="0"/>
                      </a:rPr>
                      <m:t>𝒖</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𝒕</m:t>
                        </m:r>
                      </m:e>
                    </m:d>
                    <m:r>
                      <a:rPr lang="en-US" altLang="zh-CN" sz="4500">
                        <a:latin typeface="Cambria Math" panose="02040503050406030204" pitchFamily="18" charset="0"/>
                      </a:rPr>
                      <m:t>, </m:t>
                    </m:r>
                    <m:r>
                      <a:rPr lang="en-US" altLang="zh-CN" sz="4500" i="1">
                        <a:latin typeface="Cambria Math" panose="02040503050406030204" pitchFamily="18" charset="0"/>
                      </a:rPr>
                      <m:t>𝒃</m:t>
                    </m:r>
                    <m:r>
                      <a:rPr lang="en-US" altLang="zh-CN" sz="4500">
                        <a:latin typeface="Cambria Math" panose="02040503050406030204" pitchFamily="18" charset="0"/>
                      </a:rPr>
                      <m:t>&gt;</m:t>
                    </m:r>
                    <m:r>
                      <a:rPr lang="en-US" altLang="zh-CN" sz="4500">
                        <a:latin typeface="Cambria Math" panose="02040503050406030204" pitchFamily="18" charset="0"/>
                      </a:rPr>
                      <m:t>𝟎</m:t>
                    </m:r>
                  </m:oMath>
                </a14:m>
                <a:r>
                  <a:rPr lang="en-US" altLang="zh-CN" sz="4500" dirty="0"/>
                  <a:t>, </a:t>
                </a:r>
                <a:r>
                  <a:rPr lang="zh-CN" altLang="en-US" sz="4500" dirty="0"/>
                  <a:t>输入</a:t>
                </a:r>
                <a14:m>
                  <m:oMath xmlns:m="http://schemas.openxmlformats.org/officeDocument/2006/math">
                    <m:r>
                      <a:rPr lang="en-US" altLang="zh-CN" sz="4500" i="1">
                        <a:latin typeface="Cambria Math" panose="02040503050406030204" pitchFamily="18" charset="0"/>
                      </a:rPr>
                      <m:t>𝑿</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oMath>
                </a14:m>
                <a:r>
                  <a:rPr lang="zh-CN" altLang="en-US" sz="4500" dirty="0"/>
                  <a:t>是零均值平稳高斯信号，其自相关函数为</a:t>
                </a:r>
                <a14:m>
                  <m:oMath xmlns:m="http://schemas.openxmlformats.org/officeDocument/2006/math">
                    <m:sSub>
                      <m:sSubPr>
                        <m:ctrlPr>
                          <a:rPr lang="en-US" altLang="zh-CN" sz="4500" i="1">
                            <a:latin typeface="Cambria Math" panose="02040503050406030204" pitchFamily="18" charset="0"/>
                          </a:rPr>
                        </m:ctrlPr>
                      </m:sSubPr>
                      <m:e>
                        <m:r>
                          <a:rPr lang="en-US" altLang="zh-CN" sz="4500" i="1">
                            <a:latin typeface="Cambria Math" panose="02040503050406030204" pitchFamily="18" charset="0"/>
                          </a:rPr>
                          <m:t>𝑹</m:t>
                        </m:r>
                      </m:e>
                      <m:sub>
                        <m:r>
                          <a:rPr lang="en-US" altLang="zh-CN" sz="4500" i="1">
                            <a:latin typeface="Cambria Math" panose="02040503050406030204" pitchFamily="18" charset="0"/>
                          </a:rPr>
                          <m:t>𝑿</m:t>
                        </m:r>
                      </m:sub>
                    </m:sSub>
                    <m:d>
                      <m:dPr>
                        <m:ctrlPr>
                          <a:rPr lang="en-US" altLang="zh-CN" sz="4500" i="1">
                            <a:latin typeface="Cambria Math" panose="02040503050406030204" pitchFamily="18" charset="0"/>
                          </a:rPr>
                        </m:ctrlPr>
                      </m:dPr>
                      <m:e>
                        <m:r>
                          <a:rPr lang="zh-CN" altLang="en-US" sz="4500" i="1">
                            <a:latin typeface="Cambria Math" panose="02040503050406030204" pitchFamily="18" charset="0"/>
                          </a:rPr>
                          <m:t>𝝉</m:t>
                        </m:r>
                      </m:e>
                    </m:d>
                    <m:r>
                      <a:rPr lang="en-US" altLang="zh-CN" sz="4500" i="1">
                        <a:latin typeface="Cambria Math" panose="02040503050406030204" pitchFamily="18" charset="0"/>
                      </a:rPr>
                      <m:t>=</m:t>
                    </m:r>
                    <m:sSubSup>
                      <m:sSubSupPr>
                        <m:ctrlPr>
                          <a:rPr lang="en-US" altLang="zh-CN" sz="4500" i="1">
                            <a:latin typeface="Cambria Math" panose="02040503050406030204" pitchFamily="18" charset="0"/>
                          </a:rPr>
                        </m:ctrlPr>
                      </m:sSubSupPr>
                      <m:e>
                        <m:r>
                          <a:rPr lang="zh-CN" altLang="en-US" sz="4500" i="1">
                            <a:latin typeface="Cambria Math" panose="02040503050406030204" pitchFamily="18" charset="0"/>
                          </a:rPr>
                          <m:t>𝝈</m:t>
                        </m:r>
                      </m:e>
                      <m:sub>
                        <m:r>
                          <a:rPr lang="en-US" altLang="zh-CN" sz="4500" i="1">
                            <a:latin typeface="Cambria Math" panose="02040503050406030204" pitchFamily="18" charset="0"/>
                          </a:rPr>
                          <m:t>𝑿</m:t>
                        </m:r>
                      </m:sub>
                      <m:sup>
                        <m:r>
                          <a:rPr lang="en-US" altLang="zh-CN" sz="4500" i="1">
                            <a:latin typeface="Cambria Math" panose="02040503050406030204" pitchFamily="18" charset="0"/>
                          </a:rPr>
                          <m:t>𝟐</m:t>
                        </m:r>
                      </m:sup>
                    </m:sSubSup>
                    <m:r>
                      <a:rPr lang="en-US" altLang="zh-CN" sz="4500" i="1">
                        <a:latin typeface="Cambria Math" panose="02040503050406030204" pitchFamily="18" charset="0"/>
                      </a:rPr>
                      <m:t>𝒆𝒙𝒑</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m:t>
                        </m:r>
                        <m:r>
                          <a:rPr lang="en-US" altLang="zh-CN" sz="4500" i="1">
                            <a:latin typeface="Cambria Math" panose="02040503050406030204" pitchFamily="18" charset="0"/>
                          </a:rPr>
                          <m:t>𝒂</m:t>
                        </m:r>
                        <m:d>
                          <m:dPr>
                            <m:begChr m:val="|"/>
                            <m:endChr m:val="|"/>
                            <m:ctrlPr>
                              <a:rPr lang="en-US" altLang="zh-CN" sz="4500" i="1">
                                <a:latin typeface="Cambria Math" panose="02040503050406030204" pitchFamily="18" charset="0"/>
                              </a:rPr>
                            </m:ctrlPr>
                          </m:dPr>
                          <m:e>
                            <m:r>
                              <a:rPr lang="zh-CN" altLang="en-US" sz="4500" i="1">
                                <a:latin typeface="Cambria Math" panose="02040503050406030204" pitchFamily="18" charset="0"/>
                              </a:rPr>
                              <m:t>𝝉</m:t>
                            </m:r>
                          </m:e>
                        </m:d>
                      </m:e>
                    </m:d>
                    <m:r>
                      <a:rPr lang="en-US" altLang="zh-CN" sz="4500" i="1">
                        <a:latin typeface="Cambria Math" panose="02040503050406030204" pitchFamily="18" charset="0"/>
                      </a:rPr>
                      <m:t>, </m:t>
                    </m:r>
                    <m:r>
                      <a:rPr lang="en-US" altLang="zh-CN" sz="4500" i="1">
                        <a:latin typeface="Cambria Math" panose="02040503050406030204" pitchFamily="18" charset="0"/>
                      </a:rPr>
                      <m:t>𝒂</m:t>
                    </m:r>
                    <m:r>
                      <a:rPr lang="en-US" altLang="zh-CN" sz="4500" i="1">
                        <a:latin typeface="Cambria Math" panose="02040503050406030204" pitchFamily="18" charset="0"/>
                      </a:rPr>
                      <m:t>&gt;</m:t>
                    </m:r>
                    <m:r>
                      <a:rPr lang="en-US" altLang="zh-CN" sz="4500" i="1">
                        <a:latin typeface="Cambria Math" panose="02040503050406030204" pitchFamily="18" charset="0"/>
                      </a:rPr>
                      <m:t>𝟎</m:t>
                    </m:r>
                    <m:r>
                      <a:rPr lang="en-US" altLang="zh-CN" sz="4500" i="1">
                        <a:latin typeface="Cambria Math" panose="02040503050406030204" pitchFamily="18" charset="0"/>
                      </a:rPr>
                      <m:t>, </m:t>
                    </m:r>
                    <m:r>
                      <a:rPr lang="en-US" altLang="zh-CN" sz="4500" i="1">
                        <a:latin typeface="Cambria Math" panose="02040503050406030204" pitchFamily="18" charset="0"/>
                      </a:rPr>
                      <m:t>𝒂</m:t>
                    </m:r>
                    <m:r>
                      <a:rPr lang="en-US" altLang="zh-CN" sz="4500" i="1">
                        <a:latin typeface="Cambria Math" panose="02040503050406030204" pitchFamily="18" charset="0"/>
                        <a:ea typeface="Cambria Math" panose="02040503050406030204" pitchFamily="18" charset="0"/>
                      </a:rPr>
                      <m:t>≠</m:t>
                    </m:r>
                    <m:r>
                      <a:rPr lang="en-US" altLang="zh-CN" sz="4500" i="1">
                        <a:latin typeface="Cambria Math" panose="02040503050406030204" pitchFamily="18" charset="0"/>
                        <a:ea typeface="Cambria Math" panose="02040503050406030204" pitchFamily="18" charset="0"/>
                      </a:rPr>
                      <m:t>𝒃</m:t>
                    </m:r>
                  </m:oMath>
                </a14:m>
                <a:r>
                  <a:rPr lang="zh-CN" altLang="en-US" sz="4500" dirty="0"/>
                  <a:t>。</a:t>
                </a:r>
                <a:endParaRPr lang="en-US" altLang="zh-CN" sz="4500" dirty="0"/>
              </a:p>
              <a:p>
                <a:pPr marL="0" indent="0">
                  <a:lnSpc>
                    <a:spcPct val="170000"/>
                  </a:lnSpc>
                  <a:spcBef>
                    <a:spcPts val="900"/>
                  </a:spcBef>
                  <a:spcAft>
                    <a:spcPts val="450"/>
                  </a:spcAft>
                  <a:buNone/>
                </a:pPr>
                <a:r>
                  <a:rPr lang="zh-CN" altLang="en-US" sz="4500" dirty="0"/>
                  <a:t>求</a:t>
                </a:r>
                <a:r>
                  <a:rPr lang="en-US" altLang="zh-CN" sz="4500" dirty="0"/>
                  <a:t>:</a:t>
                </a:r>
                <a:r>
                  <a:rPr lang="zh-CN" altLang="en-US" sz="4500" dirty="0">
                    <a:sym typeface="Wingdings" panose="05000000000000000000" pitchFamily="2" charset="2"/>
                  </a:rPr>
                  <a:t>（</a:t>
                </a:r>
                <a:r>
                  <a:rPr lang="en-US" altLang="zh-CN" sz="4500" dirty="0">
                    <a:sym typeface="Wingdings" panose="05000000000000000000" pitchFamily="2" charset="2"/>
                  </a:rPr>
                  <a:t>1</a:t>
                </a:r>
                <a:r>
                  <a:rPr lang="zh-CN" altLang="en-US" sz="4500" dirty="0">
                    <a:sym typeface="Wingdings" panose="05000000000000000000" pitchFamily="2" charset="2"/>
                  </a:rPr>
                  <a:t>）</a:t>
                </a:r>
                <a:r>
                  <a:rPr lang="zh-CN" altLang="en-US" sz="4500" dirty="0"/>
                  <a:t>输出信号</a:t>
                </a:r>
                <a14:m>
                  <m:oMath xmlns:m="http://schemas.openxmlformats.org/officeDocument/2006/math">
                    <m:r>
                      <a:rPr lang="en-US" altLang="zh-CN" sz="4500" i="1">
                        <a:latin typeface="Cambria Math" panose="02040503050406030204" pitchFamily="18" charset="0"/>
                      </a:rPr>
                      <m:t>𝒀</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oMath>
                </a14:m>
                <a:r>
                  <a:rPr lang="zh-CN" altLang="en-US" sz="4500" dirty="0"/>
                  <a:t>的功率谱和自相关函数；</a:t>
                </a:r>
                <a:endParaRPr lang="en-US" altLang="zh-CN" sz="4500" dirty="0"/>
              </a:p>
              <a:p>
                <a:pPr marL="0" indent="0">
                  <a:lnSpc>
                    <a:spcPct val="170000"/>
                  </a:lnSpc>
                  <a:spcBef>
                    <a:spcPts val="900"/>
                  </a:spcBef>
                  <a:spcAft>
                    <a:spcPts val="450"/>
                  </a:spcAft>
                  <a:buNone/>
                </a:pPr>
                <a:r>
                  <a:rPr lang="zh-CN" altLang="en-US" sz="4500" dirty="0"/>
                  <a:t>      （</a:t>
                </a:r>
                <a:r>
                  <a:rPr lang="en-US" altLang="zh-CN" sz="4500" dirty="0"/>
                  <a:t>2</a:t>
                </a:r>
                <a:r>
                  <a:rPr lang="zh-CN" altLang="en-US" sz="4500" dirty="0"/>
                  <a:t>）</a:t>
                </a:r>
                <a:r>
                  <a:rPr lang="en-US" altLang="zh-CN" sz="4500" dirty="0"/>
                  <a:t> </a:t>
                </a:r>
                <a14:m>
                  <m:oMath xmlns:m="http://schemas.openxmlformats.org/officeDocument/2006/math">
                    <m:r>
                      <a:rPr lang="en-US" altLang="zh-CN" sz="4500" i="1">
                        <a:latin typeface="Cambria Math" panose="02040503050406030204" pitchFamily="18" charset="0"/>
                      </a:rPr>
                      <m:t>𝒀</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oMath>
                </a14:m>
                <a:r>
                  <a:rPr lang="zh-CN" altLang="en-US" sz="4500" dirty="0"/>
                  <a:t>的一维概率密度函数；</a:t>
                </a:r>
                <a:endParaRPr lang="en-US" altLang="zh-CN" sz="4500" dirty="0"/>
              </a:p>
              <a:p>
                <a:pPr marL="0" indent="0">
                  <a:lnSpc>
                    <a:spcPct val="170000"/>
                  </a:lnSpc>
                  <a:spcBef>
                    <a:spcPts val="900"/>
                  </a:spcBef>
                  <a:spcAft>
                    <a:spcPts val="450"/>
                  </a:spcAft>
                  <a:buNone/>
                </a:pPr>
                <a:r>
                  <a:rPr lang="zh-CN" altLang="en-US" sz="4500" dirty="0"/>
                  <a:t>      （</a:t>
                </a:r>
                <a:r>
                  <a:rPr lang="en-US" altLang="zh-CN" sz="4500" dirty="0"/>
                  <a:t>3</a:t>
                </a:r>
                <a:r>
                  <a:rPr lang="zh-CN" altLang="en-US" sz="4500" dirty="0"/>
                  <a:t>）</a:t>
                </a:r>
                <a14:m>
                  <m:oMath xmlns:m="http://schemas.openxmlformats.org/officeDocument/2006/math">
                    <m:r>
                      <a:rPr lang="en-US" altLang="zh-CN" sz="4500" i="1">
                        <a:latin typeface="Cambria Math" panose="02040503050406030204" pitchFamily="18" charset="0"/>
                      </a:rPr>
                      <m:t>𝑷</m:t>
                    </m:r>
                    <m:d>
                      <m:dPr>
                        <m:begChr m:val="["/>
                        <m:endChr m:val="]"/>
                        <m:ctrlPr>
                          <a:rPr lang="en-US" altLang="zh-CN" sz="4500" i="1">
                            <a:latin typeface="Cambria Math" panose="02040503050406030204" pitchFamily="18" charset="0"/>
                          </a:rPr>
                        </m:ctrlPr>
                      </m:dPr>
                      <m:e>
                        <m:r>
                          <a:rPr lang="en-US" altLang="zh-CN" sz="4500" i="1">
                            <a:latin typeface="Cambria Math" panose="02040503050406030204" pitchFamily="18" charset="0"/>
                          </a:rPr>
                          <m:t>𝒀</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r>
                          <a:rPr lang="en-US" altLang="zh-CN" sz="4500" i="1">
                            <a:latin typeface="Cambria Math" panose="02040503050406030204" pitchFamily="18" charset="0"/>
                            <a:ea typeface="Cambria Math" panose="02040503050406030204" pitchFamily="18" charset="0"/>
                          </a:rPr>
                          <m:t>𝟎</m:t>
                        </m:r>
                      </m:e>
                    </m:d>
                  </m:oMath>
                </a14:m>
                <a:r>
                  <a:rPr lang="en-US" altLang="zh-CN" sz="4500" dirty="0"/>
                  <a:t>.</a:t>
                </a:r>
              </a:p>
              <a:p>
                <a:pPr marL="0" indent="0">
                  <a:lnSpc>
                    <a:spcPct val="170000"/>
                  </a:lnSpc>
                  <a:spcBef>
                    <a:spcPts val="900"/>
                  </a:spcBef>
                  <a:spcAft>
                    <a:spcPts val="450"/>
                  </a:spcAft>
                  <a:buNone/>
                </a:pPr>
                <a:r>
                  <a:rPr lang="zh-CN" altLang="en-US" sz="4500" dirty="0"/>
                  <a:t>解：（</a:t>
                </a:r>
                <a:r>
                  <a:rPr lang="en-US" altLang="zh-CN" sz="4500" dirty="0"/>
                  <a:t>1</a:t>
                </a:r>
                <a:r>
                  <a:rPr lang="zh-CN" altLang="en-US" sz="4500" dirty="0"/>
                  <a:t>）</a:t>
                </a:r>
                <a:r>
                  <a:rPr lang="en-US" altLang="zh-CN" sz="4500" dirty="0"/>
                  <a:t> </a:t>
                </a:r>
                <a14:m>
                  <m:oMath xmlns:m="http://schemas.openxmlformats.org/officeDocument/2006/math">
                    <m:r>
                      <a:rPr lang="en-US" altLang="zh-CN" sz="4500" i="1">
                        <a:latin typeface="Cambria Math" panose="02040503050406030204" pitchFamily="18" charset="0"/>
                      </a:rPr>
                      <m:t>𝑿</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oMath>
                </a14:m>
                <a:r>
                  <a:rPr lang="zh-CN" altLang="en-US" sz="4500" dirty="0"/>
                  <a:t>平稳，</a:t>
                </a:r>
                <a:r>
                  <a:rPr lang="en-US" altLang="zh-CN" sz="4500" dirty="0"/>
                  <a:t> </a:t>
                </a:r>
                <a14:m>
                  <m:oMath xmlns:m="http://schemas.openxmlformats.org/officeDocument/2006/math">
                    <m:r>
                      <a:rPr lang="en-US" altLang="zh-CN" sz="4500" i="1">
                        <a:latin typeface="Cambria Math" panose="02040503050406030204" pitchFamily="18" charset="0"/>
                      </a:rPr>
                      <m:t>𝒉</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𝒕</m:t>
                        </m:r>
                      </m:e>
                    </m:d>
                  </m:oMath>
                </a14:m>
                <a:r>
                  <a:rPr lang="zh-CN" altLang="en-US" sz="4500" dirty="0"/>
                  <a:t>为</a:t>
                </a:r>
                <a:r>
                  <a:rPr lang="en-US" altLang="zh-CN" sz="4500" dirty="0"/>
                  <a:t>LTI</a:t>
                </a:r>
                <a:r>
                  <a:rPr lang="zh-CN" altLang="en-US" sz="4500" dirty="0"/>
                  <a:t>系统，故</a:t>
                </a:r>
                <a14:m>
                  <m:oMath xmlns:m="http://schemas.openxmlformats.org/officeDocument/2006/math">
                    <m:r>
                      <a:rPr lang="en-US" altLang="zh-CN" sz="4500" i="1">
                        <a:latin typeface="Cambria Math" panose="02040503050406030204" pitchFamily="18" charset="0"/>
                      </a:rPr>
                      <m:t>𝒀</m:t>
                    </m:r>
                    <m:r>
                      <a:rPr lang="en-US" altLang="zh-CN" sz="4500" i="1">
                        <a:latin typeface="Cambria Math" panose="02040503050406030204" pitchFamily="18" charset="0"/>
                      </a:rPr>
                      <m:t>(</m:t>
                    </m:r>
                    <m:r>
                      <a:rPr lang="en-US" altLang="zh-CN" sz="4500" i="1">
                        <a:latin typeface="Cambria Math" panose="02040503050406030204" pitchFamily="18" charset="0"/>
                      </a:rPr>
                      <m:t>𝒕</m:t>
                    </m:r>
                    <m:r>
                      <a:rPr lang="en-US" altLang="zh-CN" sz="4500" i="1">
                        <a:latin typeface="Cambria Math" panose="02040503050406030204" pitchFamily="18" charset="0"/>
                      </a:rPr>
                      <m:t>)</m:t>
                    </m:r>
                  </m:oMath>
                </a14:m>
                <a:r>
                  <a:rPr lang="zh-CN" altLang="en-US" sz="4500" dirty="0"/>
                  <a:t>平稳。</a:t>
                </a:r>
                <a:endParaRPr lang="en-US" altLang="zh-CN" sz="4500" dirty="0"/>
              </a:p>
              <a:p>
                <a:pPr marL="0" indent="0">
                  <a:lnSpc>
                    <a:spcPct val="170000"/>
                  </a:lnSpc>
                  <a:spcBef>
                    <a:spcPts val="900"/>
                  </a:spcBef>
                  <a:spcAft>
                    <a:spcPts val="450"/>
                  </a:spcAft>
                  <a:buNone/>
                </a:pPr>
                <a:endParaRPr lang="en-US" altLang="zh-CN" sz="4500" i="1" dirty="0">
                  <a:latin typeface="Cambria Math" panose="02040503050406030204" pitchFamily="18" charset="0"/>
                </a:endParaRPr>
              </a:p>
              <a:p>
                <a:pPr marL="0" indent="0">
                  <a:lnSpc>
                    <a:spcPct val="170000"/>
                  </a:lnSpc>
                  <a:spcBef>
                    <a:spcPts val="900"/>
                  </a:spcBef>
                  <a:spcAft>
                    <a:spcPts val="450"/>
                  </a:spcAft>
                  <a:buNone/>
                </a:pPr>
                <a:endParaRPr lang="en-US" altLang="zh-CN" sz="4500" i="1" dirty="0">
                  <a:latin typeface="Cambria Math" panose="02040503050406030204" pitchFamily="18" charset="0"/>
                </a:endParaRPr>
              </a:p>
              <a:p>
                <a:pPr marL="0" indent="0">
                  <a:lnSpc>
                    <a:spcPct val="170000"/>
                  </a:lnSpc>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zh-CN" altLang="zh-CN" sz="4500" i="1">
                              <a:latin typeface="Cambria Math" panose="02040503050406030204" pitchFamily="18" charset="0"/>
                            </a:rPr>
                          </m:ctrlPr>
                        </m:sSubPr>
                        <m:e>
                          <m:r>
                            <a:rPr lang="en-US" altLang="zh-CN" sz="4500" i="1">
                              <a:latin typeface="Cambria Math" panose="02040503050406030204" pitchFamily="18" charset="0"/>
                            </a:rPr>
                            <m:t>𝑺</m:t>
                          </m:r>
                        </m:e>
                        <m:sub>
                          <m:r>
                            <a:rPr lang="en-US" altLang="zh-CN" sz="4500" i="1">
                              <a:latin typeface="Cambria Math" panose="02040503050406030204" pitchFamily="18" charset="0"/>
                            </a:rPr>
                            <m:t>𝒀</m:t>
                          </m:r>
                        </m:sub>
                      </m:sSub>
                      <m:r>
                        <a:rPr lang="en-US" altLang="zh-CN" sz="4500" i="1">
                          <a:latin typeface="Cambria Math" panose="02040503050406030204" pitchFamily="18" charset="0"/>
                        </a:rPr>
                        <m:t>(</m:t>
                      </m:r>
                      <m:r>
                        <a:rPr lang="en-US" altLang="zh-CN" sz="4500" i="1">
                          <a:latin typeface="Cambria Math" panose="02040503050406030204" pitchFamily="18" charset="0"/>
                        </a:rPr>
                        <m:t>𝝎</m:t>
                      </m:r>
                      <m:r>
                        <a:rPr lang="en-US" altLang="zh-CN" sz="4500" i="1">
                          <a:latin typeface="Cambria Math" panose="02040503050406030204" pitchFamily="18" charset="0"/>
                        </a:rPr>
                        <m:t>)=</m:t>
                      </m:r>
                      <m:sSub>
                        <m:sSubPr>
                          <m:ctrlPr>
                            <a:rPr lang="zh-CN" altLang="zh-CN" sz="4500" i="1">
                              <a:latin typeface="Cambria Math" panose="02040503050406030204" pitchFamily="18" charset="0"/>
                            </a:rPr>
                          </m:ctrlPr>
                        </m:sSubPr>
                        <m:e>
                          <m:r>
                            <a:rPr lang="en-US" altLang="zh-CN" sz="4500" i="1">
                              <a:latin typeface="Cambria Math" panose="02040503050406030204" pitchFamily="18" charset="0"/>
                            </a:rPr>
                            <m:t>𝑺</m:t>
                          </m:r>
                        </m:e>
                        <m:sub>
                          <m:r>
                            <a:rPr lang="en-US" altLang="zh-CN" sz="4500" i="1">
                              <a:latin typeface="Cambria Math" panose="02040503050406030204" pitchFamily="18" charset="0"/>
                            </a:rPr>
                            <m:t>𝑿</m:t>
                          </m:r>
                        </m:sub>
                      </m:sSub>
                      <m:r>
                        <a:rPr lang="en-US" altLang="zh-CN" sz="4500" i="1">
                          <a:latin typeface="Cambria Math" panose="02040503050406030204" pitchFamily="18" charset="0"/>
                        </a:rPr>
                        <m:t>(</m:t>
                      </m:r>
                      <m:r>
                        <a:rPr lang="en-US" altLang="zh-CN" sz="4500" i="1">
                          <a:latin typeface="Cambria Math" panose="02040503050406030204" pitchFamily="18" charset="0"/>
                        </a:rPr>
                        <m:t>𝝎</m:t>
                      </m:r>
                      <m:r>
                        <a:rPr lang="en-US" altLang="zh-CN" sz="4500" i="1">
                          <a:latin typeface="Cambria Math" panose="02040503050406030204" pitchFamily="18" charset="0"/>
                        </a:rPr>
                        <m:t>)|</m:t>
                      </m:r>
                      <m:r>
                        <a:rPr lang="en-US" altLang="zh-CN" sz="4500" i="1">
                          <a:latin typeface="Cambria Math" panose="02040503050406030204" pitchFamily="18" charset="0"/>
                        </a:rPr>
                        <m:t>𝑯</m:t>
                      </m:r>
                      <m:d>
                        <m:dPr>
                          <m:ctrlPr>
                            <a:rPr lang="en-US" altLang="zh-CN" sz="4500" i="1">
                              <a:latin typeface="Cambria Math" panose="02040503050406030204" pitchFamily="18" charset="0"/>
                            </a:rPr>
                          </m:ctrlPr>
                        </m:dPr>
                        <m:e>
                          <m:r>
                            <a:rPr lang="en-US" altLang="zh-CN" sz="4500" i="1">
                              <a:latin typeface="Cambria Math" panose="02040503050406030204" pitchFamily="18" charset="0"/>
                            </a:rPr>
                            <m:t>𝒋</m:t>
                          </m:r>
                          <m:r>
                            <a:rPr lang="en-US" altLang="zh-CN" sz="4500" i="1">
                              <a:latin typeface="Cambria Math" panose="02040503050406030204" pitchFamily="18" charset="0"/>
                            </a:rPr>
                            <m:t>𝝎</m:t>
                          </m:r>
                        </m:e>
                      </m:d>
                      <m:sSup>
                        <m:sSupPr>
                          <m:ctrlPr>
                            <a:rPr lang="zh-CN" altLang="zh-CN" sz="4500" i="1">
                              <a:latin typeface="Cambria Math" panose="02040503050406030204" pitchFamily="18" charset="0"/>
                            </a:rPr>
                          </m:ctrlPr>
                        </m:sSupPr>
                        <m:e>
                          <m:r>
                            <a:rPr lang="en-US" altLang="zh-CN" sz="4500" i="1">
                              <a:latin typeface="Cambria Math" panose="02040503050406030204" pitchFamily="18" charset="0"/>
                            </a:rPr>
                            <m:t>|</m:t>
                          </m:r>
                        </m:e>
                        <m:sup>
                          <m:r>
                            <a:rPr lang="en-US" altLang="zh-CN" sz="4500" i="1">
                              <a:latin typeface="Cambria Math" panose="02040503050406030204" pitchFamily="18" charset="0"/>
                            </a:rPr>
                            <m:t>𝟐</m:t>
                          </m:r>
                        </m:sup>
                      </m:sSup>
                      <m:r>
                        <a:rPr lang="en-US" altLang="zh-CN" sz="4500" i="1">
                          <a:latin typeface="Cambria Math" panose="02040503050406030204" pitchFamily="18" charset="0"/>
                        </a:rPr>
                        <m:t>=</m:t>
                      </m:r>
                      <m:f>
                        <m:fPr>
                          <m:ctrlPr>
                            <a:rPr lang="en-US" altLang="zh-CN" sz="4500" i="1">
                              <a:latin typeface="Cambria Math" panose="02040503050406030204" pitchFamily="18" charset="0"/>
                            </a:rPr>
                          </m:ctrlPr>
                        </m:fPr>
                        <m:num>
                          <m:r>
                            <a:rPr lang="en-US" altLang="zh-CN" sz="4500" i="1">
                              <a:latin typeface="Cambria Math" panose="02040503050406030204" pitchFamily="18" charset="0"/>
                            </a:rPr>
                            <m:t>𝟐</m:t>
                          </m:r>
                          <m:r>
                            <a:rPr lang="en-US" altLang="zh-CN" sz="4500" i="1">
                              <a:latin typeface="Cambria Math" panose="02040503050406030204" pitchFamily="18" charset="0"/>
                            </a:rPr>
                            <m:t>𝒂</m:t>
                          </m:r>
                          <m:sSubSup>
                            <m:sSubSupPr>
                              <m:ctrlPr>
                                <a:rPr lang="en-US" altLang="zh-CN" sz="4500" i="1">
                                  <a:latin typeface="Cambria Math" panose="02040503050406030204" pitchFamily="18" charset="0"/>
                                </a:rPr>
                              </m:ctrlPr>
                            </m:sSubSupPr>
                            <m:e>
                              <m:r>
                                <a:rPr lang="zh-CN" altLang="en-US" sz="4500" i="1">
                                  <a:latin typeface="Cambria Math" panose="02040503050406030204" pitchFamily="18" charset="0"/>
                                </a:rPr>
                                <m:t>𝝈</m:t>
                              </m:r>
                            </m:e>
                            <m:sub>
                              <m:r>
                                <a:rPr lang="en-US" altLang="zh-CN" sz="4500" i="1">
                                  <a:latin typeface="Cambria Math" panose="02040503050406030204" pitchFamily="18" charset="0"/>
                                </a:rPr>
                                <m:t>𝑿</m:t>
                              </m:r>
                            </m:sub>
                            <m:sup>
                              <m:r>
                                <a:rPr lang="en-US" altLang="zh-CN" sz="4500" i="1">
                                  <a:latin typeface="Cambria Math" panose="02040503050406030204" pitchFamily="18" charset="0"/>
                                </a:rPr>
                                <m:t>𝟐</m:t>
                              </m:r>
                            </m:sup>
                          </m:sSubSup>
                        </m:num>
                        <m:den>
                          <m:sSup>
                            <m:sSupPr>
                              <m:ctrlPr>
                                <a:rPr lang="en-US" altLang="zh-CN" sz="4500" i="1">
                                  <a:latin typeface="Cambria Math" panose="02040503050406030204" pitchFamily="18" charset="0"/>
                                </a:rPr>
                              </m:ctrlPr>
                            </m:sSupPr>
                            <m:e>
                              <m:r>
                                <a:rPr lang="en-US" altLang="zh-CN" sz="4500" i="1">
                                  <a:latin typeface="Cambria Math" panose="02040503050406030204" pitchFamily="18" charset="0"/>
                                </a:rPr>
                                <m:t>𝒂</m:t>
                              </m:r>
                            </m:e>
                            <m:sup>
                              <m:r>
                                <a:rPr lang="en-US" altLang="zh-CN" sz="4500" i="1">
                                  <a:latin typeface="Cambria Math" panose="02040503050406030204" pitchFamily="18" charset="0"/>
                                </a:rPr>
                                <m:t>𝟐</m:t>
                              </m:r>
                            </m:sup>
                          </m:sSup>
                          <m:r>
                            <a:rPr lang="en-US" altLang="zh-CN" sz="4500" i="1">
                              <a:latin typeface="Cambria Math" panose="02040503050406030204" pitchFamily="18" charset="0"/>
                            </a:rPr>
                            <m:t>+</m:t>
                          </m:r>
                          <m:sSup>
                            <m:sSupPr>
                              <m:ctrlPr>
                                <a:rPr lang="en-US" altLang="zh-CN" sz="4500" i="1">
                                  <a:latin typeface="Cambria Math" panose="02040503050406030204" pitchFamily="18" charset="0"/>
                                </a:rPr>
                              </m:ctrlPr>
                            </m:sSupPr>
                            <m:e>
                              <m:r>
                                <a:rPr lang="zh-CN" altLang="en-US" sz="4500" i="1">
                                  <a:latin typeface="Cambria Math" panose="02040503050406030204" pitchFamily="18" charset="0"/>
                                </a:rPr>
                                <m:t>𝝎</m:t>
                              </m:r>
                            </m:e>
                            <m:sup>
                              <m:r>
                                <a:rPr lang="en-US" altLang="zh-CN" sz="4500" i="1">
                                  <a:latin typeface="Cambria Math" panose="02040503050406030204" pitchFamily="18" charset="0"/>
                                </a:rPr>
                                <m:t>𝟐</m:t>
                              </m:r>
                            </m:sup>
                          </m:sSup>
                        </m:den>
                      </m:f>
                      <m:r>
                        <a:rPr lang="en-US" altLang="zh-CN" sz="4500" i="1">
                          <a:latin typeface="Cambria Math" panose="02040503050406030204" pitchFamily="18" charset="0"/>
                          <a:ea typeface="Cambria Math" panose="02040503050406030204" pitchFamily="18" charset="0"/>
                        </a:rPr>
                        <m:t>∙</m:t>
                      </m:r>
                      <m:sSup>
                        <m:sSupPr>
                          <m:ctrlPr>
                            <a:rPr lang="en-US" altLang="zh-CN" sz="4500" i="1">
                              <a:latin typeface="Cambria Math" panose="02040503050406030204" pitchFamily="18" charset="0"/>
                              <a:ea typeface="Cambria Math" panose="02040503050406030204" pitchFamily="18" charset="0"/>
                            </a:rPr>
                          </m:ctrlPr>
                        </m:sSupPr>
                        <m:e>
                          <m:d>
                            <m:dPr>
                              <m:begChr m:val="|"/>
                              <m:endChr m:val="|"/>
                              <m:ctrlPr>
                                <a:rPr lang="en-US" altLang="zh-CN" sz="4500" i="1">
                                  <a:latin typeface="Cambria Math" panose="02040503050406030204" pitchFamily="18" charset="0"/>
                                  <a:ea typeface="Cambria Math" panose="02040503050406030204" pitchFamily="18" charset="0"/>
                                </a:rPr>
                              </m:ctrlPr>
                            </m:dPr>
                            <m:e>
                              <m:f>
                                <m:fPr>
                                  <m:ctrlPr>
                                    <a:rPr lang="en-US" altLang="zh-CN" sz="4500" i="1">
                                      <a:latin typeface="Cambria Math" panose="02040503050406030204" pitchFamily="18" charset="0"/>
                                      <a:ea typeface="Cambria Math" panose="02040503050406030204" pitchFamily="18" charset="0"/>
                                    </a:rPr>
                                  </m:ctrlPr>
                                </m:fPr>
                                <m:num>
                                  <m:r>
                                    <a:rPr lang="en-US" altLang="zh-CN" sz="4500" i="1">
                                      <a:latin typeface="Cambria Math" panose="02040503050406030204" pitchFamily="18" charset="0"/>
                                      <a:ea typeface="Cambria Math" panose="02040503050406030204" pitchFamily="18" charset="0"/>
                                    </a:rPr>
                                    <m:t>𝟏</m:t>
                                  </m:r>
                                </m:num>
                                <m:den>
                                  <m:r>
                                    <a:rPr lang="en-US" altLang="zh-CN" sz="4500" i="1">
                                      <a:latin typeface="Cambria Math" panose="02040503050406030204" pitchFamily="18" charset="0"/>
                                      <a:ea typeface="Cambria Math" panose="02040503050406030204" pitchFamily="18" charset="0"/>
                                    </a:rPr>
                                    <m:t>𝒃</m:t>
                                  </m:r>
                                  <m:r>
                                    <a:rPr lang="en-US" altLang="zh-CN" sz="4500" i="1">
                                      <a:latin typeface="Cambria Math" panose="02040503050406030204" pitchFamily="18" charset="0"/>
                                      <a:ea typeface="Cambria Math" panose="02040503050406030204" pitchFamily="18" charset="0"/>
                                    </a:rPr>
                                    <m:t>+</m:t>
                                  </m:r>
                                  <m:r>
                                    <a:rPr lang="en-US" altLang="zh-CN" sz="4500" i="1">
                                      <a:latin typeface="Cambria Math" panose="02040503050406030204" pitchFamily="18" charset="0"/>
                                      <a:ea typeface="Cambria Math" panose="02040503050406030204" pitchFamily="18" charset="0"/>
                                    </a:rPr>
                                    <m:t>𝒋</m:t>
                                  </m:r>
                                  <m:r>
                                    <a:rPr lang="zh-CN" altLang="en-US" sz="4500" i="1">
                                      <a:latin typeface="Cambria Math" panose="02040503050406030204" pitchFamily="18" charset="0"/>
                                      <a:ea typeface="Cambria Math" panose="02040503050406030204" pitchFamily="18" charset="0"/>
                                    </a:rPr>
                                    <m:t>𝝎</m:t>
                                  </m:r>
                                </m:den>
                              </m:f>
                            </m:e>
                          </m:d>
                        </m:e>
                        <m:sup>
                          <m:r>
                            <a:rPr lang="en-US" altLang="zh-CN" sz="4500" i="1">
                              <a:latin typeface="Cambria Math" panose="02040503050406030204" pitchFamily="18" charset="0"/>
                              <a:ea typeface="Cambria Math" panose="02040503050406030204" pitchFamily="18" charset="0"/>
                            </a:rPr>
                            <m:t>𝟐</m:t>
                          </m:r>
                        </m:sup>
                      </m:sSup>
                      <m:r>
                        <a:rPr lang="en-US" altLang="zh-CN" sz="4500" i="1">
                          <a:latin typeface="Cambria Math" panose="02040503050406030204" pitchFamily="18" charset="0"/>
                        </a:rPr>
                        <m:t>=</m:t>
                      </m:r>
                      <m:f>
                        <m:fPr>
                          <m:ctrlPr>
                            <a:rPr lang="en-US" altLang="zh-CN" sz="4500" i="1">
                              <a:latin typeface="Cambria Math" panose="02040503050406030204" pitchFamily="18" charset="0"/>
                            </a:rPr>
                          </m:ctrlPr>
                        </m:fPr>
                        <m:num>
                          <m:r>
                            <a:rPr lang="en-US" altLang="zh-CN" sz="4500" i="1">
                              <a:latin typeface="Cambria Math" panose="02040503050406030204" pitchFamily="18" charset="0"/>
                            </a:rPr>
                            <m:t>𝟐</m:t>
                          </m:r>
                          <m:r>
                            <a:rPr lang="en-US" altLang="zh-CN" sz="4500" i="1">
                              <a:latin typeface="Cambria Math" panose="02040503050406030204" pitchFamily="18" charset="0"/>
                            </a:rPr>
                            <m:t>𝒂</m:t>
                          </m:r>
                          <m:sSubSup>
                            <m:sSubSupPr>
                              <m:ctrlPr>
                                <a:rPr lang="en-US" altLang="zh-CN" sz="4500" i="1">
                                  <a:latin typeface="Cambria Math" panose="02040503050406030204" pitchFamily="18" charset="0"/>
                                </a:rPr>
                              </m:ctrlPr>
                            </m:sSubSupPr>
                            <m:e>
                              <m:r>
                                <a:rPr lang="zh-CN" altLang="en-US" sz="4500" i="1">
                                  <a:latin typeface="Cambria Math" panose="02040503050406030204" pitchFamily="18" charset="0"/>
                                </a:rPr>
                                <m:t>𝝈</m:t>
                              </m:r>
                            </m:e>
                            <m:sub>
                              <m:r>
                                <a:rPr lang="en-US" altLang="zh-CN" sz="4500" i="1">
                                  <a:latin typeface="Cambria Math" panose="02040503050406030204" pitchFamily="18" charset="0"/>
                                </a:rPr>
                                <m:t>𝑿</m:t>
                              </m:r>
                            </m:sub>
                            <m:sup>
                              <m:r>
                                <a:rPr lang="en-US" altLang="zh-CN" sz="4500" i="1">
                                  <a:latin typeface="Cambria Math" panose="02040503050406030204" pitchFamily="18" charset="0"/>
                                </a:rPr>
                                <m:t>𝟐</m:t>
                              </m:r>
                            </m:sup>
                          </m:sSubSup>
                        </m:num>
                        <m:den>
                          <m:sSup>
                            <m:sSupPr>
                              <m:ctrlPr>
                                <a:rPr lang="en-US" altLang="zh-CN" sz="4500" i="1">
                                  <a:latin typeface="Cambria Math" panose="02040503050406030204" pitchFamily="18" charset="0"/>
                                </a:rPr>
                              </m:ctrlPr>
                            </m:sSupPr>
                            <m:e>
                              <m:r>
                                <a:rPr lang="en-US" altLang="zh-CN" sz="4500" i="1">
                                  <a:latin typeface="Cambria Math" panose="02040503050406030204" pitchFamily="18" charset="0"/>
                                </a:rPr>
                                <m:t>𝒂</m:t>
                              </m:r>
                            </m:e>
                            <m:sup>
                              <m:r>
                                <a:rPr lang="en-US" altLang="zh-CN" sz="4500" i="1">
                                  <a:latin typeface="Cambria Math" panose="02040503050406030204" pitchFamily="18" charset="0"/>
                                </a:rPr>
                                <m:t>𝟐</m:t>
                              </m:r>
                            </m:sup>
                          </m:sSup>
                          <m:r>
                            <a:rPr lang="en-US" altLang="zh-CN" sz="4500" i="1">
                              <a:latin typeface="Cambria Math" panose="02040503050406030204" pitchFamily="18" charset="0"/>
                            </a:rPr>
                            <m:t>+</m:t>
                          </m:r>
                          <m:sSup>
                            <m:sSupPr>
                              <m:ctrlPr>
                                <a:rPr lang="en-US" altLang="zh-CN" sz="4500" i="1">
                                  <a:latin typeface="Cambria Math" panose="02040503050406030204" pitchFamily="18" charset="0"/>
                                </a:rPr>
                              </m:ctrlPr>
                            </m:sSupPr>
                            <m:e>
                              <m:r>
                                <a:rPr lang="zh-CN" altLang="en-US" sz="4500" i="1">
                                  <a:latin typeface="Cambria Math" panose="02040503050406030204" pitchFamily="18" charset="0"/>
                                </a:rPr>
                                <m:t>𝝎</m:t>
                              </m:r>
                            </m:e>
                            <m:sup>
                              <m:r>
                                <a:rPr lang="en-US" altLang="zh-CN" sz="4500" i="1">
                                  <a:latin typeface="Cambria Math" panose="02040503050406030204" pitchFamily="18" charset="0"/>
                                </a:rPr>
                                <m:t>𝟐</m:t>
                              </m:r>
                            </m:sup>
                          </m:sSup>
                        </m:den>
                      </m:f>
                      <m:f>
                        <m:fPr>
                          <m:ctrlPr>
                            <a:rPr lang="en-US" altLang="zh-CN" sz="4500" i="1">
                              <a:latin typeface="Cambria Math" panose="02040503050406030204" pitchFamily="18" charset="0"/>
                            </a:rPr>
                          </m:ctrlPr>
                        </m:fPr>
                        <m:num>
                          <m:r>
                            <a:rPr lang="en-US" altLang="zh-CN" sz="4500" i="1">
                              <a:latin typeface="Cambria Math" panose="02040503050406030204" pitchFamily="18" charset="0"/>
                            </a:rPr>
                            <m:t>𝟏</m:t>
                          </m:r>
                        </m:num>
                        <m:den>
                          <m:sSup>
                            <m:sSupPr>
                              <m:ctrlPr>
                                <a:rPr lang="en-US" altLang="zh-CN" sz="4500" i="1">
                                  <a:latin typeface="Cambria Math" panose="02040503050406030204" pitchFamily="18" charset="0"/>
                                </a:rPr>
                              </m:ctrlPr>
                            </m:sSupPr>
                            <m:e>
                              <m:r>
                                <a:rPr lang="en-US" altLang="zh-CN" sz="4500" i="1">
                                  <a:latin typeface="Cambria Math" panose="02040503050406030204" pitchFamily="18" charset="0"/>
                                </a:rPr>
                                <m:t>𝒃</m:t>
                              </m:r>
                            </m:e>
                            <m:sup>
                              <m:r>
                                <a:rPr lang="en-US" altLang="zh-CN" sz="4500" i="1">
                                  <a:latin typeface="Cambria Math" panose="02040503050406030204" pitchFamily="18" charset="0"/>
                                </a:rPr>
                                <m:t>𝟐</m:t>
                              </m:r>
                            </m:sup>
                          </m:sSup>
                          <m:r>
                            <a:rPr lang="en-US" altLang="zh-CN" sz="4500" i="1">
                              <a:latin typeface="Cambria Math" panose="02040503050406030204" pitchFamily="18" charset="0"/>
                            </a:rPr>
                            <m:t>+</m:t>
                          </m:r>
                          <m:sSup>
                            <m:sSupPr>
                              <m:ctrlPr>
                                <a:rPr lang="en-US" altLang="zh-CN" sz="4500" i="1">
                                  <a:latin typeface="Cambria Math" panose="02040503050406030204" pitchFamily="18" charset="0"/>
                                </a:rPr>
                              </m:ctrlPr>
                            </m:sSupPr>
                            <m:e>
                              <m:r>
                                <a:rPr lang="zh-CN" altLang="en-US" sz="4500" i="1">
                                  <a:latin typeface="Cambria Math" panose="02040503050406030204" pitchFamily="18" charset="0"/>
                                </a:rPr>
                                <m:t>𝝎</m:t>
                              </m:r>
                            </m:e>
                            <m:sup>
                              <m:r>
                                <a:rPr lang="en-US" altLang="zh-CN" sz="4500" i="1">
                                  <a:latin typeface="Cambria Math" panose="02040503050406030204" pitchFamily="18" charset="0"/>
                                </a:rPr>
                                <m:t>𝟐</m:t>
                              </m:r>
                            </m:sup>
                          </m:sSup>
                        </m:den>
                      </m:f>
                    </m:oMath>
                  </m:oMathPara>
                </a14:m>
                <a:endParaRPr lang="en-US" altLang="zh-CN" sz="4500" dirty="0"/>
              </a:p>
              <a:p>
                <a:pPr marL="0" indent="0">
                  <a:buNone/>
                </a:pP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57200" y="116632"/>
                <a:ext cx="8507288" cy="6120680"/>
              </a:xfrm>
              <a:blipFill>
                <a:blip r:embed="rId2"/>
                <a:stretch>
                  <a:fillRect l="-57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21D64FB-4C51-4FD0-B95F-187B3EE68EFB}"/>
              </a:ext>
            </a:extLst>
          </p:cNvPr>
          <p:cNvPicPr>
            <a:picLocks noChangeAspect="1"/>
          </p:cNvPicPr>
          <p:nvPr/>
        </p:nvPicPr>
        <p:blipFill>
          <a:blip r:embed="rId3"/>
          <a:stretch>
            <a:fillRect/>
          </a:stretch>
        </p:blipFill>
        <p:spPr>
          <a:xfrm>
            <a:off x="1979712" y="3429000"/>
            <a:ext cx="3672408" cy="1512168"/>
          </a:xfrm>
          <a:prstGeom prst="rect">
            <a:avLst/>
          </a:prstGeom>
        </p:spPr>
      </p:pic>
    </p:spTree>
    <p:extLst>
      <p:ext uri="{BB962C8B-B14F-4D97-AF65-F5344CB8AC3E}">
        <p14:creationId xmlns:p14="http://schemas.microsoft.com/office/powerpoint/2010/main" val="335348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755576" y="620688"/>
                <a:ext cx="7772400" cy="4427726"/>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𝒂</m:t>
                          </m:r>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𝝈</m:t>
                              </m:r>
                            </m:e>
                            <m:sub>
                              <m:r>
                                <a:rPr lang="en-US" altLang="zh-CN" i="1">
                                  <a:latin typeface="Cambria Math" panose="02040503050406030204" pitchFamily="18" charset="0"/>
                                </a:rPr>
                                <m:t>𝑿</m:t>
                              </m:r>
                            </m:sub>
                            <m:sup>
                              <m:r>
                                <a:rPr lang="en-US" altLang="zh-CN" i="1">
                                  <a:latin typeface="Cambria Math" panose="02040503050406030204" pitchFamily="18" charset="0"/>
                                </a:rPr>
                                <m:t>𝟐</m:t>
                              </m:r>
                            </m:sup>
                          </m:sSub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𝟐</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𝒂</m:t>
                              </m:r>
                            </m:e>
                            <m:sup>
                              <m:r>
                                <a:rPr lang="en-US" altLang="zh-CN" i="1">
                                  <a:latin typeface="Cambria Math" panose="02040503050406030204" pitchFamily="18" charset="0"/>
                                </a:rPr>
                                <m:t>𝟐</m:t>
                              </m:r>
                            </m:sup>
                          </m:sSup>
                        </m:den>
                      </m:f>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𝒂</m:t>
                              </m:r>
                            </m:den>
                          </m:f>
                          <m:sSup>
                            <m:sSupPr>
                              <m:ctrlPr>
                                <a:rPr lang="en-US"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m:t>
                              </m:r>
                              <m:r>
                                <a:rPr lang="en-US" altLang="zh-CN" i="1">
                                  <a:latin typeface="Cambria Math" panose="02040503050406030204" pitchFamily="18" charset="0"/>
                                </a:rPr>
                                <m:t>𝒂</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sup>
                          </m:s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𝒃</m:t>
                              </m:r>
                            </m:den>
                          </m:f>
                          <m:sSup>
                            <m:sSupPr>
                              <m:ctrlPr>
                                <a:rPr lang="en-US" altLang="zh-CN" i="1">
                                  <a:latin typeface="Cambria Math" panose="02040503050406030204" pitchFamily="18" charset="0"/>
                                </a:rPr>
                              </m:ctrlPr>
                            </m:sSupPr>
                            <m:e>
                              <m:r>
                                <a:rPr lang="en-US" altLang="zh-CN" i="1">
                                  <a:latin typeface="Cambria Math" panose="02040503050406030204" pitchFamily="18" charset="0"/>
                                </a:rPr>
                                <m:t>𝒆</m:t>
                              </m:r>
                            </m:e>
                            <m:sup>
                              <m:r>
                                <a:rPr lang="en-US" altLang="zh-CN" i="1">
                                  <a:latin typeface="Cambria Math" panose="02040503050406030204" pitchFamily="18" charset="0"/>
                                </a:rPr>
                                <m:t>−</m:t>
                              </m:r>
                              <m:r>
                                <a:rPr lang="en-US" altLang="zh-CN" i="1">
                                  <a:latin typeface="Cambria Math" panose="02040503050406030204" pitchFamily="18" charset="0"/>
                                </a:rPr>
                                <m:t>𝒃</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sup>
                          </m:sSup>
                        </m:e>
                      </m:d>
                    </m:oMath>
                  </m:oMathPara>
                </a14:m>
                <a:endParaRPr lang="en-US" altLang="zh-CN" dirty="0"/>
              </a:p>
              <a:p>
                <a:pPr marL="0" indent="0">
                  <a:buNone/>
                </a:pPr>
                <a:endParaRPr lang="en-US" altLang="zh-CN" dirty="0"/>
              </a:p>
              <a:p>
                <a:pPr marL="0" indent="0">
                  <a:buNone/>
                </a:pPr>
                <a:r>
                  <a:rPr lang="en-US" altLang="zh-CN" dirty="0"/>
                  <a:t>(2) </a:t>
                </a:r>
                <a14:m>
                  <m:oMath xmlns:m="http://schemas.openxmlformats.org/officeDocument/2006/math">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平稳高斯，</a:t>
                </a:r>
                <a:r>
                  <a:rPr lang="en-US" altLang="zh-CN" dirty="0"/>
                  <a:t> </a:t>
                </a:r>
                <a14:m>
                  <m:oMath xmlns:m="http://schemas.openxmlformats.org/officeDocument/2006/math">
                    <m:r>
                      <a:rPr lang="en-US" altLang="zh-CN" i="1">
                        <a:latin typeface="Cambria Math" panose="02040503050406030204" pitchFamily="18" charset="0"/>
                      </a:rPr>
                      <m:t>𝒉</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为</a:t>
                </a:r>
                <a:r>
                  <a:rPr lang="en-US" altLang="zh-CN" dirty="0"/>
                  <a:t>LTI</a:t>
                </a:r>
                <a:r>
                  <a:rPr lang="zh-CN" altLang="en-US" dirty="0"/>
                  <a:t>系统，故</a:t>
                </a:r>
                <a14:m>
                  <m:oMath xmlns:m="http://schemas.openxmlformats.org/officeDocument/2006/math">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平稳高斯。</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𝒎</m:t>
                              </m:r>
                            </m:e>
                            <m:sub>
                              <m:r>
                                <a:rPr lang="en-US" altLang="zh-CN" b="1" i="1" smtClean="0">
                                  <a:latin typeface="Cambria Math" panose="02040503050406030204" pitchFamily="18" charset="0"/>
                                </a:rPr>
                                <m:t>𝒀</m:t>
                              </m:r>
                            </m:sub>
                          </m:sSub>
                          <m:r>
                            <a:rPr lang="en-US" altLang="zh-CN" b="1" i="1" smtClean="0">
                              <a:latin typeface="Cambria Math" panose="02040503050406030204" pitchFamily="18" charset="0"/>
                            </a:rPr>
                            <m:t>=</m:t>
                          </m:r>
                          <m:r>
                            <a:rPr lang="en-US" altLang="zh-CN" i="1">
                              <a:latin typeface="Cambria Math" panose="02040503050406030204" pitchFamily="18" charset="0"/>
                            </a:rPr>
                            <m:t>𝒎</m:t>
                          </m:r>
                        </m:e>
                        <m:sub>
                          <m:r>
                            <a:rPr lang="en-US" altLang="zh-CN" i="1">
                              <a:latin typeface="Cambria Math" panose="02040503050406030204" pitchFamily="18" charset="0"/>
                            </a:rPr>
                            <m:t>𝑿</m:t>
                          </m:r>
                        </m:sub>
                      </m:sSub>
                      <m:r>
                        <a:rPr lang="en-US" altLang="zh-CN" i="1">
                          <a:latin typeface="Cambria Math" panose="02040503050406030204" pitchFamily="18" charset="0"/>
                        </a:rPr>
                        <m:t>𝑯</m:t>
                      </m:r>
                      <m:d>
                        <m:dPr>
                          <m:ctrlPr>
                            <a:rPr lang="en-US" altLang="zh-CN" i="1">
                              <a:latin typeface="Cambria Math" panose="02040503050406030204" pitchFamily="18" charset="0"/>
                            </a:rPr>
                          </m:ctrlPr>
                        </m:dPr>
                        <m:e>
                          <m:r>
                            <a:rPr lang="en-US" altLang="zh-CN" i="1">
                              <a:latin typeface="Cambria Math" panose="02040503050406030204" pitchFamily="18" charset="0"/>
                            </a:rPr>
                            <m:t>𝒋</m:t>
                          </m:r>
                          <m:r>
                            <a:rPr lang="en-US" altLang="zh-CN" i="1">
                              <a:latin typeface="Cambria Math" panose="02040503050406030204" pitchFamily="18" charset="0"/>
                            </a:rPr>
                            <m:t>𝟎</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sSubSup>
                        <m:sSubSupPr>
                          <m:ctrlPr>
                            <a:rPr lang="en-US" altLang="zh-CN" i="1" smtClean="0">
                              <a:highlight>
                                <a:srgbClr val="FFFF00"/>
                              </a:highlight>
                              <a:latin typeface="Cambria Math" panose="02040503050406030204" pitchFamily="18" charset="0"/>
                            </a:rPr>
                          </m:ctrlPr>
                        </m:sSubSupPr>
                        <m:e>
                          <m:r>
                            <a:rPr lang="zh-CN" altLang="en-US" i="1" smtClean="0">
                              <a:highlight>
                                <a:srgbClr val="FFFF00"/>
                              </a:highlight>
                              <a:latin typeface="Cambria Math" panose="02040503050406030204" pitchFamily="18" charset="0"/>
                            </a:rPr>
                            <m:t>𝝈</m:t>
                          </m:r>
                        </m:e>
                        <m:sub>
                          <m:r>
                            <a:rPr lang="en-US" altLang="zh-CN" b="1" i="1" smtClean="0">
                              <a:highlight>
                                <a:srgbClr val="FFFF00"/>
                              </a:highlight>
                              <a:latin typeface="Cambria Math" panose="02040503050406030204" pitchFamily="18" charset="0"/>
                            </a:rPr>
                            <m:t>𝒀</m:t>
                          </m:r>
                        </m:sub>
                        <m:sup>
                          <m:r>
                            <a:rPr lang="en-US" altLang="zh-CN" b="1" i="1" smtClean="0">
                              <a:highlight>
                                <a:srgbClr val="FFFF00"/>
                              </a:highlight>
                              <a:latin typeface="Cambria Math" panose="02040503050406030204" pitchFamily="18" charset="0"/>
                            </a:rPr>
                            <m:t>𝟐</m:t>
                          </m:r>
                        </m:sup>
                      </m:sSubSup>
                      <m:r>
                        <a:rPr lang="en-US" altLang="zh-CN" b="1" i="1" smtClean="0">
                          <a:highlight>
                            <a:srgbClr val="FFFF00"/>
                          </a:highlight>
                          <a:latin typeface="Cambria Math" panose="02040503050406030204" pitchFamily="18" charset="0"/>
                        </a:rPr>
                        <m:t>=</m:t>
                      </m:r>
                      <m:sSub>
                        <m:sSubPr>
                          <m:ctrlPr>
                            <a:rPr lang="en-US" altLang="zh-CN" b="1" i="1" smtClean="0">
                              <a:highlight>
                                <a:srgbClr val="FFFF00"/>
                              </a:highlight>
                              <a:latin typeface="Cambria Math" panose="02040503050406030204" pitchFamily="18" charset="0"/>
                            </a:rPr>
                          </m:ctrlPr>
                        </m:sSubPr>
                        <m:e>
                          <m:r>
                            <a:rPr lang="en-US" altLang="zh-CN" b="1" i="1" smtClean="0">
                              <a:highlight>
                                <a:srgbClr val="FFFF00"/>
                              </a:highlight>
                              <a:latin typeface="Cambria Math" panose="02040503050406030204" pitchFamily="18" charset="0"/>
                            </a:rPr>
                            <m:t>𝑹</m:t>
                          </m:r>
                        </m:e>
                        <m:sub>
                          <m:r>
                            <a:rPr lang="en-US" altLang="zh-CN" b="1" i="1" smtClean="0">
                              <a:highlight>
                                <a:srgbClr val="FFFF00"/>
                              </a:highlight>
                              <a:latin typeface="Cambria Math" panose="02040503050406030204" pitchFamily="18" charset="0"/>
                            </a:rPr>
                            <m:t>𝒀</m:t>
                          </m:r>
                        </m:sub>
                      </m:sSub>
                      <m:d>
                        <m:dPr>
                          <m:ctrlPr>
                            <a:rPr lang="en-US" altLang="zh-CN" b="1" i="1" smtClean="0">
                              <a:highlight>
                                <a:srgbClr val="FFFF00"/>
                              </a:highlight>
                              <a:latin typeface="Cambria Math" panose="02040503050406030204" pitchFamily="18" charset="0"/>
                            </a:rPr>
                          </m:ctrlPr>
                        </m:dPr>
                        <m:e>
                          <m:r>
                            <a:rPr lang="en-US" altLang="zh-CN" b="1" i="1" smtClean="0">
                              <a:highlight>
                                <a:srgbClr val="FFFF00"/>
                              </a:highlight>
                              <a:latin typeface="Cambria Math" panose="02040503050406030204" pitchFamily="18" charset="0"/>
                            </a:rPr>
                            <m:t>𝟎</m:t>
                          </m:r>
                        </m:e>
                      </m:d>
                      <m:r>
                        <a:rPr lang="en-US" altLang="zh-CN" b="1" i="1" smtClean="0">
                          <a:highlight>
                            <a:srgbClr val="FFFF00"/>
                          </a:highlight>
                          <a:latin typeface="Cambria Math" panose="02040503050406030204" pitchFamily="18" charset="0"/>
                        </a:rPr>
                        <m:t>−</m:t>
                      </m:r>
                      <m:sSubSup>
                        <m:sSubSupPr>
                          <m:ctrlPr>
                            <a:rPr lang="en-US" altLang="zh-CN" b="1" i="1" smtClean="0">
                              <a:highlight>
                                <a:srgbClr val="FFFF00"/>
                              </a:highlight>
                              <a:latin typeface="Cambria Math" panose="02040503050406030204" pitchFamily="18" charset="0"/>
                            </a:rPr>
                          </m:ctrlPr>
                        </m:sSubSupPr>
                        <m:e>
                          <m:r>
                            <a:rPr lang="en-US" altLang="zh-CN" b="1" i="1" smtClean="0">
                              <a:highlight>
                                <a:srgbClr val="FFFF00"/>
                              </a:highlight>
                              <a:latin typeface="Cambria Math" panose="02040503050406030204" pitchFamily="18" charset="0"/>
                            </a:rPr>
                            <m:t>𝒎</m:t>
                          </m:r>
                        </m:e>
                        <m:sub>
                          <m:r>
                            <a:rPr lang="en-US" altLang="zh-CN" b="1" i="1" smtClean="0">
                              <a:highlight>
                                <a:srgbClr val="FFFF00"/>
                              </a:highlight>
                              <a:latin typeface="Cambria Math" panose="02040503050406030204" pitchFamily="18" charset="0"/>
                            </a:rPr>
                            <m:t>𝒀</m:t>
                          </m:r>
                        </m:sub>
                        <m:sup>
                          <m:r>
                            <a:rPr lang="en-US" altLang="zh-CN" b="1" i="1" smtClean="0">
                              <a:highlight>
                                <a:srgbClr val="FFFF00"/>
                              </a:highlight>
                              <a:latin typeface="Cambria Math" panose="02040503050406030204" pitchFamily="18" charset="0"/>
                            </a:rPr>
                            <m:t>𝟐</m:t>
                          </m:r>
                        </m:sup>
                      </m:sSubSup>
                      <m:r>
                        <a:rPr lang="en-US" altLang="zh-CN" b="1" i="1" smtClean="0">
                          <a:highlight>
                            <a:srgbClr val="FFFF00"/>
                          </a:highlight>
                          <a:latin typeface="Cambria Math" panose="02040503050406030204" pitchFamily="18" charset="0"/>
                        </a:rPr>
                        <m:t>=</m:t>
                      </m:r>
                      <m:f>
                        <m:fPr>
                          <m:ctrlPr>
                            <a:rPr lang="en-US" altLang="zh-CN" b="1" i="1" smtClean="0">
                              <a:highlight>
                                <a:srgbClr val="FFFF00"/>
                              </a:highlight>
                              <a:latin typeface="Cambria Math" panose="02040503050406030204" pitchFamily="18" charset="0"/>
                            </a:rPr>
                          </m:ctrlPr>
                        </m:fPr>
                        <m:num>
                          <m:sSubSup>
                            <m:sSubSupPr>
                              <m:ctrlPr>
                                <a:rPr lang="en-US" altLang="zh-CN" i="1">
                                  <a:highlight>
                                    <a:srgbClr val="FFFF00"/>
                                  </a:highlight>
                                  <a:latin typeface="Cambria Math" panose="02040503050406030204" pitchFamily="18" charset="0"/>
                                </a:rPr>
                              </m:ctrlPr>
                            </m:sSubSupPr>
                            <m:e>
                              <m:r>
                                <a:rPr lang="zh-CN" altLang="en-US" i="1">
                                  <a:highlight>
                                    <a:srgbClr val="FFFF00"/>
                                  </a:highlight>
                                  <a:latin typeface="Cambria Math" panose="02040503050406030204" pitchFamily="18" charset="0"/>
                                </a:rPr>
                                <m:t>𝝈</m:t>
                              </m:r>
                            </m:e>
                            <m:sub>
                              <m:r>
                                <a:rPr lang="en-US" altLang="zh-CN" b="1" i="1" smtClean="0">
                                  <a:highlight>
                                    <a:srgbClr val="FFFF00"/>
                                  </a:highlight>
                                  <a:latin typeface="Cambria Math" panose="02040503050406030204" pitchFamily="18" charset="0"/>
                                </a:rPr>
                                <m:t>𝑿</m:t>
                              </m:r>
                            </m:sub>
                            <m:sup>
                              <m:r>
                                <a:rPr lang="en-US" altLang="zh-CN" i="1">
                                  <a:highlight>
                                    <a:srgbClr val="FFFF00"/>
                                  </a:highlight>
                                  <a:latin typeface="Cambria Math" panose="02040503050406030204" pitchFamily="18" charset="0"/>
                                </a:rPr>
                                <m:t>𝟐</m:t>
                              </m:r>
                            </m:sup>
                          </m:sSubSup>
                        </m:num>
                        <m:den>
                          <m:r>
                            <a:rPr lang="en-US" altLang="zh-CN" b="1" i="1" smtClean="0">
                              <a:highlight>
                                <a:srgbClr val="FFFF00"/>
                              </a:highlight>
                              <a:latin typeface="Cambria Math" panose="02040503050406030204" pitchFamily="18" charset="0"/>
                            </a:rPr>
                            <m:t>𝒃</m:t>
                          </m:r>
                          <m:r>
                            <a:rPr lang="en-US" altLang="zh-CN" b="1" i="1" smtClean="0">
                              <a:highlight>
                                <a:srgbClr val="FFFF00"/>
                              </a:highlight>
                              <a:latin typeface="Cambria Math" panose="02040503050406030204" pitchFamily="18" charset="0"/>
                            </a:rPr>
                            <m:t>(</m:t>
                          </m:r>
                          <m:r>
                            <a:rPr lang="en-US" altLang="zh-CN" b="1" i="1" smtClean="0">
                              <a:highlight>
                                <a:srgbClr val="FFFF00"/>
                              </a:highlight>
                              <a:latin typeface="Cambria Math" panose="02040503050406030204" pitchFamily="18" charset="0"/>
                            </a:rPr>
                            <m:t>𝒂</m:t>
                          </m:r>
                          <m:r>
                            <a:rPr lang="en-US" altLang="zh-CN" b="1" i="1" smtClean="0">
                              <a:highlight>
                                <a:srgbClr val="FFFF00"/>
                              </a:highlight>
                              <a:latin typeface="Cambria Math" panose="02040503050406030204" pitchFamily="18" charset="0"/>
                            </a:rPr>
                            <m:t>+</m:t>
                          </m:r>
                          <m:r>
                            <a:rPr lang="en-US" altLang="zh-CN" b="1" i="1" smtClean="0">
                              <a:highlight>
                                <a:srgbClr val="FFFF00"/>
                              </a:highlight>
                              <a:latin typeface="Cambria Math" panose="02040503050406030204" pitchFamily="18" charset="0"/>
                            </a:rPr>
                            <m:t>𝒃</m:t>
                          </m:r>
                          <m:r>
                            <a:rPr lang="en-US" altLang="zh-CN" b="1" i="1" smtClean="0">
                              <a:highlight>
                                <a:srgbClr val="FFFF00"/>
                              </a:highlight>
                              <a:latin typeface="Cambria Math" panose="02040503050406030204" pitchFamily="18" charset="0"/>
                            </a:rPr>
                            <m:t>)</m:t>
                          </m:r>
                        </m:den>
                      </m:f>
                    </m:oMath>
                  </m:oMathPara>
                </a14:m>
                <a:endParaRPr lang="en-US" altLang="zh-CN" dirty="0">
                  <a:highlight>
                    <a:srgbClr val="FFFF00"/>
                  </a:highlight>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𝒀</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𝒚</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ad>
                            <m:radPr>
                              <m:degHide m:val="on"/>
                              <m:ctrlPr>
                                <a:rPr lang="en-US" altLang="zh-CN" b="1" i="1" smtClean="0">
                                  <a:latin typeface="Cambria Math" panose="02040503050406030204" pitchFamily="18" charset="0"/>
                                </a:rPr>
                              </m:ctrlPr>
                            </m:radPr>
                            <m:deg/>
                            <m:e>
                              <m:r>
                                <a:rPr lang="en-US" altLang="zh-CN" i="1">
                                  <a:latin typeface="Cambria Math" panose="02040503050406030204" pitchFamily="18" charset="0"/>
                                </a:rPr>
                                <m:t>𝒃</m:t>
                              </m:r>
                              <m:r>
                                <a:rPr lang="en-US" altLang="zh-CN" i="1">
                                  <a:latin typeface="Cambria Math" panose="02040503050406030204" pitchFamily="18" charset="0"/>
                                </a:rPr>
                                <m:t>(</m:t>
                              </m:r>
                              <m:r>
                                <a:rPr lang="en-US" altLang="zh-CN" i="1">
                                  <a:latin typeface="Cambria Math" panose="02040503050406030204" pitchFamily="18" charset="0"/>
                                </a:rPr>
                                <m:t>𝒂</m:t>
                              </m:r>
                              <m:r>
                                <a:rPr lang="en-US" altLang="zh-CN" i="1">
                                  <a:latin typeface="Cambria Math" panose="02040503050406030204" pitchFamily="18" charset="0"/>
                                </a:rPr>
                                <m:t>+</m:t>
                              </m:r>
                              <m:r>
                                <a:rPr lang="en-US" altLang="zh-CN" i="1">
                                  <a:latin typeface="Cambria Math" panose="02040503050406030204" pitchFamily="18" charset="0"/>
                                </a:rPr>
                                <m:t>𝒃</m:t>
                              </m:r>
                              <m:r>
                                <a:rPr lang="en-US" altLang="zh-CN" i="1">
                                  <a:latin typeface="Cambria Math" panose="02040503050406030204" pitchFamily="18" charset="0"/>
                                </a:rPr>
                                <m:t>)</m:t>
                              </m:r>
                            </m:e>
                          </m:rad>
                        </m:num>
                        <m:den>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𝝈</m:t>
                                  </m:r>
                                </m:e>
                                <m:sub>
                                  <m:r>
                                    <a:rPr lang="en-US" altLang="zh-CN" i="1">
                                      <a:latin typeface="Cambria Math" panose="02040503050406030204" pitchFamily="18" charset="0"/>
                                    </a:rPr>
                                    <m:t>𝑿</m:t>
                                  </m:r>
                                </m:sub>
                                <m:sup>
                                  <m:r>
                                    <a:rPr lang="en-US" altLang="zh-CN" i="1">
                                      <a:latin typeface="Cambria Math" panose="02040503050406030204" pitchFamily="18" charset="0"/>
                                    </a:rPr>
                                    <m:t>𝟐</m:t>
                                  </m:r>
                                </m:sup>
                              </m:sSubSup>
                            </m:e>
                          </m:rad>
                        </m:den>
                      </m:f>
                      <m:r>
                        <a:rPr lang="en-US" altLang="zh-CN" b="1" i="0" smtClean="0">
                          <a:latin typeface="Cambria Math" panose="02040503050406030204" pitchFamily="18" charset="0"/>
                        </a:rPr>
                        <m:t>𝐞𝐱𝐩</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i="1">
                                  <a:latin typeface="Cambria Math" panose="02040503050406030204" pitchFamily="18" charset="0"/>
                                </a:rPr>
                                <m:t>𝒃</m:t>
                              </m:r>
                              <m:r>
                                <a:rPr lang="en-US" altLang="zh-CN" i="1">
                                  <a:latin typeface="Cambria Math" panose="02040503050406030204" pitchFamily="18" charset="0"/>
                                </a:rPr>
                                <m:t>(</m:t>
                              </m:r>
                              <m:r>
                                <a:rPr lang="en-US" altLang="zh-CN" i="1">
                                  <a:latin typeface="Cambria Math" panose="02040503050406030204" pitchFamily="18" charset="0"/>
                                </a:rPr>
                                <m:t>𝒂</m:t>
                              </m:r>
                              <m:r>
                                <a:rPr lang="en-US" altLang="zh-CN" i="1">
                                  <a:latin typeface="Cambria Math" panose="02040503050406030204" pitchFamily="18" charset="0"/>
                                </a:rPr>
                                <m:t>+</m:t>
                              </m:r>
                              <m:r>
                                <a:rPr lang="en-US" altLang="zh-CN" i="1">
                                  <a:latin typeface="Cambria Math" panose="02040503050406030204" pitchFamily="18" charset="0"/>
                                </a:rPr>
                                <m:t>𝒃</m:t>
                              </m:r>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𝝈</m:t>
                                  </m:r>
                                </m:e>
                                <m:sub>
                                  <m:r>
                                    <a:rPr lang="en-US" altLang="zh-CN" i="1">
                                      <a:latin typeface="Cambria Math" panose="02040503050406030204" pitchFamily="18" charset="0"/>
                                    </a:rPr>
                                    <m:t>𝑿</m:t>
                                  </m:r>
                                </m:sub>
                                <m:sup>
                                  <m:r>
                                    <a:rPr lang="en-US" altLang="zh-CN" i="1">
                                      <a:latin typeface="Cambria Math" panose="02040503050406030204" pitchFamily="18" charset="0"/>
                                    </a:rPr>
                                    <m:t>𝟐</m:t>
                                  </m:r>
                                </m:sup>
                              </m:sSubSup>
                            </m:den>
                          </m:f>
                        </m:e>
                      </m:d>
                    </m:oMath>
                  </m:oMathPara>
                </a14:m>
                <a:endParaRPr lang="en-US" altLang="zh-CN" dirty="0"/>
              </a:p>
              <a:p>
                <a:pPr marL="0" indent="0">
                  <a:buNone/>
                </a:pPr>
                <a:r>
                  <a:rPr lang="en-US" altLang="zh-CN" dirty="0"/>
                  <a:t>(3) </a:t>
                </a:r>
                <a14:m>
                  <m:oMath xmlns:m="http://schemas.openxmlformats.org/officeDocument/2006/math">
                    <m:r>
                      <a:rPr lang="en-US" altLang="zh-CN" i="1">
                        <a:latin typeface="Cambria Math" panose="02040503050406030204" pitchFamily="18" charset="0"/>
                      </a:rPr>
                      <m:t>𝑷</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𝟎</m:t>
                        </m:r>
                      </m:e>
                    </m:d>
                    <m:r>
                      <a:rPr lang="en-US" altLang="zh-CN" i="1">
                        <a:latin typeface="Cambria Math" panose="02040503050406030204" pitchFamily="18" charset="0"/>
                        <a:ea typeface="Cambria Math" panose="02040503050406030204" pitchFamily="18" charset="0"/>
                      </a:rPr>
                      <m:t>=</m:t>
                    </m:r>
                  </m:oMath>
                </a14:m>
                <a:r>
                  <a:rPr lang="en-US" altLang="zh-CN" dirty="0"/>
                  <a:t>0.5</a:t>
                </a:r>
                <a:r>
                  <a:rPr lang="zh-CN" altLang="en-US" dirty="0"/>
                  <a:t>。</a:t>
                </a:r>
                <a:endParaRPr lang="zh-CN" altLang="zh-CN" dirty="0"/>
              </a:p>
              <a:p>
                <a:pPr marL="0" indent="0">
                  <a:buNone/>
                </a:pPr>
                <a:endParaRPr lang="en-US" altLang="zh-CN" dirty="0"/>
              </a:p>
              <a:p>
                <a:pPr marL="0" indent="0">
                  <a:buNone/>
                </a:pPr>
                <a:endParaRPr lang="zh-CN" altLang="en-US" dirty="0"/>
              </a:p>
            </p:txBody>
          </p:sp>
        </mc:Choice>
        <mc:Fallback>
          <p:sp>
            <p:nvSpPr>
              <p:cNvPr id="2" name="内容占位符 1"/>
              <p:cNvSpPr>
                <a:spLocks noGrp="1" noRot="1" noChangeAspect="1" noMove="1" noResize="1" noEditPoints="1" noAdjustHandles="1" noChangeArrowheads="1" noChangeShapeType="1" noTextEdit="1"/>
              </p:cNvSpPr>
              <p:nvPr>
                <p:ph idx="1"/>
              </p:nvPr>
            </p:nvSpPr>
            <p:spPr>
              <a:xfrm>
                <a:off x="755576" y="620688"/>
                <a:ext cx="7772400" cy="4427726"/>
              </a:xfrm>
              <a:blipFill>
                <a:blip r:embed="rId3"/>
                <a:stretch>
                  <a:fillRect l="-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63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3AC9C24-DB63-421E-B746-E414052263E1}"/>
              </a:ext>
            </a:extLst>
          </p:cNvPr>
          <p:cNvPicPr>
            <a:picLocks noChangeAspect="1"/>
          </p:cNvPicPr>
          <p:nvPr/>
        </p:nvPicPr>
        <p:blipFill>
          <a:blip r:embed="rId2"/>
          <a:stretch>
            <a:fillRect/>
          </a:stretch>
        </p:blipFill>
        <p:spPr>
          <a:xfrm>
            <a:off x="430171" y="404664"/>
            <a:ext cx="8246286" cy="5616624"/>
          </a:xfrm>
          <a:prstGeom prst="rect">
            <a:avLst/>
          </a:prstGeom>
        </p:spPr>
      </p:pic>
    </p:spTree>
    <p:extLst>
      <p:ext uri="{BB962C8B-B14F-4D97-AF65-F5344CB8AC3E}">
        <p14:creationId xmlns:p14="http://schemas.microsoft.com/office/powerpoint/2010/main" val="4240197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FC766B6-F836-4D13-9656-7B0281025CB2}"/>
              </a:ext>
            </a:extLst>
          </p:cNvPr>
          <p:cNvPicPr>
            <a:picLocks noChangeAspect="1"/>
          </p:cNvPicPr>
          <p:nvPr/>
        </p:nvPicPr>
        <p:blipFill>
          <a:blip r:embed="rId3"/>
          <a:stretch>
            <a:fillRect/>
          </a:stretch>
        </p:blipFill>
        <p:spPr>
          <a:xfrm>
            <a:off x="539552" y="620688"/>
            <a:ext cx="8280920" cy="5149760"/>
          </a:xfrm>
          <a:prstGeom prst="rect">
            <a:avLst/>
          </a:prstGeom>
        </p:spPr>
      </p:pic>
    </p:spTree>
    <p:extLst>
      <p:ext uri="{BB962C8B-B14F-4D97-AF65-F5344CB8AC3E}">
        <p14:creationId xmlns:p14="http://schemas.microsoft.com/office/powerpoint/2010/main" val="3892304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78C7660-01A5-49AD-8A81-28F01E7BA6DB}"/>
              </a:ext>
            </a:extLst>
          </p:cNvPr>
          <p:cNvPicPr>
            <a:picLocks noChangeAspect="1"/>
          </p:cNvPicPr>
          <p:nvPr/>
        </p:nvPicPr>
        <p:blipFill>
          <a:blip r:embed="rId3"/>
          <a:stretch>
            <a:fillRect/>
          </a:stretch>
        </p:blipFill>
        <p:spPr>
          <a:xfrm>
            <a:off x="574963" y="764704"/>
            <a:ext cx="8101493" cy="4861340"/>
          </a:xfrm>
          <a:prstGeom prst="rect">
            <a:avLst/>
          </a:prstGeom>
        </p:spPr>
      </p:pic>
    </p:spTree>
    <p:extLst>
      <p:ext uri="{BB962C8B-B14F-4D97-AF65-F5344CB8AC3E}">
        <p14:creationId xmlns:p14="http://schemas.microsoft.com/office/powerpoint/2010/main" val="3955317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323528" y="908720"/>
                <a:ext cx="8496944" cy="4254545"/>
              </a:xfrm>
            </p:spPr>
            <p:txBody>
              <a:bodyPr/>
              <a:lstStyle/>
              <a:p>
                <a:pPr marL="0" indent="0">
                  <a:spcBef>
                    <a:spcPts val="900"/>
                  </a:spcBef>
                  <a:spcAft>
                    <a:spcPts val="450"/>
                  </a:spcAft>
                  <a:buNone/>
                </a:pPr>
                <a:r>
                  <a:rPr lang="zh-CN" altLang="en-US" sz="2800" dirty="0">
                    <a:solidFill>
                      <a:srgbClr val="FF0000"/>
                    </a:solidFill>
                    <a:highlight>
                      <a:srgbClr val="FFFF00"/>
                    </a:highlight>
                  </a:rPr>
                  <a:t>注意：关于系统“稳态”的思考？ </a:t>
                </a:r>
                <a:r>
                  <a:rPr lang="en-US" altLang="zh-CN" sz="2800" dirty="0">
                    <a:solidFill>
                      <a:srgbClr val="FF0000"/>
                    </a:solidFill>
                    <a:highlight>
                      <a:srgbClr val="FFFF00"/>
                    </a:highlight>
                  </a:rPr>
                  <a:t>P109</a:t>
                </a:r>
                <a:r>
                  <a:rPr lang="zh-CN" altLang="en-US" sz="2800" dirty="0">
                    <a:solidFill>
                      <a:srgbClr val="FF0000"/>
                    </a:solidFill>
                    <a:highlight>
                      <a:srgbClr val="FFFF00"/>
                    </a:highlight>
                  </a:rPr>
                  <a:t>，第二段！</a:t>
                </a:r>
                <a:endParaRPr lang="en-US" altLang="zh-CN" sz="2800" dirty="0">
                  <a:solidFill>
                    <a:srgbClr val="FF0000"/>
                  </a:solidFill>
                  <a:highlight>
                    <a:srgbClr val="FFFF00"/>
                  </a:highlight>
                </a:endParaRPr>
              </a:p>
              <a:p>
                <a:pPr marL="0" indent="0">
                  <a:spcBef>
                    <a:spcPts val="900"/>
                  </a:spcBef>
                  <a:spcAft>
                    <a:spcPts val="450"/>
                  </a:spcAft>
                  <a:buNone/>
                </a:pPr>
                <a:endParaRPr lang="en-US" altLang="zh-CN" dirty="0">
                  <a:solidFill>
                    <a:srgbClr val="FF0000"/>
                  </a:solidFill>
                </a:endParaRPr>
              </a:p>
              <a:p>
                <a:pPr marL="0" indent="0">
                  <a:spcBef>
                    <a:spcPts val="900"/>
                  </a:spcBef>
                  <a:spcAft>
                    <a:spcPts val="450"/>
                  </a:spcAft>
                  <a:buNone/>
                </a:pPr>
                <a:r>
                  <a:rPr lang="zh-CN" altLang="en-US" sz="2400" dirty="0">
                    <a:solidFill>
                      <a:srgbClr val="FF0000"/>
                    </a:solidFill>
                  </a:rPr>
                  <a:t>若输入信号</a:t>
                </a:r>
                <a14:m>
                  <m:oMath xmlns:m="http://schemas.openxmlformats.org/officeDocument/2006/math">
                    <m:r>
                      <a:rPr lang="en-US" altLang="zh-CN" sz="2400">
                        <a:solidFill>
                          <a:srgbClr val="FF0000"/>
                        </a:solidFill>
                        <a:latin typeface="Cambria Math" panose="02040503050406030204" pitchFamily="18" charset="0"/>
                      </a:rPr>
                      <m:t>𝑿</m:t>
                    </m:r>
                    <m:r>
                      <a:rPr lang="en-US" altLang="zh-CN" sz="2400">
                        <a:solidFill>
                          <a:srgbClr val="FF0000"/>
                        </a:solidFill>
                        <a:latin typeface="Cambria Math" panose="02040503050406030204" pitchFamily="18" charset="0"/>
                      </a:rPr>
                      <m:t>(</m:t>
                    </m:r>
                    <m:r>
                      <a:rPr lang="en-US" altLang="zh-CN" sz="2400">
                        <a:solidFill>
                          <a:srgbClr val="FF0000"/>
                        </a:solidFill>
                        <a:latin typeface="Cambria Math" panose="02040503050406030204" pitchFamily="18" charset="0"/>
                      </a:rPr>
                      <m:t>𝒕</m:t>
                    </m:r>
                    <m:r>
                      <a:rPr lang="en-US" altLang="zh-CN" sz="2400">
                        <a:solidFill>
                          <a:srgbClr val="FF0000"/>
                        </a:solidFill>
                        <a:latin typeface="Cambria Math" panose="02040503050406030204" pitchFamily="18" charset="0"/>
                      </a:rPr>
                      <m:t>)</m:t>
                    </m:r>
                  </m:oMath>
                </a14:m>
                <a:r>
                  <a:rPr lang="zh-CN" altLang="en-US" sz="2400" dirty="0">
                    <a:solidFill>
                      <a:srgbClr val="FF0000"/>
                    </a:solidFill>
                  </a:rPr>
                  <a:t>不满足平稳性</a:t>
                </a:r>
                <a:r>
                  <a:rPr lang="zh-CN" altLang="en-US" sz="2400" dirty="0">
                    <a:solidFill>
                      <a:schemeClr val="tx1"/>
                    </a:solidFill>
                  </a:rPr>
                  <a:t>，则</a:t>
                </a:r>
                <a:endParaRPr lang="en-US" altLang="zh-CN" sz="2400" dirty="0">
                  <a:solidFill>
                    <a:schemeClr val="tx1"/>
                  </a:solidFill>
                </a:endParaRPr>
              </a:p>
              <a:p>
                <a:pPr marL="0" indent="0">
                  <a:spcBef>
                    <a:spcPts val="900"/>
                  </a:spcBef>
                  <a:spcAft>
                    <a:spcPts val="450"/>
                  </a:spcAft>
                  <a:buNone/>
                </a:pPr>
                <a:r>
                  <a:rPr lang="zh-CN" altLang="en-US" sz="2400" dirty="0">
                    <a:solidFill>
                      <a:schemeClr val="tx1"/>
                    </a:solidFill>
                  </a:rPr>
                  <a:t>定理</a:t>
                </a:r>
                <a:r>
                  <a:rPr lang="en-US" altLang="zh-CN" sz="2400" dirty="0">
                    <a:solidFill>
                      <a:schemeClr val="tx1"/>
                    </a:solidFill>
                  </a:rPr>
                  <a:t>5.3 </a:t>
                </a:r>
                <a:r>
                  <a:rPr lang="zh-CN" altLang="en-US" sz="2400" dirty="0">
                    <a:solidFill>
                      <a:schemeClr val="tx1"/>
                    </a:solidFill>
                  </a:rPr>
                  <a:t>对于</a:t>
                </a:r>
                <a:r>
                  <a:rPr lang="en-US" altLang="zh-CN" sz="2400" dirty="0">
                    <a:solidFill>
                      <a:schemeClr val="tx1"/>
                    </a:solidFill>
                  </a:rPr>
                  <a:t>LTI</a:t>
                </a:r>
                <a:r>
                  <a:rPr lang="zh-CN" altLang="en-US" sz="2400" dirty="0">
                    <a:solidFill>
                      <a:schemeClr val="tx1"/>
                    </a:solidFill>
                  </a:rPr>
                  <a:t>系统，</a:t>
                </a:r>
                <a:r>
                  <a:rPr lang="en-US" altLang="zh-CN" sz="2400" dirty="0">
                    <a:solidFill>
                      <a:schemeClr val="tx1"/>
                    </a:solidFill>
                  </a:rPr>
                  <a:t> </a:t>
                </a:r>
                <a14:m>
                  <m:oMath xmlns:m="http://schemas.openxmlformats.org/officeDocument/2006/math">
                    <m:r>
                      <a:rPr lang="en-US" altLang="zh-CN" sz="2400" i="1">
                        <a:solidFill>
                          <a:schemeClr val="tx1"/>
                        </a:solidFill>
                        <a:latin typeface="Cambria Math" panose="02040503050406030204" pitchFamily="18" charset="0"/>
                      </a:rPr>
                      <m:t>𝒀</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𝒕</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𝑿</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𝒕</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𝒉</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𝒕</m:t>
                    </m:r>
                    <m:r>
                      <a:rPr lang="en-US" altLang="zh-CN" sz="2400" i="1">
                        <a:solidFill>
                          <a:schemeClr val="tx1"/>
                        </a:solidFill>
                        <a:latin typeface="Cambria Math" panose="02040503050406030204" pitchFamily="18" charset="0"/>
                      </a:rPr>
                      <m:t>)</m:t>
                    </m:r>
                  </m:oMath>
                </a14:m>
                <a:r>
                  <a:rPr lang="zh-CN" altLang="en-US" sz="2400" dirty="0">
                    <a:solidFill>
                      <a:schemeClr val="tx1"/>
                    </a:solidFill>
                  </a:rPr>
                  <a:t>，有</a:t>
                </a:r>
                <a:endParaRPr lang="en-US" altLang="zh-CN" sz="2400" dirty="0">
                  <a:solidFill>
                    <a:schemeClr val="tx1"/>
                  </a:solidFill>
                </a:endParaRP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𝒎</m:t>
                          </m:r>
                        </m:e>
                        <m:sub>
                          <m:r>
                            <a:rPr lang="en-US" altLang="zh-CN" sz="2400" b="1" i="1" smtClean="0">
                              <a:solidFill>
                                <a:schemeClr val="tx1"/>
                              </a:solidFill>
                              <a:latin typeface="Cambria Math" panose="02040503050406030204" pitchFamily="18" charset="0"/>
                            </a:rPr>
                            <m:t>𝒀</m:t>
                          </m:r>
                        </m:sub>
                      </m:sSub>
                      <m:d>
                        <m:dPr>
                          <m:ctrlPr>
                            <a:rPr lang="en-US" altLang="zh-CN" sz="2400" b="1" i="1" smtClean="0">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𝒕</m:t>
                          </m:r>
                        </m:e>
                      </m:d>
                      <m:r>
                        <a:rPr lang="en-US" altLang="zh-CN" sz="2400" b="1" i="1" smtClean="0">
                          <a:solidFill>
                            <a:schemeClr val="tx1"/>
                          </a:solidFill>
                          <a:latin typeface="Cambria Math" panose="02040503050406030204" pitchFamily="18" charset="0"/>
                        </a:rPr>
                        <m:t>=</m:t>
                      </m:r>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𝒎</m:t>
                          </m:r>
                        </m:e>
                        <m:sub>
                          <m:r>
                            <a:rPr lang="en-US" altLang="zh-CN" sz="2400" b="1" i="1" smtClean="0">
                              <a:solidFill>
                                <a:schemeClr val="tx1"/>
                              </a:solidFill>
                              <a:latin typeface="Cambria Math" panose="02040503050406030204" pitchFamily="18" charset="0"/>
                            </a:rPr>
                            <m:t>𝑿</m:t>
                          </m:r>
                        </m:sub>
                      </m:sSub>
                      <m:d>
                        <m:dPr>
                          <m:ctrlPr>
                            <a:rPr lang="en-US" altLang="zh-CN" sz="2400" b="1" i="1" smtClean="0">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𝒕</m:t>
                          </m:r>
                        </m:e>
                      </m:d>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𝒉</m:t>
                      </m:r>
                      <m:d>
                        <m:dPr>
                          <m:ctrlPr>
                            <a:rPr lang="en-US" altLang="zh-CN" sz="2400" b="1" i="1" smtClean="0">
                              <a:solidFill>
                                <a:schemeClr val="tx1"/>
                              </a:solidFill>
                              <a:latin typeface="Cambria Math" panose="02040503050406030204" pitchFamily="18" charset="0"/>
                            </a:rPr>
                          </m:ctrlPr>
                        </m:dPr>
                        <m:e>
                          <m:r>
                            <a:rPr lang="en-US" altLang="zh-CN" sz="2400" b="1" i="1" smtClean="0">
                              <a:solidFill>
                                <a:schemeClr val="tx1"/>
                              </a:solidFill>
                              <a:latin typeface="Cambria Math" panose="02040503050406030204" pitchFamily="18" charset="0"/>
                            </a:rPr>
                            <m:t>𝒕</m:t>
                          </m:r>
                        </m:e>
                      </m:d>
                    </m:oMath>
                  </m:oMathPara>
                </a14:m>
                <a:endParaRPr lang="en-US" altLang="zh-CN" sz="2400" b="1" dirty="0">
                  <a:solidFill>
                    <a:schemeClr val="tx1"/>
                  </a:solidFill>
                </a:endParaRP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𝑹</m:t>
                          </m:r>
                        </m:e>
                        <m:sub>
                          <m:r>
                            <a:rPr lang="en-US" altLang="zh-CN" sz="2400" b="1" i="1" smtClean="0">
                              <a:solidFill>
                                <a:schemeClr val="tx1"/>
                              </a:solidFill>
                              <a:latin typeface="Cambria Math" panose="02040503050406030204" pitchFamily="18" charset="0"/>
                            </a:rPr>
                            <m:t>𝒀𝑿</m:t>
                          </m:r>
                        </m:sub>
                      </m:sSub>
                      <m:d>
                        <m:dPr>
                          <m:ctrlPr>
                            <a:rPr lang="en-US" altLang="zh-CN" sz="2400" b="1" i="1" smtClean="0">
                              <a:solidFill>
                                <a:schemeClr val="tx1"/>
                              </a:solidFill>
                              <a:latin typeface="Cambria Math" panose="02040503050406030204" pitchFamily="18" charset="0"/>
                            </a:rPr>
                          </m:ctrlPr>
                        </m:dPr>
                        <m:e>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𝒕</m:t>
                              </m:r>
                            </m:e>
                            <m:sub>
                              <m:r>
                                <a:rPr lang="en-US" altLang="zh-CN" sz="2400" b="1" i="1" smtClean="0">
                                  <a:solidFill>
                                    <a:schemeClr val="tx1"/>
                                  </a:solidFill>
                                  <a:latin typeface="Cambria Math" panose="02040503050406030204" pitchFamily="18" charset="0"/>
                                </a:rPr>
                                <m:t>𝟏</m:t>
                              </m:r>
                            </m:sub>
                          </m:sSub>
                          <m:r>
                            <a:rPr lang="en-US" altLang="zh-CN" sz="2400" b="1" i="1" smtClean="0">
                              <a:solidFill>
                                <a:schemeClr val="tx1"/>
                              </a:solidFill>
                              <a:latin typeface="Cambria Math" panose="02040503050406030204" pitchFamily="18" charset="0"/>
                            </a:rPr>
                            <m:t>,</m:t>
                          </m:r>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𝒕</m:t>
                              </m:r>
                            </m:e>
                            <m:sub>
                              <m:r>
                                <a:rPr lang="en-US" altLang="zh-CN" sz="2400" b="1" i="1" smtClean="0">
                                  <a:solidFill>
                                    <a:schemeClr val="tx1"/>
                                  </a:solidFill>
                                  <a:latin typeface="Cambria Math" panose="02040503050406030204" pitchFamily="18" charset="0"/>
                                </a:rPr>
                                <m:t>𝟐</m:t>
                              </m:r>
                            </m:sub>
                          </m:sSub>
                        </m:e>
                      </m:d>
                      <m:r>
                        <a:rPr lang="en-US" altLang="zh-CN" sz="2400" b="1" i="1" smtClean="0">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𝑿</m:t>
                          </m:r>
                        </m:sub>
                      </m:sSub>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𝟐</m:t>
                              </m:r>
                            </m:sub>
                          </m:sSub>
                        </m:e>
                      </m:d>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𝒉</m:t>
                      </m:r>
                      <m:r>
                        <a:rPr lang="en-US" altLang="zh-CN" sz="2400" b="1" i="1" smtClean="0">
                          <a:solidFill>
                            <a:schemeClr val="tx1"/>
                          </a:solidFill>
                          <a:latin typeface="Cambria Math" panose="02040503050406030204" pitchFamily="18" charset="0"/>
                        </a:rPr>
                        <m:t>(</m:t>
                      </m:r>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𝒕</m:t>
                          </m:r>
                        </m:e>
                        <m:sub>
                          <m:r>
                            <a:rPr lang="en-US" altLang="zh-CN" sz="2400" b="1" i="1" smtClean="0">
                              <a:solidFill>
                                <a:schemeClr val="tx1"/>
                              </a:solidFill>
                              <a:latin typeface="Cambria Math" panose="02040503050406030204" pitchFamily="18" charset="0"/>
                            </a:rPr>
                            <m:t>𝟏</m:t>
                          </m:r>
                        </m:sub>
                      </m:sSub>
                      <m:r>
                        <a:rPr lang="en-US" altLang="zh-CN" sz="2400" b="1" i="1" smtClean="0">
                          <a:solidFill>
                            <a:schemeClr val="tx1"/>
                          </a:solidFill>
                          <a:latin typeface="Cambria Math" panose="02040503050406030204" pitchFamily="18" charset="0"/>
                        </a:rPr>
                        <m:t>)</m:t>
                      </m:r>
                    </m:oMath>
                  </m:oMathPara>
                </a14:m>
                <a:endParaRPr lang="en-US" altLang="zh-CN" sz="2400" dirty="0">
                  <a:solidFill>
                    <a:schemeClr val="tx1"/>
                  </a:solidFill>
                </a:endParaRP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𝑿</m:t>
                          </m:r>
                          <m:r>
                            <a:rPr lang="en-US" altLang="zh-CN" sz="2400" b="1" i="1" smtClean="0">
                              <a:solidFill>
                                <a:schemeClr val="tx1"/>
                              </a:solidFill>
                              <a:latin typeface="Cambria Math" panose="02040503050406030204" pitchFamily="18" charset="0"/>
                            </a:rPr>
                            <m:t>𝒀</m:t>
                          </m:r>
                        </m:sub>
                      </m:sSub>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𝟐</m:t>
                              </m:r>
                            </m:sub>
                          </m:sSub>
                        </m:e>
                      </m:d>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𝑿</m:t>
                          </m:r>
                        </m:sub>
                      </m:sSub>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𝟐</m:t>
                              </m:r>
                            </m:sub>
                          </m:sSub>
                        </m:e>
                      </m:d>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𝒉</m:t>
                      </m:r>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b="1" i="1" smtClean="0">
                              <a:solidFill>
                                <a:schemeClr val="tx1"/>
                              </a:solidFill>
                              <a:latin typeface="Cambria Math" panose="02040503050406030204" pitchFamily="18" charset="0"/>
                            </a:rPr>
                            <m:t>𝟐</m:t>
                          </m:r>
                        </m:sub>
                      </m:sSub>
                      <m:r>
                        <a:rPr lang="en-US" altLang="zh-CN" sz="2400" i="1">
                          <a:solidFill>
                            <a:schemeClr val="tx1"/>
                          </a:solidFill>
                          <a:latin typeface="Cambria Math" panose="02040503050406030204" pitchFamily="18" charset="0"/>
                        </a:rPr>
                        <m:t>)</m:t>
                      </m:r>
                    </m:oMath>
                  </m:oMathPara>
                </a14:m>
                <a:endParaRPr lang="en-US" altLang="zh-CN" sz="2400" dirty="0">
                  <a:solidFill>
                    <a:schemeClr val="tx1"/>
                  </a:solidFill>
                </a:endParaRPr>
              </a:p>
              <a:p>
                <a:pPr marL="0" indent="0">
                  <a:spcBef>
                    <a:spcPts val="900"/>
                  </a:spcBef>
                  <a:spcAft>
                    <a:spcPts val="450"/>
                  </a:spcAft>
                  <a:buNone/>
                </a:pPr>
                <a14:m>
                  <m:oMathPara xmlns:m="http://schemas.openxmlformats.org/officeDocument/2006/math">
                    <m:oMathParaPr>
                      <m:jc m:val="centerGroup"/>
                    </m:oMathParaPr>
                    <m:oMath xmlns:m="http://schemas.openxmlformats.org/officeDocument/2006/math">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𝒀</m:t>
                          </m:r>
                        </m:sub>
                      </m:sSub>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𝟐</m:t>
                              </m:r>
                            </m:sub>
                          </m:sSub>
                        </m:e>
                      </m:d>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𝑹</m:t>
                          </m:r>
                        </m:e>
                        <m:sub>
                          <m:r>
                            <a:rPr lang="en-US" altLang="zh-CN" sz="2400" i="1">
                              <a:solidFill>
                                <a:schemeClr val="tx1"/>
                              </a:solidFill>
                              <a:latin typeface="Cambria Math" panose="02040503050406030204" pitchFamily="18" charset="0"/>
                            </a:rPr>
                            <m:t>𝑿</m:t>
                          </m:r>
                        </m:sub>
                      </m:sSub>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𝟐</m:t>
                              </m:r>
                            </m:sub>
                          </m:sSub>
                        </m:e>
                      </m:d>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𝒉</m:t>
                      </m:r>
                      <m:d>
                        <m:dPr>
                          <m:ctrlPr>
                            <a:rPr lang="en-US" altLang="zh-CN" sz="2400" i="1">
                              <a:solidFill>
                                <a:schemeClr val="tx1"/>
                              </a:solidFill>
                              <a:latin typeface="Cambria Math" panose="02040503050406030204" pitchFamily="18" charset="0"/>
                            </a:rPr>
                          </m:ctrlPr>
                        </m:d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𝒕</m:t>
                              </m:r>
                            </m:e>
                            <m:sub>
                              <m:r>
                                <a:rPr lang="en-US" altLang="zh-CN" sz="2400" i="1">
                                  <a:solidFill>
                                    <a:schemeClr val="tx1"/>
                                  </a:solidFill>
                                  <a:latin typeface="Cambria Math" panose="02040503050406030204" pitchFamily="18" charset="0"/>
                                </a:rPr>
                                <m:t>𝟏</m:t>
                              </m:r>
                            </m:sub>
                          </m:sSub>
                        </m:e>
                      </m:d>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𝒉</m:t>
                      </m:r>
                      <m:r>
                        <a:rPr lang="en-US" altLang="zh-CN" sz="2400" b="1" i="1" smtClean="0">
                          <a:solidFill>
                            <a:schemeClr val="tx1"/>
                          </a:solidFill>
                          <a:latin typeface="Cambria Math" panose="02040503050406030204" pitchFamily="18" charset="0"/>
                        </a:rPr>
                        <m:t>(</m:t>
                      </m:r>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𝒕</m:t>
                          </m:r>
                        </m:e>
                        <m:sub>
                          <m:r>
                            <a:rPr lang="en-US" altLang="zh-CN" sz="2400" b="1" i="1" smtClean="0">
                              <a:solidFill>
                                <a:schemeClr val="tx1"/>
                              </a:solidFill>
                              <a:latin typeface="Cambria Math" panose="02040503050406030204" pitchFamily="18" charset="0"/>
                            </a:rPr>
                            <m:t>𝟐</m:t>
                          </m:r>
                        </m:sub>
                      </m:sSub>
                      <m:r>
                        <a:rPr lang="en-US" altLang="zh-CN" sz="2400" b="1" i="1" smtClean="0">
                          <a:solidFill>
                            <a:schemeClr val="tx1"/>
                          </a:solidFill>
                          <a:latin typeface="Cambria Math" panose="02040503050406030204" pitchFamily="18" charset="0"/>
                        </a:rPr>
                        <m:t>)</m:t>
                      </m:r>
                    </m:oMath>
                  </m:oMathPara>
                </a14:m>
                <a:endParaRPr lang="en-US" altLang="zh-CN" sz="2400" dirty="0">
                  <a:solidFill>
                    <a:schemeClr val="tx1"/>
                  </a:solidFill>
                </a:endParaRPr>
              </a:p>
              <a:p>
                <a:pPr marL="0" indent="0">
                  <a:spcBef>
                    <a:spcPts val="900"/>
                  </a:spcBef>
                  <a:spcAft>
                    <a:spcPts val="450"/>
                  </a:spcAft>
                  <a:buNone/>
                </a:pPr>
                <a:endParaRPr lang="en-US" altLang="zh-CN" dirty="0">
                  <a:solidFill>
                    <a:schemeClr val="tx1"/>
                  </a:solidFill>
                </a:endParaRPr>
              </a:p>
              <a:p>
                <a:pPr marL="0" indent="0">
                  <a:buNone/>
                </a:pPr>
                <a:endParaRPr lang="en-US" altLang="zh-CN" dirty="0"/>
              </a:p>
              <a:p>
                <a:pPr marL="0" indent="0">
                  <a:buNone/>
                </a:pP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323528" y="908720"/>
                <a:ext cx="8496944" cy="4254545"/>
              </a:xfrm>
              <a:blipFill>
                <a:blip r:embed="rId2"/>
                <a:stretch>
                  <a:fillRect l="-1435" t="-18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63395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395536" y="188641"/>
                <a:ext cx="8110250" cy="1944216"/>
              </a:xfrm>
            </p:spPr>
            <p:txBody>
              <a:bodyPr/>
              <a:lstStyle/>
              <a:p>
                <a:pPr marL="0" indent="0">
                  <a:spcBef>
                    <a:spcPts val="900"/>
                  </a:spcBef>
                  <a:spcAft>
                    <a:spcPts val="450"/>
                  </a:spcAft>
                  <a:buNone/>
                </a:pPr>
                <a:r>
                  <a:rPr lang="en-US" altLang="zh-CN" dirty="0">
                    <a:solidFill>
                      <a:srgbClr val="FF0000"/>
                    </a:solidFill>
                  </a:rPr>
                  <a:t>5.1.4 </a:t>
                </a:r>
                <a:r>
                  <a:rPr lang="zh-CN" altLang="en-US" dirty="0">
                    <a:solidFill>
                      <a:srgbClr val="FF0000"/>
                    </a:solidFill>
                  </a:rPr>
                  <a:t>输出信号的各态历经性</a:t>
                </a:r>
                <a:endParaRPr lang="en-US" altLang="zh-CN" dirty="0">
                  <a:solidFill>
                    <a:srgbClr val="FF0000"/>
                  </a:solidFill>
                </a:endParaRPr>
              </a:p>
              <a:p>
                <a:pPr marL="0" indent="0">
                  <a:buNone/>
                </a:pPr>
                <a:r>
                  <a:rPr lang="zh-CN" altLang="en-US" dirty="0">
                    <a:solidFill>
                      <a:schemeClr val="tx1"/>
                    </a:solidFill>
                  </a:rPr>
                  <a:t>  可证明：若</a:t>
                </a:r>
                <a14:m>
                  <m:oMath xmlns:m="http://schemas.openxmlformats.org/officeDocument/2006/math">
                    <m:r>
                      <a:rPr lang="en-US" altLang="zh-CN" i="1">
                        <a:solidFill>
                          <a:schemeClr val="tx1"/>
                        </a:solidFill>
                        <a:latin typeface="Cambria Math" panose="02040503050406030204" pitchFamily="18" charset="0"/>
                      </a:rPr>
                      <m:t>𝑿</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oMath>
                </a14:m>
                <a:r>
                  <a:rPr lang="zh-CN" altLang="en-US" dirty="0">
                    <a:solidFill>
                      <a:schemeClr val="tx1"/>
                    </a:solidFill>
                  </a:rPr>
                  <a:t>各态历经，经过</a:t>
                </a:r>
                <a:r>
                  <a:rPr lang="en-US" altLang="zh-CN" dirty="0">
                    <a:solidFill>
                      <a:schemeClr val="tx1"/>
                    </a:solidFill>
                  </a:rPr>
                  <a:t>LTI</a:t>
                </a:r>
                <a:r>
                  <a:rPr lang="zh-CN" altLang="en-US" dirty="0">
                    <a:solidFill>
                      <a:schemeClr val="tx1"/>
                    </a:solidFill>
                  </a:rPr>
                  <a:t>系统后，输出</a:t>
                </a:r>
                <a14:m>
                  <m:oMath xmlns:m="http://schemas.openxmlformats.org/officeDocument/2006/math">
                    <m:r>
                      <a:rPr lang="en-US" altLang="zh-CN" i="1">
                        <a:solidFill>
                          <a:schemeClr val="tx1"/>
                        </a:solidFill>
                        <a:latin typeface="Cambria Math" panose="02040503050406030204" pitchFamily="18" charset="0"/>
                      </a:rPr>
                      <m:t>𝒀</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oMath>
                </a14:m>
                <a:r>
                  <a:rPr lang="zh-CN" altLang="en-US" dirty="0">
                    <a:solidFill>
                      <a:schemeClr val="tx1"/>
                    </a:solidFill>
                  </a:rPr>
                  <a:t>各态历经。</a:t>
                </a: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395536" y="188641"/>
                <a:ext cx="8110250" cy="1944216"/>
              </a:xfrm>
              <a:blipFill>
                <a:blip r:embed="rId2"/>
                <a:stretch>
                  <a:fillRect l="-902" t="-282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C2C1186A-C9F5-40B6-82B5-6D1DFD77041F}"/>
              </a:ext>
            </a:extLst>
          </p:cNvPr>
          <p:cNvPicPr>
            <a:picLocks noChangeAspect="1"/>
          </p:cNvPicPr>
          <p:nvPr/>
        </p:nvPicPr>
        <p:blipFill>
          <a:blip r:embed="rId3"/>
          <a:stretch>
            <a:fillRect/>
          </a:stretch>
        </p:blipFill>
        <p:spPr>
          <a:xfrm>
            <a:off x="611560" y="1340768"/>
            <a:ext cx="7418713" cy="4743861"/>
          </a:xfrm>
          <a:prstGeom prst="rect">
            <a:avLst/>
          </a:prstGeom>
        </p:spPr>
      </p:pic>
    </p:spTree>
    <p:extLst>
      <p:ext uri="{BB962C8B-B14F-4D97-AF65-F5344CB8AC3E}">
        <p14:creationId xmlns:p14="http://schemas.microsoft.com/office/powerpoint/2010/main" val="1709823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44010C-0AEC-4402-B4B4-45494BAB8B6B}"/>
              </a:ext>
            </a:extLst>
          </p:cNvPr>
          <p:cNvSpPr>
            <a:spLocks noGrp="1"/>
          </p:cNvSpPr>
          <p:nvPr>
            <p:ph type="title"/>
          </p:nvPr>
        </p:nvSpPr>
        <p:spPr>
          <a:xfrm>
            <a:off x="467544" y="304364"/>
            <a:ext cx="7886700" cy="839744"/>
          </a:xfrm>
        </p:spPr>
        <p:txBody>
          <a:bodyPr/>
          <a:lstStyle/>
          <a:p>
            <a:r>
              <a:rPr lang="zh-CN" altLang="en-US" dirty="0"/>
              <a:t>补充与讨论：</a:t>
            </a:r>
            <a:r>
              <a:rPr lang="en-US" altLang="zh-CN" dirty="0"/>
              <a:t>  </a:t>
            </a:r>
            <a:r>
              <a:rPr lang="zh-CN" altLang="en-US" dirty="0"/>
              <a:t>随机信号的带宽</a:t>
            </a:r>
          </a:p>
        </p:txBody>
      </p:sp>
      <p:sp>
        <p:nvSpPr>
          <p:cNvPr id="4" name="内容占位符 3">
            <a:extLst>
              <a:ext uri="{FF2B5EF4-FFF2-40B4-BE49-F238E27FC236}">
                <a16:creationId xmlns:a16="http://schemas.microsoft.com/office/drawing/2014/main" id="{3728F5BB-4E6A-411C-9357-5AAFB4031D3C}"/>
              </a:ext>
            </a:extLst>
          </p:cNvPr>
          <p:cNvSpPr>
            <a:spLocks noGrp="1"/>
          </p:cNvSpPr>
          <p:nvPr>
            <p:ph idx="1"/>
          </p:nvPr>
        </p:nvSpPr>
        <p:spPr>
          <a:xfrm>
            <a:off x="83126" y="1868972"/>
            <a:ext cx="2688674" cy="3662146"/>
          </a:xfrm>
        </p:spPr>
        <p:txBody>
          <a:bodyPr/>
          <a:lstStyle/>
          <a:p>
            <a:pPr>
              <a:buFont typeface="Wingdings" panose="05000000000000000000" pitchFamily="2" charset="2"/>
              <a:buChar char="l"/>
            </a:pPr>
            <a:r>
              <a:rPr lang="zh-CN" altLang="en-US" dirty="0"/>
              <a:t>信号频带宽度（带宽）用于描述功率所占据的有效频带范围。</a:t>
            </a:r>
            <a:endParaRPr lang="en-US" altLang="zh-CN" dirty="0"/>
          </a:p>
          <a:p>
            <a:pPr>
              <a:buFont typeface="Wingdings" panose="05000000000000000000" pitchFamily="2" charset="2"/>
              <a:buChar char="l"/>
            </a:pPr>
            <a:r>
              <a:rPr lang="zh-CN" altLang="en-US" dirty="0"/>
              <a:t>对应随机信号，由它的功率谱的非零情况来计算，度量方法很多种，如右图所示。</a:t>
            </a:r>
            <a:endParaRPr lang="en-US" altLang="zh-CN" dirty="0"/>
          </a:p>
          <a:p>
            <a:pPr marL="0" indent="0">
              <a:buNone/>
            </a:pPr>
            <a:endParaRPr lang="en-US" altLang="zh-CN" dirty="0"/>
          </a:p>
          <a:p>
            <a:pPr marL="0" indent="0">
              <a:buNone/>
            </a:pPr>
            <a:endParaRPr lang="zh-CN" altLang="en-US" dirty="0"/>
          </a:p>
        </p:txBody>
      </p:sp>
      <p:pic>
        <p:nvPicPr>
          <p:cNvPr id="12" name="图片 11">
            <a:extLst>
              <a:ext uri="{FF2B5EF4-FFF2-40B4-BE49-F238E27FC236}">
                <a16:creationId xmlns:a16="http://schemas.microsoft.com/office/drawing/2014/main" id="{3FBF9E58-85B4-47B2-A813-B94ADAE6B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1819" y="1556792"/>
            <a:ext cx="6080661" cy="4153330"/>
          </a:xfrm>
          <a:prstGeom prst="rect">
            <a:avLst/>
          </a:prstGeom>
        </p:spPr>
      </p:pic>
    </p:spTree>
    <p:extLst>
      <p:ext uri="{BB962C8B-B14F-4D97-AF65-F5344CB8AC3E}">
        <p14:creationId xmlns:p14="http://schemas.microsoft.com/office/powerpoint/2010/main" val="362624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2800" dirty="0"/>
              <a:t>总结</a:t>
            </a:r>
          </a:p>
        </p:txBody>
      </p:sp>
      <p:sp>
        <p:nvSpPr>
          <p:cNvPr id="4" name="内容占位符 3"/>
          <p:cNvSpPr>
            <a:spLocks noGrp="1"/>
          </p:cNvSpPr>
          <p:nvPr>
            <p:ph idx="1"/>
          </p:nvPr>
        </p:nvSpPr>
        <p:spPr/>
        <p:txBody>
          <a:bodyPr/>
          <a:lstStyle/>
          <a:p>
            <a:r>
              <a:rPr lang="zh-CN" altLang="en-US" sz="2400" dirty="0"/>
              <a:t>随机信号通过</a:t>
            </a:r>
            <a:r>
              <a:rPr lang="en-US" altLang="zh-CN" sz="2400" dirty="0"/>
              <a:t>LTI</a:t>
            </a:r>
            <a:r>
              <a:rPr lang="zh-CN" altLang="en-US" sz="2400" dirty="0"/>
              <a:t>系统</a:t>
            </a:r>
            <a:endParaRPr lang="en-US" altLang="zh-CN" sz="2400" dirty="0"/>
          </a:p>
          <a:p>
            <a:r>
              <a:rPr lang="zh-CN" altLang="en-US" sz="2400" dirty="0"/>
              <a:t>输入平稳，输出平稳</a:t>
            </a:r>
            <a:endParaRPr lang="en-US" altLang="zh-CN" sz="2400" dirty="0"/>
          </a:p>
          <a:p>
            <a:r>
              <a:rPr lang="zh-CN" altLang="en-US" sz="2400" dirty="0"/>
              <a:t>输入各态历经，输出各态历经</a:t>
            </a:r>
          </a:p>
        </p:txBody>
      </p:sp>
    </p:spTree>
    <p:extLst>
      <p:ext uri="{BB962C8B-B14F-4D97-AF65-F5344CB8AC3E}">
        <p14:creationId xmlns:p14="http://schemas.microsoft.com/office/powerpoint/2010/main" val="459630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作业</a:t>
            </a:r>
          </a:p>
        </p:txBody>
      </p:sp>
      <p:sp>
        <p:nvSpPr>
          <p:cNvPr id="4" name="内容占位符 3"/>
          <p:cNvSpPr>
            <a:spLocks noGrp="1"/>
          </p:cNvSpPr>
          <p:nvPr>
            <p:ph idx="1"/>
          </p:nvPr>
        </p:nvSpPr>
        <p:spPr/>
        <p:txBody>
          <a:bodyPr/>
          <a:lstStyle/>
          <a:p>
            <a:r>
              <a:rPr lang="zh-CN" altLang="en-US" dirty="0"/>
              <a:t>课本习题：</a:t>
            </a:r>
            <a:r>
              <a:rPr lang="en-US" altLang="zh-CN" dirty="0"/>
              <a:t>5.2</a:t>
            </a:r>
            <a:r>
              <a:rPr lang="zh-CN" altLang="en-US" dirty="0"/>
              <a:t>、</a:t>
            </a:r>
            <a:r>
              <a:rPr lang="en-US" altLang="zh-CN" dirty="0"/>
              <a:t> 5.3</a:t>
            </a:r>
            <a:r>
              <a:rPr lang="zh-CN" altLang="en-US" dirty="0"/>
              <a:t>、 </a:t>
            </a:r>
            <a:r>
              <a:rPr lang="en-US" altLang="zh-CN" dirty="0"/>
              <a:t>5.4</a:t>
            </a:r>
            <a:r>
              <a:rPr lang="zh-CN" altLang="en-US" dirty="0"/>
              <a:t>、</a:t>
            </a:r>
            <a:r>
              <a:rPr lang="en-US" altLang="zh-CN" dirty="0"/>
              <a:t>5.5</a:t>
            </a:r>
            <a:r>
              <a:rPr lang="zh-CN" altLang="en-US" dirty="0"/>
              <a:t>、</a:t>
            </a:r>
            <a:r>
              <a:rPr lang="en-US" altLang="zh-CN" dirty="0"/>
              <a:t>5.7</a:t>
            </a:r>
            <a:endParaRPr lang="zh-CN" altLang="en-US" dirty="0"/>
          </a:p>
        </p:txBody>
      </p:sp>
    </p:spTree>
    <p:extLst>
      <p:ext uri="{BB962C8B-B14F-4D97-AF65-F5344CB8AC3E}">
        <p14:creationId xmlns:p14="http://schemas.microsoft.com/office/powerpoint/2010/main" val="5059603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EA8DD6-2FCD-4575-9932-ACD3F9F55BAF}"/>
              </a:ext>
            </a:extLst>
          </p:cNvPr>
          <p:cNvSpPr>
            <a:spLocks noGrp="1"/>
          </p:cNvSpPr>
          <p:nvPr>
            <p:ph type="title"/>
          </p:nvPr>
        </p:nvSpPr>
        <p:spPr>
          <a:xfrm>
            <a:off x="628650" y="501024"/>
            <a:ext cx="7886700" cy="839744"/>
          </a:xfrm>
        </p:spPr>
        <p:txBody>
          <a:bodyPr/>
          <a:lstStyle/>
          <a:p>
            <a:r>
              <a:rPr lang="en-US" altLang="zh-CN" dirty="0"/>
              <a:t>5.2  </a:t>
            </a:r>
            <a:r>
              <a:rPr lang="zh-CN" altLang="zh-CN" dirty="0"/>
              <a:t>白噪声通过线性系统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DBCD82A-C314-45CB-A0A1-23B40CC56025}"/>
                  </a:ext>
                </a:extLst>
              </p:cNvPr>
              <p:cNvSpPr>
                <a:spLocks noGrp="1"/>
              </p:cNvSpPr>
              <p:nvPr>
                <p:ph idx="1"/>
              </p:nvPr>
            </p:nvSpPr>
            <p:spPr>
              <a:xfrm>
                <a:off x="395536" y="1340768"/>
                <a:ext cx="8520545" cy="3971028"/>
              </a:xfrm>
            </p:spPr>
            <p:txBody>
              <a:bodyPr>
                <a:normAutofit fontScale="70000" lnSpcReduction="20000"/>
              </a:bodyPr>
              <a:lstStyle/>
              <a:p>
                <a:pPr marL="0" indent="0">
                  <a:lnSpc>
                    <a:spcPct val="120000"/>
                  </a:lnSpc>
                  <a:buNone/>
                </a:pPr>
                <a:r>
                  <a:rPr lang="en-US" altLang="zh-CN" sz="3000" dirty="0">
                    <a:solidFill>
                      <a:srgbClr val="FF0000"/>
                    </a:solidFill>
                  </a:rPr>
                  <a:t>5.2.1 </a:t>
                </a:r>
                <a:r>
                  <a:rPr lang="zh-CN" altLang="zh-CN" sz="3000" dirty="0">
                    <a:solidFill>
                      <a:srgbClr val="FF0000"/>
                    </a:solidFill>
                  </a:rPr>
                  <a:t>白噪声通过</a:t>
                </a:r>
                <a:r>
                  <a:rPr lang="en-US" altLang="zh-CN" sz="3000" dirty="0">
                    <a:solidFill>
                      <a:srgbClr val="FF0000"/>
                    </a:solidFill>
                  </a:rPr>
                  <a:t>LTI</a:t>
                </a:r>
                <a:r>
                  <a:rPr lang="zh-CN" altLang="zh-CN" sz="3000" dirty="0">
                    <a:solidFill>
                      <a:srgbClr val="FF0000"/>
                    </a:solidFill>
                  </a:rPr>
                  <a:t>系统</a:t>
                </a:r>
              </a:p>
              <a:p>
                <a:pPr marL="0" indent="0">
                  <a:lnSpc>
                    <a:spcPct val="120000"/>
                  </a:lnSpc>
                  <a:buNone/>
                </a:pPr>
                <a:r>
                  <a:rPr lang="zh-CN" altLang="en-US" sz="2325" dirty="0"/>
                  <a:t>线性系统冲激响应</a:t>
                </a:r>
                <a:r>
                  <a:rPr lang="en-US" altLang="zh-CN" sz="2325" dirty="0"/>
                  <a:t> </a:t>
                </a:r>
                <a14:m>
                  <m:oMath xmlns:m="http://schemas.openxmlformats.org/officeDocument/2006/math">
                    <m:r>
                      <a:rPr lang="en-US" altLang="zh-CN" sz="2325" i="1">
                        <a:latin typeface="Cambria Math" panose="02040503050406030204" pitchFamily="18" charset="0"/>
                      </a:rPr>
                      <m:t>𝒉</m:t>
                    </m:r>
                    <m:r>
                      <a:rPr lang="en-US" altLang="zh-CN" sz="2325" i="1">
                        <a:latin typeface="Cambria Math" panose="02040503050406030204" pitchFamily="18" charset="0"/>
                      </a:rPr>
                      <m:t>(</m:t>
                    </m:r>
                    <m:r>
                      <a:rPr lang="en-US" altLang="zh-CN" sz="2325" i="1">
                        <a:latin typeface="Cambria Math" panose="02040503050406030204" pitchFamily="18" charset="0"/>
                      </a:rPr>
                      <m:t>𝒕</m:t>
                    </m:r>
                    <m:r>
                      <a:rPr lang="en-US" altLang="zh-CN" sz="2325" i="1">
                        <a:latin typeface="Cambria Math" panose="02040503050406030204" pitchFamily="18" charset="0"/>
                      </a:rPr>
                      <m:t>),</m:t>
                    </m:r>
                  </m:oMath>
                </a14:m>
                <a:r>
                  <a:rPr lang="zh-CN" altLang="en-US" sz="2325" dirty="0"/>
                  <a:t>传输函数 </a:t>
                </a:r>
                <a14:m>
                  <m:oMath xmlns:m="http://schemas.openxmlformats.org/officeDocument/2006/math">
                    <m:r>
                      <a:rPr lang="en-US" altLang="zh-CN" sz="2325" i="1">
                        <a:latin typeface="Cambria Math" panose="02040503050406030204" pitchFamily="18" charset="0"/>
                      </a:rPr>
                      <m:t>𝑯</m:t>
                    </m:r>
                    <m:r>
                      <a:rPr lang="en-US" altLang="zh-CN" sz="2325">
                        <a:latin typeface="Cambria Math" panose="02040503050406030204" pitchFamily="18" charset="0"/>
                      </a:rPr>
                      <m:t>(</m:t>
                    </m:r>
                    <m:r>
                      <a:rPr lang="en-US" altLang="zh-CN" sz="2325" i="1">
                        <a:latin typeface="Cambria Math" panose="02040503050406030204" pitchFamily="18" charset="0"/>
                      </a:rPr>
                      <m:t>𝒋</m:t>
                    </m:r>
                    <m:r>
                      <a:rPr lang="en-US" altLang="zh-CN" sz="2325" i="1">
                        <a:latin typeface="Cambria Math" panose="02040503050406030204" pitchFamily="18" charset="0"/>
                      </a:rPr>
                      <m:t>𝝎</m:t>
                    </m:r>
                    <m:r>
                      <a:rPr lang="en-US" altLang="zh-CN" sz="2325">
                        <a:latin typeface="Cambria Math" panose="02040503050406030204" pitchFamily="18" charset="0"/>
                      </a:rPr>
                      <m:t>)</m:t>
                    </m:r>
                  </m:oMath>
                </a14:m>
                <a:r>
                  <a:rPr lang="zh-CN" altLang="en-US" sz="2325" i="1" dirty="0"/>
                  <a:t>，</a:t>
                </a:r>
                <a:r>
                  <a:rPr lang="zh-CN" altLang="en-US" sz="2325" dirty="0"/>
                  <a:t>输入信号</a:t>
                </a:r>
                <a14:m>
                  <m:oMath xmlns:m="http://schemas.openxmlformats.org/officeDocument/2006/math">
                    <m:r>
                      <a:rPr lang="en-US" altLang="zh-CN" sz="2325" i="1">
                        <a:latin typeface="Cambria Math" panose="02040503050406030204" pitchFamily="18" charset="0"/>
                      </a:rPr>
                      <m:t>𝑿</m:t>
                    </m:r>
                    <m:r>
                      <a:rPr lang="en-US" altLang="zh-CN" sz="2325" i="1">
                        <a:latin typeface="Cambria Math" panose="02040503050406030204" pitchFamily="18" charset="0"/>
                      </a:rPr>
                      <m:t>(</m:t>
                    </m:r>
                    <m:r>
                      <a:rPr lang="en-US" altLang="zh-CN" sz="2325" i="1">
                        <a:latin typeface="Cambria Math" panose="02040503050406030204" pitchFamily="18" charset="0"/>
                      </a:rPr>
                      <m:t>𝒕</m:t>
                    </m:r>
                    <m:r>
                      <a:rPr lang="en-US" altLang="zh-CN" sz="2325" i="1">
                        <a:latin typeface="Cambria Math" panose="02040503050406030204" pitchFamily="18" charset="0"/>
                      </a:rPr>
                      <m:t>)</m:t>
                    </m:r>
                  </m:oMath>
                </a14:m>
                <a:r>
                  <a:rPr lang="zh-CN" altLang="en-US" sz="2325" dirty="0"/>
                  <a:t>的特性：</a:t>
                </a:r>
                <a:endParaRPr lang="en-US" altLang="zh-CN" sz="2325" dirty="0"/>
              </a:p>
              <a:p>
                <a:pPr marL="0" indent="0">
                  <a:lnSpc>
                    <a:spcPct val="120000"/>
                  </a:lnSpc>
                  <a:buNone/>
                </a:pPr>
                <a14:m>
                  <m:oMathPara xmlns:m="http://schemas.openxmlformats.org/officeDocument/2006/math">
                    <m:oMathParaPr>
                      <m:jc m:val="left"/>
                    </m:oMathParaPr>
                    <m:oMath xmlns:m="http://schemas.openxmlformats.org/officeDocument/2006/math">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  </m:t>
                          </m:r>
                          <m:r>
                            <a:rPr lang="en-US" altLang="zh-CN" sz="2325" i="1">
                              <a:latin typeface="Cambria Math" panose="02040503050406030204" pitchFamily="18" charset="0"/>
                            </a:rPr>
                            <m:t>𝑺</m:t>
                          </m:r>
                        </m:e>
                        <m:sub>
                          <m:r>
                            <a:rPr lang="en-US" altLang="zh-CN" sz="2325" i="1">
                              <a:latin typeface="Cambria Math" panose="02040503050406030204" pitchFamily="18" charset="0"/>
                            </a:rPr>
                            <m:t>𝑿</m:t>
                          </m:r>
                        </m:sub>
                      </m:sSub>
                      <m:r>
                        <a:rPr lang="en-US" altLang="zh-CN" sz="2325" i="1">
                          <a:latin typeface="Cambria Math" panose="02040503050406030204" pitchFamily="18" charset="0"/>
                        </a:rPr>
                        <m:t>(</m:t>
                      </m:r>
                      <m:r>
                        <a:rPr lang="en-US" altLang="zh-CN" sz="2325" i="1">
                          <a:latin typeface="Cambria Math" panose="02040503050406030204" pitchFamily="18" charset="0"/>
                        </a:rPr>
                        <m:t>𝝎</m:t>
                      </m:r>
                      <m:r>
                        <a:rPr lang="en-US" altLang="zh-CN" sz="2325" i="1">
                          <a:latin typeface="Cambria Math" panose="02040503050406030204" pitchFamily="18" charset="0"/>
                        </a:rPr>
                        <m:t>)=</m:t>
                      </m:r>
                      <m:f>
                        <m:fPr>
                          <m:ctrlPr>
                            <a:rPr lang="zh-CN" altLang="zh-CN" sz="2325" i="1">
                              <a:latin typeface="Cambria Math" panose="02040503050406030204" pitchFamily="18" charset="0"/>
                            </a:rPr>
                          </m:ctrlPr>
                        </m:fPr>
                        <m:num>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𝑵</m:t>
                              </m:r>
                            </m:e>
                            <m:sub>
                              <m:r>
                                <a:rPr lang="en-US" altLang="zh-CN" sz="2325" i="1">
                                  <a:latin typeface="Cambria Math" panose="02040503050406030204" pitchFamily="18" charset="0"/>
                                </a:rPr>
                                <m:t>𝟎</m:t>
                              </m:r>
                            </m:sub>
                          </m:sSub>
                        </m:num>
                        <m:den>
                          <m:r>
                            <a:rPr lang="en-US" altLang="zh-CN" sz="2325" i="1">
                              <a:latin typeface="Cambria Math" panose="02040503050406030204" pitchFamily="18" charset="0"/>
                            </a:rPr>
                            <m:t>𝟐</m:t>
                          </m:r>
                        </m:den>
                      </m:f>
                      <m:r>
                        <m:rPr>
                          <m:nor/>
                        </m:rPr>
                        <a:rPr lang="en-US" altLang="zh-CN" sz="2325"/>
                        <m:t> </m:t>
                      </m:r>
                      <m:r>
                        <a:rPr lang="en-US" altLang="zh-CN" sz="2325">
                          <a:latin typeface="Cambria Math" panose="02040503050406030204" pitchFamily="18" charset="0"/>
                        </a:rPr>
                        <m:t>(</m:t>
                      </m:r>
                      <m:r>
                        <a:rPr lang="en-US" altLang="zh-CN" sz="2325" i="1">
                          <a:latin typeface="Cambria Math" panose="02040503050406030204" pitchFamily="18" charset="0"/>
                        </a:rPr>
                        <m:t>−</m:t>
                      </m:r>
                      <m:r>
                        <a:rPr lang="en-US" altLang="zh-CN" sz="2325">
                          <a:latin typeface="Cambria Math" panose="02040503050406030204" pitchFamily="18" charset="0"/>
                        </a:rPr>
                        <m:t>∞&lt;</m:t>
                      </m:r>
                      <m:r>
                        <a:rPr lang="en-US" altLang="zh-CN" sz="2325" i="1">
                          <a:latin typeface="Cambria Math" panose="02040503050406030204" pitchFamily="18" charset="0"/>
                        </a:rPr>
                        <m:t>𝝎</m:t>
                      </m:r>
                      <m:r>
                        <a:rPr lang="en-US" altLang="zh-CN" sz="2325">
                          <a:latin typeface="Cambria Math" panose="02040503050406030204" pitchFamily="18" charset="0"/>
                        </a:rPr>
                        <m:t>&lt;∞),</m:t>
                      </m:r>
                      <m:r>
                        <m:rPr>
                          <m:nor/>
                        </m:rPr>
                        <a:rPr lang="zh-CN" altLang="en-US" sz="2325" dirty="0"/>
                        <m:t>（</m:t>
                      </m:r>
                      <m:r>
                        <m:rPr>
                          <m:nor/>
                        </m:rPr>
                        <a:rPr lang="zh-CN" altLang="zh-CN" sz="2325" dirty="0"/>
                        <m:t> </m:t>
                      </m:r>
                      <m:r>
                        <a:rPr lang="zh-CN" altLang="en-US" sz="2325" i="1" dirty="0">
                          <a:latin typeface="Cambria Math" panose="02040503050406030204" pitchFamily="18" charset="0"/>
                        </a:rPr>
                        <m:t>或</m:t>
                      </m:r>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  </m:t>
                          </m:r>
                          <m:r>
                            <a:rPr lang="en-US" altLang="zh-CN" sz="2325" i="1">
                              <a:latin typeface="Cambria Math" panose="02040503050406030204" pitchFamily="18" charset="0"/>
                            </a:rPr>
                            <m:t>𝑺</m:t>
                          </m:r>
                        </m:e>
                        <m:sub>
                          <m:r>
                            <a:rPr lang="en-US" altLang="zh-CN" sz="2325" i="1">
                              <a:latin typeface="Cambria Math" panose="02040503050406030204" pitchFamily="18" charset="0"/>
                            </a:rPr>
                            <m:t>𝑿</m:t>
                          </m:r>
                        </m:sub>
                      </m:sSub>
                      <m:r>
                        <a:rPr lang="en-US" altLang="zh-CN" sz="2325" i="1">
                          <a:latin typeface="Cambria Math" panose="02040503050406030204" pitchFamily="18" charset="0"/>
                        </a:rPr>
                        <m:t>(</m:t>
                      </m:r>
                      <m:r>
                        <a:rPr lang="en-US" altLang="zh-CN" sz="2325" i="1">
                          <a:latin typeface="Cambria Math" panose="02040503050406030204" pitchFamily="18" charset="0"/>
                        </a:rPr>
                        <m:t>𝒇</m:t>
                      </m:r>
                      <m:r>
                        <a:rPr lang="en-US" altLang="zh-CN" sz="2325" i="1">
                          <a:latin typeface="Cambria Math" panose="02040503050406030204" pitchFamily="18" charset="0"/>
                        </a:rPr>
                        <m:t>)=</m:t>
                      </m:r>
                      <m:f>
                        <m:fPr>
                          <m:ctrlPr>
                            <a:rPr lang="zh-CN" altLang="zh-CN" sz="2325" i="1">
                              <a:latin typeface="Cambria Math" panose="02040503050406030204" pitchFamily="18" charset="0"/>
                            </a:rPr>
                          </m:ctrlPr>
                        </m:fPr>
                        <m:num>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𝑵</m:t>
                              </m:r>
                            </m:e>
                            <m:sub>
                              <m:r>
                                <a:rPr lang="en-US" altLang="zh-CN" sz="2325" i="1">
                                  <a:latin typeface="Cambria Math" panose="02040503050406030204" pitchFamily="18" charset="0"/>
                                </a:rPr>
                                <m:t>𝟎</m:t>
                              </m:r>
                            </m:sub>
                          </m:sSub>
                        </m:num>
                        <m:den>
                          <m:r>
                            <a:rPr lang="en-US" altLang="zh-CN" sz="2325" i="1">
                              <a:latin typeface="Cambria Math" panose="02040503050406030204" pitchFamily="18" charset="0"/>
                            </a:rPr>
                            <m:t>𝟐</m:t>
                          </m:r>
                        </m:den>
                      </m:f>
                      <m:r>
                        <m:rPr>
                          <m:nor/>
                        </m:rPr>
                        <a:rPr lang="en-US" altLang="zh-CN" sz="2325"/>
                        <m:t> </m:t>
                      </m:r>
                      <m:r>
                        <a:rPr lang="en-US" altLang="zh-CN" sz="2325">
                          <a:latin typeface="Cambria Math" panose="02040503050406030204" pitchFamily="18" charset="0"/>
                        </a:rPr>
                        <m:t>(</m:t>
                      </m:r>
                      <m:r>
                        <a:rPr lang="en-US" altLang="zh-CN" sz="2325" i="1">
                          <a:latin typeface="Cambria Math" panose="02040503050406030204" pitchFamily="18" charset="0"/>
                        </a:rPr>
                        <m:t>−</m:t>
                      </m:r>
                      <m:r>
                        <a:rPr lang="en-US" altLang="zh-CN" sz="2325">
                          <a:latin typeface="Cambria Math" panose="02040503050406030204" pitchFamily="18" charset="0"/>
                        </a:rPr>
                        <m:t>∞&lt;</m:t>
                      </m:r>
                      <m:r>
                        <a:rPr lang="en-US" altLang="zh-CN" sz="2325" i="1">
                          <a:latin typeface="Cambria Math" panose="02040503050406030204" pitchFamily="18" charset="0"/>
                        </a:rPr>
                        <m:t>𝒇</m:t>
                      </m:r>
                      <m:r>
                        <a:rPr lang="en-US" altLang="zh-CN" sz="2325">
                          <a:latin typeface="Cambria Math" panose="02040503050406030204" pitchFamily="18" charset="0"/>
                        </a:rPr>
                        <m:t>&lt;∞</m:t>
                      </m:r>
                      <m:r>
                        <a:rPr lang="en-US" altLang="zh-CN" sz="2325" i="1">
                          <a:latin typeface="Cambria Math" panose="02040503050406030204" pitchFamily="18" charset="0"/>
                        </a:rPr>
                        <m:t> </m:t>
                      </m:r>
                      <m:r>
                        <m:rPr>
                          <m:nor/>
                        </m:rPr>
                        <a:rPr lang="zh-CN" altLang="en-US" sz="2325" dirty="0"/>
                        <m:t>））</m:t>
                      </m:r>
                      <m:r>
                        <a:rPr lang="zh-CN" altLang="en-US" sz="2325" i="1" dirty="0">
                          <a:latin typeface="Cambria Math" panose="02040503050406030204" pitchFamily="18" charset="0"/>
                        </a:rPr>
                        <m:t>，</m:t>
                      </m:r>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𝑹</m:t>
                          </m:r>
                        </m:e>
                        <m:sub>
                          <m:r>
                            <a:rPr lang="en-US" altLang="zh-CN" sz="2325" i="1">
                              <a:latin typeface="Cambria Math" panose="02040503050406030204" pitchFamily="18" charset="0"/>
                            </a:rPr>
                            <m:t>𝑿</m:t>
                          </m:r>
                        </m:sub>
                      </m:sSub>
                      <m:r>
                        <a:rPr lang="en-US" altLang="zh-CN" sz="2325" i="1">
                          <a:latin typeface="Cambria Math" panose="02040503050406030204" pitchFamily="18" charset="0"/>
                        </a:rPr>
                        <m:t>(</m:t>
                      </m:r>
                      <m:r>
                        <a:rPr lang="en-US" altLang="zh-CN" sz="2325" i="1">
                          <a:latin typeface="Cambria Math" panose="02040503050406030204" pitchFamily="18" charset="0"/>
                        </a:rPr>
                        <m:t>𝝉</m:t>
                      </m:r>
                      <m:r>
                        <a:rPr lang="en-US" altLang="zh-CN" sz="2325" i="1">
                          <a:latin typeface="Cambria Math" panose="02040503050406030204" pitchFamily="18" charset="0"/>
                        </a:rPr>
                        <m:t>)=</m:t>
                      </m:r>
                      <m:f>
                        <m:fPr>
                          <m:ctrlPr>
                            <a:rPr lang="zh-CN" altLang="zh-CN" sz="2325" i="1">
                              <a:latin typeface="Cambria Math" panose="02040503050406030204" pitchFamily="18" charset="0"/>
                            </a:rPr>
                          </m:ctrlPr>
                        </m:fPr>
                        <m:num>
                          <m:sSub>
                            <m:sSubPr>
                              <m:ctrlPr>
                                <a:rPr lang="zh-CN" altLang="zh-CN" sz="2325" i="1">
                                  <a:latin typeface="Cambria Math" panose="02040503050406030204" pitchFamily="18" charset="0"/>
                                </a:rPr>
                              </m:ctrlPr>
                            </m:sSubPr>
                            <m:e>
                              <m:r>
                                <a:rPr lang="en-US" altLang="zh-CN" sz="2325" i="1">
                                  <a:latin typeface="Cambria Math" panose="02040503050406030204" pitchFamily="18" charset="0"/>
                                </a:rPr>
                                <m:t>𝑵</m:t>
                              </m:r>
                            </m:e>
                            <m:sub>
                              <m:r>
                                <a:rPr lang="en-US" altLang="zh-CN" sz="2325" i="1">
                                  <a:latin typeface="Cambria Math" panose="02040503050406030204" pitchFamily="18" charset="0"/>
                                </a:rPr>
                                <m:t>𝟎</m:t>
                              </m:r>
                            </m:sub>
                          </m:sSub>
                        </m:num>
                        <m:den>
                          <m:r>
                            <a:rPr lang="en-US" altLang="zh-CN" sz="2325" i="1">
                              <a:latin typeface="Cambria Math" panose="02040503050406030204" pitchFamily="18" charset="0"/>
                            </a:rPr>
                            <m:t>𝟐</m:t>
                          </m:r>
                        </m:den>
                      </m:f>
                      <m:r>
                        <a:rPr lang="en-US" altLang="zh-CN" sz="2325" i="1">
                          <a:latin typeface="Cambria Math" panose="02040503050406030204" pitchFamily="18" charset="0"/>
                        </a:rPr>
                        <m:t>𝜹</m:t>
                      </m:r>
                      <m:r>
                        <a:rPr lang="en-US" altLang="zh-CN" sz="2325" i="1">
                          <a:latin typeface="Cambria Math" panose="02040503050406030204" pitchFamily="18" charset="0"/>
                        </a:rPr>
                        <m:t>(</m:t>
                      </m:r>
                      <m:r>
                        <a:rPr lang="en-US" altLang="zh-CN" sz="2325" i="1">
                          <a:latin typeface="Cambria Math" panose="02040503050406030204" pitchFamily="18" charset="0"/>
                        </a:rPr>
                        <m:t>𝝉</m:t>
                      </m:r>
                      <m:r>
                        <a:rPr lang="en-US" altLang="zh-CN" sz="2325" i="1">
                          <a:latin typeface="Cambria Math" panose="02040503050406030204" pitchFamily="18" charset="0"/>
                        </a:rPr>
                        <m:t>)</m:t>
                      </m:r>
                    </m:oMath>
                  </m:oMathPara>
                </a14:m>
                <a:endParaRPr lang="zh-CN" altLang="zh-CN" sz="2325" dirty="0"/>
              </a:p>
              <a:p>
                <a:pPr marL="0" indent="0">
                  <a:lnSpc>
                    <a:spcPct val="120000"/>
                  </a:lnSpc>
                  <a:buNone/>
                </a:pPr>
                <a:r>
                  <a:rPr lang="zh-CN" altLang="zh-CN" sz="2550" dirty="0"/>
                  <a:t>则</a:t>
                </a:r>
                <a:r>
                  <a:rPr lang="zh-CN" altLang="en-US" sz="2550" dirty="0"/>
                  <a:t>对</a:t>
                </a:r>
                <a:r>
                  <a:rPr lang="zh-CN" altLang="zh-CN" sz="2550" dirty="0"/>
                  <a:t>输出过程</a:t>
                </a:r>
                <a:r>
                  <a:rPr lang="en-US" altLang="zh-CN" sz="2550" i="1" dirty="0"/>
                  <a:t>Y</a:t>
                </a:r>
                <a:r>
                  <a:rPr lang="en-US" altLang="zh-CN" sz="2550" dirty="0"/>
                  <a:t>(</a:t>
                </a:r>
                <a:r>
                  <a:rPr lang="en-US" altLang="zh-CN" sz="2550" i="1" dirty="0"/>
                  <a:t>t</a:t>
                </a:r>
                <a:r>
                  <a:rPr lang="en-US" altLang="zh-CN" sz="2550" dirty="0"/>
                  <a:t>)</a:t>
                </a:r>
              </a:p>
              <a:p>
                <a:pPr marL="0" indent="0">
                  <a:lnSpc>
                    <a:spcPct val="120000"/>
                  </a:lnSpc>
                  <a:buNone/>
                </a:pPr>
                <a:r>
                  <a:rPr lang="zh-CN" altLang="zh-CN" sz="2550" dirty="0"/>
                  <a:t>自相关</a:t>
                </a:r>
                <a:r>
                  <a:rPr lang="zh-CN" altLang="en-US" sz="2550" dirty="0"/>
                  <a:t>函数</a:t>
                </a:r>
                <a:r>
                  <a:rPr lang="en-US" altLang="zh-CN" sz="2550" dirty="0"/>
                  <a:t>:	   </a:t>
                </a:r>
                <a14:m>
                  <m:oMath xmlns:m="http://schemas.openxmlformats.org/officeDocument/2006/math">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𝑹</m:t>
                        </m:r>
                      </m:e>
                      <m:sub>
                        <m:r>
                          <a:rPr lang="en-US" altLang="zh-CN" sz="2550" i="1">
                            <a:solidFill>
                              <a:srgbClr val="FF0000"/>
                            </a:solidFill>
                            <a:latin typeface="Cambria Math" panose="02040503050406030204" pitchFamily="18" charset="0"/>
                          </a:rPr>
                          <m:t>𝒀</m:t>
                        </m:r>
                      </m:sub>
                    </m:sSub>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r>
                      <a:rPr lang="en-US" altLang="zh-CN" sz="2550" i="1">
                        <a:solidFill>
                          <a:srgbClr val="FF0000"/>
                        </a:solidFill>
                        <a:latin typeface="Cambria Math" panose="02040503050406030204" pitchFamily="18" charset="0"/>
                      </a:rPr>
                      <m:t>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oMath>
                </a14:m>
                <a:r>
                  <a:rPr lang="zh-CN" altLang="en-US" sz="2550" dirty="0">
                    <a:solidFill>
                      <a:srgbClr val="FF0000"/>
                    </a:solidFill>
                  </a:rPr>
                  <a:t>，</a:t>
                </a:r>
                <a14:m>
                  <m:oMath xmlns:m="http://schemas.openxmlformats.org/officeDocument/2006/math">
                    <m:sSub>
                      <m:sSubPr>
                        <m:ctrlPr>
                          <a:rPr lang="en-US"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𝑹</m:t>
                        </m:r>
                      </m:e>
                      <m:sub>
                        <m:r>
                          <a:rPr lang="en-US" altLang="zh-CN" sz="2550" i="1">
                            <a:solidFill>
                              <a:srgbClr val="FF0000"/>
                            </a:solidFill>
                            <a:latin typeface="Cambria Math" panose="02040503050406030204" pitchFamily="18" charset="0"/>
                          </a:rPr>
                          <m:t>𝒉</m:t>
                        </m:r>
                      </m:sub>
                    </m:sSub>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𝒉</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𝝉</m:t>
                    </m:r>
                    <m:r>
                      <a:rPr lang="en-US" altLang="zh-CN" sz="2550" i="1">
                        <a:solidFill>
                          <a:srgbClr val="FF0000"/>
                        </a:solidFill>
                        <a:latin typeface="Cambria Math" panose="02040503050406030204" pitchFamily="18" charset="0"/>
                      </a:rPr>
                      <m:t>)</m:t>
                    </m:r>
                  </m:oMath>
                </a14:m>
                <a:endParaRPr lang="zh-CN" altLang="zh-CN" sz="2550" dirty="0">
                  <a:solidFill>
                    <a:srgbClr val="FF0000"/>
                  </a:solidFill>
                </a:endParaRPr>
              </a:p>
              <a:p>
                <a:pPr marL="0" indent="0">
                  <a:lnSpc>
                    <a:spcPct val="120000"/>
                  </a:lnSpc>
                  <a:buNone/>
                </a:pPr>
                <a:r>
                  <a:rPr lang="zh-CN" altLang="zh-CN" sz="2550" dirty="0"/>
                  <a:t>功率谱</a:t>
                </a:r>
                <a:r>
                  <a:rPr lang="zh-CN" altLang="en-US" sz="2550" dirty="0"/>
                  <a:t>密度</a:t>
                </a:r>
                <a:r>
                  <a:rPr lang="en-US" altLang="zh-CN" sz="2550" dirty="0"/>
                  <a:t>:	    </a:t>
                </a:r>
                <a14:m>
                  <m:oMath xmlns:m="http://schemas.openxmlformats.org/officeDocument/2006/math">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𝑺</m:t>
                        </m:r>
                      </m:e>
                      <m:sub>
                        <m:r>
                          <a:rPr lang="en-US" altLang="zh-CN" sz="2550" i="1">
                            <a:solidFill>
                              <a:srgbClr val="FF0000"/>
                            </a:solidFill>
                            <a:latin typeface="Cambria Math" panose="02040503050406030204" pitchFamily="18" charset="0"/>
                          </a:rPr>
                          <m:t>𝒀</m:t>
                        </m:r>
                      </m:sub>
                    </m:sSub>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𝝎</m:t>
                    </m:r>
                    <m:r>
                      <a:rPr lang="en-US" altLang="zh-CN" sz="2550" i="1">
                        <a:solidFill>
                          <a:srgbClr val="FF0000"/>
                        </a:solidFill>
                        <a:latin typeface="Cambria Math" panose="02040503050406030204" pitchFamily="18" charset="0"/>
                      </a:rPr>
                      <m:t>)=</m:t>
                    </m:r>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𝑯</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𝒋</m:t>
                    </m:r>
                    <m:r>
                      <a:rPr lang="en-US" altLang="zh-CN" sz="2550" i="1">
                        <a:solidFill>
                          <a:srgbClr val="FF0000"/>
                        </a:solidFill>
                        <a:latin typeface="Cambria Math" panose="02040503050406030204" pitchFamily="18" charset="0"/>
                      </a:rPr>
                      <m:t>𝝎</m:t>
                    </m:r>
                    <m:r>
                      <a:rPr lang="en-US" altLang="zh-CN" sz="2550" i="1">
                        <a:solidFill>
                          <a:srgbClr val="FF0000"/>
                        </a:solidFill>
                        <a:latin typeface="Cambria Math" panose="02040503050406030204" pitchFamily="18" charset="0"/>
                      </a:rPr>
                      <m:t>)</m:t>
                    </m:r>
                    <m:sSup>
                      <m:sSupPr>
                        <m:ctrlPr>
                          <a:rPr lang="zh-CN" altLang="zh-CN" sz="2550" i="1">
                            <a:solidFill>
                              <a:srgbClr val="FF0000"/>
                            </a:solidFill>
                            <a:latin typeface="Cambria Math" panose="02040503050406030204" pitchFamily="18" charset="0"/>
                          </a:rPr>
                        </m:ctrlPr>
                      </m:sSupPr>
                      <m:e>
                        <m:r>
                          <a:rPr lang="en-US" altLang="zh-CN" sz="2550" i="1">
                            <a:solidFill>
                              <a:srgbClr val="FF0000"/>
                            </a:solidFill>
                            <a:latin typeface="Cambria Math" panose="02040503050406030204" pitchFamily="18" charset="0"/>
                          </a:rPr>
                          <m:t>|</m:t>
                        </m:r>
                      </m:e>
                      <m:sup>
                        <m:r>
                          <a:rPr lang="en-US" altLang="zh-CN" sz="2550" i="1">
                            <a:solidFill>
                              <a:srgbClr val="FF0000"/>
                            </a:solidFill>
                            <a:latin typeface="Cambria Math" panose="02040503050406030204" pitchFamily="18" charset="0"/>
                          </a:rPr>
                          <m:t>𝟐</m:t>
                        </m:r>
                      </m:sup>
                    </m:sSup>
                  </m:oMath>
                </a14:m>
                <a:r>
                  <a:rPr lang="en-US" altLang="zh-CN" sz="2550" dirty="0"/>
                  <a:t>     </a:t>
                </a:r>
                <a:r>
                  <a:rPr lang="zh-CN" altLang="en-US" sz="2550" dirty="0"/>
                  <a:t>或 </a:t>
                </a:r>
                <a14:m>
                  <m:oMath xmlns:m="http://schemas.openxmlformats.org/officeDocument/2006/math">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   </m:t>
                        </m:r>
                        <m:r>
                          <a:rPr lang="en-US" altLang="zh-CN" sz="2550" i="1">
                            <a:solidFill>
                              <a:srgbClr val="FF0000"/>
                            </a:solidFill>
                            <a:latin typeface="Cambria Math" panose="02040503050406030204" pitchFamily="18" charset="0"/>
                          </a:rPr>
                          <m:t>𝑺</m:t>
                        </m:r>
                      </m:e>
                      <m:sub>
                        <m:r>
                          <a:rPr lang="en-US" altLang="zh-CN" sz="2550" i="1">
                            <a:solidFill>
                              <a:srgbClr val="FF0000"/>
                            </a:solidFill>
                            <a:latin typeface="Cambria Math" panose="02040503050406030204" pitchFamily="18" charset="0"/>
                          </a:rPr>
                          <m:t>𝒀</m:t>
                        </m:r>
                      </m:sub>
                    </m:sSub>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𝒇</m:t>
                    </m:r>
                    <m:r>
                      <a:rPr lang="en-US" altLang="zh-CN" sz="2550" i="1">
                        <a:solidFill>
                          <a:srgbClr val="FF0000"/>
                        </a:solidFill>
                        <a:latin typeface="Cambria Math" panose="02040503050406030204" pitchFamily="18" charset="0"/>
                      </a:rPr>
                      <m:t>)=</m:t>
                    </m:r>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𝑯</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𝒋𝒇</m:t>
                    </m:r>
                    <m:r>
                      <a:rPr lang="en-US" altLang="zh-CN" sz="2550" i="1">
                        <a:solidFill>
                          <a:srgbClr val="FF0000"/>
                        </a:solidFill>
                        <a:latin typeface="Cambria Math" panose="02040503050406030204" pitchFamily="18" charset="0"/>
                      </a:rPr>
                      <m:t>)</m:t>
                    </m:r>
                    <m:sSup>
                      <m:sSupPr>
                        <m:ctrlPr>
                          <a:rPr lang="zh-CN" altLang="zh-CN" sz="2550" i="1">
                            <a:solidFill>
                              <a:srgbClr val="FF0000"/>
                            </a:solidFill>
                            <a:latin typeface="Cambria Math" panose="02040503050406030204" pitchFamily="18" charset="0"/>
                          </a:rPr>
                        </m:ctrlPr>
                      </m:sSupPr>
                      <m:e>
                        <m:r>
                          <a:rPr lang="en-US" altLang="zh-CN" sz="2550" i="1">
                            <a:solidFill>
                              <a:srgbClr val="FF0000"/>
                            </a:solidFill>
                            <a:latin typeface="Cambria Math" panose="02040503050406030204" pitchFamily="18" charset="0"/>
                          </a:rPr>
                          <m:t>|</m:t>
                        </m:r>
                      </m:e>
                      <m:sup>
                        <m:r>
                          <a:rPr lang="en-US" altLang="zh-CN" sz="2550" i="1">
                            <a:solidFill>
                              <a:srgbClr val="FF0000"/>
                            </a:solidFill>
                            <a:latin typeface="Cambria Math" panose="02040503050406030204" pitchFamily="18" charset="0"/>
                          </a:rPr>
                          <m:t>𝟐</m:t>
                        </m:r>
                      </m:sup>
                    </m:sSup>
                  </m:oMath>
                </a14:m>
                <a:endParaRPr lang="en-US" altLang="zh-CN" sz="2550" dirty="0"/>
              </a:p>
              <a:p>
                <a:pPr marL="0" indent="0">
                  <a:lnSpc>
                    <a:spcPct val="120000"/>
                  </a:lnSpc>
                  <a:buNone/>
                </a:pPr>
                <a:r>
                  <a:rPr lang="zh-CN" altLang="en-US" sz="2550" dirty="0"/>
                  <a:t>输出噪声功率：</a:t>
                </a:r>
                <a14:m>
                  <m:oMath xmlns:m="http://schemas.openxmlformats.org/officeDocument/2006/math">
                    <m:sSub>
                      <m:sSubPr>
                        <m:ctrlPr>
                          <a:rPr lang="en-US"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𝑷</m:t>
                        </m:r>
                      </m:e>
                      <m:sub>
                        <m:r>
                          <a:rPr lang="en-US" altLang="zh-CN" sz="2550" i="1">
                            <a:solidFill>
                              <a:srgbClr val="FF0000"/>
                            </a:solidFill>
                            <a:latin typeface="Cambria Math" panose="02040503050406030204" pitchFamily="18" charset="0"/>
                          </a:rPr>
                          <m:t>𝒀</m:t>
                        </m:r>
                      </m:sub>
                    </m:sSub>
                    <m:r>
                      <a:rPr lang="en-US" altLang="zh-CN" sz="2550" i="1">
                        <a:solidFill>
                          <a:srgbClr val="FF0000"/>
                        </a:solidFill>
                        <a:latin typeface="Cambria Math" panose="02040503050406030204" pitchFamily="18" charset="0"/>
                      </a:rPr>
                      <m:t>=</m:t>
                    </m:r>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𝑹</m:t>
                        </m:r>
                      </m:e>
                      <m:sub>
                        <m:r>
                          <a:rPr lang="en-US" altLang="zh-CN" sz="2550" i="1">
                            <a:solidFill>
                              <a:srgbClr val="FF0000"/>
                            </a:solidFill>
                            <a:latin typeface="Cambria Math" panose="02040503050406030204" pitchFamily="18" charset="0"/>
                          </a:rPr>
                          <m:t>𝒀</m:t>
                        </m:r>
                      </m:sub>
                    </m:sSub>
                    <m:d>
                      <m:dPr>
                        <m:ctrlPr>
                          <a:rPr lang="en-US" altLang="zh-CN" sz="2550" i="1">
                            <a:solidFill>
                              <a:srgbClr val="FF0000"/>
                            </a:solidFill>
                            <a:latin typeface="Cambria Math" panose="02040503050406030204" pitchFamily="18" charset="0"/>
                          </a:rPr>
                        </m:ctrlPr>
                      </m:dPr>
                      <m:e>
                        <m:r>
                          <a:rPr lang="en-US" altLang="zh-CN" sz="2550" i="1">
                            <a:solidFill>
                              <a:srgbClr val="FF0000"/>
                            </a:solidFill>
                            <a:latin typeface="Cambria Math" panose="02040503050406030204" pitchFamily="18" charset="0"/>
                          </a:rPr>
                          <m:t>𝟎</m:t>
                        </m:r>
                      </m:e>
                    </m:d>
                    <m:r>
                      <a:rPr lang="en-US" altLang="zh-CN" sz="2550" i="1">
                        <a:solidFill>
                          <a:srgbClr val="FF0000"/>
                        </a:solidFill>
                        <a:latin typeface="Cambria Math" panose="02040503050406030204" pitchFamily="18" charset="0"/>
                      </a:rPr>
                      <m:t>=</m:t>
                    </m:r>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sSub>
                      <m:sSubPr>
                        <m:ctrlPr>
                          <a:rPr lang="en-US"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𝑹</m:t>
                        </m:r>
                      </m:e>
                      <m:sub>
                        <m:r>
                          <a:rPr lang="en-US" altLang="zh-CN" sz="2550" i="1">
                            <a:solidFill>
                              <a:srgbClr val="FF0000"/>
                            </a:solidFill>
                            <a:latin typeface="Cambria Math" panose="02040503050406030204" pitchFamily="18" charset="0"/>
                          </a:rPr>
                          <m:t>𝒉</m:t>
                        </m:r>
                      </m:sub>
                    </m:sSub>
                    <m:d>
                      <m:dPr>
                        <m:ctrlPr>
                          <a:rPr lang="en-US" altLang="zh-CN" sz="2550" i="1">
                            <a:solidFill>
                              <a:srgbClr val="FF0000"/>
                            </a:solidFill>
                            <a:latin typeface="Cambria Math" panose="02040503050406030204" pitchFamily="18" charset="0"/>
                          </a:rPr>
                        </m:ctrlPr>
                      </m:dPr>
                      <m:e>
                        <m:r>
                          <a:rPr lang="en-US" altLang="zh-CN" sz="2550" i="1">
                            <a:solidFill>
                              <a:srgbClr val="FF0000"/>
                            </a:solidFill>
                            <a:latin typeface="Cambria Math" panose="02040503050406030204" pitchFamily="18" charset="0"/>
                          </a:rPr>
                          <m:t>𝟎</m:t>
                        </m:r>
                      </m:e>
                    </m:d>
                  </m:oMath>
                </a14:m>
                <a:endParaRPr lang="en-US" altLang="zh-CN" sz="2550" i="1" dirty="0">
                  <a:solidFill>
                    <a:srgbClr val="FF0000"/>
                  </a:solidFill>
                  <a:latin typeface="Cambria Math" panose="02040503050406030204" pitchFamily="18" charset="0"/>
                </a:endParaRPr>
              </a:p>
              <a:p>
                <a:pPr marL="0" indent="0">
                  <a:lnSpc>
                    <a:spcPct val="120000"/>
                  </a:lnSpc>
                  <a:buNone/>
                </a:pPr>
                <a:r>
                  <a:rPr lang="en-US" altLang="zh-CN" sz="2550" dirty="0">
                    <a:solidFill>
                      <a:srgbClr val="FF0000"/>
                    </a:solidFill>
                  </a:rPr>
                  <a:t>                                  </a:t>
                </a:r>
                <a14:m>
                  <m:oMath xmlns:m="http://schemas.openxmlformats.org/officeDocument/2006/math">
                    <m:r>
                      <a:rPr lang="en-US" altLang="zh-CN" sz="2550">
                        <a:solidFill>
                          <a:srgbClr val="FF0000"/>
                        </a:solidFill>
                        <a:latin typeface="Cambria Math" panose="02040503050406030204" pitchFamily="18" charset="0"/>
                      </a:rPr>
                      <m:t>=</m:t>
                    </m:r>
                    <m:f>
                      <m:fPr>
                        <m:ctrlPr>
                          <a:rPr lang="zh-CN" altLang="zh-CN" sz="2550" i="1">
                            <a:solidFill>
                              <a:srgbClr val="FF0000"/>
                            </a:solidFill>
                            <a:latin typeface="Cambria Math" panose="02040503050406030204" pitchFamily="18" charset="0"/>
                          </a:rPr>
                        </m:ctrlPr>
                      </m:fPr>
                      <m:num>
                        <m:r>
                          <a:rPr lang="en-US" altLang="zh-CN" sz="2550" i="1">
                            <a:solidFill>
                              <a:srgbClr val="FF0000"/>
                            </a:solidFill>
                            <a:latin typeface="Cambria Math" panose="02040503050406030204" pitchFamily="18" charset="0"/>
                          </a:rPr>
                          <m:t>𝟏</m:t>
                        </m:r>
                      </m:num>
                      <m:den>
                        <m:r>
                          <a:rPr lang="en-US" altLang="zh-CN" sz="2550" i="1">
                            <a:solidFill>
                              <a:srgbClr val="FF0000"/>
                            </a:solidFill>
                            <a:latin typeface="Cambria Math" panose="02040503050406030204" pitchFamily="18" charset="0"/>
                          </a:rPr>
                          <m:t>𝟐</m:t>
                        </m:r>
                        <m:r>
                          <a:rPr lang="zh-CN" altLang="en-US" sz="2550" i="1">
                            <a:solidFill>
                              <a:srgbClr val="FF0000"/>
                            </a:solidFill>
                            <a:latin typeface="Cambria Math" panose="02040503050406030204" pitchFamily="18" charset="0"/>
                          </a:rPr>
                          <m:t>𝝅</m:t>
                        </m:r>
                      </m:den>
                    </m:f>
                    <m:nary>
                      <m:naryPr>
                        <m:ctrlPr>
                          <a:rPr lang="en-US" altLang="zh-CN" sz="2550" i="1">
                            <a:solidFill>
                              <a:srgbClr val="FF0000"/>
                            </a:solidFill>
                            <a:latin typeface="Cambria Math" panose="02040503050406030204" pitchFamily="18" charset="0"/>
                          </a:rPr>
                        </m:ctrlPr>
                      </m:naryPr>
                      <m:sub>
                        <m:r>
                          <m:rPr>
                            <m:brk m:alnAt="23"/>
                          </m:rP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ea typeface="Cambria Math" panose="02040503050406030204" pitchFamily="18" charset="0"/>
                          </a:rPr>
                          <m:t>∞</m:t>
                        </m:r>
                      </m:sub>
                      <m:sup>
                        <m:r>
                          <a:rPr lang="en-US" altLang="zh-CN" sz="2550" i="1">
                            <a:solidFill>
                              <a:srgbClr val="FF0000"/>
                            </a:solidFill>
                            <a:latin typeface="Cambria Math" panose="02040503050406030204" pitchFamily="18" charset="0"/>
                            <a:ea typeface="Cambria Math" panose="02040503050406030204" pitchFamily="18" charset="0"/>
                          </a:rPr>
                          <m:t>∞</m:t>
                        </m:r>
                      </m:sup>
                      <m:e>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𝑯</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𝒋</m:t>
                        </m:r>
                        <m:r>
                          <a:rPr lang="en-US" altLang="zh-CN" sz="2550" i="1">
                            <a:solidFill>
                              <a:srgbClr val="FF0000"/>
                            </a:solidFill>
                            <a:latin typeface="Cambria Math" panose="02040503050406030204" pitchFamily="18" charset="0"/>
                          </a:rPr>
                          <m:t>𝝎</m:t>
                        </m:r>
                        <m:r>
                          <a:rPr lang="en-US" altLang="zh-CN" sz="2550" i="1">
                            <a:solidFill>
                              <a:srgbClr val="FF0000"/>
                            </a:solidFill>
                            <a:latin typeface="Cambria Math" panose="02040503050406030204" pitchFamily="18" charset="0"/>
                          </a:rPr>
                          <m:t>)</m:t>
                        </m:r>
                        <m:sSup>
                          <m:sSupPr>
                            <m:ctrlPr>
                              <a:rPr lang="zh-CN" altLang="zh-CN" sz="2550" i="1">
                                <a:solidFill>
                                  <a:srgbClr val="FF0000"/>
                                </a:solidFill>
                                <a:latin typeface="Cambria Math" panose="02040503050406030204" pitchFamily="18" charset="0"/>
                              </a:rPr>
                            </m:ctrlPr>
                          </m:sSupPr>
                          <m:e>
                            <m:r>
                              <a:rPr lang="en-US" altLang="zh-CN" sz="2550" i="1">
                                <a:solidFill>
                                  <a:srgbClr val="FF0000"/>
                                </a:solidFill>
                                <a:latin typeface="Cambria Math" panose="02040503050406030204" pitchFamily="18" charset="0"/>
                              </a:rPr>
                              <m:t>|</m:t>
                            </m:r>
                          </m:e>
                          <m:sup>
                            <m:r>
                              <a:rPr lang="en-US" altLang="zh-CN" sz="2550" i="1">
                                <a:solidFill>
                                  <a:srgbClr val="FF0000"/>
                                </a:solidFill>
                                <a:latin typeface="Cambria Math" panose="02040503050406030204" pitchFamily="18" charset="0"/>
                              </a:rPr>
                              <m:t>𝟐</m:t>
                            </m:r>
                          </m:sup>
                        </m:sSup>
                        <m:r>
                          <a:rPr lang="en-US" altLang="zh-CN" sz="2550" i="1">
                            <a:solidFill>
                              <a:srgbClr val="FF0000"/>
                            </a:solidFill>
                            <a:latin typeface="Cambria Math" panose="02040503050406030204" pitchFamily="18" charset="0"/>
                          </a:rPr>
                          <m:t>𝒅</m:t>
                        </m:r>
                        <m:r>
                          <a:rPr lang="zh-CN" altLang="en-US" sz="2550" i="1">
                            <a:solidFill>
                              <a:srgbClr val="FF0000"/>
                            </a:solidFill>
                            <a:latin typeface="Cambria Math" panose="02040503050406030204" pitchFamily="18" charset="0"/>
                          </a:rPr>
                          <m:t>𝝎</m:t>
                        </m:r>
                      </m:e>
                    </m:nary>
                    <m:r>
                      <a:rPr lang="en-US" altLang="zh-CN" sz="2550" i="1">
                        <a:solidFill>
                          <a:srgbClr val="FF0000"/>
                        </a:solidFill>
                        <a:latin typeface="Cambria Math" panose="02040503050406030204" pitchFamily="18" charset="0"/>
                      </a:rPr>
                      <m:t>=</m:t>
                    </m:r>
                    <m:nary>
                      <m:naryPr>
                        <m:ctrlPr>
                          <a:rPr lang="en-US" altLang="zh-CN" sz="2550" i="1">
                            <a:solidFill>
                              <a:srgbClr val="FF0000"/>
                            </a:solidFill>
                            <a:latin typeface="Cambria Math" panose="02040503050406030204" pitchFamily="18" charset="0"/>
                          </a:rPr>
                        </m:ctrlPr>
                      </m:naryPr>
                      <m:sub>
                        <m:r>
                          <m:rPr>
                            <m:brk m:alnAt="23"/>
                          </m:rP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ea typeface="Cambria Math" panose="02040503050406030204" pitchFamily="18" charset="0"/>
                          </a:rPr>
                          <m:t>∞</m:t>
                        </m:r>
                      </m:sub>
                      <m:sup>
                        <m:r>
                          <a:rPr lang="en-US" altLang="zh-CN" sz="2550" i="1">
                            <a:solidFill>
                              <a:srgbClr val="FF0000"/>
                            </a:solidFill>
                            <a:latin typeface="Cambria Math" panose="02040503050406030204" pitchFamily="18" charset="0"/>
                            <a:ea typeface="Cambria Math" panose="02040503050406030204" pitchFamily="18" charset="0"/>
                          </a:rPr>
                          <m:t>∞</m:t>
                        </m:r>
                      </m:sup>
                      <m:e>
                        <m:f>
                          <m:fPr>
                            <m:ctrlPr>
                              <a:rPr lang="zh-CN" altLang="zh-CN" sz="2550" i="1">
                                <a:solidFill>
                                  <a:srgbClr val="FF0000"/>
                                </a:solidFill>
                                <a:latin typeface="Cambria Math" panose="02040503050406030204" pitchFamily="18" charset="0"/>
                              </a:rPr>
                            </m:ctrlPr>
                          </m:fPr>
                          <m:num>
                            <m:sSub>
                              <m:sSubPr>
                                <m:ctrlPr>
                                  <a:rPr lang="zh-CN" altLang="zh-CN" sz="2550" i="1">
                                    <a:solidFill>
                                      <a:srgbClr val="FF0000"/>
                                    </a:solidFill>
                                    <a:latin typeface="Cambria Math" panose="02040503050406030204" pitchFamily="18" charset="0"/>
                                  </a:rPr>
                                </m:ctrlPr>
                              </m:sSubPr>
                              <m:e>
                                <m:r>
                                  <a:rPr lang="en-US" altLang="zh-CN" sz="2550" i="1">
                                    <a:solidFill>
                                      <a:srgbClr val="FF0000"/>
                                    </a:solidFill>
                                    <a:latin typeface="Cambria Math" panose="02040503050406030204" pitchFamily="18" charset="0"/>
                                  </a:rPr>
                                  <m:t>𝑵</m:t>
                                </m:r>
                              </m:e>
                              <m:sub>
                                <m:r>
                                  <a:rPr lang="en-US" altLang="zh-CN" sz="2550" i="1">
                                    <a:solidFill>
                                      <a:srgbClr val="FF0000"/>
                                    </a:solidFill>
                                    <a:latin typeface="Cambria Math" panose="02040503050406030204" pitchFamily="18" charset="0"/>
                                  </a:rPr>
                                  <m:t>𝟎</m:t>
                                </m:r>
                              </m:sub>
                            </m:sSub>
                          </m:num>
                          <m:den>
                            <m:r>
                              <a:rPr lang="en-US" altLang="zh-CN" sz="2550" i="1">
                                <a:solidFill>
                                  <a:srgbClr val="FF0000"/>
                                </a:solidFill>
                                <a:latin typeface="Cambria Math" panose="02040503050406030204" pitchFamily="18" charset="0"/>
                              </a:rPr>
                              <m:t>𝟐</m:t>
                            </m:r>
                          </m:den>
                        </m:f>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𝑯</m:t>
                        </m:r>
                        <m:r>
                          <a:rPr lang="en-US" altLang="zh-CN" sz="2550" i="1">
                            <a:solidFill>
                              <a:srgbClr val="FF0000"/>
                            </a:solidFill>
                            <a:latin typeface="Cambria Math" panose="02040503050406030204" pitchFamily="18" charset="0"/>
                          </a:rPr>
                          <m:t>(</m:t>
                        </m:r>
                        <m:r>
                          <a:rPr lang="en-US" altLang="zh-CN" sz="2550" i="1">
                            <a:solidFill>
                              <a:srgbClr val="FF0000"/>
                            </a:solidFill>
                            <a:latin typeface="Cambria Math" panose="02040503050406030204" pitchFamily="18" charset="0"/>
                          </a:rPr>
                          <m:t>𝒋𝒇</m:t>
                        </m:r>
                        <m:r>
                          <a:rPr lang="en-US" altLang="zh-CN" sz="2550" i="1">
                            <a:solidFill>
                              <a:srgbClr val="FF0000"/>
                            </a:solidFill>
                            <a:latin typeface="Cambria Math" panose="02040503050406030204" pitchFamily="18" charset="0"/>
                          </a:rPr>
                          <m:t>)</m:t>
                        </m:r>
                        <m:sSup>
                          <m:sSupPr>
                            <m:ctrlPr>
                              <a:rPr lang="zh-CN" altLang="zh-CN" sz="2550" i="1">
                                <a:solidFill>
                                  <a:srgbClr val="FF0000"/>
                                </a:solidFill>
                                <a:latin typeface="Cambria Math" panose="02040503050406030204" pitchFamily="18" charset="0"/>
                              </a:rPr>
                            </m:ctrlPr>
                          </m:sSupPr>
                          <m:e>
                            <m:r>
                              <a:rPr lang="en-US" altLang="zh-CN" sz="2550" i="1">
                                <a:solidFill>
                                  <a:srgbClr val="FF0000"/>
                                </a:solidFill>
                                <a:latin typeface="Cambria Math" panose="02040503050406030204" pitchFamily="18" charset="0"/>
                              </a:rPr>
                              <m:t>|</m:t>
                            </m:r>
                          </m:e>
                          <m:sup>
                            <m:r>
                              <a:rPr lang="en-US" altLang="zh-CN" sz="2550" i="1">
                                <a:solidFill>
                                  <a:srgbClr val="FF0000"/>
                                </a:solidFill>
                                <a:latin typeface="Cambria Math" panose="02040503050406030204" pitchFamily="18" charset="0"/>
                              </a:rPr>
                              <m:t>𝟐</m:t>
                            </m:r>
                          </m:sup>
                        </m:sSup>
                        <m:r>
                          <a:rPr lang="en-US" altLang="zh-CN" sz="2550" i="1">
                            <a:solidFill>
                              <a:srgbClr val="FF0000"/>
                            </a:solidFill>
                            <a:latin typeface="Cambria Math" panose="02040503050406030204" pitchFamily="18" charset="0"/>
                          </a:rPr>
                          <m:t>𝒅𝒇</m:t>
                        </m:r>
                      </m:e>
                    </m:nary>
                  </m:oMath>
                </a14:m>
                <a:r>
                  <a:rPr lang="zh-CN" altLang="en-US" sz="2550" dirty="0">
                    <a:solidFill>
                      <a:srgbClr val="FF0000"/>
                    </a:solidFill>
                  </a:rPr>
                  <a:t>，</a:t>
                </a:r>
                <a:endParaRPr lang="zh-CN" altLang="zh-CN" sz="2550" dirty="0">
                  <a:solidFill>
                    <a:srgbClr val="FF0000"/>
                  </a:solidFill>
                </a:endParaRPr>
              </a:p>
              <a:p>
                <a:endParaRPr lang="zh-CN" altLang="en-US" sz="2325" dirty="0"/>
              </a:p>
            </p:txBody>
          </p:sp>
        </mc:Choice>
        <mc:Fallback xmlns="">
          <p:sp>
            <p:nvSpPr>
              <p:cNvPr id="3" name="内容占位符 2">
                <a:extLst>
                  <a:ext uri="{FF2B5EF4-FFF2-40B4-BE49-F238E27FC236}">
                    <a16:creationId xmlns:a16="http://schemas.microsoft.com/office/drawing/2014/main" id="{EDBCD82A-C314-45CB-A0A1-23B40CC56025}"/>
                  </a:ext>
                </a:extLst>
              </p:cNvPr>
              <p:cNvSpPr>
                <a:spLocks noGrp="1" noRot="1" noChangeAspect="1" noMove="1" noResize="1" noEditPoints="1" noAdjustHandles="1" noChangeArrowheads="1" noChangeShapeType="1" noTextEdit="1"/>
              </p:cNvSpPr>
              <p:nvPr>
                <p:ph idx="1"/>
              </p:nvPr>
            </p:nvSpPr>
            <p:spPr>
              <a:xfrm>
                <a:off x="395536" y="1340768"/>
                <a:ext cx="8520545" cy="3971028"/>
              </a:xfrm>
              <a:blipFill>
                <a:blip r:embed="rId2"/>
                <a:stretch>
                  <a:fillRect l="-858" t="-1382" b="-13825"/>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59F98B0-2D05-479D-AE8F-B44BDA29806F}"/>
              </a:ext>
            </a:extLst>
          </p:cNvPr>
          <p:cNvSpPr txBox="1"/>
          <p:nvPr/>
        </p:nvSpPr>
        <p:spPr>
          <a:xfrm>
            <a:off x="4229100" y="3120391"/>
            <a:ext cx="65" cy="276999"/>
          </a:xfrm>
          <a:prstGeom prst="rect">
            <a:avLst/>
          </a:prstGeom>
          <a:noFill/>
        </p:spPr>
        <p:txBody>
          <a:bodyPr wrap="none" lIns="0" tIns="0" rIns="0" bIns="0" rtlCol="0">
            <a:spAutoFit/>
          </a:bodyPr>
          <a:lstStyle/>
          <a:p>
            <a:endParaRPr lang="zh-CN" altLang="en-US" dirty="0"/>
          </a:p>
        </p:txBody>
      </p:sp>
    </p:spTree>
    <p:extLst>
      <p:ext uri="{BB962C8B-B14F-4D97-AF65-F5344CB8AC3E}">
        <p14:creationId xmlns:p14="http://schemas.microsoft.com/office/powerpoint/2010/main" val="50400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2CA1293-61EA-4E9F-B13B-A9ECC93EA5F4}"/>
              </a:ext>
            </a:extLst>
          </p:cNvPr>
          <p:cNvSpPr>
            <a:spLocks noGrp="1"/>
          </p:cNvSpPr>
          <p:nvPr>
            <p:ph idx="1"/>
          </p:nvPr>
        </p:nvSpPr>
        <p:spPr>
          <a:xfrm>
            <a:off x="684213" y="1292470"/>
            <a:ext cx="8085714" cy="3977237"/>
          </a:xfrm>
        </p:spPr>
        <p:txBody>
          <a:bodyPr/>
          <a:lstStyle/>
          <a:p>
            <a:pPr>
              <a:lnSpc>
                <a:spcPct val="150000"/>
              </a:lnSpc>
              <a:buFont typeface="Wingdings" panose="05000000000000000000" pitchFamily="2" charset="2"/>
              <a:buChar char="p"/>
            </a:pPr>
            <a:r>
              <a:rPr lang="zh-CN" altLang="zh-CN" dirty="0"/>
              <a:t>白噪声通过线性系统后，输出为一随机过程，完全由线性系统的特性决定。</a:t>
            </a:r>
            <a:r>
              <a:rPr lang="zh-CN" altLang="en-US" dirty="0"/>
              <a:t>因此可用来</a:t>
            </a:r>
            <a:endParaRPr lang="zh-CN" altLang="zh-CN" dirty="0"/>
          </a:p>
          <a:p>
            <a:pPr marL="0" indent="0">
              <a:lnSpc>
                <a:spcPct val="150000"/>
              </a:lnSpc>
              <a:buNone/>
            </a:pPr>
            <a:r>
              <a:rPr lang="en-US" altLang="zh-CN" dirty="0"/>
              <a:t>①</a:t>
            </a:r>
            <a:r>
              <a:rPr lang="zh-CN" altLang="zh-CN" dirty="0"/>
              <a:t>估计未知系统的频率响应特性</a:t>
            </a:r>
            <a:r>
              <a:rPr lang="zh-CN" altLang="en-US" dirty="0"/>
              <a:t>（幅度响应或功率传输函数）。</a:t>
            </a:r>
            <a:endParaRPr lang="zh-CN" altLang="zh-CN" dirty="0"/>
          </a:p>
          <a:p>
            <a:pPr marL="0" indent="0">
              <a:lnSpc>
                <a:spcPct val="150000"/>
              </a:lnSpc>
              <a:buNone/>
            </a:pPr>
            <a:r>
              <a:rPr lang="en-US" altLang="zh-CN" dirty="0"/>
              <a:t>②</a:t>
            </a:r>
            <a:r>
              <a:rPr lang="zh-CN" altLang="zh-CN" dirty="0"/>
              <a:t>利用白噪声通过线性系统产生所需要的特定随机过程。</a:t>
            </a:r>
          </a:p>
          <a:p>
            <a:pPr marL="0" indent="0">
              <a:lnSpc>
                <a:spcPct val="150000"/>
              </a:lnSpc>
              <a:buNone/>
            </a:pPr>
            <a:r>
              <a:rPr lang="en-US" altLang="zh-CN" dirty="0"/>
              <a:t>  </a:t>
            </a:r>
            <a:r>
              <a:rPr lang="zh-CN" altLang="zh-CN" dirty="0"/>
              <a:t>（任意实过程的功率谱形式与白噪声通过线性系统后的谱形式完全相同）</a:t>
            </a:r>
          </a:p>
          <a:p>
            <a:pPr marL="0" indent="0">
              <a:buNone/>
            </a:pPr>
            <a:endParaRPr lang="zh-CN" altLang="en-US" dirty="0"/>
          </a:p>
        </p:txBody>
      </p:sp>
    </p:spTree>
    <p:extLst>
      <p:ext uri="{BB962C8B-B14F-4D97-AF65-F5344CB8AC3E}">
        <p14:creationId xmlns:p14="http://schemas.microsoft.com/office/powerpoint/2010/main" val="42019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83576311-80BC-48DE-BA5C-DA2BCA63139B}"/>
                  </a:ext>
                </a:extLst>
              </p:cNvPr>
              <p:cNvSpPr>
                <a:spLocks noGrp="1"/>
              </p:cNvSpPr>
              <p:nvPr>
                <p:ph idx="1"/>
              </p:nvPr>
            </p:nvSpPr>
            <p:spPr>
              <a:xfrm>
                <a:off x="471055" y="1065069"/>
                <a:ext cx="8451272" cy="4481729"/>
              </a:xfrm>
            </p:spPr>
            <p:txBody>
              <a:bodyPr/>
              <a:lstStyle/>
              <a:p>
                <a:pPr marL="0" indent="0">
                  <a:lnSpc>
                    <a:spcPct val="150000"/>
                  </a:lnSpc>
                  <a:buNone/>
                </a:pPr>
                <a:r>
                  <a:rPr lang="en-US" altLang="zh-CN" dirty="0">
                    <a:solidFill>
                      <a:srgbClr val="FF0000"/>
                    </a:solidFill>
                  </a:rPr>
                  <a:t>5.2.2 </a:t>
                </a:r>
                <a:r>
                  <a:rPr lang="zh-CN" altLang="zh-CN" dirty="0">
                    <a:solidFill>
                      <a:srgbClr val="FF0000"/>
                    </a:solidFill>
                  </a:rPr>
                  <a:t>低通与带限白噪声</a:t>
                </a:r>
              </a:p>
              <a:p>
                <a:pPr marL="0" indent="0">
                  <a:lnSpc>
                    <a:spcPct val="150000"/>
                  </a:lnSpc>
                  <a:buNone/>
                </a:pPr>
                <a:r>
                  <a:rPr lang="x-none" altLang="zh-CN" dirty="0">
                    <a:solidFill>
                      <a:schemeClr val="accent2"/>
                    </a:solidFill>
                  </a:rPr>
                  <a:t>1. </a:t>
                </a:r>
                <a:r>
                  <a:rPr lang="zh-CN" altLang="zh-CN" dirty="0">
                    <a:solidFill>
                      <a:schemeClr val="accent2"/>
                    </a:solidFill>
                  </a:rPr>
                  <a:t>低通白噪声</a:t>
                </a:r>
              </a:p>
              <a:p>
                <a:pPr marL="0" indent="0">
                  <a:lnSpc>
                    <a:spcPct val="150000"/>
                  </a:lnSpc>
                  <a:buNone/>
                </a:pPr>
                <a:r>
                  <a:rPr lang="zh-CN" altLang="en-US" dirty="0"/>
                  <a:t>白噪声</a:t>
                </a:r>
                <a14:m>
                  <m:oMath xmlns:m="http://schemas.openxmlformats.org/officeDocument/2006/math">
                    <m:r>
                      <a:rPr lang="en-US" altLang="zh-CN" b="1" i="1" smtClean="0">
                        <a:latin typeface="Cambria Math" panose="02040503050406030204" pitchFamily="18" charset="0"/>
                      </a:rPr>
                      <m:t>𝑵</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b="1" i="1" smtClean="0">
                        <a:latin typeface="Cambria Math" panose="02040503050406030204" pitchFamily="18" charset="0"/>
                      </a:rPr>
                      <m:t>𝒇</m:t>
                    </m:r>
                    <m:r>
                      <a:rPr lang="en-US" altLang="zh-CN" i="1">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num>
                      <m:den>
                        <m:r>
                          <a:rPr lang="en-US" altLang="zh-CN" i="1">
                            <a:latin typeface="Cambria Math" panose="02040503050406030204" pitchFamily="18" charset="0"/>
                          </a:rPr>
                          <m:t>𝟐</m:t>
                        </m:r>
                      </m:den>
                    </m:f>
                    <m:r>
                      <m:rPr>
                        <m:nor/>
                      </m:rPr>
                      <a:rPr lang="en-US" altLang="zh-CN"/>
                      <m:t> </m:t>
                    </m:r>
                    <m:r>
                      <a:rPr lang="en-US" altLang="zh-CN">
                        <a:latin typeface="Cambria Math" panose="02040503050406030204" pitchFamily="18" charset="0"/>
                      </a:rPr>
                      <m:t>(</m:t>
                    </m:r>
                    <m:r>
                      <a:rPr lang="en-US" altLang="zh-CN" i="1">
                        <a:latin typeface="Cambria Math" panose="02040503050406030204" pitchFamily="18" charset="0"/>
                      </a:rPr>
                      <m:t>−</m:t>
                    </m:r>
                    <m:r>
                      <a:rPr lang="en-US" altLang="zh-CN">
                        <a:latin typeface="Cambria Math" panose="02040503050406030204" pitchFamily="18" charset="0"/>
                      </a:rPr>
                      <m:t>∞&lt;</m:t>
                    </m:r>
                    <m:r>
                      <a:rPr lang="en-US" altLang="zh-CN" b="1" i="1" smtClean="0">
                        <a:latin typeface="Cambria Math" panose="02040503050406030204" pitchFamily="18" charset="0"/>
                      </a:rPr>
                      <m:t>𝒇</m:t>
                    </m:r>
                    <m:r>
                      <a:rPr lang="en-US" altLang="zh-CN">
                        <a:latin typeface="Cambria Math" panose="02040503050406030204" pitchFamily="18" charset="0"/>
                      </a:rPr>
                      <m:t>&lt;∞</m:t>
                    </m:r>
                    <m:r>
                      <a:rPr lang="en-US" altLang="zh-CN" b="1" i="1" smtClean="0">
                        <a:latin typeface="Cambria Math" panose="02040503050406030204" pitchFamily="18" charset="0"/>
                      </a:rPr>
                      <m:t>)</m:t>
                    </m:r>
                    <m:r>
                      <a:rPr lang="zh-CN" altLang="en-US" i="1">
                        <a:latin typeface="Cambria Math" panose="02040503050406030204" pitchFamily="18" charset="0"/>
                      </a:rPr>
                      <m:t>，</m:t>
                    </m:r>
                  </m:oMath>
                </a14:m>
                <a:r>
                  <a:rPr lang="zh-CN" altLang="en-US" dirty="0"/>
                  <a:t>通过理想低通滤波器</a:t>
                </a:r>
                <a14:m>
                  <m:oMath xmlns:m="http://schemas.openxmlformats.org/officeDocument/2006/math">
                    <m:r>
                      <a:rPr lang="en-US" altLang="zh-CN" b="1" i="1" smtClean="0">
                        <a:latin typeface="Cambria Math" panose="02040503050406030204" pitchFamily="18" charset="0"/>
                      </a:rPr>
                      <m:t>𝒉</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endParaRPr lang="en-US" altLang="zh-CN" dirty="0"/>
              </a:p>
              <a:p>
                <a:pPr marL="0" indent="0">
                  <a:lnSpc>
                    <a:spcPct val="150000"/>
                  </a:lnSpc>
                  <a:buNone/>
                </a:pPr>
                <a:r>
                  <a:rPr lang="zh-CN" altLang="en-US" dirty="0"/>
                  <a:t>（</a:t>
                </a:r>
                <a:r>
                  <a:rPr lang="zh-CN" altLang="en-US" dirty="0">
                    <a:highlight>
                      <a:srgbClr val="FFFF00"/>
                    </a:highlight>
                  </a:rPr>
                  <a:t>带宽为</a:t>
                </a:r>
                <a:r>
                  <a:rPr lang="en-US" altLang="zh-CN" dirty="0" err="1">
                    <a:highlight>
                      <a:srgbClr val="FFFF00"/>
                    </a:highlight>
                  </a:rPr>
                  <a:t>WHz</a:t>
                </a:r>
                <a:r>
                  <a:rPr lang="zh-CN" altLang="en-US" dirty="0"/>
                  <a:t>），输出过程为低通白噪声</a:t>
                </a:r>
                <a14:m>
                  <m:oMath xmlns:m="http://schemas.openxmlformats.org/officeDocument/2006/math">
                    <m:r>
                      <a:rPr lang="en-US" altLang="zh-CN" b="1" i="1" smtClean="0">
                        <a:latin typeface="Cambria Math" panose="02040503050406030204" pitchFamily="18" charset="0"/>
                      </a:rPr>
                      <m:t>𝒀</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dirty="0"/>
                  <a:t>。</a:t>
                </a:r>
                <a:endParaRPr lang="en-US" altLang="zh-CN" dirty="0"/>
              </a:p>
              <a:p>
                <a:pPr marL="0" indent="0">
                  <a:buNone/>
                </a:pPr>
                <a:endParaRPr lang="en-US" altLang="zh-CN" dirty="0"/>
              </a:p>
              <a:p>
                <a:pPr marL="0" indent="0">
                  <a:buNone/>
                </a:pPr>
                <a14:m>
                  <m:oMathPara xmlns:m="http://schemas.openxmlformats.org/officeDocument/2006/math">
                    <m:oMathParaPr>
                      <m:jc m:val="left"/>
                    </m:oMathParaPr>
                    <m:oMath xmlns:m="http://schemas.openxmlformats.org/officeDocument/2006/math">
                      <m:r>
                        <a:rPr lang="zh-CN" altLang="en-US" i="1" dirty="0">
                          <a:solidFill>
                            <a:srgbClr val="FF0000"/>
                          </a:solidFill>
                          <a:latin typeface="Cambria Math" panose="02040503050406030204" pitchFamily="18" charset="0"/>
                        </a:rPr>
                        <m:t>系统的频率响应：</m:t>
                      </m:r>
                      <m:r>
                        <a:rPr lang="en-US" altLang="zh-CN" i="1">
                          <a:solidFill>
                            <a:srgbClr val="FF0000"/>
                          </a:solidFill>
                          <a:latin typeface="Cambria Math" panose="02040503050406030204" pitchFamily="18" charset="0"/>
                        </a:rPr>
                        <m:t>𝑯</m:t>
                      </m:r>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𝒋𝒇</m:t>
                          </m:r>
                        </m:e>
                      </m:d>
                      <m:r>
                        <a:rPr lang="en-US" altLang="zh-CN" b="1" i="1" smtClean="0">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𝑯</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𝒋𝒇</m:t>
                      </m:r>
                      <m:r>
                        <a:rPr lang="en-US" altLang="zh-CN" i="1">
                          <a:solidFill>
                            <a:srgbClr val="FF0000"/>
                          </a:solidFill>
                          <a:latin typeface="Cambria Math" panose="02040503050406030204" pitchFamily="18" charset="0"/>
                        </a:rPr>
                        <m:t>)</m:t>
                      </m:r>
                      <m:sSup>
                        <m:sSupPr>
                          <m:ctrlPr>
                            <a:rPr lang="en-US" altLang="zh-CN" i="1" smtClean="0">
                              <a:solidFill>
                                <a:srgbClr val="FF0000"/>
                              </a:solidFill>
                              <a:latin typeface="Cambria Math" panose="02040503050406030204" pitchFamily="18" charset="0"/>
                            </a:rPr>
                          </m:ctrlPr>
                        </m:sSupPr>
                        <m:e>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𝒆</m:t>
                          </m:r>
                        </m:e>
                        <m:sup>
                          <m:r>
                            <a:rPr lang="en-US" altLang="zh-CN" b="1" i="1" smtClean="0">
                              <a:solidFill>
                                <a:srgbClr val="FF0000"/>
                              </a:solidFill>
                              <a:latin typeface="Cambria Math" panose="02040503050406030204" pitchFamily="18" charset="0"/>
                            </a:rPr>
                            <m:t>𝒋</m:t>
                          </m:r>
                          <m:r>
                            <a:rPr lang="zh-CN" altLang="en-US" b="1" i="1" smtClean="0">
                              <a:solidFill>
                                <a:srgbClr val="FF0000"/>
                              </a:solidFill>
                              <a:latin typeface="Cambria Math" panose="02040503050406030204" pitchFamily="18" charset="0"/>
                            </a:rPr>
                            <m:t>𝝋</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𝒋𝒇</m:t>
                          </m:r>
                          <m:r>
                            <a:rPr lang="en-US" altLang="zh-CN" b="1" i="1" smtClean="0">
                              <a:solidFill>
                                <a:srgbClr val="FF0000"/>
                              </a:solidFill>
                              <a:latin typeface="Cambria Math" panose="02040503050406030204" pitchFamily="18" charset="0"/>
                            </a:rPr>
                            <m:t>)</m:t>
                          </m:r>
                        </m:sup>
                      </m:sSup>
                    </m:oMath>
                  </m:oMathPara>
                </a14:m>
                <a:endParaRPr lang="en-US" altLang="zh-CN" dirty="0"/>
              </a:p>
              <a:p>
                <a:pPr marL="0" indent="0">
                  <a:buNone/>
                </a:pPr>
                <a:endParaRPr lang="en-US" altLang="zh-CN" dirty="0"/>
              </a:p>
              <a:p>
                <a:pPr marL="0" indent="0">
                  <a:buNone/>
                </a:pPr>
                <a14:m>
                  <m:oMath xmlns:m="http://schemas.openxmlformats.org/officeDocument/2006/math">
                    <m:r>
                      <a:rPr lang="en-US" altLang="zh-CN" b="1" i="1" smtClean="0">
                        <a:latin typeface="Cambria Math" panose="02040503050406030204" pitchFamily="18" charset="0"/>
                      </a:rPr>
                      <m:t>𝒀</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的功率谱密度为</a:t>
                </a:r>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83576311-80BC-48DE-BA5C-DA2BCA63139B}"/>
                  </a:ext>
                </a:extLst>
              </p:cNvPr>
              <p:cNvSpPr>
                <a:spLocks noGrp="1" noRot="1" noChangeAspect="1" noMove="1" noResize="1" noEditPoints="1" noAdjustHandles="1" noChangeArrowheads="1" noChangeShapeType="1" noTextEdit="1"/>
              </p:cNvSpPr>
              <p:nvPr>
                <p:ph idx="1"/>
              </p:nvPr>
            </p:nvSpPr>
            <p:spPr>
              <a:xfrm>
                <a:off x="471055" y="1065069"/>
                <a:ext cx="8451272" cy="4481729"/>
              </a:xfrm>
              <a:blipFill>
                <a:blip r:embed="rId2"/>
                <a:stretch>
                  <a:fillRect l="-86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D036A05-9531-4B9A-851B-B3FD237A8334}"/>
              </a:ext>
            </a:extLst>
          </p:cNvPr>
          <p:cNvPicPr>
            <a:picLocks noChangeAspect="1"/>
          </p:cNvPicPr>
          <p:nvPr/>
        </p:nvPicPr>
        <p:blipFill>
          <a:blip r:embed="rId3"/>
          <a:stretch>
            <a:fillRect/>
          </a:stretch>
        </p:blipFill>
        <p:spPr>
          <a:xfrm>
            <a:off x="5758078" y="3070652"/>
            <a:ext cx="3164249" cy="1133856"/>
          </a:xfrm>
          <a:prstGeom prst="rect">
            <a:avLst/>
          </a:prstGeom>
        </p:spPr>
      </p:pic>
      <p:pic>
        <p:nvPicPr>
          <p:cNvPr id="6" name="图片 5">
            <a:extLst>
              <a:ext uri="{FF2B5EF4-FFF2-40B4-BE49-F238E27FC236}">
                <a16:creationId xmlns:a16="http://schemas.microsoft.com/office/drawing/2014/main" id="{55FCD83F-17C7-4A7A-904A-924CBFF068FA}"/>
              </a:ext>
            </a:extLst>
          </p:cNvPr>
          <p:cNvPicPr>
            <a:picLocks noChangeAspect="1"/>
          </p:cNvPicPr>
          <p:nvPr/>
        </p:nvPicPr>
        <p:blipFill>
          <a:blip r:embed="rId4"/>
          <a:stretch>
            <a:fillRect/>
          </a:stretch>
        </p:blipFill>
        <p:spPr>
          <a:xfrm>
            <a:off x="2988287" y="4396445"/>
            <a:ext cx="1643316" cy="1198950"/>
          </a:xfrm>
          <a:prstGeom prst="rect">
            <a:avLst/>
          </a:prstGeom>
        </p:spPr>
      </p:pic>
      <mc:AlternateContent xmlns:mc="http://schemas.openxmlformats.org/markup-compatibility/2006" xmlns:a14="http://schemas.microsoft.com/office/drawing/2010/main">
        <mc:Choice Requires="a14">
          <p:sp>
            <p:nvSpPr>
              <p:cNvPr id="3" name="椭圆 2"/>
              <p:cNvSpPr/>
              <p:nvPr/>
            </p:nvSpPr>
            <p:spPr bwMode="auto">
              <a:xfrm>
                <a:off x="4631603" y="1189758"/>
                <a:ext cx="3965142" cy="845128"/>
              </a:xfrm>
              <a:prstGeom prst="ellips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信号无失真传输的条件</a:t>
                </a:r>
                <a:endParaRPr lang="en-US" altLang="zh-CN" dirty="0">
                  <a:latin typeface="Arial" panose="020B0604020202020204" pitchFamily="34" charset="0"/>
                  <a:ea typeface="宋体" panose="02010600030101010101" pitchFamily="2" charset="-122"/>
                </a:endParaRPr>
              </a:p>
              <a:p>
                <a:pPr fontAlgn="base">
                  <a:spcBef>
                    <a:spcPct val="0"/>
                  </a:spcBef>
                  <a:spcAft>
                    <a:spcPct val="0"/>
                  </a:spcAft>
                </a:pPr>
                <a14:m>
                  <m:oMath xmlns:m="http://schemas.openxmlformats.org/officeDocument/2006/math">
                    <m:r>
                      <a:rPr lang="en-US" altLang="zh-CN" b="1" i="1">
                        <a:latin typeface="Cambria Math" panose="02040503050406030204" pitchFamily="18" charset="0"/>
                      </a:rPr>
                      <m:t>𝒚</m:t>
                    </m:r>
                    <m:d>
                      <m:dPr>
                        <m:ctrlPr>
                          <a:rPr lang="en-US" altLang="zh-CN" b="1" i="1">
                            <a:latin typeface="Cambria Math" panose="02040503050406030204" pitchFamily="18" charset="0"/>
                          </a:rPr>
                        </m:ctrlPr>
                      </m:dPr>
                      <m:e>
                        <m:r>
                          <a:rPr lang="en-US" altLang="zh-CN" b="1" i="1">
                            <a:latin typeface="Cambria Math" panose="02040503050406030204" pitchFamily="18" charset="0"/>
                          </a:rPr>
                          <m:t>𝒕</m:t>
                        </m:r>
                      </m:e>
                    </m:d>
                    <m:r>
                      <a:rPr lang="en-US" altLang="zh-CN">
                        <a:latin typeface="Cambria Math" panose="02040503050406030204" pitchFamily="18" charset="0"/>
                      </a:rPr>
                      <m:t>=</m:t>
                    </m:r>
                    <m:r>
                      <a:rPr lang="en-US" altLang="zh-CN" b="1" i="1">
                        <a:latin typeface="Cambria Math" panose="02040503050406030204" pitchFamily="18" charset="0"/>
                      </a:rPr>
                      <m:t>𝒂𝒙</m:t>
                    </m:r>
                    <m:r>
                      <a:rPr lang="en-US" altLang="zh-CN" b="1" i="1">
                        <a:latin typeface="Cambria Math" panose="02040503050406030204" pitchFamily="18" charset="0"/>
                      </a:rPr>
                      <m:t>(</m:t>
                    </m:r>
                    <m:r>
                      <a:rPr lang="en-US" altLang="zh-CN" b="1" i="1">
                        <a:latin typeface="Cambria Math" panose="02040503050406030204" pitchFamily="18" charset="0"/>
                      </a:rPr>
                      <m:t>𝒕</m:t>
                    </m:r>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𝒕</m:t>
                        </m:r>
                      </m:e>
                      <m:sub>
                        <m:r>
                          <a:rPr lang="en-US" altLang="zh-CN" b="1" i="1">
                            <a:latin typeface="Cambria Math" panose="02040503050406030204" pitchFamily="18" charset="0"/>
                          </a:rPr>
                          <m:t>𝟎</m:t>
                        </m:r>
                      </m:sub>
                    </m:sSub>
                    <m:r>
                      <a:rPr lang="en-US" altLang="zh-CN" b="1" i="1">
                        <a:latin typeface="Cambria Math" panose="02040503050406030204" pitchFamily="18" charset="0"/>
                      </a:rPr>
                      <m:t>)</m:t>
                    </m:r>
                  </m:oMath>
                </a14:m>
                <a:r>
                  <a:rPr lang="en-US" altLang="zh-CN" dirty="0">
                    <a:latin typeface="Arial" panose="020B0604020202020204" pitchFamily="34" charset="0"/>
                    <a:ea typeface="宋体" panose="02010600030101010101" pitchFamily="2" charset="-122"/>
                  </a:rPr>
                  <a:t>,</a:t>
                </a:r>
                <a:r>
                  <a:rPr lang="en-US" altLang="zh-CN" b="1" dirty="0"/>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𝒕</m:t>
                        </m:r>
                      </m:e>
                      <m:sub>
                        <m:r>
                          <a:rPr lang="en-US" altLang="zh-CN" b="1" i="1">
                            <a:latin typeface="Cambria Math" panose="02040503050406030204" pitchFamily="18" charset="0"/>
                          </a:rPr>
                          <m:t>𝟎</m:t>
                        </m:r>
                      </m:sub>
                    </m:sSub>
                    <m:r>
                      <a:rPr lang="zh-CN" altLang="en-US" b="1" i="1">
                        <a:latin typeface="Cambria Math" panose="02040503050406030204" pitchFamily="18" charset="0"/>
                      </a:rPr>
                      <m:t>常数</m:t>
                    </m:r>
                  </m:oMath>
                </a14:m>
                <a:r>
                  <a:rPr lang="zh-CN" altLang="en-US" dirty="0">
                    <a:latin typeface="Arial" panose="020B0604020202020204" pitchFamily="34" charset="0"/>
                    <a:ea typeface="宋体" panose="02010600030101010101" pitchFamily="2" charset="-122"/>
                  </a:rPr>
                  <a:t>。</a:t>
                </a:r>
              </a:p>
            </p:txBody>
          </p:sp>
        </mc:Choice>
        <mc:Fallback xmlns="">
          <p:sp>
            <p:nvSpPr>
              <p:cNvPr id="3" name="椭圆 2"/>
              <p:cNvSpPr>
                <a:spLocks noRot="1" noChangeAspect="1" noMove="1" noResize="1" noEditPoints="1" noAdjustHandles="1" noChangeArrowheads="1" noChangeShapeType="1" noTextEdit="1"/>
              </p:cNvSpPr>
              <p:nvPr/>
            </p:nvSpPr>
            <p:spPr bwMode="auto">
              <a:xfrm>
                <a:off x="4631603" y="1189758"/>
                <a:ext cx="3965142" cy="845128"/>
              </a:xfrm>
              <a:prstGeom prst="ellipse">
                <a:avLst/>
              </a:prstGeom>
              <a:blipFill>
                <a:blip r:embed="rId5"/>
                <a:stretch>
                  <a:fillRect b="-709"/>
                </a:stretch>
              </a:blip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 name="椭圆 3"/>
          <p:cNvSpPr/>
          <p:nvPr/>
        </p:nvSpPr>
        <p:spPr bwMode="auto">
          <a:xfrm>
            <a:off x="5867399" y="4535632"/>
            <a:ext cx="3172692" cy="920579"/>
          </a:xfrm>
          <a:prstGeom prst="ellips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幅度响应（幅频特性）</a:t>
            </a:r>
            <a:endParaRPr lang="en-US" altLang="zh-CN" dirty="0">
              <a:latin typeface="Arial" panose="020B0604020202020204" pitchFamily="34" charset="0"/>
              <a:ea typeface="宋体" panose="02010600030101010101" pitchFamily="2" charset="-122"/>
            </a:endParaRPr>
          </a:p>
          <a:p>
            <a:pPr defTabSz="685800"/>
            <a:r>
              <a:rPr lang="zh-CN" altLang="en-US" dirty="0">
                <a:latin typeface="Arial" panose="020B0604020202020204" pitchFamily="34" charset="0"/>
                <a:ea typeface="宋体" panose="02010600030101010101" pitchFamily="2" charset="-122"/>
              </a:rPr>
              <a:t>相位响应（相位特性）</a:t>
            </a:r>
          </a:p>
        </p:txBody>
      </p:sp>
    </p:spTree>
    <p:extLst>
      <p:ext uri="{BB962C8B-B14F-4D97-AF65-F5344CB8AC3E}">
        <p14:creationId xmlns:p14="http://schemas.microsoft.com/office/powerpoint/2010/main" val="242172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D7B6BF8-684C-48E9-AC34-AB2B52B5886A}"/>
                  </a:ext>
                </a:extLst>
              </p:cNvPr>
              <p:cNvSpPr>
                <a:spLocks noGrp="1"/>
              </p:cNvSpPr>
              <p:nvPr>
                <p:ph idx="1"/>
              </p:nvPr>
            </p:nvSpPr>
            <p:spPr>
              <a:xfrm>
                <a:off x="685800" y="1034425"/>
                <a:ext cx="7772400" cy="4580111"/>
              </a:xfrm>
            </p:spPr>
            <p:txBody>
              <a:bodyPr/>
              <a:lstStyle/>
              <a:p>
                <a:pPr marL="0" indent="0">
                  <a:buNone/>
                </a:pPr>
                <a:r>
                  <a:rPr lang="zh-CN" altLang="en-US" dirty="0">
                    <a:solidFill>
                      <a:schemeClr val="accent2"/>
                    </a:solidFill>
                    <a:latin typeface="Cambria Math" panose="02040503050406030204" pitchFamily="18" charset="0"/>
                  </a:rPr>
                  <a:t>自相关函数为</a:t>
                </a:r>
                <a:r>
                  <a:rPr lang="zh-CN" altLang="en-US" dirty="0">
                    <a:latin typeface="Cambria Math" panose="02040503050406030204" pitchFamily="18" charset="0"/>
                  </a:rPr>
                  <a:t>：</a:t>
                </a:r>
                <a:endParaRPr lang="en-US" altLang="zh-CN" dirty="0">
                  <a:latin typeface="Cambria Math" panose="02040503050406030204" pitchFamily="18" charset="0"/>
                </a:endParaRPr>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𝒀</m:t>
                        </m:r>
                      </m:sub>
                    </m:sSub>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𝝉</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𝒔𝒊𝒏</m:t>
                        </m:r>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r>
                          <a:rPr lang="en-US" altLang="zh-CN" b="1" i="1" smtClean="0">
                            <a:latin typeface="Cambria Math" panose="02040503050406030204" pitchFamily="18" charset="0"/>
                          </a:rPr>
                          <m:t>𝑾</m:t>
                        </m:r>
                        <m:r>
                          <a:rPr lang="zh-CN" altLang="en-US" b="1" i="1" smtClean="0">
                            <a:latin typeface="Cambria Math" panose="02040503050406030204" pitchFamily="18" charset="0"/>
                          </a:rPr>
                          <m:t>𝝉</m:t>
                        </m:r>
                      </m:num>
                      <m:den>
                        <m:r>
                          <a:rPr lang="en-US" altLang="zh-CN" b="1" i="1" smtClean="0">
                            <a:latin typeface="Cambria Math" panose="02040503050406030204" pitchFamily="18" charset="0"/>
                          </a:rPr>
                          <m:t>𝟐</m:t>
                        </m:r>
                        <m:r>
                          <a:rPr lang="zh-CN" altLang="en-US" b="1" i="1" smtClean="0">
                            <a:latin typeface="Cambria Math" panose="02040503050406030204" pitchFamily="18" charset="0"/>
                          </a:rPr>
                          <m:t>𝝅𝝉</m:t>
                        </m:r>
                      </m:den>
                    </m:f>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𝑾𝒔𝒊𝒏𝒄</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𝟐</m:t>
                        </m:r>
                        <m:r>
                          <a:rPr lang="en-US" altLang="zh-CN" b="1" i="1" smtClean="0">
                            <a:latin typeface="Cambria Math" panose="02040503050406030204" pitchFamily="18" charset="0"/>
                          </a:rPr>
                          <m:t>𝑾</m:t>
                        </m:r>
                        <m:r>
                          <a:rPr lang="zh-CN" altLang="en-US" b="1" i="1" smtClean="0">
                            <a:latin typeface="Cambria Math" panose="02040503050406030204" pitchFamily="18" charset="0"/>
                          </a:rPr>
                          <m:t>𝝉</m:t>
                        </m:r>
                      </m:e>
                    </m:d>
                  </m:oMath>
                </a14:m>
                <a:endParaRPr lang="en-US" altLang="zh-CN" dirty="0"/>
              </a:p>
              <a:p>
                <a:pPr marL="0" indent="0">
                  <a:buNone/>
                </a:pPr>
                <a:r>
                  <a:rPr lang="zh-CN" altLang="en-US" dirty="0">
                    <a:solidFill>
                      <a:schemeClr val="accent2"/>
                    </a:solidFill>
                  </a:rPr>
                  <a:t>相关系数为：</a:t>
                </a:r>
                <a:endParaRPr lang="en-US" altLang="zh-CN" dirty="0">
                  <a:solidFill>
                    <a:schemeClr val="accent2"/>
                  </a:solidFill>
                </a:endParaRPr>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𝝆</m:t>
                        </m:r>
                      </m:e>
                      <m:sub>
                        <m:r>
                          <a:rPr lang="en-US" altLang="zh-CN" b="1" i="1" smtClean="0">
                            <a:latin typeface="Cambria Math" panose="02040503050406030204" pitchFamily="18" charset="0"/>
                          </a:rPr>
                          <m:t>𝒀</m:t>
                        </m:r>
                      </m:sub>
                    </m:sSub>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𝝉</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𝒔𝒊𝒏</m:t>
                        </m:r>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r>
                          <a:rPr lang="en-US" altLang="zh-CN" b="1" i="1" smtClean="0">
                            <a:latin typeface="Cambria Math" panose="02040503050406030204" pitchFamily="18" charset="0"/>
                          </a:rPr>
                          <m:t>𝑾</m:t>
                        </m:r>
                        <m:r>
                          <a:rPr lang="zh-CN" altLang="en-US" b="1" i="1" smtClean="0">
                            <a:latin typeface="Cambria Math" panose="02040503050406030204" pitchFamily="18" charset="0"/>
                          </a:rPr>
                          <m:t>𝝉</m:t>
                        </m:r>
                      </m:num>
                      <m:den>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r>
                          <a:rPr lang="en-US" altLang="zh-CN" b="1" i="1" smtClean="0">
                            <a:latin typeface="Cambria Math" panose="02040503050406030204" pitchFamily="18" charset="0"/>
                          </a:rPr>
                          <m:t>𝑾</m:t>
                        </m:r>
                        <m:r>
                          <a:rPr lang="zh-CN" altLang="en-US" b="1" i="1" smtClean="0">
                            <a:latin typeface="Cambria Math" panose="02040503050406030204" pitchFamily="18" charset="0"/>
                          </a:rPr>
                          <m:t>𝝉</m:t>
                        </m:r>
                      </m:den>
                    </m:f>
                    <m:r>
                      <a:rPr lang="en-US" altLang="zh-CN" i="1">
                        <a:latin typeface="Cambria Math" panose="02040503050406030204" pitchFamily="18" charset="0"/>
                      </a:rPr>
                      <m:t>=</m:t>
                    </m:r>
                    <m:r>
                      <a:rPr lang="en-US" altLang="zh-CN" i="1">
                        <a:latin typeface="Cambria Math" panose="02040503050406030204" pitchFamily="18" charset="0"/>
                      </a:rPr>
                      <m:t>𝒔𝒊𝒏𝒄</m:t>
                    </m:r>
                    <m:d>
                      <m:dPr>
                        <m:ctrlPr>
                          <a:rPr lang="en-US" altLang="zh-CN" i="1">
                            <a:latin typeface="Cambria Math" panose="02040503050406030204" pitchFamily="18" charset="0"/>
                          </a:rPr>
                        </m:ctrlPr>
                      </m:dPr>
                      <m:e>
                        <m:r>
                          <a:rPr lang="en-US" altLang="zh-CN" i="1">
                            <a:latin typeface="Cambria Math" panose="02040503050406030204" pitchFamily="18" charset="0"/>
                          </a:rPr>
                          <m:t>𝟐</m:t>
                        </m:r>
                        <m:r>
                          <a:rPr lang="en-US" altLang="zh-CN" i="1">
                            <a:latin typeface="Cambria Math" panose="02040503050406030204" pitchFamily="18" charset="0"/>
                          </a:rPr>
                          <m:t>𝑾</m:t>
                        </m:r>
                        <m:r>
                          <a:rPr lang="zh-CN" altLang="en-US" i="1">
                            <a:latin typeface="Cambria Math" panose="02040503050406030204" pitchFamily="18" charset="0"/>
                          </a:rPr>
                          <m:t>𝝉</m:t>
                        </m:r>
                      </m:e>
                    </m:d>
                  </m:oMath>
                </a14:m>
                <a:endParaRPr lang="en-US" altLang="zh-CN" dirty="0"/>
              </a:p>
              <a:p>
                <a:pPr marL="0" indent="0">
                  <a:buNone/>
                </a:pPr>
                <a:r>
                  <a:rPr lang="zh-CN" altLang="en-US" dirty="0">
                    <a:solidFill>
                      <a:schemeClr val="accent2"/>
                    </a:solidFill>
                  </a:rPr>
                  <a:t>相关时间：</a:t>
                </a:r>
                <a:endParaRPr lang="en-US" altLang="zh-CN" dirty="0">
                  <a:solidFill>
                    <a:schemeClr val="accent2"/>
                  </a:solidFill>
                </a:endParaRPr>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𝝉</m:t>
                        </m:r>
                      </m:e>
                      <m:sub>
                        <m:r>
                          <a:rPr lang="en-US" altLang="zh-CN" b="1" i="1" smtClean="0">
                            <a:latin typeface="Cambria Math" panose="02040503050406030204" pitchFamily="18" charset="0"/>
                          </a:rPr>
                          <m:t>𝒄</m:t>
                        </m:r>
                      </m:sub>
                    </m:sSub>
                    <m:r>
                      <a:rPr lang="en-US" altLang="zh-CN" b="1" i="1" smtClean="0">
                        <a:latin typeface="Cambria Math" panose="02040503050406030204" pitchFamily="18" charset="0"/>
                      </a:rPr>
                      <m:t>=</m:t>
                    </m:r>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𝟎</m:t>
                        </m:r>
                      </m:sub>
                      <m:sup>
                        <m:r>
                          <a:rPr lang="en-US" altLang="zh-CN" b="1" i="1" smtClean="0">
                            <a:latin typeface="Cambria Math" panose="02040503050406030204" pitchFamily="18" charset="0"/>
                            <a:ea typeface="Cambria Math" panose="02040503050406030204" pitchFamily="18" charset="0"/>
                          </a:rPr>
                          <m:t>∞</m:t>
                        </m:r>
                      </m:sup>
                      <m:e>
                        <m:sSub>
                          <m:sSubPr>
                            <m:ctrlPr>
                              <a:rPr lang="en-US" altLang="zh-CN" i="1">
                                <a:latin typeface="Cambria Math" panose="02040503050406030204" pitchFamily="18" charset="0"/>
                              </a:rPr>
                            </m:ctrlPr>
                          </m:sSubPr>
                          <m:e>
                            <m:r>
                              <a:rPr lang="zh-CN" altLang="en-US" i="1">
                                <a:latin typeface="Cambria Math" panose="02040503050406030204" pitchFamily="18" charset="0"/>
                              </a:rPr>
                              <m:t>𝝆</m:t>
                            </m:r>
                          </m:e>
                          <m:sub>
                            <m:r>
                              <a:rPr lang="en-US" altLang="zh-CN" i="1">
                                <a:latin typeface="Cambria Math" panose="02040503050406030204" pitchFamily="18" charset="0"/>
                              </a:rPr>
                              <m:t>𝒀</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b="1" i="1" smtClean="0">
                            <a:latin typeface="Cambria Math" panose="02040503050406030204" pitchFamily="18" charset="0"/>
                          </a:rPr>
                          <m:t>𝒅</m:t>
                        </m:r>
                        <m:r>
                          <a:rPr lang="zh-CN" altLang="en-US" b="1" i="1" smtClean="0">
                            <a:latin typeface="Cambria Math" panose="02040503050406030204" pitchFamily="18" charset="0"/>
                          </a:rPr>
                          <m:t>𝝉</m:t>
                        </m:r>
                      </m:e>
                    </m:nary>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𝟒</m:t>
                        </m:r>
                        <m:r>
                          <a:rPr lang="en-US" altLang="zh-CN" b="1" i="1" smtClean="0">
                            <a:latin typeface="Cambria Math" panose="02040503050406030204" pitchFamily="18" charset="0"/>
                          </a:rPr>
                          <m:t>𝑾</m:t>
                        </m:r>
                      </m:den>
                    </m:f>
                  </m:oMath>
                </a14:m>
                <a:endParaRPr lang="en-US" altLang="zh-CN" dirty="0"/>
              </a:p>
              <a:p>
                <a:pPr marL="0" indent="0">
                  <a:buNone/>
                </a:pPr>
                <a:r>
                  <a:rPr lang="zh-CN" altLang="en-US" dirty="0">
                    <a:solidFill>
                      <a:schemeClr val="accent2"/>
                    </a:solidFill>
                  </a:rPr>
                  <a:t>噪声功率为</a:t>
                </a:r>
                <a:endParaRPr lang="en-US" altLang="zh-CN" i="1" dirty="0">
                  <a:latin typeface="Cambria Math" panose="02040503050406030204" pitchFamily="18" charset="0"/>
                </a:endParaRPr>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𝒀</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𝑾</m:t>
                    </m:r>
                  </m:oMath>
                </a14:m>
                <a:endParaRPr lang="en-US" altLang="zh-CN" dirty="0"/>
              </a:p>
              <a:p>
                <a:pPr marL="0" indent="0">
                  <a:buNone/>
                </a:pPr>
                <a:r>
                  <a:rPr lang="zh-CN" altLang="en-US" dirty="0"/>
                  <a:t>注：</a:t>
                </a:r>
                <a14:m>
                  <m:oMath xmlns:m="http://schemas.openxmlformats.org/officeDocument/2006/math">
                    <m:r>
                      <a:rPr lang="en-US" altLang="zh-CN" b="1" i="1" smtClean="0">
                        <a:latin typeface="Cambria Math" panose="02040503050406030204" pitchFamily="18" charset="0"/>
                      </a:rPr>
                      <m:t>𝒔𝒊𝒏𝒄</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𝒔𝒊𝒏</m:t>
                        </m:r>
                        <m:r>
                          <a:rPr lang="en-US" altLang="zh-CN" b="1" i="1" smtClean="0">
                            <a:latin typeface="Cambria Math" panose="02040503050406030204" pitchFamily="18" charset="0"/>
                          </a:rPr>
                          <m:t>(</m:t>
                        </m:r>
                        <m:r>
                          <a:rPr lang="zh-CN" altLang="en-US" b="1" i="1" smtClean="0">
                            <a:latin typeface="Cambria Math" panose="02040503050406030204" pitchFamily="18" charset="0"/>
                          </a:rPr>
                          <m:t>𝝅</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num>
                      <m:den>
                        <m:r>
                          <a:rPr lang="zh-CN" altLang="en-US" b="1" i="1" smtClean="0">
                            <a:latin typeface="Cambria Math" panose="02040503050406030204" pitchFamily="18" charset="0"/>
                          </a:rPr>
                          <m:t>𝝅</m:t>
                        </m:r>
                        <m:r>
                          <a:rPr lang="en-US" altLang="zh-CN" b="1" i="1" smtClean="0">
                            <a:latin typeface="Cambria Math" panose="02040503050406030204" pitchFamily="18" charset="0"/>
                          </a:rPr>
                          <m:t>𝒙</m:t>
                        </m:r>
                      </m:den>
                    </m:f>
                  </m:oMath>
                </a14:m>
                <a:r>
                  <a:rPr lang="zh-CN" altLang="en-US" dirty="0"/>
                  <a:t>，</a:t>
                </a:r>
                <a14:m>
                  <m:oMath xmlns:m="http://schemas.openxmlformats.org/officeDocument/2006/math">
                    <m:nary>
                      <m:naryPr>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𝟎</m:t>
                        </m:r>
                      </m:sub>
                      <m:sup>
                        <m:r>
                          <a:rPr lang="en-US" altLang="zh-CN" sz="1800" i="1">
                            <a:latin typeface="Cambria Math" panose="02040503050406030204" pitchFamily="18" charset="0"/>
                            <a:ea typeface="Cambria Math" panose="02040503050406030204" pitchFamily="18" charset="0"/>
                          </a:rPr>
                          <m:t>∞</m:t>
                        </m:r>
                      </m:sup>
                      <m:e>
                        <m:f>
                          <m:fPr>
                            <m:ctrlPr>
                              <a:rPr lang="en-US" altLang="zh-CN" sz="1800" i="1">
                                <a:latin typeface="Cambria Math" panose="02040503050406030204" pitchFamily="18" charset="0"/>
                              </a:rPr>
                            </m:ctrlPr>
                          </m:fPr>
                          <m:num>
                            <m:r>
                              <a:rPr lang="en-US" altLang="zh-CN" sz="1800" i="1">
                                <a:latin typeface="Cambria Math" panose="02040503050406030204" pitchFamily="18" charset="0"/>
                              </a:rPr>
                              <m:t>𝒔𝒊𝒏</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𝒂𝒙</m:t>
                                </m:r>
                              </m:e>
                            </m:d>
                          </m:num>
                          <m:den>
                            <m:r>
                              <a:rPr lang="en-US" altLang="zh-CN" sz="1800" i="1">
                                <a:latin typeface="Cambria Math" panose="02040503050406030204" pitchFamily="18" charset="0"/>
                              </a:rPr>
                              <m:t>𝒙</m:t>
                            </m:r>
                          </m:den>
                        </m:f>
                        <m:r>
                          <a:rPr lang="en-US" altLang="zh-CN" sz="1800" i="1">
                            <a:latin typeface="Cambria Math" panose="02040503050406030204" pitchFamily="18" charset="0"/>
                          </a:rPr>
                          <m:t>𝒅𝒙</m:t>
                        </m:r>
                        <m:r>
                          <a:rPr lang="en-US" altLang="zh-CN" sz="1800" i="1">
                            <a:latin typeface="Cambria Math" panose="02040503050406030204" pitchFamily="18" charset="0"/>
                          </a:rPr>
                          <m:t>=</m:t>
                        </m:r>
                        <m:f>
                          <m:fPr>
                            <m:ctrlPr>
                              <a:rPr lang="en-US" altLang="zh-CN" sz="1800" i="1">
                                <a:latin typeface="Cambria Math" panose="02040503050406030204" pitchFamily="18" charset="0"/>
                              </a:rPr>
                            </m:ctrlPr>
                          </m:fPr>
                          <m:num>
                            <m:r>
                              <a:rPr lang="zh-CN" altLang="en-US" sz="1800" i="1">
                                <a:latin typeface="Cambria Math" panose="02040503050406030204" pitchFamily="18" charset="0"/>
                              </a:rPr>
                              <m:t>𝝅</m:t>
                            </m:r>
                          </m:num>
                          <m:den>
                            <m:r>
                              <a:rPr lang="en-US" altLang="zh-CN" sz="1800" i="1">
                                <a:latin typeface="Cambria Math" panose="02040503050406030204" pitchFamily="18" charset="0"/>
                              </a:rPr>
                              <m:t>𝟐</m:t>
                            </m:r>
                          </m:den>
                        </m:f>
                      </m:e>
                    </m:nary>
                    <m:d>
                      <m:dPr>
                        <m:ctrlPr>
                          <a:rPr lang="en-US" altLang="zh-CN" sz="1800" i="1">
                            <a:latin typeface="Cambria Math" panose="02040503050406030204" pitchFamily="18" charset="0"/>
                          </a:rPr>
                        </m:ctrlPr>
                      </m:dPr>
                      <m:e>
                        <m:r>
                          <a:rPr lang="en-US" altLang="zh-CN" sz="1800" i="1">
                            <a:latin typeface="Cambria Math" panose="02040503050406030204" pitchFamily="18" charset="0"/>
                          </a:rPr>
                          <m:t>𝒂</m:t>
                        </m:r>
                        <m:r>
                          <a:rPr lang="en-US" altLang="zh-CN" sz="1800" i="1">
                            <a:latin typeface="Cambria Math" panose="02040503050406030204" pitchFamily="18" charset="0"/>
                          </a:rPr>
                          <m:t>&gt;</m:t>
                        </m:r>
                        <m:r>
                          <a:rPr lang="en-US" altLang="zh-CN" sz="1800" i="1">
                            <a:latin typeface="Cambria Math" panose="02040503050406030204" pitchFamily="18" charset="0"/>
                          </a:rPr>
                          <m:t>𝟎</m:t>
                        </m:r>
                      </m:e>
                    </m:d>
                  </m:oMath>
                </a14:m>
                <a:endParaRPr lang="zh-CN" altLang="en-US" dirty="0"/>
              </a:p>
            </p:txBody>
          </p:sp>
        </mc:Choice>
        <mc:Fallback xmlns="">
          <p:sp>
            <p:nvSpPr>
              <p:cNvPr id="2" name="内容占位符 1">
                <a:extLst>
                  <a:ext uri="{FF2B5EF4-FFF2-40B4-BE49-F238E27FC236}">
                    <a16:creationId xmlns:a16="http://schemas.microsoft.com/office/drawing/2014/main" id="{1D7B6BF8-684C-48E9-AC34-AB2B52B5886A}"/>
                  </a:ext>
                </a:extLst>
              </p:cNvPr>
              <p:cNvSpPr>
                <a:spLocks noGrp="1" noRot="1" noChangeAspect="1" noMove="1" noResize="1" noEditPoints="1" noAdjustHandles="1" noChangeArrowheads="1" noChangeShapeType="1" noTextEdit="1"/>
              </p:cNvSpPr>
              <p:nvPr>
                <p:ph idx="1"/>
              </p:nvPr>
            </p:nvSpPr>
            <p:spPr>
              <a:xfrm>
                <a:off x="685800" y="1034425"/>
                <a:ext cx="7772400" cy="4580111"/>
              </a:xfrm>
              <a:blipFill>
                <a:blip r:embed="rId2"/>
                <a:stretch>
                  <a:fillRect l="-941" t="-1332"/>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76530B90-CC3B-4822-901F-3E2C2A3E8764}"/>
              </a:ext>
            </a:extLst>
          </p:cNvPr>
          <p:cNvSpPr>
            <a:spLocks noChangeArrowheads="1"/>
          </p:cNvSpPr>
          <p:nvPr/>
        </p:nvSpPr>
        <p:spPr bwMode="auto">
          <a:xfrm>
            <a:off x="4101084" y="229575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7CC09BEC-B19D-4137-AA56-3E4322CF0894}"/>
              </a:ext>
            </a:extLst>
          </p:cNvPr>
          <p:cNvPicPr>
            <a:picLocks noChangeAspect="1"/>
          </p:cNvPicPr>
          <p:nvPr/>
        </p:nvPicPr>
        <p:blipFill>
          <a:blip r:embed="rId3"/>
          <a:stretch>
            <a:fillRect/>
          </a:stretch>
        </p:blipFill>
        <p:spPr>
          <a:xfrm>
            <a:off x="5894394" y="1057219"/>
            <a:ext cx="1643316" cy="1198950"/>
          </a:xfrm>
          <a:prstGeom prst="rect">
            <a:avLst/>
          </a:prstGeom>
        </p:spPr>
      </p:pic>
      <p:grpSp>
        <p:nvGrpSpPr>
          <p:cNvPr id="6" name="组合 5">
            <a:extLst>
              <a:ext uri="{FF2B5EF4-FFF2-40B4-BE49-F238E27FC236}">
                <a16:creationId xmlns:a16="http://schemas.microsoft.com/office/drawing/2014/main" id="{7702E04F-4A0D-4061-8F9C-B2B57D971D7C}"/>
              </a:ext>
            </a:extLst>
          </p:cNvPr>
          <p:cNvGrpSpPr/>
          <p:nvPr/>
        </p:nvGrpSpPr>
        <p:grpSpPr>
          <a:xfrm>
            <a:off x="5842853" y="2468880"/>
            <a:ext cx="3339193" cy="2617558"/>
            <a:chOff x="7566006" y="2589083"/>
            <a:chExt cx="4452257" cy="3490077"/>
          </a:xfrm>
        </p:grpSpPr>
        <p:pic>
          <p:nvPicPr>
            <p:cNvPr id="5" name="图片 4">
              <a:extLst>
                <a:ext uri="{FF2B5EF4-FFF2-40B4-BE49-F238E27FC236}">
                  <a16:creationId xmlns:a16="http://schemas.microsoft.com/office/drawing/2014/main" id="{0AEA0360-2A2B-496C-A9C2-9958FBA5C58B}"/>
                </a:ext>
              </a:extLst>
            </p:cNvPr>
            <p:cNvPicPr>
              <a:picLocks noChangeAspect="1"/>
            </p:cNvPicPr>
            <p:nvPr/>
          </p:nvPicPr>
          <p:blipFill>
            <a:blip r:embed="rId4"/>
            <a:stretch>
              <a:fillRect/>
            </a:stretch>
          </p:blipFill>
          <p:spPr>
            <a:xfrm>
              <a:off x="7566006" y="2739967"/>
              <a:ext cx="4452257" cy="3339193"/>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684B735-3F0B-4C3F-BF96-57A37D94CFCA}"/>
                    </a:ext>
                  </a:extLst>
                </p:cNvPr>
                <p:cNvSpPr/>
                <p:nvPr/>
              </p:nvSpPr>
              <p:spPr>
                <a:xfrm>
                  <a:off x="8760890" y="2589083"/>
                  <a:ext cx="3186000" cy="492443"/>
                </a:xfrm>
                <a:prstGeom prst="rect">
                  <a:avLst/>
                </a:prstGeom>
              </p:spPr>
              <p:txBody>
                <a:bodyPr wrap="none">
                  <a:spAutoFit/>
                </a:bodyPr>
                <a:lstStyle/>
                <a:p>
                  <a14:m>
                    <m:oMath xmlns:m="http://schemas.openxmlformats.org/officeDocument/2006/math">
                      <m:sSub>
                        <m:sSubPr>
                          <m:ctrlPr>
                            <a:rPr lang="en-US" altLang="zh-CN" i="1" smtClean="0">
                              <a:solidFill>
                                <a:schemeClr val="accent2"/>
                              </a:solidFill>
                              <a:latin typeface="Cambria Math" panose="02040503050406030204" pitchFamily="18" charset="0"/>
                            </a:rPr>
                          </m:ctrlPr>
                        </m:sSubPr>
                        <m:e>
                          <m:r>
                            <a:rPr lang="en-US" altLang="zh-CN" b="1" i="1">
                              <a:solidFill>
                                <a:schemeClr val="accent2"/>
                              </a:solidFill>
                              <a:latin typeface="Cambria Math" panose="02040503050406030204" pitchFamily="18" charset="0"/>
                            </a:rPr>
                            <m:t>𝑹</m:t>
                          </m:r>
                        </m:e>
                        <m:sub>
                          <m:r>
                            <a:rPr lang="en-US" altLang="zh-CN" b="1" i="1">
                              <a:solidFill>
                                <a:schemeClr val="accent2"/>
                              </a:solidFill>
                              <a:latin typeface="Cambria Math" panose="02040503050406030204" pitchFamily="18" charset="0"/>
                            </a:rPr>
                            <m:t>𝒀</m:t>
                          </m:r>
                        </m:sub>
                      </m:sSub>
                      <m:d>
                        <m:dPr>
                          <m:ctrlPr>
                            <a:rPr lang="en-US" altLang="zh-CN" b="1" i="1">
                              <a:solidFill>
                                <a:schemeClr val="accent2"/>
                              </a:solidFill>
                              <a:latin typeface="Cambria Math" panose="02040503050406030204" pitchFamily="18" charset="0"/>
                            </a:rPr>
                          </m:ctrlPr>
                        </m:dPr>
                        <m:e>
                          <m:r>
                            <a:rPr lang="zh-CN" altLang="en-US" b="1" i="1">
                              <a:solidFill>
                                <a:schemeClr val="accent2"/>
                              </a:solidFill>
                              <a:latin typeface="Cambria Math" panose="02040503050406030204" pitchFamily="18" charset="0"/>
                            </a:rPr>
                            <m:t>𝝉</m:t>
                          </m:r>
                        </m:e>
                      </m:d>
                    </m:oMath>
                  </a14:m>
                  <a:r>
                    <a:rPr lang="zh-CN" altLang="en-US" dirty="0"/>
                    <a:t> ，</a:t>
                  </a:r>
                  <a:r>
                    <a:rPr lang="en-US" altLang="zh-CN" dirty="0"/>
                    <a:t>W=1</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oMath>
                  </a14:m>
                  <a:r>
                    <a:rPr lang="en-US" altLang="zh-CN" dirty="0"/>
                    <a:t>=1</a:t>
                  </a:r>
                  <a:endParaRPr lang="zh-CN" altLang="en-US" dirty="0"/>
                </a:p>
              </p:txBody>
            </p:sp>
          </mc:Choice>
          <mc:Fallback xmlns="">
            <p:sp>
              <p:nvSpPr>
                <p:cNvPr id="4" name="矩形 3">
                  <a:extLst>
                    <a:ext uri="{FF2B5EF4-FFF2-40B4-BE49-F238E27FC236}">
                      <a16:creationId xmlns:a16="http://schemas.microsoft.com/office/drawing/2014/main" id="{E684B735-3F0B-4C3F-BF96-57A37D94CFCA}"/>
                    </a:ext>
                  </a:extLst>
                </p:cNvPr>
                <p:cNvSpPr>
                  <a:spLocks noRot="1" noChangeAspect="1" noMove="1" noResize="1" noEditPoints="1" noAdjustHandles="1" noChangeArrowheads="1" noChangeShapeType="1" noTextEdit="1"/>
                </p:cNvSpPr>
                <p:nvPr/>
              </p:nvSpPr>
              <p:spPr>
                <a:xfrm>
                  <a:off x="8760890" y="2589083"/>
                  <a:ext cx="3186000" cy="492443"/>
                </a:xfrm>
                <a:prstGeom prst="rect">
                  <a:avLst/>
                </a:prstGeom>
                <a:blipFill>
                  <a:blip r:embed="rId5"/>
                  <a:stretch>
                    <a:fillRect t="-8197" r="-1276" b="-2459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03065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B4B8423B-3708-456A-A46D-3A5B48EF70BA}"/>
                  </a:ext>
                </a:extLst>
              </p:cNvPr>
              <p:cNvSpPr>
                <a:spLocks noGrp="1"/>
              </p:cNvSpPr>
              <p:nvPr>
                <p:ph idx="1"/>
              </p:nvPr>
            </p:nvSpPr>
            <p:spPr/>
            <p:txBody>
              <a:bodyPr/>
              <a:lstStyle/>
              <a:p>
                <a:pPr marL="0" indent="0">
                  <a:lnSpc>
                    <a:spcPct val="150000"/>
                  </a:lnSpc>
                  <a:buNone/>
                </a:pPr>
                <a:r>
                  <a:rPr lang="en-US" altLang="zh-CN" dirty="0">
                    <a:solidFill>
                      <a:srgbClr val="FF0000"/>
                    </a:solidFill>
                  </a:rPr>
                  <a:t>2</a:t>
                </a:r>
                <a:r>
                  <a:rPr lang="zh-CN" altLang="en-US" dirty="0">
                    <a:solidFill>
                      <a:srgbClr val="FF0000"/>
                    </a:solidFill>
                  </a:rPr>
                  <a:t>、</a:t>
                </a:r>
                <a:r>
                  <a:rPr lang="zh-CN" altLang="zh-CN" dirty="0">
                    <a:solidFill>
                      <a:srgbClr val="FF0000"/>
                    </a:solidFill>
                  </a:rPr>
                  <a:t>带通白噪声</a:t>
                </a:r>
                <a:endParaRPr lang="en-US" altLang="zh-CN" dirty="0">
                  <a:solidFill>
                    <a:srgbClr val="FF0000"/>
                  </a:solidFill>
                </a:endParaRPr>
              </a:p>
              <a:p>
                <a:pPr marL="0" indent="0">
                  <a:lnSpc>
                    <a:spcPct val="150000"/>
                  </a:lnSpc>
                  <a:buNone/>
                </a:pPr>
                <a:r>
                  <a:rPr lang="zh-CN" altLang="en-US" dirty="0"/>
                  <a:t>白噪声</a:t>
                </a:r>
                <a14:m>
                  <m:oMath xmlns:m="http://schemas.openxmlformats.org/officeDocument/2006/math">
                    <m:r>
                      <a:rPr lang="en-US" altLang="zh-CN" b="1" i="1" smtClean="0">
                        <a:latin typeface="Cambria Math" panose="02040503050406030204" pitchFamily="18" charset="0"/>
                      </a:rPr>
                      <m:t>𝑵</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通过理想带通滤波器</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a:t>
                </a:r>
                <a:r>
                  <a:rPr lang="zh-CN" altLang="en-US" dirty="0">
                    <a:highlight>
                      <a:srgbClr val="FFFF00"/>
                    </a:highlight>
                  </a:rPr>
                  <a:t>带宽为</a:t>
                </a:r>
                <a:r>
                  <a:rPr lang="en-US" altLang="zh-CN" dirty="0" err="1">
                    <a:highlight>
                      <a:srgbClr val="FFFF00"/>
                    </a:highlight>
                  </a:rPr>
                  <a:t>WHz</a:t>
                </a:r>
                <a:r>
                  <a:rPr lang="zh-CN" altLang="en-US" dirty="0"/>
                  <a:t>），输出过程为带通白噪声</a:t>
                </a:r>
                <a14:m>
                  <m:oMath xmlns:m="http://schemas.openxmlformats.org/officeDocument/2006/math">
                    <m:r>
                      <a:rPr lang="en-US" altLang="zh-CN" b="1" i="1" smtClean="0">
                        <a:latin typeface="Cambria Math" panose="02040503050406030204" pitchFamily="18" charset="0"/>
                      </a:rPr>
                      <m:t>𝒀</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14:m>
                  <m:oMath xmlns:m="http://schemas.openxmlformats.org/officeDocument/2006/math">
                    <m:r>
                      <a:rPr lang="en-US" altLang="zh-CN" i="1">
                        <a:latin typeface="Cambria Math" panose="02040503050406030204" pitchFamily="18" charset="0"/>
                      </a:rPr>
                      <m:t>𝒚</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的功率谱密度为</a:t>
                </a:r>
                <a:endParaRPr lang="en-US" altLang="zh-CN" dirty="0"/>
              </a:p>
              <a:p>
                <a:pPr marL="0" indent="0">
                  <a:buNone/>
                </a:pPr>
                <a:endParaRPr lang="en-US" altLang="zh-CN" dirty="0"/>
              </a:p>
              <a:p>
                <a:pPr marL="0" indent="0">
                  <a:buNone/>
                </a:pPr>
                <a:endParaRPr lang="en-US" altLang="zh-CN" dirty="0"/>
              </a:p>
              <a:p>
                <a:pPr marL="0" indent="0">
                  <a:buNone/>
                </a:pPr>
                <a:endParaRPr lang="zh-CN"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B4B8423B-3708-456A-A46D-3A5B48EF70BA}"/>
                  </a:ext>
                </a:extLst>
              </p:cNvPr>
              <p:cNvSpPr>
                <a:spLocks noGrp="1" noRot="1" noChangeAspect="1" noMove="1" noResize="1" noEditPoints="1" noAdjustHandles="1" noChangeArrowheads="1" noChangeShapeType="1" noTextEdit="1"/>
              </p:cNvSpPr>
              <p:nvPr>
                <p:ph idx="1"/>
              </p:nvPr>
            </p:nvSpPr>
            <p:spPr>
              <a:blipFill>
                <a:blip r:embed="rId2"/>
                <a:stretch>
                  <a:fillRect l="-1235"/>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509AF47B-6284-49A0-81D7-A85130595F5F}"/>
              </a:ext>
            </a:extLst>
          </p:cNvPr>
          <p:cNvPicPr>
            <a:picLocks noChangeAspect="1"/>
          </p:cNvPicPr>
          <p:nvPr/>
        </p:nvPicPr>
        <p:blipFill>
          <a:blip r:embed="rId3"/>
          <a:stretch>
            <a:fillRect/>
          </a:stretch>
        </p:blipFill>
        <p:spPr>
          <a:xfrm>
            <a:off x="3129598" y="2604968"/>
            <a:ext cx="3228975" cy="988695"/>
          </a:xfrm>
          <a:prstGeom prst="rect">
            <a:avLst/>
          </a:prstGeom>
        </p:spPr>
      </p:pic>
      <p:pic>
        <p:nvPicPr>
          <p:cNvPr id="7" name="图片 6">
            <a:extLst>
              <a:ext uri="{FF2B5EF4-FFF2-40B4-BE49-F238E27FC236}">
                <a16:creationId xmlns:a16="http://schemas.microsoft.com/office/drawing/2014/main" id="{CEE085BA-0E34-449A-B9D6-2C80A5078185}"/>
              </a:ext>
            </a:extLst>
          </p:cNvPr>
          <p:cNvPicPr>
            <a:picLocks noChangeAspect="1"/>
          </p:cNvPicPr>
          <p:nvPr/>
        </p:nvPicPr>
        <p:blipFill>
          <a:blip r:embed="rId4"/>
          <a:stretch>
            <a:fillRect/>
          </a:stretch>
        </p:blipFill>
        <p:spPr>
          <a:xfrm>
            <a:off x="3773170" y="4006277"/>
            <a:ext cx="1941830" cy="1211033"/>
          </a:xfrm>
          <a:prstGeom prst="rect">
            <a:avLst/>
          </a:prstGeom>
        </p:spPr>
      </p:pic>
    </p:spTree>
    <p:extLst>
      <p:ext uri="{BB962C8B-B14F-4D97-AF65-F5344CB8AC3E}">
        <p14:creationId xmlns:p14="http://schemas.microsoft.com/office/powerpoint/2010/main" val="22075144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898460B5-1483-473B-AFE2-F0193239B045}"/>
                  </a:ext>
                </a:extLst>
              </p:cNvPr>
              <p:cNvSpPr>
                <a:spLocks noGrp="1"/>
              </p:cNvSpPr>
              <p:nvPr>
                <p:ph idx="1"/>
              </p:nvPr>
            </p:nvSpPr>
            <p:spPr/>
            <p:txBody>
              <a:bodyPr/>
              <a:lstStyle/>
              <a:p>
                <a:pPr marL="0" indent="0">
                  <a:buNone/>
                </a:pPr>
                <a:r>
                  <a:rPr lang="zh-CN" altLang="en-US" dirty="0">
                    <a:solidFill>
                      <a:schemeClr val="accent2"/>
                    </a:solidFill>
                  </a:rPr>
                  <a:t>自相关函数为</a:t>
                </a:r>
                <a:endParaRPr lang="en-US" altLang="zh-CN" dirty="0">
                  <a:solidFill>
                    <a:schemeClr val="accent2"/>
                  </a:solidFill>
                </a:endParaRPr>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𝒀</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r>
                          <a:rPr lang="en-US" altLang="zh-CN" i="1">
                            <a:latin typeface="Cambria Math" panose="02040503050406030204" pitchFamily="18" charset="0"/>
                          </a:rPr>
                          <m:t>𝒔𝒊𝒏</m:t>
                        </m:r>
                        <m:r>
                          <a:rPr lang="zh-CN" altLang="en-US" i="1">
                            <a:latin typeface="Cambria Math" panose="02040503050406030204" pitchFamily="18" charset="0"/>
                          </a:rPr>
                          <m:t>𝝅</m:t>
                        </m:r>
                        <m:r>
                          <a:rPr lang="en-US" altLang="zh-CN" i="1">
                            <a:latin typeface="Cambria Math" panose="02040503050406030204" pitchFamily="18" charset="0"/>
                          </a:rPr>
                          <m:t>𝑾</m:t>
                        </m:r>
                        <m:r>
                          <a:rPr lang="zh-CN" altLang="en-US" i="1">
                            <a:latin typeface="Cambria Math" panose="02040503050406030204" pitchFamily="18" charset="0"/>
                          </a:rPr>
                          <m:t>𝝉</m:t>
                        </m:r>
                      </m:num>
                      <m:den>
                        <m:r>
                          <a:rPr lang="zh-CN" altLang="en-US" i="1">
                            <a:latin typeface="Cambria Math" panose="02040503050406030204" pitchFamily="18" charset="0"/>
                          </a:rPr>
                          <m:t>𝝅𝝉</m:t>
                        </m:r>
                      </m:den>
                    </m:f>
                    <m:r>
                      <a:rPr lang="en-US" altLang="zh-CN">
                        <a:latin typeface="Cambria Math" panose="02040503050406030204" pitchFamily="18" charset="0"/>
                      </a:rPr>
                      <m:t>𝐜𝐨𝐬𝟐</m:t>
                    </m:r>
                    <m:r>
                      <a:rPr lang="el-GR" altLang="zh-CN" i="1">
                        <a:latin typeface="Cambria Math" panose="02040503050406030204" pitchFamily="18" charset="0"/>
                        <a:ea typeface="Cambria Math" panose="02040503050406030204" pitchFamily="18" charset="0"/>
                      </a:rPr>
                      <m:t>𝝅</m:t>
                    </m:r>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𝒇</m:t>
                        </m:r>
                      </m:e>
                      <m:sub>
                        <m:r>
                          <a:rPr lang="en-US" altLang="zh-CN" i="1">
                            <a:latin typeface="Cambria Math" panose="02040503050406030204" pitchFamily="18" charset="0"/>
                            <a:ea typeface="Cambria Math" panose="02040503050406030204" pitchFamily="18" charset="0"/>
                          </a:rPr>
                          <m:t>𝟎</m:t>
                        </m:r>
                      </m:sub>
                    </m:sSub>
                    <m:r>
                      <a:rPr lang="zh-CN" altLang="el-GR" i="1">
                        <a:latin typeface="Cambria Math" panose="02040503050406030204" pitchFamily="18" charset="0"/>
                        <a:ea typeface="Cambria Math" panose="02040503050406030204" pitchFamily="18" charset="0"/>
                      </a:rPr>
                      <m:t>𝝉</m:t>
                    </m:r>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𝑾𝒔𝒊𝒏𝒄</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𝑾</m:t>
                        </m:r>
                        <m:r>
                          <a:rPr lang="zh-CN" altLang="en-US" b="1" i="1" smtClean="0">
                            <a:latin typeface="Cambria Math" panose="02040503050406030204" pitchFamily="18" charset="0"/>
                          </a:rPr>
                          <m:t>𝝉</m:t>
                        </m:r>
                      </m:e>
                    </m:d>
                    <m:r>
                      <a:rPr lang="en-US" altLang="zh-CN" b="1" i="1" smtClean="0">
                        <a:latin typeface="Cambria Math" panose="02040503050406030204" pitchFamily="18" charset="0"/>
                      </a:rPr>
                      <m:t>𝒄𝒐𝒔</m:t>
                    </m:r>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𝟎</m:t>
                        </m:r>
                      </m:sub>
                    </m:sSub>
                    <m:r>
                      <a:rPr lang="zh-CN" altLang="en-US" b="1" i="1" smtClean="0">
                        <a:latin typeface="Cambria Math" panose="02040503050406030204" pitchFamily="18" charset="0"/>
                      </a:rPr>
                      <m:t>𝝉</m:t>
                    </m:r>
                  </m:oMath>
                </a14:m>
                <a:endParaRPr lang="en-US" altLang="zh-CN" dirty="0"/>
              </a:p>
              <a:p>
                <a:pPr marL="0" indent="0">
                  <a:buNone/>
                </a:pPr>
                <a:r>
                  <a:rPr lang="zh-CN" altLang="en-US" dirty="0"/>
                  <a:t>相关系数为：</a:t>
                </a:r>
                <a:endParaRPr lang="en-US" altLang="zh-CN" dirty="0"/>
              </a:p>
              <a:p>
                <a:pPr marL="0" indent="0">
                  <a:buNone/>
                </a:pPr>
                <a:r>
                  <a:rPr lang="en-US" altLang="zh-CN" dirty="0"/>
                  <a:t>	</a:t>
                </a:r>
                <a14:m>
                  <m:oMath xmlns:m="http://schemas.openxmlformats.org/officeDocument/2006/math">
                    <m:r>
                      <a:rPr lang="zh-CN" altLang="en-US" i="1" smtClean="0">
                        <a:latin typeface="Cambria Math" panose="02040503050406030204" pitchFamily="18" charset="0"/>
                      </a:rPr>
                      <m:t>𝝆</m:t>
                    </m:r>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𝝉</m:t>
                        </m:r>
                      </m:e>
                    </m:d>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𝒔𝒊𝒏</m:t>
                        </m:r>
                        <m:r>
                          <a:rPr lang="zh-CN" altLang="en-US" i="1">
                            <a:latin typeface="Cambria Math" panose="02040503050406030204" pitchFamily="18" charset="0"/>
                          </a:rPr>
                          <m:t>𝝅</m:t>
                        </m:r>
                        <m:r>
                          <a:rPr lang="en-US" altLang="zh-CN" i="1">
                            <a:latin typeface="Cambria Math" panose="02040503050406030204" pitchFamily="18" charset="0"/>
                          </a:rPr>
                          <m:t>𝑾</m:t>
                        </m:r>
                        <m:r>
                          <a:rPr lang="zh-CN" altLang="en-US" i="1">
                            <a:latin typeface="Cambria Math" panose="02040503050406030204" pitchFamily="18" charset="0"/>
                          </a:rPr>
                          <m:t>𝝉</m:t>
                        </m:r>
                      </m:num>
                      <m:den>
                        <m:r>
                          <a:rPr lang="zh-CN" altLang="en-US" i="1">
                            <a:latin typeface="Cambria Math" panose="02040503050406030204" pitchFamily="18" charset="0"/>
                          </a:rPr>
                          <m:t>𝝅</m:t>
                        </m:r>
                        <m:r>
                          <a:rPr lang="en-US" altLang="zh-CN" b="1" i="1" smtClean="0">
                            <a:latin typeface="Cambria Math" panose="02040503050406030204" pitchFamily="18" charset="0"/>
                          </a:rPr>
                          <m:t>𝑾</m:t>
                        </m:r>
                        <m:r>
                          <a:rPr lang="zh-CN" altLang="en-US" i="1">
                            <a:latin typeface="Cambria Math" panose="02040503050406030204" pitchFamily="18" charset="0"/>
                          </a:rPr>
                          <m:t>𝝉</m:t>
                        </m:r>
                      </m:den>
                    </m:f>
                    <m:r>
                      <a:rPr lang="en-US" altLang="zh-CN">
                        <a:latin typeface="Cambria Math" panose="02040503050406030204" pitchFamily="18" charset="0"/>
                      </a:rPr>
                      <m:t>𝐜𝐨𝐬𝟐</m:t>
                    </m:r>
                    <m:r>
                      <a:rPr lang="el-GR" altLang="zh-CN" i="1">
                        <a:latin typeface="Cambria Math" panose="02040503050406030204" pitchFamily="18" charset="0"/>
                        <a:ea typeface="Cambria Math" panose="02040503050406030204" pitchFamily="18" charset="0"/>
                      </a:rPr>
                      <m:t>𝝅</m:t>
                    </m:r>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𝒇</m:t>
                        </m:r>
                      </m:e>
                      <m:sub>
                        <m:r>
                          <a:rPr lang="en-US" altLang="zh-CN" i="1">
                            <a:latin typeface="Cambria Math" panose="02040503050406030204" pitchFamily="18" charset="0"/>
                            <a:ea typeface="Cambria Math" panose="02040503050406030204" pitchFamily="18" charset="0"/>
                          </a:rPr>
                          <m:t>𝟎</m:t>
                        </m:r>
                      </m:sub>
                    </m:sSub>
                    <m:r>
                      <a:rPr lang="zh-CN" altLang="el-GR" i="1">
                        <a:latin typeface="Cambria Math" panose="02040503050406030204" pitchFamily="18" charset="0"/>
                        <a:ea typeface="Cambria Math" panose="02040503050406030204" pitchFamily="18" charset="0"/>
                      </a:rPr>
                      <m:t>𝝉</m:t>
                    </m:r>
                    <m:r>
                      <a:rPr lang="en-US" altLang="zh-CN" b="1"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𝒔𝒊𝒏𝒄</m:t>
                    </m:r>
                    <m:d>
                      <m:dPr>
                        <m:ctrlPr>
                          <a:rPr lang="en-US" altLang="zh-CN" i="1">
                            <a:latin typeface="Cambria Math" panose="02040503050406030204" pitchFamily="18" charset="0"/>
                          </a:rPr>
                        </m:ctrlPr>
                      </m:dPr>
                      <m:e>
                        <m:r>
                          <a:rPr lang="en-US" altLang="zh-CN" i="1">
                            <a:latin typeface="Cambria Math" panose="02040503050406030204" pitchFamily="18" charset="0"/>
                          </a:rPr>
                          <m:t>𝑾</m:t>
                        </m:r>
                        <m:r>
                          <a:rPr lang="zh-CN" altLang="en-US" i="1">
                            <a:latin typeface="Cambria Math" panose="02040503050406030204" pitchFamily="18" charset="0"/>
                          </a:rPr>
                          <m:t>𝝉</m:t>
                        </m:r>
                      </m:e>
                    </m:d>
                    <m:r>
                      <a:rPr lang="en-US" altLang="zh-CN" i="1">
                        <a:latin typeface="Cambria Math" panose="02040503050406030204" pitchFamily="18" charset="0"/>
                      </a:rPr>
                      <m:t>𝒄𝒐𝒔</m:t>
                    </m:r>
                    <m:r>
                      <a:rPr lang="en-US" altLang="zh-CN" i="1">
                        <a:latin typeface="Cambria Math" panose="02040503050406030204" pitchFamily="18" charset="0"/>
                      </a:rPr>
                      <m:t>𝟐</m:t>
                    </m:r>
                    <m:r>
                      <a:rPr lang="zh-CN" altLang="en-US" i="1">
                        <a:latin typeface="Cambria Math" panose="02040503050406030204" pitchFamily="18" charset="0"/>
                      </a:rPr>
                      <m:t>𝝅</m:t>
                    </m:r>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𝟎</m:t>
                        </m:r>
                      </m:sub>
                    </m:sSub>
                    <m:r>
                      <a:rPr lang="zh-CN" altLang="en-US" i="1">
                        <a:latin typeface="Cambria Math" panose="02040503050406030204" pitchFamily="18" charset="0"/>
                      </a:rPr>
                      <m:t>𝝉</m:t>
                    </m:r>
                  </m:oMath>
                </a14:m>
                <a:endParaRPr lang="en-US" altLang="zh-CN" dirty="0"/>
              </a:p>
              <a:p>
                <a:pPr marL="0" indent="0">
                  <a:buNone/>
                </a:pPr>
                <a:r>
                  <a:rPr lang="zh-CN" altLang="en-US" dirty="0">
                    <a:solidFill>
                      <a:schemeClr val="accent2"/>
                    </a:solidFill>
                  </a:rPr>
                  <a:t>相关时间：</a:t>
                </a:r>
                <a:endParaRPr lang="en-US" altLang="zh-CN" dirty="0">
                  <a:solidFill>
                    <a:schemeClr val="accent2"/>
                  </a:solidFill>
                </a:endParaRPr>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𝝉</m:t>
                        </m:r>
                      </m:e>
                      <m:sub>
                        <m:r>
                          <a:rPr lang="en-US" altLang="zh-CN" i="1">
                            <a:latin typeface="Cambria Math" panose="02040503050406030204" pitchFamily="18" charset="0"/>
                          </a:rPr>
                          <m:t>𝒄</m:t>
                        </m:r>
                      </m:sub>
                    </m:sSub>
                    <m:r>
                      <a:rPr lang="en-US" altLang="zh-CN" i="1">
                        <a:latin typeface="Cambria Math" panose="02040503050406030204" pitchFamily="18" charset="0"/>
                      </a:rPr>
                      <m:t>=</m:t>
                    </m:r>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𝟎</m:t>
                        </m:r>
                      </m:sub>
                      <m:sup>
                        <m:r>
                          <a:rPr lang="en-US" altLang="zh-CN" i="1">
                            <a:latin typeface="Cambria Math" panose="02040503050406030204" pitchFamily="18" charset="0"/>
                            <a:ea typeface="Cambria Math" panose="02040503050406030204" pitchFamily="18" charset="0"/>
                          </a:rPr>
                          <m:t>∞</m:t>
                        </m:r>
                      </m:sup>
                      <m:e>
                        <m:sSub>
                          <m:sSubPr>
                            <m:ctrlPr>
                              <a:rPr lang="en-US" altLang="zh-CN" i="1">
                                <a:latin typeface="Cambria Math" panose="02040503050406030204" pitchFamily="18" charset="0"/>
                              </a:rPr>
                            </m:ctrlPr>
                          </m:sSubPr>
                          <m:e>
                            <m:r>
                              <a:rPr lang="zh-CN" altLang="en-US" i="1">
                                <a:latin typeface="Cambria Math" panose="02040503050406030204" pitchFamily="18" charset="0"/>
                              </a:rPr>
                              <m:t>𝝆</m:t>
                            </m:r>
                          </m:e>
                          <m:sub>
                            <m:r>
                              <a:rPr lang="en-US" altLang="zh-CN" i="1">
                                <a:latin typeface="Cambria Math" panose="02040503050406030204" pitchFamily="18" charset="0"/>
                              </a:rPr>
                              <m:t>𝒀</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𝒅</m:t>
                        </m:r>
                        <m:r>
                          <a:rPr lang="zh-CN" altLang="en-US" i="1">
                            <a:latin typeface="Cambria Math" panose="02040503050406030204" pitchFamily="18" charset="0"/>
                          </a:rPr>
                          <m:t>𝝉</m:t>
                        </m:r>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b="1" i="1" smtClean="0">
                            <a:latin typeface="Cambria Math" panose="02040503050406030204" pitchFamily="18" charset="0"/>
                          </a:rPr>
                          <m:t>𝟐</m:t>
                        </m:r>
                        <m:r>
                          <a:rPr lang="en-US" altLang="zh-CN" i="1">
                            <a:latin typeface="Cambria Math" panose="02040503050406030204" pitchFamily="18" charset="0"/>
                          </a:rPr>
                          <m:t>𝑾</m:t>
                        </m:r>
                      </m:den>
                    </m:f>
                  </m:oMath>
                </a14:m>
                <a:endParaRPr lang="en-US" altLang="zh-CN" dirty="0"/>
              </a:p>
              <a:p>
                <a:pPr marL="0" indent="0">
                  <a:buNone/>
                </a:pPr>
                <a:r>
                  <a:rPr lang="zh-CN" altLang="en-US" dirty="0">
                    <a:solidFill>
                      <a:schemeClr val="accent2"/>
                    </a:solidFill>
                  </a:rPr>
                  <a:t>噪声功率为</a:t>
                </a:r>
                <a:endParaRPr lang="en-US" altLang="zh-CN" dirty="0">
                  <a:solidFill>
                    <a:schemeClr val="accent2"/>
                  </a:solidFill>
                </a:endParaRPr>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𝒀</m:t>
                        </m:r>
                      </m:sub>
                    </m:sSub>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r>
                      <a:rPr lang="en-US" altLang="zh-CN" i="1">
                        <a:latin typeface="Cambria Math" panose="02040503050406030204" pitchFamily="18" charset="0"/>
                      </a:rPr>
                      <m:t>𝑾</m:t>
                    </m:r>
                  </m:oMath>
                </a14:m>
                <a:endParaRPr lang="en-US" altLang="zh-CN" dirty="0"/>
              </a:p>
              <a:p>
                <a:pPr marL="0" indent="0">
                  <a:buNone/>
                </a:pPr>
                <a:endParaRPr lang="en-US" altLang="zh-CN" dirty="0"/>
              </a:p>
              <a:p>
                <a:pPr marL="0" indent="0">
                  <a:buNone/>
                </a:pPr>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898460B5-1483-473B-AFE2-F0193239B045}"/>
                  </a:ext>
                </a:extLst>
              </p:cNvPr>
              <p:cNvSpPr>
                <a:spLocks noGrp="1" noRot="1" noChangeAspect="1" noMove="1" noResize="1" noEditPoints="1" noAdjustHandles="1" noChangeArrowheads="1" noChangeShapeType="1" noTextEdit="1"/>
              </p:cNvSpPr>
              <p:nvPr>
                <p:ph idx="1"/>
              </p:nvPr>
            </p:nvSpPr>
            <p:spPr>
              <a:blipFill>
                <a:blip r:embed="rId2"/>
                <a:stretch>
                  <a:fillRect l="-1235" t="-1494"/>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06858BF3-3AAA-4746-8DC7-321BE938D406}"/>
              </a:ext>
            </a:extLst>
          </p:cNvPr>
          <p:cNvSpPr>
            <a:spLocks noChangeArrowheads="1"/>
          </p:cNvSpPr>
          <p:nvPr/>
        </p:nvSpPr>
        <p:spPr bwMode="auto">
          <a:xfrm>
            <a:off x="1645920" y="37702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5" name="组合 4">
            <a:extLst>
              <a:ext uri="{FF2B5EF4-FFF2-40B4-BE49-F238E27FC236}">
                <a16:creationId xmlns:a16="http://schemas.microsoft.com/office/drawing/2014/main" id="{D73EC8D6-B83F-4FC3-B041-8EDB2F879E0A}"/>
              </a:ext>
            </a:extLst>
          </p:cNvPr>
          <p:cNvGrpSpPr/>
          <p:nvPr/>
        </p:nvGrpSpPr>
        <p:grpSpPr>
          <a:xfrm>
            <a:off x="4204607" y="3130102"/>
            <a:ext cx="4833754" cy="2446568"/>
            <a:chOff x="5664326" y="2926733"/>
            <a:chExt cx="6426877" cy="3256117"/>
          </a:xfrm>
        </p:grpSpPr>
        <p:pic>
          <p:nvPicPr>
            <p:cNvPr id="7" name="图片 6">
              <a:extLst>
                <a:ext uri="{FF2B5EF4-FFF2-40B4-BE49-F238E27FC236}">
                  <a16:creationId xmlns:a16="http://schemas.microsoft.com/office/drawing/2014/main" id="{9FC27638-42E5-4C95-940F-36E03EAD6D2B}"/>
                </a:ext>
              </a:extLst>
            </p:cNvPr>
            <p:cNvPicPr>
              <a:picLocks noChangeAspect="1"/>
            </p:cNvPicPr>
            <p:nvPr/>
          </p:nvPicPr>
          <p:blipFill>
            <a:blip r:embed="rId3"/>
            <a:stretch>
              <a:fillRect/>
            </a:stretch>
          </p:blipFill>
          <p:spPr>
            <a:xfrm>
              <a:off x="5664326" y="2926733"/>
              <a:ext cx="6426877" cy="3256117"/>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FB28003-9E77-4BF1-9B93-742F3D98CA70}"/>
                    </a:ext>
                  </a:extLst>
                </p:cNvPr>
                <p:cNvSpPr/>
                <p:nvPr/>
              </p:nvSpPr>
              <p:spPr>
                <a:xfrm>
                  <a:off x="7417332" y="4300778"/>
                  <a:ext cx="4352423" cy="491541"/>
                </a:xfrm>
                <a:prstGeom prst="rect">
                  <a:avLst/>
                </a:prstGeom>
              </p:spPr>
              <p:txBody>
                <a:bodyPr wrap="none">
                  <a:spAutoFit/>
                </a:bodyPr>
                <a:lstStyle/>
                <a:p>
                  <a14:m>
                    <m:oMath xmlns:m="http://schemas.openxmlformats.org/officeDocument/2006/math">
                      <m:sSub>
                        <m:sSubPr>
                          <m:ctrlPr>
                            <a:rPr lang="en-US" altLang="zh-CN" i="1" smtClean="0">
                              <a:solidFill>
                                <a:schemeClr val="accent2"/>
                              </a:solidFill>
                              <a:latin typeface="Cambria Math" panose="02040503050406030204" pitchFamily="18" charset="0"/>
                            </a:rPr>
                          </m:ctrlPr>
                        </m:sSubPr>
                        <m:e>
                          <m:r>
                            <a:rPr lang="en-US" altLang="zh-CN" b="1" i="1">
                              <a:solidFill>
                                <a:schemeClr val="accent2"/>
                              </a:solidFill>
                              <a:latin typeface="Cambria Math" panose="02040503050406030204" pitchFamily="18" charset="0"/>
                            </a:rPr>
                            <m:t>𝑹</m:t>
                          </m:r>
                        </m:e>
                        <m:sub>
                          <m:r>
                            <a:rPr lang="en-US" altLang="zh-CN" b="1" i="1">
                              <a:solidFill>
                                <a:schemeClr val="accent2"/>
                              </a:solidFill>
                              <a:latin typeface="Cambria Math" panose="02040503050406030204" pitchFamily="18" charset="0"/>
                            </a:rPr>
                            <m:t>𝒀</m:t>
                          </m:r>
                        </m:sub>
                      </m:sSub>
                      <m:d>
                        <m:dPr>
                          <m:ctrlPr>
                            <a:rPr lang="en-US" altLang="zh-CN" b="1" i="1">
                              <a:solidFill>
                                <a:schemeClr val="accent2"/>
                              </a:solidFill>
                              <a:latin typeface="Cambria Math" panose="02040503050406030204" pitchFamily="18" charset="0"/>
                            </a:rPr>
                          </m:ctrlPr>
                        </m:dPr>
                        <m:e>
                          <m:r>
                            <a:rPr lang="zh-CN" altLang="en-US" b="1" i="1">
                              <a:solidFill>
                                <a:schemeClr val="accent2"/>
                              </a:solidFill>
                              <a:latin typeface="Cambria Math" panose="02040503050406030204" pitchFamily="18" charset="0"/>
                            </a:rPr>
                            <m:t>𝝉</m:t>
                          </m:r>
                        </m:e>
                      </m:d>
                    </m:oMath>
                  </a14:m>
                  <a:r>
                    <a:rPr lang="zh-CN" altLang="en-US" dirty="0"/>
                    <a:t> ，</a:t>
                  </a:r>
                  <a:r>
                    <a:rPr lang="en-US" altLang="zh-CN" dirty="0"/>
                    <a:t>W=1</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oMath>
                  </a14:m>
                  <a:r>
                    <a:rPr lang="en-US" altLang="zh-CN" dirty="0"/>
                    <a:t>=1,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=10</m:t>
                      </m:r>
                    </m:oMath>
                  </a14:m>
                  <a:endParaRPr lang="zh-CN" altLang="en-US" dirty="0"/>
                </a:p>
              </p:txBody>
            </p:sp>
          </mc:Choice>
          <mc:Fallback xmlns="">
            <p:sp>
              <p:nvSpPr>
                <p:cNvPr id="4" name="矩形 3">
                  <a:extLst>
                    <a:ext uri="{FF2B5EF4-FFF2-40B4-BE49-F238E27FC236}">
                      <a16:creationId xmlns:a16="http://schemas.microsoft.com/office/drawing/2014/main" id="{8FB28003-9E77-4BF1-9B93-742F3D98CA70}"/>
                    </a:ext>
                  </a:extLst>
                </p:cNvPr>
                <p:cNvSpPr>
                  <a:spLocks noRot="1" noChangeAspect="1" noMove="1" noResize="1" noEditPoints="1" noAdjustHandles="1" noChangeArrowheads="1" noChangeShapeType="1" noTextEdit="1"/>
                </p:cNvSpPr>
                <p:nvPr/>
              </p:nvSpPr>
              <p:spPr>
                <a:xfrm>
                  <a:off x="7417332" y="4300778"/>
                  <a:ext cx="4352423" cy="491541"/>
                </a:xfrm>
                <a:prstGeom prst="rect">
                  <a:avLst/>
                </a:prstGeom>
                <a:blipFill>
                  <a:blip r:embed="rId4"/>
                  <a:stretch>
                    <a:fillRect t="-10000" b="-26667"/>
                  </a:stretch>
                </a:blipFill>
              </p:spPr>
              <p:txBody>
                <a:bodyPr/>
                <a:lstStyle/>
                <a:p>
                  <a:r>
                    <a:rPr lang="zh-CN" altLang="en-US">
                      <a:noFill/>
                    </a:rPr>
                    <a:t> </a:t>
                  </a:r>
                </a:p>
              </p:txBody>
            </p:sp>
          </mc:Fallback>
        </mc:AlternateContent>
      </p:grpSp>
      <p:pic>
        <p:nvPicPr>
          <p:cNvPr id="8" name="图片 7">
            <a:extLst>
              <a:ext uri="{FF2B5EF4-FFF2-40B4-BE49-F238E27FC236}">
                <a16:creationId xmlns:a16="http://schemas.microsoft.com/office/drawing/2014/main" id="{6B69B814-5445-46C1-B14A-9E11C89EED8B}"/>
              </a:ext>
            </a:extLst>
          </p:cNvPr>
          <p:cNvPicPr>
            <a:picLocks noChangeAspect="1"/>
          </p:cNvPicPr>
          <p:nvPr/>
        </p:nvPicPr>
        <p:blipFill>
          <a:blip r:embed="rId5"/>
          <a:stretch>
            <a:fillRect/>
          </a:stretch>
        </p:blipFill>
        <p:spPr>
          <a:xfrm>
            <a:off x="2628583" y="4353387"/>
            <a:ext cx="1941830" cy="1211033"/>
          </a:xfrm>
          <a:prstGeom prst="rect">
            <a:avLst/>
          </a:prstGeom>
        </p:spPr>
      </p:pic>
    </p:spTree>
    <p:extLst>
      <p:ext uri="{BB962C8B-B14F-4D97-AF65-F5344CB8AC3E}">
        <p14:creationId xmlns:p14="http://schemas.microsoft.com/office/powerpoint/2010/main" val="975604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BF8CDE3D-4C71-46AB-A8E8-5D318C57E5FF}"/>
                  </a:ext>
                </a:extLst>
              </p:cNvPr>
              <p:cNvSpPr>
                <a:spLocks noGrp="1"/>
              </p:cNvSpPr>
              <p:nvPr>
                <p:ph idx="1"/>
              </p:nvPr>
            </p:nvSpPr>
            <p:spPr>
              <a:xfrm>
                <a:off x="200892" y="1292469"/>
                <a:ext cx="8255722" cy="4406945"/>
              </a:xfrm>
            </p:spPr>
            <p:txBody>
              <a:bodyPr/>
              <a:lstStyle/>
              <a:p>
                <a:pPr marL="0" indent="0">
                  <a:lnSpc>
                    <a:spcPct val="150000"/>
                  </a:lnSpc>
                  <a:buNone/>
                </a:pPr>
                <a:r>
                  <a:rPr lang="zh-CN" altLang="en-US" dirty="0"/>
                  <a:t>例：白噪声通过</a:t>
                </a:r>
                <a:r>
                  <a:rPr lang="en-US" altLang="zh-CN" dirty="0"/>
                  <a:t>RC</a:t>
                </a:r>
                <a:r>
                  <a:rPr lang="zh-CN" altLang="en-US" dirty="0"/>
                  <a:t>滤波器</a:t>
                </a:r>
                <a:endParaRPr lang="en-US" altLang="zh-CN" dirty="0"/>
              </a:p>
              <a:p>
                <a:pPr marL="0" indent="0">
                  <a:lnSpc>
                    <a:spcPct val="150000"/>
                  </a:lnSpc>
                  <a:buNone/>
                </a:pPr>
                <a:r>
                  <a:rPr lang="zh-CN" altLang="en-US" dirty="0"/>
                  <a:t>将功率谱密度</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𝑵</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𝒇</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𝟎</m:t>
                            </m:r>
                          </m:sub>
                        </m:sSub>
                      </m:num>
                      <m:den>
                        <m:r>
                          <a:rPr lang="en-US" altLang="zh-CN" b="1" i="1" smtClean="0">
                            <a:latin typeface="Cambria Math" panose="02040503050406030204" pitchFamily="18" charset="0"/>
                          </a:rPr>
                          <m:t>𝟐</m:t>
                        </m:r>
                      </m:den>
                    </m:f>
                  </m:oMath>
                </a14:m>
                <a:r>
                  <a:rPr lang="zh-CN" altLang="en-US" dirty="0"/>
                  <a:t> 的白噪声，输入下图所示的</a:t>
                </a:r>
                <a:r>
                  <a:rPr lang="en-US" altLang="zh-CN" dirty="0"/>
                  <a:t>RC</a:t>
                </a:r>
                <a:r>
                  <a:rPr lang="zh-CN" altLang="en-US" dirty="0"/>
                  <a:t>滤波器，试求输出信号的功率谱密度</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𝒀</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𝒇</m:t>
                    </m:r>
                    <m:r>
                      <a:rPr lang="en-US" altLang="zh-CN" b="1" i="1" smtClean="0">
                        <a:latin typeface="Cambria Math" panose="02040503050406030204" pitchFamily="18" charset="0"/>
                      </a:rPr>
                      <m:t>)</m:t>
                    </m:r>
                  </m:oMath>
                </a14:m>
                <a:r>
                  <a:rPr lang="zh-CN" altLang="en-US" dirty="0"/>
                  <a:t> 和自相关函数</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𝒀</m:t>
                        </m:r>
                      </m:sub>
                    </m:sSub>
                    <m:r>
                      <a:rPr lang="en-US" altLang="zh-CN" b="1" i="1" smtClean="0">
                        <a:latin typeface="Cambria Math" panose="02040503050406030204" pitchFamily="18" charset="0"/>
                      </a:rPr>
                      <m:t>(</m:t>
                    </m:r>
                    <m:r>
                      <a:rPr lang="zh-CN" altLang="en-US" b="1" i="1" smtClean="0">
                        <a:latin typeface="Cambria Math" panose="02040503050406030204" pitchFamily="18" charset="0"/>
                      </a:rPr>
                      <m:t>𝝉</m:t>
                    </m:r>
                    <m:r>
                      <a:rPr lang="en-US" altLang="zh-CN" b="1" i="1" smtClean="0">
                        <a:latin typeface="Cambria Math" panose="02040503050406030204" pitchFamily="18" charset="0"/>
                      </a:rPr>
                      <m:t>)</m:t>
                    </m:r>
                  </m:oMath>
                </a14:m>
                <a:r>
                  <a:rPr lang="en-US" altLang="zh-CN" dirty="0"/>
                  <a:t>.</a:t>
                </a:r>
              </a:p>
              <a:p>
                <a:pPr marL="0" indent="0">
                  <a:buNone/>
                </a:pPr>
                <a:r>
                  <a:rPr lang="zh-CN" altLang="en-US" dirty="0"/>
                  <a:t>解：</a:t>
                </a:r>
                <a:endParaRPr lang="en-US" altLang="zh-CN" dirty="0"/>
              </a:p>
              <a:p>
                <a:pPr marL="0" indent="0">
                  <a:buNone/>
                </a:pPr>
                <a:r>
                  <a:rPr lang="en-US" altLang="zh-CN" b="1" dirty="0"/>
                  <a:t>	</a:t>
                </a:r>
                <a14:m>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𝒋𝒇</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r>
                          <a:rPr lang="en-US" altLang="zh-CN" b="1" i="1" smtClean="0">
                            <a:latin typeface="Cambria Math" panose="02040503050406030204" pitchFamily="18" charset="0"/>
                          </a:rPr>
                          <m:t>𝒇𝑹𝑪</m:t>
                        </m:r>
                      </m:den>
                    </m:f>
                  </m:oMath>
                </a14:m>
                <a:endParaRPr lang="en-US" altLang="zh-CN" dirty="0"/>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𝒀</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𝒇</m:t>
                        </m:r>
                      </m:e>
                    </m:d>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𝑵</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𝒇</m:t>
                        </m:r>
                      </m:e>
                    </m:d>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𝑯</m:t>
                            </m:r>
                            <m:r>
                              <a:rPr lang="en-US" altLang="zh-CN" b="1" i="1" smtClean="0">
                                <a:latin typeface="Cambria Math" panose="02040503050406030204" pitchFamily="18" charset="0"/>
                              </a:rPr>
                              <m:t>(</m:t>
                            </m:r>
                            <m:r>
                              <a:rPr lang="en-US" altLang="zh-CN" b="1" i="1" smtClean="0">
                                <a:latin typeface="Cambria Math" panose="02040503050406030204" pitchFamily="18" charset="0"/>
                              </a:rPr>
                              <m:t>𝒋𝒇</m:t>
                            </m:r>
                            <m:r>
                              <a:rPr lang="en-US" altLang="zh-CN" b="1" i="1" smtClean="0">
                                <a:latin typeface="Cambria Math" panose="02040503050406030204" pitchFamily="18" charset="0"/>
                              </a:rPr>
                              <m:t>)</m:t>
                            </m:r>
                          </m:e>
                        </m:d>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num>
                      <m:den>
                        <m:r>
                          <a:rPr lang="en-US" altLang="zh-CN" i="1">
                            <a:latin typeface="Cambria Math" panose="02040503050406030204" pitchFamily="18" charset="0"/>
                          </a:rPr>
                          <m:t>𝟐</m:t>
                        </m:r>
                      </m:den>
                    </m:f>
                    <m:f>
                      <m:fPr>
                        <m:ctrlPr>
                          <a:rPr lang="en-US" altLang="zh-CN"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𝟏</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r>
                                  <a:rPr lang="en-US" altLang="zh-CN" b="1" i="1" smtClean="0">
                                    <a:latin typeface="Cambria Math" panose="02040503050406030204" pitchFamily="18" charset="0"/>
                                  </a:rPr>
                                  <m:t>𝒇𝑹𝑪</m:t>
                                </m:r>
                              </m:e>
                            </m:d>
                          </m:e>
                          <m:sup>
                            <m:r>
                              <a:rPr lang="en-US" altLang="zh-CN" b="1" i="1" smtClean="0">
                                <a:latin typeface="Cambria Math" panose="02040503050406030204" pitchFamily="18" charset="0"/>
                              </a:rPr>
                              <m:t>𝟐</m:t>
                            </m:r>
                          </m:sup>
                        </m:sSup>
                      </m:den>
                    </m:f>
                  </m:oMath>
                </a14:m>
                <a:endParaRPr lang="en-US" altLang="zh-CN" dirty="0"/>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𝒀</m:t>
                        </m:r>
                      </m:sub>
                    </m:sSub>
                    <m:d>
                      <m:dPr>
                        <m:ctrlPr>
                          <a:rPr lang="en-US" altLang="zh-CN" i="1" smtClean="0">
                            <a:latin typeface="Cambria Math" panose="02040503050406030204" pitchFamily="18" charset="0"/>
                          </a:rPr>
                        </m:ctrlPr>
                      </m:dPr>
                      <m:e>
                        <m:r>
                          <a:rPr lang="zh-CN" altLang="en-US" i="1" smtClean="0">
                            <a:latin typeface="Cambria Math" panose="02040503050406030204" pitchFamily="18" charset="0"/>
                          </a:rPr>
                          <m:t>𝝉</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num>
                      <m:den>
                        <m:r>
                          <a:rPr lang="en-US" altLang="zh-CN" b="1" i="1" smtClean="0">
                            <a:latin typeface="Cambria Math" panose="02040503050406030204" pitchFamily="18" charset="0"/>
                          </a:rPr>
                          <m:t>𝟒</m:t>
                        </m:r>
                        <m:r>
                          <a:rPr lang="en-US" altLang="zh-CN" b="1" i="1" smtClean="0">
                            <a:latin typeface="Cambria Math" panose="02040503050406030204" pitchFamily="18" charset="0"/>
                          </a:rPr>
                          <m:t>𝑹𝑪</m:t>
                        </m:r>
                      </m:den>
                    </m:f>
                    <m:r>
                      <a:rPr lang="en-US" altLang="zh-CN" b="1" i="1" smtClean="0">
                        <a:latin typeface="Cambria Math" panose="02040503050406030204" pitchFamily="18" charset="0"/>
                      </a:rPr>
                      <m:t>𝒆𝒙𝒑</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zh-CN" altLang="en-US" b="1" i="1" smtClean="0">
                                <a:latin typeface="Cambria Math" panose="02040503050406030204" pitchFamily="18" charset="0"/>
                              </a:rPr>
                              <m:t>𝝉</m:t>
                            </m:r>
                          </m:num>
                          <m:den>
                            <m:r>
                              <a:rPr lang="en-US" altLang="zh-CN" b="1" i="1" smtClean="0">
                                <a:latin typeface="Cambria Math" panose="02040503050406030204" pitchFamily="18" charset="0"/>
                              </a:rPr>
                              <m:t>𝑹𝑪</m:t>
                            </m:r>
                          </m:den>
                        </m:f>
                      </m:e>
                    </m:d>
                  </m:oMath>
                </a14:m>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BF8CDE3D-4C71-46AB-A8E8-5D318C57E5FF}"/>
                  </a:ext>
                </a:extLst>
              </p:cNvPr>
              <p:cNvSpPr>
                <a:spLocks noGrp="1" noRot="1" noChangeAspect="1" noMove="1" noResize="1" noEditPoints="1" noAdjustHandles="1" noChangeArrowheads="1" noChangeShapeType="1" noTextEdit="1"/>
              </p:cNvSpPr>
              <p:nvPr>
                <p:ph idx="1"/>
              </p:nvPr>
            </p:nvSpPr>
            <p:spPr>
              <a:xfrm>
                <a:off x="200892" y="1292469"/>
                <a:ext cx="8255722" cy="4406945"/>
              </a:xfrm>
              <a:blipFill>
                <a:blip r:embed="rId2"/>
                <a:stretch>
                  <a:fillRect l="-88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66AFA74-7145-4E45-83AF-A3772E0509BC}"/>
              </a:ext>
            </a:extLst>
          </p:cNvPr>
          <p:cNvPicPr>
            <a:picLocks noChangeAspect="1"/>
          </p:cNvPicPr>
          <p:nvPr/>
        </p:nvPicPr>
        <p:blipFill>
          <a:blip r:embed="rId3"/>
          <a:stretch>
            <a:fillRect/>
          </a:stretch>
        </p:blipFill>
        <p:spPr>
          <a:xfrm>
            <a:off x="6161602" y="2958566"/>
            <a:ext cx="2480310" cy="794385"/>
          </a:xfrm>
          <a:prstGeom prst="rect">
            <a:avLst/>
          </a:prstGeom>
        </p:spPr>
      </p:pic>
      <p:grpSp>
        <p:nvGrpSpPr>
          <p:cNvPr id="9" name="组合 8">
            <a:extLst>
              <a:ext uri="{FF2B5EF4-FFF2-40B4-BE49-F238E27FC236}">
                <a16:creationId xmlns:a16="http://schemas.microsoft.com/office/drawing/2014/main" id="{D869E085-E248-4D94-B58E-A0BA73D64762}"/>
              </a:ext>
            </a:extLst>
          </p:cNvPr>
          <p:cNvGrpSpPr/>
          <p:nvPr/>
        </p:nvGrpSpPr>
        <p:grpSpPr>
          <a:xfrm>
            <a:off x="6448325" y="4009260"/>
            <a:ext cx="1953027" cy="1582621"/>
            <a:chOff x="8856535" y="3860935"/>
            <a:chExt cx="2604037" cy="2110161"/>
          </a:xfrm>
        </p:grpSpPr>
        <p:grpSp>
          <p:nvGrpSpPr>
            <p:cNvPr id="7" name="组合 6">
              <a:extLst>
                <a:ext uri="{FF2B5EF4-FFF2-40B4-BE49-F238E27FC236}">
                  <a16:creationId xmlns:a16="http://schemas.microsoft.com/office/drawing/2014/main" id="{06CC5393-B1CA-4F3D-9F5F-5E11A0D62875}"/>
                </a:ext>
              </a:extLst>
            </p:cNvPr>
            <p:cNvGrpSpPr/>
            <p:nvPr/>
          </p:nvGrpSpPr>
          <p:grpSpPr>
            <a:xfrm>
              <a:off x="8856535" y="3860935"/>
              <a:ext cx="2443006" cy="2110161"/>
              <a:chOff x="8856535" y="3860935"/>
              <a:chExt cx="2443006" cy="2110161"/>
            </a:xfrm>
          </p:grpSpPr>
          <p:pic>
            <p:nvPicPr>
              <p:cNvPr id="4" name="图片 3">
                <a:extLst>
                  <a:ext uri="{FF2B5EF4-FFF2-40B4-BE49-F238E27FC236}">
                    <a16:creationId xmlns:a16="http://schemas.microsoft.com/office/drawing/2014/main" id="{9705D149-D84B-49F2-99D9-9FC10F794203}"/>
                  </a:ext>
                </a:extLst>
              </p:cNvPr>
              <p:cNvPicPr>
                <a:picLocks noChangeAspect="1"/>
              </p:cNvPicPr>
              <p:nvPr/>
            </p:nvPicPr>
            <p:blipFill>
              <a:blip r:embed="rId4"/>
              <a:stretch>
                <a:fillRect/>
              </a:stretch>
            </p:blipFill>
            <p:spPr>
              <a:xfrm>
                <a:off x="8856535" y="4087994"/>
                <a:ext cx="2353569" cy="1795281"/>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B9063F7-4AB9-45DD-A058-353BC9221D36}"/>
                      </a:ext>
                    </a:extLst>
                  </p:cNvPr>
                  <p:cNvSpPr txBox="1"/>
                  <p:nvPr/>
                </p:nvSpPr>
                <p:spPr>
                  <a:xfrm>
                    <a:off x="9694416" y="3860935"/>
                    <a:ext cx="8795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1200" i="1">
                                  <a:latin typeface="Cambria Math" panose="02040503050406030204" pitchFamily="18" charset="0"/>
                                </a:rPr>
                              </m:ctrlPr>
                            </m:dPr>
                            <m:e>
                              <m:r>
                                <a:rPr lang="en-US" altLang="zh-CN" sz="1200" i="1">
                                  <a:latin typeface="Cambria Math" panose="02040503050406030204" pitchFamily="18" charset="0"/>
                                </a:rPr>
                                <m:t>𝐻</m:t>
                              </m:r>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e>
                          </m:d>
                        </m:oMath>
                      </m:oMathPara>
                    </a14:m>
                    <a:endParaRPr lang="zh-CN" altLang="en-US" sz="1200" dirty="0"/>
                  </a:p>
                </p:txBody>
              </p:sp>
            </mc:Choice>
            <mc:Fallback xmlns="">
              <p:sp>
                <p:nvSpPr>
                  <p:cNvPr id="5" name="文本框 4">
                    <a:extLst>
                      <a:ext uri="{FF2B5EF4-FFF2-40B4-BE49-F238E27FC236}">
                        <a16:creationId xmlns:a16="http://schemas.microsoft.com/office/drawing/2014/main" id="{DB9063F7-4AB9-45DD-A058-353BC9221D36}"/>
                      </a:ext>
                    </a:extLst>
                  </p:cNvPr>
                  <p:cNvSpPr txBox="1">
                    <a:spLocks noRot="1" noChangeAspect="1" noMove="1" noResize="1" noEditPoints="1" noAdjustHandles="1" noChangeArrowheads="1" noChangeShapeType="1" noTextEdit="1"/>
                  </p:cNvSpPr>
                  <p:nvPr/>
                </p:nvSpPr>
                <p:spPr>
                  <a:xfrm>
                    <a:off x="9694416" y="3860935"/>
                    <a:ext cx="879557" cy="369332"/>
                  </a:xfrm>
                  <a:prstGeom prst="rect">
                    <a:avLst/>
                  </a:prstGeom>
                  <a:blipFill>
                    <a:blip r:embed="rId5"/>
                    <a:stretch>
                      <a:fillRect b="-1111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C062CD3-3119-4F08-9742-14E0160C581D}"/>
                  </a:ext>
                </a:extLst>
              </p:cNvPr>
              <p:cNvSpPr txBox="1"/>
              <p:nvPr/>
            </p:nvSpPr>
            <p:spPr>
              <a:xfrm>
                <a:off x="10995610" y="5601764"/>
                <a:ext cx="303931" cy="369332"/>
              </a:xfrm>
              <a:prstGeom prst="rect">
                <a:avLst/>
              </a:prstGeom>
              <a:noFill/>
            </p:spPr>
            <p:txBody>
              <a:bodyPr wrap="none" rtlCol="0">
                <a:spAutoFit/>
              </a:bodyPr>
              <a:lstStyle/>
              <a:p>
                <a:r>
                  <a:rPr lang="en-US" altLang="zh-CN" sz="1200" i="1" dirty="0">
                    <a:latin typeface="Times New Roman" panose="02020603050405020304" pitchFamily="18" charset="0"/>
                    <a:cs typeface="Times New Roman" panose="02020603050405020304" pitchFamily="18" charset="0"/>
                  </a:rPr>
                  <a:t>f</a:t>
                </a:r>
                <a:endParaRPr lang="zh-CN" altLang="en-US" sz="1200" i="1" dirty="0">
                  <a:latin typeface="Times New Roman" panose="02020603050405020304" pitchFamily="18" charset="0"/>
                  <a:cs typeface="Times New Roman" panose="02020603050405020304" pitchFamily="18" charset="0"/>
                </a:endParaRPr>
              </a:p>
            </p:txBody>
          </p:sp>
        </p:grpSp>
        <p:sp>
          <p:nvSpPr>
            <p:cNvPr id="8" name="文本框 7">
              <a:extLst>
                <a:ext uri="{FF2B5EF4-FFF2-40B4-BE49-F238E27FC236}">
                  <a16:creationId xmlns:a16="http://schemas.microsoft.com/office/drawing/2014/main" id="{418ADB79-059B-41E3-B569-2689A577DDA3}"/>
                </a:ext>
              </a:extLst>
            </p:cNvPr>
            <p:cNvSpPr txBox="1"/>
            <p:nvPr/>
          </p:nvSpPr>
          <p:spPr>
            <a:xfrm>
              <a:off x="10393613" y="4337048"/>
              <a:ext cx="1066959" cy="369332"/>
            </a:xfrm>
            <a:prstGeom prst="rect">
              <a:avLst/>
            </a:prstGeom>
            <a:noFill/>
          </p:spPr>
          <p:txBody>
            <a:bodyPr wrap="none" rtlCol="0">
              <a:spAutoFit/>
            </a:bodyPr>
            <a:lstStyle/>
            <a:p>
              <a:r>
                <a:rPr lang="zh-CN" altLang="en-US" sz="1200" dirty="0">
                  <a:latin typeface="楷体" panose="02010609060101010101" pitchFamily="49" charset="-122"/>
                  <a:ea typeface="楷体" panose="02010609060101010101" pitchFamily="49" charset="-122"/>
                </a:rPr>
                <a:t>半功率点</a:t>
              </a:r>
            </a:p>
          </p:txBody>
        </p:sp>
      </p:grpSp>
    </p:spTree>
    <p:extLst>
      <p:ext uri="{BB962C8B-B14F-4D97-AF65-F5344CB8AC3E}">
        <p14:creationId xmlns:p14="http://schemas.microsoft.com/office/powerpoint/2010/main" val="125611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EFA3039-ADD7-4D95-B9A8-2BADCA89E942}"/>
                  </a:ext>
                </a:extLst>
              </p:cNvPr>
              <p:cNvSpPr>
                <a:spLocks noGrp="1"/>
              </p:cNvSpPr>
              <p:nvPr>
                <p:ph idx="1"/>
              </p:nvPr>
            </p:nvSpPr>
            <p:spPr>
              <a:xfrm>
                <a:off x="663431" y="973814"/>
                <a:ext cx="7772400" cy="4815654"/>
              </a:xfrm>
            </p:spPr>
            <p:txBody>
              <a:bodyPr/>
              <a:lstStyle/>
              <a:p>
                <a:pPr marL="0" indent="0">
                  <a:lnSpc>
                    <a:spcPct val="150000"/>
                  </a:lnSpc>
                  <a:buNone/>
                </a:pPr>
                <a:r>
                  <a:rPr lang="en-US" altLang="zh-CN" dirty="0">
                    <a:solidFill>
                      <a:srgbClr val="FF0000"/>
                    </a:solidFill>
                  </a:rPr>
                  <a:t>5.2.3 </a:t>
                </a:r>
                <a:r>
                  <a:rPr lang="zh-CN" altLang="en-US" dirty="0">
                    <a:solidFill>
                      <a:srgbClr val="FF0000"/>
                    </a:solidFill>
                  </a:rPr>
                  <a:t>系统的等效噪声带宽</a:t>
                </a:r>
                <a:endParaRPr lang="en-US" altLang="zh-CN" dirty="0">
                  <a:solidFill>
                    <a:srgbClr val="FF0000"/>
                  </a:solidFill>
                </a:endParaRPr>
              </a:p>
              <a:p>
                <a:pPr>
                  <a:lnSpc>
                    <a:spcPct val="150000"/>
                  </a:lnSpc>
                  <a:buFont typeface="Wingdings" panose="05000000000000000000" pitchFamily="2" charset="2"/>
                  <a:buChar char="p"/>
                </a:pPr>
                <a:r>
                  <a:rPr lang="zh-CN" altLang="en-US" dirty="0"/>
                  <a:t>若</a:t>
                </a:r>
                <a:r>
                  <a:rPr lang="en-US" altLang="zh-CN" dirty="0"/>
                  <a:t>LTI</a:t>
                </a:r>
                <a:r>
                  <a:rPr lang="zh-CN" altLang="en-US" dirty="0"/>
                  <a:t>系统不是理想滤波器，而是一般的系统，系统输入为白噪声，则输出信号的功率为</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𝑷</m:t>
                          </m:r>
                        </m:e>
                        <m:sub>
                          <m:r>
                            <a:rPr lang="en-US" altLang="zh-CN" i="1">
                              <a:solidFill>
                                <a:schemeClr val="tx1"/>
                              </a:solidFill>
                              <a:latin typeface="Cambria Math" panose="02040503050406030204" pitchFamily="18" charset="0"/>
                            </a:rPr>
                            <m:t>𝒀</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𝒀</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𝟎</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𝒉</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𝟎</m:t>
                      </m:r>
                      <m:r>
                        <a:rPr lang="en-US" altLang="zh-CN" i="1">
                          <a:solidFill>
                            <a:schemeClr val="tx1"/>
                          </a:solidFill>
                          <a:latin typeface="Cambria Math" panose="02040503050406030204" pitchFamily="18" charset="0"/>
                        </a:rPr>
                        <m:t>)</m:t>
                      </m:r>
                    </m:oMath>
                  </m:oMathPara>
                </a14:m>
                <a:endParaRPr lang="en-US" altLang="zh-CN" dirty="0">
                  <a:solidFill>
                    <a:schemeClr val="tx1"/>
                  </a:solidFill>
                </a:endParaRPr>
              </a:p>
              <a:p>
                <a:pPr>
                  <a:lnSpc>
                    <a:spcPct val="150000"/>
                  </a:lnSpc>
                  <a:buFont typeface="Wingdings" panose="05000000000000000000" pitchFamily="2" charset="2"/>
                  <a:buChar char="p"/>
                </a:pPr>
                <a:r>
                  <a:rPr lang="zh-CN" altLang="en-US" dirty="0">
                    <a:solidFill>
                      <a:schemeClr val="tx1"/>
                    </a:solidFill>
                  </a:rPr>
                  <a:t>为了快速简便的计算改功率值，定义等效噪声带宽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m:rPr>
                            <m:nor/>
                          </m:rPr>
                          <a:rPr lang="en-US" altLang="zh-CN" dirty="0">
                            <a:solidFill>
                              <a:schemeClr val="tx1"/>
                            </a:solidFill>
                          </a:rPr>
                          <m:t>B</m:t>
                        </m:r>
                      </m:e>
                      <m:sub>
                        <m:r>
                          <a:rPr lang="en-US" altLang="zh-CN" b="1" i="1" smtClean="0">
                            <a:solidFill>
                              <a:schemeClr val="tx1"/>
                            </a:solidFill>
                            <a:latin typeface="Cambria Math" panose="02040503050406030204" pitchFamily="18" charset="0"/>
                          </a:rPr>
                          <m:t>𝑵</m:t>
                        </m:r>
                      </m:sub>
                    </m:sSub>
                  </m:oMath>
                </a14:m>
                <a:r>
                  <a:rPr lang="zh-CN" altLang="en-US" dirty="0">
                    <a:solidFill>
                      <a:schemeClr val="tx1"/>
                    </a:solidFill>
                  </a:rPr>
                  <a:t>，使得</a:t>
                </a:r>
                <a:endParaRPr lang="en-US" altLang="zh-CN"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𝑷</m:t>
                          </m:r>
                        </m:e>
                        <m:sub>
                          <m:r>
                            <a:rPr lang="en-US" altLang="zh-CN" b="1" i="1" smtClean="0">
                              <a:solidFill>
                                <a:schemeClr val="tx1"/>
                              </a:solidFill>
                              <a:latin typeface="Cambria Math" panose="02040503050406030204" pitchFamily="18" charset="0"/>
                            </a:rPr>
                            <m:t>𝒀</m:t>
                          </m:r>
                        </m:sub>
                      </m:sSub>
                      <m:r>
                        <a:rPr lang="en-US" altLang="zh-CN" b="1" i="1" smtClean="0">
                          <a:solidFill>
                            <a:schemeClr val="tx1"/>
                          </a:solidFill>
                          <a:latin typeface="Cambria Math" panose="02040503050406030204" pitchFamily="18" charset="0"/>
                        </a:rPr>
                        <m:t>=</m:t>
                      </m:r>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𝑵</m:t>
                          </m:r>
                        </m:e>
                        <m:sub>
                          <m:r>
                            <a:rPr lang="en-US" altLang="zh-CN" b="1" i="1" smtClean="0">
                              <a:solidFill>
                                <a:schemeClr val="tx1"/>
                              </a:solidFill>
                              <a:latin typeface="Cambria Math" panose="02040503050406030204" pitchFamily="18" charset="0"/>
                            </a:rPr>
                            <m:t>𝟎</m:t>
                          </m:r>
                        </m:sub>
                      </m:sSub>
                      <m:sSub>
                        <m:sSubPr>
                          <m:ctrlPr>
                            <a:rPr lang="en-US" altLang="zh-CN" b="1"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𝑩</m:t>
                          </m:r>
                        </m:e>
                        <m:sub>
                          <m:r>
                            <a:rPr lang="en-US" altLang="zh-CN" b="1" i="1" smtClean="0">
                              <a:solidFill>
                                <a:schemeClr val="tx1"/>
                              </a:solidFill>
                              <a:latin typeface="Cambria Math" panose="02040503050406030204" pitchFamily="18" charset="0"/>
                            </a:rPr>
                            <m:t>𝑵</m:t>
                          </m:r>
                        </m:sub>
                      </m:sSub>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𝑮</m:t>
                          </m:r>
                        </m:e>
                        <m:sub>
                          <m:r>
                            <a:rPr lang="en-US" altLang="zh-CN" b="1" i="1" smtClean="0">
                              <a:solidFill>
                                <a:schemeClr val="tx1"/>
                              </a:solidFill>
                              <a:latin typeface="Cambria Math" panose="02040503050406030204" pitchFamily="18" charset="0"/>
                            </a:rPr>
                            <m:t>𝟎</m:t>
                          </m:r>
                        </m:sub>
                      </m:sSub>
                    </m:oMath>
                  </m:oMathPara>
                </a14:m>
                <a:endParaRPr lang="en-US" altLang="zh-CN" b="1" dirty="0">
                  <a:solidFill>
                    <a:schemeClr val="tx1"/>
                  </a:solidFill>
                </a:endParaRPr>
              </a:p>
              <a:p>
                <a:pPr marL="0" indent="0">
                  <a:buNone/>
                </a:pPr>
                <a:r>
                  <a:rPr lang="zh-CN" altLang="en-US" dirty="0">
                    <a:solidFill>
                      <a:schemeClr val="tx1"/>
                    </a:solidFill>
                  </a:rPr>
                  <a:t>其中</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𝑮</m:t>
                        </m:r>
                      </m:e>
                      <m:sub>
                        <m:r>
                          <a:rPr lang="en-US" altLang="zh-CN" i="1">
                            <a:solidFill>
                              <a:schemeClr val="tx1"/>
                            </a:solidFill>
                            <a:latin typeface="Cambria Math" panose="02040503050406030204" pitchFamily="18" charset="0"/>
                          </a:rPr>
                          <m:t>𝟎</m:t>
                        </m:r>
                      </m:sub>
                    </m:sSub>
                    <m:r>
                      <a:rPr lang="en-US" altLang="zh-CN" b="1" i="1" smtClean="0">
                        <a:solidFill>
                          <a:schemeClr val="tx1"/>
                        </a:solidFill>
                        <a:latin typeface="Cambria Math" panose="02040503050406030204" pitchFamily="18" charset="0"/>
                      </a:rPr>
                      <m:t>=</m:t>
                    </m:r>
                    <m:sSup>
                      <m:sSupPr>
                        <m:ctrlPr>
                          <a:rPr lang="en-US" altLang="zh-CN" b="1" i="1" smtClean="0">
                            <a:solidFill>
                              <a:schemeClr val="tx1"/>
                            </a:solidFill>
                            <a:latin typeface="Cambria Math" panose="02040503050406030204" pitchFamily="18" charset="0"/>
                          </a:rPr>
                        </m:ctrlPr>
                      </m:sSupPr>
                      <m:e>
                        <m:d>
                          <m:dPr>
                            <m:begChr m:val="|"/>
                            <m:endChr m:val="|"/>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𝑯</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𝒋</m:t>
                            </m:r>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𝝎</m:t>
                                </m:r>
                              </m:e>
                              <m:sub>
                                <m:r>
                                  <a:rPr lang="en-US" altLang="zh-CN" b="1" i="1" smtClean="0">
                                    <a:solidFill>
                                      <a:schemeClr val="tx1"/>
                                    </a:solidFill>
                                    <a:latin typeface="Cambria Math" panose="02040503050406030204" pitchFamily="18" charset="0"/>
                                  </a:rPr>
                                  <m:t>𝟎</m:t>
                                </m:r>
                              </m:sub>
                            </m:sSub>
                          </m:e>
                        </m:d>
                      </m:e>
                      <m:sup>
                        <m:r>
                          <a:rPr lang="en-US" altLang="zh-CN" b="1" i="1" smtClean="0">
                            <a:solidFill>
                              <a:schemeClr val="tx1"/>
                            </a:solidFill>
                            <a:latin typeface="Cambria Math" panose="02040503050406030204" pitchFamily="18" charset="0"/>
                          </a:rPr>
                          <m:t>𝟐</m:t>
                        </m:r>
                      </m:sup>
                    </m:sSup>
                  </m:oMath>
                </a14:m>
                <a:r>
                  <a:rPr lang="zh-CN" altLang="en-US" dirty="0">
                    <a:solidFill>
                      <a:schemeClr val="tx1"/>
                    </a:solidFill>
                  </a:rPr>
                  <a:t>。</a:t>
                </a:r>
                <a:endParaRPr lang="en-US" altLang="zh-CN" dirty="0">
                  <a:solidFill>
                    <a:schemeClr val="tx1"/>
                  </a:solidFill>
                </a:endParaRPr>
              </a:p>
              <a:p>
                <a:pPr marL="0" indent="0">
                  <a:buNone/>
                </a:pPr>
                <a:r>
                  <a:rPr lang="zh-CN" altLang="en-US" dirty="0"/>
                  <a:t>从而</a:t>
                </a:r>
                <a:endParaRPr lang="en-US"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𝒀</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𝑮</m:t>
                              </m:r>
                            </m:e>
                            <m:sub>
                              <m:r>
                                <a:rPr lang="en-US" altLang="zh-CN" i="1">
                                  <a:latin typeface="Cambria Math" panose="02040503050406030204" pitchFamily="18" charset="0"/>
                                </a:rPr>
                                <m:t>𝟎</m:t>
                              </m:r>
                            </m:sub>
                          </m:sSub>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r>
                            <m:rPr>
                              <m:nor/>
                            </m:rPr>
                            <a:rPr lang="en-US" altLang="zh-CN" dirty="0"/>
                            <m:t> </m:t>
                          </m:r>
                        </m:num>
                        <m:den>
                          <m:r>
                            <a:rPr lang="en-US" altLang="zh-CN" b="1" i="1" smtClean="0">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𝑮</m:t>
                              </m:r>
                            </m:e>
                            <m:sub>
                              <m:r>
                                <a:rPr lang="en-US" altLang="zh-CN" i="1">
                                  <a:latin typeface="Cambria Math" panose="02040503050406030204" pitchFamily="18" charset="0"/>
                                </a:rPr>
                                <m:t>𝟎</m:t>
                              </m:r>
                            </m:sub>
                          </m:sSub>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b="1" i="1" smtClean="0">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i="1">
                                      <a:latin typeface="Cambria Math" panose="02040503050406030204" pitchFamily="18" charset="0"/>
                                    </a:rPr>
                                    <m:t>𝒋</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e>
                              </m:d>
                            </m:e>
                            <m:sup>
                              <m:r>
                                <a:rPr lang="en-US" altLang="zh-CN" i="1">
                                  <a:latin typeface="Cambria Math" panose="02040503050406030204" pitchFamily="18" charset="0"/>
                                </a:rPr>
                                <m:t>𝟐</m:t>
                              </m:r>
                            </m:sup>
                          </m:sSup>
                        </m:den>
                      </m:f>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i="1">
                                      <a:latin typeface="Cambria Math" panose="02040503050406030204" pitchFamily="18" charset="0"/>
                                    </a:rPr>
                                    <m:t>𝒋</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i="1">
                                          <a:latin typeface="Cambria Math" panose="02040503050406030204" pitchFamily="18" charset="0"/>
                                        </a:rPr>
                                        <m:t>𝟎</m:t>
                                      </m:r>
                                    </m:sub>
                                  </m:sSub>
                                </m:e>
                              </m:d>
                            </m:e>
                            <m:sup>
                              <m:r>
                                <a:rPr lang="en-US" altLang="zh-CN" i="1">
                                  <a:latin typeface="Cambria Math" panose="02040503050406030204" pitchFamily="18" charset="0"/>
                                </a:rPr>
                                <m:t>𝟐</m:t>
                              </m:r>
                            </m:sup>
                          </m:sSup>
                        </m:den>
                      </m:f>
                    </m:oMath>
                  </m:oMathPara>
                </a14:m>
                <a:endParaRPr lang="zh-CN" altLang="zh-CN" dirty="0">
                  <a:solidFill>
                    <a:srgbClr val="FF0000"/>
                  </a:solidFill>
                </a:endParaRPr>
              </a:p>
              <a:p>
                <a:pPr marL="0" indent="0">
                  <a:buNone/>
                </a:pPr>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4EFA3039-ADD7-4D95-B9A8-2BADCA89E942}"/>
                  </a:ext>
                </a:extLst>
              </p:cNvPr>
              <p:cNvSpPr>
                <a:spLocks noGrp="1" noRot="1" noChangeAspect="1" noMove="1" noResize="1" noEditPoints="1" noAdjustHandles="1" noChangeArrowheads="1" noChangeShapeType="1" noTextEdit="1"/>
              </p:cNvSpPr>
              <p:nvPr>
                <p:ph idx="1"/>
              </p:nvPr>
            </p:nvSpPr>
            <p:spPr>
              <a:xfrm>
                <a:off x="663431" y="973814"/>
                <a:ext cx="7772400" cy="4815654"/>
              </a:xfrm>
              <a:blipFill>
                <a:blip r:embed="rId2"/>
                <a:stretch>
                  <a:fillRect l="-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09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a:extLst>
                  <a:ext uri="{FF2B5EF4-FFF2-40B4-BE49-F238E27FC236}">
                    <a16:creationId xmlns:a16="http://schemas.microsoft.com/office/drawing/2014/main" id="{0D4FF3A5-B08B-43E8-B26B-077001F5E120}"/>
                  </a:ext>
                </a:extLst>
              </p:cNvPr>
              <p:cNvSpPr>
                <a:spLocks noGrp="1"/>
              </p:cNvSpPr>
              <p:nvPr>
                <p:ph type="title"/>
              </p:nvPr>
            </p:nvSpPr>
            <p:spPr>
              <a:xfrm>
                <a:off x="685799" y="907993"/>
                <a:ext cx="7772400" cy="857250"/>
              </a:xfrm>
            </p:spPr>
            <p:txBody>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oMath>
                </a14:m>
                <a:r>
                  <a:rPr lang="zh-CN" altLang="en-US" dirty="0"/>
                  <a:t>的含义</a:t>
                </a:r>
              </a:p>
            </p:txBody>
          </p:sp>
        </mc:Choice>
        <mc:Fallback xmlns="">
          <p:sp>
            <p:nvSpPr>
              <p:cNvPr id="3" name="标题 2">
                <a:extLst>
                  <a:ext uri="{FF2B5EF4-FFF2-40B4-BE49-F238E27FC236}">
                    <a16:creationId xmlns:a16="http://schemas.microsoft.com/office/drawing/2014/main" id="{0D4FF3A5-B08B-43E8-B26B-077001F5E120}"/>
                  </a:ext>
                </a:extLst>
              </p:cNvPr>
              <p:cNvSpPr>
                <a:spLocks noGrp="1" noRot="1" noChangeAspect="1" noMove="1" noResize="1" noEditPoints="1" noAdjustHandles="1" noChangeArrowheads="1" noChangeShapeType="1" noTextEdit="1"/>
              </p:cNvSpPr>
              <p:nvPr>
                <p:ph type="title"/>
              </p:nvPr>
            </p:nvSpPr>
            <p:spPr>
              <a:xfrm>
                <a:off x="685799" y="907993"/>
                <a:ext cx="7772400" cy="857250"/>
              </a:xfrm>
              <a:blipFill>
                <a:blip r:embed="rId2"/>
                <a:stretch>
                  <a:fillRect/>
                </a:stretch>
              </a:blipFill>
            </p:spPr>
            <p:txBody>
              <a:bodyPr/>
              <a:lstStyle/>
              <a:p>
                <a:r>
                  <a:rPr lang="zh-CN" altLang="en-US">
                    <a:noFill/>
                  </a:rPr>
                  <a:t> </a:t>
                </a:r>
              </a:p>
            </p:txBody>
          </p:sp>
        </mc:Fallback>
      </mc:AlternateContent>
      <p:pic>
        <p:nvPicPr>
          <p:cNvPr id="11" name="内容占位符 10">
            <a:extLst>
              <a:ext uri="{FF2B5EF4-FFF2-40B4-BE49-F238E27FC236}">
                <a16:creationId xmlns:a16="http://schemas.microsoft.com/office/drawing/2014/main" id="{CBEFF72A-EC40-4F62-8432-8D7FE593D46B}"/>
              </a:ext>
            </a:extLst>
          </p:cNvPr>
          <p:cNvPicPr>
            <a:picLocks noGrp="1" noChangeAspect="1"/>
          </p:cNvPicPr>
          <p:nvPr>
            <p:ph sz="half" idx="1"/>
          </p:nvPr>
        </p:nvPicPr>
        <p:blipFill>
          <a:blip r:embed="rId3"/>
          <a:stretch>
            <a:fillRect/>
          </a:stretch>
        </p:blipFill>
        <p:spPr>
          <a:xfrm>
            <a:off x="938215" y="1679863"/>
            <a:ext cx="2602271" cy="2177411"/>
          </a:xfrm>
          <a:prstGeom prst="rect">
            <a:avLst/>
          </a:prstGeom>
        </p:spPr>
      </p:pic>
      <p:pic>
        <p:nvPicPr>
          <p:cNvPr id="14" name="内容占位符 13">
            <a:extLst>
              <a:ext uri="{FF2B5EF4-FFF2-40B4-BE49-F238E27FC236}">
                <a16:creationId xmlns:a16="http://schemas.microsoft.com/office/drawing/2014/main" id="{216301FE-C76E-48ED-AD21-A1D064DE9505}"/>
              </a:ext>
            </a:extLst>
          </p:cNvPr>
          <p:cNvPicPr>
            <a:picLocks noGrp="1" noChangeAspect="1"/>
          </p:cNvPicPr>
          <p:nvPr>
            <p:ph sz="half" idx="2"/>
          </p:nvPr>
        </p:nvPicPr>
        <p:blipFill>
          <a:blip r:embed="rId4"/>
          <a:stretch>
            <a:fillRect/>
          </a:stretch>
        </p:blipFill>
        <p:spPr>
          <a:xfrm>
            <a:off x="4062169" y="1722553"/>
            <a:ext cx="4233240" cy="2177411"/>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848591" y="4298368"/>
                <a:ext cx="7446818" cy="2186817"/>
              </a:xfrm>
              <a:prstGeom prst="rect">
                <a:avLst/>
              </a:prstGeom>
            </p:spPr>
            <p:txBody>
              <a:bodyPr wrap="square">
                <a:spAutoFit/>
              </a:bodyPr>
              <a:lstStyle/>
              <a:p>
                <a:pPr>
                  <a:lnSpc>
                    <a:spcPct val="150000"/>
                  </a:lnSpc>
                </a:pPr>
                <a14:m>
                  <m:oMath xmlns:m="http://schemas.openxmlformats.org/officeDocument/2006/math">
                    <m:sSub>
                      <m:sSubPr>
                        <m:ctrlPr>
                          <a:rPr lang="en-US" altLang="zh-CN"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原：</m:t>
                        </m:r>
                        <m:r>
                          <a:rPr lang="en-US" altLang="zh-CN" b="1" i="1">
                            <a:solidFill>
                              <a:srgbClr val="FF0000"/>
                            </a:solidFill>
                            <a:latin typeface="Cambria Math" panose="02040503050406030204" pitchFamily="18" charset="0"/>
                          </a:rPr>
                          <m:t>𝑷</m:t>
                        </m:r>
                      </m:e>
                      <m:sub>
                        <m:r>
                          <a:rPr lang="en-US" altLang="zh-CN" b="1" i="1">
                            <a:solidFill>
                              <a:srgbClr val="FF0000"/>
                            </a:solidFill>
                            <a:latin typeface="Cambria Math" panose="02040503050406030204" pitchFamily="18" charset="0"/>
                          </a:rPr>
                          <m:t>𝒀</m:t>
                        </m:r>
                      </m:sub>
                    </m:sSub>
                    <m:r>
                      <a:rPr lang="en-US" altLang="zh-CN" b="1" i="1">
                        <a:solidFill>
                          <a:srgbClr val="FF0000"/>
                        </a:solidFill>
                        <a:latin typeface="Cambria Math" panose="02040503050406030204" pitchFamily="18" charset="0"/>
                      </a:rPr>
                      <m:t>=</m:t>
                    </m:r>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𝑹</m:t>
                        </m:r>
                      </m:e>
                      <m:sub>
                        <m:r>
                          <a:rPr lang="en-US" altLang="zh-CN" i="1">
                            <a:solidFill>
                              <a:srgbClr val="FF0000"/>
                            </a:solidFill>
                            <a:latin typeface="Cambria Math" panose="02040503050406030204" pitchFamily="18" charset="0"/>
                          </a:rPr>
                          <m:t>𝒀</m:t>
                        </m:r>
                      </m:sub>
                    </m:sSub>
                    <m:d>
                      <m:dPr>
                        <m:ctrlPr>
                          <a:rPr lang="en-US" altLang="zh-CN"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𝟎</m:t>
                        </m:r>
                      </m:e>
                    </m:d>
                    <m:r>
                      <a:rPr lang="en-US" altLang="zh-CN" b="1" i="1">
                        <a:solidFill>
                          <a:srgbClr val="FF0000"/>
                        </a:solidFill>
                        <a:latin typeface="Cambria Math" panose="02040503050406030204" pitchFamily="18" charset="0"/>
                      </a:rPr>
                      <m:t>=</m:t>
                    </m:r>
                    <m:f>
                      <m:fPr>
                        <m:ctrlPr>
                          <a:rPr lang="zh-CN" altLang="zh-CN" i="1">
                            <a:solidFill>
                              <a:srgbClr val="FF0000"/>
                            </a:solidFill>
                            <a:latin typeface="Cambria Math" panose="02040503050406030204" pitchFamily="18" charset="0"/>
                          </a:rPr>
                        </m:ctrlPr>
                      </m:fPr>
                      <m:num>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𝑵</m:t>
                            </m:r>
                          </m:e>
                          <m:sub>
                            <m:r>
                              <a:rPr lang="en-US" altLang="zh-CN" i="1">
                                <a:solidFill>
                                  <a:srgbClr val="FF0000"/>
                                </a:solidFill>
                                <a:latin typeface="Cambria Math" panose="02040503050406030204" pitchFamily="18" charset="0"/>
                              </a:rPr>
                              <m:t>𝟎</m:t>
                            </m:r>
                          </m:sub>
                        </m:sSub>
                      </m:num>
                      <m:den>
                        <m:r>
                          <a:rPr lang="en-US" altLang="zh-CN" i="1">
                            <a:solidFill>
                              <a:srgbClr val="FF0000"/>
                            </a:solidFill>
                            <a:latin typeface="Cambria Math" panose="02040503050406030204" pitchFamily="18" charset="0"/>
                          </a:rPr>
                          <m:t>𝟐</m:t>
                        </m:r>
                      </m:den>
                    </m:f>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𝑹</m:t>
                        </m:r>
                      </m:e>
                      <m:sub>
                        <m:r>
                          <a:rPr lang="en-US" altLang="zh-CN" b="1" i="1">
                            <a:solidFill>
                              <a:srgbClr val="FF0000"/>
                            </a:solidFill>
                            <a:latin typeface="Cambria Math" panose="02040503050406030204" pitchFamily="18" charset="0"/>
                          </a:rPr>
                          <m:t>𝒉</m:t>
                        </m:r>
                      </m:sub>
                    </m:sSub>
                    <m:d>
                      <m:dPr>
                        <m:ctrlPr>
                          <a:rPr lang="en-US" altLang="zh-CN" b="1"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𝟎</m:t>
                        </m:r>
                      </m:e>
                    </m:d>
                    <m:r>
                      <a:rPr lang="en-US" altLang="zh-CN" b="1">
                        <a:solidFill>
                          <a:srgbClr val="FF0000"/>
                        </a:solidFill>
                        <a:latin typeface="Cambria Math" panose="02040503050406030204" pitchFamily="18" charset="0"/>
                      </a:rPr>
                      <m:t>=</m:t>
                    </m:r>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𝟏</m:t>
                        </m:r>
                      </m:num>
                      <m:den>
                        <m:r>
                          <a:rPr lang="en-US" altLang="zh-CN" i="1">
                            <a:solidFill>
                              <a:srgbClr val="FF0000"/>
                            </a:solidFill>
                            <a:latin typeface="Cambria Math" panose="02040503050406030204" pitchFamily="18" charset="0"/>
                          </a:rPr>
                          <m:t>𝟐</m:t>
                        </m:r>
                        <m:r>
                          <a:rPr lang="zh-CN" altLang="en-US" i="1">
                            <a:solidFill>
                              <a:srgbClr val="FF0000"/>
                            </a:solidFill>
                            <a:latin typeface="Cambria Math" panose="02040503050406030204" pitchFamily="18" charset="0"/>
                          </a:rPr>
                          <m:t>𝝅</m:t>
                        </m:r>
                      </m:den>
                    </m:f>
                    <m:nary>
                      <m:naryPr>
                        <m:ctrlPr>
                          <a:rPr lang="en-US" altLang="zh-CN" b="1" i="1">
                            <a:solidFill>
                              <a:srgbClr val="FF0000"/>
                            </a:solidFill>
                            <a:latin typeface="Cambria Math" panose="02040503050406030204" pitchFamily="18" charset="0"/>
                          </a:rPr>
                        </m:ctrlPr>
                      </m:naryPr>
                      <m:sub>
                        <m:r>
                          <m:rPr>
                            <m:brk m:alnAt="23"/>
                          </m:rP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m:t>
                        </m:r>
                      </m:sub>
                      <m:sup>
                        <m:r>
                          <a:rPr lang="en-US" altLang="zh-CN" b="1" i="1">
                            <a:solidFill>
                              <a:srgbClr val="FF0000"/>
                            </a:solidFill>
                            <a:latin typeface="Cambria Math" panose="02040503050406030204" pitchFamily="18" charset="0"/>
                            <a:ea typeface="Cambria Math" panose="02040503050406030204" pitchFamily="18" charset="0"/>
                          </a:rPr>
                          <m:t>∞</m:t>
                        </m:r>
                      </m:sup>
                      <m:e>
                        <m:f>
                          <m:fPr>
                            <m:ctrlPr>
                              <a:rPr lang="zh-CN" altLang="zh-CN" i="1">
                                <a:solidFill>
                                  <a:srgbClr val="FF0000"/>
                                </a:solidFill>
                                <a:latin typeface="Cambria Math" panose="02040503050406030204" pitchFamily="18" charset="0"/>
                              </a:rPr>
                            </m:ctrlPr>
                          </m:fPr>
                          <m:num>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𝑵</m:t>
                                </m:r>
                              </m:e>
                              <m:sub>
                                <m:r>
                                  <a:rPr lang="en-US" altLang="zh-CN" i="1">
                                    <a:solidFill>
                                      <a:srgbClr val="FF0000"/>
                                    </a:solidFill>
                                    <a:latin typeface="Cambria Math" panose="02040503050406030204" pitchFamily="18" charset="0"/>
                                  </a:rPr>
                                  <m:t>𝟎</m:t>
                                </m:r>
                              </m:sub>
                            </m:sSub>
                          </m:num>
                          <m:den>
                            <m:r>
                              <a:rPr lang="en-US" altLang="zh-CN" i="1">
                                <a:solidFill>
                                  <a:srgbClr val="FF0000"/>
                                </a:solidFill>
                                <a:latin typeface="Cambria Math" panose="02040503050406030204" pitchFamily="18" charset="0"/>
                              </a:rPr>
                              <m:t>𝟐</m:t>
                            </m:r>
                          </m:den>
                        </m:f>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𝑯</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𝒋</m:t>
                        </m:r>
                        <m:r>
                          <a:rPr lang="en-US" altLang="zh-CN" i="1">
                            <a:solidFill>
                              <a:srgbClr val="FF0000"/>
                            </a:solidFill>
                            <a:latin typeface="Cambria Math" panose="02040503050406030204" pitchFamily="18" charset="0"/>
                          </a:rPr>
                          <m:t>𝝎</m:t>
                        </m:r>
                        <m:r>
                          <a:rPr lang="en-US" altLang="zh-CN" i="1">
                            <a:solidFill>
                              <a:srgbClr val="FF0000"/>
                            </a:solidFill>
                            <a:latin typeface="Cambria Math" panose="02040503050406030204" pitchFamily="18" charset="0"/>
                          </a:rPr>
                          <m:t>)</m:t>
                        </m:r>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m:t>
                            </m:r>
                          </m:e>
                          <m:sup>
                            <m:r>
                              <a:rPr lang="en-US" altLang="zh-CN" i="1">
                                <a:solidFill>
                                  <a:srgbClr val="FF0000"/>
                                </a:solidFill>
                                <a:latin typeface="Cambria Math" panose="02040503050406030204" pitchFamily="18" charset="0"/>
                              </a:rPr>
                              <m:t>𝟐</m:t>
                            </m:r>
                          </m:sup>
                        </m:sSup>
                        <m:r>
                          <a:rPr lang="en-US" altLang="zh-CN" b="1" i="1">
                            <a:solidFill>
                              <a:srgbClr val="FF0000"/>
                            </a:solidFill>
                            <a:latin typeface="Cambria Math" panose="02040503050406030204" pitchFamily="18" charset="0"/>
                          </a:rPr>
                          <m:t>𝒅</m:t>
                        </m:r>
                        <m:r>
                          <a:rPr lang="zh-CN" altLang="en-US" b="1" i="1">
                            <a:solidFill>
                              <a:srgbClr val="FF0000"/>
                            </a:solidFill>
                            <a:latin typeface="Cambria Math" panose="02040503050406030204" pitchFamily="18" charset="0"/>
                          </a:rPr>
                          <m:t>𝝎</m:t>
                        </m:r>
                      </m:e>
                    </m:nary>
                    <m:r>
                      <a:rPr lang="en-US" altLang="zh-CN" i="1">
                        <a:solidFill>
                          <a:srgbClr val="FF0000"/>
                        </a:solidFill>
                        <a:latin typeface="Cambria Math" panose="02040503050406030204" pitchFamily="18" charset="0"/>
                      </a:rPr>
                      <m:t>=</m:t>
                    </m:r>
                    <m:nary>
                      <m:naryPr>
                        <m:ctrlPr>
                          <a:rPr lang="en-US" altLang="zh-CN" i="1">
                            <a:solidFill>
                              <a:srgbClr val="FF0000"/>
                            </a:solidFill>
                            <a:latin typeface="Cambria Math" panose="02040503050406030204" pitchFamily="18" charset="0"/>
                          </a:rPr>
                        </m:ctrlPr>
                      </m:naryPr>
                      <m:sub>
                        <m:r>
                          <m:rPr>
                            <m:brk m:alnAt="23"/>
                          </m:rP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m:t>
                        </m:r>
                      </m:sub>
                      <m:sup>
                        <m:r>
                          <a:rPr lang="en-US" altLang="zh-CN" i="1">
                            <a:solidFill>
                              <a:srgbClr val="FF0000"/>
                            </a:solidFill>
                            <a:latin typeface="Cambria Math" panose="02040503050406030204" pitchFamily="18" charset="0"/>
                            <a:ea typeface="Cambria Math" panose="02040503050406030204" pitchFamily="18" charset="0"/>
                          </a:rPr>
                          <m:t>∞</m:t>
                        </m:r>
                      </m:sup>
                      <m:e>
                        <m:f>
                          <m:fPr>
                            <m:ctrlPr>
                              <a:rPr lang="zh-CN" altLang="zh-CN" i="1">
                                <a:solidFill>
                                  <a:srgbClr val="FF0000"/>
                                </a:solidFill>
                                <a:latin typeface="Cambria Math" panose="02040503050406030204" pitchFamily="18" charset="0"/>
                              </a:rPr>
                            </m:ctrlPr>
                          </m:fPr>
                          <m:num>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𝑵</m:t>
                                </m:r>
                              </m:e>
                              <m:sub>
                                <m:r>
                                  <a:rPr lang="en-US" altLang="zh-CN" i="1">
                                    <a:solidFill>
                                      <a:srgbClr val="FF0000"/>
                                    </a:solidFill>
                                    <a:latin typeface="Cambria Math" panose="02040503050406030204" pitchFamily="18" charset="0"/>
                                  </a:rPr>
                                  <m:t>𝟎</m:t>
                                </m:r>
                              </m:sub>
                            </m:sSub>
                          </m:num>
                          <m:den>
                            <m:r>
                              <a:rPr lang="en-US" altLang="zh-CN" i="1">
                                <a:solidFill>
                                  <a:srgbClr val="FF0000"/>
                                </a:solidFill>
                                <a:latin typeface="Cambria Math" panose="02040503050406030204" pitchFamily="18" charset="0"/>
                              </a:rPr>
                              <m:t>𝟐</m:t>
                            </m:r>
                          </m:den>
                        </m:f>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𝑯</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𝒋</m:t>
                        </m:r>
                        <m:r>
                          <a:rPr lang="en-US" altLang="zh-CN" b="1" i="1">
                            <a:solidFill>
                              <a:srgbClr val="FF0000"/>
                            </a:solidFill>
                            <a:latin typeface="Cambria Math" panose="02040503050406030204" pitchFamily="18" charset="0"/>
                          </a:rPr>
                          <m:t>𝒇</m:t>
                        </m:r>
                        <m:r>
                          <a:rPr lang="en-US" altLang="zh-CN" i="1">
                            <a:solidFill>
                              <a:srgbClr val="FF0000"/>
                            </a:solidFill>
                            <a:latin typeface="Cambria Math" panose="02040503050406030204" pitchFamily="18" charset="0"/>
                          </a:rPr>
                          <m:t>)</m:t>
                        </m:r>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m:t>
                            </m:r>
                          </m:e>
                          <m:sup>
                            <m:r>
                              <a:rPr lang="en-US" altLang="zh-CN" i="1">
                                <a:solidFill>
                                  <a:srgbClr val="FF0000"/>
                                </a:solidFill>
                                <a:latin typeface="Cambria Math" panose="02040503050406030204" pitchFamily="18" charset="0"/>
                              </a:rPr>
                              <m:t>𝟐</m:t>
                            </m:r>
                          </m:sup>
                        </m:sSup>
                        <m:r>
                          <a:rPr lang="en-US" altLang="zh-CN" i="1">
                            <a:solidFill>
                              <a:srgbClr val="FF0000"/>
                            </a:solidFill>
                            <a:latin typeface="Cambria Math" panose="02040503050406030204" pitchFamily="18" charset="0"/>
                          </a:rPr>
                          <m:t>𝒅</m:t>
                        </m:r>
                        <m:r>
                          <a:rPr lang="en-US" altLang="zh-CN" b="1" i="1">
                            <a:solidFill>
                              <a:srgbClr val="FF0000"/>
                            </a:solidFill>
                            <a:latin typeface="Cambria Math" panose="02040503050406030204" pitchFamily="18" charset="0"/>
                          </a:rPr>
                          <m:t>𝒇</m:t>
                        </m:r>
                      </m:e>
                    </m:nary>
                  </m:oMath>
                </a14:m>
                <a:r>
                  <a:rPr lang="zh-CN" altLang="en-US" dirty="0">
                    <a:solidFill>
                      <a:srgbClr val="FF0000"/>
                    </a:solidFill>
                  </a:rPr>
                  <a:t>，</a:t>
                </a:r>
                <a:endParaRPr lang="en-US" altLang="zh-CN" dirty="0">
                  <a:solidFill>
                    <a:srgbClr val="FF0000"/>
                  </a:solidFill>
                </a:endParaRPr>
              </a:p>
              <a:p>
                <a:pPr>
                  <a:lnSpc>
                    <a:spcPct val="150000"/>
                  </a:lnSpc>
                </a:pPr>
                <a:r>
                  <a:rPr lang="zh-CN" altLang="en-US" dirty="0">
                    <a:solidFill>
                      <a:srgbClr val="FF0000"/>
                    </a:solidFill>
                  </a:rPr>
                  <a:t>等效矩形：</a:t>
                </a:r>
                <a14:m>
                  <m:oMath xmlns:m="http://schemas.openxmlformats.org/officeDocument/2006/math">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a:solidFill>
                              <a:srgbClr val="FF0000"/>
                            </a:solidFill>
                            <a:latin typeface="Cambria Math" panose="02040503050406030204" pitchFamily="18" charset="0"/>
                          </a:rPr>
                          <m:t>𝒀</m:t>
                        </m:r>
                      </m:sub>
                    </m:sSub>
                    <m:r>
                      <a:rPr lang="en-US" altLang="zh-CN" b="1" i="1">
                        <a:solidFill>
                          <a:srgbClr val="FF0000"/>
                        </a:solidFill>
                        <a:latin typeface="Cambria Math" panose="02040503050406030204" pitchFamily="18" charset="0"/>
                      </a:rPr>
                      <m:t>=</m:t>
                    </m:r>
                    <m:f>
                      <m:fPr>
                        <m:ctrlPr>
                          <a:rPr lang="zh-CN" altLang="zh-CN" i="1">
                            <a:solidFill>
                              <a:srgbClr val="FF0000"/>
                            </a:solidFill>
                            <a:latin typeface="Cambria Math" panose="02040503050406030204" pitchFamily="18" charset="0"/>
                          </a:rPr>
                        </m:ctrlPr>
                      </m:fPr>
                      <m:num>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𝑵</m:t>
                            </m:r>
                          </m:e>
                          <m:sub>
                            <m:r>
                              <a:rPr lang="en-US" altLang="zh-CN" i="1">
                                <a:solidFill>
                                  <a:srgbClr val="FF0000"/>
                                </a:solidFill>
                                <a:latin typeface="Cambria Math" panose="02040503050406030204" pitchFamily="18" charset="0"/>
                              </a:rPr>
                              <m:t>𝟎</m:t>
                            </m:r>
                          </m:sub>
                        </m:sSub>
                      </m:num>
                      <m:den>
                        <m:r>
                          <a:rPr lang="en-US" altLang="zh-CN" i="1">
                            <a:solidFill>
                              <a:srgbClr val="FF0000"/>
                            </a:solidFill>
                            <a:latin typeface="Cambria Math" panose="02040503050406030204" pitchFamily="18" charset="0"/>
                          </a:rPr>
                          <m:t>𝟐</m:t>
                        </m:r>
                      </m:den>
                    </m:f>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2</m:t>
                        </m:r>
                        <m:r>
                          <a:rPr lang="en-US" altLang="zh-CN" i="1">
                            <a:solidFill>
                              <a:srgbClr val="FF0000"/>
                            </a:solidFill>
                            <a:latin typeface="Cambria Math" panose="02040503050406030204" pitchFamily="18" charset="0"/>
                          </a:rPr>
                          <m:t>𝑩</m:t>
                        </m:r>
                      </m:e>
                      <m:sub>
                        <m:r>
                          <a:rPr lang="en-US" altLang="zh-CN" b="1" i="1">
                            <a:solidFill>
                              <a:srgbClr val="FF0000"/>
                            </a:solidFill>
                            <a:latin typeface="Cambria Math" panose="02040503050406030204" pitchFamily="18" charset="0"/>
                          </a:rPr>
                          <m:t>𝑵</m:t>
                        </m:r>
                      </m:sub>
                    </m:sSub>
                    <m:r>
                      <a:rPr lang="en-US" altLang="zh-CN" b="1" i="1">
                        <a:solidFill>
                          <a:srgbClr val="FF0000"/>
                        </a:solidFill>
                        <a:latin typeface="Cambria Math" panose="02040503050406030204" pitchFamily="18" charset="0"/>
                      </a:rPr>
                      <m:t>∗</m:t>
                    </m:r>
                    <m:sSup>
                      <m:sSupPr>
                        <m:ctrlPr>
                          <a:rPr lang="en-US" altLang="zh-CN" b="1" i="1">
                            <a:solidFill>
                              <a:srgbClr val="FF0000"/>
                            </a:solidFill>
                            <a:latin typeface="Cambria Math" panose="02040503050406030204" pitchFamily="18" charset="0"/>
                          </a:rPr>
                        </m:ctrlPr>
                      </m:sSupPr>
                      <m:e>
                        <m:d>
                          <m:dPr>
                            <m:begChr m:val="|"/>
                            <m:endChr m:val="|"/>
                            <m:ctrlPr>
                              <a:rPr lang="en-US" altLang="zh-CN" b="1"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𝑯</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𝒋</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𝒇</m:t>
                                </m:r>
                              </m:e>
                              <m:sub>
                                <m:r>
                                  <a:rPr lang="en-US" altLang="zh-CN" b="1" i="1">
                                    <a:solidFill>
                                      <a:srgbClr val="FF0000"/>
                                    </a:solidFill>
                                    <a:latin typeface="Cambria Math" panose="02040503050406030204" pitchFamily="18" charset="0"/>
                                  </a:rPr>
                                  <m:t>𝟎</m:t>
                                </m:r>
                              </m:sub>
                            </m:sSub>
                          </m:e>
                        </m:d>
                      </m:e>
                      <m:sup>
                        <m:r>
                          <a:rPr lang="en-US" altLang="zh-CN" b="1" i="1">
                            <a:solidFill>
                              <a:srgbClr val="FF0000"/>
                            </a:solidFill>
                            <a:latin typeface="Cambria Math" panose="02040503050406030204" pitchFamily="18" charset="0"/>
                          </a:rPr>
                          <m:t>𝟐</m:t>
                        </m:r>
                      </m:sup>
                    </m:sSup>
                    <m:r>
                      <a:rPr lang="en-US" altLang="zh-CN">
                        <a:solidFill>
                          <a:srgbClr val="FF0000"/>
                        </a:solidFill>
                        <a:latin typeface="Cambria Math" panose="02040503050406030204" pitchFamily="18" charset="0"/>
                      </a:rPr>
                      <m:t>=</m:t>
                    </m:r>
                  </m:oMath>
                </a14:m>
                <a:r>
                  <a:rPr lang="zh-CN" altLang="en-US" dirty="0">
                    <a:solidFill>
                      <a:srgbClr val="FF0000"/>
                    </a:solidFill>
                  </a:rPr>
                  <a:t> </a:t>
                </a:r>
                <a14:m>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𝑵</m:t>
                        </m:r>
                      </m:e>
                      <m:sub>
                        <m:r>
                          <a:rPr lang="en-US" altLang="zh-CN" b="1" i="1">
                            <a:solidFill>
                              <a:srgbClr val="FF0000"/>
                            </a:solidFill>
                            <a:latin typeface="Cambria Math" panose="02040503050406030204" pitchFamily="18" charset="0"/>
                          </a:rPr>
                          <m:t>𝟎</m:t>
                        </m:r>
                      </m:sub>
                    </m:sSub>
                    <m:sSub>
                      <m:sSubPr>
                        <m:ctrlPr>
                          <a:rPr lang="en-US" altLang="zh-CN" b="1"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𝑩</m:t>
                        </m:r>
                      </m:e>
                      <m:sub>
                        <m:r>
                          <a:rPr lang="en-US" altLang="zh-CN" b="1" i="1">
                            <a:solidFill>
                              <a:srgbClr val="FF0000"/>
                            </a:solidFill>
                            <a:latin typeface="Cambria Math" panose="02040503050406030204" pitchFamily="18" charset="0"/>
                          </a:rPr>
                          <m:t>𝑵</m:t>
                        </m:r>
                      </m:sub>
                    </m:sSub>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𝑮</m:t>
                        </m:r>
                      </m:e>
                      <m:sub>
                        <m:r>
                          <a:rPr lang="en-US" altLang="zh-CN" b="1" i="1">
                            <a:solidFill>
                              <a:srgbClr val="FF0000"/>
                            </a:solidFill>
                            <a:latin typeface="Cambria Math" panose="02040503050406030204" pitchFamily="18" charset="0"/>
                          </a:rPr>
                          <m:t>𝟎</m:t>
                        </m:r>
                      </m:sub>
                    </m:sSub>
                  </m:oMath>
                </a14:m>
                <a:endParaRPr lang="en-US" altLang="zh-CN" dirty="0">
                  <a:solidFill>
                    <a:srgbClr val="FF0000"/>
                  </a:solidFill>
                </a:endParaRPr>
              </a:p>
              <a:p>
                <a:pPr>
                  <a:lnSpc>
                    <a:spcPct val="120000"/>
                  </a:lnSpc>
                </a:pPr>
                <a:endParaRPr lang="zh-CN" altLang="zh-CN" dirty="0">
                  <a:solidFill>
                    <a:srgbClr val="FF00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848591" y="4298368"/>
                <a:ext cx="7446818" cy="2186817"/>
              </a:xfrm>
              <a:prstGeom prst="rect">
                <a:avLst/>
              </a:prstGeom>
              <a:blipFill>
                <a:blip r:embed="rId5"/>
                <a:stretch>
                  <a:fillRect l="-5483" t="-15599"/>
                </a:stretch>
              </a:blipFill>
            </p:spPr>
            <p:txBody>
              <a:bodyPr/>
              <a:lstStyle/>
              <a:p>
                <a:r>
                  <a:rPr lang="zh-CN" altLang="en-US">
                    <a:noFill/>
                  </a:rPr>
                  <a:t> </a:t>
                </a:r>
              </a:p>
            </p:txBody>
          </p:sp>
        </mc:Fallback>
      </mc:AlternateContent>
      <p:sp>
        <p:nvSpPr>
          <p:cNvPr id="4" name="矩形 3"/>
          <p:cNvSpPr/>
          <p:nvPr/>
        </p:nvSpPr>
        <p:spPr bwMode="auto">
          <a:xfrm>
            <a:off x="150901" y="2604003"/>
            <a:ext cx="1080654" cy="457200"/>
          </a:xfrm>
          <a:prstGeom prst="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低通信号</a:t>
            </a:r>
          </a:p>
        </p:txBody>
      </p:sp>
      <p:sp>
        <p:nvSpPr>
          <p:cNvPr id="7" name="矩形 6"/>
          <p:cNvSpPr/>
          <p:nvPr/>
        </p:nvSpPr>
        <p:spPr bwMode="auto">
          <a:xfrm>
            <a:off x="7615037" y="2604003"/>
            <a:ext cx="1080654" cy="457200"/>
          </a:xfrm>
          <a:prstGeom prst="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带通信号</a:t>
            </a:r>
          </a:p>
        </p:txBody>
      </p:sp>
    </p:spTree>
    <p:extLst>
      <p:ext uri="{BB962C8B-B14F-4D97-AF65-F5344CB8AC3E}">
        <p14:creationId xmlns:p14="http://schemas.microsoft.com/office/powerpoint/2010/main" val="123963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E31E42BF-04F1-443E-8B73-621627CB8F96}"/>
                  </a:ext>
                </a:extLst>
              </p:cNvPr>
              <p:cNvSpPr>
                <a:spLocks noGrp="1"/>
              </p:cNvSpPr>
              <p:nvPr>
                <p:ph/>
              </p:nvPr>
            </p:nvSpPr>
            <p:spPr>
              <a:xfrm>
                <a:off x="457201" y="857250"/>
                <a:ext cx="8255000" cy="4662055"/>
              </a:xfrm>
            </p:spPr>
            <p:txBody>
              <a:bodyPr/>
              <a:lstStyle/>
              <a:p>
                <a:pPr marL="0" indent="0">
                  <a:lnSpc>
                    <a:spcPct val="150000"/>
                  </a:lnSpc>
                  <a:buNone/>
                </a:pPr>
                <a:r>
                  <a:rPr lang="zh-CN" altLang="en-US" dirty="0"/>
                  <a:t>例</a:t>
                </a:r>
                <a:r>
                  <a:rPr lang="en-US" altLang="zh-CN" dirty="0"/>
                  <a:t>:</a:t>
                </a:r>
                <a:r>
                  <a:rPr lang="zh-CN" altLang="en-US" dirty="0"/>
                  <a:t>求</a:t>
                </a:r>
                <a:r>
                  <a:rPr lang="en-US" altLang="zh-CN" dirty="0"/>
                  <a:t>RC</a:t>
                </a:r>
                <a:r>
                  <a:rPr lang="zh-CN" altLang="en-US" dirty="0"/>
                  <a:t>滤波器的等效噪声带宽。</a:t>
                </a:r>
                <a:endParaRPr lang="en-US" altLang="zh-CN" dirty="0"/>
              </a:p>
              <a:p>
                <a:pPr marL="0" indent="0">
                  <a:buNone/>
                </a:pPr>
                <a:r>
                  <a:rPr lang="zh-CN" altLang="en-US" dirty="0"/>
                  <a:t>解</a:t>
                </a:r>
                <a:r>
                  <a:rPr lang="en-US" altLang="zh-CN" dirty="0"/>
                  <a:t>: </a:t>
                </a:r>
                <a:endParaRPr lang="en-US" altLang="zh-C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𝑯</m:t>
                      </m:r>
                      <m:d>
                        <m:dPr>
                          <m:ctrlPr>
                            <a:rPr lang="en-US" altLang="zh-CN" i="1">
                              <a:latin typeface="Cambria Math" panose="02040503050406030204" pitchFamily="18" charset="0"/>
                            </a:rPr>
                          </m:ctrlPr>
                        </m:dPr>
                        <m:e>
                          <m:r>
                            <a:rPr lang="en-US" altLang="zh-CN" i="1">
                              <a:latin typeface="Cambria Math" panose="02040503050406030204" pitchFamily="18" charset="0"/>
                            </a:rPr>
                            <m:t>𝒇</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𝟐</m:t>
                          </m:r>
                          <m:r>
                            <a:rPr lang="zh-CN" altLang="en-US" i="1">
                              <a:latin typeface="Cambria Math" panose="02040503050406030204" pitchFamily="18" charset="0"/>
                            </a:rPr>
                            <m:t>𝝅</m:t>
                          </m:r>
                          <m:r>
                            <a:rPr lang="en-US" altLang="zh-CN" i="1">
                              <a:latin typeface="Cambria Math" panose="02040503050406030204" pitchFamily="18" charset="0"/>
                            </a:rPr>
                            <m:t>𝒇𝑹𝑪</m:t>
                          </m:r>
                        </m:den>
                      </m:f>
                    </m:oMath>
                  </m:oMathPara>
                </a14:m>
                <a:endParaRPr lang="en-US" altLang="zh-CN" i="1" dirty="0">
                  <a:latin typeface="Cambria Math" panose="02040503050406030204" pitchFamily="18" charset="0"/>
                </a:endParaRPr>
              </a:p>
              <a:p>
                <a:pPr marL="0" indent="0">
                  <a:lnSpc>
                    <a:spcPct val="150000"/>
                  </a:lnSpc>
                  <a:buNone/>
                </a:pP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𝑯</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a14:m>
                <a:r>
                  <a:rPr lang="zh-CN" altLang="en-US" i="1" dirty="0">
                    <a:latin typeface="Cambria Math" panose="02040503050406030204" pitchFamily="18" charset="0"/>
                  </a:rPr>
                  <a:t>，</a:t>
                </a:r>
                <a:r>
                  <a:rPr lang="zh-CN" altLang="en-US" dirty="0">
                    <a:latin typeface="Cambria Math" panose="02040503050406030204" pitchFamily="18" charset="0"/>
                  </a:rPr>
                  <a:t>故</a:t>
                </a:r>
                <a14:m>
                  <m:oMath xmlns:m="http://schemas.openxmlformats.org/officeDocument/2006/math">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𝑯</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e>
                        </m:d>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a14:m>
                <a:endParaRPr lang="en-US" altLang="zh-CN"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b="1" i="1" smtClean="0">
                              <a:latin typeface="Cambria Math" panose="02040503050406030204" pitchFamily="18" charset="0"/>
                            </a:rPr>
                            <m:t>𝒉</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en-US" altLang="zh-CN" i="1">
                              <a:latin typeface="Cambria Math" panose="02040503050406030204" pitchFamily="18" charset="0"/>
                            </a:rPr>
                            <m:t>𝑹𝑪</m:t>
                          </m:r>
                        </m:den>
                      </m:f>
                      <m:r>
                        <a:rPr lang="en-US" altLang="zh-CN" i="1">
                          <a:latin typeface="Cambria Math" panose="02040503050406030204" pitchFamily="18" charset="0"/>
                        </a:rPr>
                        <m:t>𝒆𝒙𝒑</m:t>
                      </m:r>
                      <m:d>
                        <m:dPr>
                          <m:ctrlPr>
                            <a:rPr lang="en-US" altLang="zh-CN" i="1">
                              <a:latin typeface="Cambria Math" panose="02040503050406030204" pitchFamily="18" charset="0"/>
                            </a:rPr>
                          </m:ctrlPr>
                        </m:dPr>
                        <m:e>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𝝉</m:t>
                              </m:r>
                            </m:num>
                            <m:den>
                              <m:r>
                                <a:rPr lang="en-US" altLang="zh-CN" i="1">
                                  <a:latin typeface="Cambria Math" panose="02040503050406030204" pitchFamily="18" charset="0"/>
                                </a:rPr>
                                <m:t>𝑹𝑪</m:t>
                              </m:r>
                            </m:den>
                          </m:f>
                        </m:e>
                      </m:d>
                    </m:oMath>
                  </m:oMathPara>
                </a14:m>
                <a:endParaRPr lang="en-US" altLang="zh-CN" dirty="0"/>
              </a:p>
              <a:p>
                <a:pPr marL="0" indent="0">
                  <a:lnSpc>
                    <a:spcPct val="150000"/>
                  </a:lnSpc>
                  <a:buNone/>
                </a:pPr>
                <a:r>
                  <a:rPr lang="zh-CN" altLang="en-US" dirty="0"/>
                  <a:t>故等效噪声带宽为：</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b="1" i="1" smtClean="0">
                                      <a:latin typeface="Cambria Math" panose="02040503050406030204" pitchFamily="18" charset="0"/>
                                    </a:rPr>
                                    <m:t>𝟎</m:t>
                                  </m:r>
                                </m:e>
                              </m:d>
                            </m:e>
                            <m:sup>
                              <m:r>
                                <a:rPr lang="en-US" altLang="zh-CN" i="1">
                                  <a:latin typeface="Cambria Math" panose="02040503050406030204" pitchFamily="18" charset="0"/>
                                </a:rPr>
                                <m:t>𝟐</m:t>
                              </m:r>
                            </m:sup>
                          </m:sSup>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𝟒</m:t>
                          </m:r>
                          <m:r>
                            <a:rPr lang="en-US" altLang="zh-CN" b="1" i="1" smtClean="0">
                              <a:latin typeface="Cambria Math" panose="02040503050406030204" pitchFamily="18" charset="0"/>
                            </a:rPr>
                            <m:t>𝑹𝑪</m:t>
                          </m:r>
                        </m:den>
                      </m:f>
                    </m:oMath>
                  </m:oMathPara>
                </a14:m>
                <a:endParaRPr lang="en-US" altLang="zh-CN" dirty="0"/>
              </a:p>
              <a:p>
                <a:pPr marL="0" indent="0">
                  <a:buNone/>
                </a:pPr>
                <a:endParaRPr lang="zh-CN" altLang="en-US" dirty="0"/>
              </a:p>
            </p:txBody>
          </p:sp>
        </mc:Choice>
        <mc:Fallback xmlns="">
          <p:sp>
            <p:nvSpPr>
              <p:cNvPr id="5" name="内容占位符 4">
                <a:extLst>
                  <a:ext uri="{FF2B5EF4-FFF2-40B4-BE49-F238E27FC236}">
                    <a16:creationId xmlns:a16="http://schemas.microsoft.com/office/drawing/2014/main" id="{E31E42BF-04F1-443E-8B73-621627CB8F96}"/>
                  </a:ext>
                </a:extLst>
              </p:cNvPr>
              <p:cNvSpPr>
                <a:spLocks noGrp="1" noRot="1" noChangeAspect="1" noMove="1" noResize="1" noEditPoints="1" noAdjustHandles="1" noChangeArrowheads="1" noChangeShapeType="1" noTextEdit="1"/>
              </p:cNvSpPr>
              <p:nvPr>
                <p:ph/>
              </p:nvPr>
            </p:nvSpPr>
            <p:spPr>
              <a:xfrm>
                <a:off x="457201" y="857250"/>
                <a:ext cx="8255000" cy="4662055"/>
              </a:xfrm>
              <a:blipFill>
                <a:blip r:embed="rId2"/>
                <a:stretch>
                  <a:fillRect l="-88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8FE382B-37ED-483F-99CC-212E5F7F2BC6}"/>
              </a:ext>
            </a:extLst>
          </p:cNvPr>
          <p:cNvPicPr>
            <a:picLocks noChangeAspect="1"/>
          </p:cNvPicPr>
          <p:nvPr/>
        </p:nvPicPr>
        <p:blipFill>
          <a:blip r:embed="rId3"/>
          <a:stretch>
            <a:fillRect/>
          </a:stretch>
        </p:blipFill>
        <p:spPr>
          <a:xfrm>
            <a:off x="6231890" y="1540358"/>
            <a:ext cx="2480310" cy="794385"/>
          </a:xfrm>
          <a:prstGeom prst="rect">
            <a:avLst/>
          </a:prstGeom>
        </p:spPr>
      </p:pic>
    </p:spTree>
    <p:extLst>
      <p:ext uri="{BB962C8B-B14F-4D97-AF65-F5344CB8AC3E}">
        <p14:creationId xmlns:p14="http://schemas.microsoft.com/office/powerpoint/2010/main" val="389198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44010C-0AEC-4402-B4B4-45494BAB8B6B}"/>
              </a:ext>
            </a:extLst>
          </p:cNvPr>
          <p:cNvSpPr>
            <a:spLocks noGrp="1"/>
          </p:cNvSpPr>
          <p:nvPr>
            <p:ph type="title"/>
          </p:nvPr>
        </p:nvSpPr>
        <p:spPr>
          <a:xfrm>
            <a:off x="448541" y="923277"/>
            <a:ext cx="7886700" cy="839744"/>
          </a:xfrm>
        </p:spPr>
        <p:txBody>
          <a:bodyPr/>
          <a:lstStyle/>
          <a:p>
            <a:r>
              <a:rPr lang="en-US" altLang="zh-CN" dirty="0"/>
              <a:t>5.3  </a:t>
            </a:r>
            <a:r>
              <a:rPr lang="zh-CN" altLang="en-US" dirty="0"/>
              <a:t>随机信号的带宽</a:t>
            </a:r>
          </a:p>
        </p:txBody>
      </p:sp>
      <p:sp>
        <p:nvSpPr>
          <p:cNvPr id="4" name="内容占位符 3">
            <a:extLst>
              <a:ext uri="{FF2B5EF4-FFF2-40B4-BE49-F238E27FC236}">
                <a16:creationId xmlns:a16="http://schemas.microsoft.com/office/drawing/2014/main" id="{3728F5BB-4E6A-411C-9357-5AAFB4031D3C}"/>
              </a:ext>
            </a:extLst>
          </p:cNvPr>
          <p:cNvSpPr>
            <a:spLocks noGrp="1"/>
          </p:cNvSpPr>
          <p:nvPr>
            <p:ph idx="1"/>
          </p:nvPr>
        </p:nvSpPr>
        <p:spPr>
          <a:xfrm>
            <a:off x="83126" y="1868972"/>
            <a:ext cx="2616665" cy="3662146"/>
          </a:xfrm>
        </p:spPr>
        <p:txBody>
          <a:bodyPr/>
          <a:lstStyle/>
          <a:p>
            <a:pPr>
              <a:buFont typeface="Wingdings" panose="05000000000000000000" pitchFamily="2" charset="2"/>
              <a:buChar char="l"/>
            </a:pPr>
            <a:r>
              <a:rPr lang="zh-CN" altLang="en-US" dirty="0"/>
              <a:t>信号频带宽度（带宽）用于描述功率所占据的有效频带范围。</a:t>
            </a:r>
            <a:endParaRPr lang="en-US" altLang="zh-CN" dirty="0"/>
          </a:p>
          <a:p>
            <a:pPr>
              <a:buFont typeface="Wingdings" panose="05000000000000000000" pitchFamily="2" charset="2"/>
              <a:buChar char="l"/>
            </a:pPr>
            <a:r>
              <a:rPr lang="zh-CN" altLang="en-US" dirty="0"/>
              <a:t>对应随机信号，由它的功率谱的非零情况来计算，度量方法很多种，如右图所示。</a:t>
            </a:r>
            <a:endParaRPr lang="en-US" altLang="zh-CN" dirty="0"/>
          </a:p>
          <a:p>
            <a:pPr marL="0" indent="0">
              <a:buNone/>
            </a:pPr>
            <a:endParaRPr lang="en-US" altLang="zh-CN" dirty="0"/>
          </a:p>
          <a:p>
            <a:pPr marL="0" indent="0">
              <a:buNone/>
            </a:pPr>
            <a:endParaRPr lang="zh-CN" altLang="en-US" dirty="0"/>
          </a:p>
        </p:txBody>
      </p:sp>
      <p:pic>
        <p:nvPicPr>
          <p:cNvPr id="12" name="图片 11">
            <a:extLst>
              <a:ext uri="{FF2B5EF4-FFF2-40B4-BE49-F238E27FC236}">
                <a16:creationId xmlns:a16="http://schemas.microsoft.com/office/drawing/2014/main" id="{3FBF9E58-85B4-47B2-A813-B94ADAE6B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60" y="1558288"/>
            <a:ext cx="5733032" cy="4081322"/>
          </a:xfrm>
          <a:prstGeom prst="rect">
            <a:avLst/>
          </a:prstGeom>
        </p:spPr>
      </p:pic>
    </p:spTree>
    <p:extLst>
      <p:ext uri="{BB962C8B-B14F-4D97-AF65-F5344CB8AC3E}">
        <p14:creationId xmlns:p14="http://schemas.microsoft.com/office/powerpoint/2010/main" val="378299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AEA8FE0D-94A9-48A1-9AEB-C24E8D3B3E38}"/>
                  </a:ext>
                </a:extLst>
              </p:cNvPr>
              <p:cNvSpPr>
                <a:spLocks noGrp="1"/>
              </p:cNvSpPr>
              <p:nvPr>
                <p:ph/>
              </p:nvPr>
            </p:nvSpPr>
            <p:spPr/>
            <p:txBody>
              <a:bodyPr/>
              <a:lstStyle/>
              <a:p>
                <a:pPr marL="0" indent="0">
                  <a:lnSpc>
                    <a:spcPct val="150000"/>
                  </a:lnSpc>
                  <a:buNone/>
                </a:pPr>
                <a:r>
                  <a:rPr lang="en-US" altLang="zh-CN" dirty="0">
                    <a:solidFill>
                      <a:srgbClr val="FF0000"/>
                    </a:solidFill>
                  </a:rPr>
                  <a:t>1</a:t>
                </a:r>
                <a:r>
                  <a:rPr lang="zh-CN" altLang="en-US" dirty="0">
                    <a:solidFill>
                      <a:srgbClr val="FF0000"/>
                    </a:solidFill>
                  </a:rPr>
                  <a:t>、矩形等效带宽</a:t>
                </a:r>
                <a:endParaRPr lang="en-US" altLang="zh-CN" dirty="0">
                  <a:solidFill>
                    <a:srgbClr val="FF0000"/>
                  </a:solidFill>
                </a:endParaRPr>
              </a:p>
              <a:p>
                <a:pPr marL="0" indent="0">
                  <a:buNone/>
                </a:pPr>
                <a:r>
                  <a:rPr lang="zh-CN" altLang="en-US" dirty="0"/>
                  <a:t>平稳随机信号</a:t>
                </a:r>
                <a14:m>
                  <m:oMath xmlns:m="http://schemas.openxmlformats.org/officeDocument/2006/math">
                    <m:r>
                      <a:rPr lang="en-US" altLang="zh-CN" b="1" i="1" smtClean="0">
                        <a:latin typeface="Cambria Math" panose="02040503050406030204" pitchFamily="18" charset="0"/>
                      </a:rPr>
                      <m:t>𝑿</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dirty="0"/>
                  <a:t> 的矩形等效带宽定义为</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𝒆𝒒</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den>
                      </m:f>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𝟎</m:t>
                          </m:r>
                        </m:sub>
                        <m:sup>
                          <m:r>
                            <a:rPr lang="en-US" altLang="zh-CN" b="1" i="1" smtClean="0">
                              <a:latin typeface="Cambria Math" panose="02040503050406030204" pitchFamily="18" charset="0"/>
                              <a:ea typeface="Cambria Math" panose="02040503050406030204" pitchFamily="18" charset="0"/>
                            </a:rPr>
                            <m:t>∞</m:t>
                          </m:r>
                        </m:sup>
                        <m:e>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𝑿</m:t>
                                  </m:r>
                                </m:sub>
                              </m:sSub>
                              <m:r>
                                <a:rPr lang="en-US" altLang="zh-CN" b="1" i="1" smtClean="0">
                                  <a:latin typeface="Cambria Math" panose="02040503050406030204" pitchFamily="18" charset="0"/>
                                </a:rPr>
                                <m:t>(</m:t>
                              </m:r>
                              <m:r>
                                <a:rPr lang="zh-CN" altLang="en-US" b="1" i="1" smtClean="0">
                                  <a:latin typeface="Cambria Math" panose="02040503050406030204" pitchFamily="18" charset="0"/>
                                </a:rPr>
                                <m:t>𝝎</m:t>
                              </m:r>
                              <m:r>
                                <a:rPr lang="en-US" altLang="zh-CN" b="1" i="1" smtClean="0">
                                  <a:latin typeface="Cambria Math" panose="02040503050406030204" pitchFamily="18" charset="0"/>
                                </a:rPr>
                                <m:t>)</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𝝎</m:t>
                                  </m:r>
                                </m:e>
                                <m:sub>
                                  <m:r>
                                    <a:rPr lang="en-US" altLang="zh-CN" b="1" i="1" smtClean="0">
                                      <a:latin typeface="Cambria Math" panose="02040503050406030204" pitchFamily="18" charset="0"/>
                                    </a:rPr>
                                    <m:t>𝟎</m:t>
                                  </m:r>
                                </m:sub>
                              </m:sSub>
                              <m:r>
                                <a:rPr lang="en-US" altLang="zh-CN" i="1">
                                  <a:latin typeface="Cambria Math" panose="02040503050406030204" pitchFamily="18" charset="0"/>
                                </a:rPr>
                                <m:t>)</m:t>
                              </m:r>
                            </m:den>
                          </m:f>
                          <m:r>
                            <a:rPr lang="en-US" altLang="zh-CN" b="1" i="1" smtClean="0">
                              <a:latin typeface="Cambria Math" panose="02040503050406030204" pitchFamily="18" charset="0"/>
                            </a:rPr>
                            <m:t>𝒅</m:t>
                          </m:r>
                          <m:r>
                            <a:rPr lang="zh-CN" altLang="en-US" b="1" i="1" smtClean="0">
                              <a:latin typeface="Cambria Math" panose="02040503050406030204" pitchFamily="18" charset="0"/>
                            </a:rPr>
                            <m:t>𝝎</m:t>
                          </m:r>
                        </m:e>
                      </m:nary>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𝑿</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m:t>
                          </m:r>
                        </m:den>
                      </m:f>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i="1">
                                  <a:latin typeface="Cambria Math" panose="02040503050406030204" pitchFamily="18" charset="0"/>
                                </a:rPr>
                                <m:t>𝟎</m:t>
                              </m:r>
                            </m:sub>
                          </m:sSub>
                          <m:r>
                            <a:rPr lang="en-US" altLang="zh-CN" i="1">
                              <a:latin typeface="Cambria Math" panose="02040503050406030204" pitchFamily="18" charset="0"/>
                            </a:rPr>
                            <m:t>)</m:t>
                          </m:r>
                        </m:den>
                      </m:f>
                    </m:oMath>
                  </m:oMathPara>
                </a14:m>
                <a:endParaRPr lang="en-US" altLang="zh-CN" dirty="0"/>
              </a:p>
              <a:p>
                <a:pPr marL="0" indent="0">
                  <a:lnSpc>
                    <a:spcPct val="150000"/>
                  </a:lnSpc>
                  <a:buNone/>
                </a:pPr>
                <a:r>
                  <a:rPr lang="en-US" altLang="zh-CN" dirty="0">
                    <a:solidFill>
                      <a:srgbClr val="FF0000"/>
                    </a:solidFill>
                  </a:rPr>
                  <a:t>2</a:t>
                </a:r>
                <a:r>
                  <a:rPr lang="zh-CN" altLang="en-US" dirty="0">
                    <a:solidFill>
                      <a:srgbClr val="FF0000"/>
                    </a:solidFill>
                  </a:rPr>
                  <a:t>、均方根带宽</a:t>
                </a:r>
                <a:endParaRPr lang="en-US" altLang="zh-CN" dirty="0">
                  <a:solidFill>
                    <a:srgbClr val="FF0000"/>
                  </a:solidFill>
                </a:endParaRPr>
              </a:p>
              <a:p>
                <a:pPr marL="0" indent="0">
                  <a:buNone/>
                </a:pPr>
                <a:r>
                  <a:rPr lang="zh-CN" altLang="en-US" dirty="0"/>
                  <a:t>平稳随机信号</a:t>
                </a:r>
                <a14:m>
                  <m:oMath xmlns:m="http://schemas.openxmlformats.org/officeDocument/2006/math">
                    <m:r>
                      <a:rPr lang="en-US" altLang="zh-CN" i="1">
                        <a:latin typeface="Cambria Math" panose="02040503050406030204" pitchFamily="18" charset="0"/>
                      </a:rPr>
                      <m:t>𝑿</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 的均方根带宽定义为</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𝒓𝒎𝒔</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den>
                      </m:f>
                      <m:sSup>
                        <m:sSupPr>
                          <m:ctrlPr>
                            <a:rPr lang="en-US" altLang="zh-CN" b="1" i="1" smtClean="0">
                              <a:latin typeface="Cambria Math" panose="02040503050406030204" pitchFamily="18" charset="0"/>
                            </a:rPr>
                          </m:ctrlPr>
                        </m:sSupPr>
                        <m:e>
                          <m:d>
                            <m:dPr>
                              <m:begChr m:val="["/>
                              <m:endChr m:val="]"/>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𝟎</m:t>
                                      </m:r>
                                    </m:sub>
                                    <m:sup>
                                      <m:r>
                                        <a:rPr lang="en-US" altLang="zh-CN" b="1" i="1" smtClean="0">
                                          <a:latin typeface="Cambria Math" panose="02040503050406030204" pitchFamily="18" charset="0"/>
                                          <a:ea typeface="Cambria Math" panose="02040503050406030204" pitchFamily="18" charset="0"/>
                                        </a:rPr>
                                        <m:t>∞</m:t>
                                      </m:r>
                                    </m:sup>
                                    <m:e>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𝝎</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zh-CN" altLang="en-US" b="1" i="1" smtClean="0">
                                                  <a:latin typeface="Cambria Math" panose="02040503050406030204" pitchFamily="18" charset="0"/>
                                                </a:rPr>
                                                <m:t>𝝎</m:t>
                                              </m:r>
                                            </m:e>
                                            <m:sub>
                                              <m:r>
                                                <a:rPr lang="en-US" altLang="zh-CN" b="1" i="1" smtClean="0">
                                                  <a:latin typeface="Cambria Math" panose="02040503050406030204" pitchFamily="18" charset="0"/>
                                                </a:rPr>
                                                <m:t>𝟎</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r>
                                        <a:rPr lang="en-US" altLang="zh-CN" b="1" i="1" smtClean="0">
                                          <a:latin typeface="Cambria Math" panose="02040503050406030204" pitchFamily="18" charset="0"/>
                                        </a:rPr>
                                        <m:t>𝒅</m:t>
                                      </m:r>
                                      <m:r>
                                        <a:rPr lang="zh-CN" altLang="en-US" b="1" i="1" smtClean="0">
                                          <a:latin typeface="Cambria Math" panose="02040503050406030204" pitchFamily="18" charset="0"/>
                                        </a:rPr>
                                        <m:t>𝝎</m:t>
                                      </m:r>
                                    </m:e>
                                  </m:nary>
                                </m:num>
                                <m:den>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𝟎</m:t>
                                      </m:r>
                                    </m:sub>
                                    <m:sup>
                                      <m:r>
                                        <a:rPr lang="en-US" altLang="zh-CN" b="1" i="1" smtClean="0">
                                          <a:latin typeface="Cambria Math" panose="02040503050406030204" pitchFamily="18" charset="0"/>
                                          <a:ea typeface="Cambria Math" panose="02040503050406030204" pitchFamily="18" charset="0"/>
                                        </a:rPr>
                                        <m:t>∞</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r>
                                        <a:rPr lang="en-US" altLang="zh-CN" i="1">
                                          <a:latin typeface="Cambria Math" panose="02040503050406030204" pitchFamily="18" charset="0"/>
                                        </a:rPr>
                                        <m:t>𝒅</m:t>
                                      </m:r>
                                      <m:r>
                                        <a:rPr lang="zh-CN" altLang="en-US" i="1">
                                          <a:latin typeface="Cambria Math" panose="02040503050406030204" pitchFamily="18" charset="0"/>
                                        </a:rPr>
                                        <m:t>𝝎</m:t>
                                      </m:r>
                                    </m:e>
                                  </m:nary>
                                </m:den>
                              </m:f>
                            </m:e>
                          </m:d>
                        </m:e>
                        <m:sup>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𝟎</m:t>
                                      </m:r>
                                    </m:sub>
                                    <m:sup>
                                      <m:r>
                                        <a:rPr lang="en-US" altLang="zh-CN" i="1">
                                          <a:latin typeface="Cambria Math" panose="02040503050406030204" pitchFamily="18" charset="0"/>
                                          <a:ea typeface="Cambria Math" panose="02040503050406030204" pitchFamily="18" charset="0"/>
                                        </a:rPr>
                                        <m:t>∞</m:t>
                                      </m:r>
                                    </m:sup>
                                    <m:e>
                                      <m:d>
                                        <m:dPr>
                                          <m:ctrlPr>
                                            <a:rPr lang="en-US" altLang="zh-CN" i="1">
                                              <a:latin typeface="Cambria Math" panose="02040503050406030204" pitchFamily="18" charset="0"/>
                                            </a:rPr>
                                          </m:ctrlPr>
                                        </m:dPr>
                                        <m:e>
                                          <m:r>
                                            <a:rPr lang="en-US" altLang="zh-CN" b="1" i="1" smtClean="0">
                                              <a:latin typeface="Cambria Math" panose="02040503050406030204" pitchFamily="18" charset="0"/>
                                            </a:rPr>
                                            <m:t>𝒇</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i="1">
                                                  <a:latin typeface="Cambria Math" panose="02040503050406030204" pitchFamily="18" charset="0"/>
                                                </a:rPr>
                                                <m:t>𝟎</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𝒇</m:t>
                                          </m:r>
                                        </m:e>
                                      </m:d>
                                      <m:r>
                                        <a:rPr lang="en-US" altLang="zh-CN" i="1">
                                          <a:latin typeface="Cambria Math" panose="02040503050406030204" pitchFamily="18" charset="0"/>
                                        </a:rPr>
                                        <m:t>𝒅</m:t>
                                      </m:r>
                                      <m:r>
                                        <a:rPr lang="en-US" altLang="zh-CN" b="1" i="1" smtClean="0">
                                          <a:latin typeface="Cambria Math" panose="02040503050406030204" pitchFamily="18" charset="0"/>
                                        </a:rPr>
                                        <m:t>𝒇</m:t>
                                      </m:r>
                                    </m:e>
                                  </m:nary>
                                </m:num>
                                <m:den>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𝟎</m:t>
                                      </m:r>
                                    </m:sub>
                                    <m:sup>
                                      <m:r>
                                        <a:rPr lang="en-US" altLang="zh-CN" i="1">
                                          <a:latin typeface="Cambria Math" panose="02040503050406030204" pitchFamily="18" charset="0"/>
                                          <a:ea typeface="Cambria Math" panose="02040503050406030204" pitchFamily="18" charset="0"/>
                                        </a:rPr>
                                        <m:t>∞</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𝒇</m:t>
                                          </m:r>
                                        </m:e>
                                      </m:d>
                                      <m:r>
                                        <a:rPr lang="en-US" altLang="zh-CN" i="1">
                                          <a:latin typeface="Cambria Math" panose="02040503050406030204" pitchFamily="18" charset="0"/>
                                        </a:rPr>
                                        <m:t>𝒅</m:t>
                                      </m:r>
                                      <m:r>
                                        <a:rPr lang="en-US" altLang="zh-CN" b="1" i="1" smtClean="0">
                                          <a:latin typeface="Cambria Math" panose="02040503050406030204" pitchFamily="18" charset="0"/>
                                        </a:rPr>
                                        <m:t>𝒇</m:t>
                                      </m:r>
                                    </m:e>
                                  </m:nary>
                                </m:den>
                              </m:f>
                            </m:e>
                          </m:d>
                        </m:e>
                        <m:sup>
                          <m:r>
                            <a:rPr lang="en-US" altLang="zh-CN" i="1">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𝟐</m:t>
                          </m:r>
                        </m:sup>
                      </m:sSup>
                    </m:oMath>
                  </m:oMathPara>
                </a14:m>
                <a:endParaRPr lang="en-US" altLang="zh-CN" dirty="0"/>
              </a:p>
              <a:p>
                <a:pPr marL="0" indent="0">
                  <a:buNone/>
                </a:pPr>
                <a:r>
                  <a:rPr lang="zh-CN" altLang="en-US" dirty="0"/>
                  <a:t>它是信号归一化功率谱密度的标准差。</a:t>
                </a:r>
              </a:p>
            </p:txBody>
          </p:sp>
        </mc:Choice>
        <mc:Fallback xmlns="">
          <p:sp>
            <p:nvSpPr>
              <p:cNvPr id="4" name="内容占位符 3">
                <a:extLst>
                  <a:ext uri="{FF2B5EF4-FFF2-40B4-BE49-F238E27FC236}">
                    <a16:creationId xmlns:a16="http://schemas.microsoft.com/office/drawing/2014/main" id="{AEA8FE0D-94A9-48A1-9AEB-C24E8D3B3E38}"/>
                  </a:ext>
                </a:extLst>
              </p:cNvPr>
              <p:cNvSpPr>
                <a:spLocks noGrp="1" noRot="1" noChangeAspect="1" noMove="1" noResize="1" noEditPoints="1" noAdjustHandles="1" noChangeArrowheads="1" noChangeShapeType="1" noTextEdit="1"/>
              </p:cNvSpPr>
              <p:nvPr>
                <p:ph/>
              </p:nvPr>
            </p:nvSpPr>
            <p:spPr>
              <a:blipFill>
                <a:blip r:embed="rId2"/>
                <a:stretch>
                  <a:fillRect l="-1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594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005C098-AC50-49D8-83C2-238735FC244B}"/>
                  </a:ext>
                </a:extLst>
              </p:cNvPr>
              <p:cNvSpPr>
                <a:spLocks noGrp="1"/>
              </p:cNvSpPr>
              <p:nvPr>
                <p:ph/>
              </p:nvPr>
            </p:nvSpPr>
            <p:spPr/>
            <p:txBody>
              <a:bodyPr/>
              <a:lstStyle/>
              <a:p>
                <a:pPr marL="0" indent="0">
                  <a:buNone/>
                </a:pPr>
                <a:r>
                  <a:rPr lang="zh-CN" altLang="en-US" dirty="0"/>
                  <a:t>例：求双极性二元传输信号</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𝒙</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nary>
                        <m:naryPr>
                          <m:chr m:val="∑"/>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𝒏</m:t>
                          </m:r>
                          <m:r>
                            <a:rPr lang="en-US" altLang="zh-CN" b="1" i="1" smtClean="0">
                              <a:latin typeface="Cambria Math" panose="02040503050406030204" pitchFamily="18" charset="0"/>
                            </a:rPr>
                            <m:t>=−∞</m:t>
                          </m:r>
                        </m:sub>
                        <m:sup>
                          <m:r>
                            <a:rPr lang="en-US" altLang="zh-CN" b="1" i="1" smtClean="0">
                              <a:latin typeface="Cambria Math" panose="02040503050406030204" pitchFamily="18" charset="0"/>
                              <a:ea typeface="Cambria Math" panose="02040503050406030204" pitchFamily="18" charset="0"/>
                            </a:rPr>
                            <m:t>∞</m:t>
                          </m:r>
                        </m:sup>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𝒏</m:t>
                              </m:r>
                            </m:sub>
                          </m:sSub>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𝒈</m:t>
                              </m:r>
                            </m:e>
                            <m:sub>
                              <m:r>
                                <a:rPr lang="en-US" altLang="zh-CN" b="1" i="1" smtClean="0">
                                  <a:latin typeface="Cambria Math" panose="02040503050406030204" pitchFamily="18" charset="0"/>
                                </a:rPr>
                                <m:t>𝑻</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en-US" altLang="zh-CN" b="1" i="1" smtClean="0">
                              <a:latin typeface="Cambria Math" panose="02040503050406030204" pitchFamily="18" charset="0"/>
                            </a:rPr>
                            <m:t>𝒏𝑻</m:t>
                          </m:r>
                          <m:r>
                            <a:rPr lang="en-US" altLang="zh-CN" b="1" i="1" smtClean="0">
                              <a:latin typeface="Cambria Math" panose="02040503050406030204" pitchFamily="18" charset="0"/>
                            </a:rPr>
                            <m:t>)</m:t>
                          </m:r>
                        </m:e>
                      </m:nary>
                    </m:oMath>
                  </m:oMathPara>
                </a14:m>
                <a:endParaRPr lang="en-US" altLang="zh-CN" dirty="0"/>
              </a:p>
              <a:p>
                <a:pPr marL="0" indent="0">
                  <a:buNone/>
                </a:pPr>
                <a:r>
                  <a:rPr lang="zh-CN" altLang="en-US" dirty="0"/>
                  <a:t>的矩形等效带宽。已知二进制序列</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𝒏</m:t>
                            </m:r>
                          </m:sub>
                        </m:sSub>
                      </m:e>
                    </m:d>
                  </m:oMath>
                </a14:m>
                <a:r>
                  <a:rPr lang="zh-CN" altLang="en-US" dirty="0"/>
                  <a:t>以相同概率（</a:t>
                </a:r>
                <a:r>
                  <a:rPr lang="en-US" altLang="zh-CN" dirty="0"/>
                  <a:t>0.5</a:t>
                </a:r>
                <a:r>
                  <a:rPr lang="zh-CN" altLang="en-US" dirty="0"/>
                  <a:t>）取值“</a:t>
                </a:r>
                <a:r>
                  <a:rPr lang="en-US" altLang="zh-CN" dirty="0"/>
                  <a:t>+1</a:t>
                </a:r>
                <a:r>
                  <a:rPr lang="zh-CN" altLang="en-US" dirty="0"/>
                  <a:t>”和“</a:t>
                </a:r>
                <a:r>
                  <a:rPr lang="en-US" altLang="zh-CN" dirty="0"/>
                  <a:t>-1</a:t>
                </a:r>
                <a:r>
                  <a:rPr lang="zh-CN" altLang="en-US" dirty="0"/>
                  <a:t>”。</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𝒈</m:t>
                          </m:r>
                        </m:e>
                        <m:sub>
                          <m:r>
                            <a:rPr lang="en-US" altLang="zh-CN" b="1" i="1" smtClean="0">
                              <a:latin typeface="Cambria Math" panose="02040503050406030204" pitchFamily="18" charset="0"/>
                            </a:rPr>
                            <m:t>𝑻</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r>
                                <a:rPr lang="en-US" altLang="zh-CN" b="1" i="1" smtClean="0">
                                  <a:latin typeface="Cambria Math" panose="02040503050406030204" pitchFamily="18" charset="0"/>
                                </a:rPr>
                                <m:t>𝟏</m:t>
                              </m:r>
                              <m:r>
                                <a:rPr lang="en-US" altLang="zh-CN" b="1" i="1" smtClean="0">
                                  <a:latin typeface="Cambria Math" panose="02040503050406030204" pitchFamily="18" charset="0"/>
                                </a:rPr>
                                <m:t>,  </m:t>
                              </m:r>
                              <m:r>
                                <a:rPr lang="en-US" altLang="zh-CN" b="1" i="1" smtClean="0">
                                  <a:latin typeface="Cambria Math" panose="02040503050406030204" pitchFamily="18" charset="0"/>
                                </a:rPr>
                                <m:t>𝟎</m:t>
                              </m:r>
                              <m:r>
                                <a:rPr lang="en-US" altLang="zh-CN" i="1">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𝒕</m:t>
                              </m:r>
                              <m:r>
                                <a:rPr lang="en-US" altLang="zh-CN" b="1" i="1" smtClean="0">
                                  <a:latin typeface="Cambria Math" panose="02040503050406030204" pitchFamily="18" charset="0"/>
                                  <a:ea typeface="Cambria Math" panose="02040503050406030204" pitchFamily="18" charset="0"/>
                                </a:rPr>
                                <m:t>&lt;</m:t>
                              </m:r>
                              <m:r>
                                <a:rPr lang="en-US" altLang="zh-CN" b="1" i="1" smtClean="0">
                                  <a:latin typeface="Cambria Math" panose="02040503050406030204" pitchFamily="18" charset="0"/>
                                  <a:ea typeface="Cambria Math" panose="02040503050406030204" pitchFamily="18" charset="0"/>
                                </a:rPr>
                                <m:t>𝑻</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zh-CN" altLang="en-US" i="1">
                                  <a:latin typeface="Cambria Math" panose="02040503050406030204" pitchFamily="18" charset="0"/>
                                </a:rPr>
                                <m:t>其他</m:t>
                              </m:r>
                            </m:e>
                          </m:eqArr>
                        </m:e>
                      </m:d>
                    </m:oMath>
                  </m:oMathPara>
                </a14:m>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E005C098-AC50-49D8-83C2-238735FC244B}"/>
                  </a:ext>
                </a:extLst>
              </p:cNvPr>
              <p:cNvSpPr>
                <a:spLocks noGrp="1" noRot="1" noChangeAspect="1" noMove="1" noResize="1" noEditPoints="1" noAdjustHandles="1" noChangeArrowheads="1" noChangeShapeType="1" noTextEdit="1"/>
              </p:cNvSpPr>
              <p:nvPr>
                <p:ph/>
              </p:nvPr>
            </p:nvSpPr>
            <p:spPr>
              <a:blipFill>
                <a:blip r:embed="rId2"/>
                <a:stretch>
                  <a:fillRect l="-1107" t="-1467" r="-94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6B9C4D8-6571-44CC-8531-388D9BAAA332}"/>
              </a:ext>
            </a:extLst>
          </p:cNvPr>
          <p:cNvPicPr>
            <a:picLocks noChangeAspect="1"/>
          </p:cNvPicPr>
          <p:nvPr/>
        </p:nvPicPr>
        <p:blipFill>
          <a:blip r:embed="rId3"/>
          <a:stretch>
            <a:fillRect/>
          </a:stretch>
        </p:blipFill>
        <p:spPr>
          <a:xfrm>
            <a:off x="3458930" y="4243653"/>
            <a:ext cx="1779029" cy="1394671"/>
          </a:xfrm>
          <a:prstGeom prst="rect">
            <a:avLst/>
          </a:prstGeom>
        </p:spPr>
      </p:pic>
    </p:spTree>
    <p:extLst>
      <p:ext uri="{BB962C8B-B14F-4D97-AF65-F5344CB8AC3E}">
        <p14:creationId xmlns:p14="http://schemas.microsoft.com/office/powerpoint/2010/main" val="51140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994CB6B-23FC-4595-8552-E5F2CDC53344}"/>
                  </a:ext>
                </a:extLst>
              </p:cNvPr>
              <p:cNvSpPr>
                <a:spLocks noGrp="1"/>
              </p:cNvSpPr>
              <p:nvPr>
                <p:ph/>
              </p:nvPr>
            </p:nvSpPr>
            <p:spPr>
              <a:xfrm>
                <a:off x="457201" y="1325440"/>
                <a:ext cx="8255000" cy="4249283"/>
              </a:xfrm>
            </p:spPr>
            <p:txBody>
              <a:bodyPr/>
              <a:lstStyle/>
              <a:p>
                <a:pPr marL="0" indent="0">
                  <a:buNone/>
                </a:pPr>
                <a:r>
                  <a:rPr lang="zh-CN" altLang="en-US" dirty="0"/>
                  <a:t>解：由书上式（</a:t>
                </a:r>
                <a:r>
                  <a:rPr lang="en-US" altLang="zh-CN" dirty="0"/>
                  <a:t>3.34</a:t>
                </a:r>
                <a:r>
                  <a:rPr lang="zh-CN" altLang="en-US" dirty="0"/>
                  <a:t>）有</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𝟏</m:t>
                              </m:r>
                              <m:r>
                                <a:rPr lang="en-US" altLang="zh-CN" i="1">
                                  <a:latin typeface="Cambria Math" panose="02040503050406030204" pitchFamily="18" charset="0"/>
                                </a:rPr>
                                <m:t>−</m:t>
                              </m:r>
                              <m:f>
                                <m:fPr>
                                  <m:ctrlPr>
                                    <a:rPr lang="en-US" altLang="zh-CN" i="1">
                                      <a:latin typeface="Cambria Math" panose="02040503050406030204" pitchFamily="18" charset="0"/>
                                    </a:rPr>
                                  </m:ctrlPr>
                                </m:fPr>
                                <m:num>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num>
                                <m:den>
                                  <m:r>
                                    <a:rPr lang="en-US" altLang="zh-CN" i="1">
                                      <a:latin typeface="Cambria Math" panose="02040503050406030204" pitchFamily="18" charset="0"/>
                                    </a:rPr>
                                    <m:t>𝑻</m:t>
                                  </m:r>
                                </m:den>
                              </m:f>
                              <m:r>
                                <a:rPr lang="en-US" altLang="zh-CN" i="1">
                                  <a:latin typeface="Cambria Math" panose="02040503050406030204" pitchFamily="18" charset="0"/>
                                </a:rPr>
                                <m:t>, </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𝑻</m:t>
                              </m:r>
                            </m:e>
                            <m:e>
                              <m:r>
                                <a:rPr lang="en-US" altLang="zh-CN" i="1">
                                  <a:latin typeface="Cambria Math" panose="02040503050406030204" pitchFamily="18" charset="0"/>
                                </a:rPr>
                                <m:t>𝟎</m:t>
                              </m:r>
                              <m:r>
                                <a:rPr lang="en-US" altLang="zh-CN" i="1">
                                  <a:latin typeface="Cambria Math" panose="02040503050406030204" pitchFamily="18" charset="0"/>
                                </a:rPr>
                                <m:t>,     </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&gt;</m:t>
                              </m:r>
                              <m:r>
                                <a:rPr lang="en-US" altLang="zh-CN" i="1">
                                  <a:latin typeface="Cambria Math" panose="02040503050406030204" pitchFamily="18" charset="0"/>
                                </a:rPr>
                                <m:t>𝑻</m:t>
                              </m:r>
                            </m:e>
                          </m:eqArr>
                        </m:e>
                      </m:d>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𝑿</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𝒇</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𝑻</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𝒔𝒊𝒏𝒄</m:t>
                          </m:r>
                        </m:e>
                        <m:sup>
                          <m:r>
                            <a:rPr lang="en-US" altLang="zh-CN" b="1" i="1" smtClean="0">
                              <a:latin typeface="Cambria Math" panose="02040503050406030204" pitchFamily="18" charset="0"/>
                            </a:rPr>
                            <m:t>𝟐</m:t>
                          </m:r>
                        </m:sup>
                      </m:sSup>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𝒇𝑻</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𝑻</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𝒔𝒊𝒏</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zh-CN" altLang="en-US" b="1" i="1" smtClean="0">
                              <a:latin typeface="Cambria Math" panose="02040503050406030204" pitchFamily="18" charset="0"/>
                            </a:rPr>
                            <m:t>𝝅</m:t>
                          </m:r>
                          <m:r>
                            <a:rPr lang="en-US" altLang="zh-CN" b="1" i="1" smtClean="0">
                              <a:latin typeface="Cambria Math" panose="02040503050406030204" pitchFamily="18" charset="0"/>
                            </a:rPr>
                            <m:t>𝒇𝑻</m:t>
                          </m:r>
                          <m:r>
                            <a:rPr lang="en-US" altLang="zh-CN" b="1" i="1" smtClean="0">
                              <a:latin typeface="Cambria Math" panose="02040503050406030204" pitchFamily="18" charset="0"/>
                            </a:rPr>
                            <m:t>)</m:t>
                          </m:r>
                        </m:num>
                        <m:den>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𝝅</m:t>
                                  </m:r>
                                  <m:r>
                                    <a:rPr lang="en-US" altLang="zh-CN" b="1" i="1" smtClean="0">
                                      <a:latin typeface="Cambria Math" panose="02040503050406030204" pitchFamily="18" charset="0"/>
                                    </a:rPr>
                                    <m:t>𝒇𝑻</m:t>
                                  </m:r>
                                </m:e>
                              </m:d>
                            </m:e>
                            <m:sup>
                              <m:r>
                                <a:rPr lang="en-US" altLang="zh-CN" b="1" i="1" smtClean="0">
                                  <a:latin typeface="Cambria Math" panose="02040503050406030204" pitchFamily="18" charset="0"/>
                                </a:rPr>
                                <m:t>𝟐</m:t>
                              </m:r>
                            </m:sup>
                          </m:sSup>
                        </m:den>
                      </m:f>
                    </m:oMath>
                  </m:oMathPara>
                </a14:m>
                <a:endParaRPr lang="en-US" altLang="zh-CN" dirty="0"/>
              </a:p>
              <a:p>
                <a:pPr marL="0" indent="0">
                  <a:lnSpc>
                    <a:spcPct val="150000"/>
                  </a:lnSpc>
                  <a:buNone/>
                </a:pPr>
                <a:r>
                  <a:rPr lang="zh-CN" altLang="en-US" dirty="0"/>
                  <a:t>因为</a:t>
                </a:r>
                <a14:m>
                  <m:oMath xmlns:m="http://schemas.openxmlformats.org/officeDocument/2006/math">
                    <m:r>
                      <a:rPr lang="en-US" altLang="zh-CN" i="1">
                        <a:latin typeface="Cambria Math" panose="02040503050406030204" pitchFamily="18" charset="0"/>
                      </a:rPr>
                      <m:t>𝒙</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为低通型信号，这里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𝟎</m:t>
                        </m:r>
                      </m:sub>
                    </m:sSub>
                  </m:oMath>
                </a14:m>
                <a:r>
                  <a:rPr lang="en-US" altLang="zh-CN" dirty="0"/>
                  <a:t>=0</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𝒆𝒒</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𝟎</m:t>
                              </m:r>
                            </m:sub>
                          </m:sSub>
                          <m:r>
                            <a:rPr lang="en-US" altLang="zh-CN" i="1">
                              <a:latin typeface="Cambria Math" panose="02040503050406030204" pitchFamily="18" charset="0"/>
                            </a:rPr>
                            <m:t>)</m:t>
                          </m:r>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en-US" altLang="zh-CN" b="1" i="1" smtClean="0">
                              <a:latin typeface="Cambria Math" panose="02040503050406030204" pitchFamily="18" charset="0"/>
                            </a:rPr>
                            <m:t>𝑻</m:t>
                          </m:r>
                        </m:den>
                      </m:f>
                    </m:oMath>
                  </m:oMathPara>
                </a14:m>
                <a:endParaRPr lang="en-US" altLang="zh-CN" dirty="0"/>
              </a:p>
              <a:p>
                <a:pPr marL="0" indent="0">
                  <a:lnSpc>
                    <a:spcPct val="150000"/>
                  </a:lnSpc>
                  <a:buNone/>
                </a:pPr>
                <a:r>
                  <a:rPr lang="zh-CN" altLang="en-US" dirty="0"/>
                  <a:t>正好为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𝒈</m:t>
                        </m:r>
                      </m:e>
                      <m:sub>
                        <m:r>
                          <a:rPr lang="en-US" altLang="zh-CN" i="1">
                            <a:latin typeface="Cambria Math" panose="02040503050406030204" pitchFamily="18" charset="0"/>
                          </a:rPr>
                          <m:t>𝑻</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的第一过零点带宽。</a:t>
                </a:r>
              </a:p>
            </p:txBody>
          </p:sp>
        </mc:Choice>
        <mc:Fallback xmlns="">
          <p:sp>
            <p:nvSpPr>
              <p:cNvPr id="2" name="内容占位符 1">
                <a:extLst>
                  <a:ext uri="{FF2B5EF4-FFF2-40B4-BE49-F238E27FC236}">
                    <a16:creationId xmlns:a16="http://schemas.microsoft.com/office/drawing/2014/main" id="{1994CB6B-23FC-4595-8552-E5F2CDC53344}"/>
                  </a:ext>
                </a:extLst>
              </p:cNvPr>
              <p:cNvSpPr>
                <a:spLocks noGrp="1" noRot="1" noChangeAspect="1" noMove="1" noResize="1" noEditPoints="1" noAdjustHandles="1" noChangeArrowheads="1" noChangeShapeType="1" noTextEdit="1"/>
              </p:cNvSpPr>
              <p:nvPr>
                <p:ph/>
              </p:nvPr>
            </p:nvSpPr>
            <p:spPr>
              <a:xfrm>
                <a:off x="457201" y="1325440"/>
                <a:ext cx="8255000" cy="4249283"/>
              </a:xfrm>
              <a:blipFill>
                <a:blip r:embed="rId2"/>
                <a:stretch>
                  <a:fillRect l="-886" t="-1291" b="-5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24986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446A97F-5593-4532-B6DA-FB3C0FF49087}"/>
              </a:ext>
            </a:extLst>
          </p:cNvPr>
          <p:cNvSpPr>
            <a:spLocks noGrp="1"/>
          </p:cNvSpPr>
          <p:nvPr>
            <p:ph type="title"/>
          </p:nvPr>
        </p:nvSpPr>
        <p:spPr/>
        <p:txBody>
          <a:bodyPr/>
          <a:lstStyle/>
          <a:p>
            <a:r>
              <a:rPr lang="en-US" altLang="zh-CN" dirty="0"/>
              <a:t>5.4  </a:t>
            </a:r>
            <a:r>
              <a:rPr lang="zh-CN" altLang="en-US" dirty="0"/>
              <a:t>噪声中的信号处理</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249E2124-51B9-48F1-B9C4-81F8DBD01FEC}"/>
                  </a:ext>
                </a:extLst>
              </p:cNvPr>
              <p:cNvSpPr>
                <a:spLocks noGrp="1"/>
              </p:cNvSpPr>
              <p:nvPr>
                <p:ph idx="1"/>
              </p:nvPr>
            </p:nvSpPr>
            <p:spPr>
              <a:xfrm>
                <a:off x="512686" y="2078831"/>
                <a:ext cx="8388860" cy="3345980"/>
              </a:xfrm>
            </p:spPr>
            <p:txBody>
              <a:bodyPr/>
              <a:lstStyle/>
              <a:p>
                <a:pPr marL="0" indent="0">
                  <a:buNone/>
                </a:pPr>
                <a:r>
                  <a:rPr lang="en-US" altLang="zh-CN" dirty="0">
                    <a:solidFill>
                      <a:srgbClr val="FF0000"/>
                    </a:solidFill>
                  </a:rPr>
                  <a:t>5.4.1  </a:t>
                </a:r>
                <a:r>
                  <a:rPr lang="zh-CN" altLang="en-US" dirty="0">
                    <a:solidFill>
                      <a:srgbClr val="FF0000"/>
                    </a:solidFill>
                  </a:rPr>
                  <a:t>平滑</a:t>
                </a:r>
                <a:endParaRPr lang="en-US" altLang="zh-CN" dirty="0">
                  <a:solidFill>
                    <a:srgbClr val="FF0000"/>
                  </a:solidFill>
                </a:endParaRPr>
              </a:p>
              <a:p>
                <a:pPr>
                  <a:buFont typeface="Wingdings" panose="05000000000000000000" pitchFamily="2" charset="2"/>
                  <a:buChar char="p"/>
                </a:pPr>
                <a:r>
                  <a:rPr lang="zh-CN" altLang="en-US" dirty="0"/>
                  <a:t>确定信号</a:t>
                </a:r>
                <a14:m>
                  <m:oMath xmlns:m="http://schemas.openxmlformats.org/officeDocument/2006/math">
                    <m:r>
                      <a:rPr lang="en-US" altLang="zh-CN" i="1">
                        <a:latin typeface="Cambria Math" panose="02040503050406030204" pitchFamily="18" charset="0"/>
                      </a:rPr>
                      <m:t>𝒙</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受到白噪声的影响，如何减轻影响，尽量从噪声中恢复出信号（如右下图所示）。</a:t>
                </a:r>
                <a:endParaRPr lang="en-US" altLang="zh-CN" dirty="0"/>
              </a:p>
              <a:p>
                <a:pPr>
                  <a:buFont typeface="Wingdings" panose="05000000000000000000" pitchFamily="2" charset="2"/>
                  <a:buChar char="p"/>
                </a:pPr>
                <a:r>
                  <a:rPr lang="zh-CN" altLang="en-US" dirty="0"/>
                  <a:t>通过设计</a:t>
                </a:r>
                <a:r>
                  <a:rPr lang="en-US" altLang="zh-CN" dirty="0"/>
                  <a:t>LTI</a:t>
                </a:r>
                <a:r>
                  <a:rPr lang="zh-CN" altLang="en-US" dirty="0"/>
                  <a:t>系统</a:t>
                </a:r>
                <a14:m>
                  <m:oMath xmlns:m="http://schemas.openxmlformats.org/officeDocument/2006/math">
                    <m:r>
                      <a:rPr lang="en-US" altLang="zh-CN" b="1" i="1" smtClean="0">
                        <a:latin typeface="Cambria Math" panose="02040503050406030204" pitchFamily="18" charset="0"/>
                      </a:rPr>
                      <m:t>𝒉</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en-US" altLang="zh-CN" dirty="0"/>
                  <a:t>, </a:t>
                </a:r>
                <a:r>
                  <a:rPr lang="zh-CN" altLang="en-US" dirty="0"/>
                  <a:t>使</a:t>
                </a:r>
                <a14:m>
                  <m:oMath xmlns:m="http://schemas.openxmlformats.org/officeDocument/2006/math">
                    <m:r>
                      <a:rPr lang="en-US" altLang="zh-CN" b="1" i="1" dirty="0" smtClean="0">
                        <a:latin typeface="Cambria Math" panose="02040503050406030204" pitchFamily="18" charset="0"/>
                      </a:rPr>
                      <m:t>𝒀</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𝒕</m:t>
                    </m:r>
                    <m:r>
                      <a:rPr lang="en-US" altLang="zh-CN" b="1" i="1" dirty="0" smtClean="0">
                        <a:latin typeface="Cambria Math" panose="02040503050406030204" pitchFamily="18" charset="0"/>
                      </a:rPr>
                      <m:t>)</m:t>
                    </m:r>
                  </m:oMath>
                </a14:m>
                <a:r>
                  <a:rPr lang="en-US" altLang="zh-CN" dirty="0"/>
                  <a:t> </a:t>
                </a:r>
                <a:r>
                  <a:rPr lang="zh-CN" altLang="en-US" dirty="0"/>
                  <a:t>尽量接近 </a:t>
                </a:r>
                <a14:m>
                  <m:oMath xmlns:m="http://schemas.openxmlformats.org/officeDocument/2006/math">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dirty="0"/>
                  <a:t>。图中</a:t>
                </a:r>
                <a14:m>
                  <m:oMath xmlns:m="http://schemas.openxmlformats.org/officeDocument/2006/math">
                    <m:r>
                      <a:rPr lang="en-US" altLang="zh-CN" b="1" i="1" smtClean="0">
                        <a:latin typeface="Cambria Math" panose="02040503050406030204" pitchFamily="18" charset="0"/>
                      </a:rPr>
                      <m:t>𝑵</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en-US" altLang="zh-CN" dirty="0"/>
                  <a:t> </a:t>
                </a:r>
                <a:r>
                  <a:rPr lang="zh-CN" altLang="en-US" dirty="0"/>
                  <a:t>为白噪声。</a:t>
                </a:r>
                <a:endParaRPr lang="en-US" altLang="zh-CN" dirty="0"/>
              </a:p>
              <a:p>
                <a:pPr>
                  <a:buFont typeface="Wingdings" panose="05000000000000000000" pitchFamily="2" charset="2"/>
                  <a:buChar char="p"/>
                </a:pP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的一个合理的选择是理想滤波器，</a:t>
                </a:r>
                <a:endParaRPr lang="en-US" altLang="zh-CN" dirty="0"/>
              </a:p>
              <a:p>
                <a:pPr marL="0" indent="0">
                  <a:buNone/>
                </a:pPr>
                <a:r>
                  <a:rPr lang="zh-CN" altLang="en-US" dirty="0"/>
                  <a:t>滤波器的带宽为信号带宽，从而最大</a:t>
                </a:r>
                <a:endParaRPr lang="en-US" altLang="zh-CN" dirty="0"/>
              </a:p>
              <a:p>
                <a:pPr marL="0" indent="0">
                  <a:buNone/>
                </a:pPr>
                <a:r>
                  <a:rPr lang="zh-CN" altLang="en-US" dirty="0"/>
                  <a:t>限度的滤除噪声。</a:t>
                </a:r>
                <a:endParaRPr lang="en-US" altLang="zh-CN" dirty="0"/>
              </a:p>
              <a:p>
                <a:pPr marL="0" indent="0">
                  <a:buNone/>
                </a:pPr>
                <a:endParaRPr lang="en-US" altLang="zh-CN" dirty="0"/>
              </a:p>
              <a:p>
                <a:pPr marL="0" indent="0">
                  <a:buNone/>
                </a:pPr>
                <a:endParaRPr lang="zh-CN" altLang="en-US" dirty="0"/>
              </a:p>
            </p:txBody>
          </p:sp>
        </mc:Choice>
        <mc:Fallback xmlns="">
          <p:sp>
            <p:nvSpPr>
              <p:cNvPr id="4" name="内容占位符 3">
                <a:extLst>
                  <a:ext uri="{FF2B5EF4-FFF2-40B4-BE49-F238E27FC236}">
                    <a16:creationId xmlns:a16="http://schemas.microsoft.com/office/drawing/2014/main" id="{249E2124-51B9-48F1-B9C4-81F8DBD01FEC}"/>
                  </a:ext>
                </a:extLst>
              </p:cNvPr>
              <p:cNvSpPr>
                <a:spLocks noGrp="1" noRot="1" noChangeAspect="1" noMove="1" noResize="1" noEditPoints="1" noAdjustHandles="1" noChangeArrowheads="1" noChangeShapeType="1" noTextEdit="1"/>
              </p:cNvSpPr>
              <p:nvPr>
                <p:ph idx="1"/>
              </p:nvPr>
            </p:nvSpPr>
            <p:spPr>
              <a:xfrm>
                <a:off x="512686" y="2078831"/>
                <a:ext cx="8388860" cy="3345980"/>
              </a:xfrm>
              <a:blipFill>
                <a:blip r:embed="rId2"/>
                <a:stretch>
                  <a:fillRect l="-872" t="-1639" r="-43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4499363C-9FB6-4B05-8F02-D0DF9166C142}"/>
              </a:ext>
            </a:extLst>
          </p:cNvPr>
          <p:cNvPicPr>
            <a:picLocks noChangeAspect="1"/>
          </p:cNvPicPr>
          <p:nvPr/>
        </p:nvPicPr>
        <p:blipFill>
          <a:blip r:embed="rId3"/>
          <a:stretch>
            <a:fillRect/>
          </a:stretch>
        </p:blipFill>
        <p:spPr>
          <a:xfrm>
            <a:off x="4868159" y="4013261"/>
            <a:ext cx="3826964" cy="1191273"/>
          </a:xfrm>
          <a:prstGeom prst="rect">
            <a:avLst/>
          </a:prstGeom>
        </p:spPr>
      </p:pic>
    </p:spTree>
    <p:extLst>
      <p:ext uri="{BB962C8B-B14F-4D97-AF65-F5344CB8AC3E}">
        <p14:creationId xmlns:p14="http://schemas.microsoft.com/office/powerpoint/2010/main" val="414146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06B2F291-998E-4DDA-A70A-215B02AC19CD}"/>
              </a:ext>
            </a:extLst>
          </p:cNvPr>
          <p:cNvSpPr>
            <a:spLocks noGrp="1"/>
          </p:cNvSpPr>
          <p:nvPr>
            <p:ph/>
          </p:nvPr>
        </p:nvSpPr>
        <p:spPr/>
        <p:txBody>
          <a:bodyPr/>
          <a:lstStyle/>
          <a:p>
            <a:pPr marL="0" indent="0">
              <a:buNone/>
            </a:pPr>
            <a:r>
              <a:rPr lang="zh-CN" altLang="en-US" dirty="0"/>
              <a:t>例：信号受到</a:t>
            </a:r>
            <a:r>
              <a:rPr lang="en-US" altLang="zh-CN" dirty="0"/>
              <a:t>10dB</a:t>
            </a:r>
            <a:r>
              <a:rPr lang="zh-CN" altLang="en-US" dirty="0"/>
              <a:t>噪声干扰，经过阻带衰减为</a:t>
            </a:r>
            <a:r>
              <a:rPr lang="en-US" altLang="zh-CN" dirty="0"/>
              <a:t>60dB</a:t>
            </a:r>
            <a:r>
              <a:rPr lang="zh-CN" altLang="en-US" dirty="0"/>
              <a:t>的低通滤波器。</a:t>
            </a:r>
          </a:p>
        </p:txBody>
      </p:sp>
      <p:pic>
        <p:nvPicPr>
          <p:cNvPr id="7" name="图片 6">
            <a:extLst>
              <a:ext uri="{FF2B5EF4-FFF2-40B4-BE49-F238E27FC236}">
                <a16:creationId xmlns:a16="http://schemas.microsoft.com/office/drawing/2014/main" id="{C6F6356C-D437-4544-B2A7-EF6DED9CD01E}"/>
              </a:ext>
            </a:extLst>
          </p:cNvPr>
          <p:cNvPicPr>
            <a:picLocks noChangeAspect="1"/>
          </p:cNvPicPr>
          <p:nvPr/>
        </p:nvPicPr>
        <p:blipFill>
          <a:blip r:embed="rId2"/>
          <a:stretch>
            <a:fillRect/>
          </a:stretch>
        </p:blipFill>
        <p:spPr>
          <a:xfrm flipH="1">
            <a:off x="196531" y="3714312"/>
            <a:ext cx="2634536" cy="1450828"/>
          </a:xfrm>
          <a:prstGeom prst="rect">
            <a:avLst/>
          </a:prstGeom>
        </p:spPr>
      </p:pic>
      <p:pic>
        <p:nvPicPr>
          <p:cNvPr id="8" name="图片 7">
            <a:extLst>
              <a:ext uri="{FF2B5EF4-FFF2-40B4-BE49-F238E27FC236}">
                <a16:creationId xmlns:a16="http://schemas.microsoft.com/office/drawing/2014/main" id="{1F1EEBEC-8A02-44AC-B02A-E189E9AB943A}"/>
              </a:ext>
            </a:extLst>
          </p:cNvPr>
          <p:cNvPicPr>
            <a:picLocks noChangeAspect="1"/>
          </p:cNvPicPr>
          <p:nvPr/>
        </p:nvPicPr>
        <p:blipFill>
          <a:blip r:embed="rId3"/>
          <a:stretch>
            <a:fillRect/>
          </a:stretch>
        </p:blipFill>
        <p:spPr>
          <a:xfrm>
            <a:off x="3068599" y="3714313"/>
            <a:ext cx="2610961" cy="1450827"/>
          </a:xfrm>
          <a:prstGeom prst="rect">
            <a:avLst/>
          </a:prstGeom>
        </p:spPr>
      </p:pic>
      <p:pic>
        <p:nvPicPr>
          <p:cNvPr id="9" name="图片 8">
            <a:extLst>
              <a:ext uri="{FF2B5EF4-FFF2-40B4-BE49-F238E27FC236}">
                <a16:creationId xmlns:a16="http://schemas.microsoft.com/office/drawing/2014/main" id="{B3B11089-91AB-45D1-905C-63D3C3AE9562}"/>
              </a:ext>
            </a:extLst>
          </p:cNvPr>
          <p:cNvPicPr>
            <a:picLocks noChangeAspect="1"/>
          </p:cNvPicPr>
          <p:nvPr/>
        </p:nvPicPr>
        <p:blipFill>
          <a:blip r:embed="rId4"/>
          <a:stretch>
            <a:fillRect/>
          </a:stretch>
        </p:blipFill>
        <p:spPr>
          <a:xfrm>
            <a:off x="6001583" y="1744045"/>
            <a:ext cx="2695284" cy="2021463"/>
          </a:xfrm>
          <a:prstGeom prst="rect">
            <a:avLst/>
          </a:prstGeom>
        </p:spPr>
      </p:pic>
      <p:pic>
        <p:nvPicPr>
          <p:cNvPr id="10" name="图片 9">
            <a:extLst>
              <a:ext uri="{FF2B5EF4-FFF2-40B4-BE49-F238E27FC236}">
                <a16:creationId xmlns:a16="http://schemas.microsoft.com/office/drawing/2014/main" id="{F73C1CF6-9031-4AC3-8D4E-3A0DB8867B03}"/>
              </a:ext>
            </a:extLst>
          </p:cNvPr>
          <p:cNvPicPr>
            <a:picLocks noChangeAspect="1"/>
          </p:cNvPicPr>
          <p:nvPr/>
        </p:nvPicPr>
        <p:blipFill>
          <a:blip r:embed="rId5"/>
          <a:stretch>
            <a:fillRect/>
          </a:stretch>
        </p:blipFill>
        <p:spPr>
          <a:xfrm>
            <a:off x="6039036" y="3712918"/>
            <a:ext cx="2749858" cy="1456622"/>
          </a:xfrm>
          <a:prstGeom prst="rect">
            <a:avLst/>
          </a:prstGeom>
        </p:spPr>
      </p:pic>
      <p:pic>
        <p:nvPicPr>
          <p:cNvPr id="11" name="图片 10">
            <a:extLst>
              <a:ext uri="{FF2B5EF4-FFF2-40B4-BE49-F238E27FC236}">
                <a16:creationId xmlns:a16="http://schemas.microsoft.com/office/drawing/2014/main" id="{792363F2-14A5-418E-AC95-EEC536330378}"/>
              </a:ext>
            </a:extLst>
          </p:cNvPr>
          <p:cNvPicPr>
            <a:picLocks noChangeAspect="1"/>
          </p:cNvPicPr>
          <p:nvPr/>
        </p:nvPicPr>
        <p:blipFill>
          <a:blip r:embed="rId6"/>
          <a:stretch>
            <a:fillRect/>
          </a:stretch>
        </p:blipFill>
        <p:spPr>
          <a:xfrm>
            <a:off x="153568" y="1744045"/>
            <a:ext cx="2760218" cy="2070164"/>
          </a:xfrm>
          <a:prstGeom prst="rect">
            <a:avLst/>
          </a:prstGeom>
        </p:spPr>
      </p:pic>
      <p:pic>
        <p:nvPicPr>
          <p:cNvPr id="12" name="图片 11">
            <a:extLst>
              <a:ext uri="{FF2B5EF4-FFF2-40B4-BE49-F238E27FC236}">
                <a16:creationId xmlns:a16="http://schemas.microsoft.com/office/drawing/2014/main" id="{600D7998-20A5-414E-8402-FCD44E01B3BB}"/>
              </a:ext>
            </a:extLst>
          </p:cNvPr>
          <p:cNvPicPr>
            <a:picLocks noChangeAspect="1"/>
          </p:cNvPicPr>
          <p:nvPr/>
        </p:nvPicPr>
        <p:blipFill>
          <a:blip r:embed="rId7"/>
          <a:stretch>
            <a:fillRect/>
          </a:stretch>
        </p:blipFill>
        <p:spPr>
          <a:xfrm>
            <a:off x="3044624" y="1744045"/>
            <a:ext cx="2695283" cy="2021463"/>
          </a:xfrm>
          <a:prstGeom prst="rect">
            <a:avLst/>
          </a:prstGeom>
        </p:spPr>
      </p:pic>
    </p:spTree>
    <p:extLst>
      <p:ext uri="{BB962C8B-B14F-4D97-AF65-F5344CB8AC3E}">
        <p14:creationId xmlns:p14="http://schemas.microsoft.com/office/powerpoint/2010/main" val="184982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8A557D49-8F75-4107-AED4-5ACED1B771A8}"/>
                  </a:ext>
                </a:extLst>
              </p:cNvPr>
              <p:cNvSpPr>
                <a:spLocks noGrp="1"/>
              </p:cNvSpPr>
              <p:nvPr>
                <p:ph/>
              </p:nvPr>
            </p:nvSpPr>
            <p:spPr/>
            <p:txBody>
              <a:bodyPr/>
              <a:lstStyle/>
              <a:p>
                <a:pPr marL="0" indent="0">
                  <a:lnSpc>
                    <a:spcPct val="150000"/>
                  </a:lnSpc>
                  <a:buNone/>
                </a:pPr>
                <a:r>
                  <a:rPr lang="en-US" altLang="zh-CN" dirty="0">
                    <a:solidFill>
                      <a:srgbClr val="FF0000"/>
                    </a:solidFill>
                  </a:rPr>
                  <a:t>5.4.2 </a:t>
                </a:r>
                <a:r>
                  <a:rPr lang="zh-CN" altLang="en-US" dirty="0">
                    <a:solidFill>
                      <a:srgbClr val="FF0000"/>
                    </a:solidFill>
                  </a:rPr>
                  <a:t>匹配滤波器</a:t>
                </a:r>
                <a:endParaRPr lang="en-US" altLang="zh-CN" dirty="0">
                  <a:solidFill>
                    <a:srgbClr val="FF0000"/>
                  </a:solidFill>
                </a:endParaRPr>
              </a:p>
              <a:p>
                <a:pPr>
                  <a:lnSpc>
                    <a:spcPct val="150000"/>
                  </a:lnSpc>
                  <a:buFont typeface="Wingdings" panose="05000000000000000000" pitchFamily="2" charset="2"/>
                  <a:buChar char="p"/>
                </a:pPr>
                <a:r>
                  <a:rPr lang="zh-CN" altLang="en-US" dirty="0"/>
                  <a:t>信号</a:t>
                </a:r>
                <a14:m>
                  <m:oMath xmlns:m="http://schemas.openxmlformats.org/officeDocument/2006/math">
                    <m:r>
                      <a:rPr lang="en-US" altLang="zh-CN" i="1">
                        <a:latin typeface="Cambria Math" panose="02040503050406030204" pitchFamily="18" charset="0"/>
                      </a:rPr>
                      <m:t>𝒙</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在信道中传输，叠加高斯白噪声后，到达接收端被接收滤波器</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平滑，输出</a:t>
                </a:r>
                <a14:m>
                  <m:oMath xmlns:m="http://schemas.openxmlformats.org/officeDocument/2006/math">
                    <m:r>
                      <a:rPr lang="en-US" altLang="zh-CN" i="1" dirty="0">
                        <a:latin typeface="Cambria Math" panose="02040503050406030204" pitchFamily="18" charset="0"/>
                      </a:rPr>
                      <m:t>𝒀</m:t>
                    </m:r>
                    <m:r>
                      <a:rPr lang="en-US" altLang="zh-CN" i="1" dirty="0">
                        <a:latin typeface="Cambria Math" panose="02040503050406030204" pitchFamily="18" charset="0"/>
                      </a:rPr>
                      <m:t>(</m:t>
                    </m:r>
                    <m:r>
                      <a:rPr lang="en-US" altLang="zh-CN" i="1" dirty="0">
                        <a:latin typeface="Cambria Math" panose="02040503050406030204" pitchFamily="18" charset="0"/>
                      </a:rPr>
                      <m:t>𝒕</m:t>
                    </m:r>
                    <m:r>
                      <a:rPr lang="en-US" altLang="zh-CN" i="1" dirty="0">
                        <a:latin typeface="Cambria Math" panose="02040503050406030204" pitchFamily="18" charset="0"/>
                      </a:rPr>
                      <m:t>)</m:t>
                    </m:r>
                  </m:oMath>
                </a14:m>
                <a:r>
                  <a:rPr lang="en-US" altLang="zh-CN" dirty="0"/>
                  <a:t> </a:t>
                </a:r>
                <a:r>
                  <a:rPr lang="zh-CN" altLang="en-US" dirty="0"/>
                  <a:t>。若能使</a:t>
                </a:r>
                <a14:m>
                  <m:oMath xmlns:m="http://schemas.openxmlformats.org/officeDocument/2006/math">
                    <m:r>
                      <a:rPr lang="en-US" altLang="zh-CN" i="1" dirty="0">
                        <a:latin typeface="Cambria Math" panose="02040503050406030204" pitchFamily="18" charset="0"/>
                      </a:rPr>
                      <m:t>𝒀</m:t>
                    </m:r>
                    <m:r>
                      <a:rPr lang="en-US" altLang="zh-CN" i="1" dirty="0">
                        <a:latin typeface="Cambria Math" panose="02040503050406030204" pitchFamily="18" charset="0"/>
                      </a:rPr>
                      <m:t>(</m:t>
                    </m:r>
                    <m:r>
                      <a:rPr lang="en-US" altLang="zh-CN" i="1" dirty="0">
                        <a:latin typeface="Cambria Math" panose="02040503050406030204" pitchFamily="18" charset="0"/>
                      </a:rPr>
                      <m:t>𝒕</m:t>
                    </m:r>
                    <m:r>
                      <a:rPr lang="en-US" altLang="zh-CN" i="1" dirty="0">
                        <a:latin typeface="Cambria Math" panose="02040503050406030204" pitchFamily="18" charset="0"/>
                      </a:rPr>
                      <m:t>)</m:t>
                    </m:r>
                  </m:oMath>
                </a14:m>
                <a:r>
                  <a:rPr lang="en-US" altLang="zh-CN" dirty="0"/>
                  <a:t> </a:t>
                </a:r>
                <a:r>
                  <a:rPr lang="zh-CN" altLang="en-US" dirty="0"/>
                  <a:t>在某个时刻</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𝒕</m:t>
                        </m:r>
                      </m:e>
                      <m:sub>
                        <m:r>
                          <a:rPr lang="en-US" altLang="zh-CN" b="1" i="1" smtClean="0">
                            <a:latin typeface="Cambria Math" panose="02040503050406030204" pitchFamily="18" charset="0"/>
                          </a:rPr>
                          <m:t>𝟎</m:t>
                        </m:r>
                      </m:sub>
                    </m:sSub>
                  </m:oMath>
                </a14:m>
                <a:r>
                  <a:rPr lang="zh-CN" altLang="en-US" dirty="0"/>
                  <a:t>的信噪比最大，那么</a:t>
                </a:r>
                <a14:m>
                  <m:oMath xmlns:m="http://schemas.openxmlformats.org/officeDocument/2006/math">
                    <m:r>
                      <a:rPr lang="en-US" altLang="zh-CN" i="1">
                        <a:latin typeface="Cambria Math" panose="02040503050406030204" pitchFamily="18" charset="0"/>
                      </a:rPr>
                      <m:t>𝒉</m:t>
                    </m:r>
                    <m:r>
                      <a:rPr lang="en-US" altLang="zh-CN" i="1">
                        <a:latin typeface="Cambria Math" panose="02040503050406030204" pitchFamily="18" charset="0"/>
                      </a:rPr>
                      <m:t>(</m:t>
                    </m:r>
                    <m:r>
                      <a:rPr lang="en-US" altLang="zh-CN" i="1">
                        <a:latin typeface="Cambria Math" panose="02040503050406030204" pitchFamily="18" charset="0"/>
                      </a:rPr>
                      <m:t>𝒕</m:t>
                    </m:r>
                    <m:r>
                      <a:rPr lang="en-US" altLang="zh-CN" i="1">
                        <a:latin typeface="Cambria Math" panose="02040503050406030204" pitchFamily="18" charset="0"/>
                      </a:rPr>
                      <m:t>)</m:t>
                    </m:r>
                  </m:oMath>
                </a14:m>
                <a:r>
                  <a:rPr lang="zh-CN" altLang="en-US" dirty="0"/>
                  <a:t> 就称为是</a:t>
                </a:r>
                <a14:m>
                  <m:oMath xmlns:m="http://schemas.openxmlformats.org/officeDocument/2006/math">
                    <m:r>
                      <a:rPr lang="en-US" altLang="zh-CN" i="1">
                        <a:latin typeface="Cambria Math" panose="02040503050406030204" pitchFamily="18" charset="0"/>
                      </a:rPr>
                      <m:t>𝒙</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的匹配滤波器。</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𝒉</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𝒄𝒙</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𝒕</m:t>
                          </m:r>
                        </m:e>
                        <m:sub>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m:oMathPara>
                </a14:m>
                <a:endParaRPr lang="en-US" altLang="zh-CN" dirty="0"/>
              </a:p>
              <a:p>
                <a:pPr marL="0" indent="0">
                  <a:lnSpc>
                    <a:spcPct val="150000"/>
                  </a:lnSpc>
                  <a:buNone/>
                </a:pPr>
                <a:r>
                  <a:rPr lang="zh-CN" altLang="en-US" dirty="0"/>
                  <a:t>一般若</a:t>
                </a:r>
                <a14:m>
                  <m:oMath xmlns:m="http://schemas.openxmlformats.org/officeDocument/2006/math">
                    <m:r>
                      <a:rPr lang="en-US" altLang="zh-CN" i="1">
                        <a:latin typeface="Cambria Math" panose="02040503050406030204" pitchFamily="18" charset="0"/>
                      </a:rPr>
                      <m:t>𝒙</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持续时间为0</a:t>
                </a:r>
                <a:r>
                  <a:rPr lang="en-US" altLang="zh-CN" dirty="0"/>
                  <a:t>~T</a:t>
                </a:r>
                <a:r>
                  <a:rPr lang="zh-CN" altLang="en-US" dirty="0"/>
                  <a:t>，取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𝒕</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𝑻</m:t>
                    </m:r>
                  </m:oMath>
                </a14:m>
                <a:r>
                  <a:rPr lang="zh-CN" altLang="en-US" dirty="0"/>
                  <a:t>。</a:t>
                </a:r>
                <a:endParaRPr lang="en-US" altLang="zh-CN" dirty="0"/>
              </a:p>
              <a:p>
                <a:pPr marL="0" indent="0">
                  <a:lnSpc>
                    <a:spcPct val="150000"/>
                  </a:lnSpc>
                  <a:buNone/>
                </a:pPr>
                <a:r>
                  <a:rPr lang="zh-CN" altLang="en-US" dirty="0"/>
                  <a:t>👉图中，</a:t>
                </a:r>
                <a14:m>
                  <m:oMath xmlns:m="http://schemas.openxmlformats.org/officeDocument/2006/math">
                    <m:r>
                      <a:rPr lang="en-US" altLang="zh-CN" b="1" i="1" smtClean="0">
                        <a:latin typeface="Cambria Math" panose="02040503050406030204" pitchFamily="18" charset="0"/>
                      </a:rPr>
                      <m:t>𝒓</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𝒙</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𝑵</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endParaRPr lang="en-US" altLang="zh-CN" dirty="0"/>
              </a:p>
              <a:p>
                <a:pPr marL="0" indent="0">
                  <a:buNone/>
                </a:pPr>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8A557D49-8F75-4107-AED4-5ACED1B771A8}"/>
                  </a:ext>
                </a:extLst>
              </p:cNvPr>
              <p:cNvSpPr>
                <a:spLocks noGrp="1" noRot="1" noChangeAspect="1" noMove="1" noResize="1" noEditPoints="1" noAdjustHandles="1" noChangeArrowheads="1" noChangeShapeType="1" noTextEdit="1"/>
              </p:cNvSpPr>
              <p:nvPr>
                <p:ph/>
              </p:nvPr>
            </p:nvSpPr>
            <p:spPr>
              <a:blipFill>
                <a:blip r:embed="rId2"/>
                <a:stretch>
                  <a:fillRect l="-1107" r="-166"/>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9D199224-8866-468D-8C46-DBFCD561BA1C}"/>
              </a:ext>
            </a:extLst>
          </p:cNvPr>
          <p:cNvGrpSpPr/>
          <p:nvPr/>
        </p:nvGrpSpPr>
        <p:grpSpPr>
          <a:xfrm>
            <a:off x="4801577" y="3826831"/>
            <a:ext cx="3826964" cy="1191273"/>
            <a:chOff x="6490878" y="4208015"/>
            <a:chExt cx="5102619" cy="1588364"/>
          </a:xfrm>
        </p:grpSpPr>
        <p:pic>
          <p:nvPicPr>
            <p:cNvPr id="3" name="图片 2">
              <a:extLst>
                <a:ext uri="{FF2B5EF4-FFF2-40B4-BE49-F238E27FC236}">
                  <a16:creationId xmlns:a16="http://schemas.microsoft.com/office/drawing/2014/main" id="{016CCC30-7CD6-4CC0-AEB9-2E2381AB0016}"/>
                </a:ext>
              </a:extLst>
            </p:cNvPr>
            <p:cNvPicPr>
              <a:picLocks noChangeAspect="1"/>
            </p:cNvPicPr>
            <p:nvPr/>
          </p:nvPicPr>
          <p:blipFill>
            <a:blip r:embed="rId3"/>
            <a:stretch>
              <a:fillRect/>
            </a:stretch>
          </p:blipFill>
          <p:spPr>
            <a:xfrm>
              <a:off x="6490878" y="4208015"/>
              <a:ext cx="5102619" cy="1588364"/>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1EACC34-70E9-4100-A89C-2AC43C4C0601}"/>
                    </a:ext>
                  </a:extLst>
                </p:cNvPr>
                <p:cNvSpPr txBox="1"/>
                <p:nvPr/>
              </p:nvSpPr>
              <p:spPr>
                <a:xfrm>
                  <a:off x="8487051" y="5002198"/>
                  <a:ext cx="764653"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500" i="1">
                            <a:solidFill>
                              <a:schemeClr val="accent2">
                                <a:lumMod val="75000"/>
                              </a:schemeClr>
                            </a:solidFill>
                            <a:latin typeface="Cambria Math" panose="02040503050406030204" pitchFamily="18" charset="0"/>
                          </a:rPr>
                          <m:t>𝑟</m:t>
                        </m:r>
                        <m:r>
                          <a:rPr lang="en-US" altLang="zh-CN" sz="1500" i="1">
                            <a:solidFill>
                              <a:schemeClr val="accent2">
                                <a:lumMod val="75000"/>
                              </a:schemeClr>
                            </a:solidFill>
                            <a:latin typeface="Cambria Math" panose="02040503050406030204" pitchFamily="18" charset="0"/>
                          </a:rPr>
                          <m:t>(</m:t>
                        </m:r>
                        <m:r>
                          <a:rPr lang="en-US" altLang="zh-CN" sz="1500" i="1">
                            <a:solidFill>
                              <a:schemeClr val="accent2">
                                <a:lumMod val="75000"/>
                              </a:schemeClr>
                            </a:solidFill>
                            <a:latin typeface="Cambria Math" panose="02040503050406030204" pitchFamily="18" charset="0"/>
                          </a:rPr>
                          <m:t>𝑡</m:t>
                        </m:r>
                        <m:r>
                          <a:rPr lang="en-US" altLang="zh-CN" sz="1500" i="1">
                            <a:solidFill>
                              <a:schemeClr val="accent2">
                                <a:lumMod val="75000"/>
                              </a:schemeClr>
                            </a:solidFill>
                            <a:latin typeface="Cambria Math" panose="02040503050406030204" pitchFamily="18" charset="0"/>
                          </a:rPr>
                          <m:t>)</m:t>
                        </m:r>
                      </m:oMath>
                    </m:oMathPara>
                  </a14:m>
                  <a:endParaRPr lang="zh-CN" altLang="en-US" sz="1500" dirty="0">
                    <a:solidFill>
                      <a:schemeClr val="accent2">
                        <a:lumMod val="75000"/>
                      </a:schemeClr>
                    </a:solidFill>
                  </a:endParaRPr>
                </a:p>
              </p:txBody>
            </p:sp>
          </mc:Choice>
          <mc:Fallback xmlns="">
            <p:sp>
              <p:nvSpPr>
                <p:cNvPr id="4" name="文本框 3">
                  <a:extLst>
                    <a:ext uri="{FF2B5EF4-FFF2-40B4-BE49-F238E27FC236}">
                      <a16:creationId xmlns:a16="http://schemas.microsoft.com/office/drawing/2014/main" id="{C1EACC34-70E9-4100-A89C-2AC43C4C0601}"/>
                    </a:ext>
                  </a:extLst>
                </p:cNvPr>
                <p:cNvSpPr txBox="1">
                  <a:spLocks noRot="1" noChangeAspect="1" noMove="1" noResize="1" noEditPoints="1" noAdjustHandles="1" noChangeArrowheads="1" noChangeShapeType="1" noTextEdit="1"/>
                </p:cNvSpPr>
                <p:nvPr/>
              </p:nvSpPr>
              <p:spPr>
                <a:xfrm>
                  <a:off x="8487051" y="5002198"/>
                  <a:ext cx="764653" cy="430887"/>
                </a:xfrm>
                <a:prstGeom prst="rect">
                  <a:avLst/>
                </a:prstGeom>
                <a:blipFill>
                  <a:blip r:embed="rId4"/>
                  <a:stretch>
                    <a:fillRect b="-1320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05788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86EEC39-38E5-4692-9E46-A3D5652A9D6F}"/>
                  </a:ext>
                </a:extLst>
              </p:cNvPr>
              <p:cNvSpPr>
                <a:spLocks noGrp="1"/>
              </p:cNvSpPr>
              <p:nvPr>
                <p:ph/>
              </p:nvPr>
            </p:nvSpPr>
            <p:spPr>
              <a:xfrm>
                <a:off x="444500" y="1023505"/>
                <a:ext cx="8255000" cy="4606637"/>
              </a:xfrm>
            </p:spPr>
            <p:txBody>
              <a:bodyPr/>
              <a:lstStyle/>
              <a:p>
                <a:pPr marL="0" indent="0">
                  <a:buNone/>
                </a:pPr>
                <a:r>
                  <a:rPr lang="zh-CN" altLang="en-US" dirty="0"/>
                  <a:t>证明：</a:t>
                </a:r>
                <a:endParaRPr lang="en-US" altLang="zh-CN" dirty="0"/>
              </a:p>
              <a:p>
                <a:pPr marL="0" indent="0">
                  <a:buNone/>
                </a:pPr>
                <a:r>
                  <a:rPr lang="zh-CN" altLang="en-US" dirty="0">
                    <a:solidFill>
                      <a:schemeClr val="tx1"/>
                    </a:solidFill>
                  </a:rPr>
                  <a:t>输出</a:t>
                </a:r>
                <a14:m>
                  <m:oMath xmlns:m="http://schemas.openxmlformats.org/officeDocument/2006/math">
                    <m:r>
                      <a:rPr lang="zh-CN" altLang="en-US" i="1">
                        <a:latin typeface="Cambria Math" panose="02040503050406030204" pitchFamily="18" charset="0"/>
                      </a:rPr>
                      <m:t>信号</m:t>
                    </m:r>
                    <m:r>
                      <a:rPr lang="zh-CN" altLang="en-US" i="1" smtClean="0">
                        <a:latin typeface="Cambria Math" panose="02040503050406030204" pitchFamily="18" charset="0"/>
                      </a:rPr>
                      <m:t>：</m:t>
                    </m:r>
                  </m:oMath>
                </a14:m>
                <a:endParaRPr lang="en-US" altLang="zh-C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i="1" smtClean="0">
                          <a:solidFill>
                            <a:schemeClr val="tx1"/>
                          </a:solidFill>
                          <a:latin typeface="Cambria Math" panose="02040503050406030204" pitchFamily="18" charset="0"/>
                        </a:rPr>
                        <m:t>𝑦</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𝑡</m:t>
                      </m:r>
                      <m:r>
                        <a:rPr lang="zh-CN" altLang="en-US" i="1" smtClean="0">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𝑡</m:t>
                          </m:r>
                        </m:sup>
                        <m:e>
                          <m:r>
                            <a:rPr lang="zh-CN" altLang="en-US" i="1">
                              <a:solidFill>
                                <a:schemeClr val="tx1"/>
                              </a:solidFill>
                              <a:latin typeface="Cambria Math" panose="02040503050406030204" pitchFamily="18" charset="0"/>
                            </a:rPr>
                            <m:t>𝑟</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e>
                      </m:nary>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𝑡</m:t>
                          </m:r>
                        </m:sup>
                        <m:e>
                          <m:r>
                            <a:rPr lang="en-US" altLang="zh-CN" i="1">
                              <a:solidFill>
                                <a:schemeClr val="tx1"/>
                              </a:solidFill>
                              <a:latin typeface="Cambria Math" panose="02040503050406030204" pitchFamily="18" charset="0"/>
                            </a:rPr>
                            <m:t>𝒙</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e>
                      </m:nary>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𝑡</m:t>
                          </m:r>
                        </m:sup>
                        <m:e>
                          <m:r>
                            <a:rPr lang="en-US" altLang="zh-CN" b="1" i="1" smtClean="0">
                              <a:solidFill>
                                <a:schemeClr val="tx1"/>
                              </a:solidFill>
                              <a:latin typeface="Cambria Math" panose="02040503050406030204" pitchFamily="18" charset="0"/>
                            </a:rPr>
                            <m:t>𝑵</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e>
                      </m:nary>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oMath>
                  </m:oMathPara>
                </a14:m>
                <a:br>
                  <a:rPr lang="zh-CN" altLang="en-US" i="1" dirty="0">
                    <a:solidFill>
                      <a:schemeClr val="tx1"/>
                    </a:solidFill>
                    <a:latin typeface="Cambria Math" panose="02040503050406030204" pitchFamily="18" charset="0"/>
                  </a:rPr>
                </a:br>
                <a:r>
                  <a:rPr lang="en-US" altLang="zh-CN" i="1" dirty="0">
                    <a:solidFill>
                      <a:schemeClr val="tx1"/>
                    </a:solidFill>
                    <a:latin typeface="Cambria Math" panose="02040503050406030204" pitchFamily="18" charset="0"/>
                  </a:rPr>
                  <a:t>T</a:t>
                </a:r>
                <a14:m>
                  <m:oMath xmlns:m="http://schemas.openxmlformats.org/officeDocument/2006/math">
                    <m:r>
                      <a:rPr lang="en-US" altLang="zh-CN" b="1" i="1" dirty="0" smtClean="0">
                        <a:latin typeface="Cambria Math" panose="02040503050406030204" pitchFamily="18" charset="0"/>
                      </a:rPr>
                      <m:t>  </m:t>
                    </m:r>
                    <m:r>
                      <a:rPr lang="zh-CN" altLang="en-US" i="1" dirty="0">
                        <a:latin typeface="Cambria Math" panose="02040503050406030204" pitchFamily="18" charset="0"/>
                      </a:rPr>
                      <m:t>时刻</m:t>
                    </m:r>
                    <m:r>
                      <a:rPr lang="zh-CN" altLang="en-US" i="1" dirty="0" smtClean="0">
                        <a:latin typeface="Cambria Math" panose="02040503050406030204" pitchFamily="18" charset="0"/>
                      </a:rPr>
                      <m:t>的</m:t>
                    </m:r>
                    <m:r>
                      <a:rPr lang="zh-CN" altLang="en-US" b="0" i="0" dirty="0">
                        <a:latin typeface="Cambria Math" panose="02040503050406030204" pitchFamily="18" charset="0"/>
                      </a:rPr>
                      <m:t>输出</m:t>
                    </m:r>
                  </m:oMath>
                </a14:m>
                <a:r>
                  <a:rPr lang="zh-CN" altLang="en-US" b="0" dirty="0">
                    <a:latin typeface="Cambria Math" panose="02040503050406030204" pitchFamily="18" charset="0"/>
                  </a:rPr>
                  <a:t>信号</a:t>
                </a:r>
                <a:endParaRPr lang="en-US" altLang="zh-CN"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i="1">
                          <a:solidFill>
                            <a:schemeClr val="tx1"/>
                          </a:solidFill>
                          <a:latin typeface="Cambria Math" panose="02040503050406030204" pitchFamily="18" charset="0"/>
                        </a:rPr>
                        <m:t>𝑦</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r>
                            <a:rPr lang="en-US" altLang="zh-CN" i="1">
                              <a:solidFill>
                                <a:schemeClr val="tx1"/>
                              </a:solidFill>
                              <a:latin typeface="Cambria Math" panose="02040503050406030204" pitchFamily="18" charset="0"/>
                            </a:rPr>
                            <m:t>𝒙</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e>
                      </m:nary>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r>
                            <a:rPr lang="en-US" altLang="zh-CN" b="1" i="1" smtClean="0">
                              <a:solidFill>
                                <a:schemeClr val="tx1"/>
                              </a:solidFill>
                              <a:latin typeface="Cambria Math" panose="02040503050406030204" pitchFamily="18" charset="0"/>
                            </a:rPr>
                            <m:t>𝑵</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e>
                      </m:nary>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oMath>
                    <m:oMath xmlns:m="http://schemas.openxmlformats.org/officeDocument/2006/math">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𝑦</m:t>
                          </m:r>
                        </m:e>
                        <m:sub>
                          <m:r>
                            <a:rPr lang="en-US" altLang="zh-CN" b="1" i="1" smtClean="0">
                              <a:solidFill>
                                <a:schemeClr val="tx1"/>
                              </a:solidFill>
                              <a:latin typeface="Cambria Math" panose="02040503050406030204" pitchFamily="18" charset="0"/>
                            </a:rPr>
                            <m:t>𝒙</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𝑦</m:t>
                          </m:r>
                        </m:e>
                        <m:sub>
                          <m:r>
                            <a:rPr lang="en-US" altLang="zh-CN" b="1" i="1" smtClean="0">
                              <a:solidFill>
                                <a:schemeClr val="tx1"/>
                              </a:solidFill>
                              <a:latin typeface="Cambria Math" panose="02040503050406030204" pitchFamily="18" charset="0"/>
                            </a:rPr>
                            <m:t>𝑵</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oMath>
                  </m:oMathPara>
                </a14:m>
                <a:br>
                  <a:rPr lang="zh-CN" altLang="en-US" i="1" dirty="0">
                    <a:solidFill>
                      <a:schemeClr val="tx1"/>
                    </a:solidFill>
                    <a:latin typeface="Cambria Math" panose="02040503050406030204" pitchFamily="18" charset="0"/>
                  </a:rPr>
                </a:br>
                <a:endParaRPr lang="zh-CN" altLang="en-US" dirty="0">
                  <a:solidFill>
                    <a:schemeClr val="tx1"/>
                  </a:solidFill>
                </a:endParaRPr>
              </a:p>
              <a:p>
                <a:pPr marL="0" indent="0">
                  <a:buNone/>
                </a:pPr>
                <a:endParaRPr lang="en-US" altLang="zh-CN" i="1" dirty="0">
                  <a:solidFill>
                    <a:srgbClr val="FF0000"/>
                  </a:solidFill>
                  <a:latin typeface="Cambria Math" panose="02040503050406030204" pitchFamily="18" charset="0"/>
                </a:endParaRPr>
              </a:p>
              <a:p>
                <a:pPr marL="0" indent="0">
                  <a:buNone/>
                </a:pPr>
                <a:r>
                  <a:rPr lang="en-US" altLang="zh-CN" i="1" dirty="0">
                    <a:solidFill>
                      <a:srgbClr val="FF0000"/>
                    </a:solidFill>
                  </a:rPr>
                  <a:t>T</a:t>
                </a:r>
                <a:r>
                  <a:rPr lang="zh-CN" altLang="en-US" dirty="0">
                    <a:solidFill>
                      <a:srgbClr val="FF0000"/>
                    </a:solidFill>
                  </a:rPr>
                  <a:t>时刻的信噪比</a:t>
                </a:r>
                <a14:m>
                  <m:oMath xmlns:m="http://schemas.openxmlformats.org/officeDocument/2006/math">
                    <m:r>
                      <a:rPr lang="zh-CN" altLang="en-US"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 </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𝑆</m:t>
                        </m:r>
                      </m:num>
                      <m:den>
                        <m:r>
                          <a:rPr lang="zh-CN" altLang="en-US" i="1">
                            <a:solidFill>
                              <a:srgbClr val="FF0000"/>
                            </a:solidFill>
                            <a:latin typeface="Cambria Math" panose="02040503050406030204" pitchFamily="18" charset="0"/>
                          </a:rPr>
                          <m:t>𝑁</m:t>
                        </m:r>
                      </m:den>
                    </m:f>
                    <m:r>
                      <a:rPr lang="zh-CN" altLang="en-US" i="1">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sSubSup>
                          <m:sSubSupPr>
                            <m:ctrlPr>
                              <a:rPr lang="zh-CN" altLang="en-US" i="1">
                                <a:solidFill>
                                  <a:srgbClr val="FF0000"/>
                                </a:solidFill>
                                <a:latin typeface="Cambria Math" panose="02040503050406030204" pitchFamily="18" charset="0"/>
                              </a:rPr>
                            </m:ctrlPr>
                          </m:sSubSupPr>
                          <m:e>
                            <m:r>
                              <a:rPr lang="zh-CN" altLang="en-US" i="1">
                                <a:solidFill>
                                  <a:srgbClr val="FF0000"/>
                                </a:solidFill>
                                <a:latin typeface="Cambria Math" panose="02040503050406030204" pitchFamily="18" charset="0"/>
                              </a:rPr>
                              <m:t>𝑦</m:t>
                            </m:r>
                          </m:e>
                          <m:sub>
                            <m:r>
                              <a:rPr lang="en-US" altLang="zh-CN" b="1" i="1" smtClean="0">
                                <a:solidFill>
                                  <a:srgbClr val="FF0000"/>
                                </a:solidFill>
                                <a:latin typeface="Cambria Math" panose="02040503050406030204" pitchFamily="18" charset="0"/>
                              </a:rPr>
                              <m:t>𝒙</m:t>
                            </m:r>
                          </m:sub>
                          <m:sup>
                            <m:r>
                              <a:rPr lang="zh-CN" altLang="en-US" i="1">
                                <a:solidFill>
                                  <a:srgbClr val="FF0000"/>
                                </a:solidFill>
                                <a:latin typeface="Cambria Math" panose="02040503050406030204" pitchFamily="18" charset="0"/>
                              </a:rPr>
                              <m:t>2</m:t>
                            </m:r>
                          </m:sup>
                        </m:sSubSup>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𝑇</m:t>
                        </m:r>
                        <m:r>
                          <a:rPr lang="zh-CN" altLang="en-US" i="1">
                            <a:solidFill>
                              <a:srgbClr val="FF0000"/>
                            </a:solidFill>
                            <a:latin typeface="Cambria Math" panose="02040503050406030204" pitchFamily="18" charset="0"/>
                          </a:rPr>
                          <m:t>)</m:t>
                        </m:r>
                      </m:num>
                      <m:den>
                        <m:r>
                          <a:rPr lang="zh-CN" altLang="en-US" i="1">
                            <a:solidFill>
                              <a:srgbClr val="FF0000"/>
                            </a:solidFill>
                            <a:latin typeface="Cambria Math" panose="02040503050406030204" pitchFamily="18" charset="0"/>
                          </a:rPr>
                          <m:t>𝐸</m:t>
                        </m:r>
                        <m:d>
                          <m:dPr>
                            <m:begChr m:val="["/>
                            <m:endChr m:val="]"/>
                            <m:ctrlPr>
                              <a:rPr lang="zh-CN" altLang="en-US" i="1">
                                <a:solidFill>
                                  <a:srgbClr val="FF0000"/>
                                </a:solidFill>
                                <a:latin typeface="Cambria Math" panose="02040503050406030204" pitchFamily="18" charset="0"/>
                              </a:rPr>
                            </m:ctrlPr>
                          </m:dPr>
                          <m:e>
                            <m:sSubSup>
                              <m:sSubSupPr>
                                <m:ctrlPr>
                                  <a:rPr lang="zh-CN" altLang="en-US" i="1">
                                    <a:solidFill>
                                      <a:srgbClr val="FF0000"/>
                                    </a:solidFill>
                                    <a:latin typeface="Cambria Math" panose="02040503050406030204" pitchFamily="18" charset="0"/>
                                  </a:rPr>
                                </m:ctrlPr>
                              </m:sSubSupPr>
                              <m:e>
                                <m:r>
                                  <a:rPr lang="zh-CN" altLang="en-US" i="1">
                                    <a:solidFill>
                                      <a:srgbClr val="FF0000"/>
                                    </a:solidFill>
                                    <a:latin typeface="Cambria Math" panose="02040503050406030204" pitchFamily="18" charset="0"/>
                                  </a:rPr>
                                  <m:t>𝑦</m:t>
                                </m:r>
                              </m:e>
                              <m:sub>
                                <m:r>
                                  <a:rPr lang="en-US" altLang="zh-CN" b="1" i="1" smtClean="0">
                                    <a:solidFill>
                                      <a:srgbClr val="FF0000"/>
                                    </a:solidFill>
                                    <a:latin typeface="Cambria Math" panose="02040503050406030204" pitchFamily="18" charset="0"/>
                                  </a:rPr>
                                  <m:t>𝑵</m:t>
                                </m:r>
                              </m:sub>
                              <m:sup>
                                <m:r>
                                  <a:rPr lang="zh-CN" altLang="en-US" i="1">
                                    <a:solidFill>
                                      <a:srgbClr val="FF0000"/>
                                    </a:solidFill>
                                    <a:latin typeface="Cambria Math" panose="02040503050406030204" pitchFamily="18" charset="0"/>
                                  </a:rPr>
                                  <m:t>2</m:t>
                                </m:r>
                              </m:sup>
                            </m:sSubSup>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𝑇</m:t>
                            </m:r>
                            <m:r>
                              <a:rPr lang="zh-CN" altLang="en-US" i="1">
                                <a:solidFill>
                                  <a:srgbClr val="FF0000"/>
                                </a:solidFill>
                                <a:latin typeface="Cambria Math" panose="02040503050406030204" pitchFamily="18" charset="0"/>
                              </a:rPr>
                              <m:t>)</m:t>
                            </m:r>
                          </m:e>
                        </m:d>
                      </m:den>
                    </m:f>
                  </m:oMath>
                </a14:m>
                <a:r>
                  <a:rPr lang="zh-CN" altLang="en-US" dirty="0"/>
                  <a:t>        ，信号功率</a:t>
                </a:r>
                <a:r>
                  <a:rPr lang="en-US" altLang="zh-CN" dirty="0"/>
                  <a:t>/</a:t>
                </a:r>
                <a:r>
                  <a:rPr lang="zh-CN" altLang="en-US" dirty="0"/>
                  <a:t>噪声功率。</a:t>
                </a:r>
              </a:p>
            </p:txBody>
          </p:sp>
        </mc:Choice>
        <mc:Fallback xmlns="">
          <p:sp>
            <p:nvSpPr>
              <p:cNvPr id="2" name="内容占位符 1">
                <a:extLst>
                  <a:ext uri="{FF2B5EF4-FFF2-40B4-BE49-F238E27FC236}">
                    <a16:creationId xmlns:a16="http://schemas.microsoft.com/office/drawing/2014/main" id="{486EEC39-38E5-4692-9E46-A3D5652A9D6F}"/>
                  </a:ext>
                </a:extLst>
              </p:cNvPr>
              <p:cNvSpPr>
                <a:spLocks noGrp="1" noRot="1" noChangeAspect="1" noMove="1" noResize="1" noEditPoints="1" noAdjustHandles="1" noChangeArrowheads="1" noChangeShapeType="1" noTextEdit="1"/>
              </p:cNvSpPr>
              <p:nvPr>
                <p:ph/>
              </p:nvPr>
            </p:nvSpPr>
            <p:spPr>
              <a:xfrm>
                <a:off x="444500" y="1023505"/>
                <a:ext cx="8255000" cy="4606637"/>
              </a:xfrm>
              <a:blipFill>
                <a:blip r:embed="rId2"/>
                <a:stretch>
                  <a:fillRect l="-886" t="-11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84273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A6DB8C2E-B74F-43AB-A538-51CD378AA04B}"/>
                  </a:ext>
                </a:extLst>
              </p:cNvPr>
              <p:cNvSpPr>
                <a:spLocks noGrp="1"/>
              </p:cNvSpPr>
              <p:nvPr>
                <p:ph/>
              </p:nvPr>
            </p:nvSpPr>
            <p:spPr>
              <a:xfrm>
                <a:off x="457201" y="1070314"/>
                <a:ext cx="8255000" cy="4448991"/>
              </a:xfrm>
            </p:spPr>
            <p:txBody>
              <a:bodyPr/>
              <a:lstStyle/>
              <a:p>
                <a:pPr>
                  <a:buNone/>
                </a:pPr>
                <a:r>
                  <a:rPr lang="zh-CN" altLang="en-US" dirty="0">
                    <a:solidFill>
                      <a:schemeClr val="tx1"/>
                    </a:solidFill>
                  </a:rPr>
                  <a:t>信号</a:t>
                </a:r>
                <a14:m>
                  <m:oMath xmlns:m="http://schemas.openxmlformats.org/officeDocument/2006/math">
                    <m:r>
                      <a:rPr lang="zh-CN" altLang="en-US" i="1">
                        <a:latin typeface="Cambria Math" panose="02040503050406030204" pitchFamily="18" charset="0"/>
                      </a:rPr>
                      <m:t>功率</m:t>
                    </m:r>
                    <m:r>
                      <a:rPr lang="zh-CN" altLang="en-US" i="1" smtClean="0">
                        <a:latin typeface="Cambria Math" panose="02040503050406030204" pitchFamily="18" charset="0"/>
                      </a:rPr>
                      <m:t>：</m:t>
                    </m:r>
                  </m:oMath>
                </a14:m>
                <a:endParaRPr lang="en-US" altLang="zh-CN" i="1" dirty="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Sup>
                        <m:sSubSupPr>
                          <m:ctrlPr>
                            <a:rPr lang="zh-CN" altLang="en-US" i="1" smtClean="0">
                              <a:solidFill>
                                <a:schemeClr val="tx1"/>
                              </a:solidFill>
                              <a:latin typeface="Cambria Math" panose="02040503050406030204" pitchFamily="18" charset="0"/>
                            </a:rPr>
                          </m:ctrlPr>
                        </m:sSubSupPr>
                        <m:e>
                          <m:r>
                            <a:rPr lang="zh-CN" altLang="en-US" i="1">
                              <a:solidFill>
                                <a:schemeClr val="tx1"/>
                              </a:solidFill>
                              <a:latin typeface="Cambria Math" panose="02040503050406030204" pitchFamily="18" charset="0"/>
                            </a:rPr>
                            <m:t>𝑦</m:t>
                          </m:r>
                        </m:e>
                        <m:sub>
                          <m:r>
                            <a:rPr lang="en-US" altLang="zh-CN" i="1">
                              <a:solidFill>
                                <a:schemeClr val="tx1"/>
                              </a:solidFill>
                              <a:latin typeface="Cambria Math" panose="02040503050406030204" pitchFamily="18" charset="0"/>
                            </a:rPr>
                            <m:t>𝒙</m:t>
                          </m:r>
                        </m:sub>
                        <m:sup>
                          <m:r>
                            <a:rPr lang="zh-CN" altLang="en-US" i="1">
                              <a:solidFill>
                                <a:schemeClr val="tx1"/>
                              </a:solidFill>
                              <a:latin typeface="Cambria Math" panose="02040503050406030204" pitchFamily="18" charset="0"/>
                            </a:rPr>
                            <m:t>2</m:t>
                          </m:r>
                        </m:sup>
                      </m:sSubSup>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sSup>
                        <m:sSupPr>
                          <m:ctrlPr>
                            <a:rPr lang="zh-CN" altLang="en-US" i="1">
                              <a:solidFill>
                                <a:schemeClr val="tx1"/>
                              </a:solidFill>
                              <a:latin typeface="Cambria Math" panose="02040503050406030204" pitchFamily="18" charset="0"/>
                            </a:rPr>
                          </m:ctrlPr>
                        </m:sSupPr>
                        <m:e>
                          <m:d>
                            <m:dPr>
                              <m:begChr m:val="["/>
                              <m:endChr m:val="]"/>
                              <m:ctrlPr>
                                <a:rPr lang="zh-CN" altLang="en-US" i="1">
                                  <a:solidFill>
                                    <a:schemeClr val="tx1"/>
                                  </a:solidFill>
                                  <a:latin typeface="Cambria Math" panose="02040503050406030204" pitchFamily="18" charset="0"/>
                                </a:rPr>
                              </m:ctrlPr>
                            </m:dPr>
                            <m:e>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r>
                                    <a:rPr lang="en-US" altLang="zh-CN" i="1">
                                      <a:solidFill>
                                        <a:schemeClr val="tx1"/>
                                      </a:solidFill>
                                      <a:latin typeface="Cambria Math" panose="02040503050406030204" pitchFamily="18" charset="0"/>
                                    </a:rPr>
                                    <m:t>𝒙</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e>
                              </m:nary>
                            </m:e>
                          </m:d>
                        </m:e>
                        <m:sup>
                          <m:r>
                            <a:rPr lang="zh-CN" altLang="en-US" i="1">
                              <a:solidFill>
                                <a:schemeClr val="tx1"/>
                              </a:solidFill>
                              <a:latin typeface="Cambria Math" panose="02040503050406030204" pitchFamily="18" charset="0"/>
                            </a:rPr>
                            <m:t>2</m:t>
                          </m:r>
                        </m:sup>
                      </m:sSup>
                      <m:r>
                        <a:rPr lang="zh-CN" altLang="en-US" i="1">
                          <a:solidFill>
                            <a:schemeClr val="tx1"/>
                          </a:solidFill>
                          <a:latin typeface="Cambria Math" panose="02040503050406030204" pitchFamily="18" charset="0"/>
                        </a:rPr>
                        <m:t>=</m:t>
                      </m:r>
                      <m:sSup>
                        <m:sSupPr>
                          <m:ctrlPr>
                            <a:rPr lang="zh-CN" altLang="en-US" i="1">
                              <a:solidFill>
                                <a:schemeClr val="tx1"/>
                              </a:solidFill>
                              <a:latin typeface="Cambria Math" panose="02040503050406030204" pitchFamily="18" charset="0"/>
                            </a:rPr>
                          </m:ctrlPr>
                        </m:sSupPr>
                        <m:e>
                          <m:d>
                            <m:dPr>
                              <m:begChr m:val="["/>
                              <m:endChr m:val="]"/>
                              <m:ctrlPr>
                                <a:rPr lang="zh-CN" altLang="en-US" i="1">
                                  <a:solidFill>
                                    <a:schemeClr val="tx1"/>
                                  </a:solidFill>
                                  <a:latin typeface="Cambria Math" panose="02040503050406030204" pitchFamily="18" charset="0"/>
                                </a:rPr>
                              </m:ctrlPr>
                            </m:dPr>
                            <m:e>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r>
                                    <a:rPr lang="en-US" altLang="zh-CN" i="1">
                                      <a:solidFill>
                                        <a:schemeClr val="tx1"/>
                                      </a:solidFill>
                                      <a:latin typeface="Cambria Math" panose="02040503050406030204" pitchFamily="18" charset="0"/>
                                    </a:rPr>
                                    <m:t>𝒙</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𝑑𝑡</m:t>
                                  </m:r>
                                </m:e>
                              </m:nary>
                            </m:e>
                          </m:d>
                        </m:e>
                        <m:sup>
                          <m:r>
                            <a:rPr lang="zh-CN" altLang="en-US" i="1">
                              <a:solidFill>
                                <a:schemeClr val="tx1"/>
                              </a:solidFill>
                              <a:latin typeface="Cambria Math" panose="02040503050406030204" pitchFamily="18" charset="0"/>
                            </a:rPr>
                            <m:t>2</m:t>
                          </m:r>
                        </m:sup>
                      </m:sSup>
                    </m:oMath>
                  </m:oMathPara>
                </a14:m>
                <a:endParaRPr lang="en-US" altLang="zh-CN" i="1" dirty="0">
                  <a:solidFill>
                    <a:schemeClr val="tx1"/>
                  </a:solidFill>
                  <a:latin typeface="Cambria Math" panose="02040503050406030204" pitchFamily="18" charset="0"/>
                </a:endParaRPr>
              </a:p>
              <a:p>
                <a:pPr>
                  <a:buNone/>
                </a:pPr>
                <a:r>
                  <a:rPr lang="zh-CN" altLang="en-US" dirty="0">
                    <a:solidFill>
                      <a:schemeClr val="tx1"/>
                    </a:solidFill>
                  </a:rPr>
                  <a:t>噪声</a:t>
                </a:r>
                <a14:m>
                  <m:oMath xmlns:m="http://schemas.openxmlformats.org/officeDocument/2006/math">
                    <m:r>
                      <a:rPr lang="zh-CN" altLang="en-US" i="1">
                        <a:latin typeface="Cambria Math" panose="02040503050406030204" pitchFamily="18" charset="0"/>
                      </a:rPr>
                      <m:t>功率</m:t>
                    </m:r>
                    <m:r>
                      <a:rPr lang="zh-CN" altLang="en-US" i="1" smtClean="0">
                        <a:latin typeface="Cambria Math" panose="02040503050406030204" pitchFamily="18" charset="0"/>
                      </a:rPr>
                      <m:t>：</m:t>
                    </m:r>
                  </m:oMath>
                </a14:m>
                <a:endParaRPr lang="en-US" altLang="zh-CN" i="1" dirty="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zh-CN" altLang="en-US" i="1">
                          <a:solidFill>
                            <a:schemeClr val="tx1"/>
                          </a:solidFill>
                          <a:latin typeface="Cambria Math" panose="02040503050406030204" pitchFamily="18" charset="0"/>
                        </a:rPr>
                        <m:t>𝐸</m:t>
                      </m:r>
                      <m:d>
                        <m:dPr>
                          <m:begChr m:val="["/>
                          <m:endChr m:val="]"/>
                          <m:ctrlPr>
                            <a:rPr lang="zh-CN" altLang="en-US" i="1">
                              <a:solidFill>
                                <a:schemeClr val="tx1"/>
                              </a:solidFill>
                              <a:latin typeface="Cambria Math" panose="02040503050406030204" pitchFamily="18" charset="0"/>
                            </a:rPr>
                          </m:ctrlPr>
                        </m:dPr>
                        <m:e>
                          <m:sSubSup>
                            <m:sSubSupPr>
                              <m:ctrlPr>
                                <a:rPr lang="zh-CN" altLang="en-US" i="1">
                                  <a:solidFill>
                                    <a:schemeClr val="tx1"/>
                                  </a:solidFill>
                                  <a:latin typeface="Cambria Math" panose="02040503050406030204" pitchFamily="18" charset="0"/>
                                </a:rPr>
                              </m:ctrlPr>
                            </m:sSubSupPr>
                            <m:e>
                              <m:r>
                                <a:rPr lang="zh-CN" altLang="en-US" i="1">
                                  <a:solidFill>
                                    <a:schemeClr val="tx1"/>
                                  </a:solidFill>
                                  <a:latin typeface="Cambria Math" panose="02040503050406030204" pitchFamily="18" charset="0"/>
                                </a:rPr>
                                <m:t>𝑦</m:t>
                              </m:r>
                            </m:e>
                            <m:sub>
                              <m:r>
                                <a:rPr lang="en-US" altLang="zh-CN" b="1" i="1" smtClean="0">
                                  <a:solidFill>
                                    <a:schemeClr val="tx1"/>
                                  </a:solidFill>
                                  <a:latin typeface="Cambria Math" panose="02040503050406030204" pitchFamily="18" charset="0"/>
                                </a:rPr>
                                <m:t>𝑵</m:t>
                              </m:r>
                            </m:sub>
                            <m:sup>
                              <m:r>
                                <a:rPr lang="zh-CN" altLang="en-US" i="1">
                                  <a:solidFill>
                                    <a:schemeClr val="tx1"/>
                                  </a:solidFill>
                                  <a:latin typeface="Cambria Math" panose="02040503050406030204" pitchFamily="18" charset="0"/>
                                </a:rPr>
                                <m:t>2</m:t>
                              </m:r>
                            </m:sup>
                          </m:sSubSup>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e>
                      </m:d>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r>
                                <a:rPr lang="zh-CN" altLang="en-US" i="1">
                                  <a:solidFill>
                                    <a:schemeClr val="tx1"/>
                                  </a:solidFill>
                                  <a:latin typeface="Cambria Math" panose="02040503050406030204" pitchFamily="18" charset="0"/>
                                </a:rPr>
                                <m:t>𝐸</m:t>
                              </m:r>
                              <m:d>
                                <m:dPr>
                                  <m:begChr m:val="["/>
                                  <m:endChr m:val="]"/>
                                  <m:ctrlPr>
                                    <a:rPr lang="zh-CN" altLang="en-US" i="1">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𝑵</m:t>
                                  </m:r>
                                  <m:d>
                                    <m:dPr>
                                      <m:ctrlPr>
                                        <a:rPr lang="zh-CN" altLang="en-US" b="1"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𝜏</m:t>
                                      </m:r>
                                    </m:e>
                                  </m:d>
                                  <m:r>
                                    <a:rPr lang="en-US" altLang="zh-CN" b="1" i="1" smtClean="0">
                                      <a:solidFill>
                                        <a:schemeClr val="tx1"/>
                                      </a:solidFill>
                                      <a:latin typeface="Cambria Math" panose="02040503050406030204" pitchFamily="18" charset="0"/>
                                    </a:rPr>
                                    <m:t>𝑵</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e>
                              </m:d>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e>
                          </m:nary>
                        </m:e>
                      </m:nary>
                      <m:r>
                        <a:rPr lang="zh-CN" altLang="en-US" i="1">
                          <a:solidFill>
                            <a:schemeClr val="tx1"/>
                          </a:solidFill>
                          <a:latin typeface="Cambria Math" panose="02040503050406030204" pitchFamily="18" charset="0"/>
                        </a:rPr>
                        <m:t>𝑑𝑡</m:t>
                      </m:r>
                    </m:oMath>
                    <m:oMath xmlns:m="http://schemas.openxmlformats.org/officeDocument/2006/math">
                      <m:r>
                        <a:rPr lang="zh-CN" altLang="en-US" i="1">
                          <a:solidFill>
                            <a:schemeClr val="tx1"/>
                          </a:solidFill>
                          <a:latin typeface="Cambria Math" panose="02040503050406030204" pitchFamily="18" charset="0"/>
                        </a:rPr>
                        <m:t>=</m:t>
                      </m:r>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f>
                                <m:fPr>
                                  <m:ctrlPr>
                                    <a:rPr lang="zh-CN" altLang="en-US" i="1">
                                      <a:solidFill>
                                        <a:schemeClr val="tx1"/>
                                      </a:solidFill>
                                      <a:latin typeface="Cambria Math" panose="02040503050406030204" pitchFamily="18" charset="0"/>
                                    </a:rPr>
                                  </m:ctrlPr>
                                </m:fPr>
                                <m:num>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𝑁</m:t>
                                      </m:r>
                                    </m:e>
                                    <m:sub>
                                      <m:r>
                                        <a:rPr lang="zh-CN" altLang="en-US" i="1">
                                          <a:solidFill>
                                            <a:schemeClr val="tx1"/>
                                          </a:solidFill>
                                          <a:latin typeface="Cambria Math" panose="02040503050406030204" pitchFamily="18" charset="0"/>
                                        </a:rPr>
                                        <m:t>0</m:t>
                                      </m:r>
                                    </m:sub>
                                  </m:sSub>
                                </m:num>
                                <m:den>
                                  <m:r>
                                    <a:rPr lang="zh-CN" altLang="en-US" i="1">
                                      <a:solidFill>
                                        <a:schemeClr val="tx1"/>
                                      </a:solidFill>
                                      <a:latin typeface="Cambria Math" panose="02040503050406030204" pitchFamily="18" charset="0"/>
                                    </a:rPr>
                                    <m:t>2</m:t>
                                  </m:r>
                                </m:den>
                              </m:f>
                              <m:r>
                                <a:rPr lang="zh-CN" altLang="en-US" i="1">
                                  <a:solidFill>
                                    <a:schemeClr val="tx1"/>
                                  </a:solidFill>
                                  <a:latin typeface="Cambria Math" panose="02040503050406030204" pitchFamily="18" charset="0"/>
                                </a:rPr>
                                <m:t>𝛿</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𝜏</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h</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m:t>
                              </m:r>
                              <m:r>
                                <a:rPr lang="zh-CN" altLang="en-US" i="1">
                                  <a:solidFill>
                                    <a:schemeClr val="tx1"/>
                                  </a:solidFill>
                                  <a:latin typeface="Cambria Math" panose="02040503050406030204" pitchFamily="18" charset="0"/>
                                </a:rPr>
                                <m:t>𝜏</m:t>
                              </m:r>
                            </m:e>
                          </m:nary>
                        </m:e>
                      </m:nary>
                      <m:r>
                        <a:rPr lang="zh-CN" altLang="en-US" i="1">
                          <a:solidFill>
                            <a:schemeClr val="tx1"/>
                          </a:solidFill>
                          <a:latin typeface="Cambria Math" panose="02040503050406030204" pitchFamily="18" charset="0"/>
                        </a:rPr>
                        <m:t>𝑑𝑡</m:t>
                      </m:r>
                    </m:oMath>
                    <m:oMath xmlns:m="http://schemas.openxmlformats.org/officeDocument/2006/math">
                      <m: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𝑁</m:t>
                              </m:r>
                            </m:e>
                            <m:sub>
                              <m:r>
                                <a:rPr lang="zh-CN" altLang="en-US" i="1">
                                  <a:solidFill>
                                    <a:schemeClr val="tx1"/>
                                  </a:solidFill>
                                  <a:latin typeface="Cambria Math" panose="02040503050406030204" pitchFamily="18" charset="0"/>
                                </a:rPr>
                                <m:t>0</m:t>
                              </m:r>
                            </m:sub>
                          </m:sSub>
                        </m:num>
                        <m:den>
                          <m:r>
                            <a:rPr lang="zh-CN" altLang="en-US" i="1">
                              <a:solidFill>
                                <a:schemeClr val="tx1"/>
                              </a:solidFill>
                              <a:latin typeface="Cambria Math" panose="02040503050406030204" pitchFamily="18" charset="0"/>
                            </a:rPr>
                            <m:t>2</m:t>
                          </m:r>
                        </m:den>
                      </m:f>
                      <m:nary>
                        <m:naryPr>
                          <m:limLoc m:val="undOvr"/>
                          <m:ctrlPr>
                            <a:rPr lang="zh-CN" altLang="en-US" i="1">
                              <a:solidFill>
                                <a:schemeClr val="tx1"/>
                              </a:solidFill>
                              <a:latin typeface="Cambria Math" panose="02040503050406030204" pitchFamily="18" charset="0"/>
                            </a:rPr>
                          </m:ctrlPr>
                        </m:naryPr>
                        <m:sub>
                          <m:r>
                            <a:rPr lang="zh-CN" altLang="en-US" i="1">
                              <a:solidFill>
                                <a:schemeClr val="tx1"/>
                              </a:solidFill>
                              <a:latin typeface="Cambria Math" panose="02040503050406030204" pitchFamily="18" charset="0"/>
                            </a:rPr>
                            <m:t>0</m:t>
                          </m:r>
                        </m:sub>
                        <m:sup>
                          <m:r>
                            <a:rPr lang="zh-CN" altLang="en-US" i="1">
                              <a:solidFill>
                                <a:schemeClr val="tx1"/>
                              </a:solidFill>
                              <a:latin typeface="Cambria Math" panose="02040503050406030204" pitchFamily="18" charset="0"/>
                            </a:rPr>
                            <m:t>𝑇</m:t>
                          </m:r>
                        </m:sup>
                        <m:e>
                          <m:sSup>
                            <m:sSupPr>
                              <m:ctrlPr>
                                <a:rPr lang="zh-CN" altLang="en-US" i="1">
                                  <a:solidFill>
                                    <a:schemeClr val="tx1"/>
                                  </a:solidFill>
                                  <a:latin typeface="Cambria Math" panose="02040503050406030204" pitchFamily="18" charset="0"/>
                                </a:rPr>
                              </m:ctrlPr>
                            </m:sSupPr>
                            <m:e>
                              <m:r>
                                <a:rPr lang="zh-CN" altLang="en-US" i="1">
                                  <a:solidFill>
                                    <a:schemeClr val="tx1"/>
                                  </a:solidFill>
                                  <a:latin typeface="Cambria Math" panose="02040503050406030204" pitchFamily="18" charset="0"/>
                                </a:rPr>
                                <m:t>h</m:t>
                              </m:r>
                            </m:e>
                            <m:sup>
                              <m:r>
                                <a:rPr lang="zh-CN" altLang="en-US" i="1">
                                  <a:solidFill>
                                    <a:schemeClr val="tx1"/>
                                  </a:solidFill>
                                  <a:latin typeface="Cambria Math" panose="02040503050406030204" pitchFamily="18" charset="0"/>
                                </a:rPr>
                                <m:t>2</m:t>
                              </m:r>
                            </m:sup>
                          </m:sSup>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𝑇</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𝑑𝑡</m:t>
                          </m:r>
                        </m:e>
                      </m:nary>
                    </m:oMath>
                  </m:oMathPara>
                </a14:m>
                <a:endParaRPr lang="zh-CN" altLang="en-US" dirty="0">
                  <a:solidFill>
                    <a:schemeClr val="tx1"/>
                  </a:solidFill>
                </a:endParaRPr>
              </a:p>
            </p:txBody>
          </p:sp>
        </mc:Choice>
        <mc:Fallback xmlns="">
          <p:sp>
            <p:nvSpPr>
              <p:cNvPr id="2" name="内容占位符 1">
                <a:extLst>
                  <a:ext uri="{FF2B5EF4-FFF2-40B4-BE49-F238E27FC236}">
                    <a16:creationId xmlns:a16="http://schemas.microsoft.com/office/drawing/2014/main" id="{A6DB8C2E-B74F-43AB-A538-51CD378AA04B}"/>
                  </a:ext>
                </a:extLst>
              </p:cNvPr>
              <p:cNvSpPr>
                <a:spLocks noGrp="1" noRot="1" noChangeAspect="1" noMove="1" noResize="1" noEditPoints="1" noAdjustHandles="1" noChangeArrowheads="1" noChangeShapeType="1" noTextEdit="1"/>
              </p:cNvSpPr>
              <p:nvPr>
                <p:ph/>
              </p:nvPr>
            </p:nvSpPr>
            <p:spPr>
              <a:xfrm>
                <a:off x="457201" y="1070314"/>
                <a:ext cx="8255000" cy="4448991"/>
              </a:xfrm>
              <a:blipFill>
                <a:blip r:embed="rId2"/>
                <a:stretch>
                  <a:fillRect l="-886" t="-1372" b="-64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143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F9F5E734-17D4-48D0-AB7D-0CB3A1782858}"/>
                  </a:ext>
                </a:extLst>
              </p:cNvPr>
              <p:cNvSpPr>
                <a:spLocks noGrp="1"/>
              </p:cNvSpPr>
              <p:nvPr>
                <p:ph/>
              </p:nvPr>
            </p:nvSpPr>
            <p:spPr>
              <a:xfrm>
                <a:off x="457201" y="1325441"/>
                <a:ext cx="8255000" cy="4443246"/>
              </a:xfrm>
            </p:spPr>
            <p:txBody>
              <a:bodyPr/>
              <a:lstStyle/>
              <a:p>
                <a:pPr>
                  <a:buNone/>
                </a:pPr>
                <a:endParaRPr lang="en-US" altLang="zh-CN" i="1" dirty="0">
                  <a:solidFill>
                    <a:srgbClr val="000000"/>
                  </a:solidFill>
                  <a:latin typeface="Cambria Math" panose="02040503050406030204" pitchFamily="18" charset="0"/>
                </a:endParaRPr>
              </a:p>
              <a:p>
                <a:pPr>
                  <a:buNone/>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𝑆</m:t>
                                  </m:r>
                                </m:num>
                                <m:den>
                                  <m:r>
                                    <a:rPr lang="zh-CN" altLang="en-US" i="1">
                                      <a:solidFill>
                                        <a:srgbClr val="000000"/>
                                      </a:solidFill>
                                      <a:latin typeface="Cambria Math" panose="02040503050406030204" pitchFamily="18" charset="0"/>
                                    </a:rPr>
                                    <m:t>𝑁</m:t>
                                  </m:r>
                                </m:den>
                              </m:f>
                            </m:e>
                          </m:d>
                        </m:e>
                        <m:sub>
                          <m:r>
                            <a:rPr lang="zh-CN" altLang="en-US" i="1">
                              <a:solidFill>
                                <a:srgbClr val="000000"/>
                              </a:solidFill>
                              <a:latin typeface="Cambria Math" panose="02040503050406030204" pitchFamily="18" charset="0"/>
                            </a:rPr>
                            <m:t>𝑜</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r>
                                        <a:rPr lang="en-US" altLang="zh-CN" b="1" i="1" smtClean="0">
                                          <a:solidFill>
                                            <a:srgbClr val="000000"/>
                                          </a:solidFill>
                                          <a:latin typeface="Cambria Math" panose="02040503050406030204" pitchFamily="18" charset="0"/>
                                        </a:rPr>
                                        <m:t>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h</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e>
                                  </m:nary>
                                </m:e>
                              </m:d>
                            </m:e>
                            <m:sup>
                              <m:r>
                                <a:rPr lang="zh-CN" altLang="en-US" i="1">
                                  <a:solidFill>
                                    <a:srgbClr val="000000"/>
                                  </a:solidFill>
                                  <a:latin typeface="Cambria Math" panose="02040503050406030204" pitchFamily="18" charset="0"/>
                                </a:rPr>
                                <m:t>2</m:t>
                              </m:r>
                            </m:sup>
                          </m:sSup>
                        </m:num>
                        <m:den>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h</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p>
                                <m:sSupPr>
                                  <m:ctrlPr>
                                    <a:rPr lang="zh-CN" altLang="en-US" i="1">
                                      <a:solidFill>
                                        <a:srgbClr val="000000"/>
                                      </a:solidFill>
                                      <a:latin typeface="Cambria Math" panose="02040503050406030204" pitchFamily="18" charset="0"/>
                                    </a:rPr>
                                  </m:ctrlPr>
                                </m:sSupPr>
                                <m:e>
                                  <m:r>
                                    <a:rPr lang="en-US" altLang="zh-CN" b="1" i="1" smtClean="0">
                                      <a:solidFill>
                                        <a:srgbClr val="000000"/>
                                      </a:solidFill>
                                      <a:latin typeface="Cambria Math" panose="02040503050406030204" pitchFamily="18" charset="0"/>
                                    </a:rPr>
                                    <m:t>𝒙</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h</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e>
                          </m:nary>
                        </m:num>
                        <m:den>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h</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𝜀</m:t>
                              </m:r>
                            </m:e>
                            <m:sub>
                              <m:r>
                                <a:rPr lang="en-US" altLang="zh-CN" b="1" i="1" smtClean="0">
                                  <a:solidFill>
                                    <a:srgbClr val="000000"/>
                                  </a:solidFill>
                                  <a:latin typeface="Cambria Math" panose="02040503050406030204" pitchFamily="18" charset="0"/>
                                </a:rPr>
                                <m:t>𝒙</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0</m:t>
                              </m:r>
                            </m:sub>
                          </m:sSub>
                        </m:den>
                      </m:f>
                    </m:oMath>
                  </m:oMathPara>
                </a14:m>
                <a:br>
                  <a:rPr lang="zh-CN" altLang="en-US" i="1" dirty="0">
                    <a:solidFill>
                      <a:srgbClr val="000000"/>
                    </a:solidFill>
                    <a:latin typeface="Cambria Math" panose="02040503050406030204" pitchFamily="18" charset="0"/>
                  </a:rPr>
                </a:br>
                <a:endParaRPr lang="en-US" altLang="zh-CN" i="1" dirty="0">
                  <a:solidFill>
                    <a:srgbClr val="000000"/>
                  </a:solidFill>
                  <a:latin typeface="Cambria Math" panose="02040503050406030204" pitchFamily="18" charset="0"/>
                </a:endParaRPr>
              </a:p>
              <a:p>
                <a:pPr>
                  <a:buNone/>
                </a:pPr>
                <a:endParaRPr lang="en-US" altLang="zh-CN" i="1" dirty="0">
                  <a:solidFill>
                    <a:srgbClr val="000000"/>
                  </a:solidFill>
                  <a:latin typeface="Cambria Math" panose="02040503050406030204" pitchFamily="18" charset="0"/>
                </a:endParaRPr>
              </a:p>
              <a:p>
                <a:pPr>
                  <a:buFont typeface="Wingdings" panose="05000000000000000000" pitchFamily="2" charset="2"/>
                  <a:buChar char="p"/>
                </a:pPr>
                <a:r>
                  <a:rPr lang="zh-CN" altLang="en-US" dirty="0">
                    <a:solidFill>
                      <a:srgbClr val="000000"/>
                    </a:solidFill>
                    <a:latin typeface="Cambria Math" panose="02040503050406030204" pitchFamily="18" charset="0"/>
                  </a:rPr>
                  <a:t>当</a:t>
                </a:r>
                <a14:m>
                  <m:oMath xmlns:m="http://schemas.openxmlformats.org/officeDocument/2006/math">
                    <m:r>
                      <a:rPr lang="en-US" altLang="zh-CN" b="0" i="1" smtClean="0">
                        <a:solidFill>
                          <a:srgbClr val="FF0000"/>
                        </a:solidFill>
                        <a:latin typeface="Cambria Math" panose="02040503050406030204" pitchFamily="18" charset="0"/>
                      </a:rPr>
                      <m:t>𝑥</m:t>
                    </m:r>
                    <m:d>
                      <m:dPr>
                        <m:ctrlPr>
                          <a:rPr lang="zh-CN" altLang="en-US" b="0" i="1">
                            <a:solidFill>
                              <a:srgbClr val="FF0000"/>
                            </a:solidFill>
                            <a:latin typeface="Cambria Math" panose="02040503050406030204" pitchFamily="18" charset="0"/>
                          </a:rPr>
                        </m:ctrlPr>
                      </m:dPr>
                      <m:e>
                        <m:r>
                          <a:rPr lang="zh-CN" altLang="en-US" b="0" i="1">
                            <a:solidFill>
                              <a:srgbClr val="FF0000"/>
                            </a:solidFill>
                            <a:latin typeface="Cambria Math" panose="02040503050406030204" pitchFamily="18" charset="0"/>
                          </a:rPr>
                          <m:t>𝑡</m:t>
                        </m:r>
                      </m:e>
                    </m:d>
                    <m:r>
                      <a:rPr lang="zh-CN" altLang="en-US" b="0"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𝑐</m:t>
                    </m:r>
                    <m:r>
                      <a:rPr lang="en-US" altLang="zh-CN" b="0" i="1" smtClean="0">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h</m:t>
                    </m:r>
                    <m:d>
                      <m:dPr>
                        <m:ctrlPr>
                          <a:rPr lang="zh-CN" altLang="en-US" b="0" i="1">
                            <a:solidFill>
                              <a:srgbClr val="FF0000"/>
                            </a:solidFill>
                            <a:latin typeface="Cambria Math" panose="02040503050406030204" pitchFamily="18" charset="0"/>
                          </a:rPr>
                        </m:ctrlPr>
                      </m:dPr>
                      <m:e>
                        <m:r>
                          <a:rPr lang="zh-CN" altLang="en-US" b="0" i="1">
                            <a:solidFill>
                              <a:srgbClr val="FF0000"/>
                            </a:solidFill>
                            <a:latin typeface="Cambria Math" panose="02040503050406030204" pitchFamily="18" charset="0"/>
                          </a:rPr>
                          <m:t>𝑇</m:t>
                        </m:r>
                        <m:r>
                          <a:rPr lang="zh-CN" altLang="en-US" b="0" i="1">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𝑡</m:t>
                        </m:r>
                      </m:e>
                    </m:d>
                    <m:r>
                      <a:rPr lang="zh-CN" altLang="en-US" b="0" i="1">
                        <a:solidFill>
                          <a:srgbClr val="FF0000"/>
                        </a:solidFill>
                        <a:latin typeface="Cambria Math" panose="02040503050406030204" pitchFamily="18" charset="0"/>
                      </a:rPr>
                      <m:t>⇒</m:t>
                    </m:r>
                  </m:oMath>
                </a14:m>
                <a:r>
                  <a:rPr lang="zh-CN" altLang="en-US" b="0" dirty="0">
                    <a:solidFill>
                      <a:srgbClr val="FF0000"/>
                    </a:solidFill>
                  </a:rPr>
                  <a:t>   </a:t>
                </a:r>
                <a14:m>
                  <m:oMath xmlns:m="http://schemas.openxmlformats.org/officeDocument/2006/math">
                    <m:r>
                      <a:rPr lang="zh-CN" altLang="en-US" b="0" i="1">
                        <a:solidFill>
                          <a:srgbClr val="FF0000"/>
                        </a:solidFill>
                        <a:latin typeface="Cambria Math" panose="02040503050406030204" pitchFamily="18" charset="0"/>
                      </a:rPr>
                      <m:t>匹配滤波器的单位冲激响应为</m:t>
                    </m:r>
                  </m:oMath>
                </a14:m>
                <a:endParaRPr lang="en-US" altLang="zh-CN" b="0" i="1" dirty="0">
                  <a:solidFill>
                    <a:srgbClr val="FF0000"/>
                  </a:solidFill>
                  <a:latin typeface="Cambria Math" panose="02040503050406030204" pitchFamily="18" charset="0"/>
                </a:endParaRPr>
              </a:p>
              <a:p>
                <a:pPr marL="0" indent="0">
                  <a:buNone/>
                </a:pPr>
                <a:r>
                  <a:rPr lang="zh-CN" altLang="en-US" b="0" dirty="0">
                    <a:solidFill>
                      <a:srgbClr val="FF0000"/>
                    </a:solidFill>
                  </a:rPr>
                  <a:t>                   </a:t>
                </a:r>
                <a14:m>
                  <m:oMath xmlns:m="http://schemas.openxmlformats.org/officeDocument/2006/math">
                    <m:r>
                      <a:rPr lang="zh-CN" altLang="en-US" b="0" i="1">
                        <a:solidFill>
                          <a:srgbClr val="FF0000"/>
                        </a:solidFill>
                        <a:latin typeface="Cambria Math" panose="02040503050406030204" pitchFamily="18" charset="0"/>
                      </a:rPr>
                      <m:t>h</m:t>
                    </m:r>
                    <m:d>
                      <m:dPr>
                        <m:ctrlPr>
                          <a:rPr lang="zh-CN" altLang="en-US" b="0" i="1">
                            <a:solidFill>
                              <a:srgbClr val="FF0000"/>
                            </a:solidFill>
                            <a:latin typeface="Cambria Math" panose="02040503050406030204" pitchFamily="18" charset="0"/>
                          </a:rPr>
                        </m:ctrlPr>
                      </m:dPr>
                      <m:e>
                        <m:r>
                          <a:rPr lang="zh-CN" altLang="en-US" b="0" i="1">
                            <a:solidFill>
                              <a:srgbClr val="FF0000"/>
                            </a:solidFill>
                            <a:latin typeface="Cambria Math" panose="02040503050406030204" pitchFamily="18" charset="0"/>
                          </a:rPr>
                          <m:t>𝑡</m:t>
                        </m:r>
                      </m:e>
                    </m:d>
                    <m:r>
                      <a:rPr lang="zh-CN" altLang="en-US" b="0" i="1">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𝑐</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𝑥</m:t>
                    </m:r>
                    <m:r>
                      <a:rPr lang="zh-CN" altLang="en-US" b="0" i="1">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𝑇</m:t>
                    </m:r>
                    <m:r>
                      <a:rPr lang="zh-CN" altLang="en-US" b="0" i="1">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𝑡</m:t>
                    </m:r>
                    <m:r>
                      <a:rPr lang="zh-CN" altLang="en-US" b="0" i="1">
                        <a:solidFill>
                          <a:srgbClr val="FF0000"/>
                        </a:solidFill>
                        <a:latin typeface="Cambria Math" panose="02040503050406030204" pitchFamily="18" charset="0"/>
                      </a:rPr>
                      <m:t>)</m:t>
                    </m:r>
                  </m:oMath>
                </a14:m>
                <a:r>
                  <a:rPr lang="zh-CN" altLang="en-US" b="0" dirty="0">
                    <a:solidFill>
                      <a:srgbClr val="FF0000"/>
                    </a:solidFill>
                  </a:rPr>
                  <a:t>  </a:t>
                </a:r>
                <a:r>
                  <a:rPr lang="zh-CN" altLang="en-US" dirty="0"/>
                  <a:t>等号成立。</a:t>
                </a:r>
              </a:p>
              <a:p>
                <a:pPr>
                  <a:buFont typeface="Wingdings" panose="05000000000000000000" pitchFamily="2" charset="2"/>
                  <a:buChar char="p"/>
                </a:pPr>
                <a:r>
                  <a:rPr lang="zh-CN" altLang="en-US" dirty="0"/>
                  <a:t>匹配滤波器的频域解释：</a:t>
                </a:r>
                <a:endParaRPr lang="en-US" altLang="zh-CN" dirty="0"/>
              </a:p>
              <a:p>
                <a:pPr marL="0" indent="0">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𝐻</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r>
                            <a:rPr lang="en-US" altLang="zh-CN" b="1" i="1" smtClean="0">
                              <a:solidFill>
                                <a:srgbClr val="000000"/>
                              </a:solidFill>
                              <a:latin typeface="Cambria Math" panose="02040503050406030204" pitchFamily="18" charset="0"/>
                            </a:rPr>
                            <m:t>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𝑓𝑡</m:t>
                              </m:r>
                            </m:sup>
                          </m:sSup>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e>
                      </m:nary>
                      <m:d>
                        <m:dPr>
                          <m:begChr m:val="["/>
                          <m:endChr m:val="]"/>
                          <m:ctrlPr>
                            <a:rPr lang="zh-CN" altLang="en-US" i="1">
                              <a:solidFill>
                                <a:srgbClr val="000000"/>
                              </a:solidFill>
                              <a:latin typeface="Cambria Math" panose="02040503050406030204" pitchFamily="18" charset="0"/>
                            </a:rPr>
                          </m:ctrlPr>
                        </m:dPr>
                        <m:e>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r>
                                <a:rPr lang="en-US" altLang="zh-CN" b="1" i="1" smtClean="0">
                                  <a:solidFill>
                                    <a:srgbClr val="000000"/>
                                  </a:solidFill>
                                  <a:latin typeface="Cambria Math" panose="02040503050406030204" pitchFamily="18" charset="0"/>
                                </a:rPr>
                                <m:t>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𝜏</m:t>
                                  </m:r>
                                </m:sup>
                              </m:sSup>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𝑓𝑇</m:t>
                          </m:r>
                        </m:sup>
                      </m:sSup>
                    </m:oMath>
                    <m:oMath xmlns:m="http://schemas.openxmlformats.org/officeDocument/2006/math">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1" i="1" smtClean="0">
                              <a:solidFill>
                                <a:srgbClr val="000000"/>
                              </a:solidFill>
                              <a:latin typeface="Cambria Math" panose="02040503050406030204" pitchFamily="18" charset="0"/>
                            </a:rPr>
                            <m:t>𝑿</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𝑓𝑇</m:t>
                          </m:r>
                        </m:sup>
                      </m:sSup>
                    </m:oMath>
                  </m:oMathPara>
                </a14:m>
                <a:endParaRPr lang="zh-CN" altLang="en-US"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F9F5E734-17D4-48D0-AB7D-0CB3A1782858}"/>
                  </a:ext>
                </a:extLst>
              </p:cNvPr>
              <p:cNvSpPr>
                <a:spLocks noGrp="1" noRot="1" noChangeAspect="1" noMove="1" noResize="1" noEditPoints="1" noAdjustHandles="1" noChangeArrowheads="1" noChangeShapeType="1" noTextEdit="1"/>
              </p:cNvSpPr>
              <p:nvPr>
                <p:ph/>
              </p:nvPr>
            </p:nvSpPr>
            <p:spPr>
              <a:xfrm>
                <a:off x="457201" y="1325441"/>
                <a:ext cx="8255000" cy="4443246"/>
              </a:xfrm>
              <a:blipFill>
                <a:blip r:embed="rId2"/>
                <a:stretch>
                  <a:fillRect l="-739" b="-823"/>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2EEE9475-B9CE-43AB-86B1-5E724EEF2FD8}"/>
              </a:ext>
            </a:extLst>
          </p:cNvPr>
          <p:cNvGrpSpPr/>
          <p:nvPr/>
        </p:nvGrpSpPr>
        <p:grpSpPr>
          <a:xfrm>
            <a:off x="4081509" y="957124"/>
            <a:ext cx="3495581" cy="1910918"/>
            <a:chOff x="4790610" y="3045619"/>
            <a:chExt cx="3229019" cy="1646919"/>
          </a:xfrm>
        </p:grpSpPr>
        <p:sp>
          <p:nvSpPr>
            <p:cNvPr id="4" name="任意多边形 1">
              <a:extLst>
                <a:ext uri="{FF2B5EF4-FFF2-40B4-BE49-F238E27FC236}">
                  <a16:creationId xmlns:a16="http://schemas.microsoft.com/office/drawing/2014/main" id="{6E08E03E-C1CF-453E-8C81-AFCD25E950B5}"/>
                </a:ext>
              </a:extLst>
            </p:cNvPr>
            <p:cNvSpPr/>
            <p:nvPr/>
          </p:nvSpPr>
          <p:spPr bwMode="auto">
            <a:xfrm>
              <a:off x="4790610" y="3441720"/>
              <a:ext cx="3229019" cy="1250818"/>
            </a:xfrm>
            <a:custGeom>
              <a:avLst/>
              <a:gdLst>
                <a:gd name="connsiteX0" fmla="*/ 130024 w 797536"/>
                <a:gd name="connsiteY0" fmla="*/ 704088 h 704088"/>
                <a:gd name="connsiteX1" fmla="*/ 130024 w 797536"/>
                <a:gd name="connsiteY1" fmla="*/ 704088 h 704088"/>
                <a:gd name="connsiteX2" fmla="*/ 532360 w 797536"/>
                <a:gd name="connsiteY2" fmla="*/ 694944 h 704088"/>
                <a:gd name="connsiteX3" fmla="*/ 568936 w 797536"/>
                <a:gd name="connsiteY3" fmla="*/ 685800 h 704088"/>
                <a:gd name="connsiteX4" fmla="*/ 605512 w 797536"/>
                <a:gd name="connsiteY4" fmla="*/ 667512 h 704088"/>
                <a:gd name="connsiteX5" fmla="*/ 669520 w 797536"/>
                <a:gd name="connsiteY5" fmla="*/ 585216 h 704088"/>
                <a:gd name="connsiteX6" fmla="*/ 687808 w 797536"/>
                <a:gd name="connsiteY6" fmla="*/ 548640 h 704088"/>
                <a:gd name="connsiteX7" fmla="*/ 715240 w 797536"/>
                <a:gd name="connsiteY7" fmla="*/ 521208 h 704088"/>
                <a:gd name="connsiteX8" fmla="*/ 733528 w 797536"/>
                <a:gd name="connsiteY8" fmla="*/ 457200 h 704088"/>
                <a:gd name="connsiteX9" fmla="*/ 770104 w 797536"/>
                <a:gd name="connsiteY9" fmla="*/ 365760 h 704088"/>
                <a:gd name="connsiteX10" fmla="*/ 779248 w 797536"/>
                <a:gd name="connsiteY10" fmla="*/ 338328 h 704088"/>
                <a:gd name="connsiteX11" fmla="*/ 797536 w 797536"/>
                <a:gd name="connsiteY11" fmla="*/ 246888 h 704088"/>
                <a:gd name="connsiteX12" fmla="*/ 788392 w 797536"/>
                <a:gd name="connsiteY12" fmla="*/ 182880 h 704088"/>
                <a:gd name="connsiteX13" fmla="*/ 742672 w 797536"/>
                <a:gd name="connsiteY13" fmla="*/ 128016 h 704088"/>
                <a:gd name="connsiteX14" fmla="*/ 724384 w 797536"/>
                <a:gd name="connsiteY14" fmla="*/ 100584 h 704088"/>
                <a:gd name="connsiteX15" fmla="*/ 687808 w 797536"/>
                <a:gd name="connsiteY15" fmla="*/ 82296 h 704088"/>
                <a:gd name="connsiteX16" fmla="*/ 632944 w 797536"/>
                <a:gd name="connsiteY16" fmla="*/ 45720 h 704088"/>
                <a:gd name="connsiteX17" fmla="*/ 578080 w 797536"/>
                <a:gd name="connsiteY17" fmla="*/ 27432 h 704088"/>
                <a:gd name="connsiteX18" fmla="*/ 550648 w 797536"/>
                <a:gd name="connsiteY18" fmla="*/ 18288 h 704088"/>
                <a:gd name="connsiteX19" fmla="*/ 477496 w 797536"/>
                <a:gd name="connsiteY19" fmla="*/ 0 h 704088"/>
                <a:gd name="connsiteX20" fmla="*/ 285472 w 797536"/>
                <a:gd name="connsiteY20" fmla="*/ 9144 h 704088"/>
                <a:gd name="connsiteX21" fmla="*/ 203176 w 797536"/>
                <a:gd name="connsiteY21" fmla="*/ 36576 h 704088"/>
                <a:gd name="connsiteX22" fmla="*/ 175744 w 797536"/>
                <a:gd name="connsiteY22" fmla="*/ 45720 h 704088"/>
                <a:gd name="connsiteX23" fmla="*/ 148312 w 797536"/>
                <a:gd name="connsiteY23" fmla="*/ 54864 h 704088"/>
                <a:gd name="connsiteX24" fmla="*/ 120880 w 797536"/>
                <a:gd name="connsiteY24" fmla="*/ 82296 h 704088"/>
                <a:gd name="connsiteX25" fmla="*/ 93448 w 797536"/>
                <a:gd name="connsiteY25" fmla="*/ 100584 h 704088"/>
                <a:gd name="connsiteX26" fmla="*/ 29440 w 797536"/>
                <a:gd name="connsiteY26" fmla="*/ 182880 h 704088"/>
                <a:gd name="connsiteX27" fmla="*/ 11152 w 797536"/>
                <a:gd name="connsiteY27" fmla="*/ 237744 h 704088"/>
                <a:gd name="connsiteX28" fmla="*/ 11152 w 797536"/>
                <a:gd name="connsiteY28" fmla="*/ 493776 h 704088"/>
                <a:gd name="connsiteX29" fmla="*/ 47728 w 797536"/>
                <a:gd name="connsiteY29" fmla="*/ 576072 h 704088"/>
                <a:gd name="connsiteX30" fmla="*/ 75160 w 797536"/>
                <a:gd name="connsiteY30" fmla="*/ 594360 h 704088"/>
                <a:gd name="connsiteX31" fmla="*/ 93448 w 797536"/>
                <a:gd name="connsiteY31" fmla="*/ 621792 h 704088"/>
                <a:gd name="connsiteX32" fmla="*/ 148312 w 797536"/>
                <a:gd name="connsiteY32" fmla="*/ 640080 h 704088"/>
                <a:gd name="connsiteX33" fmla="*/ 166600 w 797536"/>
                <a:gd name="connsiteY33" fmla="*/ 667512 h 704088"/>
                <a:gd name="connsiteX34" fmla="*/ 194032 w 797536"/>
                <a:gd name="connsiteY34" fmla="*/ 694944 h 704088"/>
                <a:gd name="connsiteX35" fmla="*/ 267184 w 797536"/>
                <a:gd name="connsiteY35" fmla="*/ 704088 h 704088"/>
                <a:gd name="connsiteX36" fmla="*/ 267184 w 797536"/>
                <a:gd name="connsiteY36" fmla="*/ 704088 h 704088"/>
                <a:gd name="connsiteX37" fmla="*/ 130024 w 797536"/>
                <a:gd name="connsiteY37" fmla="*/ 704088 h 70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97536" h="704088">
                  <a:moveTo>
                    <a:pt x="130024" y="704088"/>
                  </a:moveTo>
                  <a:lnTo>
                    <a:pt x="130024" y="704088"/>
                  </a:lnTo>
                  <a:lnTo>
                    <a:pt x="532360" y="694944"/>
                  </a:lnTo>
                  <a:cubicBezTo>
                    <a:pt x="544916" y="694421"/>
                    <a:pt x="557169" y="690213"/>
                    <a:pt x="568936" y="685800"/>
                  </a:cubicBezTo>
                  <a:cubicBezTo>
                    <a:pt x="581699" y="681014"/>
                    <a:pt x="594420" y="675435"/>
                    <a:pt x="605512" y="667512"/>
                  </a:cubicBezTo>
                  <a:cubicBezTo>
                    <a:pt x="628926" y="650788"/>
                    <a:pt x="659016" y="606224"/>
                    <a:pt x="669520" y="585216"/>
                  </a:cubicBezTo>
                  <a:cubicBezTo>
                    <a:pt x="675616" y="573024"/>
                    <a:pt x="679885" y="559732"/>
                    <a:pt x="687808" y="548640"/>
                  </a:cubicBezTo>
                  <a:cubicBezTo>
                    <a:pt x="695324" y="538117"/>
                    <a:pt x="706096" y="530352"/>
                    <a:pt x="715240" y="521208"/>
                  </a:cubicBezTo>
                  <a:cubicBezTo>
                    <a:pt x="719880" y="502647"/>
                    <a:pt x="725657" y="475565"/>
                    <a:pt x="733528" y="457200"/>
                  </a:cubicBezTo>
                  <a:cubicBezTo>
                    <a:pt x="773892" y="363018"/>
                    <a:pt x="728478" y="490638"/>
                    <a:pt x="770104" y="365760"/>
                  </a:cubicBezTo>
                  <a:cubicBezTo>
                    <a:pt x="773152" y="356616"/>
                    <a:pt x="777358" y="347779"/>
                    <a:pt x="779248" y="338328"/>
                  </a:cubicBezTo>
                  <a:lnTo>
                    <a:pt x="797536" y="246888"/>
                  </a:lnTo>
                  <a:cubicBezTo>
                    <a:pt x="794488" y="225552"/>
                    <a:pt x="794585" y="203524"/>
                    <a:pt x="788392" y="182880"/>
                  </a:cubicBezTo>
                  <a:cubicBezTo>
                    <a:pt x="782007" y="161596"/>
                    <a:pt x="755428" y="143324"/>
                    <a:pt x="742672" y="128016"/>
                  </a:cubicBezTo>
                  <a:cubicBezTo>
                    <a:pt x="735637" y="119573"/>
                    <a:pt x="732827" y="107619"/>
                    <a:pt x="724384" y="100584"/>
                  </a:cubicBezTo>
                  <a:cubicBezTo>
                    <a:pt x="713912" y="91858"/>
                    <a:pt x="699497" y="89309"/>
                    <a:pt x="687808" y="82296"/>
                  </a:cubicBezTo>
                  <a:cubicBezTo>
                    <a:pt x="668961" y="70988"/>
                    <a:pt x="653796" y="52671"/>
                    <a:pt x="632944" y="45720"/>
                  </a:cubicBezTo>
                  <a:lnTo>
                    <a:pt x="578080" y="27432"/>
                  </a:lnTo>
                  <a:cubicBezTo>
                    <a:pt x="568936" y="24384"/>
                    <a:pt x="560099" y="20178"/>
                    <a:pt x="550648" y="18288"/>
                  </a:cubicBezTo>
                  <a:cubicBezTo>
                    <a:pt x="495477" y="7254"/>
                    <a:pt x="519672" y="14059"/>
                    <a:pt x="477496" y="0"/>
                  </a:cubicBezTo>
                  <a:cubicBezTo>
                    <a:pt x="413488" y="3048"/>
                    <a:pt x="349161" y="2067"/>
                    <a:pt x="285472" y="9144"/>
                  </a:cubicBezTo>
                  <a:lnTo>
                    <a:pt x="203176" y="36576"/>
                  </a:lnTo>
                  <a:lnTo>
                    <a:pt x="175744" y="45720"/>
                  </a:lnTo>
                  <a:lnTo>
                    <a:pt x="148312" y="54864"/>
                  </a:lnTo>
                  <a:cubicBezTo>
                    <a:pt x="139168" y="64008"/>
                    <a:pt x="130814" y="74017"/>
                    <a:pt x="120880" y="82296"/>
                  </a:cubicBezTo>
                  <a:cubicBezTo>
                    <a:pt x="112437" y="89331"/>
                    <a:pt x="101891" y="93549"/>
                    <a:pt x="93448" y="100584"/>
                  </a:cubicBezTo>
                  <a:cubicBezTo>
                    <a:pt x="71600" y="118791"/>
                    <a:pt x="37283" y="159352"/>
                    <a:pt x="29440" y="182880"/>
                  </a:cubicBezTo>
                  <a:lnTo>
                    <a:pt x="11152" y="237744"/>
                  </a:lnTo>
                  <a:cubicBezTo>
                    <a:pt x="-1293" y="349750"/>
                    <a:pt x="-5962" y="351155"/>
                    <a:pt x="11152" y="493776"/>
                  </a:cubicBezTo>
                  <a:cubicBezTo>
                    <a:pt x="13621" y="514354"/>
                    <a:pt x="29746" y="558090"/>
                    <a:pt x="47728" y="576072"/>
                  </a:cubicBezTo>
                  <a:cubicBezTo>
                    <a:pt x="55499" y="583843"/>
                    <a:pt x="66016" y="588264"/>
                    <a:pt x="75160" y="594360"/>
                  </a:cubicBezTo>
                  <a:cubicBezTo>
                    <a:pt x="81256" y="603504"/>
                    <a:pt x="84129" y="615967"/>
                    <a:pt x="93448" y="621792"/>
                  </a:cubicBezTo>
                  <a:cubicBezTo>
                    <a:pt x="109795" y="632009"/>
                    <a:pt x="148312" y="640080"/>
                    <a:pt x="148312" y="640080"/>
                  </a:cubicBezTo>
                  <a:cubicBezTo>
                    <a:pt x="154408" y="649224"/>
                    <a:pt x="158829" y="659741"/>
                    <a:pt x="166600" y="667512"/>
                  </a:cubicBezTo>
                  <a:cubicBezTo>
                    <a:pt x="196568" y="697480"/>
                    <a:pt x="194032" y="672040"/>
                    <a:pt x="194032" y="694944"/>
                  </a:cubicBezTo>
                  <a:lnTo>
                    <a:pt x="267184" y="704088"/>
                  </a:lnTo>
                  <a:lnTo>
                    <a:pt x="267184" y="704088"/>
                  </a:lnTo>
                  <a:lnTo>
                    <a:pt x="130024" y="704088"/>
                  </a:lnTo>
                  <a:close/>
                </a:path>
              </a:pathLst>
            </a:custGeom>
            <a:noFill/>
            <a:ln w="15875" cap="flat" cmpd="sng" algn="ctr">
              <a:solidFill>
                <a:srgbClr val="FF0000"/>
              </a:solidFill>
              <a:prstDash val="solid"/>
              <a:miter lim="800000"/>
              <a:headEnd type="none" w="med" len="med"/>
              <a:tailEnd type="none" w="med" len="med"/>
            </a:ln>
            <a:effectLst/>
          </p:spPr>
          <p:txBody>
            <a:bodyPr vert="horz" wrap="none" lIns="68580" tIns="34290" rIns="68580" bIns="34290" numCol="1" rtlCol="0" anchor="t" anchorCtr="0" compatLnSpc="1">
              <a:prstTxWarp prst="textNoShape">
                <a:avLst/>
              </a:prstTxWarp>
            </a:bodyPr>
            <a:lstStyle/>
            <a:p>
              <a:pPr fontAlgn="base">
                <a:spcBef>
                  <a:spcPct val="0"/>
                </a:spcBef>
                <a:spcAft>
                  <a:spcPct val="0"/>
                </a:spcAft>
              </a:pPr>
              <a:endParaRPr kumimoji="1" lang="zh-CN" altLang="en-US" b="1">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5" name="椭圆形标注 2">
              <a:extLst>
                <a:ext uri="{FF2B5EF4-FFF2-40B4-BE49-F238E27FC236}">
                  <a16:creationId xmlns:a16="http://schemas.microsoft.com/office/drawing/2014/main" id="{9FBD0985-9548-4562-8BC0-AC9F6C3418EC}"/>
                </a:ext>
              </a:extLst>
            </p:cNvPr>
            <p:cNvSpPr/>
            <p:nvPr/>
          </p:nvSpPr>
          <p:spPr bwMode="auto">
            <a:xfrm>
              <a:off x="5220071" y="3045619"/>
              <a:ext cx="2664247" cy="612648"/>
            </a:xfrm>
            <a:prstGeom prst="wedgeEllipseCallout">
              <a:avLst>
                <a:gd name="adj1" fmla="val -31658"/>
                <a:gd name="adj2" fmla="val 90640"/>
              </a:avLst>
            </a:prstGeom>
            <a:noFill/>
            <a:ln w="9525" cap="flat" cmpd="sng" algn="ctr">
              <a:solidFill>
                <a:srgbClr val="FF0000"/>
              </a:solidFill>
              <a:prstDash val="solid"/>
              <a:miter lim="800000"/>
              <a:headEnd type="none" w="med" len="med"/>
              <a:tailEnd type="none" w="med" len="med"/>
            </a:ln>
            <a:effectLst/>
          </p:spPr>
          <p:txBody>
            <a:bodyPr vert="horz" wrap="none" lIns="68580" tIns="34290" rIns="68580" bIns="34290" numCol="1" rtlCol="0" anchor="t" anchorCtr="0" compatLnSpc="1">
              <a:prstTxWarp prst="textNoShape">
                <a:avLst/>
              </a:prstTxWarp>
            </a:bodyPr>
            <a:lstStyle/>
            <a:p>
              <a:pPr fontAlgn="base">
                <a:spcBef>
                  <a:spcPct val="0"/>
                </a:spcBef>
                <a:spcAft>
                  <a:spcPct val="0"/>
                </a:spcAft>
              </a:pPr>
              <a:r>
                <a:rPr kumimoji="1" lang="zh-CN" altLang="en-US" dirty="0">
                  <a:latin typeface="Tahoma" panose="020B0604030504040204" pitchFamily="34" charset="0"/>
                  <a:ea typeface="宋体" panose="02010600030101010101" pitchFamily="2" charset="-122"/>
                </a:rPr>
                <a:t>柯西</a:t>
              </a:r>
              <a:r>
                <a:rPr kumimoji="1" lang="en-US" altLang="zh-CN" dirty="0">
                  <a:latin typeface="Tahoma" panose="020B0604030504040204" pitchFamily="34" charset="0"/>
                  <a:ea typeface="宋体" panose="02010600030101010101" pitchFamily="2" charset="-122"/>
                </a:rPr>
                <a:t>-</a:t>
              </a:r>
              <a:r>
                <a:rPr kumimoji="1" lang="zh-CN" altLang="en-US" dirty="0">
                  <a:latin typeface="Tahoma" panose="020B0604030504040204" pitchFamily="34" charset="0"/>
                  <a:ea typeface="宋体" panose="02010600030101010101" pitchFamily="2" charset="-122"/>
                </a:rPr>
                <a:t>许瓦兹不等式</a:t>
              </a:r>
            </a:p>
          </p:txBody>
        </p:sp>
      </p:grpSp>
      <p:grpSp>
        <p:nvGrpSpPr>
          <p:cNvPr id="11" name="组合 10">
            <a:extLst>
              <a:ext uri="{FF2B5EF4-FFF2-40B4-BE49-F238E27FC236}">
                <a16:creationId xmlns:a16="http://schemas.microsoft.com/office/drawing/2014/main" id="{9AC54292-B050-45D4-8B44-545AFC644097}"/>
              </a:ext>
            </a:extLst>
          </p:cNvPr>
          <p:cNvGrpSpPr/>
          <p:nvPr/>
        </p:nvGrpSpPr>
        <p:grpSpPr>
          <a:xfrm>
            <a:off x="7394683" y="1667977"/>
            <a:ext cx="1364456" cy="2361137"/>
            <a:chOff x="9859576" y="1080970"/>
            <a:chExt cx="1819275" cy="3148182"/>
          </a:xfrm>
        </p:grpSpPr>
        <p:sp>
          <p:nvSpPr>
            <p:cNvPr id="8" name="Freeform 9">
              <a:extLst>
                <a:ext uri="{FF2B5EF4-FFF2-40B4-BE49-F238E27FC236}">
                  <a16:creationId xmlns:a16="http://schemas.microsoft.com/office/drawing/2014/main" id="{1505175B-40C6-4349-845D-6E0829421559}"/>
                </a:ext>
              </a:extLst>
            </p:cNvPr>
            <p:cNvSpPr>
              <a:spLocks/>
            </p:cNvSpPr>
            <p:nvPr/>
          </p:nvSpPr>
          <p:spPr bwMode="auto">
            <a:xfrm>
              <a:off x="10245725" y="1080970"/>
              <a:ext cx="936625" cy="1280490"/>
            </a:xfrm>
            <a:custGeom>
              <a:avLst/>
              <a:gdLst>
                <a:gd name="T0" fmla="*/ 47 w 908"/>
                <a:gd name="T1" fmla="*/ 388 h 790"/>
                <a:gd name="T2" fmla="*/ 47 w 908"/>
                <a:gd name="T3" fmla="*/ 269 h 790"/>
                <a:gd name="T4" fmla="*/ 111 w 908"/>
                <a:gd name="T5" fmla="*/ 196 h 790"/>
                <a:gd name="T6" fmla="*/ 148 w 908"/>
                <a:gd name="T7" fmla="*/ 141 h 790"/>
                <a:gd name="T8" fmla="*/ 175 w 908"/>
                <a:gd name="T9" fmla="*/ 86 h 790"/>
                <a:gd name="T10" fmla="*/ 212 w 908"/>
                <a:gd name="T11" fmla="*/ 68 h 790"/>
                <a:gd name="T12" fmla="*/ 267 w 908"/>
                <a:gd name="T13" fmla="*/ 50 h 790"/>
                <a:gd name="T14" fmla="*/ 331 w 908"/>
                <a:gd name="T15" fmla="*/ 22 h 790"/>
                <a:gd name="T16" fmla="*/ 386 w 908"/>
                <a:gd name="T17" fmla="*/ 4 h 790"/>
                <a:gd name="T18" fmla="*/ 724 w 908"/>
                <a:gd name="T19" fmla="*/ 31 h 790"/>
                <a:gd name="T20" fmla="*/ 870 w 908"/>
                <a:gd name="T21" fmla="*/ 205 h 790"/>
                <a:gd name="T22" fmla="*/ 889 w 908"/>
                <a:gd name="T23" fmla="*/ 269 h 790"/>
                <a:gd name="T24" fmla="*/ 806 w 908"/>
                <a:gd name="T25" fmla="*/ 726 h 790"/>
                <a:gd name="T26" fmla="*/ 797 w 908"/>
                <a:gd name="T27" fmla="*/ 754 h 790"/>
                <a:gd name="T28" fmla="*/ 751 w 908"/>
                <a:gd name="T29" fmla="*/ 763 h 790"/>
                <a:gd name="T30" fmla="*/ 697 w 908"/>
                <a:gd name="T31" fmla="*/ 781 h 790"/>
                <a:gd name="T32" fmla="*/ 422 w 908"/>
                <a:gd name="T33" fmla="*/ 790 h 790"/>
                <a:gd name="T34" fmla="*/ 121 w 908"/>
                <a:gd name="T35" fmla="*/ 781 h 790"/>
                <a:gd name="T36" fmla="*/ 93 w 908"/>
                <a:gd name="T37" fmla="*/ 772 h 790"/>
                <a:gd name="T38" fmla="*/ 57 w 908"/>
                <a:gd name="T39" fmla="*/ 717 h 790"/>
                <a:gd name="T40" fmla="*/ 38 w 908"/>
                <a:gd name="T41" fmla="*/ 699 h 790"/>
                <a:gd name="T42" fmla="*/ 47 w 908"/>
                <a:gd name="T43" fmla="*/ 388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8" h="790">
                  <a:moveTo>
                    <a:pt x="47" y="388"/>
                  </a:moveTo>
                  <a:cubicBezTo>
                    <a:pt x="26" y="324"/>
                    <a:pt x="19" y="337"/>
                    <a:pt x="47" y="269"/>
                  </a:cubicBezTo>
                  <a:cubicBezTo>
                    <a:pt x="59" y="239"/>
                    <a:pt x="111" y="196"/>
                    <a:pt x="111" y="196"/>
                  </a:cubicBezTo>
                  <a:cubicBezTo>
                    <a:pt x="135" y="127"/>
                    <a:pt x="101" y="212"/>
                    <a:pt x="148" y="141"/>
                  </a:cubicBezTo>
                  <a:cubicBezTo>
                    <a:pt x="167" y="112"/>
                    <a:pt x="144" y="112"/>
                    <a:pt x="175" y="86"/>
                  </a:cubicBezTo>
                  <a:cubicBezTo>
                    <a:pt x="186" y="77"/>
                    <a:pt x="199" y="73"/>
                    <a:pt x="212" y="68"/>
                  </a:cubicBezTo>
                  <a:cubicBezTo>
                    <a:pt x="230" y="61"/>
                    <a:pt x="267" y="50"/>
                    <a:pt x="267" y="50"/>
                  </a:cubicBezTo>
                  <a:cubicBezTo>
                    <a:pt x="309" y="20"/>
                    <a:pt x="277" y="38"/>
                    <a:pt x="331" y="22"/>
                  </a:cubicBezTo>
                  <a:cubicBezTo>
                    <a:pt x="350" y="17"/>
                    <a:pt x="386" y="4"/>
                    <a:pt x="386" y="4"/>
                  </a:cubicBezTo>
                  <a:cubicBezTo>
                    <a:pt x="482" y="9"/>
                    <a:pt x="630" y="0"/>
                    <a:pt x="724" y="31"/>
                  </a:cubicBezTo>
                  <a:cubicBezTo>
                    <a:pt x="797" y="82"/>
                    <a:pt x="823" y="134"/>
                    <a:pt x="870" y="205"/>
                  </a:cubicBezTo>
                  <a:cubicBezTo>
                    <a:pt x="875" y="227"/>
                    <a:pt x="889" y="247"/>
                    <a:pt x="889" y="269"/>
                  </a:cubicBezTo>
                  <a:cubicBezTo>
                    <a:pt x="889" y="362"/>
                    <a:pt x="908" y="629"/>
                    <a:pt x="806" y="726"/>
                  </a:cubicBezTo>
                  <a:cubicBezTo>
                    <a:pt x="803" y="735"/>
                    <a:pt x="805" y="749"/>
                    <a:pt x="797" y="754"/>
                  </a:cubicBezTo>
                  <a:cubicBezTo>
                    <a:pt x="784" y="763"/>
                    <a:pt x="766" y="759"/>
                    <a:pt x="751" y="763"/>
                  </a:cubicBezTo>
                  <a:cubicBezTo>
                    <a:pt x="733" y="768"/>
                    <a:pt x="716" y="780"/>
                    <a:pt x="697" y="781"/>
                  </a:cubicBezTo>
                  <a:cubicBezTo>
                    <a:pt x="605" y="784"/>
                    <a:pt x="514" y="787"/>
                    <a:pt x="422" y="790"/>
                  </a:cubicBezTo>
                  <a:cubicBezTo>
                    <a:pt x="322" y="787"/>
                    <a:pt x="221" y="786"/>
                    <a:pt x="121" y="781"/>
                  </a:cubicBezTo>
                  <a:cubicBezTo>
                    <a:pt x="111" y="780"/>
                    <a:pt x="100" y="779"/>
                    <a:pt x="93" y="772"/>
                  </a:cubicBezTo>
                  <a:cubicBezTo>
                    <a:pt x="78" y="757"/>
                    <a:pt x="69" y="735"/>
                    <a:pt x="57" y="717"/>
                  </a:cubicBezTo>
                  <a:cubicBezTo>
                    <a:pt x="52" y="710"/>
                    <a:pt x="44" y="705"/>
                    <a:pt x="38" y="699"/>
                  </a:cubicBezTo>
                  <a:cubicBezTo>
                    <a:pt x="0" y="581"/>
                    <a:pt x="28" y="681"/>
                    <a:pt x="47" y="388"/>
                  </a:cubicBezTo>
                  <a:close/>
                </a:path>
              </a:pathLst>
            </a:custGeom>
            <a:noFill/>
            <a:ln w="9525" cap="flat" cmpd="sng">
              <a:solidFill>
                <a:srgbClr val="0BC0D9"/>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Text Box 10">
              <a:extLst>
                <a:ext uri="{FF2B5EF4-FFF2-40B4-BE49-F238E27FC236}">
                  <a16:creationId xmlns:a16="http://schemas.microsoft.com/office/drawing/2014/main" id="{FC212FBB-D659-475E-B713-EEE622CF64C2}"/>
                </a:ext>
              </a:extLst>
            </p:cNvPr>
            <p:cNvSpPr txBox="1">
              <a:spLocks noChangeArrowheads="1"/>
            </p:cNvSpPr>
            <p:nvPr/>
          </p:nvSpPr>
          <p:spPr bwMode="auto">
            <a:xfrm>
              <a:off x="9859576" y="3257434"/>
              <a:ext cx="1819275" cy="971718"/>
            </a:xfrm>
            <a:prstGeom prst="rect">
              <a:avLst/>
            </a:prstGeom>
            <a:noFill/>
            <a:ln w="9525">
              <a:solidFill>
                <a:srgbClr val="0BC0D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25000"/>
                </a:spcBef>
                <a:spcAft>
                  <a:spcPct val="25000"/>
                </a:spcAft>
              </a:pPr>
              <a:r>
                <a:rPr lang="zh-CN" altLang="en-US" dirty="0">
                  <a:highlight>
                    <a:srgbClr val="00FFFF"/>
                  </a:highlight>
                  <a:latin typeface="Times New Roman" panose="02020603050405020304" pitchFamily="18" charset="0"/>
                </a:rPr>
                <a:t>最大输出信噪比（</a:t>
              </a:r>
              <a:r>
                <a:rPr lang="en-US" altLang="zh-CN" dirty="0">
                  <a:highlight>
                    <a:srgbClr val="00FFFF"/>
                  </a:highlight>
                  <a:latin typeface="Times New Roman" panose="02020603050405020304" pitchFamily="18" charset="0"/>
                </a:rPr>
                <a:t>SNR</a:t>
              </a:r>
              <a:r>
                <a:rPr lang="zh-CN" altLang="en-US" dirty="0">
                  <a:highlight>
                    <a:srgbClr val="00FFFF"/>
                  </a:highlight>
                  <a:latin typeface="Times New Roman" panose="02020603050405020304" pitchFamily="18" charset="0"/>
                </a:rPr>
                <a:t>）</a:t>
              </a:r>
            </a:p>
          </p:txBody>
        </p:sp>
        <p:sp>
          <p:nvSpPr>
            <p:cNvPr id="10" name="Line 12">
              <a:extLst>
                <a:ext uri="{FF2B5EF4-FFF2-40B4-BE49-F238E27FC236}">
                  <a16:creationId xmlns:a16="http://schemas.microsoft.com/office/drawing/2014/main" id="{269BA3AC-C396-46DB-BC8A-3A354CFB431D}"/>
                </a:ext>
              </a:extLst>
            </p:cNvPr>
            <p:cNvSpPr>
              <a:spLocks noChangeShapeType="1"/>
            </p:cNvSpPr>
            <p:nvPr/>
          </p:nvSpPr>
          <p:spPr bwMode="auto">
            <a:xfrm flipH="1">
              <a:off x="10566399" y="2357152"/>
              <a:ext cx="147638" cy="874712"/>
            </a:xfrm>
            <a:prstGeom prst="line">
              <a:avLst/>
            </a:prstGeom>
            <a:noFill/>
            <a:ln w="28575">
              <a:solidFill>
                <a:schemeClr val="accent1">
                  <a:lumMod val="75000"/>
                </a:schemeClr>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411131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24C634D-0073-486D-8BEA-C015049BDEBE}"/>
              </a:ext>
            </a:extLst>
          </p:cNvPr>
          <p:cNvSpPr>
            <a:spLocks noGrp="1"/>
          </p:cNvSpPr>
          <p:nvPr>
            <p:ph type="dt" sz="half" idx="4294967295"/>
          </p:nvPr>
        </p:nvSpPr>
        <p:spPr/>
        <p:txBody>
          <a:bodyPr/>
          <a:lstStyle/>
          <a:p>
            <a:pPr>
              <a:defRPr/>
            </a:pPr>
            <a:r>
              <a:rPr lang="en-US" altLang="zh-CN"/>
              <a:t>Copyrights Zhu, Weihong</a:t>
            </a:r>
            <a:endParaRPr lang="en-US" altLang="zh-CN"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FACE300-75B5-4F20-9D8A-24E65521D0B7}"/>
                  </a:ext>
                </a:extLst>
              </p:cNvPr>
              <p:cNvSpPr txBox="1"/>
              <p:nvPr>
                <p:custDataLst>
                  <p:tags r:id="rId2"/>
                </p:custDataLst>
              </p:nvPr>
            </p:nvSpPr>
            <p:spPr>
              <a:xfrm>
                <a:off x="1424867" y="1524086"/>
                <a:ext cx="6357737" cy="1205508"/>
              </a:xfrm>
              <a:prstGeom prst="rect">
                <a:avLst/>
              </a:prstGeom>
              <a:noFill/>
            </p:spPr>
            <p:txBody>
              <a:bodyPr vert="horz" wrap="square" rtlCol="0" anchor="ctr" anchorCtr="0">
                <a:noAutofit/>
              </a:bodyPr>
              <a:lstStyle/>
              <a:p>
                <a:pPr>
                  <a:lnSpc>
                    <a:spcPct val="150000"/>
                  </a:lnSpc>
                </a:pPr>
                <a:r>
                  <a:rPr lang="zh-CN" altLang="en-US" sz="21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a:t>
                </a:r>
                <a:r>
                  <a:rPr lang="en-US" altLang="zh-CN" sz="21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14:m>
                  <m:oMath xmlns:m="http://schemas.openxmlformats.org/officeDocument/2006/math">
                    <m:r>
                      <a:rPr lang="en-US" altLang="zh-CN" sz="21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1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r>
                      <a:rPr lang="en-US" altLang="zh-CN" sz="21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zh-CN" altLang="en-US" sz="21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如</m:t>
                    </m:r>
                  </m:oMath>
                </a14:m>
                <a:r>
                  <a:rPr lang="zh-CN" altLang="en-US" sz="21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下图所示，请分别画出它们的匹配滤波器</a:t>
                </a:r>
                <a:r>
                  <a:rPr lang="en-US" altLang="zh-CN" sz="21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1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5FACE300-75B5-4F20-9D8A-24E65521D0B7}"/>
                  </a:ext>
                </a:extLst>
              </p:cNvPr>
              <p:cNvSpPr txBox="1">
                <a:spLocks noRot="1" noChangeAspect="1" noMove="1" noResize="1" noEditPoints="1" noAdjustHandles="1" noChangeArrowheads="1" noChangeShapeType="1" noTextEdit="1"/>
              </p:cNvSpPr>
              <p:nvPr>
                <p:custDataLst>
                  <p:tags r:id="rId12"/>
                </p:custDataLst>
              </p:nvPr>
            </p:nvSpPr>
            <p:spPr>
              <a:xfrm>
                <a:off x="1424867" y="1524086"/>
                <a:ext cx="6357737" cy="1205508"/>
              </a:xfrm>
              <a:prstGeom prst="rect">
                <a:avLst/>
              </a:prstGeom>
              <a:blipFill>
                <a:blip r:embed="rId13"/>
                <a:stretch>
                  <a:fillRect l="-1151"/>
                </a:stretch>
              </a:blipFill>
            </p:spPr>
            <p:txBody>
              <a:bodyPr/>
              <a:lstStyle/>
              <a:p>
                <a:r>
                  <a:rPr lang="zh-CN" altLang="en-US">
                    <a:noFill/>
                  </a:rPr>
                  <a:t> </a:t>
                </a:r>
              </a:p>
            </p:txBody>
          </p:sp>
        </mc:Fallback>
      </mc:AlternateContent>
      <p:sp>
        <p:nvSpPr>
          <p:cNvPr id="8" name="矩形: 圆角 7">
            <a:extLst>
              <a:ext uri="{FF2B5EF4-FFF2-40B4-BE49-F238E27FC236}">
                <a16:creationId xmlns:a16="http://schemas.microsoft.com/office/drawing/2014/main" id="{B3C46C9F-B32A-4792-BCC9-F82DC2D27936}"/>
              </a:ext>
            </a:extLst>
          </p:cNvPr>
          <p:cNvSpPr/>
          <p:nvPr>
            <p:custDataLst>
              <p:tags r:id="rId3"/>
            </p:custDataLst>
          </p:nvPr>
        </p:nvSpPr>
        <p:spPr bwMode="auto">
          <a:xfrm>
            <a:off x="6157913" y="4996160"/>
            <a:ext cx="867966" cy="231458"/>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5" tIns="25718" rIns="51435" bIns="25718" numCol="1" rtlCol="0" anchor="ctr" anchorCtr="1" compatLnSpc="1">
            <a:prstTxWarp prst="textNoShape">
              <a:avLst/>
            </a:prstTxWarp>
            <a:noAutofit/>
          </a:bodyPr>
          <a:lstStyle/>
          <a:p>
            <a:pPr defTabSz="514350"/>
            <a:r>
              <a:rPr lang="zh-CN" altLang="en-US" sz="9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4" name="矩形 13">
            <a:extLst>
              <a:ext uri="{FF2B5EF4-FFF2-40B4-BE49-F238E27FC236}">
                <a16:creationId xmlns:a16="http://schemas.microsoft.com/office/drawing/2014/main" id="{2D8330FC-1646-40DA-A584-B530D8B1510F}"/>
              </a:ext>
            </a:extLst>
          </p:cNvPr>
          <p:cNvSpPr/>
          <p:nvPr>
            <p:custDataLst>
              <p:tags r:id="rId4"/>
            </p:custDataLst>
          </p:nvPr>
        </p:nvSpPr>
        <p:spPr bwMode="auto">
          <a:xfrm>
            <a:off x="1143000" y="4721840"/>
            <a:ext cx="6858000" cy="27432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5" tIns="25718" rIns="51435" bIns="25718" numCol="1" rtlCol="0" anchor="ctr" anchorCtr="1" compatLnSpc="1">
            <a:prstTxWarp prst="textNoShape">
              <a:avLst/>
            </a:prstTxWarp>
            <a:noAutofit/>
          </a:bodyPr>
          <a:lstStyle/>
          <a:p>
            <a:pPr fontAlgn="base">
              <a:spcBef>
                <a:spcPct val="0"/>
              </a:spcBef>
              <a:spcAft>
                <a:spcPct val="0"/>
              </a:spcAft>
            </a:pPr>
            <a:r>
              <a:rPr lang="zh-CN" altLang="en-US" sz="9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9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9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5" name="Group 97">
            <a:extLst>
              <a:ext uri="{FF2B5EF4-FFF2-40B4-BE49-F238E27FC236}">
                <a16:creationId xmlns:a16="http://schemas.microsoft.com/office/drawing/2014/main" id="{3C829D2D-5FAC-4AFC-93D2-FD2BDFF0EC8B}"/>
              </a:ext>
            </a:extLst>
          </p:cNvPr>
          <p:cNvGrpSpPr>
            <a:grpSpLocks/>
          </p:cNvGrpSpPr>
          <p:nvPr/>
        </p:nvGrpSpPr>
        <p:grpSpPr bwMode="auto">
          <a:xfrm>
            <a:off x="2263283" y="2860861"/>
            <a:ext cx="1715393" cy="1769864"/>
            <a:chOff x="3658" y="2074"/>
            <a:chExt cx="1921" cy="1982"/>
          </a:xfrm>
        </p:grpSpPr>
        <mc:AlternateContent xmlns:mc="http://schemas.openxmlformats.org/markup-compatibility/2006" xmlns:a14="http://schemas.microsoft.com/office/drawing/2010/main">
          <mc:Choice Requires="a14">
            <p:sp>
              <p:nvSpPr>
                <p:cNvPr id="16" name="Object 66">
                  <a:extLst>
                    <a:ext uri="{FF2B5EF4-FFF2-40B4-BE49-F238E27FC236}">
                      <a16:creationId xmlns:a16="http://schemas.microsoft.com/office/drawing/2014/main" id="{FEC00FEF-4CDE-4BDB-AD40-217D79E5180E}"/>
                    </a:ext>
                  </a:extLst>
                </p:cNvPr>
                <p:cNvSpPr txBox="1"/>
                <p:nvPr/>
              </p:nvSpPr>
              <p:spPr bwMode="auto">
                <a:xfrm>
                  <a:off x="3658" y="3208"/>
                  <a:ext cx="313" cy="205"/>
                </a:xfrm>
                <a:prstGeom prst="rect">
                  <a:avLst/>
                </a:prstGeom>
                <a:noFill/>
                <a:ln>
                  <a:noFill/>
                </a:ln>
                <a:effectLst/>
              </p:spPr>
              <p:txBody>
                <a:bodyPr>
                  <a:normAutofit fontScale="3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dirty="0"/>
                </a:p>
              </p:txBody>
            </p:sp>
          </mc:Choice>
          <mc:Fallback xmlns="">
            <p:sp>
              <p:nvSpPr>
                <p:cNvPr id="16" name="Object 66">
                  <a:extLst>
                    <a:ext uri="{FF2B5EF4-FFF2-40B4-BE49-F238E27FC236}">
                      <a16:creationId xmlns:a16="http://schemas.microsoft.com/office/drawing/2014/main" id="{FEC00FEF-4CDE-4BDB-AD40-217D79E5180E}"/>
                    </a:ext>
                  </a:extLst>
                </p:cNvPr>
                <p:cNvSpPr txBox="1">
                  <a:spLocks noRot="1" noChangeAspect="1" noMove="1" noResize="1" noEditPoints="1" noAdjustHandles="1" noChangeArrowheads="1" noChangeShapeType="1" noTextEdit="1"/>
                </p:cNvSpPr>
                <p:nvPr/>
              </p:nvSpPr>
              <p:spPr bwMode="auto">
                <a:xfrm>
                  <a:off x="3658" y="3208"/>
                  <a:ext cx="313" cy="205"/>
                </a:xfrm>
                <a:prstGeom prst="rect">
                  <a:avLst/>
                </a:prstGeom>
                <a:blipFill>
                  <a:blip r:embed="rId14"/>
                  <a:stretch>
                    <a:fillRect/>
                  </a:stretch>
                </a:blipFill>
                <a:ln>
                  <a:noFill/>
                </a:ln>
                <a:effectLst/>
                <a:extLst/>
              </p:spPr>
              <p:txBody>
                <a:bodyPr/>
                <a:lstStyle/>
                <a:p>
                  <a:r>
                    <a:rPr lang="zh-CN" altLang="en-US">
                      <a:noFill/>
                    </a:rPr>
                    <a:t> </a:t>
                  </a:r>
                </a:p>
              </p:txBody>
            </p:sp>
          </mc:Fallback>
        </mc:AlternateContent>
        <p:grpSp>
          <p:nvGrpSpPr>
            <p:cNvPr id="17" name="Group 67">
              <a:extLst>
                <a:ext uri="{FF2B5EF4-FFF2-40B4-BE49-F238E27FC236}">
                  <a16:creationId xmlns:a16="http://schemas.microsoft.com/office/drawing/2014/main" id="{95DD5C1A-487B-4ED4-B889-D6D63F571004}"/>
                </a:ext>
              </a:extLst>
            </p:cNvPr>
            <p:cNvGrpSpPr>
              <a:grpSpLocks/>
            </p:cNvGrpSpPr>
            <p:nvPr/>
          </p:nvGrpSpPr>
          <p:grpSpPr bwMode="auto">
            <a:xfrm>
              <a:off x="3885" y="2210"/>
              <a:ext cx="1542" cy="635"/>
              <a:chOff x="3470" y="2205"/>
              <a:chExt cx="1542" cy="635"/>
            </a:xfrm>
          </p:grpSpPr>
          <p:sp>
            <p:nvSpPr>
              <p:cNvPr id="32" name="Line 68">
                <a:extLst>
                  <a:ext uri="{FF2B5EF4-FFF2-40B4-BE49-F238E27FC236}">
                    <a16:creationId xmlns:a16="http://schemas.microsoft.com/office/drawing/2014/main" id="{7E532185-9657-48D7-B255-0C47493B7856}"/>
                  </a:ext>
                </a:extLst>
              </p:cNvPr>
              <p:cNvSpPr>
                <a:spLocks noChangeShapeType="1"/>
              </p:cNvSpPr>
              <p:nvPr/>
            </p:nvSpPr>
            <p:spPr bwMode="auto">
              <a:xfrm>
                <a:off x="3470" y="2795"/>
                <a:ext cx="154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69">
                <a:extLst>
                  <a:ext uri="{FF2B5EF4-FFF2-40B4-BE49-F238E27FC236}">
                    <a16:creationId xmlns:a16="http://schemas.microsoft.com/office/drawing/2014/main" id="{13939EAE-AF05-43A0-B145-2B2CCE387CDB}"/>
                  </a:ext>
                </a:extLst>
              </p:cNvPr>
              <p:cNvSpPr>
                <a:spLocks noChangeShapeType="1"/>
              </p:cNvSpPr>
              <p:nvPr/>
            </p:nvSpPr>
            <p:spPr bwMode="auto">
              <a:xfrm flipV="1">
                <a:off x="3560" y="2205"/>
                <a:ext cx="0" cy="6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70">
                <a:extLst>
                  <a:ext uri="{FF2B5EF4-FFF2-40B4-BE49-F238E27FC236}">
                    <a16:creationId xmlns:a16="http://schemas.microsoft.com/office/drawing/2014/main" id="{ACA2BC61-9F0D-4E68-8663-1C08EE36AFD2}"/>
                  </a:ext>
                </a:extLst>
              </p:cNvPr>
              <p:cNvSpPr>
                <a:spLocks noChangeShapeType="1"/>
              </p:cNvSpPr>
              <p:nvPr/>
            </p:nvSpPr>
            <p:spPr bwMode="auto">
              <a:xfrm>
                <a:off x="3560" y="2341"/>
                <a:ext cx="4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71">
                <a:extLst>
                  <a:ext uri="{FF2B5EF4-FFF2-40B4-BE49-F238E27FC236}">
                    <a16:creationId xmlns:a16="http://schemas.microsoft.com/office/drawing/2014/main" id="{4F4AB9F0-6C28-4EAF-8495-4CF1A114A74E}"/>
                  </a:ext>
                </a:extLst>
              </p:cNvPr>
              <p:cNvSpPr>
                <a:spLocks noChangeShapeType="1"/>
              </p:cNvSpPr>
              <p:nvPr/>
            </p:nvSpPr>
            <p:spPr bwMode="auto">
              <a:xfrm>
                <a:off x="4013" y="2341"/>
                <a:ext cx="1"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 name="Group 72">
              <a:extLst>
                <a:ext uri="{FF2B5EF4-FFF2-40B4-BE49-F238E27FC236}">
                  <a16:creationId xmlns:a16="http://schemas.microsoft.com/office/drawing/2014/main" id="{8D42058E-DAD8-4812-B184-85AF9D674EBC}"/>
                </a:ext>
              </a:extLst>
            </p:cNvPr>
            <p:cNvGrpSpPr>
              <a:grpSpLocks/>
            </p:cNvGrpSpPr>
            <p:nvPr/>
          </p:nvGrpSpPr>
          <p:grpSpPr bwMode="auto">
            <a:xfrm>
              <a:off x="3930" y="3208"/>
              <a:ext cx="1542" cy="635"/>
              <a:chOff x="3515" y="3203"/>
              <a:chExt cx="1542" cy="635"/>
            </a:xfrm>
          </p:grpSpPr>
          <p:sp>
            <p:nvSpPr>
              <p:cNvPr id="27" name="Line 73">
                <a:extLst>
                  <a:ext uri="{FF2B5EF4-FFF2-40B4-BE49-F238E27FC236}">
                    <a16:creationId xmlns:a16="http://schemas.microsoft.com/office/drawing/2014/main" id="{0468DEE7-E9F2-4B81-8965-41455D7C03FF}"/>
                  </a:ext>
                </a:extLst>
              </p:cNvPr>
              <p:cNvSpPr>
                <a:spLocks noChangeShapeType="1"/>
              </p:cNvSpPr>
              <p:nvPr/>
            </p:nvSpPr>
            <p:spPr bwMode="auto">
              <a:xfrm>
                <a:off x="3515" y="3793"/>
                <a:ext cx="154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74">
                <a:extLst>
                  <a:ext uri="{FF2B5EF4-FFF2-40B4-BE49-F238E27FC236}">
                    <a16:creationId xmlns:a16="http://schemas.microsoft.com/office/drawing/2014/main" id="{DEA79AEC-6D86-45C6-A86C-C88C18B112A9}"/>
                  </a:ext>
                </a:extLst>
              </p:cNvPr>
              <p:cNvSpPr>
                <a:spLocks noChangeShapeType="1"/>
              </p:cNvSpPr>
              <p:nvPr/>
            </p:nvSpPr>
            <p:spPr bwMode="auto">
              <a:xfrm flipV="1">
                <a:off x="3560" y="3203"/>
                <a:ext cx="0" cy="6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75">
                <a:extLst>
                  <a:ext uri="{FF2B5EF4-FFF2-40B4-BE49-F238E27FC236}">
                    <a16:creationId xmlns:a16="http://schemas.microsoft.com/office/drawing/2014/main" id="{90E1D9DA-5F47-4BA3-8D87-C9E5A1A55FF2}"/>
                  </a:ext>
                </a:extLst>
              </p:cNvPr>
              <p:cNvSpPr>
                <a:spLocks noChangeShapeType="1"/>
              </p:cNvSpPr>
              <p:nvPr/>
            </p:nvSpPr>
            <p:spPr bwMode="auto">
              <a:xfrm>
                <a:off x="4150" y="3339"/>
                <a:ext cx="4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76">
                <a:extLst>
                  <a:ext uri="{FF2B5EF4-FFF2-40B4-BE49-F238E27FC236}">
                    <a16:creationId xmlns:a16="http://schemas.microsoft.com/office/drawing/2014/main" id="{3521C273-4838-4809-A601-EE2BE2F3AA8B}"/>
                  </a:ext>
                </a:extLst>
              </p:cNvPr>
              <p:cNvSpPr>
                <a:spLocks noChangeShapeType="1"/>
              </p:cNvSpPr>
              <p:nvPr/>
            </p:nvSpPr>
            <p:spPr bwMode="auto">
              <a:xfrm>
                <a:off x="4603" y="3339"/>
                <a:ext cx="1"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77">
                <a:extLst>
                  <a:ext uri="{FF2B5EF4-FFF2-40B4-BE49-F238E27FC236}">
                    <a16:creationId xmlns:a16="http://schemas.microsoft.com/office/drawing/2014/main" id="{F2FF942C-8298-4801-AF8B-62DCE12FEA84}"/>
                  </a:ext>
                </a:extLst>
              </p:cNvPr>
              <p:cNvSpPr>
                <a:spLocks noChangeShapeType="1"/>
              </p:cNvSpPr>
              <p:nvPr/>
            </p:nvSpPr>
            <p:spPr bwMode="auto">
              <a:xfrm>
                <a:off x="4150" y="3339"/>
                <a:ext cx="0"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 name="Text Box 78">
              <a:extLst>
                <a:ext uri="{FF2B5EF4-FFF2-40B4-BE49-F238E27FC236}">
                  <a16:creationId xmlns:a16="http://schemas.microsoft.com/office/drawing/2014/main" id="{43BDA3F6-8D4D-420C-BB46-33B6CA0A688B}"/>
                </a:ext>
              </a:extLst>
            </p:cNvPr>
            <p:cNvSpPr txBox="1">
              <a:spLocks noChangeArrowheads="1"/>
            </p:cNvSpPr>
            <p:nvPr/>
          </p:nvSpPr>
          <p:spPr bwMode="auto">
            <a:xfrm>
              <a:off x="4293" y="2800"/>
              <a:ext cx="39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T/2</a:t>
              </a:r>
            </a:p>
          </p:txBody>
        </p:sp>
        <p:sp>
          <p:nvSpPr>
            <p:cNvPr id="20" name="Text Box 79">
              <a:extLst>
                <a:ext uri="{FF2B5EF4-FFF2-40B4-BE49-F238E27FC236}">
                  <a16:creationId xmlns:a16="http://schemas.microsoft.com/office/drawing/2014/main" id="{768743D8-B5D7-4215-9F86-87DD276E3F93}"/>
                </a:ext>
              </a:extLst>
            </p:cNvPr>
            <p:cNvSpPr txBox="1">
              <a:spLocks noChangeArrowheads="1"/>
            </p:cNvSpPr>
            <p:nvPr/>
          </p:nvSpPr>
          <p:spPr bwMode="auto">
            <a:xfrm>
              <a:off x="4429" y="3798"/>
              <a:ext cx="39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T/2</a:t>
              </a:r>
            </a:p>
          </p:txBody>
        </p:sp>
        <p:sp>
          <p:nvSpPr>
            <p:cNvPr id="21" name="Text Box 80">
              <a:extLst>
                <a:ext uri="{FF2B5EF4-FFF2-40B4-BE49-F238E27FC236}">
                  <a16:creationId xmlns:a16="http://schemas.microsoft.com/office/drawing/2014/main" id="{2806060C-1B2B-44E1-95F6-941E6EC97EBB}"/>
                </a:ext>
              </a:extLst>
            </p:cNvPr>
            <p:cNvSpPr txBox="1">
              <a:spLocks noChangeArrowheads="1"/>
            </p:cNvSpPr>
            <p:nvPr/>
          </p:nvSpPr>
          <p:spPr bwMode="auto">
            <a:xfrm>
              <a:off x="4928" y="3798"/>
              <a:ext cx="286"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a:t>
              </a:r>
            </a:p>
          </p:txBody>
        </p:sp>
        <mc:AlternateContent xmlns:mc="http://schemas.openxmlformats.org/markup-compatibility/2006" xmlns:a14="http://schemas.microsoft.com/office/drawing/2010/main">
          <mc:Choice Requires="a14">
            <p:sp>
              <p:nvSpPr>
                <p:cNvPr id="22" name="Object 81">
                  <a:extLst>
                    <a:ext uri="{FF2B5EF4-FFF2-40B4-BE49-F238E27FC236}">
                      <a16:creationId xmlns:a16="http://schemas.microsoft.com/office/drawing/2014/main" id="{141AD17D-0FF8-4190-8A35-60653BD28B24}"/>
                    </a:ext>
                  </a:extLst>
                </p:cNvPr>
                <p:cNvSpPr txBox="1"/>
                <p:nvPr/>
              </p:nvSpPr>
              <p:spPr bwMode="auto">
                <a:xfrm>
                  <a:off x="3658" y="2301"/>
                  <a:ext cx="313" cy="205"/>
                </a:xfrm>
                <a:prstGeom prst="rect">
                  <a:avLst/>
                </a:prstGeom>
                <a:noFill/>
                <a:ln>
                  <a:noFill/>
                </a:ln>
                <a:effectLst/>
              </p:spPr>
              <p:txBody>
                <a:bodyPr>
                  <a:normAutofit fontScale="3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dirty="0"/>
                </a:p>
              </p:txBody>
            </p:sp>
          </mc:Choice>
          <mc:Fallback xmlns="">
            <p:sp>
              <p:nvSpPr>
                <p:cNvPr id="22" name="Object 81">
                  <a:extLst>
                    <a:ext uri="{FF2B5EF4-FFF2-40B4-BE49-F238E27FC236}">
                      <a16:creationId xmlns:a16="http://schemas.microsoft.com/office/drawing/2014/main" id="{141AD17D-0FF8-4190-8A35-60653BD28B24}"/>
                    </a:ext>
                  </a:extLst>
                </p:cNvPr>
                <p:cNvSpPr txBox="1">
                  <a:spLocks noRot="1" noChangeAspect="1" noMove="1" noResize="1" noEditPoints="1" noAdjustHandles="1" noChangeArrowheads="1" noChangeShapeType="1" noTextEdit="1"/>
                </p:cNvSpPr>
                <p:nvPr/>
              </p:nvSpPr>
              <p:spPr bwMode="auto">
                <a:xfrm>
                  <a:off x="3658" y="2301"/>
                  <a:ext cx="313" cy="205"/>
                </a:xfrm>
                <a:prstGeom prst="rect">
                  <a:avLst/>
                </a:prstGeom>
                <a:blipFill>
                  <a:blip r:embed="rId15"/>
                  <a:stretch>
                    <a:fillRect/>
                  </a:stretch>
                </a:blipFill>
                <a:ln>
                  <a:noFill/>
                </a:ln>
                <a:effectLst/>
                <a:extLst/>
              </p:spPr>
              <p:txBody>
                <a:bodyPr/>
                <a:lstStyle/>
                <a:p>
                  <a:r>
                    <a:rPr lang="zh-CN" altLang="en-US">
                      <a:noFill/>
                    </a:rPr>
                    <a:t> </a:t>
                  </a:r>
                </a:p>
              </p:txBody>
            </p:sp>
          </mc:Fallback>
        </mc:AlternateContent>
        <p:sp>
          <p:nvSpPr>
            <p:cNvPr id="23" name="Text Box 82">
              <a:extLst>
                <a:ext uri="{FF2B5EF4-FFF2-40B4-BE49-F238E27FC236}">
                  <a16:creationId xmlns:a16="http://schemas.microsoft.com/office/drawing/2014/main" id="{D52C2E90-411B-458D-9519-7B96B16FEA6A}"/>
                </a:ext>
              </a:extLst>
            </p:cNvPr>
            <p:cNvSpPr txBox="1">
              <a:spLocks noChangeArrowheads="1"/>
            </p:cNvSpPr>
            <p:nvPr/>
          </p:nvSpPr>
          <p:spPr bwMode="auto">
            <a:xfrm>
              <a:off x="5336" y="3798"/>
              <a:ext cx="24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a:t>
              </a:r>
            </a:p>
          </p:txBody>
        </p:sp>
        <p:sp>
          <p:nvSpPr>
            <p:cNvPr id="24" name="Text Box 83">
              <a:extLst>
                <a:ext uri="{FF2B5EF4-FFF2-40B4-BE49-F238E27FC236}">
                  <a16:creationId xmlns:a16="http://schemas.microsoft.com/office/drawing/2014/main" id="{A12BA6D7-FC3C-4DEF-8EE3-0355776F13C6}"/>
                </a:ext>
              </a:extLst>
            </p:cNvPr>
            <p:cNvSpPr txBox="1">
              <a:spLocks noChangeArrowheads="1"/>
            </p:cNvSpPr>
            <p:nvPr/>
          </p:nvSpPr>
          <p:spPr bwMode="auto">
            <a:xfrm>
              <a:off x="5232" y="2832"/>
              <a:ext cx="24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a:t>
              </a:r>
            </a:p>
          </p:txBody>
        </p:sp>
        <mc:AlternateContent xmlns:mc="http://schemas.openxmlformats.org/markup-compatibility/2006" xmlns:a14="http://schemas.microsoft.com/office/drawing/2010/main">
          <mc:Choice Requires="a14">
            <p:sp>
              <p:nvSpPr>
                <p:cNvPr id="25" name="Object 84">
                  <a:extLst>
                    <a:ext uri="{FF2B5EF4-FFF2-40B4-BE49-F238E27FC236}">
                      <a16:creationId xmlns:a16="http://schemas.microsoft.com/office/drawing/2014/main" id="{1CC4955E-774E-4522-AE72-73CFDEDE74F3}"/>
                    </a:ext>
                  </a:extLst>
                </p:cNvPr>
                <p:cNvSpPr txBox="1"/>
                <p:nvPr/>
              </p:nvSpPr>
              <p:spPr bwMode="auto">
                <a:xfrm>
                  <a:off x="4021" y="2074"/>
                  <a:ext cx="336" cy="216"/>
                </a:xfrm>
                <a:prstGeom prst="rect">
                  <a:avLst/>
                </a:prstGeom>
                <a:noFill/>
                <a:ln>
                  <a:noFill/>
                </a:ln>
                <a:effectLst/>
              </p:spPr>
              <p:txBody>
                <a:bodyPr>
                  <a:normAutofit fontScale="32500" lnSpcReduction="20000"/>
                </a:bodyPr>
                <a:lstStyle/>
                <a:p>
                  <a:pPr/>
                  <a14:m>
                    <m:oMathPara xmlns:m="http://schemas.openxmlformats.org/officeDocument/2006/math">
                      <m:oMathParaPr>
                        <m:jc m:val="centerGroup"/>
                      </m:oMathParaPr>
                      <m:oMath xmlns:m="http://schemas.openxmlformats.org/officeDocument/2006/math">
                        <m:r>
                          <m:rPr>
                            <m:sty m:val="p"/>
                          </m:rPr>
                          <a:rPr lang="en-US" altLang="zh-CN" i="1">
                            <a:solidFill>
                              <a:srgbClr val="000000"/>
                            </a:solidFill>
                            <a:latin typeface="Cambria Math" panose="02040503050406030204" pitchFamily="18" charset="0"/>
                          </a:rPr>
                          <m:t>x</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5" name="Object 84">
                  <a:extLst>
                    <a:ext uri="{FF2B5EF4-FFF2-40B4-BE49-F238E27FC236}">
                      <a16:creationId xmlns:a16="http://schemas.microsoft.com/office/drawing/2014/main" id="{1CC4955E-774E-4522-AE72-73CFDEDE74F3}"/>
                    </a:ext>
                  </a:extLst>
                </p:cNvPr>
                <p:cNvSpPr txBox="1">
                  <a:spLocks noRot="1" noChangeAspect="1" noMove="1" noResize="1" noEditPoints="1" noAdjustHandles="1" noChangeArrowheads="1" noChangeShapeType="1" noTextEdit="1"/>
                </p:cNvSpPr>
                <p:nvPr/>
              </p:nvSpPr>
              <p:spPr bwMode="auto">
                <a:xfrm>
                  <a:off x="4021" y="2074"/>
                  <a:ext cx="336" cy="216"/>
                </a:xfrm>
                <a:prstGeom prst="rect">
                  <a:avLst/>
                </a:prstGeom>
                <a:blipFill>
                  <a:blip r:embed="rId1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85">
                  <a:extLst>
                    <a:ext uri="{FF2B5EF4-FFF2-40B4-BE49-F238E27FC236}">
                      <a16:creationId xmlns:a16="http://schemas.microsoft.com/office/drawing/2014/main" id="{53E28CE2-326C-4E27-A743-A719C7047FEC}"/>
                    </a:ext>
                  </a:extLst>
                </p:cNvPr>
                <p:cNvSpPr txBox="1"/>
                <p:nvPr/>
              </p:nvSpPr>
              <p:spPr bwMode="auto">
                <a:xfrm>
                  <a:off x="4021" y="3120"/>
                  <a:ext cx="347" cy="216"/>
                </a:xfrm>
                <a:prstGeom prst="rect">
                  <a:avLst/>
                </a:prstGeom>
                <a:noFill/>
                <a:ln>
                  <a:noFill/>
                </a:ln>
                <a:effectLst/>
              </p:spPr>
              <p:txBody>
                <a:bodyPr>
                  <a:normAutofit fontScale="25000" lnSpcReduction="20000"/>
                </a:bodyPr>
                <a:lstStyle/>
                <a:p>
                  <a:r>
                    <a:rPr lang="en-US" altLang="zh-CN" dirty="0">
                      <a:solidFill>
                        <a:srgbClr val="000000"/>
                      </a:solidFill>
                    </a:rPr>
                    <a:t>x</a:t>
                  </a:r>
                  <a14:m>
                    <m:oMath xmlns:m="http://schemas.openxmlformats.org/officeDocument/2006/math">
                      <m:r>
                        <a:rPr lang="zh-CN" altLang="en-US"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a14:m>
                  <a:endParaRPr lang="zh-CN" altLang="en-US" dirty="0"/>
                </a:p>
              </p:txBody>
            </p:sp>
          </mc:Choice>
          <mc:Fallback xmlns="">
            <p:sp>
              <p:nvSpPr>
                <p:cNvPr id="26" name="Object 85">
                  <a:extLst>
                    <a:ext uri="{FF2B5EF4-FFF2-40B4-BE49-F238E27FC236}">
                      <a16:creationId xmlns:a16="http://schemas.microsoft.com/office/drawing/2014/main" id="{53E28CE2-326C-4E27-A743-A719C7047FEC}"/>
                    </a:ext>
                  </a:extLst>
                </p:cNvPr>
                <p:cNvSpPr txBox="1">
                  <a:spLocks noRot="1" noChangeAspect="1" noMove="1" noResize="1" noEditPoints="1" noAdjustHandles="1" noChangeArrowheads="1" noChangeShapeType="1" noTextEdit="1"/>
                </p:cNvSpPr>
                <p:nvPr/>
              </p:nvSpPr>
              <p:spPr bwMode="auto">
                <a:xfrm>
                  <a:off x="4021" y="3120"/>
                  <a:ext cx="347" cy="216"/>
                </a:xfrm>
                <a:prstGeom prst="rect">
                  <a:avLst/>
                </a:prstGeom>
                <a:blipFill>
                  <a:blip r:embed="rId17"/>
                  <a:stretch>
                    <a:fillRect b="-3226"/>
                  </a:stretch>
                </a:blipFill>
                <a:ln>
                  <a:noFill/>
                </a:ln>
                <a:effectLst/>
                <a:extLst/>
              </p:spPr>
              <p:txBody>
                <a:bodyPr/>
                <a:lstStyle/>
                <a:p>
                  <a:r>
                    <a:rPr lang="zh-CN" altLang="en-US">
                      <a:noFill/>
                    </a:rPr>
                    <a:t> </a:t>
                  </a:r>
                </a:p>
              </p:txBody>
            </p:sp>
          </mc:Fallback>
        </mc:AlternateContent>
      </p:grpSp>
      <p:pic>
        <p:nvPicPr>
          <p:cNvPr id="44" name="图片 43">
            <a:extLst>
              <a:ext uri="{FF2B5EF4-FFF2-40B4-BE49-F238E27FC236}">
                <a16:creationId xmlns:a16="http://schemas.microsoft.com/office/drawing/2014/main" id="{EF4B9D7D-B232-4B1C-AC89-87AAF7650141}"/>
              </a:ext>
            </a:extLst>
          </p:cNvPr>
          <p:cNvPicPr>
            <a:picLocks noChangeAspect="1"/>
          </p:cNvPicPr>
          <p:nvPr/>
        </p:nvPicPr>
        <p:blipFill>
          <a:blip r:embed="rId18"/>
          <a:stretch>
            <a:fillRect/>
          </a:stretch>
        </p:blipFill>
        <p:spPr>
          <a:xfrm>
            <a:off x="4880761" y="3306452"/>
            <a:ext cx="1130498" cy="1034058"/>
          </a:xfrm>
          <a:prstGeom prst="rect">
            <a:avLst/>
          </a:prstGeom>
        </p:spPr>
      </p:pic>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4150D1E-BEBE-459D-BAA3-218964993781}"/>
                  </a:ext>
                </a:extLst>
              </p:cNvPr>
              <p:cNvSpPr txBox="1"/>
              <p:nvPr/>
            </p:nvSpPr>
            <p:spPr>
              <a:xfrm>
                <a:off x="4951102" y="3149674"/>
                <a:ext cx="589457" cy="369332"/>
              </a:xfrm>
              <a:prstGeom prst="rect">
                <a:avLst/>
              </a:prstGeom>
              <a:noFill/>
            </p:spPr>
            <p:txBody>
              <a:bodyPr wrap="none" rtlCol="0">
                <a:spAutoFit/>
              </a:bodyPr>
              <a:lstStyle/>
              <a:p>
                <a:r>
                  <a:rPr lang="en-US" altLang="zh-CN" dirty="0">
                    <a:solidFill>
                      <a:srgbClr val="000000"/>
                    </a:solidFill>
                    <a:ea typeface="Microsoft Yahei" panose="020B0503020204020204" pitchFamily="34" charset="-122"/>
                    <a:sym typeface="Microsoft Yahei" panose="020B0503020204020204" pitchFamily="34" charset="-122"/>
                  </a:rPr>
                  <a:t>x</a:t>
                </a:r>
                <a14:m>
                  <m:oMath xmlns:m="http://schemas.openxmlformats.org/officeDocument/2006/math">
                    <m:r>
                      <a:rPr lang="en-US" altLang="zh-CN"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𝑡</m:t>
                    </m:r>
                    <m:r>
                      <a:rPr lang="en-US" altLang="zh-CN"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a14:m>
                <a:endParaRPr lang="zh-CN" altLang="en-US" dirty="0"/>
              </a:p>
            </p:txBody>
          </p:sp>
        </mc:Choice>
        <mc:Fallback xmlns="">
          <p:sp>
            <p:nvSpPr>
              <p:cNvPr id="46" name="文本框 45">
                <a:extLst>
                  <a:ext uri="{FF2B5EF4-FFF2-40B4-BE49-F238E27FC236}">
                    <a16:creationId xmlns:a16="http://schemas.microsoft.com/office/drawing/2014/main" id="{94150D1E-BEBE-459D-BAA3-218964993781}"/>
                  </a:ext>
                </a:extLst>
              </p:cNvPr>
              <p:cNvSpPr txBox="1">
                <a:spLocks noRot="1" noChangeAspect="1" noMove="1" noResize="1" noEditPoints="1" noAdjustHandles="1" noChangeArrowheads="1" noChangeShapeType="1" noTextEdit="1"/>
              </p:cNvSpPr>
              <p:nvPr/>
            </p:nvSpPr>
            <p:spPr>
              <a:xfrm>
                <a:off x="4951102" y="3149674"/>
                <a:ext cx="589457" cy="369332"/>
              </a:xfrm>
              <a:prstGeom prst="rect">
                <a:avLst/>
              </a:prstGeom>
              <a:blipFill>
                <a:blip r:embed="rId19"/>
                <a:stretch>
                  <a:fillRect l="-8247" t="-10000" r="-1031" b="-26667"/>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776D9E3A-3D12-4336-949B-0C406790866C}"/>
              </a:ext>
            </a:extLst>
          </p:cNvPr>
          <p:cNvGrpSpPr/>
          <p:nvPr>
            <p:custDataLst>
              <p:tags r:id="rId5"/>
            </p:custDataLst>
          </p:nvPr>
        </p:nvGrpSpPr>
        <p:grpSpPr>
          <a:xfrm>
            <a:off x="0" y="0"/>
            <a:ext cx="6858000" cy="394970"/>
            <a:chOff x="-2032000" y="-2666999"/>
            <a:chExt cx="12192000" cy="702169"/>
          </a:xfrm>
        </p:grpSpPr>
        <p:sp>
          <p:nvSpPr>
            <p:cNvPr id="9" name="TitleBackground">
              <a:extLst>
                <a:ext uri="{FF2B5EF4-FFF2-40B4-BE49-F238E27FC236}">
                  <a16:creationId xmlns:a16="http://schemas.microsoft.com/office/drawing/2014/main" id="{B2C89999-F5B3-4F09-BBD6-7A65C2AC81CE}"/>
                </a:ext>
              </a:extLst>
            </p:cNvPr>
            <p:cNvSpPr/>
            <p:nvPr>
              <p:custDataLst>
                <p:tags r:id="rId7"/>
              </p:custDataLst>
            </p:nvPr>
          </p:nvSpPr>
          <p:spPr bwMode="auto">
            <a:xfrm>
              <a:off x="-2032000" y="-2666999"/>
              <a:ext cx="12192000" cy="634999"/>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5" tIns="25718" rIns="51435" bIns="25718" numCol="1" rtlCol="0" anchor="t" anchorCtr="0" compatLnSpc="1">
              <a:prstTxWarp prst="textNoShape">
                <a:avLst/>
              </a:prstTxWarp>
            </a:bodyPr>
            <a:lstStyle/>
            <a:p>
              <a:pPr defTabSz="514350"/>
              <a:endParaRPr lang="zh-CN" altLang="en-US" sz="2025"/>
            </a:p>
          </p:txBody>
        </p:sp>
        <p:sp>
          <p:nvSpPr>
            <p:cNvPr id="10" name="ColorBlock">
              <a:extLst>
                <a:ext uri="{FF2B5EF4-FFF2-40B4-BE49-F238E27FC236}">
                  <a16:creationId xmlns:a16="http://schemas.microsoft.com/office/drawing/2014/main" id="{59B3938D-009C-45BD-98EF-CC55DE431626}"/>
                </a:ext>
              </a:extLst>
            </p:cNvPr>
            <p:cNvSpPr/>
            <p:nvPr>
              <p:custDataLst>
                <p:tags r:id="rId8"/>
              </p:custDataLst>
            </p:nvPr>
          </p:nvSpPr>
          <p:spPr bwMode="auto">
            <a:xfrm>
              <a:off x="-2032000" y="-2666999"/>
              <a:ext cx="190500" cy="634999"/>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5" tIns="25718" rIns="51435" bIns="25718" numCol="1" rtlCol="0" anchor="t" anchorCtr="0" compatLnSpc="1">
              <a:prstTxWarp prst="textNoShape">
                <a:avLst/>
              </a:prstTxWarp>
            </a:bodyPr>
            <a:lstStyle/>
            <a:p>
              <a:pPr defTabSz="514350"/>
              <a:endParaRPr lang="zh-CN" altLang="en-US" sz="2025"/>
            </a:p>
          </p:txBody>
        </p:sp>
        <p:sp>
          <p:nvSpPr>
            <p:cNvPr id="11" name="TypeText">
              <a:extLst>
                <a:ext uri="{FF2B5EF4-FFF2-40B4-BE49-F238E27FC236}">
                  <a16:creationId xmlns:a16="http://schemas.microsoft.com/office/drawing/2014/main" id="{F3A77DFE-66BC-4727-81A4-6FFFC574324D}"/>
                </a:ext>
              </a:extLst>
            </p:cNvPr>
            <p:cNvSpPr txBox="1"/>
            <p:nvPr>
              <p:custDataLst>
                <p:tags r:id="rId9"/>
              </p:custDataLst>
            </p:nvPr>
          </p:nvSpPr>
          <p:spPr>
            <a:xfrm>
              <a:off x="-1580444" y="-2666999"/>
              <a:ext cx="1905001" cy="634999"/>
            </a:xfrm>
            <a:prstGeom prst="rect">
              <a:avLst/>
            </a:prstGeom>
            <a:noFill/>
          </p:spPr>
          <p:txBody>
            <a:bodyPr vert="horz" wrap="none" rtlCol="0" anchor="ctr" anchorCtr="0">
              <a:noAutofit/>
            </a:bodyPr>
            <a:lstStyle/>
            <a:p>
              <a:r>
                <a:rPr lang="zh-CN" altLang="en-US" sz="1463">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6DE2641F-0D0F-4ADA-880E-D86519013CE6}"/>
                </a:ext>
              </a:extLst>
            </p:cNvPr>
            <p:cNvSpPr txBox="1"/>
            <p:nvPr>
              <p:custDataLst>
                <p:tags r:id="rId10"/>
              </p:custDataLst>
            </p:nvPr>
          </p:nvSpPr>
          <p:spPr>
            <a:xfrm>
              <a:off x="0" y="-2472830"/>
              <a:ext cx="2286000" cy="508000"/>
            </a:xfrm>
            <a:prstGeom prst="rect">
              <a:avLst/>
            </a:prstGeom>
            <a:noFill/>
          </p:spPr>
          <p:txBody>
            <a:bodyPr vert="horz" wrap="none" rtlCol="0" anchor="ctr" anchorCtr="0">
              <a:noAutofit/>
            </a:bodyPr>
            <a:lstStyle/>
            <a:p>
              <a:r>
                <a:rPr lang="en-US" altLang="zh-CN" sz="1125">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1125">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A33EA36C-03E0-4C3E-808B-EF2C23DF976A}"/>
              </a:ext>
            </a:extLst>
          </p:cNvPr>
          <p:cNvPicPr>
            <a:picLocks/>
          </p:cNvPicPr>
          <p:nvPr>
            <p:custDataLst>
              <p:tags r:id="rId6"/>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42625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741FB10-A15A-4347-AA24-CE9AF83315FD}"/>
              </a:ext>
            </a:extLst>
          </p:cNvPr>
          <p:cNvSpPr>
            <a:spLocks noGrp="1"/>
          </p:cNvSpPr>
          <p:nvPr>
            <p:ph type="dt" sz="half" idx="4294967295"/>
          </p:nvPr>
        </p:nvSpPr>
        <p:spPr/>
        <p:txBody>
          <a:bodyPr/>
          <a:lstStyle/>
          <a:p>
            <a:r>
              <a:rPr lang="en-US" altLang="zh-CN"/>
              <a:t>Copyrights Zhu, Weihong</a:t>
            </a:r>
            <a:r>
              <a:rPr lang="en-US" altLang="zh-CN" b="0" i="0" u="none">
                <a:solidFill>
                  <a:schemeClr val="tx1"/>
                </a:solidFill>
                <a:latin typeface="Tahoma" panose="020B0604030504040204" pitchFamily="34" charset="0"/>
              </a:rPr>
              <a:t> </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FD56488-394F-4BC4-B59B-F74DB852F7C9}"/>
                  </a:ext>
                </a:extLst>
              </p:cNvPr>
              <p:cNvSpPr txBox="1"/>
              <p:nvPr>
                <p:custDataLst>
                  <p:tags r:id="rId2"/>
                </p:custDataLst>
              </p:nvPr>
            </p:nvSpPr>
            <p:spPr>
              <a:xfrm>
                <a:off x="1143000" y="1333501"/>
                <a:ext cx="6858000" cy="1607344"/>
              </a:xfrm>
              <a:prstGeom prst="rect">
                <a:avLst/>
              </a:prstGeom>
              <a:noFill/>
            </p:spPr>
            <p:txBody>
              <a:bodyPr vert="horz" wrap="square" rtlCol="0" anchor="ctr" anchorCtr="0">
                <a:noAutofit/>
              </a:bodyPr>
              <a:lstStyle/>
              <a:p>
                <a:pPr>
                  <a:lnSpc>
                    <a:spcPct val="150000"/>
                  </a:lnSpc>
                </a:pPr>
                <a:r>
                  <a:rPr lang="zh-CN" altLang="en-US" sz="2100" dirty="0">
                    <a:latin typeface="Times New Roman" panose="02020603050405020304" pitchFamily="18" charset="0"/>
                  </a:rPr>
                  <a:t>如果输入的 </a:t>
                </a:r>
                <a14:m>
                  <m:oMath xmlns:m="http://schemas.openxmlformats.org/officeDocument/2006/math">
                    <m:r>
                      <a:rPr lang="en-US" altLang="zh-CN" sz="2100" i="1" dirty="0">
                        <a:latin typeface="Cambria Math" panose="02040503050406030204" pitchFamily="18" charset="0"/>
                      </a:rPr>
                      <m:t>𝑥</m:t>
                    </m:r>
                    <m:r>
                      <a:rPr lang="en-US" altLang="zh-CN" sz="2100" i="1" dirty="0">
                        <a:latin typeface="Cambria Math" panose="02040503050406030204" pitchFamily="18" charset="0"/>
                      </a:rPr>
                      <m:t>(</m:t>
                    </m:r>
                    <m:r>
                      <a:rPr lang="en-US" altLang="zh-CN" sz="2100" i="1" dirty="0">
                        <a:latin typeface="Cambria Math" panose="02040503050406030204" pitchFamily="18" charset="0"/>
                      </a:rPr>
                      <m:t>𝑡</m:t>
                    </m:r>
                    <m:r>
                      <a:rPr lang="en-US" altLang="zh-CN" sz="2100" i="1" dirty="0">
                        <a:latin typeface="Cambria Math" panose="02040503050406030204" pitchFamily="18" charset="0"/>
                      </a:rPr>
                      <m:t>) </m:t>
                    </m:r>
                  </m:oMath>
                </a14:m>
                <a:r>
                  <a:rPr lang="zh-CN" altLang="en-US" sz="2100" dirty="0">
                    <a:latin typeface="Times New Roman" panose="02020603050405020304" pitchFamily="18" charset="0"/>
                  </a:rPr>
                  <a:t>是下图中的 </a:t>
                </a:r>
                <a14:m>
                  <m:oMath xmlns:m="http://schemas.openxmlformats.org/officeDocument/2006/math">
                    <m:r>
                      <a:rPr lang="en-US" altLang="zh-CN" sz="2100" i="1" dirty="0">
                        <a:latin typeface="Cambria Math" panose="02040503050406030204" pitchFamily="18" charset="0"/>
                      </a:rPr>
                      <m:t>𝑥</m:t>
                    </m:r>
                    <m:r>
                      <a:rPr lang="en-US" altLang="zh-CN" sz="2100" i="1" baseline="-25000" dirty="0">
                        <a:latin typeface="Cambria Math" panose="02040503050406030204" pitchFamily="18" charset="0"/>
                      </a:rPr>
                      <m:t>1</m:t>
                    </m:r>
                    <m:r>
                      <a:rPr lang="en-US" altLang="zh-CN" sz="2100" i="1" dirty="0">
                        <a:latin typeface="Cambria Math" panose="02040503050406030204" pitchFamily="18" charset="0"/>
                      </a:rPr>
                      <m:t>(</m:t>
                    </m:r>
                    <m:r>
                      <a:rPr lang="en-US" altLang="zh-CN" sz="2100" i="1" dirty="0">
                        <a:latin typeface="Cambria Math" panose="02040503050406030204" pitchFamily="18" charset="0"/>
                      </a:rPr>
                      <m:t>𝑡</m:t>
                    </m:r>
                    <m:r>
                      <a:rPr lang="en-US" altLang="zh-CN" sz="2100" i="1" dirty="0">
                        <a:latin typeface="Cambria Math" panose="02040503050406030204" pitchFamily="18" charset="0"/>
                      </a:rPr>
                      <m:t>)</m:t>
                    </m:r>
                  </m:oMath>
                </a14:m>
                <a:r>
                  <a:rPr lang="en-US" altLang="zh-CN" sz="2100" dirty="0">
                    <a:latin typeface="Times New Roman" panose="02020603050405020304" pitchFamily="18" charset="0"/>
                  </a:rPr>
                  <a:t> </a:t>
                </a:r>
                <a:r>
                  <a:rPr lang="zh-CN" altLang="en-US" sz="2100" dirty="0">
                    <a:latin typeface="Times New Roman" panose="02020603050405020304" pitchFamily="18" charset="0"/>
                  </a:rPr>
                  <a:t>和 </a:t>
                </a:r>
                <a14:m>
                  <m:oMath xmlns:m="http://schemas.openxmlformats.org/officeDocument/2006/math">
                    <m:r>
                      <a:rPr lang="en-US" altLang="zh-CN" sz="2100" i="1" dirty="0">
                        <a:latin typeface="Cambria Math" panose="02040503050406030204" pitchFamily="18" charset="0"/>
                      </a:rPr>
                      <m:t>𝑥</m:t>
                    </m:r>
                    <m:r>
                      <a:rPr lang="en-US" altLang="zh-CN" sz="2100" i="1" baseline="-25000" dirty="0">
                        <a:latin typeface="Cambria Math" panose="02040503050406030204" pitchFamily="18" charset="0"/>
                      </a:rPr>
                      <m:t>2</m:t>
                    </m:r>
                    <m:r>
                      <a:rPr lang="en-US" altLang="zh-CN" sz="2100" i="1" dirty="0">
                        <a:latin typeface="Cambria Math" panose="02040503050406030204" pitchFamily="18" charset="0"/>
                      </a:rPr>
                      <m:t>(</m:t>
                    </m:r>
                    <m:r>
                      <a:rPr lang="en-US" altLang="zh-CN" sz="2100" i="1" dirty="0">
                        <a:latin typeface="Cambria Math" panose="02040503050406030204" pitchFamily="18" charset="0"/>
                      </a:rPr>
                      <m:t>𝑡</m:t>
                    </m:r>
                    <m:r>
                      <a:rPr lang="en-US" altLang="zh-CN" sz="2100" i="1" dirty="0">
                        <a:latin typeface="Cambria Math" panose="02040503050406030204" pitchFamily="18" charset="0"/>
                      </a:rPr>
                      <m:t>)</m:t>
                    </m:r>
                  </m:oMath>
                </a14:m>
                <a:r>
                  <a:rPr lang="zh-CN" altLang="en-US" sz="2100" i="1" dirty="0">
                    <a:latin typeface="Times New Roman" panose="02020603050405020304" pitchFamily="18" charset="0"/>
                  </a:rPr>
                  <a:t>，</a:t>
                </a:r>
                <a:r>
                  <a:rPr lang="zh-CN" altLang="en-US" sz="2100" dirty="0">
                    <a:latin typeface="Times New Roman" panose="02020603050405020304" pitchFamily="18" charset="0"/>
                  </a:rPr>
                  <a:t>请画出它们分别通过各自匹配滤波器的输出</a:t>
                </a:r>
                <a:r>
                  <a:rPr lang="zh-CN" altLang="en-US" sz="2100" i="1" dirty="0">
                    <a:latin typeface="Times New Roman" panose="02020603050405020304" pitchFamily="18" charset="0"/>
                  </a:rPr>
                  <a:t> </a:t>
                </a:r>
                <a14:m>
                  <m:oMath xmlns:m="http://schemas.openxmlformats.org/officeDocument/2006/math">
                    <m:r>
                      <a:rPr lang="en-US" altLang="zh-CN" sz="2100" i="1" dirty="0">
                        <a:latin typeface="Cambria Math" panose="02040503050406030204" pitchFamily="18" charset="0"/>
                      </a:rPr>
                      <m:t>𝑦</m:t>
                    </m:r>
                    <m:r>
                      <a:rPr lang="en-US" altLang="zh-CN" sz="2100" i="1" dirty="0">
                        <a:latin typeface="Cambria Math" panose="02040503050406030204" pitchFamily="18" charset="0"/>
                      </a:rPr>
                      <m:t>(</m:t>
                    </m:r>
                    <m:r>
                      <a:rPr lang="en-US" altLang="zh-CN" sz="2100" i="1" dirty="0">
                        <a:latin typeface="Cambria Math" panose="02040503050406030204" pitchFamily="18" charset="0"/>
                      </a:rPr>
                      <m:t>𝑡</m:t>
                    </m:r>
                    <m:r>
                      <a:rPr lang="en-US" altLang="zh-CN" sz="2100" i="1" dirty="0">
                        <a:latin typeface="Cambria Math" panose="02040503050406030204" pitchFamily="18" charset="0"/>
                      </a:rPr>
                      <m:t>) </m:t>
                    </m:r>
                  </m:oMath>
                </a14:m>
                <a:r>
                  <a:rPr lang="zh-CN" altLang="en-US" sz="2100" dirty="0">
                    <a:latin typeface="Times New Roman" panose="02020603050405020304" pitchFamily="18" charset="0"/>
                  </a:rPr>
                  <a:t>。</a:t>
                </a:r>
                <a:endParaRPr lang="en-US" altLang="zh-CN" sz="2100" dirty="0">
                  <a:latin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3FD56488-394F-4BC4-B59B-F74DB852F7C9}"/>
                  </a:ext>
                </a:extLst>
              </p:cNvPr>
              <p:cNvSpPr txBox="1">
                <a:spLocks noRot="1" noChangeAspect="1" noMove="1" noResize="1" noEditPoints="1" noAdjustHandles="1" noChangeArrowheads="1" noChangeShapeType="1" noTextEdit="1"/>
              </p:cNvSpPr>
              <p:nvPr>
                <p:custDataLst>
                  <p:tags r:id="rId12"/>
                </p:custDataLst>
              </p:nvPr>
            </p:nvSpPr>
            <p:spPr>
              <a:xfrm>
                <a:off x="1143000" y="1333501"/>
                <a:ext cx="6858000" cy="1607344"/>
              </a:xfrm>
              <a:prstGeom prst="rect">
                <a:avLst/>
              </a:prstGeom>
              <a:blipFill>
                <a:blip r:embed="rId13"/>
                <a:stretch>
                  <a:fillRect l="-1067"/>
                </a:stretch>
              </a:blipFill>
            </p:spPr>
            <p:txBody>
              <a:bodyPr/>
              <a:lstStyle/>
              <a:p>
                <a:r>
                  <a:rPr lang="zh-CN" altLang="en-US">
                    <a:noFill/>
                  </a:rPr>
                  <a:t> </a:t>
                </a:r>
              </a:p>
            </p:txBody>
          </p:sp>
        </mc:Fallback>
      </mc:AlternateContent>
      <p:sp>
        <p:nvSpPr>
          <p:cNvPr id="8" name="矩形: 圆角 7">
            <a:extLst>
              <a:ext uri="{FF2B5EF4-FFF2-40B4-BE49-F238E27FC236}">
                <a16:creationId xmlns:a16="http://schemas.microsoft.com/office/drawing/2014/main" id="{C71D8406-600D-4AFD-A7EA-92589ED9F29B}"/>
              </a:ext>
            </a:extLst>
          </p:cNvPr>
          <p:cNvSpPr/>
          <p:nvPr>
            <p:custDataLst>
              <p:tags r:id="rId3"/>
            </p:custDataLst>
          </p:nvPr>
        </p:nvSpPr>
        <p:spPr bwMode="auto">
          <a:xfrm>
            <a:off x="5772150" y="5518547"/>
            <a:ext cx="1157288" cy="308610"/>
          </a:xfrm>
          <a:prstGeom prst="roundRect">
            <a:avLst/>
          </a:prstGeom>
          <a:solidFill>
            <a:srgbClr val="808080"/>
          </a:solidFill>
          <a:ln w="38100" cap="flat" cmpd="sng" algn="ctr">
            <a:solidFill>
              <a:srgbClr val="00000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noAutofit/>
          </a:bodyPr>
          <a:lstStyle/>
          <a:p>
            <a:pPr fontAlgn="base">
              <a:spcBef>
                <a:spcPct val="0"/>
              </a:spcBef>
              <a:spcAft>
                <a:spcPct val="0"/>
              </a:spcAft>
            </a:pPr>
            <a:r>
              <a:rPr kumimoji="1" lang="zh-CN" altLang="en-US" sz="1200" b="1">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4" name="矩形 13">
            <a:extLst>
              <a:ext uri="{FF2B5EF4-FFF2-40B4-BE49-F238E27FC236}">
                <a16:creationId xmlns:a16="http://schemas.microsoft.com/office/drawing/2014/main" id="{CDEC8A0B-A6E6-4555-A63A-D20CC801999C}"/>
              </a:ext>
            </a:extLst>
          </p:cNvPr>
          <p:cNvSpPr/>
          <p:nvPr>
            <p:custDataLst>
              <p:tags r:id="rId4"/>
            </p:custDataLst>
          </p:nvPr>
        </p:nvSpPr>
        <p:spPr bwMode="auto">
          <a:xfrm>
            <a:off x="1143000" y="5244227"/>
            <a:ext cx="6858000" cy="274320"/>
          </a:xfrm>
          <a:prstGeom prst="rect">
            <a:avLst/>
          </a:prstGeom>
          <a:solidFill>
            <a:srgbClr val="FBFAEF"/>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1" compatLnSpc="1">
            <a:prstTxWarp prst="textNoShape">
              <a:avLst/>
            </a:prstTxWarp>
            <a:noAutofit/>
          </a:bodyPr>
          <a:lstStyle/>
          <a:p>
            <a:r>
              <a:rPr kumimoji="1" lang="zh-CN" altLang="en-US" sz="900" b="1">
                <a:solidFill>
                  <a:srgbClr val="F84F41"/>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1" lang="en-US" altLang="zh-CN" sz="900" b="1">
                <a:solidFill>
                  <a:srgbClr val="F84F41"/>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1" lang="zh-CN" altLang="en-US" sz="900" b="1">
                <a:solidFill>
                  <a:srgbClr val="F84F41"/>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5" name="Group 97">
            <a:extLst>
              <a:ext uri="{FF2B5EF4-FFF2-40B4-BE49-F238E27FC236}">
                <a16:creationId xmlns:a16="http://schemas.microsoft.com/office/drawing/2014/main" id="{852E81BC-1D7C-47E8-BD69-D2AFEAF50E62}"/>
              </a:ext>
            </a:extLst>
          </p:cNvPr>
          <p:cNvGrpSpPr>
            <a:grpSpLocks/>
          </p:cNvGrpSpPr>
          <p:nvPr/>
        </p:nvGrpSpPr>
        <p:grpSpPr bwMode="auto">
          <a:xfrm>
            <a:off x="2877810" y="2630006"/>
            <a:ext cx="2750051" cy="2436929"/>
            <a:chOff x="3769" y="2074"/>
            <a:chExt cx="1704" cy="1924"/>
          </a:xfrm>
        </p:grpSpPr>
        <mc:AlternateContent xmlns:mc="http://schemas.openxmlformats.org/markup-compatibility/2006" xmlns:a14="http://schemas.microsoft.com/office/drawing/2010/main">
          <mc:Choice Requires="a14">
            <p:sp>
              <p:nvSpPr>
                <p:cNvPr id="16" name="Object 66">
                  <a:extLst>
                    <a:ext uri="{FF2B5EF4-FFF2-40B4-BE49-F238E27FC236}">
                      <a16:creationId xmlns:a16="http://schemas.microsoft.com/office/drawing/2014/main" id="{DF270426-4862-4340-8D7A-E9AE4A5D1C44}"/>
                    </a:ext>
                  </a:extLst>
                </p:cNvPr>
                <p:cNvSpPr txBox="1"/>
                <p:nvPr/>
              </p:nvSpPr>
              <p:spPr bwMode="auto">
                <a:xfrm>
                  <a:off x="3769" y="3208"/>
                  <a:ext cx="202" cy="205"/>
                </a:xfrm>
                <a:prstGeom prst="rect">
                  <a:avLst/>
                </a:prstGeom>
                <a:noFill/>
                <a:ln>
                  <a:noFill/>
                </a:ln>
                <a:effec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dirty="0"/>
                </a:p>
              </p:txBody>
            </p:sp>
          </mc:Choice>
          <mc:Fallback xmlns="">
            <p:sp>
              <p:nvSpPr>
                <p:cNvPr id="16" name="Object 66">
                  <a:extLst>
                    <a:ext uri="{FF2B5EF4-FFF2-40B4-BE49-F238E27FC236}">
                      <a16:creationId xmlns:a16="http://schemas.microsoft.com/office/drawing/2014/main" id="{DF270426-4862-4340-8D7A-E9AE4A5D1C44}"/>
                    </a:ext>
                  </a:extLst>
                </p:cNvPr>
                <p:cNvSpPr txBox="1">
                  <a:spLocks noRot="1" noChangeAspect="1" noMove="1" noResize="1" noEditPoints="1" noAdjustHandles="1" noChangeArrowheads="1" noChangeShapeType="1" noTextEdit="1"/>
                </p:cNvSpPr>
                <p:nvPr/>
              </p:nvSpPr>
              <p:spPr bwMode="auto">
                <a:xfrm>
                  <a:off x="3769" y="3208"/>
                  <a:ext cx="202" cy="205"/>
                </a:xfrm>
                <a:prstGeom prst="rect">
                  <a:avLst/>
                </a:prstGeom>
                <a:blipFill>
                  <a:blip r:embed="rId14"/>
                  <a:stretch>
                    <a:fillRect/>
                  </a:stretch>
                </a:blipFill>
                <a:ln>
                  <a:noFill/>
                </a:ln>
                <a:effectLst/>
                <a:extLst/>
              </p:spPr>
              <p:txBody>
                <a:bodyPr/>
                <a:lstStyle/>
                <a:p>
                  <a:r>
                    <a:rPr lang="zh-CN" altLang="en-US">
                      <a:noFill/>
                    </a:rPr>
                    <a:t> </a:t>
                  </a:r>
                </a:p>
              </p:txBody>
            </p:sp>
          </mc:Fallback>
        </mc:AlternateContent>
        <p:grpSp>
          <p:nvGrpSpPr>
            <p:cNvPr id="17" name="Group 67">
              <a:extLst>
                <a:ext uri="{FF2B5EF4-FFF2-40B4-BE49-F238E27FC236}">
                  <a16:creationId xmlns:a16="http://schemas.microsoft.com/office/drawing/2014/main" id="{0E88D255-4AEC-47DF-8EE5-4590F00BB3A8}"/>
                </a:ext>
              </a:extLst>
            </p:cNvPr>
            <p:cNvGrpSpPr>
              <a:grpSpLocks/>
            </p:cNvGrpSpPr>
            <p:nvPr/>
          </p:nvGrpSpPr>
          <p:grpSpPr bwMode="auto">
            <a:xfrm>
              <a:off x="3885" y="2210"/>
              <a:ext cx="1542" cy="635"/>
              <a:chOff x="3470" y="2205"/>
              <a:chExt cx="1542" cy="635"/>
            </a:xfrm>
          </p:grpSpPr>
          <p:sp>
            <p:nvSpPr>
              <p:cNvPr id="32" name="Line 68">
                <a:extLst>
                  <a:ext uri="{FF2B5EF4-FFF2-40B4-BE49-F238E27FC236}">
                    <a16:creationId xmlns:a16="http://schemas.microsoft.com/office/drawing/2014/main" id="{8101C809-AEFA-4E11-8DDC-8B7DB102C985}"/>
                  </a:ext>
                </a:extLst>
              </p:cNvPr>
              <p:cNvSpPr>
                <a:spLocks noChangeShapeType="1"/>
              </p:cNvSpPr>
              <p:nvPr/>
            </p:nvSpPr>
            <p:spPr bwMode="auto">
              <a:xfrm>
                <a:off x="3470" y="2795"/>
                <a:ext cx="154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69">
                <a:extLst>
                  <a:ext uri="{FF2B5EF4-FFF2-40B4-BE49-F238E27FC236}">
                    <a16:creationId xmlns:a16="http://schemas.microsoft.com/office/drawing/2014/main" id="{EF6E1486-E25C-4C40-AF12-DF62B231D28A}"/>
                  </a:ext>
                </a:extLst>
              </p:cNvPr>
              <p:cNvSpPr>
                <a:spLocks noChangeShapeType="1"/>
              </p:cNvSpPr>
              <p:nvPr/>
            </p:nvSpPr>
            <p:spPr bwMode="auto">
              <a:xfrm flipV="1">
                <a:off x="3560" y="2205"/>
                <a:ext cx="0" cy="6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70">
                <a:extLst>
                  <a:ext uri="{FF2B5EF4-FFF2-40B4-BE49-F238E27FC236}">
                    <a16:creationId xmlns:a16="http://schemas.microsoft.com/office/drawing/2014/main" id="{E339F760-C85A-4852-9CEB-6EB829D9C795}"/>
                  </a:ext>
                </a:extLst>
              </p:cNvPr>
              <p:cNvSpPr>
                <a:spLocks noChangeShapeType="1"/>
              </p:cNvSpPr>
              <p:nvPr/>
            </p:nvSpPr>
            <p:spPr bwMode="auto">
              <a:xfrm>
                <a:off x="3560" y="2341"/>
                <a:ext cx="4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71">
                <a:extLst>
                  <a:ext uri="{FF2B5EF4-FFF2-40B4-BE49-F238E27FC236}">
                    <a16:creationId xmlns:a16="http://schemas.microsoft.com/office/drawing/2014/main" id="{F0D2FB03-6008-4F42-B1DF-B89946385B41}"/>
                  </a:ext>
                </a:extLst>
              </p:cNvPr>
              <p:cNvSpPr>
                <a:spLocks noChangeShapeType="1"/>
              </p:cNvSpPr>
              <p:nvPr/>
            </p:nvSpPr>
            <p:spPr bwMode="auto">
              <a:xfrm>
                <a:off x="4013" y="2341"/>
                <a:ext cx="1"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 name="Group 72">
              <a:extLst>
                <a:ext uri="{FF2B5EF4-FFF2-40B4-BE49-F238E27FC236}">
                  <a16:creationId xmlns:a16="http://schemas.microsoft.com/office/drawing/2014/main" id="{5F444775-05AE-49A8-87B7-A2272098A26B}"/>
                </a:ext>
              </a:extLst>
            </p:cNvPr>
            <p:cNvGrpSpPr>
              <a:grpSpLocks/>
            </p:cNvGrpSpPr>
            <p:nvPr/>
          </p:nvGrpSpPr>
          <p:grpSpPr bwMode="auto">
            <a:xfrm>
              <a:off x="3930" y="3208"/>
              <a:ext cx="1542" cy="635"/>
              <a:chOff x="3515" y="3203"/>
              <a:chExt cx="1542" cy="635"/>
            </a:xfrm>
          </p:grpSpPr>
          <p:sp>
            <p:nvSpPr>
              <p:cNvPr id="27" name="Line 73">
                <a:extLst>
                  <a:ext uri="{FF2B5EF4-FFF2-40B4-BE49-F238E27FC236}">
                    <a16:creationId xmlns:a16="http://schemas.microsoft.com/office/drawing/2014/main" id="{BFFE2E8E-94E2-459D-8B6E-7CF68DEF94BD}"/>
                  </a:ext>
                </a:extLst>
              </p:cNvPr>
              <p:cNvSpPr>
                <a:spLocks noChangeShapeType="1"/>
              </p:cNvSpPr>
              <p:nvPr/>
            </p:nvSpPr>
            <p:spPr bwMode="auto">
              <a:xfrm>
                <a:off x="3515" y="3793"/>
                <a:ext cx="154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74">
                <a:extLst>
                  <a:ext uri="{FF2B5EF4-FFF2-40B4-BE49-F238E27FC236}">
                    <a16:creationId xmlns:a16="http://schemas.microsoft.com/office/drawing/2014/main" id="{972B78B1-83DF-4B99-9EBA-9876361EA4A8}"/>
                  </a:ext>
                </a:extLst>
              </p:cNvPr>
              <p:cNvSpPr>
                <a:spLocks noChangeShapeType="1"/>
              </p:cNvSpPr>
              <p:nvPr/>
            </p:nvSpPr>
            <p:spPr bwMode="auto">
              <a:xfrm flipV="1">
                <a:off x="3560" y="3203"/>
                <a:ext cx="0" cy="6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75">
                <a:extLst>
                  <a:ext uri="{FF2B5EF4-FFF2-40B4-BE49-F238E27FC236}">
                    <a16:creationId xmlns:a16="http://schemas.microsoft.com/office/drawing/2014/main" id="{28591E4F-020C-4F30-8DB9-4EAE956963D0}"/>
                  </a:ext>
                </a:extLst>
              </p:cNvPr>
              <p:cNvSpPr>
                <a:spLocks noChangeShapeType="1"/>
              </p:cNvSpPr>
              <p:nvPr/>
            </p:nvSpPr>
            <p:spPr bwMode="auto">
              <a:xfrm>
                <a:off x="4150" y="3339"/>
                <a:ext cx="4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76">
                <a:extLst>
                  <a:ext uri="{FF2B5EF4-FFF2-40B4-BE49-F238E27FC236}">
                    <a16:creationId xmlns:a16="http://schemas.microsoft.com/office/drawing/2014/main" id="{8E153443-B78F-4B56-B57D-3E9C8DD608F7}"/>
                  </a:ext>
                </a:extLst>
              </p:cNvPr>
              <p:cNvSpPr>
                <a:spLocks noChangeShapeType="1"/>
              </p:cNvSpPr>
              <p:nvPr/>
            </p:nvSpPr>
            <p:spPr bwMode="auto">
              <a:xfrm>
                <a:off x="4603" y="3339"/>
                <a:ext cx="1"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77">
                <a:extLst>
                  <a:ext uri="{FF2B5EF4-FFF2-40B4-BE49-F238E27FC236}">
                    <a16:creationId xmlns:a16="http://schemas.microsoft.com/office/drawing/2014/main" id="{DA8904FE-4B87-4029-8EFD-43D739465459}"/>
                  </a:ext>
                </a:extLst>
              </p:cNvPr>
              <p:cNvSpPr>
                <a:spLocks noChangeShapeType="1"/>
              </p:cNvSpPr>
              <p:nvPr/>
            </p:nvSpPr>
            <p:spPr bwMode="auto">
              <a:xfrm>
                <a:off x="4150" y="3339"/>
                <a:ext cx="0"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 name="Text Box 78">
              <a:extLst>
                <a:ext uri="{FF2B5EF4-FFF2-40B4-BE49-F238E27FC236}">
                  <a16:creationId xmlns:a16="http://schemas.microsoft.com/office/drawing/2014/main" id="{DB7E0E32-F5CB-498B-BDA4-20B9B88E2C5D}"/>
                </a:ext>
              </a:extLst>
            </p:cNvPr>
            <p:cNvSpPr txBox="1">
              <a:spLocks noChangeArrowheads="1"/>
            </p:cNvSpPr>
            <p:nvPr/>
          </p:nvSpPr>
          <p:spPr bwMode="auto">
            <a:xfrm>
              <a:off x="4293" y="2800"/>
              <a:ext cx="235"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50" dirty="0">
                  <a:latin typeface="Arial" panose="020B0604020202020204" pitchFamily="34" charset="0"/>
                </a:rPr>
                <a:t>T/2</a:t>
              </a:r>
            </a:p>
          </p:txBody>
        </p:sp>
        <p:sp>
          <p:nvSpPr>
            <p:cNvPr id="20" name="Text Box 79">
              <a:extLst>
                <a:ext uri="{FF2B5EF4-FFF2-40B4-BE49-F238E27FC236}">
                  <a16:creationId xmlns:a16="http://schemas.microsoft.com/office/drawing/2014/main" id="{1F523832-8B7E-4626-A6AB-939C38F3CC3A}"/>
                </a:ext>
              </a:extLst>
            </p:cNvPr>
            <p:cNvSpPr txBox="1">
              <a:spLocks noChangeArrowheads="1"/>
            </p:cNvSpPr>
            <p:nvPr/>
          </p:nvSpPr>
          <p:spPr bwMode="auto">
            <a:xfrm>
              <a:off x="4429" y="3798"/>
              <a:ext cx="235"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50" dirty="0">
                  <a:latin typeface="Arial" panose="020B0604020202020204" pitchFamily="34" charset="0"/>
                </a:rPr>
                <a:t>T/2</a:t>
              </a:r>
            </a:p>
          </p:txBody>
        </p:sp>
        <p:sp>
          <p:nvSpPr>
            <p:cNvPr id="21" name="Text Box 80">
              <a:extLst>
                <a:ext uri="{FF2B5EF4-FFF2-40B4-BE49-F238E27FC236}">
                  <a16:creationId xmlns:a16="http://schemas.microsoft.com/office/drawing/2014/main" id="{AB93332F-55A6-496D-B63E-F1BC642693C3}"/>
                </a:ext>
              </a:extLst>
            </p:cNvPr>
            <p:cNvSpPr txBox="1">
              <a:spLocks noChangeArrowheads="1"/>
            </p:cNvSpPr>
            <p:nvPr/>
          </p:nvSpPr>
          <p:spPr bwMode="auto">
            <a:xfrm>
              <a:off x="4928" y="3798"/>
              <a:ext cx="158"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900">
                  <a:latin typeface="Arial" panose="020B0604020202020204" pitchFamily="34" charset="0"/>
                </a:rPr>
                <a:t>T</a:t>
              </a:r>
            </a:p>
          </p:txBody>
        </p:sp>
        <mc:AlternateContent xmlns:mc="http://schemas.openxmlformats.org/markup-compatibility/2006" xmlns:a14="http://schemas.microsoft.com/office/drawing/2010/main">
          <mc:Choice Requires="a14">
            <p:sp>
              <p:nvSpPr>
                <p:cNvPr id="22" name="Object 81">
                  <a:extLst>
                    <a:ext uri="{FF2B5EF4-FFF2-40B4-BE49-F238E27FC236}">
                      <a16:creationId xmlns:a16="http://schemas.microsoft.com/office/drawing/2014/main" id="{FA13E240-5A80-431A-A766-6088FF0DB244}"/>
                    </a:ext>
                  </a:extLst>
                </p:cNvPr>
                <p:cNvSpPr txBox="1"/>
                <p:nvPr/>
              </p:nvSpPr>
              <p:spPr bwMode="auto">
                <a:xfrm>
                  <a:off x="3769" y="2301"/>
                  <a:ext cx="202" cy="205"/>
                </a:xfrm>
                <a:prstGeom prst="rect">
                  <a:avLst/>
                </a:prstGeom>
                <a:noFill/>
                <a:ln>
                  <a:noFill/>
                </a:ln>
                <a:effec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dirty="0"/>
                </a:p>
              </p:txBody>
            </p:sp>
          </mc:Choice>
          <mc:Fallback xmlns="">
            <p:sp>
              <p:nvSpPr>
                <p:cNvPr id="22" name="Object 81">
                  <a:extLst>
                    <a:ext uri="{FF2B5EF4-FFF2-40B4-BE49-F238E27FC236}">
                      <a16:creationId xmlns:a16="http://schemas.microsoft.com/office/drawing/2014/main" id="{FA13E240-5A80-431A-A766-6088FF0DB244}"/>
                    </a:ext>
                  </a:extLst>
                </p:cNvPr>
                <p:cNvSpPr txBox="1">
                  <a:spLocks noRot="1" noChangeAspect="1" noMove="1" noResize="1" noEditPoints="1" noAdjustHandles="1" noChangeArrowheads="1" noChangeShapeType="1" noTextEdit="1"/>
                </p:cNvSpPr>
                <p:nvPr/>
              </p:nvSpPr>
              <p:spPr bwMode="auto">
                <a:xfrm>
                  <a:off x="3769" y="2301"/>
                  <a:ext cx="202" cy="205"/>
                </a:xfrm>
                <a:prstGeom prst="rect">
                  <a:avLst/>
                </a:prstGeom>
                <a:blipFill>
                  <a:blip r:embed="rId15"/>
                  <a:stretch>
                    <a:fillRect/>
                  </a:stretch>
                </a:blipFill>
                <a:ln>
                  <a:noFill/>
                </a:ln>
                <a:effectLst/>
                <a:extLst/>
              </p:spPr>
              <p:txBody>
                <a:bodyPr/>
                <a:lstStyle/>
                <a:p>
                  <a:r>
                    <a:rPr lang="zh-CN" altLang="en-US">
                      <a:noFill/>
                    </a:rPr>
                    <a:t> </a:t>
                  </a:r>
                </a:p>
              </p:txBody>
            </p:sp>
          </mc:Fallback>
        </mc:AlternateContent>
        <p:sp>
          <p:nvSpPr>
            <p:cNvPr id="23" name="Text Box 82">
              <a:extLst>
                <a:ext uri="{FF2B5EF4-FFF2-40B4-BE49-F238E27FC236}">
                  <a16:creationId xmlns:a16="http://schemas.microsoft.com/office/drawing/2014/main" id="{DF468402-79A3-4DC3-A03C-9B8DB96A763A}"/>
                </a:ext>
              </a:extLst>
            </p:cNvPr>
            <p:cNvSpPr txBox="1">
              <a:spLocks noChangeArrowheads="1"/>
            </p:cNvSpPr>
            <p:nvPr/>
          </p:nvSpPr>
          <p:spPr bwMode="auto">
            <a:xfrm>
              <a:off x="5336" y="3798"/>
              <a:ext cx="137"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50" dirty="0">
                  <a:latin typeface="Arial" panose="020B0604020202020204" pitchFamily="34" charset="0"/>
                </a:rPr>
                <a:t>t</a:t>
              </a:r>
            </a:p>
          </p:txBody>
        </p:sp>
        <p:sp>
          <p:nvSpPr>
            <p:cNvPr id="24" name="Text Box 83">
              <a:extLst>
                <a:ext uri="{FF2B5EF4-FFF2-40B4-BE49-F238E27FC236}">
                  <a16:creationId xmlns:a16="http://schemas.microsoft.com/office/drawing/2014/main" id="{065078A6-CDF6-43A7-B511-29B6E5184553}"/>
                </a:ext>
              </a:extLst>
            </p:cNvPr>
            <p:cNvSpPr txBox="1">
              <a:spLocks noChangeArrowheads="1"/>
            </p:cNvSpPr>
            <p:nvPr/>
          </p:nvSpPr>
          <p:spPr bwMode="auto">
            <a:xfrm>
              <a:off x="5232" y="2832"/>
              <a:ext cx="137"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50" dirty="0">
                  <a:latin typeface="Arial" panose="020B0604020202020204" pitchFamily="34" charset="0"/>
                </a:rPr>
                <a:t>t</a:t>
              </a:r>
            </a:p>
          </p:txBody>
        </p:sp>
        <mc:AlternateContent xmlns:mc="http://schemas.openxmlformats.org/markup-compatibility/2006" xmlns:a14="http://schemas.microsoft.com/office/drawing/2010/main">
          <mc:Choice Requires="a14">
            <p:sp>
              <p:nvSpPr>
                <p:cNvPr id="25" name="Object 84">
                  <a:extLst>
                    <a:ext uri="{FF2B5EF4-FFF2-40B4-BE49-F238E27FC236}">
                      <a16:creationId xmlns:a16="http://schemas.microsoft.com/office/drawing/2014/main" id="{0A4D5C81-101A-4DF2-B45A-03F6C9AF88DC}"/>
                    </a:ext>
                  </a:extLst>
                </p:cNvPr>
                <p:cNvSpPr txBox="1"/>
                <p:nvPr/>
              </p:nvSpPr>
              <p:spPr bwMode="auto">
                <a:xfrm>
                  <a:off x="4021" y="2074"/>
                  <a:ext cx="336" cy="216"/>
                </a:xfrm>
                <a:prstGeom prst="rect">
                  <a:avLst/>
                </a:prstGeom>
                <a:noFill/>
                <a:ln>
                  <a:noFill/>
                </a:ln>
                <a:effec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1" i="1">
                                <a:solidFill>
                                  <a:srgbClr val="000000"/>
                                </a:solidFill>
                                <a:latin typeface="Cambria Math" panose="02040503050406030204" pitchFamily="18" charset="0"/>
                              </a:rPr>
                              <m:t>𝟏</m:t>
                            </m:r>
                          </m:sub>
                        </m:sSub>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5" name="Object 84">
                  <a:extLst>
                    <a:ext uri="{FF2B5EF4-FFF2-40B4-BE49-F238E27FC236}">
                      <a16:creationId xmlns:a16="http://schemas.microsoft.com/office/drawing/2014/main" id="{0A4D5C81-101A-4DF2-B45A-03F6C9AF88DC}"/>
                    </a:ext>
                  </a:extLst>
                </p:cNvPr>
                <p:cNvSpPr txBox="1">
                  <a:spLocks noRot="1" noChangeAspect="1" noMove="1" noResize="1" noEditPoints="1" noAdjustHandles="1" noChangeArrowheads="1" noChangeShapeType="1" noTextEdit="1"/>
                </p:cNvSpPr>
                <p:nvPr/>
              </p:nvSpPr>
              <p:spPr bwMode="auto">
                <a:xfrm>
                  <a:off x="4021" y="2074"/>
                  <a:ext cx="336" cy="216"/>
                </a:xfrm>
                <a:prstGeom prst="rect">
                  <a:avLst/>
                </a:prstGeom>
                <a:blipFill>
                  <a:blip r:embed="rId16"/>
                  <a:stretch>
                    <a:fillRect b="-2222"/>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85">
                  <a:extLst>
                    <a:ext uri="{FF2B5EF4-FFF2-40B4-BE49-F238E27FC236}">
                      <a16:creationId xmlns:a16="http://schemas.microsoft.com/office/drawing/2014/main" id="{7FADFC65-AF65-4099-AA8E-F06FC3F5051E}"/>
                    </a:ext>
                  </a:extLst>
                </p:cNvPr>
                <p:cNvSpPr txBox="1"/>
                <p:nvPr/>
              </p:nvSpPr>
              <p:spPr bwMode="auto">
                <a:xfrm>
                  <a:off x="4021" y="3120"/>
                  <a:ext cx="347" cy="216"/>
                </a:xfrm>
                <a:prstGeom prst="rect">
                  <a:avLst/>
                </a:prstGeom>
                <a:noFill/>
                <a:ln>
                  <a:noFill/>
                </a:ln>
                <a:effec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1" i="1">
                                <a:solidFill>
                                  <a:srgbClr val="000000"/>
                                </a:solidFill>
                                <a:latin typeface="Cambria Math" panose="02040503050406030204" pitchFamily="18" charset="0"/>
                              </a:rPr>
                              <m:t>𝟐</m:t>
                            </m:r>
                          </m:sub>
                        </m:sSub>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6" name="Object 85">
                  <a:extLst>
                    <a:ext uri="{FF2B5EF4-FFF2-40B4-BE49-F238E27FC236}">
                      <a16:creationId xmlns:a16="http://schemas.microsoft.com/office/drawing/2014/main" id="{7FADFC65-AF65-4099-AA8E-F06FC3F5051E}"/>
                    </a:ext>
                  </a:extLst>
                </p:cNvPr>
                <p:cNvSpPr txBox="1">
                  <a:spLocks noRot="1" noChangeAspect="1" noMove="1" noResize="1" noEditPoints="1" noAdjustHandles="1" noChangeArrowheads="1" noChangeShapeType="1" noTextEdit="1"/>
                </p:cNvSpPr>
                <p:nvPr/>
              </p:nvSpPr>
              <p:spPr bwMode="auto">
                <a:xfrm>
                  <a:off x="4021" y="3120"/>
                  <a:ext cx="347" cy="216"/>
                </a:xfrm>
                <a:prstGeom prst="rect">
                  <a:avLst/>
                </a:prstGeom>
                <a:blipFill>
                  <a:blip r:embed="rId17"/>
                  <a:stretch>
                    <a:fillRect/>
                  </a:stretch>
                </a:blipFill>
                <a:ln>
                  <a:noFill/>
                </a:ln>
                <a:effectLst/>
                <a:extLst/>
              </p:spPr>
              <p:txBody>
                <a:bodyPr/>
                <a:lstStyle/>
                <a:p>
                  <a:r>
                    <a:rPr lang="zh-CN" altLang="en-US">
                      <a:noFill/>
                    </a:rPr>
                    <a:t> </a:t>
                  </a:r>
                </a:p>
              </p:txBody>
            </p:sp>
          </mc:Fallback>
        </mc:AlternateContent>
      </p:grpSp>
      <p:grpSp>
        <p:nvGrpSpPr>
          <p:cNvPr id="13" name="组合 12">
            <a:extLst>
              <a:ext uri="{FF2B5EF4-FFF2-40B4-BE49-F238E27FC236}">
                <a16:creationId xmlns:a16="http://schemas.microsoft.com/office/drawing/2014/main" id="{5B7F0643-ABD3-48BC-89AE-CE0A007BF33A}"/>
              </a:ext>
            </a:extLst>
          </p:cNvPr>
          <p:cNvGrpSpPr/>
          <p:nvPr>
            <p:custDataLst>
              <p:tags r:id="rId5"/>
            </p:custDataLst>
          </p:nvPr>
        </p:nvGrpSpPr>
        <p:grpSpPr>
          <a:xfrm>
            <a:off x="0" y="0"/>
            <a:ext cx="6858000" cy="490220"/>
            <a:chOff x="-1524000" y="-1143000"/>
            <a:chExt cx="9144000" cy="653627"/>
          </a:xfrm>
        </p:grpSpPr>
        <p:sp>
          <p:nvSpPr>
            <p:cNvPr id="9" name="TitleBackground">
              <a:extLst>
                <a:ext uri="{FF2B5EF4-FFF2-40B4-BE49-F238E27FC236}">
                  <a16:creationId xmlns:a16="http://schemas.microsoft.com/office/drawing/2014/main" id="{9E184FCF-1EA1-4177-91AD-CC2657FB4AEF}"/>
                </a:ext>
              </a:extLst>
            </p:cNvPr>
            <p:cNvSpPr/>
            <p:nvPr>
              <p:custDataLst>
                <p:tags r:id="rId7"/>
              </p:custDataLst>
            </p:nvPr>
          </p:nvSpPr>
          <p:spPr bwMode="auto">
            <a:xfrm>
              <a:off x="-1524000" y="-1143000"/>
              <a:ext cx="9144000" cy="635000"/>
            </a:xfrm>
            <a:prstGeom prst="rect">
              <a:avLst/>
            </a:prstGeom>
            <a:solidFill>
              <a:srgbClr val="F6F7F8"/>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fontAlgn="base">
                <a:spcBef>
                  <a:spcPct val="0"/>
                </a:spcBef>
                <a:spcAft>
                  <a:spcPct val="0"/>
                </a:spcAft>
              </a:pPr>
              <a:endParaRPr kumimoji="1" lang="zh-CN" altLang="en-US" b="1">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0" name="ColorBlock">
              <a:extLst>
                <a:ext uri="{FF2B5EF4-FFF2-40B4-BE49-F238E27FC236}">
                  <a16:creationId xmlns:a16="http://schemas.microsoft.com/office/drawing/2014/main" id="{1BFCFC6E-E4B2-4394-88D8-B31EA5324682}"/>
                </a:ext>
              </a:extLst>
            </p:cNvPr>
            <p:cNvSpPr/>
            <p:nvPr>
              <p:custDataLst>
                <p:tags r:id="rId8"/>
              </p:custDataLst>
            </p:nvPr>
          </p:nvSpPr>
          <p:spPr bwMode="auto">
            <a:xfrm>
              <a:off x="-1524000" y="-1143000"/>
              <a:ext cx="190500" cy="635000"/>
            </a:xfrm>
            <a:prstGeom prst="rect">
              <a:avLst/>
            </a:prstGeom>
            <a:solidFill>
              <a:srgbClr val="639EF4"/>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fontAlgn="base">
                <a:spcBef>
                  <a:spcPct val="0"/>
                </a:spcBef>
                <a:spcAft>
                  <a:spcPct val="0"/>
                </a:spcAft>
              </a:pPr>
              <a:endParaRPr kumimoji="1" lang="zh-CN" altLang="en-US" b="1">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1" name="TypeText">
              <a:extLst>
                <a:ext uri="{FF2B5EF4-FFF2-40B4-BE49-F238E27FC236}">
                  <a16:creationId xmlns:a16="http://schemas.microsoft.com/office/drawing/2014/main" id="{ACB12DEE-5C9E-46E2-88E5-90DEA5887F49}"/>
                </a:ext>
              </a:extLst>
            </p:cNvPr>
            <p:cNvSpPr txBox="1"/>
            <p:nvPr>
              <p:custDataLst>
                <p:tags r:id="rId9"/>
              </p:custDataLst>
            </p:nvPr>
          </p:nvSpPr>
          <p:spPr>
            <a:xfrm>
              <a:off x="-1185333" y="-1143000"/>
              <a:ext cx="1905000" cy="635000"/>
            </a:xfrm>
            <a:prstGeom prst="rect">
              <a:avLst/>
            </a:prstGeom>
            <a:noFill/>
          </p:spPr>
          <p:txBody>
            <a:bodyPr vert="horz" wrap="none" rtlCol="0" anchor="ctr" anchorCtr="0">
              <a:noAutofit/>
            </a:bodyPr>
            <a:lstStyle/>
            <a:p>
              <a:r>
                <a:rPr lang="zh-CN" altLang="en-US" sz="195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EA5F59D1-6E9F-42C2-84A7-611206ADC578}"/>
                </a:ext>
              </a:extLst>
            </p:cNvPr>
            <p:cNvSpPr txBox="1"/>
            <p:nvPr>
              <p:custDataLst>
                <p:tags r:id="rId10"/>
              </p:custDataLst>
            </p:nvPr>
          </p:nvSpPr>
          <p:spPr>
            <a:xfrm>
              <a:off x="146473" y="-997373"/>
              <a:ext cx="2286000" cy="508000"/>
            </a:xfrm>
            <a:prstGeom prst="rect">
              <a:avLst/>
            </a:prstGeom>
            <a:noFill/>
          </p:spPr>
          <p:txBody>
            <a:bodyPr vert="horz" wrap="none" rtlCol="0" anchor="ctr" anchorCtr="0">
              <a:noAutofit/>
            </a:bodyPr>
            <a:lstStyle/>
            <a:p>
              <a:r>
                <a:rPr lang="en-US" altLang="zh-CN"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15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9488D90C-2E48-4F39-96B0-2D8ECC3CCD11}"/>
              </a:ext>
            </a:extLst>
          </p:cNvPr>
          <p:cNvPicPr>
            <a:picLocks/>
          </p:cNvPicPr>
          <p:nvPr>
            <p:custDataLst>
              <p:tags r:id="rId6"/>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837008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085A14B-E679-484C-9D06-4F1C5D2CE737}"/>
              </a:ext>
            </a:extLst>
          </p:cNvPr>
          <p:cNvSpPr>
            <a:spLocks noGrp="1"/>
          </p:cNvSpPr>
          <p:nvPr>
            <p:ph type="title"/>
          </p:nvPr>
        </p:nvSpPr>
        <p:spPr/>
        <p:txBody>
          <a:bodyPr/>
          <a:lstStyle/>
          <a:p>
            <a:r>
              <a:rPr lang="zh-CN" altLang="en-US" dirty="0"/>
              <a:t>作业</a:t>
            </a:r>
          </a:p>
        </p:txBody>
      </p:sp>
      <p:sp>
        <p:nvSpPr>
          <p:cNvPr id="4" name="内容占位符 3">
            <a:extLst>
              <a:ext uri="{FF2B5EF4-FFF2-40B4-BE49-F238E27FC236}">
                <a16:creationId xmlns:a16="http://schemas.microsoft.com/office/drawing/2014/main" id="{379209CA-33EC-4E7A-A381-A4B51F2ABE08}"/>
              </a:ext>
            </a:extLst>
          </p:cNvPr>
          <p:cNvSpPr>
            <a:spLocks noGrp="1"/>
          </p:cNvSpPr>
          <p:nvPr>
            <p:ph idx="1"/>
          </p:nvPr>
        </p:nvSpPr>
        <p:spPr/>
        <p:txBody>
          <a:bodyPr/>
          <a:lstStyle/>
          <a:p>
            <a:r>
              <a:rPr lang="zh-CN" altLang="en-US" dirty="0"/>
              <a:t>习题：</a:t>
            </a:r>
            <a:r>
              <a:rPr lang="en-US" altLang="zh-CN" dirty="0"/>
              <a:t>5.11</a:t>
            </a:r>
            <a:r>
              <a:rPr lang="zh-CN" altLang="en-US" dirty="0"/>
              <a:t>、</a:t>
            </a:r>
            <a:r>
              <a:rPr lang="en-US" altLang="zh-CN" dirty="0"/>
              <a:t>5.12</a:t>
            </a:r>
            <a:endParaRPr lang="zh-CN" altLang="en-US" dirty="0"/>
          </a:p>
        </p:txBody>
      </p:sp>
    </p:spTree>
    <p:extLst>
      <p:ext uri="{BB962C8B-B14F-4D97-AF65-F5344CB8AC3E}">
        <p14:creationId xmlns:p14="http://schemas.microsoft.com/office/powerpoint/2010/main" val="10663729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BE79AA-77E8-4FD8-83F4-BEA56AEB043F}"/>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BF31DB79-64BF-4C4C-83A9-7C58D9D91C28}"/>
              </a:ext>
            </a:extLst>
          </p:cNvPr>
          <p:cNvSpPr>
            <a:spLocks noGrp="1"/>
          </p:cNvSpPr>
          <p:nvPr>
            <p:ph idx="1"/>
          </p:nvPr>
        </p:nvSpPr>
        <p:spPr/>
        <p:txBody>
          <a:bodyPr/>
          <a:lstStyle/>
          <a:p>
            <a:r>
              <a:rPr lang="zh-CN" altLang="en-US" dirty="0"/>
              <a:t>白噪声经过</a:t>
            </a:r>
            <a:r>
              <a:rPr lang="en-US" altLang="zh-CN" dirty="0"/>
              <a:t>LTI</a:t>
            </a:r>
            <a:r>
              <a:rPr lang="zh-CN" altLang="en-US" dirty="0"/>
              <a:t>系统</a:t>
            </a:r>
            <a:endParaRPr lang="en-US" altLang="zh-CN" dirty="0"/>
          </a:p>
          <a:p>
            <a:r>
              <a:rPr lang="zh-CN" altLang="en-US" dirty="0"/>
              <a:t>随机信号的带宽</a:t>
            </a:r>
            <a:endParaRPr lang="en-US" altLang="zh-CN" dirty="0"/>
          </a:p>
          <a:p>
            <a:r>
              <a:rPr lang="zh-CN" altLang="en-US" dirty="0">
                <a:solidFill>
                  <a:srgbClr val="FF0000"/>
                </a:solidFill>
              </a:rPr>
              <a:t>噪声中的信号处理</a:t>
            </a:r>
            <a:r>
              <a:rPr lang="en-US" altLang="zh-CN" dirty="0">
                <a:solidFill>
                  <a:srgbClr val="FF0000"/>
                </a:solidFill>
              </a:rPr>
              <a:t>—</a:t>
            </a:r>
            <a:r>
              <a:rPr lang="zh-CN" altLang="en-US" dirty="0">
                <a:solidFill>
                  <a:srgbClr val="FF0000"/>
                </a:solidFill>
              </a:rPr>
              <a:t>匹配滤波器</a:t>
            </a:r>
            <a:endParaRPr lang="en-US" altLang="zh-CN" dirty="0">
              <a:solidFill>
                <a:srgbClr val="FF0000"/>
              </a:solidFill>
            </a:endParaRPr>
          </a:p>
          <a:p>
            <a:endParaRPr lang="zh-CN" altLang="en-US" dirty="0"/>
          </a:p>
        </p:txBody>
      </p:sp>
    </p:spTree>
    <p:extLst>
      <p:ext uri="{BB962C8B-B14F-4D97-AF65-F5344CB8AC3E}">
        <p14:creationId xmlns:p14="http://schemas.microsoft.com/office/powerpoint/2010/main" val="17273170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mpressive Sens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Compressive Sensing</Template>
  <TotalTime>10106</TotalTime>
  <Words>3434</Words>
  <Application>Microsoft Office PowerPoint</Application>
  <PresentationFormat>全屏显示(4:3)</PresentationFormat>
  <Paragraphs>353</Paragraphs>
  <Slides>54</Slides>
  <Notes>18</Notes>
  <HiddenSlides>0</HiddenSlides>
  <MMClips>0</MMClips>
  <ScaleCrop>false</ScaleCrop>
  <HeadingPairs>
    <vt:vector size="6" baseType="variant">
      <vt:variant>
        <vt:lpstr>已用的字体</vt:lpstr>
      </vt:variant>
      <vt:variant>
        <vt:i4>15</vt:i4>
      </vt:variant>
      <vt:variant>
        <vt:lpstr>主题</vt:lpstr>
      </vt:variant>
      <vt:variant>
        <vt:i4>5</vt:i4>
      </vt:variant>
      <vt:variant>
        <vt:lpstr>幻灯片标题</vt:lpstr>
      </vt:variant>
      <vt:variant>
        <vt:i4>54</vt:i4>
      </vt:variant>
    </vt:vector>
  </HeadingPairs>
  <TitlesOfParts>
    <vt:vector size="74" baseType="lpstr">
      <vt:lpstr>-apple-system</vt:lpstr>
      <vt:lpstr>Arial Unicode MS</vt:lpstr>
      <vt:lpstr>Inter</vt:lpstr>
      <vt:lpstr>黑体</vt:lpstr>
      <vt:lpstr>楷体</vt:lpstr>
      <vt:lpstr>宋体</vt:lpstr>
      <vt:lpstr>Microsoft Yahei</vt:lpstr>
      <vt:lpstr>Arial</vt:lpstr>
      <vt:lpstr>Arial Black</vt:lpstr>
      <vt:lpstr>Calibri</vt:lpstr>
      <vt:lpstr>Cambria Math</vt:lpstr>
      <vt:lpstr>Comic Sans MS</vt:lpstr>
      <vt:lpstr>Tahoma</vt:lpstr>
      <vt:lpstr>Times New Roman</vt:lpstr>
      <vt:lpstr>Wingdings</vt:lpstr>
      <vt:lpstr>1_自定义设计方案</vt:lpstr>
      <vt:lpstr>自定义设计方案</vt:lpstr>
      <vt:lpstr>1_Compressive Sensing</vt:lpstr>
      <vt:lpstr>1_Pres_in_sample</vt:lpstr>
      <vt:lpstr>2_Pres_in_sample</vt:lpstr>
      <vt:lpstr>PowerPoint 演示文稿</vt:lpstr>
      <vt:lpstr>第五章 随机信号通过线性系统</vt:lpstr>
      <vt:lpstr>学习目标</vt:lpstr>
      <vt:lpstr>PowerPoint 演示文稿</vt:lpstr>
      <vt:lpstr>PowerPoint 演示文稿</vt:lpstr>
      <vt:lpstr>PowerPoint 演示文稿</vt:lpstr>
      <vt:lpstr>PowerPoint 演示文稿</vt:lpstr>
      <vt:lpstr>PowerPoint 演示文稿</vt:lpstr>
      <vt:lpstr>5.1 具有随机输入的线性时不变系统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补充与讨论：  随机信号的带宽</vt:lpstr>
      <vt:lpstr>总结</vt:lpstr>
      <vt:lpstr>作业</vt:lpstr>
      <vt:lpstr>5.2  白噪声通过线性系统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B_N的含义</vt:lpstr>
      <vt:lpstr>PowerPoint 演示文稿</vt:lpstr>
      <vt:lpstr>5.3  随机信号的带宽</vt:lpstr>
      <vt:lpstr>PowerPoint 演示文稿</vt:lpstr>
      <vt:lpstr>PowerPoint 演示文稿</vt:lpstr>
      <vt:lpstr>PowerPoint 演示文稿</vt:lpstr>
      <vt:lpstr>5.4  噪声中的信号处理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lpstr>总结</vt:lpstr>
    </vt:vector>
  </TitlesOfParts>
  <Company>Keio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Wensheng Zhang</dc:creator>
  <cp:lastModifiedBy>Wensheng Zhang</cp:lastModifiedBy>
  <cp:revision>1005</cp:revision>
  <dcterms:created xsi:type="dcterms:W3CDTF">2012-07-10T00:46:24Z</dcterms:created>
  <dcterms:modified xsi:type="dcterms:W3CDTF">2024-12-06T05:21:52Z</dcterms:modified>
</cp:coreProperties>
</file>