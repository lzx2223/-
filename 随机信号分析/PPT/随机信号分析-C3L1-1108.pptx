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25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10.xml" ContentType="application/vnd.openxmlformats-officedocument.presentationml.tags+xml"/>
  <Override PartName="/ppt/tags/tag15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61"/>
  </p:notesMasterIdLst>
  <p:handoutMasterIdLst>
    <p:handoutMasterId r:id="rId62"/>
  </p:handoutMasterIdLst>
  <p:sldIdLst>
    <p:sldId id="360" r:id="rId6"/>
    <p:sldId id="256" r:id="rId7"/>
    <p:sldId id="278" r:id="rId8"/>
    <p:sldId id="279" r:id="rId9"/>
    <p:sldId id="257" r:id="rId10"/>
    <p:sldId id="258" r:id="rId11"/>
    <p:sldId id="286" r:id="rId12"/>
    <p:sldId id="361" r:id="rId13"/>
    <p:sldId id="259" r:id="rId14"/>
    <p:sldId id="264" r:id="rId15"/>
    <p:sldId id="265" r:id="rId16"/>
    <p:sldId id="266" r:id="rId17"/>
    <p:sldId id="260" r:id="rId18"/>
    <p:sldId id="317" r:id="rId19"/>
    <p:sldId id="319" r:id="rId20"/>
    <p:sldId id="314" r:id="rId21"/>
    <p:sldId id="315" r:id="rId22"/>
    <p:sldId id="316" r:id="rId23"/>
    <p:sldId id="320" r:id="rId24"/>
    <p:sldId id="322" r:id="rId25"/>
    <p:sldId id="323" r:id="rId26"/>
    <p:sldId id="281" r:id="rId27"/>
    <p:sldId id="282" r:id="rId28"/>
    <p:sldId id="261" r:id="rId29"/>
    <p:sldId id="262" r:id="rId30"/>
    <p:sldId id="263" r:id="rId31"/>
    <p:sldId id="267" r:id="rId32"/>
    <p:sldId id="283" r:id="rId33"/>
    <p:sldId id="287" r:id="rId34"/>
    <p:sldId id="268" r:id="rId35"/>
    <p:sldId id="271" r:id="rId36"/>
    <p:sldId id="272" r:id="rId37"/>
    <p:sldId id="273" r:id="rId38"/>
    <p:sldId id="274" r:id="rId39"/>
    <p:sldId id="275" r:id="rId40"/>
    <p:sldId id="324" r:id="rId41"/>
    <p:sldId id="276" r:id="rId42"/>
    <p:sldId id="327" r:id="rId43"/>
    <p:sldId id="325" r:id="rId44"/>
    <p:sldId id="326" r:id="rId45"/>
    <p:sldId id="288" r:id="rId46"/>
    <p:sldId id="362" r:id="rId47"/>
    <p:sldId id="363" r:id="rId48"/>
    <p:sldId id="364" r:id="rId49"/>
    <p:sldId id="365" r:id="rId50"/>
    <p:sldId id="366" r:id="rId51"/>
    <p:sldId id="367" r:id="rId52"/>
    <p:sldId id="368" r:id="rId53"/>
    <p:sldId id="370" r:id="rId54"/>
    <p:sldId id="371" r:id="rId55"/>
    <p:sldId id="372" r:id="rId56"/>
    <p:sldId id="373" r:id="rId57"/>
    <p:sldId id="269" r:id="rId58"/>
    <p:sldId id="270" r:id="rId59"/>
    <p:sldId id="280" r:id="rId60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4283" autoAdjust="0"/>
  </p:normalViewPr>
  <p:slideViewPr>
    <p:cSldViewPr>
      <p:cViewPr varScale="1">
        <p:scale>
          <a:sx n="95" d="100"/>
          <a:sy n="95" d="100"/>
        </p:scale>
        <p:origin x="198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commentAuthors" Target="commentAuthor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F%AF%E8%A5%BF%E5%88%86%E5%B8%83/5021907?fromModule=lemma_inlink" TargetMode="External"/><Relationship Id="rId7" Type="http://schemas.openxmlformats.org/officeDocument/2006/relationships/hyperlink" Target="https://baike.baidu.com/item/%E9%9A%8F%E6%9C%BA%E5%8F%98%E9%87%8F/828980?fromModule=lemma_inlink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6%A6%82%E7%8E%87%E5%88%86%E5%B8%83/828907?fromModule=lemma_inlink" TargetMode="External"/><Relationship Id="rId5" Type="http://schemas.openxmlformats.org/officeDocument/2006/relationships/hyperlink" Target="https://baike.baidu.com/item/%E6%95%B0%E5%AD%A6%E6%9C%9F%E6%9C%9B/5362790?fromModule=lemma_inlink" TargetMode="External"/><Relationship Id="rId4" Type="http://schemas.openxmlformats.org/officeDocument/2006/relationships/hyperlink" Target="https://baike.baidu.com/item/%E5%B9%B3%E7%A8%B3%E9%9A%8F%E6%9C%BA%E8%BF%87%E7%A8%8B/8888123?fromModule=lemma_inlink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提问检查随机信号平稳性的定义和判断依据！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Stationary/Stationarity  </a:t>
            </a:r>
            <a:r>
              <a:rPr lang="zh-CN" altLang="en-US" dirty="0"/>
              <a:t>什么叫“平稳”？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129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充分理解</a:t>
            </a:r>
            <a:r>
              <a:rPr lang="en-US" altLang="zh-CN" dirty="0"/>
              <a:t>n</a:t>
            </a:r>
            <a:r>
              <a:rPr lang="zh-CN" altLang="en-US" dirty="0"/>
              <a:t>维概率分布中维度的意义？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3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注意定义形式，是关于</a:t>
            </a:r>
            <a:r>
              <a:rPr lang="en-US" altLang="zh-CN" dirty="0"/>
              <a:t>x</a:t>
            </a:r>
            <a:r>
              <a:rPr lang="zh-CN" altLang="en-US" dirty="0"/>
              <a:t>的积分，而不是关于</a:t>
            </a:r>
            <a:r>
              <a:rPr lang="en-US" altLang="zh-CN" dirty="0"/>
              <a:t>t</a:t>
            </a:r>
            <a:r>
              <a:rPr lang="zh-CN" altLang="en-US" dirty="0"/>
              <a:t>的积分！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01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这些特点是严平稳的必要不充分条件！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888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看明白这两个图！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803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共轭是针对复信号，相乘后角度变为零！ </a:t>
            </a:r>
            <a:r>
              <a:rPr lang="en-US" altLang="zh-CN" dirty="0"/>
              <a:t>E(t) </a:t>
            </a:r>
            <a:r>
              <a:rPr lang="zh-CN" altLang="en-US"/>
              <a:t>存在与否？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285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为什么取共轭？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747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一个严平稳过程也不一定宽平稳过程。服从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柯西分布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的随机变量序列是严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平稳随机过程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，但不是宽平稳随机过程。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柯西分布是一个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5"/>
              </a:rPr>
              <a:t>数学期望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不存在的连续型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6"/>
              </a:rPr>
              <a:t>概率分布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。当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7"/>
              </a:rPr>
              <a:t>随机变量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满足它的概率密度函数时，称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服从柯西分布。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884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E[A^2]=2sigma^2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661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P45, 2.8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55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为什么被称为半随机？ 时隙对齐，从</a:t>
            </a:r>
            <a:r>
              <a:rPr lang="en-US" altLang="zh-CN" dirty="0"/>
              <a:t>t=0</a:t>
            </a:r>
            <a:r>
              <a:rPr lang="zh-CN" altLang="en-US" dirty="0"/>
              <a:t>开始，精确同步，</a:t>
            </a:r>
            <a:r>
              <a:rPr lang="en-US" altLang="zh-CN" dirty="0"/>
              <a:t>P46</a:t>
            </a:r>
            <a:r>
              <a:rPr lang="zh-CN" altLang="en-US" dirty="0"/>
              <a:t>。 通信中同步非常重要！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576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2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1,0≤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P46 </a:t>
                </a:r>
                <a:r>
                  <a:rPr lang="zh-CN" altLang="en-US" dirty="0"/>
                  <a:t>自相关函数运算！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 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𝑃</a:t>
                </a:r>
                <a:r>
                  <a:rPr lang="zh-CN" altLang="zh-CN" sz="1200" i="0">
                    <a:latin typeface="Cambria Math" panose="02040503050406030204" pitchFamily="18" charset="0"/>
                  </a:rPr>
                  <a:t>_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𝑇 (𝑡)=</a:t>
                </a:r>
                <a:r>
                  <a:rPr lang="zh-CN" altLang="zh-CN" sz="1200" i="0">
                    <a:latin typeface="Cambria Math" panose="02040503050406030204" pitchFamily="18" charset="0"/>
                  </a:rPr>
                  <a:t>{█(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1,0≤𝑡≤𝑇@0,𝑜𝑡ℎ𝑒𝑟𝑤𝑖𝑠𝑒)┤</a:t>
                </a:r>
                <a:r>
                  <a:rPr lang="en-US" altLang="zh-CN" dirty="0"/>
                  <a:t>P46 </a:t>
                </a:r>
                <a:r>
                  <a:rPr lang="zh-CN" altLang="en-US" dirty="0"/>
                  <a:t>自相关函数运算！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95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P47 </a:t>
            </a:r>
            <a:r>
              <a:rPr lang="zh-CN" altLang="en-US" dirty="0"/>
              <a:t>泊松过程  注意</a:t>
            </a:r>
            <a:r>
              <a:rPr lang="en-US" altLang="zh-CN" dirty="0"/>
              <a:t>min(</a:t>
            </a:r>
            <a:r>
              <a:rPr lang="en-US" altLang="zh-CN" dirty="0" err="1"/>
              <a:t>s,t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501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大家注意该问题的思路！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147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先证明广义平稳！ 需要明确一下是不是真会求？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036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概念，计算方法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710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94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拓展视野 ，当前</a:t>
            </a:r>
            <a:r>
              <a:rPr lang="en-US" altLang="zh-CN" dirty="0"/>
              <a:t>5G</a:t>
            </a:r>
            <a:r>
              <a:rPr lang="zh-CN" altLang="en-US" dirty="0"/>
              <a:t>研究热点和未来趋势！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38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看书</a:t>
            </a:r>
            <a:r>
              <a:rPr lang="en-US" altLang="zh-CN" dirty="0"/>
              <a:t>P69</a:t>
            </a:r>
            <a:r>
              <a:rPr lang="zh-CN" altLang="en-US" dirty="0"/>
              <a:t>，</a:t>
            </a:r>
            <a:r>
              <a:rPr lang="en-US" altLang="zh-CN" dirty="0"/>
              <a:t>3.3 </a:t>
            </a:r>
            <a:r>
              <a:rPr lang="zh-CN" altLang="en-US" dirty="0"/>
              <a:t>性质和物理意义！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738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参照</a:t>
            </a:r>
            <a:r>
              <a:rPr lang="en-US" altLang="zh-CN" dirty="0"/>
              <a:t>P69</a:t>
            </a:r>
            <a:r>
              <a:rPr lang="zh-CN" altLang="en-US" dirty="0"/>
              <a:t>性质。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645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 dirty="0">
                <a:effectLst/>
                <a:latin typeface="Inter"/>
              </a:rPr>
              <a:t>傅里叶分析</a:t>
            </a:r>
            <a:r>
              <a:rPr lang="zh-CN" altLang="en-US" b="0" i="0" dirty="0">
                <a:effectLst/>
                <a:latin typeface="Inter"/>
              </a:rPr>
              <a:t>：狄利克雷条件是周期信号能否进行傅里叶级数展开的重要判定依据。满足该条件的周期信号，可以分解为一组适当的正余弦信号的叠加。在信号的频谱分析、滤波、信号的合成与分解等方面，傅里叶分析是基础且关键的技术，广泛应用于音频处理、图像处理、通信系统等。例如，在音频处理中，可通过傅里叶变换将音频信号从时域转换到频域，分析其频率成分，以便进行音频的压缩、降噪、特效添加等操作；在图像处理中，傅里叶变换可用于图像的频域滤波、图像增强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62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r>
              <a:rPr lang="en-US" altLang="zh-CN" dirty="0"/>
              <a:t>3.7</a:t>
            </a:r>
            <a:r>
              <a:rPr lang="zh-CN" altLang="en-US" dirty="0"/>
              <a:t>，复习相关函数性质</a:t>
            </a:r>
            <a:r>
              <a:rPr lang="en-US" altLang="zh-CN" dirty="0"/>
              <a:t>1234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134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https://www.integral-calculator.com/  </a:t>
            </a:r>
            <a:r>
              <a:rPr lang="zh-CN" altLang="en-US" dirty="0"/>
              <a:t>复习一下分步积分！ 按照定义计算！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516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取一部分函数，近似值！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348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是样本函数，是个确定性信号， 不是整体随机信号。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4253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注意样本函数因子</a:t>
            </a:r>
            <a:r>
              <a:rPr lang="en-US" altLang="zh-CN" dirty="0" err="1"/>
              <a:t>ksi</a:t>
            </a:r>
            <a:r>
              <a:rPr lang="en-US" altLang="zh-CN" dirty="0"/>
              <a:t> </a:t>
            </a:r>
            <a:r>
              <a:rPr lang="zh-CN" altLang="en-US" dirty="0"/>
              <a:t>为何消失了？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63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08/11/2024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08/11/2024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2023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9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12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notesSlide" Target="../notesSlides/notesSlide16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15.xml"/><Relationship Id="rId15" Type="http://schemas.openxmlformats.org/officeDocument/2006/relationships/image" Target="../media/image9.tmp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22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notesSlide" Target="../notesSlides/notesSlide19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25.xml"/><Relationship Id="rId15" Type="http://schemas.openxmlformats.org/officeDocument/2006/relationships/image" Target="../media/image9.tmp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4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image" Target="../media/image9.tmp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notesSlide" Target="../notesSlides/notesSlide23.xml"/><Relationship Id="rId2" Type="http://schemas.openxmlformats.org/officeDocument/2006/relationships/tags" Target="../tags/tag32.xml"/><Relationship Id="rId16" Type="http://schemas.openxmlformats.org/officeDocument/2006/relationships/slideLayout" Target="../slideLayouts/slideLayout45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46.png"/><Relationship Id="rId4" Type="http://schemas.openxmlformats.org/officeDocument/2006/relationships/image" Target="../media/image15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image" Target="../media/image9.tmp"/><Relationship Id="rId2" Type="http://schemas.openxmlformats.org/officeDocument/2006/relationships/tags" Target="../tags/tag47.xml"/><Relationship Id="rId16" Type="http://schemas.openxmlformats.org/officeDocument/2006/relationships/image" Target="../media/image6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tags" Target="../tags/tag21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slideLayout" Target="../slideLayouts/slideLayout4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9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image" Target="../media/image111.png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150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6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image" Target="../media/image9.tm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9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sd01234090-1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632848" cy="792088"/>
          </a:xfrm>
        </p:spPr>
        <p:txBody>
          <a:bodyPr/>
          <a:lstStyle/>
          <a:p>
            <a:r>
              <a:rPr lang="zh-CN" altLang="zh-CN" sz="4000" dirty="0"/>
              <a:t>第三章</a:t>
            </a:r>
            <a:r>
              <a:rPr lang="en-US" altLang="zh-CN" sz="4000" dirty="0"/>
              <a:t>  </a:t>
            </a:r>
            <a:r>
              <a:rPr lang="zh-CN" altLang="zh-CN" sz="4000" dirty="0"/>
              <a:t>平稳性与功率谱密度</a:t>
            </a:r>
            <a:endParaRPr lang="zh-CN" altLang="en-US" sz="4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1475656" y="1844824"/>
            <a:ext cx="6408712" cy="3869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3.1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平稳性与联合平稳性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3.2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循环平稳性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3.3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平稳信号的相关函数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3.4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功率谱密度与互相关函数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3.5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白噪声与热噪声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3.6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应用举例</a:t>
            </a:r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EFF51-4D27-48C4-A8EB-07215199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0648"/>
            <a:ext cx="7886700" cy="1119659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本节学习内容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9D7B5-1C7A-4AE7-95BC-60E8C2453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628775"/>
            <a:ext cx="8676455" cy="4254500"/>
          </a:xfrm>
        </p:spPr>
        <p:txBody>
          <a:bodyPr/>
          <a:lstStyle/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严格平稳性  </a:t>
            </a:r>
            <a:r>
              <a:rPr lang="en-US" altLang="zh-CN" sz="2000" dirty="0"/>
              <a:t>Strictly stationary</a:t>
            </a:r>
            <a:r>
              <a:rPr lang="zh-CN" altLang="en-US" sz="2000" dirty="0"/>
              <a:t>（</a:t>
            </a:r>
            <a:r>
              <a:rPr lang="en-US" altLang="zh-CN" sz="2000" dirty="0"/>
              <a:t>strong/complete/strict-sense SSS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广义平稳性</a:t>
            </a:r>
            <a:r>
              <a:rPr lang="en-US" altLang="zh-CN" sz="2800" dirty="0"/>
              <a:t>  </a:t>
            </a:r>
            <a:r>
              <a:rPr lang="en-US" altLang="zh-CN" sz="2400" dirty="0"/>
              <a:t>Weakly stationary (widely/wide-sense WSS)</a:t>
            </a:r>
            <a:r>
              <a:rPr lang="en-US" altLang="zh-CN" sz="2800" dirty="0"/>
              <a:t>	</a:t>
            </a:r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联合平稳性</a:t>
            </a:r>
            <a:r>
              <a:rPr lang="en-US" altLang="zh-CN" sz="2800" dirty="0"/>
              <a:t>   Jointly stationary 		</a:t>
            </a:r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循环平稳性</a:t>
            </a:r>
            <a:r>
              <a:rPr lang="en-US" altLang="zh-CN" sz="2800" dirty="0"/>
              <a:t>   Cyclo-stationary		</a:t>
            </a:r>
          </a:p>
          <a:p>
            <a:pPr marL="385763" indent="-385763">
              <a:lnSpc>
                <a:spcPct val="150000"/>
              </a:lnSpc>
              <a:buAutoNum type="arabicPeriod"/>
            </a:pPr>
            <a:r>
              <a:rPr lang="zh-CN" altLang="en-US" sz="2800" dirty="0"/>
              <a:t>平稳信号的相关函数</a:t>
            </a:r>
            <a:r>
              <a:rPr lang="en-US" altLang="zh-CN" sz="2800" dirty="0"/>
              <a:t>	</a:t>
            </a:r>
            <a:r>
              <a:rPr lang="en-US" altLang="zh-CN" dirty="0"/>
              <a:t>		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83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96B60-5B37-44A2-B36B-1BA4DDD1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08C4FD-B89A-4A3F-B68D-E484B1158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628775"/>
            <a:ext cx="8352927" cy="42545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定义、判断和区分严格平稳信号和广义平稳信号；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区分平稳信号和循环平稳信号；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>
                <a:highlight>
                  <a:srgbClr val="FFFF00"/>
                </a:highlight>
              </a:rPr>
              <a:t>写出平稳信号自相关函数的表达式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列举平稳信号自相关函数的性质。</a:t>
            </a:r>
          </a:p>
        </p:txBody>
      </p:sp>
    </p:spTree>
    <p:extLst>
      <p:ext uri="{BB962C8B-B14F-4D97-AF65-F5344CB8AC3E}">
        <p14:creationId xmlns:p14="http://schemas.microsoft.com/office/powerpoint/2010/main" val="144317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4BA45-528E-4438-93A1-BFB10DCF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37352"/>
            <a:ext cx="7886700" cy="657209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3.1  </a:t>
            </a:r>
            <a:r>
              <a:rPr lang="zh-CN" altLang="zh-CN" sz="2800" dirty="0"/>
              <a:t>平稳性与联合平稳性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9BD27D-5FD9-493C-9BDE-836A98C93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1484784"/>
                <a:ext cx="8420353" cy="42630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3.1.1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严格平稳信号与广义平稳信号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x-none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1</a:t>
                </a:r>
                <a:r>
                  <a:rPr lang="zh-CN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．严格平稳信号</a:t>
                </a:r>
                <a:r>
                  <a:rPr lang="zh-CN" altLang="en-US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：</a:t>
                </a:r>
                <a:r>
                  <a:rPr lang="zh-CN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统计特性不随时间的推移变化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{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2000" dirty="0"/>
                  <a:t> }</a:t>
                </a:r>
                <a:r>
                  <a:rPr lang="zh-CN" altLang="zh-CN" sz="2000" dirty="0"/>
                  <a:t>， 任意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000"/>
                      <m:t>     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.....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dirty="0"/>
                  <a:t>  </a:t>
                </a:r>
                <a:r>
                  <a:rPr lang="zh-CN" altLang="zh-CN" sz="2000" dirty="0"/>
                  <a:t>任意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2000" dirty="0"/>
                  <a:t>, </a:t>
                </a:r>
              </a:p>
              <a:p>
                <a:pPr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如果</a:t>
                </a:r>
                <a:r>
                  <a:rPr lang="en-US" altLang="zh-CN" sz="2000" i="1" dirty="0"/>
                  <a:t>n</a:t>
                </a:r>
                <a:r>
                  <a:rPr lang="zh-CN" altLang="zh-CN" sz="2000" dirty="0"/>
                  <a:t>维概率分布函数满足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;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,...</m:t>
                      </m:r>
                      <m:r>
                        <m:rPr>
                          <m:nor/>
                        </m:rPr>
                        <a:rPr lang="en-US" altLang="zh-CN" sz="2000"/>
                        <m:t> 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，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或 概率密度函数满足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unc>
                      <m:func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fNam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unc>
                      <m:func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fNam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func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则为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严格平稳信号</a:t>
                </a:r>
                <a:r>
                  <a:rPr lang="zh-CN" altLang="zh-CN" sz="2000" dirty="0"/>
                  <a:t>（</a:t>
                </a:r>
                <a:r>
                  <a:rPr lang="en-US" altLang="zh-CN" sz="2000" dirty="0"/>
                  <a:t>strict-sense stationary</a:t>
                </a:r>
                <a:r>
                  <a:rPr lang="zh-CN" altLang="zh-CN" sz="2000" dirty="0"/>
                  <a:t>，</a:t>
                </a:r>
                <a:r>
                  <a:rPr lang="en-US" altLang="zh-CN" sz="2000" dirty="0"/>
                  <a:t>SSS</a:t>
                </a:r>
                <a:r>
                  <a:rPr lang="zh-CN" altLang="zh-CN" sz="2000" dirty="0"/>
                  <a:t>）。</a:t>
                </a:r>
              </a:p>
              <a:p>
                <a:pPr lvl="0"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如果</a:t>
                </a:r>
                <a:r>
                  <a:rPr lang="en-US" altLang="zh-CN" sz="2000" i="1" dirty="0"/>
                  <a:t>n </a:t>
                </a:r>
                <a:r>
                  <a:rPr lang="en-US" altLang="zh-CN" sz="2000" dirty="0"/>
                  <a:t>= </a:t>
                </a:r>
                <a:r>
                  <a:rPr lang="en-US" altLang="zh-CN" sz="2000" i="1" dirty="0"/>
                  <a:t>k</a:t>
                </a:r>
                <a:r>
                  <a:rPr lang="zh-CN" altLang="zh-CN" sz="2000" dirty="0"/>
                  <a:t>时满足，但</a:t>
                </a:r>
                <a:r>
                  <a:rPr lang="en-US" altLang="zh-CN" sz="2000" i="1" dirty="0"/>
                  <a:t>n</a:t>
                </a:r>
                <a:r>
                  <a:rPr lang="en-US" altLang="zh-CN" sz="2000" dirty="0"/>
                  <a:t>&gt;</a:t>
                </a:r>
                <a:r>
                  <a:rPr lang="en-US" altLang="zh-CN" sz="2000" i="1" dirty="0"/>
                  <a:t>k</a:t>
                </a:r>
                <a:r>
                  <a:rPr lang="zh-CN" altLang="zh-CN" sz="2000" dirty="0"/>
                  <a:t>时不满足，则为</a:t>
                </a:r>
                <a:r>
                  <a:rPr lang="en-US" altLang="zh-CN" sz="2000" i="1" dirty="0"/>
                  <a:t>k</a:t>
                </a:r>
                <a:r>
                  <a:rPr lang="zh-CN" altLang="zh-CN" sz="2000" dirty="0"/>
                  <a:t>级</a:t>
                </a:r>
                <a:r>
                  <a:rPr lang="zh-CN" altLang="en-US" sz="2000" dirty="0"/>
                  <a:t>严格</a:t>
                </a:r>
                <a:r>
                  <a:rPr lang="zh-CN" altLang="zh-CN" sz="2000" dirty="0"/>
                  <a:t>平稳。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79BD27D-5FD9-493C-9BDE-836A98C93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484784"/>
                <a:ext cx="8420353" cy="4263007"/>
              </a:xfrm>
              <a:blipFill>
                <a:blip r:embed="rId3"/>
                <a:stretch>
                  <a:fillRect l="-1085" t="-1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20EE34C6-1771-4EF0-84A8-A8FD4E28DBA9}"/>
              </a:ext>
            </a:extLst>
          </p:cNvPr>
          <p:cNvGrpSpPr/>
          <p:nvPr/>
        </p:nvGrpSpPr>
        <p:grpSpPr>
          <a:xfrm>
            <a:off x="5650736" y="1700808"/>
            <a:ext cx="3493264" cy="1575197"/>
            <a:chOff x="8335347" y="1241405"/>
            <a:chExt cx="4657685" cy="210026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A14316E-6977-481E-8301-5878E9D00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718" y="1241405"/>
              <a:ext cx="2202180" cy="160782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83048BA-D94D-45FC-8A85-29D50D5FBFBA}"/>
                </a:ext>
              </a:extLst>
            </p:cNvPr>
            <p:cNvSpPr txBox="1"/>
            <p:nvPr/>
          </p:nvSpPr>
          <p:spPr>
            <a:xfrm>
              <a:off x="8335347" y="2849225"/>
              <a:ext cx="465768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7030A0"/>
                  </a:solidFill>
                </a:rPr>
                <a:t>X(t1)</a:t>
              </a:r>
              <a:r>
                <a:rPr lang="zh-CN" altLang="en-US" dirty="0">
                  <a:solidFill>
                    <a:srgbClr val="7030A0"/>
                  </a:solidFill>
                </a:rPr>
                <a:t>和</a:t>
              </a:r>
              <a:r>
                <a:rPr lang="en-US" altLang="zh-CN" dirty="0">
                  <a:solidFill>
                    <a:srgbClr val="7030A0"/>
                  </a:solidFill>
                </a:rPr>
                <a:t>X(t2)</a:t>
              </a:r>
              <a:r>
                <a:rPr lang="zh-CN" altLang="en-US" dirty="0">
                  <a:solidFill>
                    <a:srgbClr val="7030A0"/>
                  </a:solidFill>
                </a:rPr>
                <a:t>的概率密度函数相等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6613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450"/>
                  </a:spcAft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2.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 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严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格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平稳信号一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维、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二维概率分布的特点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一维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与时间无关</a:t>
                </a:r>
                <a:r>
                  <a:rPr lang="zh-CN" altLang="en-US" dirty="0"/>
                  <a:t>，令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;0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故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与一维概率密度函数有关的均值、方差、均方值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均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为常数</a:t>
                </a:r>
                <a:r>
                  <a:rPr lang="zh-CN" altLang="zh-CN" dirty="0"/>
                  <a:t>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记做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b="0" dirty="0"/>
                  <a:t>有：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  <a:blipFill>
                <a:blip r:embed="rId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4BCB2C4-26EC-49D3-860A-2D09BB6C3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783" y="2786098"/>
            <a:ext cx="2017395" cy="154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72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450"/>
                  </a:spcAft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2.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 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严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格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平稳信号一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维、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二维概率分布的特点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二维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与时间起点、终点无关，只与间隔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func>
                      <m:func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有关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d>
                      <m:limUpp>
                        <m:limUp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lim>
                      </m:limUpp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故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从而随机过程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的自相关函数是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的函数。</a:t>
                </a:r>
                <a:r>
                  <a:rPr lang="zh-CN" altLang="en-US" dirty="0"/>
                  <a:t>（</a:t>
                </a:r>
                <a:r>
                  <a:rPr lang="zh-CN" altLang="en-US" dirty="0">
                    <a:solidFill>
                      <a:srgbClr val="00B050"/>
                    </a:solidFill>
                  </a:rPr>
                  <a:t>一个自变量</a:t>
                </a:r>
                <a:r>
                  <a:rPr lang="zh-CN" altLang="en-US" dirty="0"/>
                  <a:t>）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2736DD0-6DCC-4C4A-84D2-5721E3DD2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17622"/>
                <a:ext cx="8255000" cy="4630283"/>
              </a:xfrm>
              <a:blipFill>
                <a:blip r:embed="rId3"/>
                <a:stretch>
                  <a:fillRect l="-886" b="-14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461AFEE-797B-4AD0-A1EF-C4A93FB62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708" y="2317329"/>
            <a:ext cx="2164110" cy="175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4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736DD0-6DCC-4C4A-84D2-5721E3DD253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51520" y="188640"/>
            <a:ext cx="8255000" cy="792088"/>
          </a:xfrm>
        </p:spPr>
        <p:txBody>
          <a:bodyPr/>
          <a:lstStyle/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概率密度函数和相关函数</a:t>
            </a:r>
            <a:endParaRPr lang="zh-CN" altLang="zh-CN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F5A1944-8798-43A5-8A4F-07CBFEF913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67746" y="-1035497"/>
            <a:ext cx="4608510" cy="878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8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F9358EA-BD81-4059-8532-4D6467D45EE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3346" y="857250"/>
                <a:ext cx="8377126" cy="491836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3. 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广义（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宽</a:t>
                </a:r>
                <a:r>
                  <a:rPr lang="zh-CN" altLang="en-US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）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平稳随机过程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从工程角度，只研究</a:t>
                </a:r>
                <a:r>
                  <a:rPr lang="zh-CN" altLang="en-US" dirty="0"/>
                  <a:t>二</a:t>
                </a:r>
                <a:r>
                  <a:rPr lang="zh-CN" altLang="zh-CN" dirty="0"/>
                  <a:t>阶特性，二维</a:t>
                </a:r>
                <a:r>
                  <a:rPr lang="en-US" altLang="zh-CN" dirty="0"/>
                  <a:t>PDF </a:t>
                </a:r>
                <a:r>
                  <a:rPr lang="zh-CN" altLang="zh-CN" dirty="0"/>
                  <a:t>、均值函数、相关函数。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设二阶</a:t>
                </a:r>
                <a:r>
                  <a:rPr lang="zh-CN" altLang="en-US" dirty="0"/>
                  <a:t>随机</a:t>
                </a:r>
                <a:r>
                  <a:rPr lang="zh-CN" altLang="zh-CN" dirty="0"/>
                  <a:t>过程（均方值存在），如果其均值为常数，相关函数仅为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的函数，则为宽平稳信号或广义平稳信号（</a:t>
                </a:r>
                <a:r>
                  <a:rPr lang="en-US" altLang="zh-CN" dirty="0"/>
                  <a:t>wide-sense stationary, WSS</a:t>
                </a:r>
                <a:r>
                  <a:rPr lang="zh-CN" altLang="zh-CN" dirty="0"/>
                  <a:t>）。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 </a:t>
                </a:r>
                <a:r>
                  <a:rPr lang="zh-CN" altLang="en-US" dirty="0"/>
                  <a:t>即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 </a:t>
                </a:r>
                <a:r>
                  <a:rPr lang="en-US" altLang="zh-CN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例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为随机变量，</m:t>
                    </m:r>
                  </m:oMath>
                </a14:m>
                <a:r>
                  <a:rPr lang="zh-CN" altLang="zh-CN" dirty="0"/>
                  <a:t> </a:t>
                </a:r>
                <a:r>
                  <a:rPr lang="zh-CN" altLang="en-US" dirty="0"/>
                  <a:t>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是否为宽平稳信号？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解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],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，因此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不是宽平稳信号。</a:t>
                </a:r>
                <a:r>
                  <a:rPr lang="en-US" altLang="zh-CN" dirty="0"/>
                  <a:t> 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F9358EA-BD81-4059-8532-4D6467D45E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3346" y="857250"/>
                <a:ext cx="8377126" cy="4918364"/>
              </a:xfrm>
              <a:blipFill>
                <a:blip r:embed="rId3"/>
                <a:stretch>
                  <a:fillRect l="-873" r="-218" b="-1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82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7DBC556-3A0E-4008-9AAF-D6344F8567DC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例：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随机相位</m:t>
                    </m:r>
                  </m:oMath>
                </a14:m>
                <a:r>
                  <a:rPr lang="zh-CN" altLang="en-US" dirty="0"/>
                  <a:t>信号，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为常数，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b="1" i="1" dirty="0" smtClean="0"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</m:d>
                  </m:oMath>
                </a14:m>
                <a:r>
                  <a:rPr lang="zh-CN" altLang="en-US" dirty="0"/>
                  <a:t>均匀分布随机变量，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是否宽平稳？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)]=0</m:t>
                      </m:r>
                      <m:r>
                        <m:rPr>
                          <m:nor/>
                        </m:rPr>
                        <a:rPr lang="en-US" altLang="zh-CN"/>
                        <m:t>  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或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故是宽平稳信号。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7DBC556-3A0E-4008-9AAF-D6344F856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1107" b="-3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39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7F2DBE8-DEAE-4FF3-BB29-A1DF9F556BD3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83852" y="1896237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已知随机信号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𝑋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𝑌</m:t>
                    </m:r>
                  </m:oMath>
                </a14:m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相互独立，分别以概率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2/3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1/3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取－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，判断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S(t)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是否宽平稳？</a:t>
                </a:r>
              </a:p>
              <a:p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7F2DBE8-DEAE-4FF3-BB29-A1DF9F55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83852" y="1896237"/>
                <a:ext cx="7315200" cy="1607344"/>
              </a:xfrm>
              <a:prstGeom prst="rect">
                <a:avLst/>
              </a:prstGeom>
              <a:blipFill>
                <a:blip r:embed="rId1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CC456F-849B-41FD-AB57-E1650B91425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62BB08-1822-48AA-9C16-DCDE5B277BB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2DD3143-66FB-4EAB-8DB9-F2E93A1BA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44" y="1242291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B662D3E-88FC-4537-8B23-BD93D7EBA42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E2D732F1-E583-46F0-9BFC-DDE31EE89AB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52329AAA-18F6-4B8B-856E-835C9C1FA5C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73B5EA42-B9A9-4A7F-8F10-E90CC0BE551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A953CECF-25D5-4AF7-9C02-CFC8A48996F3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98D039B-A962-4EA3-A056-6B6F877F4632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645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8390089-5EF0-4784-9239-EE357FA5D80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9184" y="1325440"/>
                <a:ext cx="8700516" cy="430040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]=0,</m:t>
                      </m:r>
                      <m:r>
                        <m:rPr>
                          <m:nor/>
                        </m:rPr>
                        <a:rPr lang="en-US" altLang="zh-CN"/>
                        <m:t>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]=2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)]=0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lang="en-US" altLang="zh-CN"/>
                        <m:t>            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𝑐𝑜𝑠𝑡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𝑠𝑖𝑛𝑡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](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𝑠𝑖𝑛𝑡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𝑠𝑖𝑛𝑡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𝑐𝑜𝑠𝑡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 marL="0" indent="0">
                  <a:spcAft>
                    <a:spcPts val="900"/>
                  </a:spcAft>
                  <a:buNone/>
                </a:pPr>
                <a:r>
                  <a:rPr lang="zh-CN" altLang="en-US" dirty="0"/>
                  <a:t>显然，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是宽平稳随机信号。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8390089-5EF0-4784-9239-EE357FA5D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9184" y="1325440"/>
                <a:ext cx="8700516" cy="4300406"/>
              </a:xfrm>
              <a:blipFill>
                <a:blip r:embed="rId2"/>
                <a:stretch>
                  <a:fillRect l="-841" t="-1275" b="-1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96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24EE2F6-BDB2-43ED-921A-E091C1ED0041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accent2"/>
                </a:solidFill>
                <a:latin typeface="+mj-ea"/>
                <a:ea typeface="+mj-ea"/>
              </a:rPr>
              <a:t>4. </a:t>
            </a:r>
            <a:r>
              <a:rPr lang="zh-CN" altLang="zh-CN" dirty="0">
                <a:solidFill>
                  <a:schemeClr val="accent2"/>
                </a:solidFill>
                <a:latin typeface="+mj-ea"/>
                <a:ea typeface="+mj-ea"/>
              </a:rPr>
              <a:t>严格平稳和</a:t>
            </a:r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宽</a:t>
            </a:r>
            <a:r>
              <a:rPr lang="zh-CN" altLang="zh-CN" dirty="0">
                <a:solidFill>
                  <a:schemeClr val="accent2"/>
                </a:solidFill>
                <a:latin typeface="+mj-ea"/>
                <a:ea typeface="+mj-ea"/>
              </a:rPr>
              <a:t>平稳的关系</a:t>
            </a:r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zh-CN" dirty="0"/>
              <a:t>）严格平稳</a:t>
            </a:r>
            <a:r>
              <a:rPr lang="zh-CN" altLang="zh-CN" dirty="0">
                <a:solidFill>
                  <a:srgbClr val="FF0000"/>
                </a:solidFill>
              </a:rPr>
              <a:t>只要均方值存在</a:t>
            </a:r>
            <a:r>
              <a:rPr lang="zh-CN" altLang="zh-CN" dirty="0"/>
              <a:t>，即为宽平稳。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）宽平稳不一定严平稳。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zh-CN" altLang="en-US" dirty="0"/>
              <a:t>宽</a:t>
            </a:r>
            <a:r>
              <a:rPr lang="zh-CN" altLang="zh-CN" dirty="0"/>
              <a:t>平稳的高斯随机信号一定是严格平稳。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zh-CN" dirty="0"/>
              <a:t>例：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随机正弦信号是</a:t>
            </a:r>
            <a:r>
              <a:rPr lang="zh-CN" altLang="en-US" dirty="0"/>
              <a:t>宽</a:t>
            </a:r>
            <a:r>
              <a:rPr lang="zh-CN" altLang="zh-CN" dirty="0"/>
              <a:t>平稳信号。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zh-CN" altLang="zh-CN" dirty="0"/>
              <a:t>贝努利随机信号是严格平稳，也是</a:t>
            </a:r>
            <a:r>
              <a:rPr lang="zh-CN" altLang="en-US" dirty="0"/>
              <a:t>宽</a:t>
            </a:r>
            <a:r>
              <a:rPr lang="zh-CN" altLang="zh-CN" dirty="0"/>
              <a:t>平稳。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zh-CN" dirty="0"/>
              <a:t>半随机二进制传输信号、泊松信号都是非</a:t>
            </a:r>
            <a:r>
              <a:rPr lang="zh-CN" altLang="en-US" dirty="0"/>
              <a:t>宽</a:t>
            </a:r>
            <a:r>
              <a:rPr lang="zh-CN" altLang="zh-CN" dirty="0"/>
              <a:t>平稳的。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113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5B4170A-A429-464B-9915-B70C8DF15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20" y="404664"/>
                <a:ext cx="8641493" cy="533631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3800" dirty="0">
                    <a:solidFill>
                      <a:srgbClr val="FF0000"/>
                    </a:solidFill>
                  </a:rPr>
                  <a:t>1 </a:t>
                </a:r>
                <a:r>
                  <a:rPr lang="zh-CN" altLang="zh-CN" sz="3800" dirty="0">
                    <a:solidFill>
                      <a:srgbClr val="FF0000"/>
                    </a:solidFill>
                  </a:rPr>
                  <a:t>随机正弦信号</a:t>
                </a:r>
                <a:r>
                  <a:rPr lang="en-US" altLang="zh-CN" sz="38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38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（广义平稳信号）</a:t>
                </a:r>
                <a:endParaRPr lang="zh-CN" altLang="zh-CN" sz="3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buNone/>
                </a:pPr>
                <a:r>
                  <a:rPr lang="zh-CN" altLang="zh-CN" sz="3200" dirty="0"/>
                  <a:t>正弦信号的参数：振幅、角频率、相位，部分或全部为随机变量。</a:t>
                </a:r>
                <a:r>
                  <a:rPr lang="en-US" altLang="zh-CN" sz="3200" dirty="0"/>
                  <a:t> </a:t>
                </a:r>
                <a:endParaRPr lang="zh-CN" altLang="zh-CN" sz="3200" dirty="0"/>
              </a:p>
              <a:p>
                <a:pPr marL="0" indent="0">
                  <a:buNone/>
                </a:pPr>
                <a:r>
                  <a:rPr lang="x-none" altLang="zh-CN" sz="3200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sz="3200" dirty="0">
                    <a:solidFill>
                      <a:schemeClr val="accent2"/>
                    </a:solidFill>
                  </a:rPr>
                  <a:t>振幅、角频率为常数，相位是随机变量</a:t>
                </a:r>
                <a:r>
                  <a:rPr lang="x-none" altLang="zh-CN" sz="3200" dirty="0">
                    <a:solidFill>
                      <a:schemeClr val="accent2"/>
                    </a:solidFill>
                  </a:rPr>
                  <a:t> </a:t>
                </a:r>
                <a:endParaRPr lang="zh-CN" altLang="zh-CN" sz="320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3200" dirty="0"/>
                  <a:t>例：随机过程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3200" dirty="0"/>
                  <a:t>，</a:t>
                </a:r>
                <a:r>
                  <a:rPr lang="en-US" altLang="zh-CN" sz="3200" dirty="0"/>
                  <a:t>   </a:t>
                </a:r>
                <a:r>
                  <a:rPr lang="en-US" altLang="zh-CN" sz="3200" i="1" dirty="0"/>
                  <a:t>a</a:t>
                </a:r>
                <a:r>
                  <a:rPr lang="zh-CN" altLang="zh-CN" sz="3200" i="1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3200" dirty="0"/>
                  <a:t>常数，相位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sz="3200" dirty="0"/>
                  <a:t>在</a:t>
                </a:r>
                <a:r>
                  <a:rPr lang="en-US" altLang="zh-CN" sz="3200" dirty="0"/>
                  <a:t>(0</a:t>
                </a:r>
                <a:r>
                  <a:rPr lang="zh-CN" altLang="zh-CN" sz="3200" dirty="0"/>
                  <a:t>，</a:t>
                </a:r>
                <a:r>
                  <a:rPr lang="en-US" altLang="zh-CN" sz="3200" dirty="0"/>
                  <a:t>2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3200" dirty="0"/>
                  <a:t>)</a:t>
                </a:r>
                <a:r>
                  <a:rPr lang="zh-CN" altLang="zh-CN" sz="3200" dirty="0"/>
                  <a:t>均匀分布，求</a:t>
                </a:r>
                <a:r>
                  <a:rPr lang="en-US" altLang="zh-CN" sz="3200" i="1" dirty="0"/>
                  <a:t>X</a:t>
                </a:r>
                <a:r>
                  <a:rPr lang="en-US" altLang="zh-CN" sz="3200" dirty="0"/>
                  <a:t>(</a:t>
                </a:r>
                <a:r>
                  <a:rPr lang="en-US" altLang="zh-CN" sz="3200" i="1" dirty="0"/>
                  <a:t>t</a:t>
                </a:r>
                <a:r>
                  <a:rPr lang="en-US" altLang="zh-CN" sz="3200" dirty="0"/>
                  <a:t>)</a:t>
                </a:r>
                <a:r>
                  <a:rPr lang="zh-CN" altLang="zh-CN" sz="3200" dirty="0"/>
                  <a:t>的均值、自相关。</a:t>
                </a:r>
              </a:p>
              <a:p>
                <a:pPr marL="0" indent="0">
                  <a:buNone/>
                </a:pPr>
                <a:r>
                  <a:rPr lang="zh-CN" altLang="zh-CN" sz="3200" dirty="0"/>
                  <a:t>解：</a:t>
                </a:r>
                <a:endParaRPr lang="en-US" altLang="zh-CN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)⋅</m:t>
                          </m:r>
                          <m:sSub>
                            <m:sSub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b>
                          </m:s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sz="29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zh-CN" altLang="zh-CN" sz="29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sSub>
                                <m:sSubPr>
                                  <m:ctrlPr>
                                    <a:rPr lang="zh-CN" altLang="zh-CN" sz="2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29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zh-CN" altLang="zh-CN" sz="29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zh-CN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9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CN" sz="29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)]=</m:t>
                    </m:r>
                    <m:sSup>
                      <m:sSup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sz="290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altLang="zh-CN" sz="29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  <m:oMath xmlns:m="http://schemas.openxmlformats.org/officeDocument/2006/math"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9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900" dirty="0"/>
              </a:p>
              <a:p>
                <a:pPr marL="0" indent="0">
                  <a:lnSpc>
                    <a:spcPct val="17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15B4170A-A429-464B-9915-B70C8DF15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404664"/>
                <a:ext cx="8641493" cy="5336313"/>
              </a:xfrm>
              <a:blipFill>
                <a:blip r:embed="rId2"/>
                <a:stretch>
                  <a:fillRect l="-1058" t="-2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71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5DEA50-E102-4549-BE68-0F3550E7D16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0273" y="940377"/>
                <a:ext cx="8402782" cy="48144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振幅、相位随机变量，角频率常数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 </a:t>
                </a:r>
                <a:r>
                  <a:rPr lang="en-US" altLang="zh-CN" i="1" dirty="0"/>
                  <a:t>A</a:t>
                </a:r>
                <a:r>
                  <a:rPr lang="zh-CN" altLang="zh-CN" dirty="0"/>
                  <a:t>服从参数为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的瑞利分布，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均匀分布，且二者统计独立。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）均值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 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）自相关函数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⋅2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45DEA50-E102-4549-BE68-0F3550E7D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0273" y="940377"/>
                <a:ext cx="8402782" cy="4814455"/>
              </a:xfrm>
              <a:blipFill>
                <a:blip r:embed="rId3"/>
                <a:stretch>
                  <a:fillRect l="-871" t="-1139" r="-218" b="-1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584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86EDE7-E9C6-4FE1-9D55-2CBF15DA682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539552" y="1194954"/>
                <a:ext cx="8424936" cy="44680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2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贝努利随机序列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  </a:t>
                </a:r>
                <a:r>
                  <a:rPr lang="zh-CN" altLang="en-US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（广义平稳信号，也是严平稳信号）</a:t>
                </a:r>
                <a:endParaRPr lang="zh-CN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=1,2,...</m:t>
                        </m:r>
                      </m:e>
                    </m:d>
                  </m:oMath>
                </a14:m>
                <a:r>
                  <a:rPr lang="zh-CN" altLang="zh-CN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统计独立的</a:t>
                </a:r>
                <a:r>
                  <a:rPr lang="en-US" altLang="zh-CN" dirty="0"/>
                  <a:t>0-1</a:t>
                </a:r>
                <a:r>
                  <a:rPr lang="zh-CN" altLang="zh-CN" dirty="0"/>
                  <a:t>分布的随机变量，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altLang="zh-CN"/>
                      <m:t>~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(1,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1. </a:t>
                </a:r>
                <a:r>
                  <a:rPr lang="zh-CN" altLang="zh-CN" dirty="0"/>
                  <a:t>均值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2. </a:t>
                </a:r>
                <a:r>
                  <a:rPr lang="zh-CN" altLang="zh-CN" dirty="0"/>
                  <a:t>自相关函数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US" altLang="zh-CN" b="0" i="1">
                        <a:latin typeface="Cambria Math" panose="02040503050406030204" pitchFamily="18" charset="0"/>
                      </a:rPr>
                      <m:t>q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86EDE7-E9C6-4FE1-9D55-2CBF15DA68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39552" y="1194954"/>
                <a:ext cx="8424936" cy="4468091"/>
              </a:xfrm>
              <a:blipFill>
                <a:blip r:embed="rId3"/>
                <a:stretch>
                  <a:fillRect l="-1158" t="-15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86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D8463F3-24F6-4428-84E1-EA624F7C2FB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36418" y="1117622"/>
                <a:ext cx="8255000" cy="447788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3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半随机二进制传输信号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（非广义平稳信号）</a:t>
                </a:r>
                <a:endParaRPr lang="zh-CN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1800" dirty="0"/>
                  <a:t>1</a:t>
                </a:r>
                <a:r>
                  <a:rPr lang="zh-CN" altLang="zh-CN" sz="1800" dirty="0"/>
                  <a:t>．定义</a:t>
                </a:r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=1,2,...</m:t>
                        </m:r>
                      </m:e>
                    </m:d>
                  </m:oMath>
                </a14:m>
                <a:r>
                  <a:rPr lang="zh-CN" altLang="zh-CN" sz="1800" dirty="0"/>
                  <a:t>是贝努利随机过程</a:t>
                </a:r>
                <a:r>
                  <a:rPr lang="zh-CN" altLang="en-US" sz="1800" dirty="0"/>
                  <a:t>，</a:t>
                </a:r>
                <a:endParaRPr lang="en-US" altLang="zh-CN" sz="1800" dirty="0"/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1800" dirty="0"/>
                  <a:t>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1800" dirty="0"/>
                  <a:t>，</a:t>
                </a:r>
                <a:endParaRPr lang="en-US" altLang="zh-CN" sz="1800" dirty="0"/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)=2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−1,(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−1)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𝑛𝑇</m:t>
                        </m:r>
                      </m:e>
                    </m:d>
                  </m:oMath>
                </a14:m>
                <a:r>
                  <a:rPr lang="zh-CN" altLang="zh-CN" sz="1800" dirty="0"/>
                  <a:t>，</a:t>
                </a:r>
                <a:r>
                  <a:rPr lang="en-US" altLang="zh-CN" sz="1800" i="1" dirty="0"/>
                  <a:t>T</a:t>
                </a:r>
                <a:r>
                  <a:rPr lang="zh-CN" altLang="zh-CN" sz="1800" dirty="0"/>
                  <a:t>为常数</a:t>
                </a:r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1800" dirty="0"/>
                  <a:t>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，则有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=−1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1800" dirty="0"/>
              </a:p>
              <a:p>
                <a:pPr>
                  <a:lnSpc>
                    <a:spcPct val="110000"/>
                  </a:lnSpc>
                  <a:spcBef>
                    <a:spcPts val="900"/>
                  </a:spcBef>
                  <a:buFont typeface="Arial" panose="020B0604020202020204" pitchFamily="34" charset="0"/>
                  <a:buChar char="•"/>
                </a:pPr>
                <a:r>
                  <a:rPr lang="zh-CN" altLang="zh-CN" sz="1800" dirty="0"/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1,0≤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，则 </a:t>
                </a: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1800" dirty="0"/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=−∞</m:t>
                        </m:r>
                      </m:sub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𝑛𝑇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zh-CN" altLang="zh-CN" sz="1800" dirty="0"/>
                  <a:t>称为半随机二进制传输信号</a:t>
                </a:r>
                <a:r>
                  <a:rPr lang="zh-CN" altLang="en-US" sz="1800" dirty="0"/>
                  <a:t>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D8463F3-24F6-4428-84E1-EA624F7C2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36418" y="1117622"/>
                <a:ext cx="8255000" cy="4477883"/>
              </a:xfrm>
              <a:blipFill>
                <a:blip r:embed="rId3"/>
                <a:stretch>
                  <a:fillRect l="-1182" t="-1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3ECE97F-CBDE-4B76-BE13-BFB5A5160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00" y="1772816"/>
            <a:ext cx="2213129" cy="13030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18554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2EC3D1-7510-41CB-8ABA-137D13F9ACC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7544" y="437707"/>
                <a:ext cx="8084126" cy="162314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2. </a:t>
                </a:r>
                <a:r>
                  <a:rPr lang="zh-CN" altLang="zh-CN" dirty="0"/>
                  <a:t>均值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𝑛𝑇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  <m:sSub>
                        <m:sSubPr>
                          <m:ctrlPr>
                            <a:rPr lang="zh-CN" altLang="zh-CN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altLang="zh-CN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500" i="1">
                              <a:latin typeface="Cambria Math" panose="02040503050406030204" pitchFamily="18" charset="0"/>
                            </a:rPr>
                            <m:t>𝑛𝑇</m:t>
                          </m:r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5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sz="1500" dirty="0"/>
              </a:p>
              <a:p>
                <a:pPr marL="0" indent="0">
                  <a:buNone/>
                </a:pPr>
                <a:r>
                  <a:rPr lang="en-US" altLang="zh-CN" sz="1500" b="0" dirty="0"/>
                  <a:t>=2E[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500" b="0" dirty="0"/>
                  <a:t>]-1=</a:t>
                </a:r>
                <a:r>
                  <a:rPr lang="en-US" altLang="zh-CN" sz="15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15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12EC3D1-7510-41CB-8ABA-137D13F9A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7544" y="437707"/>
                <a:ext cx="8084126" cy="1623141"/>
              </a:xfrm>
              <a:blipFill>
                <a:blip r:embed="rId3"/>
                <a:stretch>
                  <a:fillRect l="-905" t="-33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66928" y="2348880"/>
                <a:ext cx="8577072" cy="36506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  <a:normAutofit fontScale="62500" lnSpcReduction="2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8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4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2550" dirty="0"/>
                  <a:t>3</a:t>
                </a:r>
                <a:r>
                  <a:rPr lang="zh-CN" altLang="zh-CN" sz="2550" dirty="0"/>
                  <a:t>．</a:t>
                </a:r>
                <a:r>
                  <a:rPr lang="zh-CN" altLang="zh-CN" sz="3000" dirty="0"/>
                  <a:t>自相关函数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zh-CN" sz="24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zh-CN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</m:nary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altLang="zh-CN" sz="24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=(2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=1−4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sz="2100" dirty="0"/>
              </a:p>
            </p:txBody>
          </p:sp>
        </mc:Choice>
        <mc:Fallback xmlns="">
          <p:sp>
            <p:nvSpPr>
              <p:cNvPr id="3" name="内容占位符 1">
                <a:extLst>
                  <a:ext uri="{FF2B5EF4-FFF2-40B4-BE49-F238E27FC236}">
                    <a16:creationId xmlns:a16="http://schemas.microsoft.com/office/drawing/2014/main" id="{87C95C0E-95AB-4168-AAFE-6FC858924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928" y="2348880"/>
                <a:ext cx="8577072" cy="3650672"/>
              </a:xfrm>
              <a:prstGeom prst="rect">
                <a:avLst/>
              </a:prstGeom>
              <a:blipFill>
                <a:blip r:embed="rId4"/>
                <a:stretch>
                  <a:fillRect l="-640" t="-3172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/>
          <p:cNvSpPr/>
          <p:nvPr/>
        </p:nvSpPr>
        <p:spPr bwMode="auto">
          <a:xfrm>
            <a:off x="6372200" y="4941168"/>
            <a:ext cx="2576945" cy="123888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自相关函数与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时间起点和终点的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取值有关</a:t>
            </a:r>
          </a:p>
        </p:txBody>
      </p:sp>
    </p:spTree>
    <p:extLst>
      <p:ext uri="{BB962C8B-B14F-4D97-AF65-F5344CB8AC3E}">
        <p14:creationId xmlns:p14="http://schemas.microsoft.com/office/powerpoint/2010/main" val="499983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9A5A3D-B69A-4DED-BB56-CBFDFB33DF0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71055" y="1082986"/>
                <a:ext cx="8255000" cy="451251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4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泊松过程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方正粗黑宋简体" panose="02000000000000000000" pitchFamily="2" charset="-122"/>
                    <a:ea typeface="方正粗黑宋简体" panose="02000000000000000000" pitchFamily="2" charset="-122"/>
                  </a:rPr>
                  <a:t>（非广义平稳信号）</a:t>
                </a:r>
                <a:endParaRPr lang="zh-CN" altLang="zh-CN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粗黑宋简体" panose="02000000000000000000" pitchFamily="2" charset="-122"/>
                  <a:ea typeface="方正粗黑宋简体" panose="02000000000000000000" pitchFamily="2" charset="-122"/>
                </a:endParaRPr>
              </a:p>
              <a:p>
                <a:pPr marL="0" indent="0">
                  <a:buNone/>
                </a:pPr>
                <a:r>
                  <a:rPr lang="x-none" altLang="zh-CN" sz="1800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定义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d>
                  </m:oMath>
                </a14:m>
                <a:r>
                  <a:rPr lang="zh-CN" altLang="zh-CN" sz="1800" dirty="0"/>
                  <a:t>，描述某种随机现象反复发生的时间点与次数的问题。</a:t>
                </a:r>
                <a:endParaRPr lang="en-US" altLang="zh-CN" sz="1800" dirty="0"/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/>
                  <a:t>1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零初始值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≡0</m:t>
                    </m:r>
                  </m:oMath>
                </a14:m>
                <a:endParaRPr lang="zh-CN" altLang="zh-CN" sz="1800" dirty="0"/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/>
                  <a:t>2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在不重叠的时间区间上，事件发生的行为是独立的，即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⋯&lt;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zh-CN" sz="1800" dirty="0"/>
                  <a:t>，随机变量</a:t>
                </a:r>
                <a:endParaRPr lang="en-US" altLang="zh-CN" sz="1800" dirty="0"/>
              </a:p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800" dirty="0"/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1800" dirty="0"/>
                  <a:t>、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800" dirty="0"/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是统计独立的。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（独立增量过程）</a:t>
                </a:r>
                <a:endParaRPr lang="zh-CN" altLang="zh-CN" sz="18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/>
                  <a:t>3</a:t>
                </a:r>
                <a:r>
                  <a:rPr lang="zh-CN" altLang="en-US" sz="1800" dirty="0"/>
                  <a:t>）</a:t>
                </a:r>
                <a:r>
                  <a:rPr lang="zh-CN" altLang="zh-CN" sz="1800" dirty="0"/>
                  <a:t>在任何间隔为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zh-CN" sz="1800" dirty="0"/>
                  <a:t>的区间上，事件发生的次数服从参数为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𝜆𝜏</m:t>
                    </m:r>
                  </m:oMath>
                </a14:m>
                <a:r>
                  <a:rPr lang="zh-CN" altLang="zh-CN" sz="1800" dirty="0"/>
                  <a:t>的泊松分布，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sz="1800" dirty="0"/>
                  <a:t>为常数，表示单位时间内事件发生的次数。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/>
                  <a:t>即 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=0,1,2,⋯</m:t>
                    </m:r>
                  </m:oMath>
                </a14:m>
                <a:endParaRPr lang="en-US" altLang="zh-CN" sz="18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49A5A3D-B69A-4DED-BB56-CBFDFB33D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71055" y="1082986"/>
                <a:ext cx="8255000" cy="4512519"/>
              </a:xfrm>
              <a:blipFill>
                <a:blip r:embed="rId2"/>
                <a:stretch>
                  <a:fillRect l="-1108" t="-1757"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715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9EC5E42-E263-4100-B351-7E8D420EDD2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4128" y="1221532"/>
                <a:ext cx="8255000" cy="40466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特征函数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一维</a:t>
                </a:r>
                <a:endParaRPr lang="en-US" altLang="zh-CN" dirty="0"/>
              </a:p>
              <a:p>
                <a:pPr marL="0" indent="0" algn="ctr">
                  <a:buNone/>
                </a:pP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x-non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x-none" altLang="zh-CN" i="1">
                        <a:latin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x-none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x-none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𝑗𝑣𝑁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x-none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x-none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x-none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x-none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x-none" altLang="zh-CN" i="1">
                                        <a:latin typeface="Cambria Math" panose="02040503050406030204" pitchFamily="18" charset="0"/>
                                      </a:rPr>
                                      <m:t>𝑗𝑣</m:t>
                                    </m:r>
                                  </m:sup>
                                </m:sSup>
                                <m:r>
                                  <a:rPr lang="x-none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3.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数字特征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）均值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𝝀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9EC5E42-E263-4100-B351-7E8D420ED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4128" y="1221532"/>
                <a:ext cx="8255000" cy="4046660"/>
              </a:xfrm>
              <a:blipFill>
                <a:blip r:embed="rId2"/>
                <a:stretch>
                  <a:fillRect l="-886" t="-1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693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709987-7FBD-4325-8088-783425AE557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71055" y="951367"/>
                <a:ext cx="8575964" cy="4831175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）方差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）自相关函数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）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𝑵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d>
                  </m:oMath>
                </a14:m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𝒔𝒕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𝒔𝒕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func>
                      <m:func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𝒎𝒊𝒏</m:t>
                        </m:r>
                      </m:fName>
                      <m:e>
                        <m:d>
                          <m:d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e>
                    </m:func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1709987-7FBD-4325-8088-783425AE5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71055" y="951367"/>
                <a:ext cx="8575964" cy="4831175"/>
              </a:xfr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108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B7EFF1-934C-44A8-A635-94A95EB374D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241935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已知随机信号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𝑋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𝑌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是任意的不相关的随机变量</a:t>
                </a:r>
                <a:r>
                  <a:rPr lang="zh-CN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均值为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zh-CN" altLang="en-US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，且两者的概率密度函数满足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𝑥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)≠</m:t>
                    </m:r>
                    <m:sSub>
                      <m:sSub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  <a:endParaRPr lang="en-US" altLang="zh-CN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证明：信号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广义平稳而不是严格平稳。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DB7EFF1-934C-44A8-A635-94A95EB37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14400" y="1333500"/>
                <a:ext cx="7315200" cy="2419350"/>
              </a:xfrm>
              <a:prstGeom prst="rect">
                <a:avLst/>
              </a:prstGeom>
              <a:blipFill>
                <a:blip r:embed="rId14"/>
                <a:stretch>
                  <a:fillRect l="-833" r="-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BDA3492F-8DDB-41D0-9CFA-AB5F98CD001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382C75-F04D-41A1-811B-B6E2D402D7D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1C7E6DB-184E-4427-8B31-C97468FD60D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A31652B9-C04D-4051-B6B5-3989CE27521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C3415CD9-5743-4ECB-940A-6B011827F39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89F82D0B-716F-48AE-A7DF-2201A58E740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82049DF6-0266-423E-B17A-CE15E307564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E1A5E48-1823-4224-9680-3F97CBA2804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6893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F5A82CC-ABBA-43E9-A573-6DD9D36BD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证明：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广义平稳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略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反证法：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𝐗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；</m:t>
                    </m:r>
                  </m:oMath>
                </a14:m>
                <a:r>
                  <a:rPr lang="zh-CN" altLang="en-US" dirty="0"/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dirty="0"/>
                  <a:t>时，</a:t>
                </a:r>
                <a:r>
                  <a:rPr lang="en-US" altLang="zh-CN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𝒀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；</m:t>
                    </m:r>
                  </m:oMath>
                </a14:m>
                <a:r>
                  <a:rPr lang="zh-CN" altLang="en-US" dirty="0"/>
                  <a:t>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显然：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；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故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𝑆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不是严格平稳信号。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F5A82CC-ABBA-43E9-A573-6DD9D36BD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15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88BB272-6F23-43A8-AE05-68A515BA749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 algn="ctr">
                  <a:spcAft>
                    <a:spcPts val="90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3.1.2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联合平稳性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1.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严格联合平稳过程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随机过程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 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联合概率密度函数不随时间推移发生变化。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88BB272-6F23-43A8-AE05-68A515BA74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886" t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9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6D19F96-F88E-4347-AEC2-5838A55F5BE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联合平稳信号的二维</a:t>
                </a: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PDF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的特点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同理，联合平稳过程的二维联合</a:t>
                </a:r>
                <a:r>
                  <a:rPr lang="en-US" altLang="zh-CN" dirty="0"/>
                  <a:t>PDF</a:t>
                </a:r>
                <a:r>
                  <a:rPr lang="zh-CN" altLang="zh-CN" dirty="0"/>
                  <a:t>满足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故与二维概率密度函数有关的自相关、协方差、互相关和互协方差仅为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时间间隔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func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zh-CN" dirty="0"/>
                  <a:t>的函数。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即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m:rPr>
                          <m:nor/>
                        </m:rPr>
                        <a:rPr lang="en-US" altLang="zh-C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/>
                        <m:t> 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6D19F96-F88E-4347-AEC2-5838A55F5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902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7E968A4-C1A4-42EF-AD87-2EA25929BC1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500" y="836712"/>
                <a:ext cx="8255000" cy="472033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3. </a:t>
                </a:r>
                <a:r>
                  <a:rPr lang="zh-CN" altLang="zh-CN" dirty="0">
                    <a:solidFill>
                      <a:schemeClr val="accent2"/>
                    </a:solidFill>
                    <a:latin typeface="+mj-ea"/>
                    <a:ea typeface="+mj-ea"/>
                  </a:rPr>
                  <a:t>联合宽平稳信号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   </a:t>
                </a:r>
                <a:r>
                  <a:rPr lang="zh-CN" altLang="zh-CN" dirty="0"/>
                  <a:t>满足</a:t>
                </a:r>
                <a:r>
                  <a:rPr lang="en-US" altLang="zh-CN" dirty="0"/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则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联合宽平稳。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例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 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已知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=1,2,...}</m:t>
                    </m:r>
                  </m:oMath>
                </a14:m>
                <a:r>
                  <a:rPr lang="zh-CN" altLang="zh-CN" dirty="0"/>
                  <a:t>为随机变量序列，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=1,2,...}</m:t>
                    </m:r>
                  </m:oMath>
                </a14:m>
                <a:r>
                  <a:rPr lang="zh-CN" altLang="zh-CN" dirty="0"/>
                  <a:t>为两两不相等的实数序列，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zh-CN" dirty="0"/>
                  <a:t>。</a:t>
                </a:r>
                <a:r>
                  <a:rPr lang="en-US" altLang="zh-CN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问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=1,2,...}</m:t>
                    </m:r>
                  </m:oMath>
                </a14:m>
                <a:r>
                  <a:rPr lang="zh-CN" altLang="zh-CN" dirty="0"/>
                  <a:t>需满足什么条件，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),−∞&lt;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&lt;∞}</m:t>
                    </m:r>
                  </m:oMath>
                </a14:m>
                <a:r>
                  <a:rPr lang="zh-CN" altLang="zh-CN" dirty="0"/>
                  <a:t>为宽平稳随机过程？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7E968A4-C1A4-42EF-AD87-2EA25929BC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836712"/>
                <a:ext cx="8255000" cy="4720337"/>
              </a:xfrm>
              <a:blipFill>
                <a:blip r:embed="rId2"/>
                <a:stretch>
                  <a:fillRect l="-886" r="-148" b="-1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3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9ECE9E3-9049-44D3-A01E-3386969A50D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96983" y="1152259"/>
                <a:ext cx="8915400" cy="46372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zh-CN" dirty="0"/>
                  <a:t>，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时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t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无关。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900"/>
                  </a:spcBef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         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/>
                      <m:t>           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nary>
                      <m:naryPr>
                        <m:chr m:val="∑"/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</m:nary>
                      </m:e>
                    </m:nary>
                  </m:oMath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/>
                      <m:t>           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]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FF0000"/>
                                  </a:solidFill>
                                </a:rPr>
                                <m:t>  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>
                                  <a:solidFill>
                                    <a:srgbClr val="FF0000"/>
                                  </a:solidFill>
                                </a:rPr>
                                <m:t>    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t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无关，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故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zh-CN" altLang="zh-CN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zh-CN" altLang="zh-CN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9ECE9E3-9049-44D3-A01E-3386969A5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96983" y="1152259"/>
                <a:ext cx="8915400" cy="4637210"/>
              </a:xfrm>
              <a:blipFill>
                <a:blip r:embed="rId3"/>
                <a:stretch>
                  <a:fillRect l="-821" t="-1183" r="-205" b="-12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26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F8F83D-F817-44DB-BD53-00DDA0BB0A49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99655" y="1333500"/>
                <a:ext cx="8146472" cy="2820162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给定过程</a:t>
                </a:r>
                <a:endParaRPr lang="en-US" altLang="zh-CN" sz="195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𝐵𝑠𝑖𝑛𝑡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&lt;∞,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:endParaRPr lang="en-US" altLang="zh-CN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𝐴𝑐𝑜𝑠𝑡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𝐵𝑠𝑖𝑛𝑡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 −∞&lt;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&lt;∞</m:t>
                    </m:r>
                  </m:oMath>
                </a14:m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其中随机变量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B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统计独立，且均值为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0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，方差为</a:t>
                </a:r>
                <a:r>
                  <a:rPr lang="en-US" altLang="zh-CN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1.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证明：</a:t>
                </a:r>
                <a:r>
                  <a:rPr lang="en-US" altLang="zh-CN" sz="195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各自平稳且联合平稳。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F8F83D-F817-44DB-BD53-00DDA0BB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99655" y="1333500"/>
                <a:ext cx="8146472" cy="2820162"/>
              </a:xfrm>
              <a:prstGeom prst="rect">
                <a:avLst/>
              </a:prstGeom>
              <a:blipFill>
                <a:blip r:embed="rId14"/>
                <a:stretch>
                  <a:fillRect l="-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27CC0B71-AAE5-4779-BFEB-546EA7AF582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73E14A-5853-420E-AD3D-8B80CDD5C64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6402308-EB10-407E-B916-F6F2BE41640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62C9B5B3-FBB3-4979-9A2E-6161EDCB94A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7E257DF5-2EE7-45DA-8E70-09378F603D9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4141CE29-410C-4059-BF5B-82F45CC0B60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B7135504-2B31-40D5-8A1B-56D734BD2706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DC0BFDD-9FED-4553-AF3C-C985A2D148BC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9365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1B785E-5955-4F19-977F-4C4DCC800E1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证明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𝒀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平稳略。现证明它们联合平稳。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𝐴𝑐𝑜𝑠𝑡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𝐵𝑠𝑖𝑛𝑡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𝐴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𝑠𝑖𝑛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𝑡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+</m:t>
                                  </m:r>
                                  <m:r>
                                    <a:rPr lang="zh-CN" alt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𝐵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𝑐𝑜𝑠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𝜏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𝑐𝑜𝑠𝑡𝑠𝑖𝑛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𝐴𝐵𝑐𝑜𝑠𝑡𝑐𝑜𝑠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𝐵𝐴𝑠𝑖𝑛𝑡𝑠𝑖𝑛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𝑠𝑖𝑛𝑡𝑐𝑜𝑠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𝑐𝑜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𝑠𝑖𝑛𝑡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𝑠𝑖𝑛𝑡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𝑠𝑖𝑛𝑡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故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联合平稳。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1B785E-5955-4F19-977F-4C4DCC800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3397" t="-1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5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1C47E39-9F93-4669-BAFA-BC7290C2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3.2  </a:t>
            </a:r>
            <a:r>
              <a:rPr lang="zh-CN" altLang="zh-CN" sz="2800" dirty="0"/>
              <a:t>循环平稳性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DF6FA92-0F4A-4458-993D-5E8150160A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488597"/>
                <a:ext cx="7772400" cy="42545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3.2.1 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严格循环平稳  </a:t>
                </a:r>
                <a:endParaRPr lang="en-US" altLang="zh-CN" dirty="0">
                  <a:solidFill>
                    <a:srgbClr val="FF0000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随机过程</a:t>
                </a:r>
                <a:r>
                  <a:rPr lang="en-US" altLang="zh-CN" b="0" i="1" dirty="0"/>
                  <a:t>X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t</a:t>
                </a:r>
                <a:r>
                  <a:rPr lang="en-US" altLang="zh-CN" b="0" dirty="0"/>
                  <a:t>)</a:t>
                </a:r>
                <a:r>
                  <a:rPr lang="zh-CN" altLang="zh-CN" b="0" dirty="0">
                    <a:solidFill>
                      <a:srgbClr val="FF0000"/>
                    </a:solidFill>
                  </a:rPr>
                  <a:t>统计特性随时间周期性变化</a:t>
                </a:r>
                <a:r>
                  <a:rPr lang="zh-CN" altLang="en-US" b="0" dirty="0"/>
                  <a:t>，即其任意</a:t>
                </a:r>
                <a:r>
                  <a:rPr lang="en-US" altLang="zh-CN" b="0" i="1" dirty="0"/>
                  <a:t>n</a:t>
                </a:r>
                <a:r>
                  <a:rPr lang="zh-CN" altLang="en-US" b="0" dirty="0"/>
                  <a:t>阶概率分布函数满足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其中：</a:t>
                </a:r>
                <a:r>
                  <a:rPr lang="en-US" altLang="zh-CN" b="0" i="1" dirty="0"/>
                  <a:t>k</a:t>
                </a:r>
                <a:r>
                  <a:rPr lang="zh-CN" altLang="en-US" b="0" dirty="0"/>
                  <a:t>为任意整数，</a:t>
                </a:r>
                <a:r>
                  <a:rPr lang="en-US" altLang="zh-CN" b="0" i="1" dirty="0"/>
                  <a:t>T</a:t>
                </a:r>
                <a:r>
                  <a:rPr lang="zh-CN" altLang="en-US" b="0" dirty="0"/>
                  <a:t>为正常数。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称</a:t>
                </a:r>
                <a:r>
                  <a:rPr lang="en-US" altLang="zh-CN" b="0" i="1" dirty="0"/>
                  <a:t>T</a:t>
                </a:r>
                <a:r>
                  <a:rPr lang="zh-CN" altLang="en-US" b="0" dirty="0"/>
                  <a:t>为</a:t>
                </a:r>
                <a:r>
                  <a:rPr lang="en-US" altLang="zh-CN" b="0" i="1" dirty="0"/>
                  <a:t>X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t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的循环周期。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DF6FA92-0F4A-4458-993D-5E8150160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88597"/>
                <a:ext cx="7772400" cy="4254500"/>
              </a:xfrm>
              <a:blipFill>
                <a:blip r:embed="rId3"/>
                <a:stretch>
                  <a:fillRect l="-941" t="-1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025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C313893-1EBD-4F40-97A5-32F663B4A7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3.2.2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广义循环平稳信号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b="0" dirty="0"/>
                  <a:t>从工程角度，只研究两阶的特性，二维</a:t>
                </a:r>
                <a:r>
                  <a:rPr lang="en-US" altLang="zh-CN" b="0" dirty="0"/>
                  <a:t>PDF </a:t>
                </a:r>
                <a:r>
                  <a:rPr lang="zh-CN" altLang="zh-CN" b="0" dirty="0"/>
                  <a:t>、均值函数、相关函数。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定义广义循环平稳（</a:t>
                </a:r>
                <a:r>
                  <a:rPr lang="en-US" altLang="zh-CN" b="0" dirty="0"/>
                  <a:t>WSCS</a:t>
                </a:r>
                <a:r>
                  <a:rPr lang="zh-CN" altLang="en-US" b="0" dirty="0"/>
                  <a:t>）性如下</a:t>
                </a:r>
                <a:r>
                  <a:rPr lang="en-US" altLang="zh-CN" b="0" dirty="0"/>
                  <a:t>:</a:t>
                </a:r>
              </a:p>
              <a:p>
                <a:pPr marL="0" indent="0">
                  <a:buNone/>
                </a:pPr>
                <a:r>
                  <a:rPr lang="zh-CN" altLang="zh-CN" b="0" dirty="0"/>
                  <a:t>设二阶矩过程（均方值存在），如果其均值和相关函数具有周期性，即</a:t>
                </a:r>
                <a:r>
                  <a:rPr lang="zh-CN" altLang="en-US" b="0" dirty="0"/>
                  <a:t>满足</a:t>
                </a:r>
                <a:endParaRPr lang="zh-CN" altLang="zh-CN" b="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zh-CN" b="0" dirty="0"/>
                  <a:t>，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CN" b="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endParaRPr lang="zh-CN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C313893-1EBD-4F40-97A5-32F663B4A7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255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EE58E7F-F775-47F8-9FAF-742D09E3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2549"/>
            <a:ext cx="7886700" cy="657209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3.3 </a:t>
            </a:r>
            <a:r>
              <a:rPr lang="zh-CN" altLang="zh-CN" sz="2800" dirty="0"/>
              <a:t>平稳信号的相关函数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698C59A9-4EFE-492B-A9A7-D84203BDE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005" y="1771650"/>
                <a:ext cx="8557120" cy="385895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sz="2600" dirty="0">
                    <a:solidFill>
                      <a:srgbClr val="FF0000"/>
                    </a:solidFill>
                    <a:latin typeface="+mj-ea"/>
                    <a:ea typeface="+mj-ea"/>
                  </a:rPr>
                  <a:t>3.3.1 </a:t>
                </a:r>
                <a:r>
                  <a:rPr lang="zh-CN" altLang="zh-CN" sz="2600" dirty="0">
                    <a:solidFill>
                      <a:srgbClr val="FF0000"/>
                    </a:solidFill>
                    <a:latin typeface="+mj-ea"/>
                    <a:ea typeface="+mj-ea"/>
                  </a:rPr>
                  <a:t>自相关函数（单变量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j-ea"/>
                      </a:rPr>
                      <m:t>𝝉</m:t>
                    </m:r>
                  </m:oMath>
                </a14:m>
                <a:r>
                  <a:rPr lang="zh-CN" altLang="zh-CN" sz="2600" dirty="0">
                    <a:solidFill>
                      <a:srgbClr val="FF0000"/>
                    </a:solidFill>
                    <a:latin typeface="+mj-ea"/>
                    <a:ea typeface="+mj-ea"/>
                  </a:rPr>
                  <a:t>的函数）的性质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1</a:t>
                </a:r>
                <a:r>
                  <a:rPr lang="zh-CN" altLang="zh-CN" b="0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zh-CN" b="0" dirty="0"/>
                  <a:t>，复过程时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 dirty="0"/>
                  <a:t>; 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最大值在零点出现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altLang="zh-CN" b="0" dirty="0"/>
                  <a:t>, </a:t>
                </a:r>
                <a:r>
                  <a:rPr lang="zh-CN" altLang="zh-CN" b="0" dirty="0"/>
                  <a:t>复过程时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altLang="zh-CN" b="0" dirty="0"/>
                  <a:t>; </a:t>
                </a:r>
                <a:r>
                  <a:rPr lang="zh-CN" altLang="en-US" b="0" dirty="0">
                    <a:solidFill>
                      <a:srgbClr val="FF0000"/>
                    </a:solidFill>
                  </a:rPr>
                  <a:t>对称性</a:t>
                </a:r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3</a:t>
                </a:r>
                <a:r>
                  <a:rPr lang="zh-CN" altLang="zh-CN" b="0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(0)≥|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)|,</m:t>
                    </m:r>
                    <m:r>
                      <m:rPr>
                        <m:nor/>
                      </m:rPr>
                      <a:rPr lang="en-US" altLang="zh-CN" b="0"/>
                      <m:t>       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(0)≥|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zh-CN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证明：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≥∓2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zh-CN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d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b="0" dirty="0"/>
                  <a:t>　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698C59A9-4EFE-492B-A9A7-D84203BDE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005" y="1771650"/>
                <a:ext cx="8557120" cy="3858950"/>
              </a:xfrm>
              <a:blipFill>
                <a:blip r:embed="rId3"/>
                <a:stretch>
                  <a:fillRect l="-1140" t="-1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30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A2CAFF9-FCC3-483E-BC5D-2AD148835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259498"/>
                <a:ext cx="7772400" cy="4370643"/>
              </a:xfrm>
            </p:spPr>
            <p:txBody>
              <a:bodyPr/>
              <a:lstStyle/>
              <a:p>
                <a:pPr marL="0" indent="0">
                  <a:spcAft>
                    <a:spcPts val="900"/>
                  </a:spcAft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3.3.2 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物理意义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1. </a:t>
                </a:r>
                <a:r>
                  <a:rPr lang="zh-CN" altLang="zh-CN" b="0" dirty="0"/>
                  <a:t>平稳随机过程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, </a:t>
                </a:r>
                <a:r>
                  <a:rPr lang="en-US" altLang="zh-CN" b="0" i="1" dirty="0"/>
                  <a:t>T</a:t>
                </a:r>
                <a:r>
                  <a:rPr lang="zh-CN" altLang="zh-CN" b="0" dirty="0"/>
                  <a:t>为常数，则其自相关函数也具有相同的周期，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2. </a:t>
                </a:r>
                <a:r>
                  <a:rPr lang="zh-CN" altLang="zh-CN" b="0" dirty="0"/>
                  <a:t>平稳过程含有周期分量，自相关也有相同的周期的分量。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A2CAFF9-FCC3-483E-BC5D-2AD1488359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259498"/>
                <a:ext cx="7772400" cy="4370643"/>
              </a:xfrm>
              <a:blipFill>
                <a:blip r:embed="rId2"/>
                <a:stretch>
                  <a:fillRect l="-941" t="-1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034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C71669B-40F0-4DA3-8EFB-1ECA22363F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140" y="1058608"/>
                <a:ext cx="7772400" cy="459231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3. </a:t>
                </a:r>
                <a:r>
                  <a:rPr lang="zh-CN" altLang="zh-CN" b="0" dirty="0"/>
                  <a:t>平稳过程含有平均分量，自相关也有相同的平均分量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b="0" dirty="0"/>
                  <a:t>，</a:t>
                </a: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zh-CN" altLang="zh-CN" b="0" dirty="0"/>
                  <a:t>，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4. </a:t>
                </a:r>
                <a:r>
                  <a:rPr lang="zh-CN" altLang="zh-CN" b="0" dirty="0"/>
                  <a:t>非周期平稳过程</a:t>
                </a:r>
                <a:r>
                  <a:rPr lang="en-US" altLang="zh-CN" b="0" dirty="0"/>
                  <a:t> </a:t>
                </a:r>
                <a:endParaRPr lang="zh-CN" altLang="zh-CN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|→∞</m:t>
                    </m:r>
                  </m:oMath>
                </a14:m>
                <a:r>
                  <a:rPr lang="zh-CN" altLang="zh-CN" b="0" dirty="0"/>
                  <a:t>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不相关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</a:t>
                </a:r>
                <a:r>
                  <a:rPr lang="zh-CN" altLang="zh-CN" b="0" dirty="0"/>
                  <a:t>故</a:t>
                </a:r>
                <a:r>
                  <a:rPr lang="en-US" altLang="zh-CN" b="0" dirty="0"/>
                  <a:t>   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|→∞</m:t>
                        </m:r>
                      </m:lim>
                    </m:limLow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b="0"/>
                      <m:t>    </m:t>
                    </m:r>
                    <m:limLow>
                      <m:limLow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|→∞</m:t>
                        </m:r>
                      </m:lim>
                    </m:limLow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zh-CN" altLang="zh-CN" b="0" dirty="0"/>
                  <a:t>，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且</a:t>
                </a:r>
                <a:r>
                  <a:rPr lang="en-US" altLang="zh-CN" b="0" dirty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)]=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(0)−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zh-CN" altLang="zh-CN" b="0" dirty="0"/>
                  <a:t>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故自相关函数包含了均值、方差等数字特征。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C71669B-40F0-4DA3-8EFB-1ECA22363F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140" y="1058608"/>
                <a:ext cx="7772400" cy="4592315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051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09FBED3-FE1B-418C-8794-0FAD3A8C46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036" y="1044753"/>
                <a:ext cx="8201891" cy="455767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/>
                  <a:t>5.  </a:t>
                </a:r>
                <a:r>
                  <a:rPr lang="zh-CN" altLang="zh-CN" b="0" dirty="0"/>
                  <a:t>如果自相关函数满足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𝜔𝜏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≥0</m:t>
                        </m:r>
                      </m:e>
                    </m:nary>
                  </m:oMath>
                </a14:m>
                <a:r>
                  <a:rPr lang="zh-CN" altLang="zh-CN" b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满足</a:t>
                </a:r>
                <a:r>
                  <a:rPr lang="en-US" altLang="zh-CN" b="0" dirty="0"/>
                  <a:t>Dirichlet </a:t>
                </a:r>
                <a:r>
                  <a:rPr lang="zh-CN" altLang="en-US" b="0" dirty="0"/>
                  <a:t>条件，且</a:t>
                </a:r>
                <a:r>
                  <a:rPr lang="zh-CN" altLang="zh-CN" b="0" dirty="0"/>
                  <a:t>绝对可积，则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b="0" dirty="0"/>
                  <a:t>的形状不是任意的，不能出现</a:t>
                </a:r>
                <a:r>
                  <a:rPr lang="zh-CN" altLang="zh-CN" b="0" dirty="0">
                    <a:highlight>
                      <a:srgbClr val="FFFF00"/>
                    </a:highlight>
                  </a:rPr>
                  <a:t>平顶</a:t>
                </a:r>
                <a:r>
                  <a:rPr lang="zh-CN" altLang="zh-CN" b="0" dirty="0"/>
                  <a:t>、</a:t>
                </a:r>
                <a:r>
                  <a:rPr lang="zh-CN" altLang="zh-CN" b="0" dirty="0">
                    <a:highlight>
                      <a:srgbClr val="FFFF00"/>
                    </a:highlight>
                  </a:rPr>
                  <a:t>垂直边</a:t>
                </a:r>
                <a:r>
                  <a:rPr lang="zh-CN" altLang="zh-CN" b="0" dirty="0"/>
                  <a:t>、或</a:t>
                </a:r>
                <a:r>
                  <a:rPr lang="zh-CN" altLang="zh-CN" b="0" dirty="0">
                    <a:highlight>
                      <a:srgbClr val="FFFF00"/>
                    </a:highlight>
                  </a:rPr>
                  <a:t>不连续</a:t>
                </a:r>
                <a:r>
                  <a:rPr lang="zh-CN" altLang="zh-CN" b="0" dirty="0"/>
                  <a:t>，</a:t>
                </a:r>
                <a:r>
                  <a:rPr lang="zh-CN" altLang="zh-CN" b="0" dirty="0">
                    <a:highlight>
                      <a:srgbClr val="00FFFF"/>
                    </a:highlight>
                  </a:rPr>
                  <a:t>同时对称，在</a:t>
                </a:r>
                <a14:m>
                  <m:oMath xmlns:m="http://schemas.openxmlformats.org/officeDocument/2006/math">
                    <m:r>
                      <a:rPr lang="en-US" altLang="zh-CN" b="0" i="1"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highlight>
                          <a:srgbClr val="00FFFF"/>
                        </a:highlight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b="0" dirty="0">
                    <a:highlight>
                      <a:srgbClr val="00FFFF"/>
                    </a:highlight>
                  </a:rPr>
                  <a:t>具有最大值。</a:t>
                </a:r>
                <a:endParaRPr lang="en-US" altLang="zh-CN" b="0" dirty="0">
                  <a:highlight>
                    <a:srgbClr val="00FFFF"/>
                  </a:highlight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下图中的函数都不可能是平稳随机信号的自相关函数</a:t>
                </a:r>
                <a:endParaRPr lang="zh-CN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09FBED3-FE1B-418C-8794-0FAD3A8C4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036" y="1044753"/>
                <a:ext cx="8201891" cy="4557679"/>
              </a:xfrm>
              <a:blipFill>
                <a:blip r:embed="rId3"/>
                <a:stretch>
                  <a:fillRect l="-743" t="-10294" r="-8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5D1D09D-2A2A-48A6-AF41-D39157AE40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8384"/>
          <a:stretch/>
        </p:blipFill>
        <p:spPr>
          <a:xfrm>
            <a:off x="1550001" y="3423929"/>
            <a:ext cx="5348097" cy="224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92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693560-01D5-4AD5-A8CD-A8F675AA68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3335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100" dirty="0">
                <a:latin typeface="宋体" panose="02010600030101010101" pitchFamily="2" charset="-122"/>
                <a:ea typeface="宋体" panose="02010600030101010101" pitchFamily="2" charset="-122"/>
              </a:rPr>
              <a:t>Dirichlet </a:t>
            </a:r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条件（周期信号展成傅里叶级数的条件）包括</a:t>
            </a:r>
            <a:endParaRPr lang="zh-CN" altLang="en-US" sz="195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C9B20B-50D5-45E0-8D9D-47BBD2D3E1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946797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在一周期内，连续或只有有限个第一类间断点</a:t>
            </a:r>
            <a:endParaRPr lang="zh-CN" altLang="en-US" sz="2100" dirty="0"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764654-415F-4546-9133-F2ED3F4AA57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589735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在一周期内，极大值和极小值的数目应是有限个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39B80E-F929-47A5-9489-009806C5DE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232672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  <a:t>在一周期内，信号是绝对可积的</a:t>
            </a:r>
            <a:endParaRPr lang="zh-CN" altLang="en-US" sz="21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0FF0D7-CCA2-4DC1-B020-632F4F53B5B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139676-7143-44A5-96F2-38DED278B13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D96111-A0E5-4207-B024-81E6E7BDFF6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F65D0E-0461-4ED9-A459-E099D27FF221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D36BE52-7F67-445C-8A61-F774C2E11C2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5394DDA4-184B-4F1A-99F2-88CB545C7D7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F8C0E594-8BD1-4EC5-9F45-A7D53C205CD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A47AB257-8B72-4AD1-856C-24EB994C6508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393DFA08-FF5F-4770-8910-074AABCF03A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184BCAE-5218-4562-BC46-21710C071239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728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BC7FE56-912C-4225-9F49-C28C1B4A2A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spcAft>
                    <a:spcPts val="45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+mj-ea"/>
                    <a:ea typeface="+mj-ea"/>
                  </a:rPr>
                  <a:t>3.3.3 </a:t>
                </a:r>
                <a:r>
                  <a:rPr lang="zh-CN" altLang="zh-CN" sz="2400" dirty="0">
                    <a:solidFill>
                      <a:srgbClr val="FF0000"/>
                    </a:solidFill>
                    <a:latin typeface="+mj-ea"/>
                    <a:ea typeface="+mj-ea"/>
                  </a:rPr>
                  <a:t>平稳过程的互相关函数的性质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:r>
                  <a:rPr lang="zh-CN" altLang="zh-CN" dirty="0"/>
                  <a:t>联合平稳，互相关函数仅是时间差的函数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r>
                      <a:rPr lang="zh-CN" altLang="zh-CN" i="1">
                        <a:latin typeface="Cambria Math" panose="02040503050406030204" pitchFamily="18" charset="0"/>
                      </a:rPr>
                      <m:t>实过程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/>
                      <m:t>     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复过程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,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4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)|≤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⋅[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BC7FE56-912C-4225-9F49-C28C1B4A2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019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3.3.4 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相关时间：具有相关性的不同时刻的信号的时间间隔。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 相关系数的定义为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表示信号各个时刻之间的相关性。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线性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相关：</m:t>
                    </m:r>
                    <m:sSub>
                      <m:sSubPr>
                        <m:ctrlPr>
                          <a:rPr lang="zh-CN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 。</a:t>
                </a:r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  <a:blipFill>
                <a:blip r:embed="rId2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4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146" y="1163575"/>
                <a:ext cx="8492836" cy="446656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3.3.4 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相关时间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b="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b="0" dirty="0">
                    <a:solidFill>
                      <a:schemeClr val="tx1"/>
                    </a:solidFill>
                  </a:rPr>
                  <a:t>相关时间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</a:rPr>
                  <a:t>：当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</a:rPr>
                  <a:t>后，不同时刻的信号之间的基本上不相关了。</a:t>
                </a:r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>
                    <a:solidFill>
                      <a:schemeClr val="tx1"/>
                    </a:solidFill>
                  </a:rPr>
                  <a:t>利用相关系数定义。</a:t>
                </a:r>
                <a:r>
                  <a:rPr lang="en-US" altLang="zh-CN" b="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b="0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为</m:t>
                    </m:r>
                    <m:r>
                      <m:rPr>
                        <m:nor/>
                      </m:rPr>
                      <a:rPr lang="zh-CN" altLang="en-US" b="0" dirty="0">
                        <a:solidFill>
                          <a:schemeClr val="tx1"/>
                        </a:solidFill>
                      </a:rPr>
                      <m:t>相关时间</m:t>
                    </m:r>
                    <m:r>
                      <a:rPr lang="zh-CN" alt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>
                    <a:solidFill>
                      <a:schemeClr val="tx1"/>
                    </a:solidFill>
                  </a:rPr>
                  <a:t>等效矩形形式定义</a:t>
                </a:r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endParaRPr lang="en-US" altLang="zh-CN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endParaRPr lang="en-US" altLang="zh-CN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b="0" dirty="0"/>
                  <a:t>近似表示信号在时间上的相关长度。</a:t>
                </a:r>
                <a:endParaRPr lang="en-US" altLang="zh-CN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146" y="1163575"/>
                <a:ext cx="8492836" cy="4466567"/>
              </a:xfrm>
              <a:blipFill>
                <a:blip r:embed="rId2"/>
                <a:stretch>
                  <a:fillRect l="-1077" b="-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6C5DEA66-AD5E-440B-B29C-50D9ACEC65E1}"/>
              </a:ext>
            </a:extLst>
          </p:cNvPr>
          <p:cNvGrpSpPr/>
          <p:nvPr/>
        </p:nvGrpSpPr>
        <p:grpSpPr>
          <a:xfrm>
            <a:off x="3660682" y="3043459"/>
            <a:ext cx="2597519" cy="2078362"/>
            <a:chOff x="8048982" y="974725"/>
            <a:chExt cx="3463358" cy="2771150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D2EBA4E-B3A3-44FC-91B0-B34D2A924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950" r="11129"/>
            <a:stretch/>
          </p:blipFill>
          <p:spPr>
            <a:xfrm>
              <a:off x="8048982" y="974725"/>
              <a:ext cx="3429786" cy="1848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/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879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3.3.4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相关时间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相关系数的定义为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表示信号各个时刻之间的相关性。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线性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相关：</m:t>
                    </m:r>
                    <m:sSub>
                      <m:sSubPr>
                        <m:ctrlPr>
                          <a:rPr lang="zh-CN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 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𝑎𝑋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b="0" dirty="0">
                    <a:solidFill>
                      <a:schemeClr val="accent1">
                        <a:lumMod val="50000"/>
                      </a:schemeClr>
                    </a:solidFill>
                  </a:rPr>
                  <a:t> 。</a:t>
                </a:r>
                <a:endParaRPr lang="en-US" altLang="zh-CN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27DA26F-9388-49F7-84E9-0B2631507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63575"/>
                <a:ext cx="7772400" cy="4106132"/>
              </a:xfrm>
              <a:blipFill>
                <a:blip r:embed="rId3"/>
                <a:stretch>
                  <a:fillRect l="-941" b="-1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C5DEA66-AD5E-440B-B29C-50D9ACEC65E1}"/>
              </a:ext>
            </a:extLst>
          </p:cNvPr>
          <p:cNvGrpSpPr/>
          <p:nvPr/>
        </p:nvGrpSpPr>
        <p:grpSpPr>
          <a:xfrm>
            <a:off x="5163900" y="1456676"/>
            <a:ext cx="2597519" cy="2078362"/>
            <a:chOff x="8048982" y="974725"/>
            <a:chExt cx="3463358" cy="277115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D2EBA4E-B3A3-44FC-91B0-B34D2A924C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950" r="11129"/>
            <a:stretch/>
          </p:blipFill>
          <p:spPr>
            <a:xfrm>
              <a:off x="8048982" y="974725"/>
              <a:ext cx="3429786" cy="1848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/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nary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53F3150-96A2-4BCD-89C5-4A81937F1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823656"/>
                  <a:ext cx="2368340" cy="92221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0115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C6201-800C-4AFE-963D-A6E4CBE0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8123C-4962-412C-ABC9-2A035C01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区分并判断信号的类型，并能正确计算信号的功率或能量；</a:t>
            </a:r>
            <a:endParaRPr lang="en-US" altLang="zh-CN" sz="2800" dirty="0"/>
          </a:p>
          <a:p>
            <a:r>
              <a:rPr lang="zh-CN" altLang="en-US" sz="2800" dirty="0"/>
              <a:t>解释</a:t>
            </a:r>
            <a:r>
              <a:rPr lang="zh-CN" altLang="en-US" sz="2800" dirty="0">
                <a:highlight>
                  <a:srgbClr val="FFFF00"/>
                </a:highlight>
              </a:rPr>
              <a:t>随机信号功率谱</a:t>
            </a:r>
            <a:r>
              <a:rPr lang="zh-CN" altLang="en-US" sz="2800" dirty="0"/>
              <a:t>的含义；</a:t>
            </a:r>
            <a:endParaRPr lang="en-US" altLang="zh-CN" sz="2800" dirty="0"/>
          </a:p>
          <a:p>
            <a:r>
              <a:rPr lang="zh-CN" altLang="en-US" sz="2800" dirty="0"/>
              <a:t>熟练应用</a:t>
            </a:r>
            <a:r>
              <a:rPr lang="zh-CN" altLang="en-US" sz="2800" dirty="0">
                <a:highlight>
                  <a:srgbClr val="FFFF00"/>
                </a:highlight>
              </a:rPr>
              <a:t>维纳</a:t>
            </a:r>
            <a:r>
              <a:rPr lang="en-US" altLang="zh-CN" sz="2800" dirty="0">
                <a:highlight>
                  <a:srgbClr val="FFFF00"/>
                </a:highlight>
              </a:rPr>
              <a:t>-</a:t>
            </a:r>
            <a:r>
              <a:rPr lang="zh-CN" altLang="en-US" sz="2800" dirty="0">
                <a:highlight>
                  <a:srgbClr val="FFFF00"/>
                </a:highlight>
              </a:rPr>
              <a:t>辛钦</a:t>
            </a:r>
            <a:r>
              <a:rPr lang="zh-CN" altLang="en-US" sz="2800" dirty="0"/>
              <a:t>定理。</a:t>
            </a:r>
          </a:p>
        </p:txBody>
      </p:sp>
    </p:spTree>
    <p:extLst>
      <p:ext uri="{BB962C8B-B14F-4D97-AF65-F5344CB8AC3E}">
        <p14:creationId xmlns:p14="http://schemas.microsoft.com/office/powerpoint/2010/main" val="9712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B4510-92A1-485B-9A2B-CBA59B7B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2549"/>
            <a:ext cx="7886700" cy="839744"/>
          </a:xfrm>
        </p:spPr>
        <p:txBody>
          <a:bodyPr/>
          <a:lstStyle/>
          <a:p>
            <a:r>
              <a:rPr lang="en-US" altLang="zh-CN" dirty="0"/>
              <a:t>3.4  </a:t>
            </a:r>
            <a:r>
              <a:rPr lang="zh-CN" altLang="zh-CN" dirty="0"/>
              <a:t>功率谱密度和互功率谱密度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33873C-53C0-45B8-9035-8D607AFEA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742238"/>
                <a:ext cx="7772400" cy="372164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3.4.1 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基本概念</a:t>
                </a:r>
              </a:p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</a:rPr>
                  <a:t>1.  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能量信号和能谱密度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信号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),−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dirty="0"/>
                  <a:t>，总能量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有限，而其平均功率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𝒅𝒕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则</a:t>
                </a:r>
                <a:r>
                  <a:rPr lang="zh-CN" altLang="en-US" dirty="0"/>
                  <a:t>信号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为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能量信号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33873C-53C0-45B8-9035-8D607AFEA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742238"/>
                <a:ext cx="7772400" cy="3721648"/>
              </a:xfrm>
              <a:blipFill>
                <a:blip r:embed="rId2"/>
                <a:stretch>
                  <a:fillRect l="-941" b="-2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4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DEDCEA-B3F6-4224-A2EB-BAD16FDAA9D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请判断信号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是否是能量信号？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DEDCEA-B3F6-4224-A2EB-BAD16FDAA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blipFill>
                <a:blip r:embed="rId16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448F41C7-BA7C-4011-9413-B904B14FEF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946797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920CDD-D5BD-4BBB-A18F-A71A6FCE4DA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589735"/>
            <a:ext cx="6400800" cy="48220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13E2542-5634-4B77-AE30-1745F235B04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78719" y="2995017"/>
            <a:ext cx="385763" cy="385763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71DB21-7AAC-4875-838A-B5CBB6AE4B3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78719" y="3637954"/>
            <a:ext cx="385763" cy="385763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4707B4E-7B3C-4364-A35B-8BE081FA3658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A041432-C390-474C-9875-B79174D0CAE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29E5FFDB-E8AB-47A1-A24A-D893B834A44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9DF77F6-1F78-4C92-AC4C-3631BE7650C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60D3D67-D949-4DE2-B1CA-771352CC04C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6A2F1DA1-13CD-4C41-97F2-58EEAF3D23CF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4000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0D43F6B-3AF4-457A-970C-D746D1B977E9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4453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C8CBE2-2974-4CE2-8EEC-615766426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46" y="2491515"/>
            <a:ext cx="3850088" cy="288756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1650866-C19A-4F97-9C30-E004028832A1}"/>
                  </a:ext>
                </a:extLst>
              </p:cNvPr>
              <p:cNvSpPr txBox="1"/>
              <p:nvPr/>
            </p:nvSpPr>
            <p:spPr>
              <a:xfrm>
                <a:off x="671477" y="2206901"/>
                <a:ext cx="4281941" cy="2764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−2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Microsoft Yahei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Microsoft Yahei" panose="020B0503020204020204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Microsoft Yahei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𝜋</m:t>
                                  </m:r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∗10</m:t>
                                  </m:r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  <a:sym typeface="Microsoft Yahei" panose="020B0503020204020204" pitchFamily="34" charset="-122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−2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𝑡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cos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⁡(4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𝜋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∗10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𝑡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−2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𝑑𝑡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−2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𝑡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4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𝜋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∗10</m:t>
                                </m:r>
                                <m:r>
                                  <a:rPr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1650866-C19A-4F97-9C30-E00402883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77" y="2206901"/>
                <a:ext cx="4281941" cy="2764090"/>
              </a:xfrm>
              <a:prstGeom prst="rect">
                <a:avLst/>
              </a:prstGeom>
              <a:blipFill>
                <a:blip r:embed="rId4"/>
                <a:stretch>
                  <a:fillRect l="-6401" b="-4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743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87EE3E6-BB49-4567-8233-363D09B0EF88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0343" y="1289304"/>
                <a:ext cx="8255000" cy="4395978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能量信号的</a:t>
                </a:r>
                <a:r>
                  <a:rPr lang="zh-CN" altLang="zh-CN" dirty="0"/>
                  <a:t>傅立叶变换存在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或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由此定义</a:t>
                </a:r>
                <a:r>
                  <a:rPr lang="zh-CN" altLang="en-US" dirty="0"/>
                  <a:t>能量信号的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能谱密度函数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或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有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Parsval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定理</a:t>
                </a:r>
                <a:r>
                  <a:rPr lang="zh-CN" altLang="zh-CN" dirty="0"/>
                  <a:t>成立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nary>
                      </m:e>
                    </m:nary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𝒅𝒇</m:t>
                        </m:r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87EE3E6-BB49-4567-8233-363D09B0E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0343" y="1289304"/>
                <a:ext cx="8255000" cy="4395978"/>
              </a:xfrm>
              <a:blipFill>
                <a:blip r:embed="rId2"/>
                <a:stretch>
                  <a:fillRect l="-886" t="-4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 1"/>
          <p:cNvSpPr/>
          <p:nvPr/>
        </p:nvSpPr>
        <p:spPr bwMode="auto">
          <a:xfrm>
            <a:off x="7221474" y="4501134"/>
            <a:ext cx="1392174" cy="49149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能量守恒</a:t>
            </a:r>
          </a:p>
          <a:p>
            <a:pPr defTabSz="68580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388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90D534-D2ED-4501-BAE4-87FBEA6A2F5E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请求信号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的能谱密度函数。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90D534-D2ED-4501-BAE4-87FBEA6A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blipFill>
                <a:blip r:embed="rId1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4BC194-C851-40A4-A551-D6ED04A0F92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F6F890-45BF-45B2-9548-D5740111072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40ED5CE-24CF-49B8-A708-996C94CDF2A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6B9658B8-D8E5-4E9B-920B-13EDEEDF7A0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EA41B3E1-D6B6-4897-B663-3F87D2E3016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498F3E9D-F93D-403A-B8B6-1BBA9EED26D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475BED6B-7687-4A37-B229-51003BEB76E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551377C-153D-4A5B-9FBA-CF4A88F55D2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63268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5EC264D-3E62-443C-BC12-AD057C31C13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r>
                  <a:rPr lang="en-US" altLang="zh-CN" b="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en-US" altLang="zh-CN" b="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m:rPr>
                        <m:sty m:val="p"/>
                      </m:rPr>
                      <a:rPr lang="en-US" altLang="zh-CN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𝑢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𝑡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↔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2</m:t>
                          </m:r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𝜋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cos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⁡(2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𝜋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∗10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𝑡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↔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+10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+</m:t>
                          </m:r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𝛿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−10)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1+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𝜋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+10)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1+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𝜋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−10)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C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5EC264D-3E62-443C-BC12-AD057C31C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 t="-1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2662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60B179-331A-4291-BA23-2264135B285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116922"/>
                <a:ext cx="8255000" cy="44860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CN" sz="2600" dirty="0">
                    <a:solidFill>
                      <a:srgbClr val="0070C0"/>
                    </a:solidFill>
                  </a:rPr>
                  <a:t>2</a:t>
                </a:r>
                <a:r>
                  <a:rPr lang="zh-CN" altLang="en-US" sz="2600" dirty="0">
                    <a:solidFill>
                      <a:srgbClr val="0070C0"/>
                    </a:solidFill>
                  </a:rPr>
                  <a:t>、</a:t>
                </a:r>
                <a:r>
                  <a:rPr lang="zh-CN" altLang="en-US" sz="2600" dirty="0">
                    <a:solidFill>
                      <a:srgbClr val="0070C0"/>
                    </a:solidFill>
                    <a:latin typeface="+mj-ea"/>
                    <a:ea typeface="+mj-ea"/>
                  </a:rPr>
                  <a:t>功率和功率信号</a:t>
                </a:r>
                <a:endParaRPr lang="en-US" altLang="zh-CN" sz="2600" dirty="0">
                  <a:solidFill>
                    <a:srgbClr val="0070C0"/>
                  </a:solidFill>
                  <a:latin typeface="+mj-ea"/>
                  <a:ea typeface="+mj-ea"/>
                </a:endParaRP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信号</a:t>
                </a:r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:r>
                  <a:rPr lang="zh-CN" altLang="en-US" sz="2600" dirty="0"/>
                  <a:t>的功率定义为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zh-CN" altLang="en-US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</m:e>
                    </m:func>
                    <m:nary>
                      <m:nary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num>
                          <m:den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sub>
                      <m:sup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num>
                          <m:den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zh-CN" altLang="en-US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  <m:r>
                      <a:rPr lang="zh-CN" alt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6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6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zh-CN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600" dirty="0">
                    <a:solidFill>
                      <a:srgbClr val="FF0000"/>
                    </a:solidFill>
                  </a:rPr>
                  <a:t> </a:t>
                </a:r>
                <a:endParaRPr lang="en-US" altLang="zh-CN" sz="2600" dirty="0">
                  <a:latin typeface="仿宋_GB2312" pitchFamily="49" charset="-122"/>
                  <a:ea typeface="仿宋_GB2312" pitchFamily="49" charset="-122"/>
                </a:endParaRP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若</a:t>
                </a:r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:r>
                  <a:rPr lang="zh-CN" altLang="en-US" sz="2600" dirty="0"/>
                  <a:t>是周期为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𝑻</m:t>
                    </m:r>
                    <m:r>
                      <a:rPr lang="en-US" altLang="zh-CN" sz="2600" b="1" i="1" baseline="-25000" dirty="0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𝟎</m:t>
                    </m:r>
                  </m:oMath>
                </a14:m>
                <a:r>
                  <a:rPr lang="en-US" altLang="zh-CN" sz="2600" i="1" baseline="-250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:r>
                  <a:rPr lang="zh-CN" altLang="en-US" sz="2600" dirty="0"/>
                  <a:t>的周期信号</a:t>
                </a:r>
                <a:r>
                  <a:rPr lang="en-US" altLang="zh-CN" sz="2600" dirty="0"/>
                  <a:t>,</a:t>
                </a:r>
                <a:r>
                  <a:rPr lang="zh-CN" altLang="en-US" sz="2600" dirty="0"/>
                  <a:t>则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zh-CN" altLang="en-US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zh-CN" altLang="en-US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zh-CN" altLang="en-US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altLang="zh-CN" sz="2600" b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sz="2600" dirty="0">
                  <a:latin typeface="仿宋_GB2312" pitchFamily="49" charset="-122"/>
                  <a:ea typeface="仿宋_GB2312" pitchFamily="49" charset="-12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若信号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/>
                  <a:t>的功率满足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600" b="1" i="1" dirty="0" smtClean="0"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en-US" altLang="zh-CN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6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26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zh-CN" altLang="en-US" sz="2600" dirty="0"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600" dirty="0"/>
                  <a:t>则称其为</a:t>
                </a:r>
                <a:r>
                  <a:rPr lang="zh-CN" altLang="en-US" sz="2600" dirty="0">
                    <a:solidFill>
                      <a:srgbClr val="FF0000"/>
                    </a:solidFill>
                  </a:rPr>
                  <a:t>功率型信号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相应的信号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/>
                  <a:t>的功率谱密度为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  <m:r>
                      <a:rPr lang="en-US" altLang="zh-CN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b="1" i="1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600" dirty="0"/>
                  <a:t>, </a:t>
                </a:r>
                <a:r>
                  <a:rPr lang="zh-CN" altLang="en-US" sz="2600" dirty="0"/>
                  <a:t>且有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𝛑</m:t>
                          </m:r>
                        </m:den>
                      </m:f>
                      <m:nary>
                        <m:nary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sz="2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nary>
                    </m:oMath>
                  </m:oMathPara>
                </a14:m>
                <a:endParaRPr lang="zh-CN" altLang="en-US" sz="2600" dirty="0"/>
              </a:p>
              <a:p>
                <a:pPr marL="0" indent="0">
                  <a:buNone/>
                </a:pPr>
                <a:endParaRPr lang="zh-CN" altLang="en-US" b="0" dirty="0">
                  <a:latin typeface="仿宋_GB2312" pitchFamily="49" charset="-122"/>
                  <a:ea typeface="仿宋_GB2312" pitchFamily="49" charset="-122"/>
                </a:endParaRPr>
              </a:p>
              <a:p>
                <a:pPr marL="0" indent="0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60B179-331A-4291-BA23-2264135B2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16922"/>
                <a:ext cx="8255000" cy="4486064"/>
              </a:xfrm>
              <a:blipFill>
                <a:blip r:embed="rId2"/>
                <a:stretch>
                  <a:fillRect l="-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08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50AE26C-BA97-40DA-92AE-F2CBB362E133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结论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accent2"/>
                </a:solidFill>
              </a:rPr>
              <a:t>周期信号为功率信号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平稳随机信号是什么信号？</a:t>
            </a:r>
            <a:endParaRPr lang="en-US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zh-CN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平稳随机信号是功率信号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如何求平稳随机信号的功率谱和功率？</a:t>
            </a:r>
            <a:endParaRPr lang="en-US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zh-CN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zh-CN" altLang="en-US" dirty="0"/>
              <a:t>用统计平均的方法</a:t>
            </a:r>
          </a:p>
        </p:txBody>
      </p:sp>
    </p:spTree>
    <p:extLst>
      <p:ext uri="{BB962C8B-B14F-4D97-AF65-F5344CB8AC3E}">
        <p14:creationId xmlns:p14="http://schemas.microsoft.com/office/powerpoint/2010/main" val="32953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06BBF2B-81B6-48A9-9DCF-167195453AD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如周期信号或随机过程的样本函数，无头无尾的时间函数</a:t>
                </a:r>
                <a:r>
                  <a:rPr lang="en-US" altLang="zh-CN" dirty="0"/>
                  <a:t>,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总能量无限，但平均功率有限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b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func>
                    <m:nary>
                      <m:naryPr>
                        <m:ctrlP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b="0" dirty="0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为功率信号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信号</a:t>
                </a:r>
                <a:r>
                  <a:rPr lang="zh-CN" altLang="zh-CN" dirty="0"/>
                  <a:t>本身不存在</a:t>
                </a:r>
                <a:r>
                  <a:rPr lang="zh-CN" altLang="en-US" dirty="0"/>
                  <a:t>傅里叶</a:t>
                </a:r>
                <a:r>
                  <a:rPr lang="zh-CN" altLang="zh-CN" dirty="0"/>
                  <a:t>变换，</a:t>
                </a:r>
                <a:r>
                  <a:rPr lang="zh-CN" altLang="en-US" dirty="0"/>
                  <a:t>怎么办？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  <a:highlight>
                      <a:srgbClr val="00FFFF"/>
                    </a:highlight>
                  </a:rPr>
                  <a:t>可用</a:t>
                </a:r>
                <a:r>
                  <a:rPr lang="zh-CN" altLang="en-US" dirty="0">
                    <a:solidFill>
                      <a:srgbClr val="FF0000"/>
                    </a:solidFill>
                    <a:highlight>
                      <a:srgbClr val="00FFFF"/>
                    </a:highlight>
                  </a:rPr>
                  <a:t>信号的</a:t>
                </a:r>
                <a:r>
                  <a:rPr lang="zh-CN" altLang="zh-CN" dirty="0">
                    <a:solidFill>
                      <a:srgbClr val="FF0000"/>
                    </a:solidFill>
                    <a:highlight>
                      <a:srgbClr val="00FFFF"/>
                    </a:highlight>
                  </a:rPr>
                  <a:t>截尾函数构造其功率谱。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06BBF2B-81B6-48A9-9DCF-167195453A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68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A31B387-A6CC-45CE-B93D-CE0A7B546607}"/>
                  </a:ext>
                </a:extLst>
              </p:cNvPr>
              <p:cNvSpPr>
                <a:spLocks noGrp="1"/>
              </p:cNvSpPr>
              <p:nvPr>
                <p:ph sz="quarter" idx="2"/>
              </p:nvPr>
            </p:nvSpPr>
            <p:spPr>
              <a:xfrm>
                <a:off x="550864" y="1254392"/>
                <a:ext cx="8229599" cy="175141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3</a:t>
                </a:r>
                <a:r>
                  <a:rPr lang="zh-CN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．随机信号样本函数的功率和功率谱密度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某样本函数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，截短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m:rPr>
                                  <m:nor/>
                                </m:rPr>
                                <a:rPr lang="en-US" altLang="zh-CN"/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b="1" i="0" smtClean="0"/>
                                <m:t>,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|&gt;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A31B387-A6CC-45CE-B93D-CE0A7B546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>
              <a:xfrm>
                <a:off x="550864" y="1254392"/>
                <a:ext cx="8229599" cy="1751410"/>
              </a:xfrm>
              <a:blipFill>
                <a:blip r:embed="rId3"/>
                <a:stretch>
                  <a:fillRect l="-889" b="-1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456B628E-93D2-496A-96E0-95FECB97FDB5}"/>
                  </a:ext>
                </a:extLst>
              </p:cNvPr>
              <p:cNvSpPr>
                <a:spLocks noGrp="1"/>
              </p:cNvSpPr>
              <p:nvPr>
                <p:ph sz="quarter" idx="3"/>
              </p:nvPr>
            </p:nvSpPr>
            <p:spPr>
              <a:xfrm>
                <a:off x="665825" y="3333859"/>
                <a:ext cx="8046376" cy="2104268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的傅立叶变换存在 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反变换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456B628E-93D2-496A-96E0-95FECB97F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>
              <a:xfrm>
                <a:off x="665825" y="3333859"/>
                <a:ext cx="8046376" cy="2104268"/>
              </a:xfrm>
              <a:blipFill>
                <a:blip r:embed="rId4"/>
                <a:stretch>
                  <a:fillRect l="-909" t="-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88B699E-5F1B-4B0F-98A3-23269ADF7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320" y="1755587"/>
            <a:ext cx="3611880" cy="178879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7D0A50-F392-42D0-B658-FDDBBEF28017}"/>
              </a:ext>
            </a:extLst>
          </p:cNvPr>
          <p:cNvGrpSpPr/>
          <p:nvPr/>
        </p:nvGrpSpPr>
        <p:grpSpPr>
          <a:xfrm>
            <a:off x="6317005" y="1892785"/>
            <a:ext cx="1961296" cy="1132992"/>
            <a:chOff x="8422672" y="1380713"/>
            <a:chExt cx="2615060" cy="151065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803F123-ADE7-4E9A-ADC9-80BFDCB69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501" r="29784"/>
            <a:stretch/>
          </p:blipFill>
          <p:spPr>
            <a:xfrm>
              <a:off x="8422672" y="1832189"/>
              <a:ext cx="1500326" cy="105918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548FD3-F9C4-4FBC-867B-305B659C31B5}"/>
                    </a:ext>
                  </a:extLst>
                </p:cNvPr>
                <p:cNvSpPr/>
                <p:nvPr/>
              </p:nvSpPr>
              <p:spPr>
                <a:xfrm>
                  <a:off x="9716516" y="1380713"/>
                  <a:ext cx="132121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548FD3-F9C4-4FBC-867B-305B659C3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6516" y="1380713"/>
                  <a:ext cx="1321216" cy="492443"/>
                </a:xfrm>
                <a:prstGeom prst="rect">
                  <a:avLst/>
                </a:prstGeom>
                <a:blipFill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344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13CF27E-B1EC-425D-97E4-9E47BE91756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200150"/>
                <a:ext cx="8255000" cy="4584962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Parsval</a:t>
                </a:r>
                <a:r>
                  <a:rPr lang="zh-CN" altLang="zh-CN" dirty="0"/>
                  <a:t>定理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等式两边做变换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den>
                              </m:f>
                              <m:limLow>
                                <m:limLow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  <m:nary>
                                <m:nary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limLow>
                            <m:limLow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𝝃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</a:t>
                </a:r>
                <a:r>
                  <a:rPr lang="zh-CN" altLang="zh-CN" dirty="0"/>
                  <a:t>恰为样本函数的</a:t>
                </a:r>
                <a:r>
                  <a:rPr lang="zh-CN" altLang="en-US" dirty="0"/>
                  <a:t>（时间）</a:t>
                </a:r>
                <a:r>
                  <a:rPr lang="zh-CN" altLang="zh-CN" dirty="0"/>
                  <a:t>平均功率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故定义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为样本函数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平均功率谱密度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函数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13CF27E-B1EC-425D-97E4-9E47BE917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200150"/>
                <a:ext cx="8255000" cy="4584962"/>
              </a:xfrm>
              <a:blipFill>
                <a:blip r:embed="rId2"/>
                <a:stretch>
                  <a:fillRect l="-886" t="-1197" b="-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6FE05EC-93D9-4AC2-958C-D0AB204B8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73" y="838284"/>
            <a:ext cx="10470392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椭圆 4"/>
          <p:cNvSpPr/>
          <p:nvPr/>
        </p:nvSpPr>
        <p:spPr bwMode="auto">
          <a:xfrm>
            <a:off x="6044939" y="3932745"/>
            <a:ext cx="2212942" cy="91911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dirty="0"/>
              <a:t>平均功率关于</a:t>
            </a:r>
            <a:endParaRPr lang="en-US" altLang="zh-CN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dirty="0"/>
              <a:t>频率的分布情况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>
            <a:stCxn id="5" idx="1"/>
          </p:cNvCxnSpPr>
          <p:nvPr/>
        </p:nvCxnSpPr>
        <p:spPr bwMode="auto">
          <a:xfrm flipH="1" flipV="1">
            <a:off x="5260157" y="3784273"/>
            <a:ext cx="1108860" cy="2830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6447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8CFDEC1-644B-4428-BE2F-17A233ED6F35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74320" y="1051120"/>
                <a:ext cx="8641080" cy="4634162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4.  </a:t>
                </a:r>
                <a:r>
                  <a:rPr lang="zh-CN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随机信号的平均功率和功率谱密度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对样本函数的平均功率取统计平均，有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</m:e>
                      </m:func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为随机过程的平均功率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上式左侧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e>
                        </m:nary>
                      </m:e>
                    </m:func>
                  </m:oMath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上式右侧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是频率的函数，从频域上描述过程的统计特性，物理意义表示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过程的平均功率关于频率的分布情况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，</a:t>
                </a:r>
                <a:r>
                  <a:rPr lang="zh-CN" altLang="en-US" dirty="0"/>
                  <a:t>称为随机过程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功率谱密度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8CFDEC1-644B-4428-BE2F-17A233ED6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74320" y="1051120"/>
                <a:ext cx="8641080" cy="4634162"/>
              </a:xfrm>
              <a:blipFill>
                <a:blip r:embed="rId3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/>
          <p:cNvSpPr/>
          <p:nvPr/>
        </p:nvSpPr>
        <p:spPr bwMode="auto">
          <a:xfrm>
            <a:off x="3895344" y="2763774"/>
            <a:ext cx="2839212" cy="43205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均方值的时间平均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5596128" y="1522476"/>
            <a:ext cx="3490722" cy="46634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时域、频域计算平均功率</a:t>
            </a:r>
          </a:p>
        </p:txBody>
      </p:sp>
    </p:spTree>
    <p:extLst>
      <p:ext uri="{BB962C8B-B14F-4D97-AF65-F5344CB8AC3E}">
        <p14:creationId xmlns:p14="http://schemas.microsoft.com/office/powerpoint/2010/main" val="349725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ABFE4DC-20A6-4129-B473-89F2F300131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431183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即</a:t>
                </a:r>
                <a:r>
                  <a:rPr lang="en-US" altLang="zh-CN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[|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随机过程谱密度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指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平均功率谱密度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5. </a:t>
                </a:r>
                <a:r>
                  <a:rPr lang="zh-CN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实平稳过程的平均功率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实平稳随机过程的</a:t>
                </a:r>
                <a:r>
                  <a:rPr lang="zh-CN" altLang="zh-CN" dirty="0"/>
                  <a:t>均方值为常数，故平均功率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nary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ABFE4DC-20A6-4129-B473-89F2F3001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4311836"/>
              </a:xfrm>
              <a:blipFill>
                <a:blip r:embed="rId2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8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931FD9-6F34-4AE2-AC34-66A09C538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  业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26E3A6-B346-43C6-A68A-C1DB9482E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温故知新 </a:t>
            </a:r>
            <a:r>
              <a:rPr lang="zh-CN" altLang="en-US" dirty="0">
                <a:sym typeface="Wingdings" panose="05000000000000000000" pitchFamily="2" charset="2"/>
              </a:rPr>
              <a:t>！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3556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8628</TotalTime>
  <Words>4565</Words>
  <Application>Microsoft Office PowerPoint</Application>
  <PresentationFormat>全屏显示(4:3)</PresentationFormat>
  <Paragraphs>451</Paragraphs>
  <Slides>55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55</vt:i4>
      </vt:variant>
    </vt:vector>
  </HeadingPairs>
  <TitlesOfParts>
    <vt:vector size="77" baseType="lpstr">
      <vt:lpstr>Arial Unicode MS</vt:lpstr>
      <vt:lpstr>Helvetica Neue</vt:lpstr>
      <vt:lpstr>Inter</vt:lpstr>
      <vt:lpstr>方正粗黑宋简体</vt:lpstr>
      <vt:lpstr>仿宋_GB2312</vt:lpstr>
      <vt:lpstr>黑体</vt:lpstr>
      <vt:lpstr>楷体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PowerPoint 演示文稿</vt:lpstr>
      <vt:lpstr>第三章  平稳性与功率谱密度</vt:lpstr>
      <vt:lpstr>本节学习内容</vt:lpstr>
      <vt:lpstr>学习目标</vt:lpstr>
      <vt:lpstr>3.1  平稳性与联合平稳性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 循环平稳性</vt:lpstr>
      <vt:lpstr>PowerPoint 演示文稿</vt:lpstr>
      <vt:lpstr>3.3 平稳信号的相关函数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学习目标</vt:lpstr>
      <vt:lpstr>3.4  功率谱密度和互功率谱密度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  业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877</cp:revision>
  <dcterms:created xsi:type="dcterms:W3CDTF">2012-07-10T00:46:24Z</dcterms:created>
  <dcterms:modified xsi:type="dcterms:W3CDTF">2024-11-08T02:50:17Z</dcterms:modified>
</cp:coreProperties>
</file>