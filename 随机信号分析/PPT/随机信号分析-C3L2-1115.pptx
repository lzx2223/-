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46"/>
  </p:notesMasterIdLst>
  <p:handoutMasterIdLst>
    <p:handoutMasterId r:id="rId47"/>
  </p:handoutMasterIdLst>
  <p:sldIdLst>
    <p:sldId id="360" r:id="rId6"/>
    <p:sldId id="256" r:id="rId7"/>
    <p:sldId id="288" r:id="rId8"/>
    <p:sldId id="257" r:id="rId9"/>
    <p:sldId id="258" r:id="rId10"/>
    <p:sldId id="261" r:id="rId11"/>
    <p:sldId id="262" r:id="rId12"/>
    <p:sldId id="263" r:id="rId13"/>
    <p:sldId id="302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303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361" r:id="rId38"/>
    <p:sldId id="362" r:id="rId39"/>
    <p:sldId id="363" r:id="rId40"/>
    <p:sldId id="364" r:id="rId41"/>
    <p:sldId id="365" r:id="rId42"/>
    <p:sldId id="366" r:id="rId43"/>
    <p:sldId id="367" r:id="rId44"/>
    <p:sldId id="289" r:id="rId45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96" autoAdjust="0"/>
    <p:restoredTop sz="87993" autoAdjust="0"/>
  </p:normalViewPr>
  <p:slideViewPr>
    <p:cSldViewPr>
      <p:cViewPr varScale="1">
        <p:scale>
          <a:sx n="58" d="100"/>
          <a:sy n="58" d="100"/>
        </p:scale>
        <p:origin x="122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8B%8F%E8%81%94/199168?fromModule=lemma_inlink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6%A6%82%E7%8E%87%E8%AE%BA/829122?fromModule=lemma_inlink" TargetMode="External"/><Relationship Id="rId4" Type="http://schemas.openxmlformats.org/officeDocument/2006/relationships/hyperlink" Target="https://baike.baidu.com/item/%E6%95%99%E8%82%B2%E5%AE%B6/10341583?fromModule=lemma_inlink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维纳</a:t>
            </a:r>
            <a:r>
              <a:rPr lang="en-US" altLang="zh-CN" dirty="0"/>
              <a:t>-</a:t>
            </a:r>
            <a:r>
              <a:rPr lang="zh-CN" altLang="en-US" dirty="0"/>
              <a:t>辛钦</a:t>
            </a:r>
            <a:r>
              <a:rPr lang="en-US" altLang="zh-CN" dirty="0"/>
              <a:t>-</a:t>
            </a:r>
            <a:r>
              <a:rPr lang="zh-CN" altLang="en-US" dirty="0"/>
              <a:t>爱因斯坦定理。 维纳</a:t>
            </a:r>
            <a:r>
              <a:rPr lang="en-US" altLang="zh-CN" dirty="0"/>
              <a:t>30</a:t>
            </a:r>
            <a:r>
              <a:rPr lang="zh-CN" altLang="en-US" dirty="0"/>
              <a:t>年，辛钦</a:t>
            </a:r>
            <a:r>
              <a:rPr lang="en-US" altLang="zh-CN" dirty="0"/>
              <a:t>34</a:t>
            </a:r>
            <a:r>
              <a:rPr lang="zh-CN" altLang="en-US" dirty="0"/>
              <a:t>年独立发表。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亚历山大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雅科夫列维奇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辛钦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(Aleksandr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Yakovlevich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Khinchin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),1894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-1959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苏联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数学家和数学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教育家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，现代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概率论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的奠基者之一。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此处信号为确定性信号！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286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取一部分函数，近似值！ 需要知道： 样本函数是确定性信号还是随机信号？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634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样本函数，是确定性信号， 不是随机信号。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425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需要注意的是：至此，仍然是样本函数，是确定性函数！没有统计的概念！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59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注意功率谱密度函数中，样本函数因子</a:t>
            </a:r>
            <a:r>
              <a:rPr lang="en-US" altLang="zh-CN" dirty="0" err="1"/>
              <a:t>ksi</a:t>
            </a:r>
            <a:r>
              <a:rPr lang="en-US" altLang="zh-CN" dirty="0"/>
              <a:t> </a:t>
            </a:r>
            <a:r>
              <a:rPr lang="zh-CN" altLang="en-US" dirty="0"/>
              <a:t>为何消失了？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63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注意第一行：为什么对于功率谱密度</a:t>
            </a:r>
            <a:r>
              <a:rPr lang="en-US" altLang="zh-CN" dirty="0"/>
              <a:t>S</a:t>
            </a:r>
            <a:r>
              <a:rPr lang="zh-CN" altLang="en-US" dirty="0"/>
              <a:t>，没有统计平均</a:t>
            </a:r>
            <a:r>
              <a:rPr lang="en-US" altLang="zh-CN" dirty="0"/>
              <a:t>E</a:t>
            </a:r>
            <a:r>
              <a:rPr lang="zh-CN" altLang="en-US" dirty="0"/>
              <a:t>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853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是不是还有其他求法？ 用功率谱密度！引出维纳辛钦定理！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83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维纳辛钦定理推导，需要说明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56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非平稳随机过程，自相关函数不只是</a:t>
            </a:r>
            <a:r>
              <a:rPr lang="en-US" altLang="zh-CN" dirty="0"/>
              <a:t>tau</a:t>
            </a:r>
            <a:r>
              <a:rPr lang="zh-CN" altLang="en-US" dirty="0"/>
              <a:t>的函数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18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p65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14/11/2024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14/11/2024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 userDrawn="1"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tm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13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5.tm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3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2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5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32.pn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3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5.tmp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Visio_Drawing1.vsdx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slideLayout" Target="../slideLayouts/slideLayout58.xml"/><Relationship Id="rId1" Type="http://schemas.openxmlformats.org/officeDocument/2006/relationships/vmlDrawing" Target="../drawings/vmlDrawing1.vml"/><Relationship Id="rId6" Type="http://schemas.openxmlformats.org/officeDocument/2006/relationships/package" Target="NULL"/><Relationship Id="rId11" Type="http://schemas.openxmlformats.org/officeDocument/2006/relationships/image" Target="NULL"/><Relationship Id="rId5" Type="http://schemas.openxmlformats.org/officeDocument/2006/relationships/image" Target="../media/image10.emf"/><Relationship Id="rId10" Type="http://schemas.openxmlformats.org/officeDocument/2006/relationships/package" Target="NULL"/><Relationship Id="rId4" Type="http://schemas.openxmlformats.org/officeDocument/2006/relationships/package" Target="../embeddings/Microsoft_Visio_Drawing.vsdx"/><Relationship Id="rId9" Type="http://schemas.openxmlformats.org/officeDocument/2006/relationships/image" Target="../media/image1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sd01234090-1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632848" cy="792088"/>
          </a:xfrm>
        </p:spPr>
        <p:txBody>
          <a:bodyPr/>
          <a:lstStyle/>
          <a:p>
            <a:r>
              <a:rPr lang="zh-CN" altLang="zh-CN" sz="4000" dirty="0"/>
              <a:t>第三章</a:t>
            </a:r>
            <a:r>
              <a:rPr lang="en-US" altLang="zh-CN" sz="4000" dirty="0"/>
              <a:t>  </a:t>
            </a:r>
            <a:r>
              <a:rPr lang="zh-CN" altLang="zh-CN" sz="4000" dirty="0"/>
              <a:t>平稳性与功率谱密度</a:t>
            </a:r>
            <a:endParaRPr lang="zh-CN" altLang="en-US" sz="4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E3613-3AC2-4074-AA6E-ABEEFF4B0813}"/>
              </a:ext>
            </a:extLst>
          </p:cNvPr>
          <p:cNvSpPr/>
          <p:nvPr/>
        </p:nvSpPr>
        <p:spPr>
          <a:xfrm>
            <a:off x="1475656" y="1844824"/>
            <a:ext cx="6408712" cy="3869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3.1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平稳性与联合平稳性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3.2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循环平稳性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3.3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平稳信号的相关函数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3.4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功率谱密度与互相关函数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3.5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白噪声与热噪声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3.6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C6201-800C-4AFE-963D-A6E4CBE0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学习目标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B8123C-4962-412C-ABC9-2A035C01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区分并判断信号的类型，并能正确计算信号的功率或能量；</a:t>
            </a:r>
            <a:endParaRPr lang="en-US" altLang="zh-CN" sz="2800" dirty="0"/>
          </a:p>
          <a:p>
            <a:r>
              <a:rPr lang="zh-CN" altLang="en-US" sz="2800" dirty="0"/>
              <a:t>解释</a:t>
            </a:r>
            <a:r>
              <a:rPr lang="zh-CN" altLang="en-US" sz="2800" dirty="0">
                <a:highlight>
                  <a:srgbClr val="FFFF00"/>
                </a:highlight>
              </a:rPr>
              <a:t>随机信号功率谱</a:t>
            </a:r>
            <a:r>
              <a:rPr lang="zh-CN" altLang="en-US" sz="2800" dirty="0"/>
              <a:t>的含义；</a:t>
            </a:r>
            <a:endParaRPr lang="en-US" altLang="zh-CN" sz="2800" dirty="0"/>
          </a:p>
          <a:p>
            <a:r>
              <a:rPr lang="zh-CN" altLang="en-US" sz="2800" dirty="0"/>
              <a:t>熟练应用</a:t>
            </a:r>
            <a:r>
              <a:rPr lang="zh-CN" altLang="en-US" sz="2800" dirty="0">
                <a:highlight>
                  <a:srgbClr val="FFFF00"/>
                </a:highlight>
              </a:rPr>
              <a:t>维纳</a:t>
            </a:r>
            <a:r>
              <a:rPr lang="en-US" altLang="zh-CN" sz="2800" dirty="0">
                <a:highlight>
                  <a:srgbClr val="FFFF00"/>
                </a:highlight>
              </a:rPr>
              <a:t>-</a:t>
            </a:r>
            <a:r>
              <a:rPr lang="zh-CN" altLang="en-US" sz="2800" dirty="0">
                <a:highlight>
                  <a:srgbClr val="FFFF00"/>
                </a:highlight>
              </a:rPr>
              <a:t>辛钦</a:t>
            </a:r>
            <a:r>
              <a:rPr lang="zh-CN" altLang="en-US" sz="2800" dirty="0"/>
              <a:t>定理。</a:t>
            </a:r>
          </a:p>
        </p:txBody>
      </p:sp>
    </p:spTree>
    <p:extLst>
      <p:ext uri="{BB962C8B-B14F-4D97-AF65-F5344CB8AC3E}">
        <p14:creationId xmlns:p14="http://schemas.microsoft.com/office/powerpoint/2010/main" val="9712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B4510-92A1-485B-9A2B-CBA59B7B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92549"/>
            <a:ext cx="7886700" cy="839744"/>
          </a:xfrm>
        </p:spPr>
        <p:txBody>
          <a:bodyPr/>
          <a:lstStyle/>
          <a:p>
            <a:r>
              <a:rPr lang="en-US" altLang="zh-CN" dirty="0"/>
              <a:t>3.4  </a:t>
            </a:r>
            <a:r>
              <a:rPr lang="zh-CN" altLang="zh-CN" dirty="0"/>
              <a:t>功率谱密度和互功率谱密度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33873C-53C0-45B8-9035-8D607AFEA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742238"/>
                <a:ext cx="7772400" cy="3721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3.4.1 </a:t>
                </a:r>
                <a:r>
                  <a:rPr lang="zh-CN" altLang="zh-CN" dirty="0">
                    <a:solidFill>
                      <a:srgbClr val="FF0000"/>
                    </a:solidFill>
                    <a:latin typeface="+mj-ea"/>
                    <a:ea typeface="+mj-ea"/>
                  </a:rPr>
                  <a:t>基本概念</a:t>
                </a:r>
              </a:p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</a:rPr>
                  <a:t>1.  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能量信号和能谱密度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信号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),−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dirty="0"/>
                  <a:t>，总能量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&lt;∞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有限，而其平均功率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𝒅𝒕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则</a:t>
                </a:r>
                <a:r>
                  <a:rPr lang="zh-CN" altLang="en-US" dirty="0"/>
                  <a:t>信号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能量信号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33873C-53C0-45B8-9035-8D607AFEA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742238"/>
                <a:ext cx="7772400" cy="3721648"/>
              </a:xfrm>
              <a:blipFill>
                <a:blip r:embed="rId2"/>
                <a:stretch>
                  <a:fillRect l="-941" b="-2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4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87EE3E6-BB49-4567-8233-363D09B0EF88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343" y="1289304"/>
                <a:ext cx="8255000" cy="4395978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能量信号的</a:t>
                </a:r>
                <a:r>
                  <a:rPr lang="zh-CN" altLang="zh-CN" dirty="0"/>
                  <a:t>傅立叶变换存在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或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由此定义</a:t>
                </a:r>
                <a:r>
                  <a:rPr lang="zh-CN" altLang="en-US" dirty="0"/>
                  <a:t>能量信号的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能谱密度函数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或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)=|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有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Parsval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定理</a:t>
                </a:r>
                <a:r>
                  <a:rPr lang="zh-CN" altLang="zh-CN" dirty="0"/>
                  <a:t>成立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nary>
                      </m:e>
                    </m:nary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𝒅𝒇</m:t>
                        </m:r>
                      </m:e>
                    </m:nary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87EE3E6-BB49-4567-8233-363D09B0E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343" y="1289304"/>
                <a:ext cx="8255000" cy="4395978"/>
              </a:xfrm>
              <a:blipFill>
                <a:blip r:embed="rId2"/>
                <a:stretch>
                  <a:fillRect l="-886" t="-49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/>
          <p:cNvSpPr/>
          <p:nvPr/>
        </p:nvSpPr>
        <p:spPr bwMode="auto">
          <a:xfrm>
            <a:off x="7221474" y="4501134"/>
            <a:ext cx="1392174" cy="49149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能量守恒</a:t>
            </a:r>
          </a:p>
          <a:p>
            <a:pPr defTabSz="68580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388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90D534-D2ED-4501-BAE4-87FBEA6A2F5E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请求信号</a:t>
                </a:r>
                <a14:m>
                  <m:oMath xmlns:m="http://schemas.openxmlformats.org/officeDocument/2006/math"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1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sz="195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的能谱密度函数。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290D534-D2ED-4501-BAE4-87FBEA6A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blipFill>
                <a:blip r:embed="rId13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4BC194-C851-40A4-A551-D6ED04A0F92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F6F890-45BF-45B2-9548-D5740111072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0ED5CE-24CF-49B8-A708-996C94CDF2A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6B9658B8-D8E5-4E9B-920B-13EDEEDF7A0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EA41B3E1-D6B6-4897-B663-3F87D2E3016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498F3E9D-F93D-403A-B8B6-1BBA9EED26D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75BED6B-7687-4A37-B229-51003BEB76ED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551377C-153D-4A5B-9FBA-CF4A88F55D23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632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EC264D-3E62-443C-BC12-AD057C31C13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r>
                  <a:rPr lang="en-US" altLang="zh-CN" b="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d>
                      <m:d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n-US" altLang="zh-CN" b="0" dirty="0">
                    <a:solidFill>
                      <a:srgbClr val="000000"/>
                    </a:solidFill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𝑡</m:t>
                        </m:r>
                      </m:sup>
                    </m:sSup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𝑢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)∙</m:t>
                    </m:r>
                    <m:r>
                      <m:rPr>
                        <m:sty m:val="p"/>
                      </m:rPr>
                      <a:rPr lang="en-US" altLang="zh-CN" b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cos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⁡(2</m:t>
                    </m:r>
                    <m:r>
                      <a:rPr lang="zh-CN" altLang="en-US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𝜋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∗10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−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𝑡</m:t>
                          </m:r>
                        </m:sup>
                      </m:sSup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𝑢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(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𝑡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↔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2</m:t>
                          </m:r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𝜋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cos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⁡(2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𝜋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∗10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𝑡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)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↔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+10</m:t>
                              </m:r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𝛿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𝑓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−10)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+10)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1+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𝑗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2</m:t>
                              </m:r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𝜋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𝑓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−10)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altLang="zh-CN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p>
                        <m:sSup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+10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EC264D-3E62-443C-BC12-AD057C31C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7" t="-14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266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60B179-331A-4291-BA23-2264135B285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836712"/>
                <a:ext cx="8255000" cy="448606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CN" sz="2600" dirty="0">
                    <a:solidFill>
                      <a:srgbClr val="0070C0"/>
                    </a:solidFill>
                  </a:rPr>
                  <a:t>2</a:t>
                </a:r>
                <a:r>
                  <a:rPr lang="zh-CN" altLang="en-US" sz="2600" dirty="0">
                    <a:solidFill>
                      <a:srgbClr val="0070C0"/>
                    </a:solidFill>
                  </a:rPr>
                  <a:t>、</a:t>
                </a:r>
                <a:r>
                  <a:rPr lang="zh-CN" altLang="en-US" sz="2600" dirty="0">
                    <a:solidFill>
                      <a:srgbClr val="0070C0"/>
                    </a:solidFill>
                    <a:latin typeface="+mj-ea"/>
                    <a:ea typeface="+mj-ea"/>
                  </a:rPr>
                  <a:t>功率和功率信号</a:t>
                </a:r>
                <a:endParaRPr lang="en-US" altLang="zh-CN" sz="2600" dirty="0">
                  <a:solidFill>
                    <a:srgbClr val="0070C0"/>
                  </a:solidFill>
                  <a:latin typeface="+mj-ea"/>
                  <a:ea typeface="+mj-ea"/>
                </a:endParaRP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信号</a:t>
                </a:r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的功率定义为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zh-CN" altLang="en-US" sz="2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</m:e>
                    </m:func>
                    <m:nary>
                      <m:naryPr>
                        <m:ctrlPr>
                          <a:rPr lang="zh-CN" alt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b>
                      <m:sup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num>
                          <m:den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zh-CN" altLang="en-US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zh-CN" altLang="en-US" sz="26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6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zh-CN" altLang="en-US" sz="2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𝒅𝒕</m:t>
                        </m:r>
                      </m:e>
                    </m:nary>
                    <m:r>
                      <a:rPr lang="zh-CN" alt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sz="26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altLang="zh-CN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6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6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zh-CN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sz="26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600" dirty="0">
                    <a:solidFill>
                      <a:srgbClr val="FF0000"/>
                    </a:solidFill>
                  </a:rPr>
                  <a:t> </a:t>
                </a:r>
                <a:endParaRPr lang="en-US" altLang="zh-CN" sz="2600" dirty="0">
                  <a:latin typeface="仿宋_GB2312" pitchFamily="49" charset="-122"/>
                  <a:ea typeface="仿宋_GB2312" pitchFamily="49" charset="-122"/>
                </a:endParaRP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若</a:t>
                </a:r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是周期为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𝑻</m:t>
                    </m:r>
                    <m:r>
                      <a:rPr lang="en-US" altLang="zh-CN" sz="2600" b="1" i="1" baseline="-25000" dirty="0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𝟎</m:t>
                    </m:r>
                  </m:oMath>
                </a14:m>
                <a:r>
                  <a:rPr lang="en-US" altLang="zh-CN" sz="2600" i="1" baseline="-25000" dirty="0">
                    <a:latin typeface="仿宋_GB2312" pitchFamily="49" charset="-122"/>
                    <a:ea typeface="仿宋_GB2312" pitchFamily="49" charset="-122"/>
                  </a:rPr>
                  <a:t> </a:t>
                </a:r>
                <a:r>
                  <a:rPr lang="zh-CN" altLang="en-US" sz="2600" dirty="0"/>
                  <a:t>的周期信号</a:t>
                </a:r>
                <a:r>
                  <a:rPr lang="en-US" altLang="zh-CN" sz="2600" dirty="0"/>
                  <a:t>,</a:t>
                </a:r>
                <a:r>
                  <a:rPr lang="zh-CN" altLang="en-US" sz="2600" dirty="0"/>
                  <a:t>则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zh-CN" altLang="en-US" sz="2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zh-CN" alt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sub>
                        <m:sup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zh-CN" alt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zh-CN" altLang="en-US" sz="26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2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zh-CN" altLang="en-US" sz="2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altLang="zh-CN" sz="2600" b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sz="2600" dirty="0">
                  <a:latin typeface="仿宋_GB2312" pitchFamily="49" charset="-122"/>
                  <a:ea typeface="仿宋_GB2312" pitchFamily="49" charset="-122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若信号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/>
                  <a:t>的功率满足 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en-US" altLang="zh-CN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CN" sz="26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600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zh-CN" altLang="en-US" sz="2600" dirty="0"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600" dirty="0"/>
                  <a:t>则称其为</a:t>
                </a:r>
                <a:r>
                  <a:rPr lang="zh-CN" altLang="en-US" sz="2600" dirty="0">
                    <a:solidFill>
                      <a:srgbClr val="FF0000"/>
                    </a:solidFill>
                  </a:rPr>
                  <a:t>功率型信号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sz="2600" dirty="0"/>
                  <a:t>相应的信号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仿宋_GB2312" pitchFamily="49" charset="-122"/>
                      </a:rPr>
                      <m:t>𝒙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(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𝒕</m:t>
                    </m:r>
                    <m:r>
                      <a:rPr lang="en-US" altLang="zh-CN" sz="2600" b="1" i="1">
                        <a:latin typeface="Cambria Math" panose="02040503050406030204" pitchFamily="18" charset="0"/>
                        <a:ea typeface="仿宋_GB2312" pitchFamily="49" charset="-122"/>
                      </a:rPr>
                      <m:t>)</m:t>
                    </m:r>
                  </m:oMath>
                </a14:m>
                <a:r>
                  <a:rPr lang="zh-CN" altLang="en-US" sz="2600" dirty="0"/>
                  <a:t>的功率谱密度为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d>
                      <m:d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d>
                    <m:r>
                      <a:rPr lang="en-US" altLang="zh-CN" sz="26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600" b="1" i="1">
                        <a:latin typeface="Cambria Math" panose="02040503050406030204" pitchFamily="18" charset="0"/>
                      </a:rPr>
                      <m:t>或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600" dirty="0"/>
                  <a:t>, </a:t>
                </a:r>
                <a:r>
                  <a:rPr lang="zh-CN" altLang="en-US" sz="2600" dirty="0"/>
                  <a:t>且有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2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𝛑</m:t>
                          </m:r>
                        </m:den>
                      </m:f>
                      <m:nary>
                        <m:naryPr>
                          <m:ctrlPr>
                            <a:rPr lang="zh-CN" altLang="zh-CN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2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600" b="1" i="0">
                                  <a:latin typeface="Cambria Math" panose="02040503050406030204" pitchFamily="18" charset="0"/>
                                </a:rPr>
                                <m:t>𝛚</m:t>
                              </m:r>
                            </m:e>
                          </m:d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6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sz="2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600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2600" b="1" i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6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nary>
                    </m:oMath>
                  </m:oMathPara>
                </a14:m>
                <a:endParaRPr lang="zh-CN" altLang="en-US" sz="2600" dirty="0"/>
              </a:p>
              <a:p>
                <a:pPr marL="0" indent="0">
                  <a:buNone/>
                </a:pPr>
                <a:endParaRPr lang="zh-CN" altLang="en-US" b="0" dirty="0">
                  <a:latin typeface="仿宋_GB2312" pitchFamily="49" charset="-122"/>
                  <a:ea typeface="仿宋_GB2312" pitchFamily="49" charset="-122"/>
                </a:endParaRPr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460B179-331A-4291-BA23-2264135B2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836712"/>
                <a:ext cx="8255000" cy="4486064"/>
              </a:xfrm>
              <a:blipFill>
                <a:blip r:embed="rId3"/>
                <a:stretch>
                  <a:fillRect l="-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608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903095"/>
                <a:ext cx="7651242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正弦信号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/>
                        <m:e>
                          <m:r>
                            <a:rPr lang="en-US" altLang="zh-CN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mr>
                    </m:m>
                    <m:r>
                      <a:rPr lang="zh-CN" alt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zh-CN" altLang="en-US" sz="2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zh-CN" alt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，是</m:t>
                    </m:r>
                  </m:oMath>
                </a14:m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功率信号还是能量信号？计算其能量或功率。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903095"/>
                <a:ext cx="7651242" cy="1607344"/>
              </a:xfrm>
              <a:prstGeom prst="rect">
                <a:avLst/>
              </a:prstGeom>
              <a:blipFill>
                <a:blip r:embed="rId13"/>
                <a:stretch>
                  <a:fillRect l="-797" r="-3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3669F112-6705-454F-871D-13040DFFBA2F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313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50AE26C-BA97-40DA-92AE-F2CBB362E133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结论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accent2"/>
                </a:solidFill>
              </a:rPr>
              <a:t>周期信号为功率信号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平稳随机信号是什么信号？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平稳随机信号是功率信号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如何求平稳随机信号的功率谱和功率？</a:t>
            </a:r>
            <a:endParaRPr lang="en-US" altLang="zh-CN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zh-CN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zh-CN" altLang="en-US" dirty="0"/>
              <a:t>用统计平均的方法（</a:t>
            </a:r>
            <a:r>
              <a:rPr lang="zh-CN" altLang="en-US" i="1" dirty="0">
                <a:solidFill>
                  <a:srgbClr val="FF0000"/>
                </a:solidFill>
              </a:rPr>
              <a:t>为什么？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953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06BBF2B-81B6-48A9-9DCF-167195453AD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如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周期信号</a:t>
                </a:r>
                <a:r>
                  <a:rPr lang="zh-CN" altLang="zh-CN" dirty="0"/>
                  <a:t>或随机过程的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样本函数</a:t>
                </a:r>
                <a:r>
                  <a:rPr lang="zh-CN" altLang="zh-CN" dirty="0"/>
                  <a:t>，无头无尾的时间函数</a:t>
                </a:r>
                <a:r>
                  <a:rPr lang="en-US" altLang="zh-CN" dirty="0"/>
                  <a:t>,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总能量无限，但平均功率有限</a:t>
                </a: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trlPr>
                          <a:rPr lang="zh-CN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 </a:t>
                </a:r>
                <a:r>
                  <a:rPr lang="en-US" altLang="zh-CN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b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func>
                    <m:nary>
                      <m:naryPr>
                        <m:ctrlP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p>
                          <m:sSupPr>
                            <m:ctrlP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zh-CN" b="0" dirty="0">
                  <a:solidFill>
                    <a:srgbClr val="FF0000"/>
                  </a:solidFill>
                  <a:latin typeface="仿宋_GB2312" pitchFamily="49" charset="-122"/>
                  <a:ea typeface="仿宋_GB2312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为功率信号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信号</a:t>
                </a:r>
                <a:r>
                  <a:rPr lang="zh-CN" altLang="zh-CN" dirty="0"/>
                  <a:t>本身不存在</a:t>
                </a:r>
                <a:r>
                  <a:rPr lang="zh-CN" altLang="en-US" dirty="0"/>
                  <a:t>傅里叶</a:t>
                </a:r>
                <a:r>
                  <a:rPr lang="zh-CN" altLang="zh-CN" dirty="0"/>
                  <a:t>变换，</a:t>
                </a:r>
                <a:r>
                  <a:rPr lang="zh-CN" altLang="en-US" dirty="0"/>
                  <a:t>怎么办？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可用</a:t>
                </a:r>
                <a:r>
                  <a:rPr lang="zh-CN" altLang="en-US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信号的</a:t>
                </a:r>
                <a:r>
                  <a:rPr lang="zh-CN" altLang="zh-CN" dirty="0">
                    <a:solidFill>
                      <a:srgbClr val="FF0000"/>
                    </a:solidFill>
                    <a:highlight>
                      <a:srgbClr val="00FFFF"/>
                    </a:highlight>
                  </a:rPr>
                  <a:t>截尾函数构造其功率谱。</a:t>
                </a:r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06BBF2B-81B6-48A9-9DCF-167195453A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68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31B387-A6CC-45CE-B93D-CE0A7B546607}"/>
                  </a:ext>
                </a:extLst>
              </p:cNvPr>
              <p:cNvSpPr>
                <a:spLocks noGrp="1"/>
              </p:cNvSpPr>
              <p:nvPr>
                <p:ph sz="quarter" idx="2"/>
              </p:nvPr>
            </p:nvSpPr>
            <p:spPr>
              <a:xfrm>
                <a:off x="550864" y="1254392"/>
                <a:ext cx="8229599" cy="175141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．随机信号样本函数的功率和功率谱密度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某样本函数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，截短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</m:e>
                              </m:d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m:rPr>
                                  <m:nor/>
                                </m:rPr>
                                <a:rPr lang="en-US" altLang="zh-CN"/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b="1" i="0" smtClean="0"/>
                                <m:t>,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|&gt;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31B387-A6CC-45CE-B93D-CE0A7B5466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>
              <a:xfrm>
                <a:off x="550864" y="1254392"/>
                <a:ext cx="8229599" cy="1751410"/>
              </a:xfrm>
              <a:blipFill>
                <a:blip r:embed="rId3"/>
                <a:stretch>
                  <a:fillRect l="-889" b="-1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456B628E-93D2-496A-96E0-95FECB97FDB5}"/>
                  </a:ext>
                </a:extLst>
              </p:cNvPr>
              <p:cNvSpPr>
                <a:spLocks noGrp="1"/>
              </p:cNvSpPr>
              <p:nvPr>
                <p:ph sz="quarter" idx="3"/>
              </p:nvPr>
            </p:nvSpPr>
            <p:spPr>
              <a:xfrm>
                <a:off x="665825" y="3333859"/>
                <a:ext cx="8046376" cy="2104268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的傅立叶变换存在 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反变换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0" name="内容占位符 9">
                <a:extLst>
                  <a:ext uri="{FF2B5EF4-FFF2-40B4-BE49-F238E27FC236}">
                    <a16:creationId xmlns:a16="http://schemas.microsoft.com/office/drawing/2014/main" id="{456B628E-93D2-496A-96E0-95FECB97FD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>
              <a:xfrm>
                <a:off x="665825" y="3333859"/>
                <a:ext cx="8046376" cy="2104268"/>
              </a:xfrm>
              <a:blipFill>
                <a:blip r:embed="rId4"/>
                <a:stretch>
                  <a:fillRect l="-909" t="-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88B699E-5F1B-4B0F-98A3-23269ADF7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320" y="1755587"/>
            <a:ext cx="3611880" cy="178879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7D0A50-F392-42D0-B658-FDDBBEF28017}"/>
              </a:ext>
            </a:extLst>
          </p:cNvPr>
          <p:cNvGrpSpPr/>
          <p:nvPr/>
        </p:nvGrpSpPr>
        <p:grpSpPr>
          <a:xfrm>
            <a:off x="6317005" y="1892785"/>
            <a:ext cx="1961296" cy="1132992"/>
            <a:chOff x="8422672" y="1380713"/>
            <a:chExt cx="2615060" cy="151065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803F123-ADE7-4E9A-ADC9-80BFDCB69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501" r="29784"/>
            <a:stretch/>
          </p:blipFill>
          <p:spPr>
            <a:xfrm>
              <a:off x="8422672" y="1832189"/>
              <a:ext cx="1500326" cy="105918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548FD3-F9C4-4FBC-867B-305B659C31B5}"/>
                    </a:ext>
                  </a:extLst>
                </p:cNvPr>
                <p:cNvSpPr/>
                <p:nvPr/>
              </p:nvSpPr>
              <p:spPr>
                <a:xfrm>
                  <a:off x="9716516" y="1380713"/>
                  <a:ext cx="1321216" cy="4924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6548FD3-F9C4-4FBC-867B-305B659C31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6516" y="1380713"/>
                  <a:ext cx="1321216" cy="492443"/>
                </a:xfrm>
                <a:prstGeom prst="rect">
                  <a:avLst/>
                </a:prstGeom>
                <a:blipFill>
                  <a:blip r:embed="rId7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4344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13CF27E-B1EC-425D-97E4-9E47BE91756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200150"/>
                <a:ext cx="8255000" cy="4584962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Parsval</a:t>
                </a:r>
                <a:r>
                  <a:rPr lang="zh-CN" altLang="zh-CN" dirty="0"/>
                  <a:t>定理</a:t>
                </a:r>
                <a:r>
                  <a:rPr lang="en-US" altLang="zh-CN" dirty="0"/>
                  <a:t> 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𝝅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𝝃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</m:nary>
                      </m:e>
                    </m:nary>
                  </m:oMath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等式两边做变换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den>
                              </m:f>
                              <m:limLow>
                                <m:limLow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𝐥𝐢𝐦</m:t>
                              </m:r>
                            </m:e>
                            <m:lim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f>
                            <m:f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      </a:t>
                </a:r>
                <a:r>
                  <a:rPr lang="zh-CN" altLang="zh-CN" dirty="0"/>
                  <a:t>恰为样本函数的</a:t>
                </a:r>
                <a:r>
                  <a:rPr lang="zh-CN" altLang="en-US" dirty="0"/>
                  <a:t>（时间）</a:t>
                </a:r>
                <a:r>
                  <a:rPr lang="zh-CN" altLang="zh-CN" dirty="0"/>
                  <a:t>平均功率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故定义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为样本函数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平均功率谱密度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函数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13CF27E-B1EC-425D-97E4-9E47BE917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200150"/>
                <a:ext cx="8255000" cy="4584962"/>
              </a:xfrm>
              <a:blipFill>
                <a:blip r:embed="rId3"/>
                <a:stretch>
                  <a:fillRect l="-886" t="-1197" b="-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6FE05EC-93D9-4AC2-958C-D0AB204B8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273" y="838284"/>
            <a:ext cx="10470392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 bwMode="auto">
          <a:xfrm>
            <a:off x="6044939" y="3932745"/>
            <a:ext cx="2212942" cy="919113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平均功率关于</a:t>
            </a:r>
            <a:endParaRPr lang="en-US" altLang="zh-CN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dirty="0"/>
              <a:t>频率的分布情况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 bwMode="auto">
          <a:xfrm flipH="1" flipV="1">
            <a:off x="5260157" y="3784273"/>
            <a:ext cx="1108860" cy="2830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6447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8CFDEC1-644B-4428-BE2F-17A233ED6F35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74320" y="1051120"/>
                <a:ext cx="8641080" cy="4634162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4.  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随机信号的平均功率和功率谱密度</a:t>
                </a:r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对样本函数的平均功率取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统计平均</a:t>
                </a:r>
                <a:r>
                  <a:rPr lang="zh-CN" altLang="zh-CN" dirty="0"/>
                  <a:t>，有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𝝃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</m:e>
                      </m:func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为随机过程的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平均功率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上式左侧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</m:e>
                    </m:func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den>
                        </m:f>
                        <m:nary>
                          <m:nary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e>
                        </m:nary>
                      </m:e>
                    </m:func>
                  </m:oMath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上式右侧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𝑭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是频率的函数，从频域上描述过程的统计特性，物理意义表示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过程的平均功率关于频率的分布情况</a:t>
                </a:r>
                <a:r>
                  <a:rPr lang="zh-CN" altLang="en-US" dirty="0"/>
                  <a:t>，称为随机过程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功率谱密度</a:t>
                </a:r>
                <a:r>
                  <a:rPr lang="zh-CN" altLang="en-US" dirty="0"/>
                  <a:t>。</a:t>
                </a: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8CFDEC1-644B-4428-BE2F-17A233ED6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74320" y="1051120"/>
                <a:ext cx="8641080" cy="4634162"/>
              </a:xfrm>
              <a:blipFill>
                <a:blip r:embed="rId3"/>
                <a:stretch>
                  <a:fillRect l="-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/>
          <p:cNvSpPr/>
          <p:nvPr/>
        </p:nvSpPr>
        <p:spPr bwMode="auto">
          <a:xfrm>
            <a:off x="3895344" y="2763774"/>
            <a:ext cx="2839212" cy="43205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均方值的时间平均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5596128" y="1522476"/>
            <a:ext cx="3490722" cy="466344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时域、频域计算平均功率</a:t>
            </a:r>
          </a:p>
        </p:txBody>
      </p:sp>
    </p:spTree>
    <p:extLst>
      <p:ext uri="{BB962C8B-B14F-4D97-AF65-F5344CB8AC3E}">
        <p14:creationId xmlns:p14="http://schemas.microsoft.com/office/powerpoint/2010/main" val="349725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ABFE4DC-20A6-4129-B473-89F2F300131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31183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即</a:t>
                </a:r>
                <a:r>
                  <a:rPr lang="en-US" altLang="zh-CN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[|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随机过程谱密度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指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平均功率谱密度</a:t>
                </a:r>
                <a:r>
                  <a:rPr lang="zh-CN" altLang="zh-CN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5. </a:t>
                </a:r>
                <a:r>
                  <a:rPr lang="zh-CN" altLang="zh-CN" dirty="0">
                    <a:solidFill>
                      <a:srgbClr val="0070C0"/>
                    </a:solidFill>
                    <a:latin typeface="+mj-ea"/>
                    <a:ea typeface="+mj-ea"/>
                  </a:rPr>
                  <a:t>实平稳过程的平均功率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:r>
                  <a:rPr lang="zh-CN" altLang="en-US" dirty="0"/>
                  <a:t>实平稳随机过程的</a:t>
                </a:r>
                <a:r>
                  <a:rPr lang="zh-CN" altLang="zh-CN" dirty="0"/>
                  <a:t>均方值为常数，故平均功率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nary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DABFE4DC-20A6-4129-B473-89F2F3001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311836"/>
              </a:xfrm>
              <a:blipFill>
                <a:blip r:embed="rId3"/>
                <a:stretch>
                  <a:fillRect l="-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18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9D65F0A-D626-4C01-AD84-2B2D365E74E4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77190" y="1799845"/>
                <a:ext cx="8353044" cy="2202656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𝒂</m:t>
                    </m:r>
                    <m:func>
                      <m:funcPr>
                        <m:ctrlPr>
                          <a:rPr lang="zh-CN" altLang="zh-CN" sz="21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sSub>
                      <m:sSubPr>
                        <m:ctrlPr>
                          <a:rPr lang="zh-CN" altLang="zh-CN" sz="2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𝜱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100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𝜱</m:t>
                    </m:r>
                  </m:oMath>
                </a14:m>
                <a:r>
                  <a:rPr lang="zh-CN" altLang="zh-CN" sz="2100" b="1" dirty="0"/>
                  <a:t>是随机变量，求两种情况信号的平均功率：</a:t>
                </a:r>
                <a:endParaRPr lang="zh-CN" altLang="zh-CN" sz="2100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100" b="1" dirty="0"/>
                  <a:t>（</a:t>
                </a:r>
                <a:r>
                  <a:rPr lang="en-US" altLang="zh-CN" sz="2100" b="1" dirty="0"/>
                  <a:t>1</a:t>
                </a:r>
                <a:r>
                  <a:rPr lang="zh-CN" altLang="zh-CN" sz="2100" b="1" dirty="0"/>
                  <a:t>）</a:t>
                </a:r>
                <a14:m>
                  <m:oMath xmlns:m="http://schemas.openxmlformats.org/officeDocument/2006/math"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𝜱</m:t>
                    </m:r>
                  </m:oMath>
                </a14:m>
                <a:r>
                  <a:rPr lang="zh-CN" altLang="zh-CN" sz="2100" b="1" dirty="0"/>
                  <a:t>在</a:t>
                </a:r>
                <a14:m>
                  <m:oMath xmlns:m="http://schemas.openxmlformats.org/officeDocument/2006/math">
                    <m:r>
                      <a:rPr lang="zh-CN" altLang="zh-CN" sz="2100" b="1" i="1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zh-CN" sz="2100" b="1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zh-CN" altLang="zh-CN" sz="2100" b="1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zh-CN" sz="2100" b="1" dirty="0"/>
                  <a:t>间均匀分布</a:t>
                </a:r>
                <a:r>
                  <a:rPr lang="en-US" altLang="zh-CN" sz="2100" b="1" dirty="0"/>
                  <a:t>  </a:t>
                </a:r>
                <a:r>
                  <a:rPr lang="zh-CN" altLang="zh-CN" sz="2100" b="1" dirty="0"/>
                  <a:t>（</a:t>
                </a:r>
                <a:r>
                  <a:rPr lang="en-US" altLang="zh-CN" sz="2100" b="1" dirty="0"/>
                  <a:t>2</a:t>
                </a:r>
                <a:r>
                  <a:rPr lang="zh-CN" altLang="zh-CN" sz="2100" b="1" dirty="0"/>
                  <a:t>）</a:t>
                </a:r>
                <a14:m>
                  <m:oMath xmlns:m="http://schemas.openxmlformats.org/officeDocument/2006/math"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𝜱</m:t>
                    </m:r>
                  </m:oMath>
                </a14:m>
                <a:r>
                  <a:rPr lang="zh-CN" altLang="zh-CN" sz="2100" b="1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100" b="1" dirty="0"/>
                  <a:t>间均匀分布</a:t>
                </a:r>
                <a:r>
                  <a:rPr lang="en-US" altLang="zh-CN" sz="2100" b="1" dirty="0"/>
                  <a:t>.</a:t>
                </a:r>
                <a:endParaRPr lang="zh-CN" altLang="zh-CN" sz="21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9D65F0A-D626-4C01-AD84-2B2D365E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77190" y="1799845"/>
                <a:ext cx="8353044" cy="2202656"/>
              </a:xfrm>
              <a:prstGeom prst="rect">
                <a:avLst/>
              </a:prstGeom>
              <a:blipFill>
                <a:blip r:embed="rId13"/>
                <a:stretch>
                  <a:fillRect l="-876" r="-4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55321394-A6E8-42EC-9AFE-5363B22F5C4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9491FB-1219-41B0-A8E3-AD96DA867D7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4F883AB-45CD-41C7-B9F4-276F8C788B9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7DDBB97E-B270-45F1-99BB-CFE5AE74288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77D88D5A-767E-4EB0-96B1-659938D1C44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92A016E0-49F0-47A7-AB6D-0030E650371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3AD5619D-2106-4E82-A186-8EDE0EE7BB3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A6F5CB6-4850-43E3-B4ED-F8EC12502E01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68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ABA9333-9F4E-4FC7-8D8C-A75BD7100F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259498"/>
                <a:ext cx="7772400" cy="431605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） 此时为平稳过程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func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>
                  <a:lnSpc>
                    <a:spcPct val="220000"/>
                  </a:lnSpc>
                  <a:buNone/>
                </a:pPr>
                <a:r>
                  <a:rPr lang="zh-CN" altLang="zh-CN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𝜱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𝜱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func>
                            <m:func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)⋅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den>
                          </m:f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𝝓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𝟐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]⋅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)]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func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ABA9333-9F4E-4FC7-8D8C-A75BD7100F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259498"/>
                <a:ext cx="7772400" cy="4316056"/>
              </a:xfrm>
              <a:blipFill>
                <a:blip r:embed="rId3"/>
                <a:stretch>
                  <a:fillRect l="-392" t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19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04EEEA5-60EE-4FFB-A481-D2D3F9A747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52" y="260648"/>
                <a:ext cx="8204554" cy="497098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3.4.2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功率谱密度与自相关函数的关系（自相关函数的谱分解）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>
                    <a:solidFill>
                      <a:srgbClr val="0070C0"/>
                    </a:solidFill>
                  </a:rPr>
                  <a:t>1</a:t>
                </a:r>
                <a:r>
                  <a:rPr lang="zh-CN" altLang="zh-CN" sz="2400" dirty="0">
                    <a:solidFill>
                      <a:srgbClr val="0070C0"/>
                    </a:solidFill>
                  </a:rPr>
                  <a:t>．维纳</a:t>
                </a:r>
                <a:r>
                  <a:rPr lang="x-none" altLang="zh-CN" sz="2400" dirty="0">
                    <a:solidFill>
                      <a:srgbClr val="0070C0"/>
                    </a:solidFill>
                  </a:rPr>
                  <a:t>—</a:t>
                </a:r>
                <a:r>
                  <a:rPr lang="zh-CN" altLang="zh-CN" sz="2400" dirty="0">
                    <a:solidFill>
                      <a:srgbClr val="0070C0"/>
                    </a:solidFill>
                  </a:rPr>
                  <a:t>辛钦定理（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Wiener - </a:t>
                </a:r>
                <a:r>
                  <a:rPr lang="en-US" altLang="zh-CN" sz="2400" dirty="0" err="1">
                    <a:solidFill>
                      <a:srgbClr val="0070C0"/>
                    </a:solidFill>
                  </a:rPr>
                  <a:t>Khinchin</a:t>
                </a:r>
                <a:r>
                  <a:rPr lang="en-US" altLang="zh-CN" sz="2400" dirty="0">
                    <a:solidFill>
                      <a:srgbClr val="0070C0"/>
                    </a:solidFill>
                  </a:rPr>
                  <a:t> Theorem</a:t>
                </a:r>
                <a:r>
                  <a:rPr lang="zh-CN" altLang="zh-CN" sz="2400" dirty="0">
                    <a:solidFill>
                      <a:srgbClr val="0070C0"/>
                    </a:solidFill>
                  </a:rPr>
                  <a:t>）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设随机过程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的截尾过程为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i="1" dirty="0"/>
                  <a:t> </a:t>
                </a:r>
                <a:r>
                  <a:rPr lang="zh-CN" altLang="en-US" sz="2400" dirty="0"/>
                  <a:t>且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</a:t>
                </a:r>
                <a:r>
                  <a:rPr lang="zh-CN" altLang="en-US" sz="2400" dirty="0"/>
                  <a:t>随机过程</a:t>
                </a:r>
                <a:r>
                  <a:rPr lang="zh-CN" altLang="zh-CN" sz="2400" dirty="0"/>
                  <a:t>过程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的功率谱定义为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[|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{[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𝒅𝒔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][</m:t>
                          </m:r>
                        </m:e>
                      </m:nary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]}</m:t>
                          </m:r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04EEEA5-60EE-4FFB-A481-D2D3F9A747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60648"/>
                <a:ext cx="8204554" cy="4970986"/>
              </a:xfrm>
              <a:blipFill>
                <a:blip r:embed="rId2"/>
                <a:stretch>
                  <a:fillRect l="-1190" t="-1350" b="-6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3D3EAD-4B63-4010-95BF-D4137B6B9E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60648"/>
                <a:ext cx="7772400" cy="59766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[|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{[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][</m:t>
                          </m:r>
                        </m:e>
                      </m:nary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]}</m:t>
                          </m:r>
                        </m:e>
                      </m:nary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𝒅𝒔𝒅𝒕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𝒅𝒔𝒅𝒕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 </a:t>
                </a:r>
                <a:r>
                  <a:rPr lang="zh-CN" altLang="zh-CN" dirty="0"/>
                  <a:t>变量代换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𝒔</m:t>
                    </m:r>
                    <m:r>
                      <m:rPr>
                        <m:nor/>
                      </m:rPr>
                      <a:rPr lang="en-US" altLang="zh-CN"/>
                      <m:t> </m:t>
                    </m:r>
                    <m:r>
                      <m:rPr>
                        <m:nor/>
                      </m:rPr>
                      <a:rPr lang="en-US" altLang="zh-CN" i="0" smtClean="0"/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积分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变换</m:t>
                    </m:r>
                    <m:r>
                      <m:rPr>
                        <m:nor/>
                      </m:rPr>
                      <a:rPr lang="en-US" altLang="zh-CN"/>
                      <m:t> </m:t>
                    </m:r>
                    <m:r>
                      <m:rPr>
                        <m:nor/>
                      </m:rPr>
                      <a:rPr lang="en-US" altLang="zh-CN" b="1" i="0" smtClean="0"/>
                      <m:t>|</m:t>
                    </m:r>
                    <m:r>
                      <m:rPr>
                        <m:nor/>
                      </m:rPr>
                      <a:rPr lang="en-US" altLang="zh-CN" b="1" i="0" smtClean="0"/>
                      <m:t>J</m:t>
                    </m:r>
                    <m:r>
                      <m:rPr>
                        <m:nor/>
                      </m:rPr>
                      <a:rPr lang="en-US" altLang="zh-CN" b="1" i="0" smtClean="0"/>
                      <m:t>|=1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  <m:nary>
                            <m:nary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𝝎𝝉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limLow>
                        <m:limLow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𝒍𝒊𝒎</m:t>
                          </m:r>
                        </m:e>
                        <m:li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𝝎𝝉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𝝎𝝉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zh-CN" altLang="zh-CN" dirty="0"/>
                  <a:t>恰为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自相关函数的傅里叶变换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53D3EAD-4B63-4010-95BF-D4137B6B9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60648"/>
                <a:ext cx="7772400" cy="5976664"/>
              </a:xfrm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3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23397-5E04-4911-8DE0-8C1A8321F2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319" y="1259498"/>
                <a:ext cx="8369224" cy="435034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en-US" dirty="0">
                    <a:highlight>
                      <a:srgbClr val="FFFF00"/>
                    </a:highlight>
                  </a:rPr>
                  <a:t>平稳随机过程的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维纳</a:t>
                </a:r>
                <a:r>
                  <a:rPr lang="en-US" altLang="zh-CN" dirty="0">
                    <a:highlight>
                      <a:srgbClr val="FFFF00"/>
                    </a:highlight>
                  </a:rPr>
                  <a:t>—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辛钦定理</a:t>
                </a:r>
                <a:endParaRPr lang="en-US" altLang="zh-CN" i="1" dirty="0">
                  <a:solidFill>
                    <a:srgbClr val="FF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𝝎𝝉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nary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zh-CN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zh-CN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）＝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𝝎𝝉</m:t>
                              </m:r>
                            </m:sup>
                          </m:s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即</a:t>
                </a:r>
                <a:r>
                  <a:rPr lang="zh-CN" altLang="en-US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平稳随机过程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的自相关函数和功率谱密度是一对傅里叶变换对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该定理</a:t>
                </a:r>
                <a:r>
                  <a:rPr lang="zh-CN" altLang="zh-CN" dirty="0"/>
                  <a:t>又称平稳随机过程的相关函数的谱分解，指出自相关与功率谱的关系：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     </a:t>
                </a:r>
                <a:r>
                  <a:rPr lang="zh-CN" altLang="en-US" dirty="0">
                    <a:highlight>
                      <a:srgbClr val="00FFFF"/>
                    </a:highlight>
                  </a:rPr>
                  <a:t>自相关函数</a:t>
                </a:r>
                <a:r>
                  <a:rPr lang="zh-CN" altLang="zh-CN" dirty="0">
                    <a:highlight>
                      <a:srgbClr val="00FFFF"/>
                    </a:highlight>
                  </a:rPr>
                  <a:t>是时域描述的统计特性，</a:t>
                </a:r>
                <a:endParaRPr lang="en-US" altLang="zh-CN" dirty="0">
                  <a:highlight>
                    <a:srgbClr val="00FFFF"/>
                  </a:highlight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            </a:t>
                </a:r>
                <a:r>
                  <a:rPr lang="zh-CN" altLang="en-US" dirty="0">
                    <a:highlight>
                      <a:srgbClr val="00FFFF"/>
                    </a:highlight>
                  </a:rPr>
                  <a:t>功率谱密度</a:t>
                </a:r>
                <a:r>
                  <a:rPr lang="zh-CN" altLang="zh-CN" dirty="0">
                    <a:highlight>
                      <a:srgbClr val="00FFFF"/>
                    </a:highlight>
                  </a:rPr>
                  <a:t>是频域描述的统计特性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7023397-5E04-4911-8DE0-8C1A8321F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319" y="1259498"/>
                <a:ext cx="8369224" cy="4350346"/>
              </a:xfrm>
              <a:blipFill>
                <a:blip r:embed="rId2"/>
                <a:stretch>
                  <a:fillRect l="-728" t="-5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01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1CEDF96-F7FD-4442-B62C-FB4FAB3A5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同理，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zh-CN" dirty="0"/>
                  <a:t>对平稳随机变量序列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,±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,±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,...}</m:t>
                    </m:r>
                  </m:oMath>
                </a14:m>
                <a:r>
                  <a:rPr lang="zh-CN" altLang="zh-CN" dirty="0"/>
                  <a:t>，其自相关序列为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，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则其功率谱同样满足维纳－欣钦定理</a:t>
                </a:r>
                <a:r>
                  <a:rPr lang="zh-CN" altLang="en-US" dirty="0"/>
                  <a:t>，即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𝝎</m:t>
                            </m:r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p>
                        </m:sSup>
                      </m:e>
                    </m:nary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1CEDF96-F7FD-4442-B62C-FB4FAB3A5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51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1ADA20D-2D3D-44D5-B308-373D5FE73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259498"/>
                <a:ext cx="8876477" cy="42680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．含有直流分量或周期分量的平稳过程的功率谱密度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绝对可积，傅立叶变换存在。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如果含有直流分量或周期分量，如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func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，严格</a:t>
                </a:r>
                <a:r>
                  <a:rPr lang="zh-CN" altLang="en-US" dirty="0"/>
                  <a:t>说</a:t>
                </a:r>
                <a:r>
                  <a:rPr lang="zh-CN" altLang="zh-CN" dirty="0"/>
                  <a:t>不满足绝对可积，但引进单位冲激函数，可表示其傅立叶变换。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如过程含有直流分量为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zh-CN" altLang="zh-CN" dirty="0"/>
                  <a:t>，其自相关函数含有直流分量为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zh-CN" dirty="0"/>
                  <a:t>，其功率谱为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如周期分量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zh-CN" altLang="zh-CN" dirty="0"/>
                  <a:t>，其</a:t>
                </a:r>
                <a:r>
                  <a:rPr lang="en-US" altLang="zh-CN" dirty="0"/>
                  <a:t>PSD</a:t>
                </a:r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dirty="0"/>
                  <a:t>处有冲激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1ADA20D-2D3D-44D5-B308-373D5FE73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259498"/>
                <a:ext cx="8876477" cy="4268050"/>
              </a:xfrm>
              <a:blipFill>
                <a:blip r:embed="rId2"/>
                <a:stretch>
                  <a:fillRect l="-824" r="-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79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1ADA20D-2D3D-44D5-B308-373D5FE73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0605" y="1259498"/>
                <a:ext cx="8521631" cy="40102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．含有直流分量或周期分量的平稳过程的功率谱密度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如周期分量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zh-CN" altLang="zh-CN" dirty="0"/>
                  <a:t>，其</a:t>
                </a:r>
                <a:r>
                  <a:rPr lang="en-US" altLang="zh-CN" dirty="0"/>
                  <a:t>PSD</a:t>
                </a:r>
                <a:r>
                  <a:rPr lang="zh-CN" altLang="zh-CN" dirty="0"/>
                  <a:t>在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zh-CN" dirty="0"/>
                  <a:t>处有冲激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因此 ，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func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en-US" altLang="zh-CN" dirty="0"/>
                  <a:t>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</m:func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𝒋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重要的傅里叶变换对：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1ADA20D-2D3D-44D5-B308-373D5FE73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605" y="1259498"/>
                <a:ext cx="8521631" cy="4010208"/>
              </a:xfrm>
              <a:blipFill>
                <a:blip r:embed="rId2"/>
                <a:stretch>
                  <a:fillRect l="-858" t="-1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812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0CAAD85-EE9E-4782-818B-BA1FA4E1F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0030" y="1067473"/>
                <a:ext cx="8757666" cy="46658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0070C0"/>
                    </a:solidFill>
                  </a:rPr>
                  <a:t>3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．非平稳随机过程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的功率谱密度</a:t>
                </a:r>
                <a:endParaRPr lang="zh-CN" altLang="zh-CN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功率谱与自相关的时间平均为</a:t>
                </a:r>
                <a:r>
                  <a:rPr lang="zh-CN" altLang="en-US" dirty="0"/>
                  <a:t>傅里叶</a:t>
                </a:r>
                <a:r>
                  <a:rPr lang="zh-CN" altLang="zh-CN" dirty="0"/>
                  <a:t>变换对，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非</a:t>
                </a:r>
                <a:r>
                  <a:rPr lang="zh-CN" altLang="zh-CN" dirty="0"/>
                  <a:t>随机过程的自相关函数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r>
                  <a:rPr lang="zh-CN" altLang="zh-CN" dirty="0"/>
                  <a:t>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zh-CN" dirty="0"/>
                  <a:t>的函数，其时间平均为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𝒅𝒕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r>
                  <a:rPr lang="zh-CN" altLang="zh-CN" dirty="0"/>
                  <a:t>则功率谱密度为</a:t>
                </a:r>
              </a:p>
              <a:p>
                <a:pPr marL="0" indent="0" algn="ctr">
                  <a:buNone/>
                </a:pPr>
                <a:r>
                  <a:rPr lang="en-US" altLang="zh-CN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𝝎𝝉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0CAAD85-EE9E-4782-818B-BA1FA4E1F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0030" y="1067473"/>
                <a:ext cx="8757666" cy="4665815"/>
              </a:xfrm>
              <a:blipFill>
                <a:blip r:embed="rId3"/>
                <a:stretch>
                  <a:fillRect l="-835" t="-1175" b="-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/>
          <p:cNvSpPr/>
          <p:nvPr/>
        </p:nvSpPr>
        <p:spPr bwMode="auto">
          <a:xfrm>
            <a:off x="1009841" y="5136642"/>
            <a:ext cx="1947672" cy="4732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自相关函数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3363849" y="5136642"/>
            <a:ext cx="1759077" cy="49377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时间平均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5815584" y="5136642"/>
            <a:ext cx="1879092" cy="473202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dirty="0">
                <a:solidFill>
                  <a:srgbClr val="FF0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傅里叶变换</a:t>
            </a:r>
          </a:p>
        </p:txBody>
      </p:sp>
    </p:spTree>
    <p:extLst>
      <p:ext uri="{BB962C8B-B14F-4D97-AF65-F5344CB8AC3E}">
        <p14:creationId xmlns:p14="http://schemas.microsoft.com/office/powerpoint/2010/main" val="168208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212B657-A5E7-4E04-A1D8-A6ED179E6C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201" y="1019467"/>
                <a:ext cx="7772400" cy="4748111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的自相关为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func>
                  </m:oMath>
                </a14:m>
                <a:r>
                  <a:rPr lang="zh-CN" altLang="zh-CN" dirty="0"/>
                  <a:t>，求功率谱密度函数。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𝝅</m:t>
                        </m:r>
                      </m:den>
                    </m:f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)+(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）＝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212B657-A5E7-4E04-A1D8-A6ED179E6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201" y="1019467"/>
                <a:ext cx="7772400" cy="4748111"/>
              </a:xfrm>
              <a:blipFill>
                <a:blip r:embed="rId2"/>
                <a:stretch>
                  <a:fillRect l="-941" t="-1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77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A91421-EC69-447A-B960-9516B52ADD37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610094" cy="2252663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100" b="1" dirty="0"/>
                  <a:t>若实平稳随机过程的功率谱为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100" b="1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100" b="1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zh-CN" altLang="zh-CN" sz="2100" b="1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zh-CN" sz="2100" b="1" dirty="0"/>
                  <a:t>，有</a:t>
                </a:r>
                <a:endParaRPr lang="en-US" altLang="zh-CN" sz="21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𝒂𝑿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100" b="1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zh-CN" sz="21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zh-CN" altLang="zh-CN" sz="21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100" b="1" i="1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zh-CN" sz="2100" b="1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sz="21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1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func>
                    </m:oMath>
                  </m:oMathPara>
                </a14:m>
                <a:endParaRPr lang="en-US" altLang="zh-CN" sz="21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sz="2100" b="1" dirty="0"/>
                  <a:t>求</a:t>
                </a:r>
                <a:r>
                  <a:rPr lang="en-US" altLang="zh-CN" sz="2100" b="1" i="1" dirty="0"/>
                  <a:t>Y</a:t>
                </a:r>
                <a:r>
                  <a:rPr lang="en-US" altLang="zh-CN" sz="2100" b="1" dirty="0"/>
                  <a:t>(</a:t>
                </a:r>
                <a:r>
                  <a:rPr lang="en-US" altLang="zh-CN" sz="2100" b="1" i="1" dirty="0"/>
                  <a:t>t</a:t>
                </a:r>
                <a:r>
                  <a:rPr lang="en-US" altLang="zh-CN" sz="2100" b="1" dirty="0"/>
                  <a:t>)</a:t>
                </a:r>
                <a:r>
                  <a:rPr lang="zh-CN" altLang="zh-CN" sz="2100" b="1" dirty="0"/>
                  <a:t>的功率谱</a:t>
                </a:r>
                <a:r>
                  <a:rPr lang="zh-CN" altLang="en-US" sz="2100" b="1" dirty="0"/>
                  <a:t>密度函数</a:t>
                </a:r>
                <a:r>
                  <a:rPr lang="zh-CN" altLang="zh-CN" sz="2100" b="1" dirty="0"/>
                  <a:t>。</a:t>
                </a:r>
                <a:endParaRPr lang="zh-CN" altLang="zh-CN" sz="21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8A91421-EC69-447A-B960-9516B52AD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14400" y="1333500"/>
                <a:ext cx="7610094" cy="2252663"/>
              </a:xfrm>
              <a:prstGeom prst="rect">
                <a:avLst/>
              </a:prstGeom>
              <a:blipFill>
                <a:blip r:embed="rId13"/>
                <a:stretch>
                  <a:fillRect l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F2E42B10-C2F3-480E-AE92-81E7A5EC9AE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C167AD-7FB5-4BF7-A887-B47CB8681B9D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4BF949-CFBD-4CAB-86DA-D0670D3A2F1C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70DB13D3-42E3-40A6-A302-06C8B1E1795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5BD3025-ED14-4925-83FD-3DFD1D9BCC7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BED13051-0A3B-4337-9392-B2EC467635D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63415A3A-A642-4F61-9CAA-0F7B5B3AFCF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DC80BDA-225F-423D-BE1B-852C6D32AE1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6928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AD224AD-0833-44C0-A05D-8BFB189A1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47396"/>
                <a:ext cx="7772400" cy="45035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)[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其自相关的时间平均</a:t>
                </a:r>
                <a:r>
                  <a:rPr lang="en-US" altLang="zh-CN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𝒅𝒕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nary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</m:e>
                    </m:func>
                  </m:oMath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CAD224AD-0833-44C0-A05D-8BFB189A1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47396"/>
                <a:ext cx="7772400" cy="4503596"/>
              </a:xfrm>
              <a:blipFill>
                <a:blip r:embed="rId2"/>
                <a:stretch>
                  <a:fillRect l="-941" t="-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86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FB23BB-B99A-40BB-8C6D-45B2BEB2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其功率谱为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i="1">
                              <a:latin typeface="Cambria Math" panose="02040503050406030204" pitchFamily="18" charset="0"/>
                            </a:rPr>
                            <m:t>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𝝎𝝉</m:t>
                              </m:r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</m:oMath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𝝅</m:t>
                          </m:r>
                        </m:den>
                      </m:f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7FB23BB-B99A-40BB-8C6D-45B2BEB2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93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21EED7B-261D-4FEA-B48D-AD24E6F11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977098"/>
                <a:ext cx="7772400" cy="470818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3.4.3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功率谱密度的性质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1</a:t>
                </a:r>
                <a:r>
                  <a:rPr lang="zh-CN" altLang="zh-CN" dirty="0"/>
                  <a:t>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为非负实数，由定义得到，只包含幅度信息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＝</m:t>
                      </m:r>
                      <m:func>
                        <m:func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lang="en-US" altLang="zh-CN"/>
                                <m:t>lim</m:t>
                              </m:r>
                            </m:e>
                            <m:li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[|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2</a:t>
                </a:r>
                <a:r>
                  <a:rPr lang="zh-CN" altLang="zh-CN" dirty="0"/>
                  <a:t>．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为实平稳过程</a:t>
                </a:r>
                <a:r>
                  <a:rPr lang="zh-CN" altLang="en-US" dirty="0"/>
                  <a:t>，则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有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＝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521EED7B-261D-4FEA-B48D-AD24E6F11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977098"/>
                <a:ext cx="7772400" cy="4708184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7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114FF33-915D-428C-86FC-50EFAD50B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014984"/>
                <a:ext cx="7772400" cy="466344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:r>
                  <a:rPr lang="en-US" altLang="zh-CN" dirty="0"/>
                  <a:t>3. </a:t>
                </a:r>
                <a:r>
                  <a:rPr lang="zh-CN" altLang="zh-CN" dirty="0"/>
                  <a:t>有理分式形式的功率谱限制其为如下形式：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+....+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+....+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p"/>
                </a:pPr>
                <a:r>
                  <a:rPr lang="zh-CN" altLang="zh-CN" dirty="0"/>
                  <a:t>例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zh-CN" dirty="0"/>
                  <a:t>，求自相关、平均功率。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+(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114FF33-915D-428C-86FC-50EFAD50B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014984"/>
                <a:ext cx="7772400" cy="4663440"/>
              </a:xfrm>
              <a:blipFill>
                <a:blip r:embed="rId2"/>
                <a:stretch>
                  <a:fillRect l="-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906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9D767BB-9591-4212-A23E-EB39C516A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47396"/>
                <a:ext cx="7772400" cy="45035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3.4.4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互功率谱密度及性质  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讨论联合随机过程</a:t>
                </a:r>
                <a:r>
                  <a:rPr lang="en-US" altLang="zh-CN" b="0" i="1" dirty="0"/>
                  <a:t>X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),</a:t>
                </a:r>
                <a:r>
                  <a:rPr lang="en-US" altLang="zh-CN" b="0" i="1" dirty="0"/>
                  <a:t>Y</a:t>
                </a:r>
                <a:r>
                  <a:rPr lang="en-US" altLang="zh-CN" b="0" dirty="0"/>
                  <a:t>(</a:t>
                </a:r>
                <a:r>
                  <a:rPr lang="en-US" altLang="zh-CN" b="0" i="1" dirty="0"/>
                  <a:t>t</a:t>
                </a:r>
                <a:r>
                  <a:rPr lang="en-US" altLang="zh-CN" b="0" dirty="0"/>
                  <a:t>)</a:t>
                </a:r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0070C0"/>
                    </a:solidFill>
                  </a:rPr>
                  <a:t>1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． 定义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𝑿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/>
                      <m:t>     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p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limLow>
                      <m:limLow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𝒍𝒊𝒎</m:t>
                        </m:r>
                      </m:e>
                      <m:li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79D767BB-9591-4212-A23E-EB39C516A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47396"/>
                <a:ext cx="7772400" cy="4503596"/>
              </a:xfrm>
              <a:blipFill>
                <a:blip r:embed="rId2"/>
                <a:stretch>
                  <a:fillRect l="-941" t="-12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63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71857D-534F-4B80-AAF2-9F565B42A0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737" y="919837"/>
                <a:ext cx="8382739" cy="47311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0070C0"/>
                    </a:solidFill>
                  </a:rPr>
                  <a:t>2</a:t>
                </a:r>
                <a:r>
                  <a:rPr lang="zh-CN" altLang="zh-CN" dirty="0">
                    <a:solidFill>
                      <a:srgbClr val="0070C0"/>
                    </a:solidFill>
                  </a:rPr>
                  <a:t>．性质</a:t>
                </a:r>
              </a:p>
              <a:p>
                <a:pPr marL="385763" indent="-385763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𝒀𝑿</m:t>
                            </m:r>
                          </m:sub>
                        </m:sSub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385763" indent="-385763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𝒀𝑿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的实部为偶函数，虚部为奇函数</a:t>
                </a:r>
              </a:p>
              <a:p>
                <a:pPr marL="385763" indent="-385763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zh-CN" dirty="0"/>
              </a:p>
              <a:p>
                <a:pPr marL="385763" indent="-385763">
                  <a:lnSpc>
                    <a:spcPct val="150000"/>
                  </a:lnSpc>
                  <a:buFont typeface="+mj-ea"/>
                  <a:buAutoNum type="circleNumDbPlain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𝝅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/>
              </a:p>
              <a:p>
                <a:pPr marL="385763" indent="-385763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zh-CN" altLang="zh-CN" dirty="0"/>
                  <a:t>联合平稳 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＝</m:t>
                    </m:r>
                    <m:nary>
                      <m:nary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𝑿𝒀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𝝎𝝉</m:t>
                            </m:r>
                          </m:sup>
                        </m:sSup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zh-CN" altLang="zh-CN" dirty="0"/>
                  <a:t>，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𝑿𝒀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𝑿𝒀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𝝎𝝉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𝝎</m:t>
                      </m:r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071857D-534F-4B80-AAF2-9F565B42A0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737" y="919837"/>
                <a:ext cx="8382739" cy="4731155"/>
              </a:xfrm>
              <a:blipFill>
                <a:blip r:embed="rId2"/>
                <a:stretch>
                  <a:fillRect l="-873" t="-1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27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829376-3A66-4B97-837D-1FA41DBA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932213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3.6   </a:t>
            </a:r>
            <a:r>
              <a:rPr lang="zh-CN" altLang="zh-CN" dirty="0"/>
              <a:t>应用举例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FE208B2-398D-4CD3-9EBC-D0A641208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6042" y="1708499"/>
                <a:ext cx="8510778" cy="345127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3.13   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讨论随机相位正弦信号的广义平稳条件。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正弦随机信号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其中，随机变量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dirty="0"/>
                  <a:t>的均值为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zh-CN" dirty="0"/>
                  <a:t>方差为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的某种分布，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zh-CN" dirty="0"/>
                  <a:t>统计独立。讨论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的广义平稳性。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注： 随机变量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en-US" dirty="0"/>
                  <a:t>的特征函数</a:t>
                </a:r>
                <a:endParaRPr lang="zh-CN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FE208B2-398D-4CD3-9EBC-D0A641208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042" y="1708499"/>
                <a:ext cx="8510778" cy="3451272"/>
              </a:xfrm>
              <a:blipFill>
                <a:blip r:embed="rId2"/>
                <a:stretch>
                  <a:fillRect l="-8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705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F2D22FA-13EA-4C3C-9127-F8641FAD2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dirty="0"/>
                  <a:t>解：为了分析平稳性，需要计算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的均值与自相关函数。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b="1" i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）均值</m:t>
                      </m:r>
                    </m:oMath>
                  </m:oMathPara>
                </a14:m>
                <a:endParaRPr lang="en-US" altLang="zh-CN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𝐴𝑐𝑜𝑠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zh-CN" altLang="zh-CN" dirty="0"/>
                  <a:t>利用欧拉公式：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𝛩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, </a:t>
                </a:r>
                <a:r>
                  <a:rPr lang="zh-CN" altLang="zh-CN" dirty="0"/>
                  <a:t>有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zh-CN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9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𝛩</m:t>
                                </m:r>
                              </m:sup>
                            </m:sSup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𝛩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 </a:t>
                </a:r>
              </a:p>
              <a:p>
                <a:pPr marL="0" indent="0" algn="r">
                  <a:lnSpc>
                    <a:spcPct val="150000"/>
                  </a:lnSpc>
                  <a:spcBef>
                    <a:spcPts val="900"/>
                  </a:spcBef>
                  <a:buNone/>
                </a:pPr>
                <a:r>
                  <a:rPr lang="en-US" altLang="zh-CN" dirty="0"/>
                  <a:t>      			   (3.32)</a:t>
                </a: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F2D22FA-13EA-4C3C-9127-F8641FAD2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r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56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830C6D1-CC3B-4A12-B991-91F3EF70D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又根据特征函数的定义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zh-CN" altLang="en-US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b="0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i="1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en-US" dirty="0"/>
                  <a:t>有：</a:t>
                </a:r>
                <a:endParaRPr lang="en-US" altLang="zh-CN" dirty="0"/>
              </a:p>
              <a:p>
                <a:pPr marL="0" indent="0" algn="ctr"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i="1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𝛩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𝛩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因此，当且仅当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(1)=0</m:t>
                    </m:r>
                  </m:oMath>
                </a14:m>
                <a:r>
                  <a:rPr lang="zh-CN" altLang="zh-CN" dirty="0"/>
                  <a:t>时，</a:t>
                </a:r>
                <a:endParaRPr lang="en-US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)]=0</m:t>
                    </m:r>
                  </m:oMath>
                </a14:m>
                <a:r>
                  <a:rPr lang="zh-CN" altLang="zh-CN" dirty="0">
                    <a:solidFill>
                      <a:srgbClr val="FF0000"/>
                    </a:solidFill>
                  </a:rPr>
                  <a:t>（常数）</a:t>
                </a:r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2830C6D1-CC3B-4A12-B991-91F3EF70D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1" t="-1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48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F3BB9E2-2B5B-4E29-982F-3478C190C5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545" y="1063656"/>
                <a:ext cx="8316158" cy="460791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75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a:t>2</a:t>
                </a:r>
                <a:r>
                  <a:rPr lang="zh-CN" altLang="en-US" sz="2475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a:t>）自相关函数</a:t>
                </a:r>
                <a:endParaRPr lang="en-US" altLang="zh-CN" sz="2475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dirty="0"/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𝑐𝑜𝑠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zh-CN" dirty="0"/>
              </a:p>
              <a:p>
                <a:pPr marL="0" indent="0">
                  <a:lnSpc>
                    <a:spcPct val="17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对于上式中的</a:t>
                </a:r>
                <a:r>
                  <a:rPr lang="zh-CN" altLang="en-US" dirty="0"/>
                  <a:t>右边</a:t>
                </a:r>
                <a:r>
                  <a:rPr lang="zh-CN" altLang="zh-CN" dirty="0"/>
                  <a:t>第二项，</a:t>
                </a:r>
                <a:r>
                  <a:rPr lang="zh-CN" altLang="en-US" dirty="0"/>
                  <a:t>同样</a:t>
                </a:r>
                <a:r>
                  <a:rPr lang="zh-CN" altLang="zh-CN" dirty="0"/>
                  <a:t>利用欧拉公式，并参照式（</a:t>
                </a:r>
                <a:r>
                  <a:rPr lang="en-US" altLang="zh-CN" dirty="0"/>
                  <a:t>3.32</a:t>
                </a:r>
                <a:r>
                  <a:rPr lang="zh-CN" altLang="zh-CN" dirty="0"/>
                  <a:t>）的结果，得到</a:t>
                </a:r>
              </a:p>
              <a:p>
                <a:pPr marL="0" indent="0">
                  <a:lnSpc>
                    <a:spcPct val="17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𝛩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𝛩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dirty="0"/>
                  <a:t>因此，当且仅当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(2)=0</m:t>
                    </m:r>
                  </m:oMath>
                </a14:m>
                <a:r>
                  <a:rPr lang="zh-CN" altLang="zh-CN" dirty="0"/>
                  <a:t>时，上式为零，使得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F3BB9E2-2B5B-4E29-982F-3478C190C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545" y="1063656"/>
                <a:ext cx="8316158" cy="4607910"/>
              </a:xfrm>
              <a:blipFill>
                <a:blip r:embed="rId2"/>
                <a:stretch>
                  <a:fillRect l="-953" t="-2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764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0A6653D-2382-449A-85F0-A00973602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7772400" cy="445005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450"/>
                  </a:spcBef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可见，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随机相位正弦信号广义平稳条件的</a:t>
                </a:r>
                <a:r>
                  <a:rPr lang="zh-CN" altLang="zh-CN" dirty="0">
                    <a:solidFill>
                      <a:srgbClr val="FF0000"/>
                    </a:solidFill>
                    <a:highlight>
                      <a:srgbClr val="FFFF00"/>
                    </a:highlight>
                  </a:rPr>
                  <a:t>充要条件</a:t>
                </a:r>
                <a:r>
                  <a:rPr lang="zh-CN" altLang="zh-CN" dirty="0">
                    <a:highlight>
                      <a:srgbClr val="FFFF00"/>
                    </a:highlight>
                  </a:rPr>
                  <a:t>是</a:t>
                </a:r>
                <a:endParaRPr lang="en-US" altLang="zh-CN" dirty="0">
                  <a:highlight>
                    <a:srgbClr val="FFFF00"/>
                  </a:highlight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𝛩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(2)=0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此时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)]=0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dirty="0"/>
                  <a:t>例如，当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服从均匀分布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时</a:t>
                </a:r>
                <a:r>
                  <a:rPr lang="en-US" altLang="zh-CN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𝛩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func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dirty="0"/>
                  <a:t>，符合上述条件，因而是广义平稳的。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0A6653D-2382-449A-85F0-A00973602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7772400" cy="4450051"/>
              </a:xfrm>
              <a:blipFill>
                <a:blip r:embed="rId2"/>
                <a:stretch>
                  <a:fillRect l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7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A0048C-C3F0-4948-B501-29871FC23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1208" y="1180367"/>
                <a:ext cx="7935405" cy="4089339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>
                    <a:solidFill>
                      <a:srgbClr val="FF0000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3.14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讨论乘法调制输出信号的功率谱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乘法调制输出信号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，其中，相位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服从均匀分布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zh-CN" altLang="zh-CN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为实广义平稳随机信号，其功率谱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如图</a:t>
                </a:r>
                <a:r>
                  <a:rPr lang="en-US" altLang="zh-CN" dirty="0"/>
                  <a:t>3.13(a)</a:t>
                </a:r>
                <a:r>
                  <a:rPr lang="zh-CN" altLang="zh-CN" dirty="0"/>
                  <a:t>所示，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</m:oMath>
                </a14:m>
                <a:r>
                  <a:rPr lang="zh-CN" altLang="zh-CN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统计独立。</a:t>
                </a:r>
              </a:p>
              <a:p>
                <a:pPr marL="0" indent="0">
                  <a:buNone/>
                </a:pP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3A0048C-C3F0-4948-B501-29871FC23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1208" y="1180367"/>
                <a:ext cx="7935405" cy="4089339"/>
              </a:xfrm>
              <a:blipFill>
                <a:blip r:embed="rId3"/>
                <a:stretch>
                  <a:fillRect l="-922" r="-3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7">
            <a:extLst>
              <a:ext uri="{FF2B5EF4-FFF2-40B4-BE49-F238E27FC236}">
                <a16:creationId xmlns:a16="http://schemas.microsoft.com/office/drawing/2014/main" id="{3EAFBD19-BACB-49B2-95A6-C950FEF15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412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E565E1B-8273-4102-A87D-493619C9C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1709" y="325587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E90C0BE-3F06-4F2C-821E-BB21C14F1B8D}"/>
              </a:ext>
            </a:extLst>
          </p:cNvPr>
          <p:cNvGrpSpPr/>
          <p:nvPr/>
        </p:nvGrpSpPr>
        <p:grpSpPr>
          <a:xfrm>
            <a:off x="1856232" y="3380994"/>
            <a:ext cx="4889981" cy="1830509"/>
            <a:chOff x="2474976" y="3364991"/>
            <a:chExt cx="6519974" cy="244067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A037834E-9C2F-4175-8C8A-7652BDFF59E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474976" y="3364991"/>
                <a:ext cx="2677637" cy="16885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02" name="Visio" r:id="rId4" imgW="5989488" imgH="3794884" progId="Visio.Drawing.15">
                        <p:embed/>
                      </p:oleObj>
                    </mc:Choice>
                    <mc:Fallback>
                      <p:oleObj name="Visio" r:id="rId4" imgW="5989488" imgH="3794884" progId="Visio.Drawing.15">
                        <p:embed/>
                        <p:pic>
                          <p:nvPicPr>
                            <p:cNvPr id="10" name="对象 9">
                              <a:extLst>
                                <a:ext uri="{FF2B5EF4-FFF2-40B4-BE49-F238E27FC236}">
                                  <a16:creationId xmlns:a16="http://schemas.microsoft.com/office/drawing/2014/main" id="{A037834E-9C2F-4175-8C8A-7652BDFF59E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4976" y="3364991"/>
                              <a:ext cx="2677637" cy="168858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0" name="对象 9">
                  <a:extLst>
                    <a:ext uri="{FF2B5EF4-FFF2-40B4-BE49-F238E27FC236}">
                      <a16:creationId xmlns:a16="http://schemas.microsoft.com/office/drawing/2014/main" id="{A037834E-9C2F-4175-8C8A-7652BDFF59E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10942850"/>
                    </p:ext>
                  </p:extLst>
                </p:nvPr>
              </p:nvGraphicFramePr>
              <p:xfrm>
                <a:off x="2474976" y="3364991"/>
                <a:ext cx="2677637" cy="1688583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56" name="Visio" r:id="rId6" imgW="5989488" imgH="3794884" progId="Visio.Drawing.15">
                        <p:embed/>
                      </p:oleObj>
                    </mc:Choice>
                    <mc:Fallback>
                      <p:oleObj name="Visio" r:id="rId6" imgW="5989488" imgH="3794884" progId="Visio.Drawing.15">
                        <p:embed/>
                        <p:pic>
                          <p:nvPicPr>
                            <p:cNvPr id="0" name="Object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474976" y="3364991"/>
                              <a:ext cx="2677637" cy="1688583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对象 11">
                  <a:extLst>
                    <a:ext uri="{FF2B5EF4-FFF2-40B4-BE49-F238E27FC236}">
                      <a16:creationId xmlns:a16="http://schemas.microsoft.com/office/drawing/2014/main" id="{0CBE35AD-C9A9-485A-A7B5-3D5057C3633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051329" y="3429000"/>
                <a:ext cx="2943621" cy="156362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103" name="Visio" r:id="rId8" imgW="7337965" imgH="3863464" progId="Visio.Drawing.15">
                        <p:embed/>
                      </p:oleObj>
                    </mc:Choice>
                    <mc:Fallback>
                      <p:oleObj name="Visio" r:id="rId8" imgW="7337965" imgH="3863464" progId="Visio.Drawing.15">
                        <p:embed/>
                        <p:pic>
                          <p:nvPicPr>
                            <p:cNvPr id="12" name="对象 11">
                              <a:extLst>
                                <a:ext uri="{FF2B5EF4-FFF2-40B4-BE49-F238E27FC236}">
                                  <a16:creationId xmlns:a16="http://schemas.microsoft.com/office/drawing/2014/main" id="{0CBE35AD-C9A9-485A-A7B5-3D5057C3633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51329" y="3429000"/>
                              <a:ext cx="2943621" cy="15636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2" name="对象 11">
                  <a:extLst>
                    <a:ext uri="{FF2B5EF4-FFF2-40B4-BE49-F238E27FC236}">
                      <a16:creationId xmlns:a16="http://schemas.microsoft.com/office/drawing/2014/main" id="{0CBE35AD-C9A9-485A-A7B5-3D5057C3633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870927"/>
                    </p:ext>
                  </p:extLst>
                </p:nvPr>
              </p:nvGraphicFramePr>
              <p:xfrm>
                <a:off x="6051329" y="3429000"/>
                <a:ext cx="2943621" cy="1563621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57" name="Visio" r:id="rId10" imgW="7337965" imgH="3863464" progId="Visio.Drawing.15">
                        <p:embed/>
                      </p:oleObj>
                    </mc:Choice>
                    <mc:Fallback>
                      <p:oleObj name="Visio" r:id="rId10" imgW="7337965" imgH="3863464" progId="Visio.Drawing.15">
                        <p:embed/>
                        <p:pic>
                          <p:nvPicPr>
                            <p:cNvPr id="0" name="Object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051329" y="3429000"/>
                              <a:ext cx="2943621" cy="1563621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781D552-83C9-45F1-8169-4B3D2DD63D94}"/>
                </a:ext>
              </a:extLst>
            </p:cNvPr>
            <p:cNvSpPr/>
            <p:nvPr/>
          </p:nvSpPr>
          <p:spPr>
            <a:xfrm>
              <a:off x="3643053" y="5184816"/>
              <a:ext cx="4540132" cy="6208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00025" algn="ctr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3.13 </a:t>
              </a:r>
              <a:r>
                <a:rPr lang="zh-CN" altLang="zh-CN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乘法调制信号的功率谱</a:t>
              </a:r>
              <a:endParaRPr lang="zh-CN" altLang="zh-CN" sz="105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1375AFB-CF91-4E0D-B76E-E20F94D9EEDC}"/>
                    </a:ext>
                  </a:extLst>
                </p:cNvPr>
                <p:cNvSpPr txBox="1"/>
                <p:nvPr/>
              </p:nvSpPr>
              <p:spPr>
                <a:xfrm>
                  <a:off x="8043170" y="4656247"/>
                  <a:ext cx="5497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1375AFB-CF91-4E0D-B76E-E20F94D9EE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3170" y="4656247"/>
                  <a:ext cx="54972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D1304B2-B087-4975-A65A-CDB687FD4ED2}"/>
                    </a:ext>
                  </a:extLst>
                </p:cNvPr>
                <p:cNvSpPr txBox="1"/>
                <p:nvPr/>
              </p:nvSpPr>
              <p:spPr>
                <a:xfrm>
                  <a:off x="6477644" y="4656247"/>
                  <a:ext cx="703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DD1304B2-B087-4975-A65A-CDB687FD4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644" y="4656247"/>
                  <a:ext cx="70361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162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027A0E4-E81C-4C43-8892-BC9B0E4FD8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4213" y="1180367"/>
                <a:ext cx="8121459" cy="446376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解：例</a:t>
                </a:r>
                <a:r>
                  <a:rPr lang="en-US" altLang="zh-CN" dirty="0"/>
                  <a:t>3.3</a:t>
                </a:r>
                <a:r>
                  <a:rPr lang="zh-CN" altLang="zh-CN" dirty="0"/>
                  <a:t>中已说明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是广义平稳的，且自相关函数为 </a:t>
                </a:r>
                <a:r>
                  <a:rPr lang="en-US" altLang="zh-CN" dirty="0"/>
                  <a:t>                  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b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因此 </a:t>
                </a:r>
                <a:r>
                  <a:rPr lang="en-US" altLang="zh-CN" b="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)= 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zh-CN" b="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zh-CN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)∗</m:t>
                    </m:r>
                    <m:d>
                      <m:dPr>
                        <m:begChr m:val="{"/>
                        <m:endChr m:val="}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)+ 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d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0" dirty="0"/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zh-CN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dirty="0"/>
                  <a:t>如图</a:t>
                </a:r>
                <a:r>
                  <a:rPr lang="en-US" altLang="zh-CN" dirty="0"/>
                  <a:t>3.13(b)</a:t>
                </a:r>
                <a:r>
                  <a:rPr lang="zh-CN" altLang="zh-CN" dirty="0"/>
                  <a:t>所示。调制使得信号的功率谱平移到±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dirty="0"/>
                  <a:t>处，其基本原理与信号与系统等课程中所介绍的类似。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027A0E4-E81C-4C43-8892-BC9B0E4FD8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1180367"/>
                <a:ext cx="8121459" cy="4463767"/>
              </a:xfrm>
              <a:blipFill>
                <a:blip r:embed="rId3"/>
                <a:stretch>
                  <a:fillRect l="-900" r="-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45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AF9E865-624C-4B01-AD24-2B60B0CF0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作业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总结课程有关公式</a:t>
            </a:r>
            <a:endParaRPr lang="en-US" altLang="zh-CN" dirty="0"/>
          </a:p>
          <a:p>
            <a:r>
              <a:rPr lang="zh-CN" altLang="en-US" dirty="0"/>
              <a:t>课堂练习题错题分析</a:t>
            </a:r>
            <a:endParaRPr lang="en-US" altLang="zh-CN" dirty="0"/>
          </a:p>
          <a:p>
            <a:r>
              <a:rPr lang="zh-CN" altLang="en-US" dirty="0"/>
              <a:t>习题：</a:t>
            </a:r>
            <a:r>
              <a:rPr lang="en-US" altLang="zh-CN" dirty="0"/>
              <a:t>3.19</a:t>
            </a:r>
            <a:r>
              <a:rPr lang="zh-CN" altLang="en-US" dirty="0"/>
              <a:t>、</a:t>
            </a:r>
            <a:r>
              <a:rPr lang="en-US" altLang="zh-CN" dirty="0"/>
              <a:t>3.20</a:t>
            </a:r>
            <a:r>
              <a:rPr lang="zh-CN" altLang="en-US" dirty="0"/>
              <a:t>、</a:t>
            </a:r>
            <a:r>
              <a:rPr lang="en-US" altLang="zh-CN" dirty="0"/>
              <a:t>3.21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）（</a:t>
            </a:r>
            <a:r>
              <a:rPr lang="en-US" altLang="zh-CN" dirty="0"/>
              <a:t>3</a:t>
            </a:r>
            <a:r>
              <a:rPr lang="zh-CN" altLang="en-US" dirty="0"/>
              <a:t>）（</a:t>
            </a:r>
            <a:r>
              <a:rPr lang="en-US" altLang="zh-CN" dirty="0"/>
              <a:t>5</a:t>
            </a:r>
            <a:r>
              <a:rPr lang="zh-CN" altLang="en-US" dirty="0"/>
              <a:t>）、</a:t>
            </a:r>
            <a:r>
              <a:rPr lang="en-US" altLang="zh-CN" dirty="0"/>
              <a:t>3.23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04096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8092</TotalTime>
  <Words>2932</Words>
  <Application>Microsoft Office PowerPoint</Application>
  <PresentationFormat>全屏显示(4:3)</PresentationFormat>
  <Paragraphs>298</Paragraphs>
  <Slides>40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2" baseType="lpstr">
      <vt:lpstr>Arial Unicode MS</vt:lpstr>
      <vt:lpstr>等线</vt:lpstr>
      <vt:lpstr>方正粗黑宋简体</vt:lpstr>
      <vt:lpstr>仿宋_GB2312</vt:lpstr>
      <vt:lpstr>黑体</vt:lpstr>
      <vt:lpstr>楷体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Visio</vt:lpstr>
      <vt:lpstr>PowerPoint 演示文稿</vt:lpstr>
      <vt:lpstr>第三章  平稳性与功率谱密度</vt:lpstr>
      <vt:lpstr>学习目标</vt:lpstr>
      <vt:lpstr>3.4  功率谱密度和互功率谱密度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3.6   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871</cp:revision>
  <dcterms:created xsi:type="dcterms:W3CDTF">2012-07-10T00:46:24Z</dcterms:created>
  <dcterms:modified xsi:type="dcterms:W3CDTF">2024-11-14T11:16:43Z</dcterms:modified>
</cp:coreProperties>
</file>