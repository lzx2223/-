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3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theme/theme4.xml" ContentType="application/vnd.openxmlformats-officedocument.theme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  <p:sldMasterId id="2147483660" r:id="rId2"/>
    <p:sldMasterId id="2147483686" r:id="rId3"/>
    <p:sldMasterId id="2147483690" r:id="rId4"/>
    <p:sldMasterId id="2147483708" r:id="rId5"/>
  </p:sldMasterIdLst>
  <p:notesMasterIdLst>
    <p:notesMasterId r:id="rId47"/>
  </p:notesMasterIdLst>
  <p:handoutMasterIdLst>
    <p:handoutMasterId r:id="rId48"/>
  </p:handoutMasterIdLst>
  <p:sldIdLst>
    <p:sldId id="360" r:id="rId6"/>
    <p:sldId id="256" r:id="rId7"/>
    <p:sldId id="278" r:id="rId8"/>
    <p:sldId id="279" r:id="rId9"/>
    <p:sldId id="257" r:id="rId10"/>
    <p:sldId id="258" r:id="rId11"/>
    <p:sldId id="286" r:id="rId12"/>
    <p:sldId id="361" r:id="rId13"/>
    <p:sldId id="259" r:id="rId14"/>
    <p:sldId id="264" r:id="rId15"/>
    <p:sldId id="265" r:id="rId16"/>
    <p:sldId id="266" r:id="rId17"/>
    <p:sldId id="260" r:id="rId18"/>
    <p:sldId id="317" r:id="rId19"/>
    <p:sldId id="319" r:id="rId20"/>
    <p:sldId id="314" r:id="rId21"/>
    <p:sldId id="315" r:id="rId22"/>
    <p:sldId id="316" r:id="rId23"/>
    <p:sldId id="320" r:id="rId24"/>
    <p:sldId id="322" r:id="rId25"/>
    <p:sldId id="323" r:id="rId26"/>
    <p:sldId id="281" r:id="rId27"/>
    <p:sldId id="282" r:id="rId28"/>
    <p:sldId id="261" r:id="rId29"/>
    <p:sldId id="262" r:id="rId30"/>
    <p:sldId id="263" r:id="rId31"/>
    <p:sldId id="267" r:id="rId32"/>
    <p:sldId id="283" r:id="rId33"/>
    <p:sldId id="287" r:id="rId34"/>
    <p:sldId id="268" r:id="rId35"/>
    <p:sldId id="271" r:id="rId36"/>
    <p:sldId id="272" r:id="rId37"/>
    <p:sldId id="273" r:id="rId38"/>
    <p:sldId id="274" r:id="rId39"/>
    <p:sldId id="275" r:id="rId40"/>
    <p:sldId id="324" r:id="rId41"/>
    <p:sldId id="276" r:id="rId42"/>
    <p:sldId id="327" r:id="rId43"/>
    <p:sldId id="325" r:id="rId44"/>
    <p:sldId id="326" r:id="rId45"/>
    <p:sldId id="280" r:id="rId46"/>
  </p:sldIdLst>
  <p:sldSz cx="9144000" cy="6858000" type="screen4x3"/>
  <p:notesSz cx="6858000" cy="9144000"/>
  <p:defaultTextStyle>
    <a:defPPr>
      <a:defRPr lang="es-E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LENOVO USER" initials="LU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showAnimation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305"/>
    <a:srgbClr val="D09E00"/>
    <a:srgbClr val="FFD347"/>
    <a:srgbClr val="B88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84283" autoAdjust="0"/>
  </p:normalViewPr>
  <p:slideViewPr>
    <p:cSldViewPr>
      <p:cViewPr>
        <p:scale>
          <a:sx n="66" d="100"/>
          <a:sy n="66" d="100"/>
        </p:scale>
        <p:origin x="917" y="5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100" d="100"/>
        <a:sy n="100" d="100"/>
      </p:scale>
      <p:origin x="0" y="1302"/>
    </p:cViewPr>
  </p:sorterViewPr>
  <p:notesViewPr>
    <p:cSldViewPr>
      <p:cViewPr varScale="1">
        <p:scale>
          <a:sx n="66" d="100"/>
          <a:sy n="66" d="100"/>
        </p:scale>
        <p:origin x="1579" y="53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notesMaster" Target="notesMasters/notesMaster1.xml"/><Relationship Id="rId50" Type="http://schemas.openxmlformats.org/officeDocument/2006/relationships/presProps" Target="presProps.xml"/><Relationship Id="rId7" Type="http://schemas.openxmlformats.org/officeDocument/2006/relationships/slide" Target="slides/slide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53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handoutMaster" Target="handoutMasters/handoutMaster1.xml"/><Relationship Id="rId8" Type="http://schemas.openxmlformats.org/officeDocument/2006/relationships/slide" Target="slides/slide3.xml"/><Relationship Id="rId51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7215D6-64B5-4D81-A068-018BC9D15C70}" type="datetimeFigureOut">
              <a:rPr lang="zh-CN" altLang="en-US" smtClean="0"/>
              <a:pPr/>
              <a:t>2024/11/1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B1B2BF-B727-4E7D-871C-58E4727485F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60344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634918-EEE7-4DA3-9986-E691913FFCBE}" type="datetimeFigureOut">
              <a:rPr lang="zh-CN" altLang="en-US" smtClean="0"/>
              <a:pPr/>
              <a:t>2024/11/1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544D2F-56DD-4976-9716-D18248F9480C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58736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baike.baidu.com/item/%E6%9F%AF%E8%A5%BF%E5%88%86%E5%B8%83/5021907?fromModule=lemma_inlink" TargetMode="External"/><Relationship Id="rId7" Type="http://schemas.openxmlformats.org/officeDocument/2006/relationships/hyperlink" Target="https://baike.baidu.com/item/%E9%9A%8F%E6%9C%BA%E5%8F%98%E9%87%8F/828980?fromModule=lemma_inlink" TargetMode="External"/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baike.baidu.com/item/%E6%A6%82%E7%8E%87%E5%88%86%E5%B8%83/828907?fromModule=lemma_inlink" TargetMode="External"/><Relationship Id="rId5" Type="http://schemas.openxmlformats.org/officeDocument/2006/relationships/hyperlink" Target="https://baike.baidu.com/item/%E6%95%B0%E5%AD%A6%E6%9C%9F%E6%9C%9B/5362790?fromModule=lemma_inlink" TargetMode="External"/><Relationship Id="rId4" Type="http://schemas.openxmlformats.org/officeDocument/2006/relationships/hyperlink" Target="https://baike.baidu.com/item/%E5%B9%B3%E7%A8%B3%E9%9A%8F%E6%9C%BA%E8%BF%87%E7%A8%8B/8888123?fromModule=lemma_inlink" TargetMode="Externa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上课前要复习，温故知新！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544D2F-56DD-4976-9716-D18248F9480C}" type="slidenum">
              <a:rPr lang="zh-CN" altLang="en-US" smtClean="0">
                <a:solidFill>
                  <a:prstClr val="black"/>
                </a:solidFill>
              </a:rPr>
              <a:pPr/>
              <a:t>1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42257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544D2F-56DD-4976-9716-D18248F9480C}" type="slidenum">
              <a:rPr lang="zh-CN" altLang="en-US" smtClean="0"/>
              <a:pPr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66373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Stationary/Stationarity  </a:t>
            </a:r>
            <a:r>
              <a:rPr lang="zh-CN" altLang="en-US" dirty="0"/>
              <a:t>什么叫“平稳”？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544D2F-56DD-4976-9716-D18248F9480C}" type="slidenum">
              <a:rPr lang="zh-CN" altLang="en-US" smtClean="0"/>
              <a:pPr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41293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充分理解</a:t>
            </a:r>
            <a:r>
              <a:rPr lang="en-US" altLang="zh-CN" dirty="0"/>
              <a:t>n</a:t>
            </a:r>
            <a:r>
              <a:rPr lang="zh-CN" altLang="en-US" dirty="0"/>
              <a:t>维概率分布中维度的意义？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544D2F-56DD-4976-9716-D18248F9480C}" type="slidenum">
              <a:rPr lang="zh-CN" altLang="en-US" smtClean="0"/>
              <a:pPr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0381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注意定义形式，是关于</a:t>
            </a:r>
            <a:r>
              <a:rPr lang="en-US" altLang="zh-CN" dirty="0"/>
              <a:t>x</a:t>
            </a:r>
            <a:r>
              <a:rPr lang="zh-CN" altLang="en-US" dirty="0"/>
              <a:t>的积分，而不是关于</a:t>
            </a:r>
            <a:r>
              <a:rPr lang="en-US" altLang="zh-CN" dirty="0"/>
              <a:t>t</a:t>
            </a:r>
            <a:r>
              <a:rPr lang="zh-CN" altLang="en-US" dirty="0"/>
              <a:t>的积分！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544D2F-56DD-4976-9716-D18248F9480C}" type="slidenum">
              <a:rPr lang="zh-CN" altLang="en-US" smtClean="0"/>
              <a:pPr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50134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这些特点是严平稳的必要不充分条件！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544D2F-56DD-4976-9716-D18248F9480C}" type="slidenum">
              <a:rPr lang="zh-CN" altLang="en-US" smtClean="0"/>
              <a:pPr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78884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看明白这两个图！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544D2F-56DD-4976-9716-D18248F9480C}" type="slidenum">
              <a:rPr lang="zh-CN" altLang="en-US" smtClean="0"/>
              <a:pPr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18037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共轭是针对复信号，相乘后角度变为零！ </a:t>
            </a:r>
            <a:r>
              <a:rPr lang="en-US" altLang="zh-CN" dirty="0"/>
              <a:t>E(t) </a:t>
            </a:r>
            <a:r>
              <a:rPr lang="zh-CN" altLang="en-US"/>
              <a:t>存在与否？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544D2F-56DD-4976-9716-D18248F9480C}" type="slidenum">
              <a:rPr lang="zh-CN" altLang="en-US" smtClean="0"/>
              <a:pPr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528584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为什么取共轭？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544D2F-56DD-4976-9716-D18248F9480C}" type="slidenum">
              <a:rPr lang="zh-CN" altLang="en-US" smtClean="0"/>
              <a:pPr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074773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一个严平稳过程也不一定宽平稳过程。服从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柯西分布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的随机变量序列是严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/>
              </a:rPr>
              <a:t>平稳随机过程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，但不是宽平稳随机过程。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柯西分布是一个</a:t>
            </a:r>
            <a:r>
              <a:rPr lang="zh-CN" altLang="en-US" b="0" i="0" u="none" strike="noStrike" dirty="0">
                <a:solidFill>
                  <a:srgbClr val="136EC2"/>
                </a:solidFill>
                <a:effectLst/>
                <a:latin typeface="Helvetica Neue"/>
                <a:hlinkClick r:id="rId5"/>
              </a:rPr>
              <a:t>数学期望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不存在的连续型</a:t>
            </a:r>
            <a:r>
              <a:rPr lang="zh-CN" altLang="en-US" b="0" i="0" u="none" strike="noStrike" dirty="0">
                <a:solidFill>
                  <a:srgbClr val="136EC2"/>
                </a:solidFill>
                <a:effectLst/>
                <a:latin typeface="Helvetica Neue"/>
                <a:hlinkClick r:id="rId6"/>
              </a:rPr>
              <a:t>概率分布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。当</a:t>
            </a:r>
            <a:r>
              <a:rPr lang="zh-CN" altLang="en-US" b="0" i="0" u="none" strike="noStrike" dirty="0">
                <a:solidFill>
                  <a:srgbClr val="136EC2"/>
                </a:solidFill>
                <a:effectLst/>
                <a:latin typeface="Helvetica Neue"/>
                <a:hlinkClick r:id="rId7"/>
              </a:rPr>
              <a:t>随机变量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X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满足它的概率密度函数时，称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X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服从柯西分布。</a:t>
            </a:r>
            <a:endParaRPr lang="zh-CN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544D2F-56DD-4976-9716-D18248F9480C}" type="slidenum">
              <a:rPr lang="zh-CN" altLang="en-US" smtClean="0"/>
              <a:pPr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088457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E[A^2]=2sigma^2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544D2F-56DD-4976-9716-D18248F9480C}" type="slidenum">
              <a:rPr lang="zh-CN" altLang="en-US" smtClean="0"/>
              <a:pPr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966115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P45, 2.8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544D2F-56DD-4976-9716-D18248F9480C}" type="slidenum">
              <a:rPr lang="zh-CN" altLang="en-US" smtClean="0"/>
              <a:pPr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525513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为什么被称为半随机？ 时隙对齐，从</a:t>
            </a:r>
            <a:r>
              <a:rPr lang="en-US" altLang="zh-CN" dirty="0"/>
              <a:t>t=0</a:t>
            </a:r>
            <a:r>
              <a:rPr lang="zh-CN" altLang="en-US" dirty="0"/>
              <a:t>开始，精确同步，</a:t>
            </a:r>
            <a:r>
              <a:rPr lang="en-US" altLang="zh-CN" dirty="0"/>
              <a:t>P46</a:t>
            </a:r>
            <a:r>
              <a:rPr lang="zh-CN" altLang="en-US" dirty="0"/>
              <a:t>。 通信中同步非常重要！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544D2F-56DD-4976-9716-D18248F9480C}" type="slidenum">
              <a:rPr lang="zh-CN" altLang="en-US" smtClean="0"/>
              <a:pPr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757697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r>
                      <a:rPr lang="en-US" altLang="zh-CN" sz="12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2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sz="1200" i="1">
                        <a:latin typeface="Cambria Math" panose="02040503050406030204" pitchFamily="18" charset="0"/>
                      </a:rPr>
                      <m:t>)=</m:t>
                    </m:r>
                    <m:d>
                      <m:dPr>
                        <m:begChr m:val="{"/>
                        <m:endChr m:val=""/>
                        <m:ctrlPr>
                          <a:rPr lang="zh-CN" altLang="zh-CN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zh-CN" altLang="zh-CN" sz="1200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altLang="zh-CN" sz="1200" i="1">
                                <a:latin typeface="Cambria Math" panose="02040503050406030204" pitchFamily="18" charset="0"/>
                              </a:rPr>
                              <m:t>1,0≤</m:t>
                            </m:r>
                            <m:r>
                              <a:rPr lang="en-US" altLang="zh-CN" sz="12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CN" sz="1200" i="1">
                                <a:latin typeface="Cambria Math" panose="02040503050406030204" pitchFamily="18" charset="0"/>
                              </a:rPr>
                              <m:t>≤</m:t>
                            </m:r>
                            <m:r>
                              <a:rPr lang="en-US" altLang="zh-CN" sz="12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e>
                            <m:r>
                              <a:rPr lang="en-US" altLang="zh-CN" sz="1200" i="1">
                                <a:latin typeface="Cambria Math" panose="02040503050406030204" pitchFamily="18" charset="0"/>
                              </a:rPr>
                              <m:t>0,</m:t>
                            </m:r>
                            <m:r>
                              <a:rPr lang="en-US" altLang="zh-CN" sz="1200" i="1">
                                <a:latin typeface="Cambria Math" panose="02040503050406030204" pitchFamily="18" charset="0"/>
                              </a:rPr>
                              <m:t>𝑜𝑡h𝑒𝑟𝑤𝑖𝑠𝑒</m:t>
                            </m:r>
                          </m:e>
                        </m:eqArr>
                      </m:e>
                    </m:d>
                  </m:oMath>
                </a14:m>
                <a:r>
                  <a:rPr lang="en-US" altLang="zh-CN" dirty="0"/>
                  <a:t>P46 </a:t>
                </a:r>
                <a:r>
                  <a:rPr lang="zh-CN" altLang="en-US" dirty="0"/>
                  <a:t>自相关函数运算！</a:t>
                </a:r>
              </a:p>
            </p:txBody>
          </p:sp>
        </mc:Choice>
        <mc:Fallback xmlns="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zh-CN" dirty="0"/>
                  <a:t> </a:t>
                </a:r>
                <a:r>
                  <a:rPr lang="en-US" altLang="zh-CN" sz="1200" i="0">
                    <a:latin typeface="Cambria Math" panose="02040503050406030204" pitchFamily="18" charset="0"/>
                  </a:rPr>
                  <a:t>𝑃</a:t>
                </a:r>
                <a:r>
                  <a:rPr lang="zh-CN" altLang="zh-CN" sz="1200" i="0">
                    <a:latin typeface="Cambria Math" panose="02040503050406030204" pitchFamily="18" charset="0"/>
                  </a:rPr>
                  <a:t>_</a:t>
                </a:r>
                <a:r>
                  <a:rPr lang="en-US" altLang="zh-CN" sz="1200" i="0">
                    <a:latin typeface="Cambria Math" panose="02040503050406030204" pitchFamily="18" charset="0"/>
                  </a:rPr>
                  <a:t>𝑇 (𝑡)=</a:t>
                </a:r>
                <a:r>
                  <a:rPr lang="zh-CN" altLang="zh-CN" sz="1200" i="0">
                    <a:latin typeface="Cambria Math" panose="02040503050406030204" pitchFamily="18" charset="0"/>
                  </a:rPr>
                  <a:t>{█(</a:t>
                </a:r>
                <a:r>
                  <a:rPr lang="en-US" altLang="zh-CN" sz="1200" i="0">
                    <a:latin typeface="Cambria Math" panose="02040503050406030204" pitchFamily="18" charset="0"/>
                  </a:rPr>
                  <a:t>1,0≤𝑡≤𝑇@0,𝑜𝑡ℎ𝑒𝑟𝑤𝑖𝑠𝑒)┤</a:t>
                </a:r>
                <a:r>
                  <a:rPr lang="en-US" altLang="zh-CN" dirty="0"/>
                  <a:t>P46 </a:t>
                </a:r>
                <a:r>
                  <a:rPr lang="zh-CN" altLang="en-US" dirty="0"/>
                  <a:t>自相关函数运算！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544D2F-56DD-4976-9716-D18248F9480C}" type="slidenum">
              <a:rPr lang="zh-CN" altLang="en-US" smtClean="0"/>
              <a:pPr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58952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P47 </a:t>
            </a:r>
            <a:r>
              <a:rPr lang="zh-CN" altLang="en-US" dirty="0"/>
              <a:t>泊松过程  注意</a:t>
            </a:r>
            <a:r>
              <a:rPr lang="en-US" altLang="zh-CN" dirty="0"/>
              <a:t>min(</a:t>
            </a:r>
            <a:r>
              <a:rPr lang="en-US" altLang="zh-CN" dirty="0" err="1"/>
              <a:t>s,t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544D2F-56DD-4976-9716-D18248F9480C}" type="slidenum">
              <a:rPr lang="zh-CN" altLang="en-US" smtClean="0"/>
              <a:pPr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550177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大家注意该问题的思路！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544D2F-56DD-4976-9716-D18248F9480C}" type="slidenum">
              <a:rPr lang="zh-CN" altLang="en-US" smtClean="0"/>
              <a:pPr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314727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先证明广义平稳！ 需要明确一下是不是真会求？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544D2F-56DD-4976-9716-D18248F9480C}" type="slidenum">
              <a:rPr lang="zh-CN" altLang="en-US" smtClean="0"/>
              <a:pPr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803689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概念，计算方法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544D2F-56DD-4976-9716-D18248F9480C}" type="slidenum">
              <a:rPr lang="zh-CN" altLang="en-US" smtClean="0"/>
              <a:pPr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971027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544D2F-56DD-4976-9716-D18248F9480C}" type="slidenum">
              <a:rPr lang="zh-CN" altLang="en-US" smtClean="0"/>
              <a:pPr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59441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T</a:t>
            </a:r>
            <a:r>
              <a:rPr lang="zh-CN" altLang="en-US" dirty="0"/>
              <a:t>为一年，每年的十月一号。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544D2F-56DD-4976-9716-D18248F9480C}" type="slidenum">
              <a:rPr lang="zh-CN" altLang="en-US" smtClean="0"/>
              <a:pPr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733827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P70</a:t>
            </a:r>
            <a:r>
              <a:rPr lang="zh-CN" altLang="en-US" dirty="0"/>
              <a:t>，根据</a:t>
            </a:r>
            <a:r>
              <a:rPr lang="en-US" altLang="zh-CN" dirty="0"/>
              <a:t>5</a:t>
            </a:r>
            <a:r>
              <a:rPr lang="zh-CN" altLang="en-US" dirty="0"/>
              <a:t>个性质判断图形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544D2F-56DD-4976-9716-D18248F9480C}" type="slidenum">
              <a:rPr lang="zh-CN" altLang="en-US" smtClean="0"/>
              <a:pPr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573862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参照</a:t>
            </a:r>
            <a:r>
              <a:rPr lang="en-US" altLang="zh-CN" dirty="0"/>
              <a:t>P69</a:t>
            </a:r>
            <a:r>
              <a:rPr lang="zh-CN" altLang="en-US" dirty="0"/>
              <a:t>性质。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544D2F-56DD-4976-9716-D18248F9480C}" type="slidenum">
              <a:rPr lang="zh-CN" altLang="en-US" smtClean="0"/>
              <a:pPr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86458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FDD8F-1499-4C79-8BBC-577CD559A01B}" type="datetimeFigureOut">
              <a:rPr lang="zh-CN" altLang="en-US" smtClean="0"/>
              <a:pPr/>
              <a:t>2024/11/1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A5207-5CB9-460F-BBB4-8E3511E5430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81005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FDD8F-1499-4C79-8BBC-577CD559A01B}" type="datetimeFigureOut">
              <a:rPr lang="zh-CN" altLang="en-US" smtClean="0"/>
              <a:pPr/>
              <a:t>2024/11/1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A5207-5CB9-460F-BBB4-8E3511E5430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06456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FDD8F-1499-4C79-8BBC-577CD559A01B}" type="datetimeFigureOut">
              <a:rPr lang="zh-CN" altLang="en-US" smtClean="0"/>
              <a:pPr/>
              <a:t>2024/11/1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A5207-5CB9-460F-BBB4-8E3511E5430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73253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FDD8F-1499-4C79-8BBC-577CD559A01B}" type="datetimeFigureOut">
              <a:rPr lang="zh-CN" altLang="en-US" smtClean="0"/>
              <a:pPr/>
              <a:t>2024/11/1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A5207-5CB9-460F-BBB4-8E3511E5430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95638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FDD8F-1499-4C79-8BBC-577CD559A01B}" type="datetimeFigureOut">
              <a:rPr lang="zh-CN" altLang="en-US" smtClean="0"/>
              <a:pPr/>
              <a:t>2024/11/1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A5207-5CB9-460F-BBB4-8E3511E5430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52271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FDD8F-1499-4C79-8BBC-577CD559A01B}" type="datetimeFigureOut">
              <a:rPr lang="zh-CN" altLang="en-US" smtClean="0"/>
              <a:pPr/>
              <a:t>2024/11/1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A5207-5CB9-460F-BBB4-8E3511E5430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97071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FDD8F-1499-4C79-8BBC-577CD559A01B}" type="datetimeFigureOut">
              <a:rPr lang="zh-CN" altLang="en-US" smtClean="0"/>
              <a:pPr/>
              <a:t>2024/11/1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A5207-5CB9-460F-BBB4-8E3511E5430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01900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FDD8F-1499-4C79-8BBC-577CD559A01B}" type="datetimeFigureOut">
              <a:rPr lang="zh-CN" altLang="en-US" smtClean="0"/>
              <a:pPr/>
              <a:t>2024/11/1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A5207-5CB9-460F-BBB4-8E3511E5430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07858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FDD8F-1499-4C79-8BBC-577CD559A01B}" type="datetimeFigureOut">
              <a:rPr lang="zh-CN" altLang="en-US" smtClean="0"/>
              <a:pPr/>
              <a:t>2024/11/1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A5207-5CB9-460F-BBB4-8E3511E5430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11027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FDD8F-1499-4C79-8BBC-577CD559A01B}" type="datetimeFigureOut">
              <a:rPr lang="zh-CN" altLang="en-US" smtClean="0"/>
              <a:pPr/>
              <a:t>2024/11/1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A5207-5CB9-460F-BBB4-8E3511E5430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83556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FDD8F-1499-4C79-8BBC-577CD559A01B}" type="datetimeFigureOut">
              <a:rPr lang="zh-CN" altLang="en-US" smtClean="0"/>
              <a:pPr/>
              <a:t>2024/11/1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A5207-5CB9-460F-BBB4-8E3511E5430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87917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39855-D108-4DFB-8CB9-5769378610FC}" type="datetimeFigureOut">
              <a:rPr lang="zh-CN" altLang="en-US" smtClean="0"/>
              <a:pPr/>
              <a:t>2024/11/1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5CB5F-3147-4421-AB17-7961083DEE8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2518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39855-D108-4DFB-8CB9-5769378610FC}" type="datetimeFigureOut">
              <a:rPr lang="zh-CN" altLang="en-US" smtClean="0"/>
              <a:pPr/>
              <a:t>2024/11/1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5CB5F-3147-4421-AB17-7961083DEE8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14900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39855-D108-4DFB-8CB9-5769378610FC}" type="datetimeFigureOut">
              <a:rPr lang="zh-CN" altLang="en-US" smtClean="0"/>
              <a:pPr/>
              <a:t>2024/11/1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5CB5F-3147-4421-AB17-7961083DEE8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28297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39855-D108-4DFB-8CB9-5769378610FC}" type="datetimeFigureOut">
              <a:rPr lang="zh-CN" altLang="en-US" smtClean="0"/>
              <a:pPr/>
              <a:t>2024/11/1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5CB5F-3147-4421-AB17-7961083DEE8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88879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39855-D108-4DFB-8CB9-5769378610FC}" type="datetimeFigureOut">
              <a:rPr lang="zh-CN" altLang="en-US" smtClean="0"/>
              <a:pPr/>
              <a:t>2024/11/1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5CB5F-3147-4421-AB17-7961083DEE8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15047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39855-D108-4DFB-8CB9-5769378610FC}" type="datetimeFigureOut">
              <a:rPr lang="zh-CN" altLang="en-US" smtClean="0"/>
              <a:pPr/>
              <a:t>2024/11/1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5CB5F-3147-4421-AB17-7961083DEE8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588827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39855-D108-4DFB-8CB9-5769378610FC}" type="datetimeFigureOut">
              <a:rPr lang="zh-CN" altLang="en-US" smtClean="0"/>
              <a:pPr/>
              <a:t>2024/11/1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5CB5F-3147-4421-AB17-7961083DEE8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478443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39855-D108-4DFB-8CB9-5769378610FC}" type="datetimeFigureOut">
              <a:rPr lang="zh-CN" altLang="en-US" smtClean="0"/>
              <a:pPr/>
              <a:t>2024/11/1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5CB5F-3147-4421-AB17-7961083DEE8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039697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39855-D108-4DFB-8CB9-5769378610FC}" type="datetimeFigureOut">
              <a:rPr lang="zh-CN" altLang="en-US" smtClean="0"/>
              <a:pPr/>
              <a:t>2024/11/1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5CB5F-3147-4421-AB17-7961083DEE8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963648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39855-D108-4DFB-8CB9-5769378610FC}" type="datetimeFigureOut">
              <a:rPr lang="zh-CN" altLang="en-US" smtClean="0"/>
              <a:pPr/>
              <a:t>2024/11/1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5CB5F-3147-4421-AB17-7961083DEE8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017549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39855-D108-4DFB-8CB9-5769378610FC}" type="datetimeFigureOut">
              <a:rPr lang="zh-CN" altLang="en-US" smtClean="0"/>
              <a:pPr/>
              <a:t>2024/11/1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5CB5F-3147-4421-AB17-7961083DEE8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215650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s-ES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1306488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00E5B7-4980-4DCB-B895-755E41E90C37}" type="datetime1">
              <a:rPr lang="es-ES" altLang="zh-CN" smtClean="0">
                <a:solidFill>
                  <a:prstClr val="black"/>
                </a:solidFill>
              </a:rPr>
              <a:pPr>
                <a:defRPr/>
              </a:pPr>
              <a:t>01/11/2024</a:t>
            </a:fld>
            <a:endParaRPr lang="es-ES" dirty="0">
              <a:solidFill>
                <a:prstClr val="black"/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>
              <a:solidFill>
                <a:prstClr val="black"/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89EF8F-819D-4663-82E4-C10ECE9AAC28}" type="slidenum">
              <a:rPr lang="es-E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s-E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901803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endParaRPr lang="es-E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1"/>
          </p:nvPr>
        </p:nvSpPr>
        <p:spPr>
          <a:xfrm>
            <a:off x="0" y="6425952"/>
            <a:ext cx="1691680" cy="432048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s-ES" altLang="zh-CN">
                <a:solidFill>
                  <a:prstClr val="black"/>
                </a:solidFill>
              </a:rPr>
              <a:t>Wensheng Zhang</a:t>
            </a:r>
            <a:endParaRPr lang="es-E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358856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0" y="0"/>
            <a:ext cx="8173156" cy="1417638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s-E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s-ES" dirty="0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1306488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9C957B-D1FD-480F-B320-0EDA5B29C51F}" type="datetime1">
              <a:rPr lang="es-ES" altLang="zh-CN" smtClean="0">
                <a:solidFill>
                  <a:prstClr val="black"/>
                </a:solidFill>
              </a:rPr>
              <a:pPr>
                <a:defRPr/>
              </a:pPr>
              <a:t>01/11/2024</a:t>
            </a:fld>
            <a:endParaRPr lang="es-ES" dirty="0">
              <a:solidFill>
                <a:prstClr val="black"/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2627784" y="6381328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dirty="0">
              <a:solidFill>
                <a:prstClr val="black"/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ECF0F2-C070-45F9-912E-4BD4A0D78506}" type="slidenum">
              <a:rPr lang="es-E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s-E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274640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>
                <a:solidFill>
                  <a:srgbClr val="FF0000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199180506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19659"/>
          </a:xfrm>
        </p:spPr>
        <p:txBody>
          <a:bodyPr>
            <a:normAutofit/>
          </a:bodyPr>
          <a:lstStyle>
            <a:lvl1pPr algn="ctr">
              <a:defRPr sz="2700" b="1" baseline="0">
                <a:solidFill>
                  <a:srgbClr val="FF0000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10000"/>
              </a:lnSpc>
              <a:spcBef>
                <a:spcPts val="900"/>
              </a:spcBef>
              <a:defRPr sz="2100" b="1" baseline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1pPr>
            <a:lvl2pPr>
              <a:lnSpc>
                <a:spcPct val="110000"/>
              </a:lnSpc>
              <a:spcBef>
                <a:spcPts val="900"/>
              </a:spcBef>
              <a:defRPr sz="1800" b="1" baseline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2pPr>
            <a:lvl3pPr>
              <a:lnSpc>
                <a:spcPct val="110000"/>
              </a:lnSpc>
              <a:spcBef>
                <a:spcPts val="900"/>
              </a:spcBef>
              <a:defRPr sz="1800" b="1" baseline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3pPr>
            <a:lvl4pPr>
              <a:lnSpc>
                <a:spcPct val="110000"/>
              </a:lnSpc>
              <a:spcBef>
                <a:spcPts val="900"/>
              </a:spcBef>
              <a:defRPr sz="1800" b="1" baseline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4pPr>
            <a:lvl5pPr>
              <a:lnSpc>
                <a:spcPct val="110000"/>
              </a:lnSpc>
              <a:spcBef>
                <a:spcPts val="900"/>
              </a:spcBef>
              <a:defRPr sz="1800" b="1" baseline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15156317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3752041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0743" y="234841"/>
            <a:ext cx="8229600" cy="67432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98766862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00114" y="1484313"/>
            <a:ext cx="3775075" cy="504031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827588" y="1484313"/>
            <a:ext cx="3776662" cy="504031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11189" y="6381750"/>
            <a:ext cx="2447925" cy="400050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solidFill>
                  <a:srgbClr val="000000"/>
                </a:solidFill>
                <a:latin typeface="Comic Sans MS" panose="030F0702030302020204" pitchFamily="66" charset="0"/>
              </a:defRPr>
            </a:lvl1pPr>
          </a:lstStyle>
          <a:p>
            <a:pPr>
              <a:defRPr/>
            </a:pPr>
            <a:r>
              <a:rPr lang="en-US" altLang="zh-CN"/>
              <a:t>Copyrights Zhu, Weihong</a:t>
            </a:r>
            <a:r>
              <a:rPr lang="en-US" altLang="zh-CN">
                <a:latin typeface="Tahoma" panose="020B0604030504040204" pitchFamily="34" charset="0"/>
              </a:rPr>
              <a:t> 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352800" y="6324600"/>
            <a:ext cx="2895600" cy="457200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solidFill>
                  <a:srgbClr val="000000"/>
                </a:solidFill>
                <a:latin typeface="Comic Sans MS" panose="030F0702030302020204" pitchFamily="66" charset="0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56979703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4213" y="404815"/>
            <a:ext cx="8134350" cy="82867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85800" y="1412877"/>
            <a:ext cx="3771900" cy="49688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10100" y="1412877"/>
            <a:ext cx="3771900" cy="49688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1371600" y="6248400"/>
            <a:ext cx="1905000" cy="457200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solidFill>
                  <a:srgbClr val="000000"/>
                </a:solidFill>
                <a:latin typeface="Comic Sans MS" panose="030F0702030302020204" pitchFamily="66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549073" y="6400800"/>
            <a:ext cx="2895600" cy="457200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solidFill>
                  <a:srgbClr val="000000"/>
                </a:solidFill>
                <a:latin typeface="Comic Sans MS" panose="030F0702030302020204" pitchFamily="66" charset="0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92098347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40"/>
            <a:ext cx="8229600" cy="81438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66725" y="1196977"/>
            <a:ext cx="4046538" cy="48228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65664" y="1196977"/>
            <a:ext cx="4046537" cy="233521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65664" y="3684588"/>
            <a:ext cx="4046537" cy="233521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Rectangle 3"/>
          <p:cNvSpPr>
            <a:spLocks noGrp="1" noChangeArrowheads="1"/>
          </p:cNvSpPr>
          <p:nvPr>
            <p:ph type="ftr" sz="quarter" idx="10"/>
          </p:nvPr>
        </p:nvSpPr>
        <p:spPr>
          <a:xfrm>
            <a:off x="3028950" y="6356352"/>
            <a:ext cx="3086100" cy="365125"/>
          </a:xfrm>
          <a:prstGeom prst="rect">
            <a:avLst/>
          </a:prstGeom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1" fontAlgn="base" hangingPunct="1">
              <a:spcBef>
                <a:spcPct val="0"/>
              </a:spcBef>
              <a:spcAft>
                <a:spcPct val="0"/>
              </a:spcAft>
              <a:defRPr>
                <a:solidFill>
                  <a:srgbClr val="898989"/>
                </a:solidFill>
                <a:latin typeface="Comic Sans MS" panose="030F0702030302020204" pitchFamily="66" charset="0"/>
              </a:defRPr>
            </a:lvl1pPr>
          </a:lstStyle>
          <a:p>
            <a:pPr>
              <a:defRPr/>
            </a:pPr>
            <a:r>
              <a:rPr lang="en-US" altLang="zh-CN"/>
              <a:t>	                                                                </a:t>
            </a:r>
            <a:fld id="{2ABEFC1A-4DB4-4CD2-A93A-BB13247C28F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dt" sz="half" idx="11"/>
          </p:nvPr>
        </p:nvSpPr>
        <p:spPr>
          <a:xfrm>
            <a:off x="628650" y="6356352"/>
            <a:ext cx="2057400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solidFill>
                  <a:srgbClr val="000000"/>
                </a:solidFill>
                <a:latin typeface="Comic Sans MS" panose="030F0702030302020204" pitchFamily="66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4571343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277201"/>
            <a:ext cx="7772400" cy="712546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>
          <a:xfrm>
            <a:off x="628650" y="6356352"/>
            <a:ext cx="2057400" cy="365125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028950" y="6356352"/>
            <a:ext cx="3086100" cy="365125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457950" y="6356352"/>
            <a:ext cx="2057400" cy="365125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fld id="{BF47E86D-3368-47CB-907D-8EA39BDBA84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1661702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1" y="624254"/>
            <a:ext cx="8255000" cy="5395546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426478290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1_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81063" y="214313"/>
            <a:ext cx="8062912" cy="91916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576264" y="1368427"/>
            <a:ext cx="8351837" cy="5300663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dt" sz="half" idx="10"/>
          </p:nvPr>
        </p:nvSpPr>
        <p:spPr>
          <a:xfrm>
            <a:off x="1162050" y="6243638"/>
            <a:ext cx="1905000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ftr" sz="quarter" idx="11"/>
          </p:nvPr>
        </p:nvSpPr>
        <p:spPr>
          <a:xfrm>
            <a:off x="3671888" y="6400800"/>
            <a:ext cx="2895600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r>
              <a:rPr lang="en-US" altLang="zh-CN"/>
              <a:t>copyright  </a:t>
            </a:r>
            <a:r>
              <a:rPr lang="zh-CN" altLang="en-US"/>
              <a:t>朱维红</a:t>
            </a:r>
            <a:endParaRPr lang="en-US" altLang="zh-CN"/>
          </a:p>
        </p:txBody>
      </p:sp>
      <p:sp>
        <p:nvSpPr>
          <p:cNvPr id="6" name="Rectangle 14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fld id="{8D6CB5DB-820B-4257-AA8E-6DE44A776946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5009594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dt" sz="half" idx="10"/>
          </p:nvPr>
        </p:nvSpPr>
        <p:spPr>
          <a:xfrm>
            <a:off x="1162050" y="6243638"/>
            <a:ext cx="1905000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ftr" sz="quarter" idx="11"/>
          </p:nvPr>
        </p:nvSpPr>
        <p:spPr>
          <a:xfrm>
            <a:off x="3671888" y="6400800"/>
            <a:ext cx="2895600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r>
              <a:rPr lang="en-US" altLang="zh-CN"/>
              <a:t>copyright  </a:t>
            </a:r>
            <a:r>
              <a:rPr lang="zh-CN" altLang="en-US"/>
              <a:t>朱维红</a:t>
            </a:r>
            <a:endParaRPr lang="en-US" altLang="zh-CN"/>
          </a:p>
        </p:txBody>
      </p:sp>
      <p:sp>
        <p:nvSpPr>
          <p:cNvPr id="6" name="Rectangle 14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fld id="{5ED79246-7E55-4F6D-9798-0975818FCCC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4666244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881063" y="214313"/>
            <a:ext cx="8062912" cy="91916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576264" y="1368425"/>
            <a:ext cx="4098925" cy="2573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827588" y="1368425"/>
            <a:ext cx="4100512" cy="2573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576264" y="4094165"/>
            <a:ext cx="4098925" cy="25749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827588" y="4094165"/>
            <a:ext cx="4100512" cy="25749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12"/>
          <p:cNvSpPr>
            <a:spLocks noGrp="1" noChangeArrowheads="1"/>
          </p:cNvSpPr>
          <p:nvPr>
            <p:ph type="dt" sz="half" idx="10"/>
          </p:nvPr>
        </p:nvSpPr>
        <p:spPr>
          <a:xfrm>
            <a:off x="1162050" y="6243638"/>
            <a:ext cx="1905000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3"/>
          <p:cNvSpPr>
            <a:spLocks noGrp="1" noChangeArrowheads="1"/>
          </p:cNvSpPr>
          <p:nvPr>
            <p:ph type="ftr" sz="quarter" idx="11"/>
          </p:nvPr>
        </p:nvSpPr>
        <p:spPr>
          <a:xfrm>
            <a:off x="3671888" y="6400800"/>
            <a:ext cx="2895600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r>
              <a:rPr lang="en-US" altLang="zh-CN"/>
              <a:t>copyright  </a:t>
            </a:r>
            <a:r>
              <a:rPr lang="zh-CN" altLang="en-US"/>
              <a:t>朱维红</a:t>
            </a:r>
            <a:endParaRPr lang="en-US" altLang="zh-CN"/>
          </a:p>
        </p:txBody>
      </p:sp>
      <p:sp>
        <p:nvSpPr>
          <p:cNvPr id="9" name="Rectangle 14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fld id="{448E00CF-70E6-4210-B23A-8272C8897EC1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6627023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4213" y="536331"/>
            <a:ext cx="7772400" cy="534694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45693450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4213" y="386863"/>
            <a:ext cx="7772400" cy="549641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40155184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4213" y="457201"/>
            <a:ext cx="7772400" cy="5426075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86533028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4213" y="430823"/>
            <a:ext cx="7772400" cy="545245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892246319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4213" y="580293"/>
            <a:ext cx="7772400" cy="530298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53013288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>
                <a:solidFill>
                  <a:srgbClr val="FF0000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292991268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19659"/>
          </a:xfrm>
        </p:spPr>
        <p:txBody>
          <a:bodyPr>
            <a:normAutofit/>
          </a:bodyPr>
          <a:lstStyle>
            <a:lvl1pPr algn="ctr">
              <a:defRPr sz="2700" b="1" baseline="0">
                <a:solidFill>
                  <a:srgbClr val="FF0000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10000"/>
              </a:lnSpc>
              <a:spcBef>
                <a:spcPts val="900"/>
              </a:spcBef>
              <a:defRPr sz="2100" b="1" baseline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1pPr>
            <a:lvl2pPr>
              <a:lnSpc>
                <a:spcPct val="110000"/>
              </a:lnSpc>
              <a:spcBef>
                <a:spcPts val="900"/>
              </a:spcBef>
              <a:defRPr sz="1800" b="1" baseline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2pPr>
            <a:lvl3pPr>
              <a:lnSpc>
                <a:spcPct val="110000"/>
              </a:lnSpc>
              <a:spcBef>
                <a:spcPts val="900"/>
              </a:spcBef>
              <a:defRPr sz="1800" b="1" baseline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3pPr>
            <a:lvl4pPr>
              <a:lnSpc>
                <a:spcPct val="110000"/>
              </a:lnSpc>
              <a:spcBef>
                <a:spcPts val="900"/>
              </a:spcBef>
              <a:defRPr sz="1800" b="1" baseline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4pPr>
            <a:lvl5pPr>
              <a:lnSpc>
                <a:spcPct val="110000"/>
              </a:lnSpc>
              <a:spcBef>
                <a:spcPts val="900"/>
              </a:spcBef>
              <a:defRPr sz="1800" b="1" baseline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30273999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90296151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0743" y="234841"/>
            <a:ext cx="8229600" cy="67432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33063572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00114" y="1484313"/>
            <a:ext cx="3775075" cy="504031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827588" y="1484313"/>
            <a:ext cx="3776662" cy="504031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11189" y="6381750"/>
            <a:ext cx="2447925" cy="400050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solidFill>
                  <a:srgbClr val="000000"/>
                </a:solidFill>
                <a:latin typeface="Comic Sans MS" panose="030F0702030302020204" pitchFamily="66" charset="0"/>
              </a:defRPr>
            </a:lvl1pPr>
          </a:lstStyle>
          <a:p>
            <a:pPr>
              <a:defRPr/>
            </a:pPr>
            <a:r>
              <a:rPr lang="en-US" altLang="zh-CN"/>
              <a:t>Copyrights Zhu, Weihong</a:t>
            </a:r>
            <a:r>
              <a:rPr lang="en-US" altLang="zh-CN">
                <a:latin typeface="Tahoma" panose="020B0604030504040204" pitchFamily="34" charset="0"/>
              </a:rPr>
              <a:t> 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352800" y="6324600"/>
            <a:ext cx="2895600" cy="457200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solidFill>
                  <a:srgbClr val="000000"/>
                </a:solidFill>
                <a:latin typeface="Comic Sans MS" panose="030F0702030302020204" pitchFamily="66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5655991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4213" y="404815"/>
            <a:ext cx="8134350" cy="82867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85800" y="1412877"/>
            <a:ext cx="3771900" cy="49688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10100" y="1412877"/>
            <a:ext cx="3771900" cy="49688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1371600" y="6248400"/>
            <a:ext cx="1905000" cy="457200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solidFill>
                  <a:srgbClr val="000000"/>
                </a:solidFill>
                <a:latin typeface="Comic Sans MS" panose="030F0702030302020204" pitchFamily="66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549073" y="6400800"/>
            <a:ext cx="2895600" cy="457200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solidFill>
                  <a:srgbClr val="000000"/>
                </a:solidFill>
                <a:latin typeface="Comic Sans MS" panose="030F0702030302020204" pitchFamily="66" charset="0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562786106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40"/>
            <a:ext cx="8229600" cy="81438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66725" y="1196977"/>
            <a:ext cx="4046538" cy="48228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65664" y="1196977"/>
            <a:ext cx="4046537" cy="233521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65664" y="3684588"/>
            <a:ext cx="4046537" cy="233521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Rectangle 3"/>
          <p:cNvSpPr>
            <a:spLocks noGrp="1" noChangeArrowheads="1"/>
          </p:cNvSpPr>
          <p:nvPr>
            <p:ph type="ftr" sz="quarter" idx="10"/>
          </p:nvPr>
        </p:nvSpPr>
        <p:spPr>
          <a:xfrm>
            <a:off x="3028950" y="6356352"/>
            <a:ext cx="3086100" cy="365125"/>
          </a:xfrm>
          <a:prstGeom prst="rect">
            <a:avLst/>
          </a:prstGeom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1" fontAlgn="base" hangingPunct="1">
              <a:spcBef>
                <a:spcPct val="0"/>
              </a:spcBef>
              <a:spcAft>
                <a:spcPct val="0"/>
              </a:spcAft>
              <a:defRPr>
                <a:solidFill>
                  <a:srgbClr val="898989"/>
                </a:solidFill>
                <a:latin typeface="Comic Sans MS" panose="030F0702030302020204" pitchFamily="66" charset="0"/>
              </a:defRPr>
            </a:lvl1pPr>
          </a:lstStyle>
          <a:p>
            <a:pPr>
              <a:defRPr/>
            </a:pPr>
            <a:r>
              <a:rPr lang="en-US" altLang="zh-CN"/>
              <a:t>	                                                                </a:t>
            </a:r>
            <a:fld id="{2ABEFC1A-4DB4-4CD2-A93A-BB13247C28F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dt" sz="half" idx="11"/>
          </p:nvPr>
        </p:nvSpPr>
        <p:spPr>
          <a:xfrm>
            <a:off x="628650" y="6356352"/>
            <a:ext cx="2057400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solidFill>
                  <a:srgbClr val="000000"/>
                </a:solidFill>
                <a:latin typeface="Comic Sans MS" panose="030F0702030302020204" pitchFamily="66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1106709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277201"/>
            <a:ext cx="7772400" cy="712546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>
          <a:xfrm>
            <a:off x="628650" y="6356352"/>
            <a:ext cx="2057400" cy="365125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028950" y="6356352"/>
            <a:ext cx="3086100" cy="365125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457950" y="6356352"/>
            <a:ext cx="2057400" cy="365125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fld id="{BF47E86D-3368-47CB-907D-8EA39BDBA84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7333703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1" y="624254"/>
            <a:ext cx="8255000" cy="5395546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" name="Rectangle 3"/>
          <p:cNvSpPr>
            <a:spLocks noGrp="1" noChangeArrowheads="1"/>
          </p:cNvSpPr>
          <p:nvPr>
            <p:ph type="ftr" sz="quarter" idx="10"/>
          </p:nvPr>
        </p:nvSpPr>
        <p:spPr>
          <a:xfrm>
            <a:off x="3028950" y="6356352"/>
            <a:ext cx="3086100" cy="365125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r>
              <a:rPr lang="en-US" altLang="zh-CN"/>
              <a:t>Copyright by Hailiang Xiong</a:t>
            </a:r>
            <a:r>
              <a:rPr lang="zh-CN" altLang="en-US"/>
              <a:t>山东大学</a:t>
            </a:r>
            <a:r>
              <a:rPr lang="en-US" altLang="zh-CN">
                <a:latin typeface="Arial" panose="020B0604020202020204" pitchFamily="34" charset="0"/>
              </a:rPr>
              <a:t>	                                                                </a:t>
            </a:r>
            <a:fld id="{8FBAAC0D-07A3-4AB9-A234-A9E9A2F0A6FD}" type="slidenum">
              <a:rPr lang="en-US" altLang="zh-CN">
                <a:latin typeface="Arial" panose="020B0604020202020204" pitchFamily="34" charset="0"/>
              </a:rPr>
              <a:pPr>
                <a:defRPr/>
              </a:pPr>
              <a:t>‹#›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813360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1_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81063" y="214313"/>
            <a:ext cx="8062912" cy="91916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576264" y="1368427"/>
            <a:ext cx="8351837" cy="5300663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dt" sz="half" idx="10"/>
          </p:nvPr>
        </p:nvSpPr>
        <p:spPr>
          <a:xfrm>
            <a:off x="1162050" y="6243638"/>
            <a:ext cx="1905000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ftr" sz="quarter" idx="11"/>
          </p:nvPr>
        </p:nvSpPr>
        <p:spPr>
          <a:xfrm>
            <a:off x="3671888" y="6400800"/>
            <a:ext cx="2895600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r>
              <a:rPr lang="en-US" altLang="zh-CN"/>
              <a:t>copyright  </a:t>
            </a:r>
            <a:r>
              <a:rPr lang="zh-CN" altLang="en-US"/>
              <a:t>朱维红</a:t>
            </a:r>
            <a:endParaRPr lang="en-US" altLang="zh-CN"/>
          </a:p>
        </p:txBody>
      </p:sp>
      <p:sp>
        <p:nvSpPr>
          <p:cNvPr id="6" name="Rectangle 14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fld id="{8D6CB5DB-820B-4257-AA8E-6DE44A776946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67925358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dt" sz="half" idx="10"/>
          </p:nvPr>
        </p:nvSpPr>
        <p:spPr>
          <a:xfrm>
            <a:off x="1162050" y="6243638"/>
            <a:ext cx="1905000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ftr" sz="quarter" idx="11"/>
          </p:nvPr>
        </p:nvSpPr>
        <p:spPr>
          <a:xfrm>
            <a:off x="3671888" y="6400800"/>
            <a:ext cx="2895600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r>
              <a:rPr lang="en-US" altLang="zh-CN"/>
              <a:t>copyright  </a:t>
            </a:r>
            <a:r>
              <a:rPr lang="zh-CN" altLang="en-US"/>
              <a:t>朱维红</a:t>
            </a:r>
            <a:endParaRPr lang="en-US" altLang="zh-CN"/>
          </a:p>
        </p:txBody>
      </p:sp>
      <p:sp>
        <p:nvSpPr>
          <p:cNvPr id="6" name="Rectangle 14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fld id="{5ED79246-7E55-4F6D-9798-0975818FCCC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44797824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881063" y="214313"/>
            <a:ext cx="8062912" cy="91916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576264" y="1368425"/>
            <a:ext cx="4098925" cy="2573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827588" y="1368425"/>
            <a:ext cx="4100512" cy="2573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576264" y="4094165"/>
            <a:ext cx="4098925" cy="25749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827588" y="4094165"/>
            <a:ext cx="4100512" cy="25749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12"/>
          <p:cNvSpPr>
            <a:spLocks noGrp="1" noChangeArrowheads="1"/>
          </p:cNvSpPr>
          <p:nvPr>
            <p:ph type="dt" sz="half" idx="10"/>
          </p:nvPr>
        </p:nvSpPr>
        <p:spPr>
          <a:xfrm>
            <a:off x="1162050" y="6243638"/>
            <a:ext cx="1905000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3"/>
          <p:cNvSpPr>
            <a:spLocks noGrp="1" noChangeArrowheads="1"/>
          </p:cNvSpPr>
          <p:nvPr>
            <p:ph type="ftr" sz="quarter" idx="11"/>
          </p:nvPr>
        </p:nvSpPr>
        <p:spPr>
          <a:xfrm>
            <a:off x="3671888" y="6400800"/>
            <a:ext cx="2895600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r>
              <a:rPr lang="en-US" altLang="zh-CN"/>
              <a:t>copyright  </a:t>
            </a:r>
            <a:r>
              <a:rPr lang="zh-CN" altLang="en-US"/>
              <a:t>朱维红</a:t>
            </a:r>
            <a:endParaRPr lang="en-US" altLang="zh-CN"/>
          </a:p>
        </p:txBody>
      </p:sp>
      <p:sp>
        <p:nvSpPr>
          <p:cNvPr id="9" name="Rectangle 14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fld id="{448E00CF-70E6-4210-B23A-8272C8897EC1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94502126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4213" y="536331"/>
            <a:ext cx="7772400" cy="534694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133390543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4213" y="386863"/>
            <a:ext cx="7772400" cy="549641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195268531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4213" y="457201"/>
            <a:ext cx="7772400" cy="5426075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326580198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4213" y="430823"/>
            <a:ext cx="7772400" cy="545245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000799677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4213" y="580293"/>
            <a:ext cx="7772400" cy="530298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40956877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2.png"/><Relationship Id="rId5" Type="http://schemas.openxmlformats.org/officeDocument/2006/relationships/image" Target="../media/image1.jpeg"/><Relationship Id="rId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8.xml"/><Relationship Id="rId18" Type="http://schemas.openxmlformats.org/officeDocument/2006/relationships/theme" Target="../theme/theme4.xml"/><Relationship Id="rId3" Type="http://schemas.openxmlformats.org/officeDocument/2006/relationships/slideLayout" Target="../slideLayouts/slideLayout28.xml"/><Relationship Id="rId7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7.xml"/><Relationship Id="rId17" Type="http://schemas.openxmlformats.org/officeDocument/2006/relationships/slideLayout" Target="../slideLayouts/slideLayout42.xml"/><Relationship Id="rId2" Type="http://schemas.openxmlformats.org/officeDocument/2006/relationships/slideLayout" Target="../slideLayouts/slideLayout27.xml"/><Relationship Id="rId16" Type="http://schemas.openxmlformats.org/officeDocument/2006/relationships/slideLayout" Target="../slideLayouts/slideLayout41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0.xml"/><Relationship Id="rId15" Type="http://schemas.openxmlformats.org/officeDocument/2006/relationships/slideLayout" Target="../slideLayouts/slideLayout40.xml"/><Relationship Id="rId10" Type="http://schemas.openxmlformats.org/officeDocument/2006/relationships/slideLayout" Target="../slideLayouts/slideLayout35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Relationship Id="rId14" Type="http://schemas.openxmlformats.org/officeDocument/2006/relationships/slideLayout" Target="../slideLayouts/slideLayout39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0.xml"/><Relationship Id="rId13" Type="http://schemas.openxmlformats.org/officeDocument/2006/relationships/slideLayout" Target="../slideLayouts/slideLayout55.xml"/><Relationship Id="rId18" Type="http://schemas.openxmlformats.org/officeDocument/2006/relationships/theme" Target="../theme/theme5.xml"/><Relationship Id="rId3" Type="http://schemas.openxmlformats.org/officeDocument/2006/relationships/slideLayout" Target="../slideLayouts/slideLayout45.xml"/><Relationship Id="rId7" Type="http://schemas.openxmlformats.org/officeDocument/2006/relationships/slideLayout" Target="../slideLayouts/slideLayout49.xml"/><Relationship Id="rId12" Type="http://schemas.openxmlformats.org/officeDocument/2006/relationships/slideLayout" Target="../slideLayouts/slideLayout54.xml"/><Relationship Id="rId17" Type="http://schemas.openxmlformats.org/officeDocument/2006/relationships/slideLayout" Target="../slideLayouts/slideLayout59.xml"/><Relationship Id="rId2" Type="http://schemas.openxmlformats.org/officeDocument/2006/relationships/slideLayout" Target="../slideLayouts/slideLayout44.xml"/><Relationship Id="rId16" Type="http://schemas.openxmlformats.org/officeDocument/2006/relationships/slideLayout" Target="../slideLayouts/slideLayout58.xml"/><Relationship Id="rId1" Type="http://schemas.openxmlformats.org/officeDocument/2006/relationships/slideLayout" Target="../slideLayouts/slideLayout43.xml"/><Relationship Id="rId6" Type="http://schemas.openxmlformats.org/officeDocument/2006/relationships/slideLayout" Target="../slideLayouts/slideLayout48.xml"/><Relationship Id="rId11" Type="http://schemas.openxmlformats.org/officeDocument/2006/relationships/slideLayout" Target="../slideLayouts/slideLayout53.xml"/><Relationship Id="rId5" Type="http://schemas.openxmlformats.org/officeDocument/2006/relationships/slideLayout" Target="../slideLayouts/slideLayout47.xml"/><Relationship Id="rId15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6.xml"/><Relationship Id="rId9" Type="http://schemas.openxmlformats.org/officeDocument/2006/relationships/slideLayout" Target="../slideLayouts/slideLayout51.xml"/><Relationship Id="rId14" Type="http://schemas.openxmlformats.org/officeDocument/2006/relationships/slideLayout" Target="../slideLayouts/slideLayout5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9FDD8F-1499-4C79-8BBC-577CD559A01B}" type="datetimeFigureOut">
              <a:rPr lang="zh-CN" altLang="en-US" smtClean="0"/>
              <a:pPr/>
              <a:t>2024/11/1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6A5207-5CB9-460F-BBB4-8E3511E5430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46366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139855-D108-4DFB-8CB9-5769378610FC}" type="datetimeFigureOut">
              <a:rPr lang="zh-CN" altLang="en-US" smtClean="0"/>
              <a:pPr/>
              <a:t>2024/11/1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15CB5F-3147-4421-AB17-7961083DEE8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7910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8460432" y="6460772"/>
            <a:ext cx="71834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s-E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" name="Picture 2" descr="C:\Users\Administrator\Downloads\SDU.jpg"/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80080" y="3235"/>
            <a:ext cx="880064" cy="8367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直接连接符 7"/>
          <p:cNvCxnSpPr/>
          <p:nvPr userDrawn="1"/>
        </p:nvCxnSpPr>
        <p:spPr>
          <a:xfrm>
            <a:off x="0" y="1124744"/>
            <a:ext cx="9143022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2"/>
          <p:cNvPicPr>
            <a:picLocks noChangeAspect="1" noChangeArrowheads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6225" y="839047"/>
            <a:ext cx="1247775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863299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</p:sldLayoutIdLst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3048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zh-CN" dirty="0"/>
              <a:t>Klicken Sie, um das Titelformat zu bearbeiten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4213" y="1628775"/>
            <a:ext cx="7772400" cy="425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zh-CN" dirty="0"/>
              <a:t>Klicken Sie, um die Formate des Vorlagentextes zu bearbeiten</a:t>
            </a:r>
          </a:p>
          <a:p>
            <a:pPr lvl="1"/>
            <a:r>
              <a:rPr lang="de-DE" altLang="zh-CN" dirty="0"/>
              <a:t>Zweite Ebene</a:t>
            </a:r>
          </a:p>
          <a:p>
            <a:pPr lvl="2"/>
            <a:r>
              <a:rPr lang="de-DE" altLang="zh-CN" dirty="0"/>
              <a:t>Dritte Ebene</a:t>
            </a:r>
          </a:p>
          <a:p>
            <a:pPr lvl="3"/>
            <a:r>
              <a:rPr lang="de-DE" altLang="zh-CN" dirty="0"/>
              <a:t>Vierte Ebene</a:t>
            </a:r>
          </a:p>
        </p:txBody>
      </p:sp>
      <p:sp>
        <p:nvSpPr>
          <p:cNvPr id="1028" name="Line 4"/>
          <p:cNvSpPr>
            <a:spLocks noChangeShapeType="1"/>
          </p:cNvSpPr>
          <p:nvPr/>
        </p:nvSpPr>
        <p:spPr bwMode="auto">
          <a:xfrm flipV="1">
            <a:off x="591247" y="6389505"/>
            <a:ext cx="8064500" cy="0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auto">
          <a:xfrm>
            <a:off x="289062" y="6415221"/>
            <a:ext cx="10668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defRPr/>
            </a:pPr>
            <a:r>
              <a:rPr lang="de-DE" altLang="zh-CN" sz="900" dirty="0">
                <a:solidFill>
                  <a:srgbClr val="808080"/>
                </a:solidFill>
                <a:latin typeface="Arial" panose="020B0604020202020204" pitchFamily="34" charset="0"/>
              </a:rPr>
              <a:t>Slide </a:t>
            </a:r>
            <a:fld id="{ED94CCA2-7169-4BB5-975E-E6CC90B66E06}" type="slidenum">
              <a:rPr lang="de-DE" altLang="zh-CN" sz="900" smtClean="0">
                <a:solidFill>
                  <a:srgbClr val="808080"/>
                </a:solidFill>
                <a:latin typeface="Arial" panose="020B0604020202020204" pitchFamily="34" charset="0"/>
              </a:rPr>
              <a:pPr algn="r" eaLnBrk="1" hangingPunct="1">
                <a:defRPr/>
              </a:pPr>
              <a:t>‹#›</a:t>
            </a:fld>
            <a:endParaRPr lang="de-DE" altLang="zh-CN" sz="1050" dirty="0">
              <a:solidFill>
                <a:srgbClr val="000000"/>
              </a:solidFill>
              <a:latin typeface="Arial Black" panose="020B0A04020102020204" pitchFamily="34" charset="0"/>
            </a:endParaRPr>
          </a:p>
        </p:txBody>
      </p:sp>
      <p:sp>
        <p:nvSpPr>
          <p:cNvPr id="1030" name="Text Box 6"/>
          <p:cNvSpPr txBox="1">
            <a:spLocks noChangeArrowheads="1"/>
          </p:cNvSpPr>
          <p:nvPr/>
        </p:nvSpPr>
        <p:spPr bwMode="auto">
          <a:xfrm>
            <a:off x="2612555" y="6521901"/>
            <a:ext cx="3124200" cy="2539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050" b="1" kern="1200" dirty="0">
                <a:solidFill>
                  <a:schemeClr val="accent1">
                    <a:lumMod val="75000"/>
                  </a:schemeClr>
                </a:solidFill>
                <a:effectLst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随机信号分析   </a:t>
            </a:r>
            <a:r>
              <a:rPr lang="de-DE" altLang="zh-CN" sz="105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2023 </a:t>
            </a:r>
            <a:r>
              <a:rPr lang="en-US" altLang="zh-CN" sz="105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Fall</a:t>
            </a:r>
            <a:endParaRPr lang="zh-CN" altLang="de-DE" sz="105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208903" name="Text Box 7"/>
          <p:cNvSpPr txBox="1">
            <a:spLocks noChangeArrowheads="1"/>
          </p:cNvSpPr>
          <p:nvPr/>
        </p:nvSpPr>
        <p:spPr bwMode="auto">
          <a:xfrm>
            <a:off x="7808913" y="6461125"/>
            <a:ext cx="1295400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s-ES" sz="15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幼圆" panose="02010509060101010101" pitchFamily="49" charset="-122"/>
              </a:rPr>
              <a:t>山东大学</a:t>
            </a:r>
            <a:endParaRPr lang="zh-CN" altLang="en-US" sz="1500" b="1" dirty="0"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panose="020B0604020202020204" pitchFamily="34" charset="0"/>
              <a:ea typeface="幼圆" panose="02010509060101010101" pitchFamily="49" charset="-122"/>
            </a:endParaRPr>
          </a:p>
        </p:txBody>
      </p:sp>
      <p:sp>
        <p:nvSpPr>
          <p:cNvPr id="208904" name="Text Box 8"/>
          <p:cNvSpPr txBox="1">
            <a:spLocks noChangeArrowheads="1"/>
          </p:cNvSpPr>
          <p:nvPr/>
        </p:nvSpPr>
        <p:spPr bwMode="auto">
          <a:xfrm>
            <a:off x="5720272" y="6461126"/>
            <a:ext cx="2546350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s-ES" sz="1500" i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华文彩云" panose="02010800040101010101" pitchFamily="2" charset="-122"/>
              </a:rPr>
              <a:t>信息科学与工程学院</a:t>
            </a:r>
            <a:endParaRPr lang="zh-CN" altLang="en-US" sz="1500" i="1" dirty="0"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panose="020B0604020202020204" pitchFamily="34" charset="0"/>
              <a:ea typeface="华文彩云" panose="02010800040101010101" pitchFamily="2" charset="-122"/>
            </a:endParaRPr>
          </a:p>
        </p:txBody>
      </p:sp>
      <p:pic>
        <p:nvPicPr>
          <p:cNvPr id="1033" name="Picture 9"/>
          <p:cNvPicPr preferRelativeResize="0">
            <a:picLocks noChangeArrowheads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246" y="58913"/>
            <a:ext cx="540000" cy="720000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019791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  <p:sldLayoutId id="2147483707" r:id="rId17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2400" b="1" kern="1200" baseline="0">
          <a:solidFill>
            <a:srgbClr val="FF0000"/>
          </a:solidFill>
          <a:latin typeface="Times New Roman" panose="02020603050405020304" pitchFamily="18" charset="0"/>
          <a:ea typeface="隶书" panose="02010509060101010101" pitchFamily="49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342900" algn="ctr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685800" algn="ctr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028700" algn="ctr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1371600" algn="ctr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257175" indent="-257175" algn="l" rtl="0" eaLnBrk="0" fontAlgn="base" hangingPunct="0">
        <a:spcBef>
          <a:spcPct val="20000"/>
        </a:spcBef>
        <a:spcAft>
          <a:spcPct val="0"/>
        </a:spcAft>
        <a:buChar char="•"/>
        <a:defRPr sz="2100" b="1" kern="1200" baseline="0">
          <a:solidFill>
            <a:schemeClr val="tx1"/>
          </a:solidFill>
          <a:latin typeface="Times New Roman" panose="02020603050405020304" pitchFamily="18" charset="0"/>
          <a:ea typeface="楷体" panose="02010609060101010101" pitchFamily="49" charset="-122"/>
          <a:cs typeface="+mn-cs"/>
        </a:defRPr>
      </a:lvl1pPr>
      <a:lvl2pPr marL="557213" indent="-214313" algn="l" rtl="0" eaLnBrk="0" fontAlgn="base" hangingPunct="0">
        <a:spcBef>
          <a:spcPct val="20000"/>
        </a:spcBef>
        <a:spcAft>
          <a:spcPct val="0"/>
        </a:spcAft>
        <a:buChar char="–"/>
        <a:defRPr sz="1800" b="1" kern="1200" baseline="0">
          <a:solidFill>
            <a:schemeClr val="tx1"/>
          </a:solidFill>
          <a:latin typeface="Times New Roman" panose="02020603050405020304" pitchFamily="18" charset="0"/>
          <a:ea typeface="楷体" panose="02010609060101010101" pitchFamily="49" charset="-122"/>
          <a:cs typeface="+mn-cs"/>
        </a:defRPr>
      </a:lvl2pPr>
      <a:lvl3pPr marL="857250" indent="-171450" algn="l" rtl="0" eaLnBrk="0" fontAlgn="base" hangingPunct="0">
        <a:spcBef>
          <a:spcPct val="20000"/>
        </a:spcBef>
        <a:spcAft>
          <a:spcPct val="0"/>
        </a:spcAft>
        <a:buChar char="•"/>
        <a:defRPr sz="1500" b="1" kern="1200" baseline="0">
          <a:solidFill>
            <a:schemeClr val="tx1"/>
          </a:solidFill>
          <a:latin typeface="Times New Roman" panose="02020603050405020304" pitchFamily="18" charset="0"/>
          <a:ea typeface="楷体" panose="02010609060101010101" pitchFamily="49" charset="-122"/>
          <a:cs typeface="+mn-cs"/>
        </a:defRPr>
      </a:lvl3pPr>
      <a:lvl4pPr marL="1200150" indent="-171450" algn="l" rtl="0" eaLnBrk="0" fontAlgn="base" hangingPunct="0">
        <a:spcBef>
          <a:spcPct val="20000"/>
        </a:spcBef>
        <a:spcAft>
          <a:spcPct val="0"/>
        </a:spcAft>
        <a:buChar char="–"/>
        <a:defRPr sz="1500" b="1" kern="1200" baseline="0">
          <a:solidFill>
            <a:schemeClr val="tx1"/>
          </a:solidFill>
          <a:latin typeface="Times New Roman" panose="02020603050405020304" pitchFamily="18" charset="0"/>
          <a:ea typeface="楷体" panose="02010609060101010101" pitchFamily="49" charset="-122"/>
          <a:cs typeface="+mn-cs"/>
        </a:defRPr>
      </a:lvl4pPr>
      <a:lvl5pPr marL="1543050" indent="-171450" algn="l" rtl="0" eaLnBrk="0" fontAlgn="base" hangingPunct="0">
        <a:spcBef>
          <a:spcPct val="20000"/>
        </a:spcBef>
        <a:spcAft>
          <a:spcPct val="0"/>
        </a:spcAft>
        <a:buChar char="»"/>
        <a:defRPr sz="15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3048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zh-CN" dirty="0"/>
              <a:t>Klicken Sie, um das Titelformat zu bearbeiten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4213" y="1628775"/>
            <a:ext cx="7772400" cy="425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zh-CN" dirty="0"/>
              <a:t>Klicken Sie, um die Formate des Vorlagentextes zu bearbeiten</a:t>
            </a:r>
          </a:p>
          <a:p>
            <a:pPr lvl="1"/>
            <a:r>
              <a:rPr lang="de-DE" altLang="zh-CN" dirty="0"/>
              <a:t>Zweite Ebene</a:t>
            </a:r>
          </a:p>
          <a:p>
            <a:pPr lvl="2"/>
            <a:r>
              <a:rPr lang="de-DE" altLang="zh-CN" dirty="0"/>
              <a:t>Dritte Ebene</a:t>
            </a:r>
          </a:p>
          <a:p>
            <a:pPr lvl="3"/>
            <a:r>
              <a:rPr lang="de-DE" altLang="zh-CN" dirty="0"/>
              <a:t>Vierte Ebene</a:t>
            </a:r>
          </a:p>
        </p:txBody>
      </p:sp>
      <p:sp>
        <p:nvSpPr>
          <p:cNvPr id="1028" name="Line 4"/>
          <p:cNvSpPr>
            <a:spLocks noChangeShapeType="1"/>
          </p:cNvSpPr>
          <p:nvPr/>
        </p:nvSpPr>
        <p:spPr bwMode="auto">
          <a:xfrm flipV="1">
            <a:off x="591247" y="6389505"/>
            <a:ext cx="8064500" cy="0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auto">
          <a:xfrm>
            <a:off x="611560" y="6415220"/>
            <a:ext cx="504056" cy="3077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defRPr/>
            </a:pPr>
            <a:fld id="{ED94CCA2-7169-4BB5-975E-E6CC90B66E06}" type="slidenum">
              <a:rPr lang="de-DE" altLang="zh-CN" sz="1800" smtClean="0">
                <a:solidFill>
                  <a:srgbClr val="808080"/>
                </a:solidFill>
                <a:latin typeface="Arial" panose="020B0604020202020204" pitchFamily="34" charset="0"/>
              </a:rPr>
              <a:pPr algn="r" eaLnBrk="1" hangingPunct="1">
                <a:defRPr/>
              </a:pPr>
              <a:t>‹#›</a:t>
            </a:fld>
            <a:endParaRPr lang="de-DE" altLang="zh-CN" sz="1800" dirty="0">
              <a:solidFill>
                <a:srgbClr val="000000"/>
              </a:solidFill>
              <a:latin typeface="Arial Black" panose="020B0A04020102020204" pitchFamily="34" charset="0"/>
            </a:endParaRPr>
          </a:p>
        </p:txBody>
      </p:sp>
      <p:sp>
        <p:nvSpPr>
          <p:cNvPr id="1030" name="Text Box 6"/>
          <p:cNvSpPr txBox="1">
            <a:spLocks noChangeArrowheads="1"/>
          </p:cNvSpPr>
          <p:nvPr/>
        </p:nvSpPr>
        <p:spPr bwMode="auto">
          <a:xfrm>
            <a:off x="3190419" y="6422607"/>
            <a:ext cx="2588432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600" b="1" kern="1200" dirty="0">
                <a:solidFill>
                  <a:schemeClr val="accent1">
                    <a:lumMod val="75000"/>
                  </a:schemeClr>
                </a:solidFill>
                <a:effectLst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随机信号分析   </a:t>
            </a:r>
            <a:r>
              <a:rPr lang="de-DE" altLang="zh-CN" sz="16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2024 </a:t>
            </a:r>
            <a:r>
              <a:rPr lang="en-US" altLang="zh-CN" sz="16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Fall</a:t>
            </a:r>
            <a:endParaRPr lang="zh-CN" altLang="de-DE" sz="160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208903" name="Text Box 7"/>
          <p:cNvSpPr txBox="1">
            <a:spLocks noChangeArrowheads="1"/>
          </p:cNvSpPr>
          <p:nvPr/>
        </p:nvSpPr>
        <p:spPr bwMode="auto">
          <a:xfrm>
            <a:off x="7596336" y="6439619"/>
            <a:ext cx="129540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s-ES" sz="16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幼圆" panose="02010509060101010101" pitchFamily="49" charset="-122"/>
              </a:rPr>
              <a:t>山东大学</a:t>
            </a:r>
            <a:endParaRPr lang="zh-CN" altLang="en-US" sz="1600" b="1" dirty="0"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panose="020B0604020202020204" pitchFamily="34" charset="0"/>
              <a:ea typeface="幼圆" panose="020105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648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  <p:sldLayoutId id="2147483721" r:id="rId13"/>
    <p:sldLayoutId id="2147483722" r:id="rId14"/>
    <p:sldLayoutId id="2147483723" r:id="rId15"/>
    <p:sldLayoutId id="2147483724" r:id="rId16"/>
    <p:sldLayoutId id="2147483725" r:id="rId17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2400" b="1" kern="1200" baseline="0">
          <a:solidFill>
            <a:srgbClr val="FF0000"/>
          </a:solidFill>
          <a:latin typeface="Times New Roman" panose="02020603050405020304" pitchFamily="18" charset="0"/>
          <a:ea typeface="隶书" panose="02010509060101010101" pitchFamily="49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342900" algn="ctr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685800" algn="ctr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028700" algn="ctr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1371600" algn="ctr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257175" indent="-257175" algn="l" rtl="0" eaLnBrk="0" fontAlgn="base" hangingPunct="0">
        <a:spcBef>
          <a:spcPct val="20000"/>
        </a:spcBef>
        <a:spcAft>
          <a:spcPct val="0"/>
        </a:spcAft>
        <a:buChar char="•"/>
        <a:defRPr sz="2100" b="1" kern="1200" baseline="0">
          <a:solidFill>
            <a:schemeClr val="tx1"/>
          </a:solidFill>
          <a:latin typeface="Times New Roman" panose="02020603050405020304" pitchFamily="18" charset="0"/>
          <a:ea typeface="楷体" panose="02010609060101010101" pitchFamily="49" charset="-122"/>
          <a:cs typeface="+mn-cs"/>
        </a:defRPr>
      </a:lvl1pPr>
      <a:lvl2pPr marL="557213" indent="-214313" algn="l" rtl="0" eaLnBrk="0" fontAlgn="base" hangingPunct="0">
        <a:spcBef>
          <a:spcPct val="20000"/>
        </a:spcBef>
        <a:spcAft>
          <a:spcPct val="0"/>
        </a:spcAft>
        <a:buChar char="–"/>
        <a:defRPr sz="1800" b="1" kern="1200" baseline="0">
          <a:solidFill>
            <a:schemeClr val="tx1"/>
          </a:solidFill>
          <a:latin typeface="Times New Roman" panose="02020603050405020304" pitchFamily="18" charset="0"/>
          <a:ea typeface="楷体" panose="02010609060101010101" pitchFamily="49" charset="-122"/>
          <a:cs typeface="+mn-cs"/>
        </a:defRPr>
      </a:lvl2pPr>
      <a:lvl3pPr marL="857250" indent="-171450" algn="l" rtl="0" eaLnBrk="0" fontAlgn="base" hangingPunct="0">
        <a:spcBef>
          <a:spcPct val="20000"/>
        </a:spcBef>
        <a:spcAft>
          <a:spcPct val="0"/>
        </a:spcAft>
        <a:buChar char="•"/>
        <a:defRPr sz="1500" b="1" kern="1200" baseline="0">
          <a:solidFill>
            <a:schemeClr val="tx1"/>
          </a:solidFill>
          <a:latin typeface="Times New Roman" panose="02020603050405020304" pitchFamily="18" charset="0"/>
          <a:ea typeface="楷体" panose="02010609060101010101" pitchFamily="49" charset="-122"/>
          <a:cs typeface="+mn-cs"/>
        </a:defRPr>
      </a:lvl3pPr>
      <a:lvl4pPr marL="1200150" indent="-171450" algn="l" rtl="0" eaLnBrk="0" fontAlgn="base" hangingPunct="0">
        <a:spcBef>
          <a:spcPct val="20000"/>
        </a:spcBef>
        <a:spcAft>
          <a:spcPct val="0"/>
        </a:spcAft>
        <a:buChar char="–"/>
        <a:defRPr sz="1500" b="1" kern="1200" baseline="0">
          <a:solidFill>
            <a:schemeClr val="tx1"/>
          </a:solidFill>
          <a:latin typeface="Times New Roman" panose="02020603050405020304" pitchFamily="18" charset="0"/>
          <a:ea typeface="楷体" panose="02010609060101010101" pitchFamily="49" charset="-122"/>
          <a:cs typeface="+mn-cs"/>
        </a:defRPr>
      </a:lvl4pPr>
      <a:lvl5pPr marL="1543050" indent="-171450" algn="l" rtl="0" eaLnBrk="0" fontAlgn="base" hangingPunct="0">
        <a:spcBef>
          <a:spcPct val="20000"/>
        </a:spcBef>
        <a:spcAft>
          <a:spcPct val="0"/>
        </a:spcAft>
        <a:buChar char="»"/>
        <a:defRPr sz="15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4.xml"/><Relationship Id="rId4" Type="http://schemas.openxmlformats.org/officeDocument/2006/relationships/image" Target="../media/image5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1.xml"/><Relationship Id="rId4" Type="http://schemas.openxmlformats.org/officeDocument/2006/relationships/image" Target="../media/image6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1.xml"/><Relationship Id="rId4" Type="http://schemas.openxmlformats.org/officeDocument/2006/relationships/image" Target="../media/image7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image" Target="../media/image12.png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2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slideLayout" Target="../slideLayouts/slideLayout45.xml"/><Relationship Id="rId5" Type="http://schemas.openxmlformats.org/officeDocument/2006/relationships/tags" Target="../tags/tag5.xml"/><Relationship Id="rId10" Type="http://schemas.openxmlformats.org/officeDocument/2006/relationships/tags" Target="../tags/tag10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image" Target="../media/image9.tmp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1.xml"/><Relationship Id="rId4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1.xml"/><Relationship Id="rId4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5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1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tags" Target="../tags/tag18.xml"/><Relationship Id="rId13" Type="http://schemas.openxmlformats.org/officeDocument/2006/relationships/tags" Target="../tags/tag12.xml"/><Relationship Id="rId3" Type="http://schemas.openxmlformats.org/officeDocument/2006/relationships/tags" Target="../tags/tag13.xml"/><Relationship Id="rId7" Type="http://schemas.openxmlformats.org/officeDocument/2006/relationships/tags" Target="../tags/tag17.xml"/><Relationship Id="rId12" Type="http://schemas.openxmlformats.org/officeDocument/2006/relationships/notesSlide" Target="../notesSlides/notesSlide16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tags" Target="../tags/tag16.xml"/><Relationship Id="rId11" Type="http://schemas.openxmlformats.org/officeDocument/2006/relationships/slideLayout" Target="../slideLayouts/slideLayout45.xml"/><Relationship Id="rId5" Type="http://schemas.openxmlformats.org/officeDocument/2006/relationships/tags" Target="../tags/tag15.xml"/><Relationship Id="rId15" Type="http://schemas.openxmlformats.org/officeDocument/2006/relationships/image" Target="../media/image9.tmp"/><Relationship Id="rId10" Type="http://schemas.openxmlformats.org/officeDocument/2006/relationships/tags" Target="../tags/tag20.xml"/><Relationship Id="rId4" Type="http://schemas.openxmlformats.org/officeDocument/2006/relationships/tags" Target="../tags/tag14.xml"/><Relationship Id="rId9" Type="http://schemas.openxmlformats.org/officeDocument/2006/relationships/tags" Target="../tags/tag19.xml"/><Relationship Id="rId14" Type="http://schemas.openxmlformats.org/officeDocument/2006/relationships/image" Target="../media/image2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5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5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5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1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tags" Target="../tags/tag28.xml"/><Relationship Id="rId13" Type="http://schemas.openxmlformats.org/officeDocument/2006/relationships/tags" Target="../tags/tag22.xml"/><Relationship Id="rId3" Type="http://schemas.openxmlformats.org/officeDocument/2006/relationships/tags" Target="../tags/tag23.xml"/><Relationship Id="rId7" Type="http://schemas.openxmlformats.org/officeDocument/2006/relationships/tags" Target="../tags/tag27.xml"/><Relationship Id="rId12" Type="http://schemas.openxmlformats.org/officeDocument/2006/relationships/notesSlide" Target="../notesSlides/notesSlide19.xml"/><Relationship Id="rId2" Type="http://schemas.openxmlformats.org/officeDocument/2006/relationships/tags" Target="../tags/tag22.xml"/><Relationship Id="rId1" Type="http://schemas.openxmlformats.org/officeDocument/2006/relationships/tags" Target="../tags/tag21.xml"/><Relationship Id="rId6" Type="http://schemas.openxmlformats.org/officeDocument/2006/relationships/tags" Target="../tags/tag26.xml"/><Relationship Id="rId11" Type="http://schemas.openxmlformats.org/officeDocument/2006/relationships/slideLayout" Target="../slideLayouts/slideLayout45.xml"/><Relationship Id="rId5" Type="http://schemas.openxmlformats.org/officeDocument/2006/relationships/tags" Target="../tags/tag25.xml"/><Relationship Id="rId15" Type="http://schemas.openxmlformats.org/officeDocument/2006/relationships/image" Target="../media/image9.tmp"/><Relationship Id="rId10" Type="http://schemas.openxmlformats.org/officeDocument/2006/relationships/tags" Target="../tags/tag30.xml"/><Relationship Id="rId4" Type="http://schemas.openxmlformats.org/officeDocument/2006/relationships/tags" Target="../tags/tag24.xml"/><Relationship Id="rId9" Type="http://schemas.openxmlformats.org/officeDocument/2006/relationships/tags" Target="../tags/tag29.xml"/><Relationship Id="rId14" Type="http://schemas.openxmlformats.org/officeDocument/2006/relationships/image" Target="../media/image31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58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5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55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5.xml"/><Relationship Id="rId4" Type="http://schemas.openxmlformats.org/officeDocument/2006/relationships/image" Target="../media/image14.emf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tags" Target="../tags/tag38.xml"/><Relationship Id="rId13" Type="http://schemas.openxmlformats.org/officeDocument/2006/relationships/tags" Target="../tags/tag43.xml"/><Relationship Id="rId3" Type="http://schemas.openxmlformats.org/officeDocument/2006/relationships/tags" Target="../tags/tag33.xml"/><Relationship Id="rId7" Type="http://schemas.openxmlformats.org/officeDocument/2006/relationships/tags" Target="../tags/tag37.xml"/><Relationship Id="rId12" Type="http://schemas.openxmlformats.org/officeDocument/2006/relationships/tags" Target="../tags/tag42.xml"/><Relationship Id="rId17" Type="http://schemas.openxmlformats.org/officeDocument/2006/relationships/image" Target="../media/image9.tmp"/><Relationship Id="rId2" Type="http://schemas.openxmlformats.org/officeDocument/2006/relationships/tags" Target="../tags/tag32.xml"/><Relationship Id="rId16" Type="http://schemas.openxmlformats.org/officeDocument/2006/relationships/slideLayout" Target="../slideLayouts/slideLayout45.xml"/><Relationship Id="rId1" Type="http://schemas.openxmlformats.org/officeDocument/2006/relationships/tags" Target="../tags/tag31.xml"/><Relationship Id="rId6" Type="http://schemas.openxmlformats.org/officeDocument/2006/relationships/tags" Target="../tags/tag36.xml"/><Relationship Id="rId11" Type="http://schemas.openxmlformats.org/officeDocument/2006/relationships/tags" Target="../tags/tag41.xml"/><Relationship Id="rId5" Type="http://schemas.openxmlformats.org/officeDocument/2006/relationships/tags" Target="../tags/tag35.xml"/><Relationship Id="rId15" Type="http://schemas.openxmlformats.org/officeDocument/2006/relationships/tags" Target="../tags/tag45.xml"/><Relationship Id="rId10" Type="http://schemas.openxmlformats.org/officeDocument/2006/relationships/tags" Target="../tags/tag40.xml"/><Relationship Id="rId4" Type="http://schemas.openxmlformats.org/officeDocument/2006/relationships/tags" Target="../tags/tag34.xml"/><Relationship Id="rId9" Type="http://schemas.openxmlformats.org/officeDocument/2006/relationships/tags" Target="../tags/tag39.xml"/><Relationship Id="rId14" Type="http://schemas.openxmlformats.org/officeDocument/2006/relationships/tags" Target="../tags/tag4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5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55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55.xml"/><Relationship Id="rId4" Type="http://schemas.openxmlformats.org/officeDocument/2006/relationships/image" Target="../media/image44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55.xml"/><Relationship Id="rId4" Type="http://schemas.openxmlformats.org/officeDocument/2006/relationships/image" Target="../media/image46.png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 txBox="1">
            <a:spLocks/>
          </p:cNvSpPr>
          <p:nvPr/>
        </p:nvSpPr>
        <p:spPr>
          <a:xfrm>
            <a:off x="179512" y="512180"/>
            <a:ext cx="8496944" cy="1224136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lnSpc>
                <a:spcPts val="576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b="1" dirty="0">
                <a:solidFill>
                  <a:srgbClr val="C00000"/>
                </a:solidFill>
                <a:latin typeface="宋体"/>
              </a:rPr>
              <a:t>随机信号分析</a:t>
            </a:r>
            <a:endParaRPr lang="en-US" altLang="zh-CN" b="1" dirty="0">
              <a:solidFill>
                <a:srgbClr val="C00000"/>
              </a:solidFill>
              <a:latin typeface="宋体"/>
            </a:endParaRPr>
          </a:p>
          <a:p>
            <a:pPr fontAlgn="auto">
              <a:lnSpc>
                <a:spcPts val="576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Random signal analysis</a:t>
            </a:r>
            <a:endParaRPr lang="es-HN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115616" y="3933056"/>
            <a:ext cx="7488832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3600" b="1" dirty="0">
                <a:solidFill>
                  <a:prstClr val="white"/>
                </a:solidFill>
                <a:latin typeface="宋体"/>
              </a:rPr>
              <a:t>张文胜 </a:t>
            </a:r>
            <a:endParaRPr lang="en-US" altLang="zh-CN" sz="3600" b="1" dirty="0">
              <a:solidFill>
                <a:prstClr val="white"/>
              </a:solidFill>
              <a:latin typeface="宋体"/>
            </a:endParaRPr>
          </a:p>
          <a:p>
            <a:pPr algn="ctr"/>
            <a:r>
              <a:rPr lang="zh-CN" altLang="en-US" sz="2800" b="1" dirty="0">
                <a:solidFill>
                  <a:prstClr val="white"/>
                </a:solidFill>
                <a:latin typeface="宋体"/>
              </a:rPr>
              <a:t>微信：</a:t>
            </a:r>
            <a:r>
              <a:rPr lang="en-US" altLang="zh-CN" sz="2800" b="1" dirty="0">
                <a:solidFill>
                  <a:prstClr val="white"/>
                </a:solidFill>
                <a:latin typeface="宋体"/>
              </a:rPr>
              <a:t>15063339795  QQ:762329090</a:t>
            </a:r>
          </a:p>
          <a:p>
            <a:pPr algn="ctr"/>
            <a:r>
              <a:rPr lang="en-US" altLang="zh-CN" sz="2400" b="1" dirty="0">
                <a:solidFill>
                  <a:prstClr val="white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zhangwsh@sdu.edu.cn</a:t>
            </a:r>
          </a:p>
          <a:p>
            <a:pPr algn="ctr"/>
            <a:r>
              <a:rPr lang="en-US" altLang="zh-HK" sz="2400" b="1" dirty="0">
                <a:solidFill>
                  <a:prstClr val="white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zhang8181@gmail.com</a:t>
            </a:r>
          </a:p>
          <a:p>
            <a:pPr algn="ctr"/>
            <a:r>
              <a:rPr lang="en-US" altLang="zh-HK" sz="2000" b="1" dirty="0">
                <a:solidFill>
                  <a:prstClr val="white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School of Information Science and Engineering</a:t>
            </a:r>
          </a:p>
          <a:p>
            <a:pPr algn="ctr"/>
            <a:r>
              <a:rPr lang="en-US" altLang="zh-HK" sz="2400" b="1" dirty="0">
                <a:solidFill>
                  <a:prstClr val="white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Shandong University</a:t>
            </a:r>
            <a:endParaRPr lang="zh-TW" altLang="zh-HK" sz="2800" dirty="0">
              <a:solidFill>
                <a:prstClr val="white"/>
              </a:solidFill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  <a:p>
            <a:endParaRPr lang="zh-TW" altLang="zh-HK" sz="2400" dirty="0">
              <a:solidFill>
                <a:prstClr val="white"/>
              </a:solidFill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  <p:sp>
        <p:nvSpPr>
          <p:cNvPr id="6" name="1 Título"/>
          <p:cNvSpPr txBox="1">
            <a:spLocks/>
          </p:cNvSpPr>
          <p:nvPr/>
        </p:nvSpPr>
        <p:spPr>
          <a:xfrm>
            <a:off x="827584" y="2248402"/>
            <a:ext cx="7488832" cy="647576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lnSpc>
                <a:spcPts val="576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800" b="1" dirty="0">
                <a:cs typeface="Arial Unicode MS" pitchFamily="34" charset="-122"/>
              </a:rPr>
              <a:t>课程号</a:t>
            </a:r>
            <a:r>
              <a:rPr lang="en-US" altLang="zh-CN" sz="2800" b="1" dirty="0">
                <a:cs typeface="Arial Unicode MS" pitchFamily="34" charset="-122"/>
              </a:rPr>
              <a:t>: </a:t>
            </a:r>
            <a:r>
              <a:rPr lang="en-US" altLang="zh-CN" sz="2800" b="1" dirty="0"/>
              <a:t>sd01234090-1    </a:t>
            </a:r>
            <a:r>
              <a:rPr lang="zh-CN" altLang="en-US" sz="2800" b="1" dirty="0"/>
              <a:t>周五</a:t>
            </a:r>
            <a:r>
              <a:rPr lang="en-US" altLang="zh-CN" sz="2800" b="1" dirty="0"/>
              <a:t>5-6</a:t>
            </a:r>
            <a:r>
              <a:rPr lang="zh-CN" altLang="en-US" sz="2800" b="1" dirty="0"/>
              <a:t>节  </a:t>
            </a:r>
            <a:endParaRPr lang="en-US" altLang="zh-CN" sz="2800" b="1" dirty="0"/>
          </a:p>
          <a:p>
            <a:pPr fontAlgn="auto">
              <a:lnSpc>
                <a:spcPts val="576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800" b="1" dirty="0">
                <a:cs typeface="Arial Unicode MS" pitchFamily="34" charset="-122"/>
              </a:rPr>
              <a:t>振声苑</a:t>
            </a:r>
            <a:r>
              <a:rPr lang="en-US" altLang="zh-CN" sz="2800" b="1" dirty="0">
                <a:cs typeface="Arial Unicode MS" pitchFamily="34" charset="-122"/>
              </a:rPr>
              <a:t>W106</a:t>
            </a:r>
            <a:r>
              <a:rPr lang="zh-CN" altLang="en-US" sz="2800" b="1" dirty="0">
                <a:cs typeface="Arial Unicode MS" pitchFamily="34" charset="-122"/>
              </a:rPr>
              <a:t>，通信</a:t>
            </a:r>
            <a:r>
              <a:rPr lang="en-US" altLang="zh-CN" sz="2800" b="1" dirty="0">
                <a:cs typeface="Arial Unicode MS" pitchFamily="34" charset="-122"/>
              </a:rPr>
              <a:t>23[2-3]</a:t>
            </a:r>
            <a:r>
              <a:rPr lang="zh-CN" altLang="en-US" sz="2800" b="1" dirty="0">
                <a:cs typeface="Arial Unicode MS" pitchFamily="34" charset="-122"/>
              </a:rPr>
              <a:t>班，</a:t>
            </a:r>
            <a:r>
              <a:rPr lang="en-US" altLang="zh-CN" sz="2800" b="1" dirty="0">
                <a:cs typeface="Arial Unicode MS" pitchFamily="34" charset="-122"/>
              </a:rPr>
              <a:t>2024</a:t>
            </a:r>
            <a:r>
              <a:rPr lang="zh-CN" altLang="en-US" sz="2800" b="1" dirty="0">
                <a:cs typeface="Arial Unicode MS" pitchFamily="34" charset="-122"/>
              </a:rPr>
              <a:t>年秋</a:t>
            </a:r>
            <a:endParaRPr lang="es-HN" sz="2800" b="1" dirty="0">
              <a:cs typeface="Arial Unicode MS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701019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6A0A19-4259-4472-8BDE-77AEA81EF7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3568" y="836712"/>
            <a:ext cx="7632848" cy="792088"/>
          </a:xfrm>
        </p:spPr>
        <p:txBody>
          <a:bodyPr/>
          <a:lstStyle/>
          <a:p>
            <a:r>
              <a:rPr lang="zh-CN" altLang="zh-CN" sz="4000" dirty="0"/>
              <a:t>第三章</a:t>
            </a:r>
            <a:r>
              <a:rPr lang="en-US" altLang="zh-CN" sz="4000" dirty="0"/>
              <a:t>  </a:t>
            </a:r>
            <a:r>
              <a:rPr lang="zh-CN" altLang="zh-CN" sz="4000" dirty="0"/>
              <a:t>平稳性与功率谱密度</a:t>
            </a:r>
            <a:endParaRPr lang="zh-CN" altLang="en-US" sz="4000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3BE3613-3AC2-4074-AA6E-ABEEFF4B0813}"/>
              </a:ext>
            </a:extLst>
          </p:cNvPr>
          <p:cNvSpPr/>
          <p:nvPr/>
        </p:nvSpPr>
        <p:spPr>
          <a:xfrm>
            <a:off x="1475656" y="1844824"/>
            <a:ext cx="6408712" cy="3869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3.1 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平稳性与联合平稳性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3.2 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循环平稳性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3.3 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平稳信号的相关函数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3.4 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功率谱密度与互相关函数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3.5 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白噪声与热噪声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3.6 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应用举例</a:t>
            </a:r>
          </a:p>
        </p:txBody>
      </p:sp>
    </p:spTree>
    <p:extLst>
      <p:ext uri="{BB962C8B-B14F-4D97-AF65-F5344CB8AC3E}">
        <p14:creationId xmlns:p14="http://schemas.microsoft.com/office/powerpoint/2010/main" val="30855277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4EFF51-4D27-48C4-A8EB-072151994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60648"/>
            <a:ext cx="7886700" cy="1119659"/>
          </a:xfrm>
        </p:spPr>
        <p:txBody>
          <a:bodyPr>
            <a:normAutofit/>
          </a:bodyPr>
          <a:lstStyle/>
          <a:p>
            <a:r>
              <a:rPr lang="zh-CN" altLang="en-US" sz="4000" dirty="0"/>
              <a:t>本节学习内容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E89D7B5-1C7A-4AE7-95BC-60E8C24537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544" y="1628775"/>
            <a:ext cx="8676455" cy="4254500"/>
          </a:xfrm>
        </p:spPr>
        <p:txBody>
          <a:bodyPr/>
          <a:lstStyle/>
          <a:p>
            <a:pPr marL="385763" indent="-385763">
              <a:lnSpc>
                <a:spcPct val="150000"/>
              </a:lnSpc>
              <a:buAutoNum type="arabicPeriod"/>
            </a:pPr>
            <a:r>
              <a:rPr lang="zh-CN" altLang="en-US" sz="2800" dirty="0"/>
              <a:t>严格平稳性  </a:t>
            </a:r>
            <a:r>
              <a:rPr lang="en-US" altLang="zh-CN" sz="2000" dirty="0"/>
              <a:t>Strictly stationary</a:t>
            </a:r>
            <a:r>
              <a:rPr lang="zh-CN" altLang="en-US" sz="2000" dirty="0"/>
              <a:t>（</a:t>
            </a:r>
            <a:r>
              <a:rPr lang="en-US" altLang="zh-CN" sz="2000" dirty="0"/>
              <a:t>strong/complete/strict-sense SSS</a:t>
            </a:r>
            <a:r>
              <a:rPr lang="zh-CN" altLang="en-US" sz="2000" dirty="0"/>
              <a:t>）</a:t>
            </a:r>
            <a:endParaRPr lang="en-US" altLang="zh-CN" sz="2000" dirty="0"/>
          </a:p>
          <a:p>
            <a:pPr marL="385763" indent="-385763">
              <a:lnSpc>
                <a:spcPct val="150000"/>
              </a:lnSpc>
              <a:buAutoNum type="arabicPeriod"/>
            </a:pPr>
            <a:r>
              <a:rPr lang="zh-CN" altLang="en-US" sz="2800" dirty="0"/>
              <a:t>广义平稳性</a:t>
            </a:r>
            <a:r>
              <a:rPr lang="en-US" altLang="zh-CN" sz="2800" dirty="0"/>
              <a:t>  </a:t>
            </a:r>
            <a:r>
              <a:rPr lang="en-US" altLang="zh-CN" sz="2400" dirty="0"/>
              <a:t>Weakly stationary (widely/wide-sense WSS)</a:t>
            </a:r>
            <a:r>
              <a:rPr lang="en-US" altLang="zh-CN" sz="2800" dirty="0"/>
              <a:t>	</a:t>
            </a:r>
          </a:p>
          <a:p>
            <a:pPr marL="385763" indent="-385763">
              <a:lnSpc>
                <a:spcPct val="150000"/>
              </a:lnSpc>
              <a:buAutoNum type="arabicPeriod"/>
            </a:pPr>
            <a:r>
              <a:rPr lang="zh-CN" altLang="en-US" sz="2800" dirty="0"/>
              <a:t>联合平稳性</a:t>
            </a:r>
            <a:r>
              <a:rPr lang="en-US" altLang="zh-CN" sz="2800" dirty="0"/>
              <a:t>   Jointly stationary 		</a:t>
            </a:r>
          </a:p>
          <a:p>
            <a:pPr marL="385763" indent="-385763">
              <a:lnSpc>
                <a:spcPct val="150000"/>
              </a:lnSpc>
              <a:buAutoNum type="arabicPeriod"/>
            </a:pPr>
            <a:r>
              <a:rPr lang="zh-CN" altLang="en-US" sz="2800" dirty="0"/>
              <a:t>循环平稳性</a:t>
            </a:r>
            <a:r>
              <a:rPr lang="en-US" altLang="zh-CN" sz="2800" dirty="0"/>
              <a:t>   Cyclo-stationary		</a:t>
            </a:r>
          </a:p>
          <a:p>
            <a:pPr marL="385763" indent="-385763">
              <a:lnSpc>
                <a:spcPct val="150000"/>
              </a:lnSpc>
              <a:buAutoNum type="arabicPeriod"/>
            </a:pPr>
            <a:r>
              <a:rPr lang="zh-CN" altLang="en-US" sz="2800" dirty="0"/>
              <a:t>平稳信号的相关函数</a:t>
            </a:r>
            <a:r>
              <a:rPr lang="en-US" altLang="zh-CN" sz="2800" dirty="0"/>
              <a:t>	</a:t>
            </a:r>
            <a:r>
              <a:rPr lang="en-US" altLang="zh-CN" dirty="0"/>
              <a:t>		</a:t>
            </a:r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648348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F96B60-5B37-44A2-B36B-1BA4DDD1AF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4000" dirty="0"/>
              <a:t>学习目标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F08C4FD-B89A-4A3F-B68D-E484B11589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6" y="1628775"/>
            <a:ext cx="8352927" cy="42545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800" dirty="0"/>
              <a:t>定义、判断和区分严格平稳信号和广义平稳信号；</a:t>
            </a:r>
            <a:endParaRPr lang="en-US" altLang="zh-CN" sz="2800" dirty="0"/>
          </a:p>
          <a:p>
            <a:pPr>
              <a:lnSpc>
                <a:spcPct val="150000"/>
              </a:lnSpc>
            </a:pPr>
            <a:r>
              <a:rPr lang="zh-CN" altLang="en-US" sz="2800" dirty="0"/>
              <a:t>区分平稳信号和循环平稳信号；</a:t>
            </a:r>
            <a:endParaRPr lang="en-US" altLang="zh-CN" sz="2800" dirty="0"/>
          </a:p>
          <a:p>
            <a:pPr>
              <a:lnSpc>
                <a:spcPct val="150000"/>
              </a:lnSpc>
            </a:pPr>
            <a:r>
              <a:rPr lang="zh-CN" altLang="en-US" sz="2800" dirty="0">
                <a:highlight>
                  <a:srgbClr val="FFFF00"/>
                </a:highlight>
              </a:rPr>
              <a:t>写出平稳信号自相关函数的表达式</a:t>
            </a:r>
            <a:r>
              <a:rPr lang="zh-CN" altLang="en-US" sz="2800" dirty="0"/>
              <a:t>；</a:t>
            </a:r>
            <a:endParaRPr lang="en-US" altLang="zh-CN" sz="2800" dirty="0"/>
          </a:p>
          <a:p>
            <a:pPr>
              <a:lnSpc>
                <a:spcPct val="150000"/>
              </a:lnSpc>
            </a:pPr>
            <a:r>
              <a:rPr lang="zh-CN" altLang="en-US" sz="2800" dirty="0"/>
              <a:t>列举平稳信号自相关函数的性质。</a:t>
            </a:r>
          </a:p>
        </p:txBody>
      </p:sp>
    </p:spTree>
    <p:extLst>
      <p:ext uri="{BB962C8B-B14F-4D97-AF65-F5344CB8AC3E}">
        <p14:creationId xmlns:p14="http://schemas.microsoft.com/office/powerpoint/2010/main" val="14431767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94BA45-528E-4438-93A1-BFB10DCF89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537352"/>
            <a:ext cx="7886700" cy="657209"/>
          </a:xfrm>
        </p:spPr>
        <p:txBody>
          <a:bodyPr>
            <a:normAutofit/>
          </a:bodyPr>
          <a:lstStyle/>
          <a:p>
            <a:r>
              <a:rPr lang="en-US" altLang="zh-CN" sz="2800" dirty="0"/>
              <a:t>3.1  </a:t>
            </a:r>
            <a:r>
              <a:rPr lang="zh-CN" altLang="zh-CN" sz="2800" dirty="0"/>
              <a:t>平稳性与联合平稳性</a:t>
            </a:r>
            <a:endParaRPr lang="zh-CN" alt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679BD27D-5FD9-493C-9BDE-836A98C9309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1520" y="1484784"/>
                <a:ext cx="8420353" cy="4263007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altLang="zh-CN" sz="2400" dirty="0">
                    <a:solidFill>
                      <a:srgbClr val="FF0000"/>
                    </a:solidFill>
                  </a:rPr>
                  <a:t>3.1.1 </a:t>
                </a:r>
                <a:r>
                  <a:rPr lang="zh-CN" altLang="zh-CN" sz="2400" dirty="0">
                    <a:solidFill>
                      <a:srgbClr val="FF0000"/>
                    </a:solidFill>
                  </a:rPr>
                  <a:t>严格平稳信号与广义平稳信号</a:t>
                </a:r>
                <a:endParaRPr lang="en-US" altLang="zh-CN" sz="2400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r>
                  <a:rPr lang="x-none" altLang="zh-CN" sz="2000" dirty="0">
                    <a:solidFill>
                      <a:schemeClr val="accent2"/>
                    </a:solidFill>
                    <a:latin typeface="+mj-ea"/>
                    <a:ea typeface="+mj-ea"/>
                  </a:rPr>
                  <a:t>1</a:t>
                </a:r>
                <a:r>
                  <a:rPr lang="zh-CN" altLang="zh-CN" sz="2000" dirty="0">
                    <a:solidFill>
                      <a:schemeClr val="accent2"/>
                    </a:solidFill>
                    <a:latin typeface="+mj-ea"/>
                    <a:ea typeface="+mj-ea"/>
                  </a:rPr>
                  <a:t>．严格平稳信号</a:t>
                </a:r>
                <a:r>
                  <a:rPr lang="zh-CN" altLang="en-US" sz="2000" dirty="0">
                    <a:solidFill>
                      <a:schemeClr val="accent2"/>
                    </a:solidFill>
                    <a:latin typeface="+mj-ea"/>
                    <a:ea typeface="+mj-ea"/>
                  </a:rPr>
                  <a:t>：</a:t>
                </a:r>
                <a:r>
                  <a:rPr lang="zh-CN" altLang="zh-CN" sz="2000" dirty="0">
                    <a:solidFill>
                      <a:schemeClr val="accent2"/>
                    </a:solidFill>
                    <a:latin typeface="+mj-ea"/>
                    <a:ea typeface="+mj-ea"/>
                  </a:rPr>
                  <a:t>统计特性不随时间的推移变化</a:t>
                </a:r>
              </a:p>
              <a:p>
                <a:pPr marL="0" indent="0">
                  <a:buNone/>
                </a:pPr>
                <a:r>
                  <a:rPr lang="en-US" altLang="zh-CN" sz="2000" dirty="0"/>
                  <a:t>{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),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altLang="zh-CN" sz="2000" dirty="0"/>
                  <a:t> }</a:t>
                </a:r>
                <a:r>
                  <a:rPr lang="zh-CN" altLang="zh-CN" sz="2000" dirty="0"/>
                  <a:t>， 任意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en-US" altLang="zh-CN" sz="2000"/>
                      <m:t>     </m:t>
                    </m:r>
                    <m:sSub>
                      <m:sSubPr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000" i="1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000" i="1">
                        <a:latin typeface="Cambria Math" panose="02040503050406030204" pitchFamily="18" charset="0"/>
                      </a:rPr>
                      <m:t>.....</m:t>
                    </m:r>
                    <m:sSub>
                      <m:sSubPr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sz="2000" i="1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altLang="zh-CN" sz="2000" dirty="0"/>
                  <a:t>  </a:t>
                </a:r>
                <a:r>
                  <a:rPr lang="zh-CN" altLang="zh-CN" sz="2000" dirty="0"/>
                  <a:t>任意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en-US" altLang="zh-CN" sz="2000" dirty="0"/>
                  <a:t>, </a:t>
                </a:r>
              </a:p>
              <a:p>
                <a:pPr>
                  <a:spcAft>
                    <a:spcPts val="450"/>
                  </a:spcAft>
                  <a:buFont typeface="Wingdings" panose="05000000000000000000" pitchFamily="2" charset="2"/>
                  <a:buChar char="p"/>
                </a:pPr>
                <a:r>
                  <a:rPr lang="zh-CN" altLang="zh-CN" sz="2000" dirty="0"/>
                  <a:t>如果</a:t>
                </a:r>
                <a:r>
                  <a:rPr lang="en-US" altLang="zh-CN" sz="2000" i="1" dirty="0"/>
                  <a:t>n</a:t>
                </a:r>
                <a:r>
                  <a:rPr lang="zh-CN" altLang="zh-CN" sz="2000" dirty="0"/>
                  <a:t>维概率分布函数满足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,..,</m:t>
                      </m:r>
                      <m:sSub>
                        <m:sSubPr>
                          <m:ctrlPr>
                            <a:rPr lang="zh-CN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func>
                        <m:funcPr>
                          <m:ctrlPr>
                            <a:rPr lang="zh-CN" altLang="zh-CN" sz="20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;</m:t>
                          </m:r>
                        </m:fName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func>
                      <m:sSub>
                        <m:sSubPr>
                          <m:ctrlPr>
                            <a:rPr lang="zh-CN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zh-CN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,...</m:t>
                      </m:r>
                      <m:r>
                        <m:rPr>
                          <m:nor/>
                        </m:rPr>
                        <a:rPr lang="en-US" altLang="zh-CN" sz="2000"/>
                        <m:t> </m:t>
                      </m:r>
                      <m:r>
                        <a:rPr lang="zh-CN" altLang="en-US" sz="2000" i="1">
                          <a:latin typeface="Cambria Math" panose="02040503050406030204" pitchFamily="18" charset="0"/>
                        </a:rPr>
                        <m:t>，</m:t>
                      </m:r>
                      <m:sSub>
                        <m:sSubPr>
                          <m:ctrlPr>
                            <a:rPr lang="zh-CN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zh-CN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,...,</m:t>
                      </m:r>
                      <m:sSub>
                        <m:sSubPr>
                          <m:ctrlPr>
                            <a:rPr lang="zh-CN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func>
                        <m:funcPr>
                          <m:ctrlPr>
                            <a:rPr lang="zh-CN" altLang="zh-CN" sz="20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zh-CN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fName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+</m:t>
                          </m:r>
                        </m:e>
                      </m:func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,...,</m:t>
                      </m:r>
                      <m:sSub>
                        <m:sSubPr>
                          <m:ctrlPr>
                            <a:rPr lang="zh-CN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zh-CN" sz="2000" dirty="0"/>
              </a:p>
              <a:p>
                <a:pPr marL="0" indent="0">
                  <a:buNone/>
                </a:pPr>
                <a:r>
                  <a:rPr lang="zh-CN" altLang="zh-CN" sz="2000" dirty="0"/>
                  <a:t>或 概率密度函数满足</a:t>
                </a:r>
              </a:p>
              <a:p>
                <a:pPr marL="0" indent="0">
                  <a:buNone/>
                </a:pPr>
                <a:r>
                  <a:rPr lang="en-US" altLang="zh-CN" sz="2000" dirty="0"/>
                  <a:t>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n-US" altLang="zh-CN" sz="20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0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000" i="1">
                        <a:latin typeface="Cambria Math" panose="02040503050406030204" pitchFamily="18" charset="0"/>
                      </a:rPr>
                      <m:t>,..,</m:t>
                    </m:r>
                    <m:sSub>
                      <m:sSubPr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func>
                      <m:funcPr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zh-CN" altLang="zh-CN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;</m:t>
                            </m:r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fName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,</m:t>
                        </m:r>
                      </m:e>
                    </m:func>
                    <m:sSub>
                      <m:sSubPr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000" i="1">
                        <a:latin typeface="Cambria Math" panose="02040503050406030204" pitchFamily="18" charset="0"/>
                      </a:rPr>
                      <m:t>,...,</m:t>
                    </m:r>
                    <m:sSub>
                      <m:sSubPr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sz="2000" i="1">
                        <a:latin typeface="Cambria Math" panose="02040503050406030204" pitchFamily="18" charset="0"/>
                      </a:rPr>
                      <m:t>)=</m:t>
                    </m:r>
                    <m:sSub>
                      <m:sSubPr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n-US" altLang="zh-CN" sz="20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0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000" i="1">
                        <a:latin typeface="Cambria Math" panose="02040503050406030204" pitchFamily="18" charset="0"/>
                      </a:rPr>
                      <m:t>,...,</m:t>
                    </m:r>
                    <m:sSub>
                      <m:sSubPr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func>
                      <m:funcPr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zh-CN" altLang="zh-CN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;</m:t>
                            </m:r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fName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+</m:t>
                        </m:r>
                      </m:e>
                    </m:func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0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,...,</m:t>
                    </m:r>
                    <m:sSub>
                      <m:sSubPr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sz="20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CN" altLang="zh-CN" sz="2000" dirty="0"/>
              </a:p>
              <a:p>
                <a:pPr marL="0" indent="0">
                  <a:buNone/>
                </a:pPr>
                <a:r>
                  <a:rPr lang="zh-CN" altLang="zh-CN" sz="2000" dirty="0"/>
                  <a:t>则为</a:t>
                </a:r>
                <a:r>
                  <a:rPr lang="zh-CN" altLang="zh-CN" sz="2000" dirty="0">
                    <a:solidFill>
                      <a:srgbClr val="FF0000"/>
                    </a:solidFill>
                  </a:rPr>
                  <a:t>严格平稳信号</a:t>
                </a:r>
                <a:r>
                  <a:rPr lang="zh-CN" altLang="zh-CN" sz="2000" dirty="0"/>
                  <a:t>（</a:t>
                </a:r>
                <a:r>
                  <a:rPr lang="en-US" altLang="zh-CN" sz="2000" dirty="0"/>
                  <a:t>strict-sense stationary</a:t>
                </a:r>
                <a:r>
                  <a:rPr lang="zh-CN" altLang="zh-CN" sz="2000" dirty="0"/>
                  <a:t>，</a:t>
                </a:r>
                <a:r>
                  <a:rPr lang="en-US" altLang="zh-CN" sz="2000" dirty="0"/>
                  <a:t>SSS</a:t>
                </a:r>
                <a:r>
                  <a:rPr lang="zh-CN" altLang="zh-CN" sz="2000" dirty="0"/>
                  <a:t>）。</a:t>
                </a:r>
              </a:p>
              <a:p>
                <a:pPr lvl="0">
                  <a:buFont typeface="Wingdings" panose="05000000000000000000" pitchFamily="2" charset="2"/>
                  <a:buChar char="p"/>
                </a:pPr>
                <a:r>
                  <a:rPr lang="zh-CN" altLang="zh-CN" sz="2000" dirty="0"/>
                  <a:t>如果</a:t>
                </a:r>
                <a:r>
                  <a:rPr lang="en-US" altLang="zh-CN" sz="2000" i="1" dirty="0"/>
                  <a:t>n </a:t>
                </a:r>
                <a:r>
                  <a:rPr lang="en-US" altLang="zh-CN" sz="2000" dirty="0"/>
                  <a:t>= </a:t>
                </a:r>
                <a:r>
                  <a:rPr lang="en-US" altLang="zh-CN" sz="2000" i="1" dirty="0"/>
                  <a:t>k</a:t>
                </a:r>
                <a:r>
                  <a:rPr lang="zh-CN" altLang="zh-CN" sz="2000" dirty="0"/>
                  <a:t>时满足，但</a:t>
                </a:r>
                <a:r>
                  <a:rPr lang="en-US" altLang="zh-CN" sz="2000" i="1" dirty="0"/>
                  <a:t>n</a:t>
                </a:r>
                <a:r>
                  <a:rPr lang="en-US" altLang="zh-CN" sz="2000" dirty="0"/>
                  <a:t>&gt;</a:t>
                </a:r>
                <a:r>
                  <a:rPr lang="en-US" altLang="zh-CN" sz="2000" i="1" dirty="0"/>
                  <a:t>k</a:t>
                </a:r>
                <a:r>
                  <a:rPr lang="zh-CN" altLang="zh-CN" sz="2000" dirty="0"/>
                  <a:t>时不满足，则为</a:t>
                </a:r>
                <a:r>
                  <a:rPr lang="en-US" altLang="zh-CN" sz="2000" i="1" dirty="0"/>
                  <a:t>k</a:t>
                </a:r>
                <a:r>
                  <a:rPr lang="zh-CN" altLang="zh-CN" sz="2000" dirty="0"/>
                  <a:t>级</a:t>
                </a:r>
                <a:r>
                  <a:rPr lang="zh-CN" altLang="en-US" sz="2000" dirty="0"/>
                  <a:t>严格</a:t>
                </a:r>
                <a:r>
                  <a:rPr lang="zh-CN" altLang="zh-CN" sz="2000" dirty="0"/>
                  <a:t>平稳。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679BD27D-5FD9-493C-9BDE-836A98C9309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1520" y="1484784"/>
                <a:ext cx="8420353" cy="4263007"/>
              </a:xfrm>
              <a:blipFill>
                <a:blip r:embed="rId3"/>
                <a:stretch>
                  <a:fillRect l="-1085" t="-143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组合 3">
            <a:extLst>
              <a:ext uri="{FF2B5EF4-FFF2-40B4-BE49-F238E27FC236}">
                <a16:creationId xmlns:a16="http://schemas.microsoft.com/office/drawing/2014/main" id="{20EE34C6-1771-4EF0-84A8-A8FD4E28DBA9}"/>
              </a:ext>
            </a:extLst>
          </p:cNvPr>
          <p:cNvGrpSpPr/>
          <p:nvPr/>
        </p:nvGrpSpPr>
        <p:grpSpPr>
          <a:xfrm>
            <a:off x="5650736" y="1700808"/>
            <a:ext cx="3493264" cy="1575197"/>
            <a:chOff x="8335347" y="1241405"/>
            <a:chExt cx="4657685" cy="2100263"/>
          </a:xfrm>
        </p:grpSpPr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BA14316E-6977-481E-8301-5878E9D00A2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792718" y="1241405"/>
              <a:ext cx="2202180" cy="1607820"/>
            </a:xfrm>
            <a:prstGeom prst="rect">
              <a:avLst/>
            </a:prstGeom>
          </p:spPr>
        </p:pic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E83048BA-D94D-45FC-8A85-29D50D5FBFBA}"/>
                </a:ext>
              </a:extLst>
            </p:cNvPr>
            <p:cNvSpPr txBox="1"/>
            <p:nvPr/>
          </p:nvSpPr>
          <p:spPr>
            <a:xfrm>
              <a:off x="8335347" y="2849225"/>
              <a:ext cx="4657685" cy="4924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rgbClr val="7030A0"/>
                  </a:solidFill>
                </a:rPr>
                <a:t>X(t1)</a:t>
              </a:r>
              <a:r>
                <a:rPr lang="zh-CN" altLang="en-US" dirty="0">
                  <a:solidFill>
                    <a:srgbClr val="7030A0"/>
                  </a:solidFill>
                </a:rPr>
                <a:t>和</a:t>
              </a:r>
              <a:r>
                <a:rPr lang="en-US" altLang="zh-CN" dirty="0">
                  <a:solidFill>
                    <a:srgbClr val="7030A0"/>
                  </a:solidFill>
                </a:rPr>
                <a:t>X(t2)</a:t>
              </a:r>
              <a:r>
                <a:rPr lang="zh-CN" altLang="en-US" dirty="0">
                  <a:solidFill>
                    <a:srgbClr val="7030A0"/>
                  </a:solidFill>
                </a:rPr>
                <a:t>的概率密度函数相等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366139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3">
                <a:extLst>
                  <a:ext uri="{FF2B5EF4-FFF2-40B4-BE49-F238E27FC236}">
                    <a16:creationId xmlns:a16="http://schemas.microsoft.com/office/drawing/2014/main" id="{A2736DD0-6DCC-4C4A-84D2-5721E3DD253A}"/>
                  </a:ext>
                </a:extLst>
              </p:cNvPr>
              <p:cNvSpPr>
                <a:spLocks noGrp="1"/>
              </p:cNvSpPr>
              <p:nvPr>
                <p:ph/>
              </p:nvPr>
            </p:nvSpPr>
            <p:spPr>
              <a:xfrm>
                <a:off x="457201" y="1117622"/>
                <a:ext cx="8255000" cy="4630283"/>
              </a:xfrm>
            </p:spPr>
            <p:txBody>
              <a:bodyPr/>
              <a:lstStyle/>
              <a:p>
                <a:pPr marL="0" indent="0">
                  <a:lnSpc>
                    <a:spcPct val="150000"/>
                  </a:lnSpc>
                  <a:spcAft>
                    <a:spcPts val="450"/>
                  </a:spcAft>
                  <a:buNone/>
                </a:pPr>
                <a:r>
                  <a:rPr lang="en-US" altLang="zh-CN" dirty="0">
                    <a:solidFill>
                      <a:schemeClr val="accent2"/>
                    </a:solidFill>
                    <a:latin typeface="+mj-ea"/>
                    <a:ea typeface="+mj-ea"/>
                  </a:rPr>
                  <a:t>2.</a:t>
                </a:r>
                <a:r>
                  <a:rPr lang="zh-CN" altLang="en-US" dirty="0">
                    <a:solidFill>
                      <a:schemeClr val="accent2"/>
                    </a:solidFill>
                    <a:latin typeface="+mj-ea"/>
                    <a:ea typeface="+mj-ea"/>
                  </a:rPr>
                  <a:t>  </a:t>
                </a:r>
                <a:r>
                  <a:rPr lang="zh-CN" altLang="zh-CN" dirty="0">
                    <a:solidFill>
                      <a:schemeClr val="accent2"/>
                    </a:solidFill>
                    <a:latin typeface="+mj-ea"/>
                    <a:ea typeface="+mj-ea"/>
                  </a:rPr>
                  <a:t>严</a:t>
                </a:r>
                <a:r>
                  <a:rPr lang="zh-CN" altLang="en-US" dirty="0">
                    <a:solidFill>
                      <a:schemeClr val="accent2"/>
                    </a:solidFill>
                    <a:latin typeface="+mj-ea"/>
                    <a:ea typeface="+mj-ea"/>
                  </a:rPr>
                  <a:t>格</a:t>
                </a:r>
                <a:r>
                  <a:rPr lang="zh-CN" altLang="zh-CN" dirty="0">
                    <a:solidFill>
                      <a:schemeClr val="accent2"/>
                    </a:solidFill>
                    <a:latin typeface="+mj-ea"/>
                    <a:ea typeface="+mj-ea"/>
                  </a:rPr>
                  <a:t>平稳信号一</a:t>
                </a:r>
                <a:r>
                  <a:rPr lang="zh-CN" altLang="en-US" dirty="0">
                    <a:solidFill>
                      <a:schemeClr val="accent2"/>
                    </a:solidFill>
                    <a:latin typeface="+mj-ea"/>
                    <a:ea typeface="+mj-ea"/>
                  </a:rPr>
                  <a:t>维、</a:t>
                </a:r>
                <a:r>
                  <a:rPr lang="zh-CN" altLang="zh-CN" dirty="0">
                    <a:solidFill>
                      <a:schemeClr val="accent2"/>
                    </a:solidFill>
                    <a:latin typeface="+mj-ea"/>
                    <a:ea typeface="+mj-ea"/>
                  </a:rPr>
                  <a:t>二维概率分布的特点</a:t>
                </a:r>
              </a:p>
              <a:p>
                <a:pPr>
                  <a:buFont typeface="Wingdings" panose="05000000000000000000" pitchFamily="2" charset="2"/>
                  <a:buChar char="p"/>
                </a:pPr>
                <a:r>
                  <a:rPr lang="en-US" altLang="zh-CN" dirty="0"/>
                  <a:t>1</a:t>
                </a:r>
                <a:r>
                  <a:rPr lang="zh-CN" altLang="zh-CN" dirty="0"/>
                  <a:t>）</a:t>
                </a:r>
                <a:r>
                  <a:rPr lang="zh-CN" altLang="zh-CN" dirty="0">
                    <a:solidFill>
                      <a:srgbClr val="FF0000"/>
                    </a:solidFill>
                  </a:rPr>
                  <a:t>一维</a:t>
                </a:r>
                <a:r>
                  <a:rPr lang="en-US" altLang="zh-CN" dirty="0">
                    <a:solidFill>
                      <a:srgbClr val="FF0000"/>
                    </a:solidFill>
                  </a:rPr>
                  <a:t>PDF</a:t>
                </a:r>
                <a:r>
                  <a:rPr lang="zh-CN" altLang="zh-CN" dirty="0">
                    <a:solidFill>
                      <a:srgbClr val="FF0000"/>
                    </a:solidFill>
                  </a:rPr>
                  <a:t>与时间无关</a:t>
                </a:r>
                <a:r>
                  <a:rPr lang="zh-CN" altLang="en-US" dirty="0"/>
                  <a:t>，令</a:t>
                </a:r>
                <a:endParaRPr lang="zh-CN" altLang="zh-CN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=−</m:t>
                      </m:r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𝑥</m:t>
                      </m:r>
                      <m:func>
                        <m:func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fName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  <m:func>
                            <m:func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zh-CN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;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e>
                          </m:func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d>
                        <m:dPr>
                          <m:ctrlPr>
                            <a:rPr lang="en-US" altLang="zh-CN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;0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zh-CN" b="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zh-CN" dirty="0"/>
                  <a:t>故</a:t>
                </a:r>
                <a:r>
                  <a:rPr lang="zh-CN" altLang="zh-CN" dirty="0">
                    <a:solidFill>
                      <a:srgbClr val="FF0000"/>
                    </a:solidFill>
                  </a:rPr>
                  <a:t>与一维概率密度函数有关的均值、方差、均方值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均</a:t>
                </a:r>
                <a:r>
                  <a:rPr lang="zh-CN" altLang="zh-CN" dirty="0">
                    <a:solidFill>
                      <a:srgbClr val="FF0000"/>
                    </a:solidFill>
                  </a:rPr>
                  <a:t>为常数</a:t>
                </a:r>
                <a:r>
                  <a:rPr lang="zh-CN" altLang="zh-CN" dirty="0"/>
                  <a:t>，</a:t>
                </a:r>
                <a:endParaRPr lang="en-US" altLang="zh-CN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zh-CN" dirty="0"/>
                  <a:t>记做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b>
                        </m:sSub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en-US" b="0" dirty="0"/>
                  <a:t>，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p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lang="zh-CN" altLang="zh-CN" dirty="0"/>
                  <a:t>。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zh-CN" altLang="en-US" b="0" dirty="0"/>
                  <a:t>有：</a:t>
                </a:r>
                <a14:m>
                  <m:oMath xmlns:m="http://schemas.openxmlformats.org/officeDocument/2006/math"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          </m:t>
                    </m:r>
                    <m:sSub>
                      <m:sSubPr>
                        <m:ctrlPr>
                          <a:rPr lang="en-US" altLang="zh-CN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d>
                      <m:dPr>
                        <m:ctrlPr>
                          <a:rPr lang="en-US" altLang="zh-CN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zh-CN" b="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en-US" altLang="zh-CN" b="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en-US" altLang="zh-CN" b="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b="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lang="en-US" altLang="zh-CN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𝑥</m:t>
                        </m:r>
                        <m:sSub>
                          <m:sSubPr>
                            <m:ctrlPr>
                              <a:rPr lang="en-US" altLang="zh-CN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altLang="zh-CN" b="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b="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  <m:r>
                      <a:rPr lang="en-US" altLang="zh-CN" b="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</m:oMath>
                </a14:m>
                <a:endParaRPr lang="en-US" altLang="zh-CN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b="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CN" altLang="en-US" b="0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  <m:sup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d>
                        <m:dPr>
                          <m:ctrlPr>
                            <a:rPr lang="en-US" altLang="zh-CN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  <m: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zh-CN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e>
                                    <m:sub>
                                      <m:r>
                                        <a:rPr lang="en-US" altLang="zh-CN" b="0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altLang="zh-CN" b="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b="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en-US" altLang="zh-CN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p>
                            <m:sSupPr>
                              <m:ctrlPr>
                                <a:rPr lang="en-US" altLang="zh-CN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altLang="zh-CN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𝑋</m:t>
                                  </m:r>
                                </m:sub>
                              </m:sSub>
                              <m:r>
                                <a:rPr lang="en-US" altLang="zh-CN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altLang="zh-CN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altLang="zh-CN" b="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CN" altLang="en-US" b="0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  <m:sup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altLang="zh-CN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dirty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b="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b="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 dirty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p>
                              <m:r>
                                <a:rPr lang="en-US" altLang="zh-CN" b="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b="0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b="0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b="0" i="1" dirty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r>
                        <a:rPr lang="en-US" altLang="zh-CN" b="0" i="1" dirty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altLang="zh-CN" b="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b="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en-US" altLang="zh-CN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p>
                            <m:sSupPr>
                              <m:ctrlPr>
                                <a:rPr lang="en-US" altLang="zh-CN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zh-CN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" name="内容占位符 3">
                <a:extLst>
                  <a:ext uri="{FF2B5EF4-FFF2-40B4-BE49-F238E27FC236}">
                    <a16:creationId xmlns:a16="http://schemas.microsoft.com/office/drawing/2014/main" id="{A2736DD0-6DCC-4C4A-84D2-5721E3DD253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xfrm>
                <a:off x="457201" y="1117622"/>
                <a:ext cx="8255000" cy="4630283"/>
              </a:xfrm>
              <a:blipFill>
                <a:blip r:embed="rId3"/>
                <a:stretch>
                  <a:fillRect l="-8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图片 2">
            <a:extLst>
              <a:ext uri="{FF2B5EF4-FFF2-40B4-BE49-F238E27FC236}">
                <a16:creationId xmlns:a16="http://schemas.microsoft.com/office/drawing/2014/main" id="{44BCB2C4-26EC-49D3-860A-2D09BB6C39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1783" y="2786098"/>
            <a:ext cx="2017395" cy="1542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68729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3">
                <a:extLst>
                  <a:ext uri="{FF2B5EF4-FFF2-40B4-BE49-F238E27FC236}">
                    <a16:creationId xmlns:a16="http://schemas.microsoft.com/office/drawing/2014/main" id="{A2736DD0-6DCC-4C4A-84D2-5721E3DD253A}"/>
                  </a:ext>
                </a:extLst>
              </p:cNvPr>
              <p:cNvSpPr>
                <a:spLocks noGrp="1"/>
              </p:cNvSpPr>
              <p:nvPr>
                <p:ph/>
              </p:nvPr>
            </p:nvSpPr>
            <p:spPr>
              <a:xfrm>
                <a:off x="457201" y="1117622"/>
                <a:ext cx="8255000" cy="4630283"/>
              </a:xfrm>
            </p:spPr>
            <p:txBody>
              <a:bodyPr/>
              <a:lstStyle/>
              <a:p>
                <a:pPr marL="0" indent="0">
                  <a:lnSpc>
                    <a:spcPct val="150000"/>
                  </a:lnSpc>
                  <a:spcAft>
                    <a:spcPts val="450"/>
                  </a:spcAft>
                  <a:buNone/>
                </a:pPr>
                <a:r>
                  <a:rPr lang="en-US" altLang="zh-CN" dirty="0">
                    <a:solidFill>
                      <a:schemeClr val="accent2"/>
                    </a:solidFill>
                    <a:latin typeface="+mj-ea"/>
                    <a:ea typeface="+mj-ea"/>
                  </a:rPr>
                  <a:t>2.</a:t>
                </a:r>
                <a:r>
                  <a:rPr lang="zh-CN" altLang="en-US" dirty="0">
                    <a:solidFill>
                      <a:schemeClr val="accent2"/>
                    </a:solidFill>
                    <a:latin typeface="+mj-ea"/>
                    <a:ea typeface="+mj-ea"/>
                  </a:rPr>
                  <a:t>  </a:t>
                </a:r>
                <a:r>
                  <a:rPr lang="zh-CN" altLang="zh-CN" dirty="0">
                    <a:solidFill>
                      <a:schemeClr val="accent2"/>
                    </a:solidFill>
                    <a:latin typeface="+mj-ea"/>
                    <a:ea typeface="+mj-ea"/>
                  </a:rPr>
                  <a:t>严</a:t>
                </a:r>
                <a:r>
                  <a:rPr lang="zh-CN" altLang="en-US" dirty="0">
                    <a:solidFill>
                      <a:schemeClr val="accent2"/>
                    </a:solidFill>
                    <a:latin typeface="+mj-ea"/>
                    <a:ea typeface="+mj-ea"/>
                  </a:rPr>
                  <a:t>格</a:t>
                </a:r>
                <a:r>
                  <a:rPr lang="zh-CN" altLang="zh-CN" dirty="0">
                    <a:solidFill>
                      <a:schemeClr val="accent2"/>
                    </a:solidFill>
                    <a:latin typeface="+mj-ea"/>
                    <a:ea typeface="+mj-ea"/>
                  </a:rPr>
                  <a:t>平稳信号一</a:t>
                </a:r>
                <a:r>
                  <a:rPr lang="zh-CN" altLang="en-US" dirty="0">
                    <a:solidFill>
                      <a:schemeClr val="accent2"/>
                    </a:solidFill>
                    <a:latin typeface="+mj-ea"/>
                    <a:ea typeface="+mj-ea"/>
                  </a:rPr>
                  <a:t>维、</a:t>
                </a:r>
                <a:r>
                  <a:rPr lang="zh-CN" altLang="zh-CN" dirty="0">
                    <a:solidFill>
                      <a:schemeClr val="accent2"/>
                    </a:solidFill>
                    <a:latin typeface="+mj-ea"/>
                    <a:ea typeface="+mj-ea"/>
                  </a:rPr>
                  <a:t>二维概率分布的特点</a:t>
                </a:r>
              </a:p>
              <a:p>
                <a:pPr>
                  <a:buFont typeface="Wingdings" panose="05000000000000000000" pitchFamily="2" charset="2"/>
                  <a:buChar char="p"/>
                </a:pPr>
                <a:r>
                  <a:rPr lang="en-US" altLang="zh-CN" dirty="0"/>
                  <a:t>2</a:t>
                </a:r>
                <a:r>
                  <a:rPr lang="zh-CN" altLang="zh-CN" dirty="0"/>
                  <a:t>）</a:t>
                </a:r>
                <a:r>
                  <a:rPr lang="zh-CN" altLang="zh-CN" dirty="0">
                    <a:solidFill>
                      <a:srgbClr val="FF0000"/>
                    </a:solidFill>
                  </a:rPr>
                  <a:t>二维</a:t>
                </a:r>
                <a:r>
                  <a:rPr lang="en-US" altLang="zh-CN" dirty="0">
                    <a:solidFill>
                      <a:srgbClr val="FF0000"/>
                    </a:solidFill>
                  </a:rPr>
                  <a:t>PDF</a:t>
                </a:r>
                <a:r>
                  <a:rPr lang="zh-CN" altLang="zh-CN" dirty="0">
                    <a:solidFill>
                      <a:srgbClr val="FF0000"/>
                    </a:solidFill>
                  </a:rPr>
                  <a:t>与时间起点、终点无关，只与间隔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𝝉</m:t>
                    </m:r>
                    <m:func>
                      <m:funcPr>
                        <m:ctrlPr>
                          <a:rPr lang="zh-CN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zh-CN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𝒕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fName>
                      <m:e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e>
                    </m:func>
                    <m:sSub>
                      <m:sSubPr>
                        <m:ctrlPr>
                          <a:rPr lang="zh-CN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  <m:sub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zh-CN" altLang="zh-CN" dirty="0">
                    <a:solidFill>
                      <a:srgbClr val="FF0000"/>
                    </a:solidFill>
                  </a:rPr>
                  <a:t>有关</a:t>
                </a:r>
                <a:endParaRPr lang="zh-CN" altLang="zh-CN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𝑿</m:t>
                          </m:r>
                        </m:sub>
                      </m:sSub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func>
                            <m:func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zh-CN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;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𝒕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</m:func>
                          <m:sSub>
                            <m:sSub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𝑿</m:t>
                          </m:r>
                        </m:sub>
                      </m:sSub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func>
                            <m:func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zh-CN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;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𝒕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e>
                          </m:func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𝝉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𝝉</m:t>
                          </m:r>
                        </m:e>
                      </m:d>
                      <m:limUpp>
                        <m:limUpp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limUp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=</m:t>
                          </m:r>
                        </m:e>
                        <m:li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𝝉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=−</m:t>
                          </m:r>
                          <m:sSub>
                            <m:sSub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lim>
                      </m:limUpp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𝑿</m:t>
                          </m:r>
                        </m:sub>
                      </m:sSub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func>
                            <m:func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</m:fName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e>
                          </m:func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𝑿</m:t>
                          </m:r>
                        </m:sub>
                      </m:sSub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func>
                            <m:func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zh-CN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;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𝒕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e>
                          </m:func>
                          <m:sSub>
                            <m:sSub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altLang="zh-CN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dirty="0"/>
                  <a:t>故</a:t>
                </a:r>
                <a14:m>
                  <m:oMath xmlns:m="http://schemas.openxmlformats.org/officeDocument/2006/math">
                    <m:r>
                      <a:rPr lang="en-US" altLang="zh-CN" b="1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altLang="zh-CN" b="1" i="0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𝑿</m:t>
                          </m:r>
                        </m:sub>
                      </m:sSub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𝒕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𝒕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𝝉</m:t>
                          </m: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𝑬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𝑿</m:t>
                          </m:r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e>
                          </m:d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𝑿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𝒕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𝝉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∬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𝒇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zh-CN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𝝉</m:t>
                              </m:r>
                            </m:e>
                          </m:d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𝒅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𝒅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e>
                      </m:nary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𝑿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latin typeface="Cambria Math" panose="02040503050406030204" pitchFamily="18" charset="0"/>
                        </a:rPr>
                        <m:t>𝝉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dirty="0">
                    <a:solidFill>
                      <a:srgbClr val="FF0000"/>
                    </a:solidFill>
                  </a:rPr>
                  <a:t>从而随机过程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>
                    <a:solidFill>
                      <a:srgbClr val="FF0000"/>
                    </a:solidFill>
                  </a:rPr>
                  <a:t>的自相关函数是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𝝉</m:t>
                    </m:r>
                  </m:oMath>
                </a14:m>
                <a:r>
                  <a:rPr lang="zh-CN" altLang="en-US" dirty="0">
                    <a:solidFill>
                      <a:srgbClr val="FF0000"/>
                    </a:solidFill>
                  </a:rPr>
                  <a:t>的函数。</a:t>
                </a:r>
                <a:r>
                  <a:rPr lang="zh-CN" altLang="en-US" dirty="0"/>
                  <a:t>（</a:t>
                </a:r>
                <a:r>
                  <a:rPr lang="zh-CN" altLang="en-US" dirty="0">
                    <a:solidFill>
                      <a:srgbClr val="00B050"/>
                    </a:solidFill>
                  </a:rPr>
                  <a:t>一个自变量</a:t>
                </a:r>
                <a:r>
                  <a:rPr lang="zh-CN" altLang="en-US" dirty="0"/>
                  <a:t>）</a:t>
                </a:r>
                <a:endParaRPr lang="zh-CN" altLang="zh-CN" dirty="0"/>
              </a:p>
              <a:p>
                <a:pPr marL="0" indent="0">
                  <a:buNone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4" name="内容占位符 3">
                <a:extLst>
                  <a:ext uri="{FF2B5EF4-FFF2-40B4-BE49-F238E27FC236}">
                    <a16:creationId xmlns:a16="http://schemas.microsoft.com/office/drawing/2014/main" id="{A2736DD0-6DCC-4C4A-84D2-5721E3DD253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xfrm>
                <a:off x="457201" y="1117622"/>
                <a:ext cx="8255000" cy="4630283"/>
              </a:xfrm>
              <a:blipFill>
                <a:blip r:embed="rId3"/>
                <a:stretch>
                  <a:fillRect l="-886" b="-14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>
            <a:extLst>
              <a:ext uri="{FF2B5EF4-FFF2-40B4-BE49-F238E27FC236}">
                <a16:creationId xmlns:a16="http://schemas.microsoft.com/office/drawing/2014/main" id="{E461AFEE-797B-4AD0-A1EF-C4A93FB628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5708" y="2317329"/>
            <a:ext cx="2164110" cy="1759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8346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2736DD0-6DCC-4C4A-84D2-5721E3DD253A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251520" y="188640"/>
            <a:ext cx="8255000" cy="792088"/>
          </a:xfrm>
        </p:spPr>
        <p:txBody>
          <a:bodyPr/>
          <a:lstStyle/>
          <a:p>
            <a:pPr marL="0" indent="0">
              <a:lnSpc>
                <a:spcPct val="150000"/>
              </a:lnSpc>
              <a:spcAft>
                <a:spcPts val="450"/>
              </a:spcAft>
              <a:buNone/>
            </a:pPr>
            <a:r>
              <a:rPr lang="zh-CN" altLang="en-US" dirty="0">
                <a:solidFill>
                  <a:schemeClr val="accent2"/>
                </a:solidFill>
                <a:latin typeface="+mj-ea"/>
                <a:ea typeface="+mj-ea"/>
              </a:rPr>
              <a:t>概率密度函数和相关函数</a:t>
            </a:r>
            <a:endParaRPr lang="zh-CN" altLang="zh-CN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9F5A1944-8798-43A5-8A4F-07CBFEF913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267746" y="-1035497"/>
            <a:ext cx="4608510" cy="8784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78875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FF9358EA-BD81-4059-8532-4D6467D45EE7}"/>
                  </a:ext>
                </a:extLst>
              </p:cNvPr>
              <p:cNvSpPr>
                <a:spLocks noGrp="1"/>
              </p:cNvSpPr>
              <p:nvPr>
                <p:ph/>
              </p:nvPr>
            </p:nvSpPr>
            <p:spPr>
              <a:xfrm>
                <a:off x="443346" y="857250"/>
                <a:ext cx="8377126" cy="4918364"/>
              </a:xfrm>
            </p:spPr>
            <p:txBody>
              <a:bodyPr/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dirty="0">
                    <a:solidFill>
                      <a:schemeClr val="accent2"/>
                    </a:solidFill>
                    <a:latin typeface="+mj-ea"/>
                    <a:ea typeface="+mj-ea"/>
                  </a:rPr>
                  <a:t>3. </a:t>
                </a:r>
                <a:r>
                  <a:rPr lang="zh-CN" altLang="en-US" dirty="0">
                    <a:solidFill>
                      <a:schemeClr val="accent2"/>
                    </a:solidFill>
                    <a:latin typeface="+mj-ea"/>
                    <a:ea typeface="+mj-ea"/>
                  </a:rPr>
                  <a:t>广义（</a:t>
                </a:r>
                <a:r>
                  <a:rPr lang="zh-CN" altLang="zh-CN" dirty="0">
                    <a:solidFill>
                      <a:schemeClr val="accent2"/>
                    </a:solidFill>
                    <a:latin typeface="+mj-ea"/>
                    <a:ea typeface="+mj-ea"/>
                  </a:rPr>
                  <a:t>宽</a:t>
                </a:r>
                <a:r>
                  <a:rPr lang="zh-CN" altLang="en-US" dirty="0">
                    <a:solidFill>
                      <a:schemeClr val="accent2"/>
                    </a:solidFill>
                    <a:latin typeface="+mj-ea"/>
                    <a:ea typeface="+mj-ea"/>
                  </a:rPr>
                  <a:t>）</a:t>
                </a:r>
                <a:r>
                  <a:rPr lang="zh-CN" altLang="zh-CN" dirty="0">
                    <a:solidFill>
                      <a:schemeClr val="accent2"/>
                    </a:solidFill>
                    <a:latin typeface="+mj-ea"/>
                    <a:ea typeface="+mj-ea"/>
                  </a:rPr>
                  <a:t>平稳随机过程</a:t>
                </a:r>
              </a:p>
              <a:p>
                <a:pPr marL="0" indent="0">
                  <a:buNone/>
                </a:pPr>
                <a:r>
                  <a:rPr lang="zh-CN" altLang="zh-CN" dirty="0"/>
                  <a:t>从工程角度，只研究</a:t>
                </a:r>
                <a:r>
                  <a:rPr lang="zh-CN" altLang="en-US" dirty="0"/>
                  <a:t>二</a:t>
                </a:r>
                <a:r>
                  <a:rPr lang="zh-CN" altLang="zh-CN" dirty="0"/>
                  <a:t>阶特性，二维</a:t>
                </a:r>
                <a:r>
                  <a:rPr lang="en-US" altLang="zh-CN" dirty="0"/>
                  <a:t>PDF </a:t>
                </a:r>
                <a:r>
                  <a:rPr lang="zh-CN" altLang="zh-CN" dirty="0"/>
                  <a:t>、均值函数、相关函数。</a:t>
                </a:r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p"/>
                </a:pPr>
                <a:r>
                  <a:rPr lang="zh-CN" altLang="zh-CN" dirty="0"/>
                  <a:t>设二阶</a:t>
                </a:r>
                <a:r>
                  <a:rPr lang="zh-CN" altLang="en-US" dirty="0"/>
                  <a:t>随机</a:t>
                </a:r>
                <a:r>
                  <a:rPr lang="zh-CN" altLang="zh-CN" dirty="0"/>
                  <a:t>过程（均方值存在），如果其均值为常数，相关函数仅为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zh-CN" dirty="0"/>
                  <a:t>的函数，则为宽平稳信号或广义平稳信号（</a:t>
                </a:r>
                <a:r>
                  <a:rPr lang="en-US" altLang="zh-CN" dirty="0"/>
                  <a:t>wide-sense stationary, WSS</a:t>
                </a:r>
                <a:r>
                  <a:rPr lang="zh-CN" altLang="zh-CN" dirty="0"/>
                  <a:t>）。</a:t>
                </a:r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p"/>
                </a:pPr>
                <a:r>
                  <a:rPr lang="en-US" altLang="zh-CN" dirty="0"/>
                  <a:t> </a:t>
                </a:r>
                <a:r>
                  <a:rPr lang="zh-CN" altLang="en-US" dirty="0"/>
                  <a:t>即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𝜏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</m:oMath>
                </a14:m>
                <a:r>
                  <a:rPr lang="zh-CN" altLang="zh-CN" dirty="0"/>
                  <a:t>，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zh-CN" altLang="zh-CN" dirty="0"/>
                  <a:t> </a:t>
                </a:r>
                <a:r>
                  <a:rPr lang="en-US" altLang="zh-CN" dirty="0"/>
                  <a:t>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[</m:t>
                    </m:r>
                    <m:sSup>
                      <m:sSup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)]</m:t>
                    </m:r>
                  </m:oMath>
                </a14:m>
                <a:endParaRPr lang="en-US" altLang="zh-CN" dirty="0"/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p"/>
                </a:pPr>
                <a:r>
                  <a:rPr lang="zh-CN" altLang="zh-CN" dirty="0"/>
                  <a:t>例</a:t>
                </a:r>
                <a:r>
                  <a:rPr lang="zh-CN" altLang="en-US" dirty="0"/>
                  <a:t>：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𝑌𝑡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en-US" altLang="zh-CN"/>
                      <m:t>   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𝑌</m:t>
                    </m:r>
                    <m:r>
                      <a:rPr lang="zh-CN" altLang="zh-CN">
                        <a:latin typeface="Cambria Math" panose="02040503050406030204" pitchFamily="18" charset="0"/>
                      </a:rPr>
                      <m:t>为随机变量，</m:t>
                    </m:r>
                  </m:oMath>
                </a14:m>
                <a:r>
                  <a:rPr lang="zh-CN" altLang="zh-CN" dirty="0"/>
                  <a:t> </a:t>
                </a:r>
                <a:r>
                  <a:rPr lang="zh-CN" altLang="en-US" dirty="0"/>
                  <a:t>问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是否为宽平稳信号？</a:t>
                </a:r>
                <a:endParaRPr lang="zh-CN" altLang="zh-CN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dirty="0"/>
                  <a:t>解</a:t>
                </a:r>
                <a14:m>
                  <m:oMath xmlns:m="http://schemas.openxmlformats.org/officeDocument/2006/math">
                    <m:r>
                      <a:rPr lang="zh-CN" altLang="en-US" i="1" dirty="0">
                        <a:latin typeface="Cambria Math" panose="02040503050406030204" pitchFamily="18" charset="0"/>
                      </a:rPr>
                      <m:t>：</m:t>
                    </m:r>
                    <m:r>
                      <a:rPr lang="zh-CN" altLang="en-US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)]=</m:t>
                    </m:r>
                    <m:r>
                      <a:rPr lang="en-US" altLang="zh-CN" i="1" smtClean="0">
                        <a:solidFill>
                          <a:srgbClr val="FF0000"/>
                        </a:solidFill>
                        <a:highlight>
                          <a:srgbClr val="FFFF00"/>
                        </a:highlight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i="1" smtClean="0">
                        <a:solidFill>
                          <a:srgbClr val="FF0000"/>
                        </a:solidFill>
                        <a:highlight>
                          <a:srgbClr val="FFFF00"/>
                        </a:highlight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altLang="zh-CN" i="1" smtClean="0">
                        <a:solidFill>
                          <a:srgbClr val="FF0000"/>
                        </a:solidFill>
                        <a:highlight>
                          <a:srgbClr val="FFFF00"/>
                        </a:highlight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i="1" smtClean="0">
                        <a:solidFill>
                          <a:srgbClr val="FF0000"/>
                        </a:solidFill>
                        <a:highlight>
                          <a:srgbClr val="FFFF00"/>
                        </a:highlight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i="1" smtClean="0">
                        <a:solidFill>
                          <a:srgbClr val="FF0000"/>
                        </a:solidFill>
                        <a:highlight>
                          <a:srgbClr val="FFFF00"/>
                        </a:highlight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zh-CN" i="1" smtClean="0">
                        <a:solidFill>
                          <a:srgbClr val="FF0000"/>
                        </a:solidFill>
                        <a:highlight>
                          <a:srgbClr val="FFFF00"/>
                        </a:highlight>
                        <a:latin typeface="Cambria Math" panose="02040503050406030204" pitchFamily="18" charset="0"/>
                      </a:rPr>
                      <m:t>],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)=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[</m:t>
                    </m:r>
                    <m:sSup>
                      <m:sSup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zh-CN" altLang="en-US" dirty="0"/>
                  <a:t>，因此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不是宽平稳信号。</a:t>
                </a:r>
                <a:r>
                  <a:rPr lang="en-US" altLang="zh-CN" dirty="0"/>
                  <a:t> </a:t>
                </a:r>
                <a:endParaRPr lang="zh-CN" altLang="zh-CN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FF9358EA-BD81-4059-8532-4D6467D45EE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xfrm>
                <a:off x="443346" y="857250"/>
                <a:ext cx="8377126" cy="4918364"/>
              </a:xfrm>
              <a:blipFill>
                <a:blip r:embed="rId3"/>
                <a:stretch>
                  <a:fillRect l="-873" r="-218" b="-161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018213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B7DBC556-3A0E-4008-9AAF-D6344F8567DC}"/>
                  </a:ext>
                </a:extLst>
              </p:cNvPr>
              <p:cNvSpPr>
                <a:spLocks noGrp="1"/>
              </p:cNvSpPr>
              <p:nvPr>
                <p:ph/>
              </p:nvPr>
            </p:nvSpPr>
            <p:spPr/>
            <p:txBody>
              <a:bodyPr/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dirty="0"/>
                  <a:t>例：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𝑎</m:t>
                    </m:r>
                    <m:func>
                      <m:func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𝑐𝑜𝑠</m:t>
                        </m:r>
                      </m:fName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func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𝛩</m:t>
                    </m:r>
                    <m:r>
                      <a:rPr lang="zh-CN" altLang="zh-CN" i="1">
                        <a:latin typeface="Cambria Math" panose="02040503050406030204" pitchFamily="18" charset="0"/>
                      </a:rPr>
                      <m:t>）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 ,</m:t>
                    </m:r>
                    <m:r>
                      <a:rPr lang="zh-CN" altLang="zh-CN" i="1">
                        <a:latin typeface="Cambria Math" panose="02040503050406030204" pitchFamily="18" charset="0"/>
                      </a:rPr>
                      <m:t>随机相位</m:t>
                    </m:r>
                  </m:oMath>
                </a14:m>
                <a:r>
                  <a:rPr lang="zh-CN" altLang="en-US" dirty="0"/>
                  <a:t>信号，</a:t>
                </a:r>
                <a:r>
                  <a:rPr lang="en-US" altLang="zh-CN" i="1" dirty="0"/>
                  <a:t>a</a:t>
                </a:r>
                <a:r>
                  <a:rPr lang="zh-CN" altLang="en-US" dirty="0"/>
                  <a:t>为常数，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𝛩</m:t>
                    </m:r>
                  </m:oMath>
                </a14:m>
                <a:r>
                  <a:rPr lang="zh-CN" altLang="en-US" dirty="0"/>
                  <a:t>为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zh-CN" altLang="en-US" b="1" i="1" dirty="0" smtClean="0">
                            <a:latin typeface="Cambria Math" panose="02040503050406030204" pitchFamily="18" charset="0"/>
                          </a:rPr>
                          <m:t>𝝅</m:t>
                        </m:r>
                        <m:r>
                          <a:rPr lang="en-US" altLang="zh-CN" b="1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zh-CN" altLang="en-US" b="1" i="1" dirty="0" smtClean="0">
                            <a:latin typeface="Cambria Math" panose="02040503050406030204" pitchFamily="18" charset="0"/>
                          </a:rPr>
                          <m:t>𝝅</m:t>
                        </m:r>
                      </m:e>
                    </m:d>
                  </m:oMath>
                </a14:m>
                <a:r>
                  <a:rPr lang="zh-CN" altLang="en-US" dirty="0"/>
                  <a:t>均匀分布随机变量，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是否宽平稳？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zh-CN" altLang="en-US" dirty="0"/>
                  <a:t>解：</a:t>
                </a:r>
                <a:endParaRPr lang="zh-CN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)]=0</m:t>
                      </m:r>
                      <m:r>
                        <m:rPr>
                          <m:nor/>
                        </m:rPr>
                        <a:rPr lang="en-US" altLang="zh-CN"/>
                        <m:t>  </m:t>
                      </m:r>
                    </m:oMath>
                  </m:oMathPara>
                </a14:m>
                <a:endParaRPr lang="zh-CN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func>
                        <m:func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𝑐𝑜𝑠</m:t>
                          </m:r>
                        </m:fName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(</m:t>
                          </m:r>
                        </m:e>
                      </m:func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func>
                        <m:func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𝑐𝑜𝑠</m:t>
                          </m:r>
                        </m:fName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(</m:t>
                          </m:r>
                        </m:e>
                      </m:func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zh-CN" altLang="en-US" dirty="0"/>
                  <a:t>或</a:t>
                </a:r>
                <a:endParaRPr lang="en-US" altLang="zh-CN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[</m:t>
                      </m:r>
                      <m:sSup>
                        <m:sSup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altLang="zh-CN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)]</m:t>
                      </m:r>
                    </m:oMath>
                  </m:oMathPara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                                                      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zh-CN" altLang="zh-CN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func>
                      <m:func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𝑐𝑜𝑠</m:t>
                        </m:r>
                      </m:fName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func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)=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zh-CN" altLang="en-US" dirty="0"/>
                  <a:t>故是宽平稳信号。</a:t>
                </a:r>
                <a:endParaRPr lang="zh-CN" altLang="zh-CN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B7DBC556-3A0E-4008-9AAF-D6344F8567D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blipFill>
                <a:blip r:embed="rId3"/>
                <a:stretch>
                  <a:fillRect l="-1107" b="-30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663987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D7F2DBE8-DEAE-4FF3-BB29-A1DF9F556BD3}"/>
                  </a:ext>
                </a:extLst>
              </p:cNvPr>
              <p:cNvSpPr txBox="1"/>
              <p:nvPr>
                <p:custDataLst>
                  <p:tags r:id="rId2"/>
                </p:custDataLst>
              </p:nvPr>
            </p:nvSpPr>
            <p:spPr>
              <a:xfrm>
                <a:off x="983852" y="1896237"/>
                <a:ext cx="7315200" cy="1607344"/>
              </a:xfrm>
              <a:prstGeom prst="rect">
                <a:avLst/>
              </a:prstGeom>
              <a:noFill/>
            </p:spPr>
            <p:txBody>
              <a:bodyPr vert="horz" wrap="square" rtlCol="0" anchor="ctr" anchorCtr="0">
                <a:no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zh-CN" altLang="en-US" sz="195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已知随机信号</a:t>
                </a:r>
                <a14:m>
                  <m:oMath xmlns:m="http://schemas.openxmlformats.org/officeDocument/2006/math">
                    <m:r>
                      <a:rPr lang="en-US" altLang="zh-CN"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𝑆</m:t>
                    </m:r>
                    <m:d>
                      <m:dPr>
                        <m:ctrlPr>
                          <a:rPr lang="en-US" altLang="zh-CN"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𝑡</m:t>
                        </m:r>
                      </m:e>
                    </m:d>
                    <m:r>
                      <a:rPr lang="en-US" altLang="zh-CN"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=</m:t>
                    </m:r>
                    <m:r>
                      <a:rPr lang="en-US" altLang="zh-CN"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𝑋𝑐𝑜𝑠𝑡</m:t>
                    </m:r>
                    <m:r>
                      <a:rPr lang="en-US" altLang="zh-CN"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+</m:t>
                    </m:r>
                    <m:r>
                      <a:rPr lang="en-US" altLang="zh-CN"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𝑌𝑠𝑖𝑛𝑡</m:t>
                    </m:r>
                    <m:r>
                      <a:rPr lang="en-US" altLang="zh-CN"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, −∞&lt;</m:t>
                    </m:r>
                    <m:r>
                      <a:rPr lang="en-US" altLang="zh-CN"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Microsoft Yahei" panose="020B0503020204020204" pitchFamily="34" charset="-122"/>
                      </a:rPr>
                      <m:t>𝑡</m:t>
                    </m:r>
                    <m:r>
                      <a:rPr lang="en-US" altLang="zh-CN"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Microsoft Yahei" panose="020B0503020204020204" pitchFamily="34" charset="-122"/>
                      </a:rPr>
                      <m:t>&lt;∞</m:t>
                    </m:r>
                  </m:oMath>
                </a14:m>
                <a:r>
                  <a:rPr lang="en-US" altLang="zh-CN" sz="195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, </a:t>
                </a:r>
                <a:r>
                  <a:rPr lang="zh-CN" altLang="zh-CN" sz="195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其中</a:t>
                </a:r>
                <a14:m>
                  <m:oMath xmlns:m="http://schemas.openxmlformats.org/officeDocument/2006/math">
                    <m:r>
                      <a:rPr lang="en-US" altLang="zh-CN" sz="195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𝑋</m:t>
                    </m:r>
                    <m:r>
                      <a:rPr lang="en-US" altLang="zh-CN" sz="195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,</m:t>
                    </m:r>
                    <m:r>
                      <a:rPr lang="en-US" altLang="zh-CN" sz="195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𝑌</m:t>
                    </m:r>
                  </m:oMath>
                </a14:m>
                <a:r>
                  <a:rPr lang="zh-CN" altLang="zh-CN" sz="195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相互独立，分别以概率</a:t>
                </a:r>
                <a:r>
                  <a:rPr lang="en-US" altLang="zh-CN" sz="195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2/3</a:t>
                </a:r>
                <a:r>
                  <a:rPr lang="zh-CN" altLang="zh-CN" sz="195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和</a:t>
                </a:r>
                <a:r>
                  <a:rPr lang="en-US" altLang="zh-CN" sz="195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1/3</a:t>
                </a:r>
                <a:r>
                  <a:rPr lang="zh-CN" altLang="zh-CN" sz="195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取－</a:t>
                </a:r>
                <a:r>
                  <a:rPr lang="en-US" altLang="zh-CN" sz="195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1</a:t>
                </a:r>
                <a:r>
                  <a:rPr lang="zh-CN" altLang="zh-CN" sz="195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和</a:t>
                </a:r>
                <a:r>
                  <a:rPr lang="en-US" altLang="zh-CN" sz="195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2</a:t>
                </a:r>
                <a:r>
                  <a:rPr lang="zh-CN" altLang="zh-CN" sz="195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，判断</a:t>
                </a:r>
                <a:r>
                  <a:rPr lang="en-US" altLang="zh-CN" sz="195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S(t)</a:t>
                </a:r>
                <a:r>
                  <a:rPr lang="zh-CN" altLang="zh-CN" sz="195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是否宽平稳？</a:t>
                </a:r>
              </a:p>
              <a:p>
                <a:endParaRPr lang="zh-CN" altLang="en-US" sz="1950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D7F2DBE8-DEAE-4FF3-BB29-A1DF9F556B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2"/>
                </p:custDataLst>
              </p:nvPr>
            </p:nvSpPr>
            <p:spPr>
              <a:xfrm>
                <a:off x="983852" y="1896237"/>
                <a:ext cx="7315200" cy="1607344"/>
              </a:xfrm>
              <a:prstGeom prst="rect">
                <a:avLst/>
              </a:prstGeom>
              <a:blipFill>
                <a:blip r:embed="rId13"/>
                <a:stretch>
                  <a:fillRect l="-8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矩形: 圆角 5">
            <a:extLst>
              <a:ext uri="{FF2B5EF4-FFF2-40B4-BE49-F238E27FC236}">
                <a16:creationId xmlns:a16="http://schemas.microsoft.com/office/drawing/2014/main" id="{F2CC456F-849B-41FD-AB57-E1650B914258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6686550" y="5518547"/>
            <a:ext cx="1157288" cy="30861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rtlCol="0" anchor="ctr" anchorCtr="1" compatLnSpc="1">
            <a:prstTxWarp prst="textNoShape">
              <a:avLst/>
            </a:prstTxWarp>
            <a:noAutofit/>
          </a:bodyPr>
          <a:lstStyle/>
          <a:p>
            <a:pPr defTabSz="685800"/>
            <a:r>
              <a:rPr lang="zh-CN" altLang="en-US" sz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462BB08-1822-48AA-9C16-DCDE5B277BB5}"/>
              </a:ext>
            </a:extLst>
          </p:cNvPr>
          <p:cNvSpPr/>
          <p:nvPr>
            <p:custDataLst>
              <p:tags r:id="rId4"/>
            </p:custDataLst>
          </p:nvPr>
        </p:nvSpPr>
        <p:spPr bwMode="auto">
          <a:xfrm>
            <a:off x="0" y="5152787"/>
            <a:ext cx="9144000" cy="365760"/>
          </a:xfrm>
          <a:prstGeom prst="rect">
            <a:avLst/>
          </a:prstGeom>
          <a:solidFill>
            <a:srgbClr val="FBFAE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rtlCol="0" anchor="ctr" anchorCtr="1" compatLnSpc="1">
            <a:prstTxWarp prst="textNoShape">
              <a:avLst/>
            </a:prstTxWarp>
            <a:no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正常使用主观题需</a:t>
            </a:r>
            <a:r>
              <a:rPr lang="en-US" altLang="zh-CN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2.0</a:t>
            </a:r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以上版本雨课堂</a:t>
            </a: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12DD3143-66FB-4EAB-8DB9-F2E93A1BA1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6944" y="1242291"/>
            <a:ext cx="138564" cy="3462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DB662D3E-88FC-4537-8B23-BD93D7EBA428}"/>
              </a:ext>
            </a:extLst>
          </p:cNvPr>
          <p:cNvGrpSpPr/>
          <p:nvPr>
            <p:custDataLst>
              <p:tags r:id="rId5"/>
            </p:custDataLst>
          </p:nvPr>
        </p:nvGrpSpPr>
        <p:grpSpPr>
          <a:xfrm>
            <a:off x="0" y="0"/>
            <a:ext cx="9144000" cy="490220"/>
            <a:chOff x="0" y="-1143000"/>
            <a:chExt cx="12192000" cy="653627"/>
          </a:xfrm>
        </p:grpSpPr>
        <p:sp>
          <p:nvSpPr>
            <p:cNvPr id="7" name="TitleBackground">
              <a:extLst>
                <a:ext uri="{FF2B5EF4-FFF2-40B4-BE49-F238E27FC236}">
                  <a16:creationId xmlns:a16="http://schemas.microsoft.com/office/drawing/2014/main" id="{E2D732F1-E583-46F0-9BFC-DDE31EE89AB1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 bwMode="auto">
            <a:xfrm>
              <a:off x="0" y="-1143000"/>
              <a:ext cx="12192000" cy="635000"/>
            </a:xfrm>
            <a:prstGeom prst="rect">
              <a:avLst/>
            </a:prstGeom>
            <a:solidFill>
              <a:srgbClr val="F6F7F8"/>
            </a:solidFill>
            <a:ln w="952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" name="ColorBlock">
              <a:extLst>
                <a:ext uri="{FF2B5EF4-FFF2-40B4-BE49-F238E27FC236}">
                  <a16:creationId xmlns:a16="http://schemas.microsoft.com/office/drawing/2014/main" id="{52329AAA-18F6-4B8B-856E-835C9C1FA5C0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 bwMode="auto">
            <a:xfrm>
              <a:off x="0" y="-114300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" name="TypeText">
              <a:extLst>
                <a:ext uri="{FF2B5EF4-FFF2-40B4-BE49-F238E27FC236}">
                  <a16:creationId xmlns:a16="http://schemas.microsoft.com/office/drawing/2014/main" id="{73B5EA42-B9A9-4A7F-8F10-E90CC0BE5515}"/>
                </a:ext>
              </a:extLst>
            </p:cNvPr>
            <p:cNvSpPr txBox="1"/>
            <p:nvPr>
              <p:custDataLst>
                <p:tags r:id="rId9"/>
              </p:custDataLst>
            </p:nvPr>
          </p:nvSpPr>
          <p:spPr>
            <a:xfrm>
              <a:off x="338667" y="-114300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195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主观题</a:t>
              </a:r>
            </a:p>
          </p:txBody>
        </p:sp>
        <p:sp>
          <p:nvSpPr>
            <p:cNvPr id="10" name="TipText">
              <a:extLst>
                <a:ext uri="{FF2B5EF4-FFF2-40B4-BE49-F238E27FC236}">
                  <a16:creationId xmlns:a16="http://schemas.microsoft.com/office/drawing/2014/main" id="{A953CECF-25D5-4AF7-9C02-CFC8A48996F3}"/>
                </a:ext>
              </a:extLst>
            </p:cNvPr>
            <p:cNvSpPr txBox="1"/>
            <p:nvPr>
              <p:custDataLst>
                <p:tags r:id="rId10"/>
              </p:custDataLst>
            </p:nvPr>
          </p:nvSpPr>
          <p:spPr>
            <a:xfrm>
              <a:off x="1670473" y="-997373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15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10</a:t>
              </a:r>
              <a:r>
                <a:rPr lang="zh-CN" altLang="en-US" sz="15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898D039B-A962-4EA3-A056-6B6F877F4632}"/>
              </a:ext>
            </a:extLst>
          </p:cNvPr>
          <p:cNvPicPr>
            <a:picLocks/>
          </p:cNvPicPr>
          <p:nvPr>
            <p:custDataLst>
              <p:tags r:id="rId6"/>
            </p:custData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2126455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C8390089-5EF0-4784-9239-EE357FA5D801}"/>
                  </a:ext>
                </a:extLst>
              </p:cNvPr>
              <p:cNvSpPr>
                <a:spLocks noGrp="1"/>
              </p:cNvSpPr>
              <p:nvPr>
                <p:ph/>
              </p:nvPr>
            </p:nvSpPr>
            <p:spPr>
              <a:xfrm>
                <a:off x="329184" y="1325440"/>
                <a:ext cx="8700516" cy="4300406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zh-CN" altLang="zh-CN" dirty="0"/>
                  <a:t>解：</a:t>
                </a:r>
              </a:p>
              <a:p>
                <a:pPr marL="0" indent="0">
                  <a:spcAft>
                    <a:spcPts val="9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]=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]=0,</m:t>
                      </m:r>
                      <m:r>
                        <m:rPr>
                          <m:nor/>
                        </m:rPr>
                        <a:rPr lang="en-US" altLang="zh-CN"/>
                        <m:t>    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altLang="zh-CN">
                          <a:latin typeface="Cambria Math" panose="02040503050406030204" pitchFamily="18" charset="0"/>
                        </a:rPr>
                        <m:t>[</m:t>
                      </m:r>
                      <m:sSup>
                        <m:sSup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i="1">
                          <a:latin typeface="Cambria Math" panose="02040503050406030204" pitchFamily="18" charset="0"/>
                        </a:rPr>
                        <m:t>]=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[</m:t>
                      </m:r>
                      <m:sSup>
                        <m:sSup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i="1">
                          <a:latin typeface="Cambria Math" panose="02040503050406030204" pitchFamily="18" charset="0"/>
                        </a:rPr>
                        <m:t>]=2</m:t>
                      </m:r>
                    </m:oMath>
                  </m:oMathPara>
                </a14:m>
                <a:endParaRPr lang="zh-CN" altLang="zh-CN" dirty="0"/>
              </a:p>
              <a:p>
                <a:pPr marL="0" indent="0">
                  <a:spcAft>
                    <a:spcPts val="9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)]=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𝑋</m:t>
                      </m:r>
                      <m:func>
                        <m:func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𝑐𝑜𝑠</m:t>
                          </m:r>
                        </m:fName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(</m:t>
                          </m:r>
                        </m:e>
                      </m:func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)+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𝑌</m:t>
                      </m:r>
                      <m:func>
                        <m:func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𝑠𝑖𝑛</m:t>
                          </m:r>
                        </m:fName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(</m:t>
                          </m:r>
                        </m:e>
                      </m:func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)]=0</m:t>
                      </m:r>
                    </m:oMath>
                  </m:oMathPara>
                </a14:m>
                <a:endParaRPr lang="zh-CN" altLang="zh-CN" dirty="0"/>
              </a:p>
              <a:p>
                <a:pPr marL="0" indent="0">
                  <a:spcAft>
                    <a:spcPts val="9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𝑺</m:t>
                          </m:r>
                        </m:sub>
                      </m:sSub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𝑆</m:t>
                          </m:r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𝑆</m:t>
                          </m:r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lang="en-US" altLang="zh-CN" i="1" dirty="0">
                  <a:latin typeface="Cambria Math" panose="02040503050406030204" pitchFamily="18" charset="0"/>
                </a:endParaRPr>
              </a:p>
              <a:p>
                <a:pPr marL="0" indent="0">
                  <a:spcAft>
                    <a:spcPts val="9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altLang="zh-CN">
                          <a:latin typeface="Cambria Math" panose="02040503050406030204" pitchFamily="18" charset="0"/>
                        </a:rPr>
                        <m:t>[(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𝑋</m:t>
                      </m:r>
                      <m:func>
                        <m:func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𝑐𝑜𝑠𝑡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fName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+</m:t>
                          </m:r>
                        </m:e>
                      </m:func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𝑌</m:t>
                      </m:r>
                      <m:func>
                        <m:func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𝑠𝑖𝑛𝑡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fName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  <m:r>
                        <a:rPr lang="en-US" altLang="zh-CN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𝑋</m:t>
                      </m:r>
                      <m:func>
                        <m:func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𝑐𝑜𝑠𝑡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+</m:t>
                          </m:r>
                        </m:e>
                      </m:func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𝑌</m:t>
                      </m:r>
                      <m:func>
                        <m:func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𝑠𝑖𝑛𝑡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  <m:r>
                        <a:rPr lang="en-US" altLang="zh-CN" i="1">
                          <a:latin typeface="Cambria Math" panose="02040503050406030204" pitchFamily="18" charset="0"/>
                        </a:rPr>
                        <m:t>]</m:t>
                      </m:r>
                      <m:r>
                        <m:rPr>
                          <m:nor/>
                        </m:rPr>
                        <a:rPr lang="en-US" altLang="zh-CN"/>
                        <m:t>             </m:t>
                      </m:r>
                    </m:oMath>
                  </m:oMathPara>
                </a14:m>
                <a:endParaRPr lang="en-US" altLang="zh-CN" dirty="0"/>
              </a:p>
              <a:p>
                <a:pPr marL="0" indent="0">
                  <a:spcAft>
                    <a:spcPts val="9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altLang="zh-CN">
                          <a:latin typeface="Cambria Math" panose="02040503050406030204" pitchFamily="18" charset="0"/>
                        </a:rPr>
                        <m:t>[</m:t>
                      </m:r>
                      <m:sSup>
                        <m:sSup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i="1">
                          <a:latin typeface="Cambria Math" panose="02040503050406030204" pitchFamily="18" charset="0"/>
                        </a:rPr>
                        <m:t>]</m:t>
                      </m:r>
                      <m:func>
                        <m:func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𝑐𝑜𝑠𝑡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fName>
                        <m:e>
                          <m:func>
                            <m:func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zh-CN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𝑐𝑜𝑠𝑡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e>
                          </m:func>
                        </m:e>
                      </m:func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[</m:t>
                      </m:r>
                      <m:sSup>
                        <m:sSup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i="1">
                          <a:latin typeface="Cambria Math" panose="02040503050406030204" pitchFamily="18" charset="0"/>
                        </a:rPr>
                        <m:t>]</m:t>
                      </m:r>
                      <m:func>
                        <m:func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𝑠𝑖𝑛𝑡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fName>
                        <m:e>
                          <m:func>
                            <m:func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zh-CN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𝑠𝑖𝑛𝑡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e>
                          </m:func>
                        </m:e>
                      </m:func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𝑋𝑌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](</m:t>
                      </m:r>
                      <m:func>
                        <m:func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𝑐𝑜𝑠𝑡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fName>
                        <m:e>
                          <m:func>
                            <m:func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zh-CN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𝑠𝑖𝑛𝑡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e>
                          </m:func>
                        </m:e>
                      </m:func>
                      <m:func>
                        <m:func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𝑠𝑖𝑛𝑡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fName>
                        <m:e>
                          <m:func>
                            <m:func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zh-CN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𝑐𝑜𝑠𝑡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func>
                        </m:e>
                      </m:func>
                    </m:oMath>
                  </m:oMathPara>
                </a14:m>
                <a:endParaRPr lang="en-US" altLang="zh-CN" i="1" dirty="0">
                  <a:latin typeface="Cambria Math" panose="02040503050406030204" pitchFamily="18" charset="0"/>
                </a:endParaRPr>
              </a:p>
              <a:p>
                <a:pPr marL="0" indent="0">
                  <a:spcAft>
                    <a:spcPts val="9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>
                          <a:latin typeface="Cambria Math" panose="02040503050406030204" pitchFamily="18" charset="0"/>
                        </a:rPr>
                        <m:t>=2</m:t>
                      </m:r>
                      <m:func>
                        <m:func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𝑐𝑜𝑠</m:t>
                          </m:r>
                        </m:fName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(</m:t>
                          </m:r>
                        </m:e>
                      </m:func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)+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]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]</m:t>
                      </m:r>
                      <m:func>
                        <m:func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𝑠𝑖𝑛</m:t>
                          </m:r>
                        </m:fName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(</m:t>
                          </m:r>
                        </m:e>
                      </m:func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i="1" dirty="0">
                  <a:latin typeface="Cambria Math" panose="02040503050406030204" pitchFamily="18" charset="0"/>
                </a:endParaRPr>
              </a:p>
              <a:p>
                <a:pPr marL="0" indent="0">
                  <a:spcAft>
                    <a:spcPts val="9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>
                          <a:latin typeface="Cambria Math" panose="02040503050406030204" pitchFamily="18" charset="0"/>
                        </a:rPr>
                        <m:t>2</m:t>
                      </m:r>
                      <m:func>
                        <m:funcPr>
                          <m:ctrlPr>
                            <a:rPr lang="zh-CN" altLang="zh-CN" b="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𝑐𝑜𝑠</m:t>
                          </m:r>
                        </m:fName>
                        <m:e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(</m:t>
                          </m:r>
                        </m:e>
                      </m:func>
                      <m:sSub>
                        <m:sSubPr>
                          <m:ctrlPr>
                            <a:rPr lang="zh-CN" altLang="zh-CN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zh-CN" altLang="zh-CN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b="0" i="1" dirty="0">
                  <a:latin typeface="Cambria Math" panose="02040503050406030204" pitchFamily="18" charset="0"/>
                </a:endParaRPr>
              </a:p>
              <a:p>
                <a:pPr marL="0" indent="0">
                  <a:spcAft>
                    <a:spcPts val="9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𝑐𝑜𝑠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b="0" i="1" smtClean="0"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zh-CN" b="0" dirty="0"/>
              </a:p>
              <a:p>
                <a:pPr marL="0" indent="0">
                  <a:spcAft>
                    <a:spcPts val="900"/>
                  </a:spcAft>
                  <a:buNone/>
                </a:pPr>
                <a:r>
                  <a:rPr lang="zh-CN" altLang="en-US" dirty="0"/>
                  <a:t>显然，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是宽平稳随机信号。</a:t>
                </a:r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C8390089-5EF0-4784-9239-EE357FA5D80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xfrm>
                <a:off x="329184" y="1325440"/>
                <a:ext cx="8700516" cy="4300406"/>
              </a:xfrm>
              <a:blipFill>
                <a:blip r:embed="rId2"/>
                <a:stretch>
                  <a:fillRect l="-841" t="-1275" b="-17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779635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924EE2F6-BDB2-43ED-921A-E091C1ED0041}"/>
              </a:ext>
            </a:extLst>
          </p:cNvPr>
          <p:cNvSpPr>
            <a:spLocks noGrp="1"/>
          </p:cNvSpPr>
          <p:nvPr>
            <p:ph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CN" dirty="0">
                <a:solidFill>
                  <a:schemeClr val="accent2"/>
                </a:solidFill>
                <a:latin typeface="+mj-ea"/>
                <a:ea typeface="+mj-ea"/>
              </a:rPr>
              <a:t>4. </a:t>
            </a:r>
            <a:r>
              <a:rPr lang="zh-CN" altLang="zh-CN" dirty="0">
                <a:solidFill>
                  <a:schemeClr val="accent2"/>
                </a:solidFill>
                <a:latin typeface="+mj-ea"/>
                <a:ea typeface="+mj-ea"/>
              </a:rPr>
              <a:t>严格平稳和</a:t>
            </a:r>
            <a:r>
              <a:rPr lang="zh-CN" altLang="en-US" dirty="0">
                <a:solidFill>
                  <a:schemeClr val="accent2"/>
                </a:solidFill>
                <a:latin typeface="+mj-ea"/>
                <a:ea typeface="+mj-ea"/>
              </a:rPr>
              <a:t>宽</a:t>
            </a:r>
            <a:r>
              <a:rPr lang="zh-CN" altLang="zh-CN" dirty="0">
                <a:solidFill>
                  <a:schemeClr val="accent2"/>
                </a:solidFill>
                <a:latin typeface="+mj-ea"/>
                <a:ea typeface="+mj-ea"/>
              </a:rPr>
              <a:t>平稳的关系</a:t>
            </a:r>
          </a:p>
          <a:p>
            <a:pPr marL="0" indent="0">
              <a:buNone/>
            </a:pPr>
            <a:r>
              <a:rPr lang="en-US" altLang="zh-CN" dirty="0"/>
              <a:t>1</a:t>
            </a:r>
            <a:r>
              <a:rPr lang="zh-CN" altLang="zh-CN" dirty="0"/>
              <a:t>）严格平稳</a:t>
            </a:r>
            <a:r>
              <a:rPr lang="zh-CN" altLang="zh-CN" dirty="0">
                <a:solidFill>
                  <a:srgbClr val="FF0000"/>
                </a:solidFill>
              </a:rPr>
              <a:t>只要均方值存在</a:t>
            </a:r>
            <a:r>
              <a:rPr lang="zh-CN" altLang="zh-CN" dirty="0"/>
              <a:t>，即为宽平稳。</a:t>
            </a:r>
          </a:p>
          <a:p>
            <a:pPr marL="0" indent="0">
              <a:buNone/>
            </a:pPr>
            <a:r>
              <a:rPr lang="en-US" altLang="zh-CN" dirty="0"/>
              <a:t>2</a:t>
            </a:r>
            <a:r>
              <a:rPr lang="zh-CN" altLang="zh-CN" dirty="0"/>
              <a:t>）宽平稳不一定严平稳。</a:t>
            </a:r>
          </a:p>
          <a:p>
            <a:pPr marL="0" indent="0">
              <a:buNone/>
            </a:pPr>
            <a:r>
              <a:rPr lang="en-US" altLang="zh-CN" dirty="0"/>
              <a:t>3</a:t>
            </a:r>
            <a:r>
              <a:rPr lang="zh-CN" altLang="zh-CN" dirty="0"/>
              <a:t>）</a:t>
            </a:r>
            <a:r>
              <a:rPr lang="zh-CN" altLang="en-US" dirty="0"/>
              <a:t>宽</a:t>
            </a:r>
            <a:r>
              <a:rPr lang="zh-CN" altLang="zh-CN" dirty="0"/>
              <a:t>平稳的高斯随机信号一定是严格平稳。</a:t>
            </a:r>
            <a:endParaRPr lang="en-US" altLang="zh-CN" dirty="0"/>
          </a:p>
          <a:p>
            <a:pPr marL="0" indent="0">
              <a:buNone/>
            </a:pPr>
            <a:endParaRPr lang="zh-CN" altLang="zh-CN" dirty="0"/>
          </a:p>
          <a:p>
            <a:pPr>
              <a:buFont typeface="Wingdings" panose="05000000000000000000" pitchFamily="2" charset="2"/>
              <a:buChar char="p"/>
            </a:pPr>
            <a:r>
              <a:rPr lang="zh-CN" altLang="zh-CN" dirty="0"/>
              <a:t>例：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dirty="0"/>
              <a:t> </a:t>
            </a:r>
            <a:r>
              <a:rPr lang="zh-CN" altLang="zh-CN" dirty="0"/>
              <a:t>随机正弦信号是</a:t>
            </a:r>
            <a:r>
              <a:rPr lang="zh-CN" altLang="en-US" dirty="0"/>
              <a:t>宽</a:t>
            </a:r>
            <a:r>
              <a:rPr lang="zh-CN" altLang="zh-CN" dirty="0"/>
              <a:t>平稳信号。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zh-CN" altLang="zh-CN" dirty="0"/>
              <a:t>贝努利随机信号是严格平稳，也是</a:t>
            </a:r>
            <a:r>
              <a:rPr lang="zh-CN" altLang="en-US" dirty="0"/>
              <a:t>宽</a:t>
            </a:r>
            <a:r>
              <a:rPr lang="zh-CN" altLang="zh-CN" dirty="0"/>
              <a:t>平稳。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US" altLang="zh-CN" dirty="0"/>
              <a:t> </a:t>
            </a:r>
            <a:r>
              <a:rPr lang="zh-CN" altLang="zh-CN" dirty="0"/>
              <a:t>半随机二进制传输信号、泊松信号都是非</a:t>
            </a:r>
            <a:r>
              <a:rPr lang="zh-CN" altLang="en-US" dirty="0"/>
              <a:t>宽</a:t>
            </a:r>
            <a:r>
              <a:rPr lang="zh-CN" altLang="zh-CN" dirty="0"/>
              <a:t>平稳的。</a:t>
            </a:r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811379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3">
                <a:extLst>
                  <a:ext uri="{FF2B5EF4-FFF2-40B4-BE49-F238E27FC236}">
                    <a16:creationId xmlns:a16="http://schemas.microsoft.com/office/drawing/2014/main" id="{15B4170A-A429-464B-9915-B70C8DF1523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1520" y="404664"/>
                <a:ext cx="8641493" cy="5336313"/>
              </a:xfrm>
            </p:spPr>
            <p:txBody>
              <a:bodyPr>
                <a:normAutofit fontScale="62500" lnSpcReduction="20000"/>
              </a:bodyPr>
              <a:lstStyle/>
              <a:p>
                <a:pPr marL="0" indent="0">
                  <a:buNone/>
                </a:pPr>
                <a:r>
                  <a:rPr lang="en-US" altLang="zh-CN" sz="3800" dirty="0">
                    <a:solidFill>
                      <a:srgbClr val="FF0000"/>
                    </a:solidFill>
                  </a:rPr>
                  <a:t>1 </a:t>
                </a:r>
                <a:r>
                  <a:rPr lang="zh-CN" altLang="zh-CN" sz="3800" dirty="0">
                    <a:solidFill>
                      <a:srgbClr val="FF0000"/>
                    </a:solidFill>
                  </a:rPr>
                  <a:t>随机正弦信号</a:t>
                </a:r>
                <a:r>
                  <a:rPr lang="en-US" altLang="zh-CN" sz="3800" dirty="0">
                    <a:solidFill>
                      <a:srgbClr val="FF0000"/>
                    </a:solidFill>
                  </a:rPr>
                  <a:t> </a:t>
                </a:r>
                <a:r>
                  <a:rPr lang="zh-CN" altLang="en-US" sz="3800" dirty="0">
                    <a:solidFill>
                      <a:srgbClr val="7030A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方正粗黑宋简体" panose="02000000000000000000" pitchFamily="2" charset="-122"/>
                    <a:ea typeface="方正粗黑宋简体" panose="02000000000000000000" pitchFamily="2" charset="-122"/>
                  </a:rPr>
                  <a:t>（广义平稳信号）</a:t>
                </a:r>
                <a:endParaRPr lang="zh-CN" altLang="zh-CN" sz="3800" dirty="0">
                  <a:solidFill>
                    <a:srgbClr val="7030A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粗黑宋简体" panose="02000000000000000000" pitchFamily="2" charset="-122"/>
                  <a:ea typeface="方正粗黑宋简体" panose="02000000000000000000" pitchFamily="2" charset="-122"/>
                </a:endParaRPr>
              </a:p>
              <a:p>
                <a:pPr marL="0" indent="0">
                  <a:buNone/>
                </a:pPr>
                <a:r>
                  <a:rPr lang="zh-CN" altLang="zh-CN" sz="3200" dirty="0"/>
                  <a:t>正弦信号的参数：振幅、角频率、相位，部分或全部为随机变量。</a:t>
                </a:r>
                <a:r>
                  <a:rPr lang="en-US" altLang="zh-CN" sz="3200" dirty="0"/>
                  <a:t> </a:t>
                </a:r>
                <a:endParaRPr lang="zh-CN" altLang="zh-CN" sz="3200" dirty="0"/>
              </a:p>
              <a:p>
                <a:pPr marL="0" indent="0">
                  <a:buNone/>
                </a:pPr>
                <a:r>
                  <a:rPr lang="x-none" altLang="zh-CN" sz="3200" dirty="0">
                    <a:solidFill>
                      <a:schemeClr val="accent2"/>
                    </a:solidFill>
                  </a:rPr>
                  <a:t>1. </a:t>
                </a:r>
                <a:r>
                  <a:rPr lang="zh-CN" altLang="zh-CN" sz="3200" dirty="0">
                    <a:solidFill>
                      <a:schemeClr val="accent2"/>
                    </a:solidFill>
                  </a:rPr>
                  <a:t>振幅、角频率为常数，相位是随机变量</a:t>
                </a:r>
                <a:r>
                  <a:rPr lang="x-none" altLang="zh-CN" sz="3200" dirty="0">
                    <a:solidFill>
                      <a:schemeClr val="accent2"/>
                    </a:solidFill>
                  </a:rPr>
                  <a:t> </a:t>
                </a:r>
                <a:endParaRPr lang="zh-CN" altLang="zh-CN" sz="3200" dirty="0">
                  <a:solidFill>
                    <a:schemeClr val="accent2"/>
                  </a:solidFill>
                </a:endParaRPr>
              </a:p>
              <a:p>
                <a:pPr marL="0" indent="0">
                  <a:buNone/>
                </a:pPr>
                <a:r>
                  <a:rPr lang="zh-CN" altLang="zh-CN" sz="3200" dirty="0"/>
                  <a:t>例：随机过程</a:t>
                </a:r>
                <a14:m>
                  <m:oMath xmlns:m="http://schemas.openxmlformats.org/officeDocument/2006/math">
                    <m:r>
                      <a:rPr lang="en-US" altLang="zh-CN" sz="32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sz="32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32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sz="3200" i="1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altLang="zh-CN" sz="3200" i="1">
                        <a:latin typeface="Cambria Math" panose="02040503050406030204" pitchFamily="18" charset="0"/>
                      </a:rPr>
                      <m:t>𝑎</m:t>
                    </m:r>
                    <m:func>
                      <m:funcPr>
                        <m:ctrlPr>
                          <a:rPr lang="zh-CN" altLang="zh-CN" sz="32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𝑐𝑜𝑠</m:t>
                        </m:r>
                      </m:fName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func>
                    <m:sSub>
                      <m:sSubPr>
                        <m:ctrlPr>
                          <a:rPr lang="zh-CN" altLang="zh-CN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32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sz="32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3200" i="1">
                        <a:latin typeface="Cambria Math" panose="02040503050406030204" pitchFamily="18" charset="0"/>
                      </a:rPr>
                      <m:t>𝛩</m:t>
                    </m:r>
                    <m:r>
                      <a:rPr lang="en-US" altLang="zh-CN" sz="32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zh-CN" sz="3200" dirty="0"/>
                  <a:t>，</a:t>
                </a:r>
                <a:r>
                  <a:rPr lang="en-US" altLang="zh-CN" sz="3200" dirty="0"/>
                  <a:t>   </a:t>
                </a:r>
                <a:r>
                  <a:rPr lang="en-US" altLang="zh-CN" sz="3200" i="1" dirty="0"/>
                  <a:t>a</a:t>
                </a:r>
                <a:r>
                  <a:rPr lang="zh-CN" altLang="zh-CN" sz="3200" i="1" dirty="0"/>
                  <a:t>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zh-CN" sz="3200" dirty="0"/>
                  <a:t>常数，相位</a:t>
                </a:r>
                <a14:m>
                  <m:oMath xmlns:m="http://schemas.openxmlformats.org/officeDocument/2006/math">
                    <m:r>
                      <a:rPr lang="en-US" altLang="zh-CN" sz="3200" i="1">
                        <a:latin typeface="Cambria Math" panose="02040503050406030204" pitchFamily="18" charset="0"/>
                      </a:rPr>
                      <m:t>𝛩</m:t>
                    </m:r>
                  </m:oMath>
                </a14:m>
                <a:r>
                  <a:rPr lang="zh-CN" altLang="zh-CN" sz="3200" dirty="0"/>
                  <a:t>在</a:t>
                </a:r>
                <a:r>
                  <a:rPr lang="en-US" altLang="zh-CN" sz="3200" dirty="0"/>
                  <a:t>(0</a:t>
                </a:r>
                <a:r>
                  <a:rPr lang="zh-CN" altLang="zh-CN" sz="3200" dirty="0"/>
                  <a:t>，</a:t>
                </a:r>
                <a:r>
                  <a:rPr lang="en-US" altLang="zh-CN" sz="3200" dirty="0"/>
                  <a:t>2</a:t>
                </a:r>
                <a14:m>
                  <m:oMath xmlns:m="http://schemas.openxmlformats.org/officeDocument/2006/math">
                    <m:r>
                      <a:rPr lang="en-US" altLang="zh-CN" sz="3200" i="1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altLang="zh-CN" sz="3200" dirty="0"/>
                  <a:t>)</a:t>
                </a:r>
                <a:r>
                  <a:rPr lang="zh-CN" altLang="zh-CN" sz="3200" dirty="0"/>
                  <a:t>均匀分布，求</a:t>
                </a:r>
                <a:r>
                  <a:rPr lang="en-US" altLang="zh-CN" sz="3200" i="1" dirty="0"/>
                  <a:t>X</a:t>
                </a:r>
                <a:r>
                  <a:rPr lang="en-US" altLang="zh-CN" sz="3200" dirty="0"/>
                  <a:t>(</a:t>
                </a:r>
                <a:r>
                  <a:rPr lang="en-US" altLang="zh-CN" sz="3200" i="1" dirty="0"/>
                  <a:t>t</a:t>
                </a:r>
                <a:r>
                  <a:rPr lang="en-US" altLang="zh-CN" sz="3200" dirty="0"/>
                  <a:t>)</a:t>
                </a:r>
                <a:r>
                  <a:rPr lang="zh-CN" altLang="zh-CN" sz="3200" dirty="0"/>
                  <a:t>的均值、自相关。</a:t>
                </a:r>
              </a:p>
              <a:p>
                <a:pPr marL="0" indent="0">
                  <a:buNone/>
                </a:pPr>
                <a:r>
                  <a:rPr lang="zh-CN" altLang="zh-CN" sz="3200" dirty="0"/>
                  <a:t>解：</a:t>
                </a:r>
                <a:endParaRPr lang="en-US" altLang="zh-CN" sz="32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900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9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900" i="1">
                              <a:latin typeface="Cambria Math" panose="02040503050406030204" pitchFamily="18" charset="0"/>
                            </a:rPr>
                            <m:t>𝑋</m:t>
                          </m:r>
                          <m:d>
                            <m:dPr>
                              <m:ctrlPr>
                                <a:rPr lang="en-US" altLang="zh-CN" sz="29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9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d>
                      <m:r>
                        <a:rPr lang="en-US" altLang="zh-CN" sz="29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zh-CN" altLang="zh-CN" sz="29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2900" i="1">
                              <a:latin typeface="Cambria Math" panose="02040503050406030204" pitchFamily="18" charset="0"/>
                            </a:rPr>
                            <m:t>−∞</m:t>
                          </m:r>
                        </m:sub>
                        <m:sup>
                          <m:r>
                            <a:rPr lang="en-US" altLang="zh-CN" sz="2900" i="1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altLang="zh-CN" sz="2900" i="1">
                              <a:latin typeface="Cambria Math" panose="02040503050406030204" pitchFamily="18" charset="0"/>
                            </a:rPr>
                            <m:t>𝑎</m:t>
                          </m:r>
                          <m:func>
                            <m:funcPr>
                              <m:ctrlPr>
                                <a:rPr lang="zh-CN" altLang="zh-CN" sz="29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US" altLang="zh-CN" sz="2900" i="1">
                                  <a:latin typeface="Cambria Math" panose="02040503050406030204" pitchFamily="18" charset="0"/>
                                </a:rPr>
                                <m:t>𝑐𝑜𝑠</m:t>
                              </m:r>
                            </m:fName>
                            <m:e>
                              <m:r>
                                <a:rPr lang="en-US" altLang="zh-CN" sz="29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</m:e>
                          </m:func>
                          <m:sSub>
                            <m:sSubPr>
                              <m:ctrlPr>
                                <a:rPr lang="zh-CN" altLang="zh-CN" sz="29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900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zh-CN" sz="29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zh-CN" sz="29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sz="29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900" i="1">
                              <a:latin typeface="Cambria Math" panose="02040503050406030204" pitchFamily="18" charset="0"/>
                            </a:rPr>
                            <m:t>𝛩</m:t>
                          </m:r>
                          <m:r>
                            <a:rPr lang="en-US" altLang="zh-CN" sz="2900" i="1">
                              <a:latin typeface="Cambria Math" panose="02040503050406030204" pitchFamily="18" charset="0"/>
                            </a:rPr>
                            <m:t>)⋅</m:t>
                          </m:r>
                          <m:sSub>
                            <m:sSubPr>
                              <m:ctrlPr>
                                <a:rPr lang="zh-CN" altLang="zh-CN" sz="29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9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zh-CN" sz="2900" i="1">
                                  <a:latin typeface="Cambria Math" panose="02040503050406030204" pitchFamily="18" charset="0"/>
                                </a:rPr>
                                <m:t>𝛩</m:t>
                              </m:r>
                            </m:sub>
                          </m:sSub>
                          <m:r>
                            <a:rPr lang="en-US" altLang="zh-CN" sz="29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900" i="1"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lang="en-US" altLang="zh-CN" sz="2900" i="1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US" altLang="zh-CN" sz="2900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altLang="zh-CN" sz="2900" i="1"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lang="en-US" altLang="zh-CN" sz="2900" i="1">
                              <a:latin typeface="Cambria Math" panose="02040503050406030204" pitchFamily="18" charset="0"/>
                            </a:rPr>
                            <m:t>=</m:t>
                          </m:r>
                          <m:nary>
                            <m:naryPr>
                              <m:ctrlPr>
                                <a:rPr lang="zh-CN" altLang="zh-CN" sz="29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CN" sz="29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altLang="zh-CN" sz="29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altLang="zh-CN" sz="2900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sup>
                            <m:e>
                              <m:r>
                                <a:rPr lang="en-US" altLang="zh-CN" sz="29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func>
                                <m:funcPr>
                                  <m:ctrlPr>
                                    <a:rPr lang="zh-CN" altLang="zh-CN" sz="29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a:rPr lang="en-US" altLang="zh-CN" sz="2900" i="1">
                                      <a:latin typeface="Cambria Math" panose="02040503050406030204" pitchFamily="18" charset="0"/>
                                    </a:rPr>
                                    <m:t>𝑐𝑜𝑠</m:t>
                                  </m:r>
                                </m:fName>
                                <m:e>
                                  <m:r>
                                    <a:rPr lang="en-US" altLang="zh-CN" sz="2900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</m:e>
                              </m:func>
                              <m:sSub>
                                <m:sSubPr>
                                  <m:ctrlPr>
                                    <a:rPr lang="zh-CN" altLang="zh-CN" sz="29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900" i="1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zh-CN" sz="29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altLang="zh-CN" sz="29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zh-CN" sz="29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29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  <m:r>
                                <a:rPr lang="en-US" altLang="zh-CN" sz="29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f>
                                <m:fPr>
                                  <m:ctrlPr>
                                    <a:rPr lang="zh-CN" altLang="zh-CN" sz="29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9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CN" sz="29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altLang="zh-CN" sz="2900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den>
                              </m:f>
                            </m:e>
                          </m:nary>
                        </m:e>
                      </m:nary>
                      <m:r>
                        <a:rPr lang="en-US" altLang="zh-CN" sz="2900" i="1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altLang="zh-CN" sz="2900" i="1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altLang="zh-CN" sz="2900" i="1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zh-CN" altLang="zh-CN" sz="29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900" i="1">
                          <a:latin typeface="Cambria Math" panose="02040503050406030204" pitchFamily="18" charset="0"/>
                        </a:rPr>
                        <m:t>  </m:t>
                      </m:r>
                    </m:oMath>
                  </m:oMathPara>
                </a14:m>
                <a:endParaRPr lang="en-US" altLang="zh-CN" sz="2900" i="1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70000"/>
                  </a:lnSpc>
                  <a:buNone/>
                </a:pPr>
                <a:r>
                  <a:rPr lang="en-US" altLang="zh-CN" sz="2900" dirty="0"/>
                  <a:t> </a:t>
                </a:r>
                <a14:m>
                  <m:oMath xmlns:m="http://schemas.openxmlformats.org/officeDocument/2006/math">
                    <m:r>
                      <a:rPr lang="en-US" altLang="zh-CN" sz="2900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sz="2900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sz="29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sz="29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zh-CN" altLang="zh-CN" sz="29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9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29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900" i="1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zh-CN" sz="29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sz="29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zh-CN" altLang="zh-CN" sz="29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9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29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900" i="1">
                        <a:latin typeface="Cambria Math" panose="02040503050406030204" pitchFamily="18" charset="0"/>
                      </a:rPr>
                      <m:t>)]=</m:t>
                    </m:r>
                    <m:sSup>
                      <m:sSupPr>
                        <m:ctrlPr>
                          <a:rPr lang="zh-CN" altLang="zh-CN" sz="29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9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altLang="zh-CN" sz="29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900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sz="2900" i="1">
                        <a:latin typeface="Cambria Math" panose="02040503050406030204" pitchFamily="18" charset="0"/>
                      </a:rPr>
                      <m:t>[</m:t>
                    </m:r>
                    <m:func>
                      <m:funcPr>
                        <m:ctrlPr>
                          <a:rPr lang="zh-CN" altLang="zh-CN" sz="29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altLang="zh-CN" sz="2900" i="1">
                            <a:latin typeface="Cambria Math" panose="02040503050406030204" pitchFamily="18" charset="0"/>
                          </a:rPr>
                          <m:t>𝑐𝑜𝑠</m:t>
                        </m:r>
                      </m:fName>
                      <m:e>
                        <m:r>
                          <a:rPr lang="en-US" altLang="zh-CN" sz="2900" i="1"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func>
                    <m:sSub>
                      <m:sSubPr>
                        <m:ctrlPr>
                          <a:rPr lang="zh-CN" altLang="zh-CN" sz="29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900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zh-CN" sz="29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zh-CN" altLang="zh-CN" sz="29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9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29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9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900" i="1">
                        <a:latin typeface="Cambria Math" panose="02040503050406030204" pitchFamily="18" charset="0"/>
                      </a:rPr>
                      <m:t>𝛩</m:t>
                    </m:r>
                    <m:r>
                      <a:rPr lang="en-US" altLang="zh-CN" sz="2900" i="1">
                        <a:latin typeface="Cambria Math" panose="02040503050406030204" pitchFamily="18" charset="0"/>
                      </a:rPr>
                      <m:t>)</m:t>
                    </m:r>
                    <m:func>
                      <m:funcPr>
                        <m:ctrlPr>
                          <a:rPr lang="zh-CN" altLang="zh-CN" sz="29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altLang="zh-CN" sz="2900" i="1">
                            <a:latin typeface="Cambria Math" panose="02040503050406030204" pitchFamily="18" charset="0"/>
                          </a:rPr>
                          <m:t>𝑐𝑜𝑠</m:t>
                        </m:r>
                      </m:fName>
                      <m:e>
                        <m:r>
                          <a:rPr lang="en-US" altLang="zh-CN" sz="2900" i="1"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func>
                    <m:sSub>
                      <m:sSubPr>
                        <m:ctrlPr>
                          <a:rPr lang="zh-CN" altLang="zh-CN" sz="29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900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zh-CN" sz="29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zh-CN" altLang="zh-CN" sz="29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9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29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9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900" i="1">
                        <a:latin typeface="Cambria Math" panose="02040503050406030204" pitchFamily="18" charset="0"/>
                      </a:rPr>
                      <m:t>𝛩</m:t>
                    </m:r>
                    <m:r>
                      <a:rPr lang="en-US" altLang="zh-CN" sz="2900" i="1">
                        <a:latin typeface="Cambria Math" panose="02040503050406030204" pitchFamily="18" charset="0"/>
                      </a:rPr>
                      <m:t>)]</m:t>
                    </m:r>
                  </m:oMath>
                </a14:m>
                <a:br>
                  <a:rPr lang="en-US" altLang="zh-CN" sz="2900" i="1" dirty="0">
                    <a:latin typeface="Cambria Math" panose="020405030504060302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9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zh-CN" sz="29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9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9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zh-CN" altLang="zh-CN" sz="29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9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US" altLang="zh-CN" sz="29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2900" i="1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altLang="zh-CN" sz="2900" i="1">
                          <a:latin typeface="Cambria Math" panose="02040503050406030204" pitchFamily="18" charset="0"/>
                        </a:rPr>
                        <m:t>[</m:t>
                      </m:r>
                      <m:func>
                        <m:funcPr>
                          <m:ctrlPr>
                            <a:rPr lang="zh-CN" altLang="zh-CN" sz="29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altLang="zh-CN" sz="2900" i="1">
                              <a:latin typeface="Cambria Math" panose="02040503050406030204" pitchFamily="18" charset="0"/>
                            </a:rPr>
                            <m:t>𝑐𝑜𝑠</m:t>
                          </m:r>
                        </m:fName>
                        <m:e>
                          <m:r>
                            <a:rPr lang="en-US" altLang="zh-CN" sz="2900" i="1">
                              <a:latin typeface="Cambria Math" panose="02040503050406030204" pitchFamily="18" charset="0"/>
                            </a:rPr>
                            <m:t>(</m:t>
                          </m:r>
                        </m:e>
                      </m:func>
                      <m:sSub>
                        <m:sSubPr>
                          <m:ctrlPr>
                            <a:rPr lang="zh-CN" altLang="zh-CN" sz="29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900" i="1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sz="29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zh-CN" altLang="zh-CN" sz="29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9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sz="29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9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zh-CN" sz="29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900" i="1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sz="29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zh-CN" altLang="zh-CN" sz="29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9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sz="29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900" i="1"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US" altLang="zh-CN" sz="2900" i="1">
                          <a:latin typeface="Cambria Math" panose="02040503050406030204" pitchFamily="18" charset="0"/>
                        </a:rPr>
                        <m:t>𝛩</m:t>
                      </m:r>
                      <m:r>
                        <a:rPr lang="en-US" altLang="zh-CN" sz="2900" i="1">
                          <a:latin typeface="Cambria Math" panose="02040503050406030204" pitchFamily="18" charset="0"/>
                        </a:rPr>
                        <m:t>)+</m:t>
                      </m:r>
                      <m:func>
                        <m:funcPr>
                          <m:ctrlPr>
                            <a:rPr lang="zh-CN" altLang="zh-CN" sz="29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altLang="zh-CN" sz="2900" i="1">
                              <a:latin typeface="Cambria Math" panose="02040503050406030204" pitchFamily="18" charset="0"/>
                            </a:rPr>
                            <m:t>𝑐𝑜𝑠</m:t>
                          </m:r>
                        </m:fName>
                        <m:e>
                          <m:r>
                            <a:rPr lang="en-US" altLang="zh-CN" sz="2900" i="1">
                              <a:latin typeface="Cambria Math" panose="02040503050406030204" pitchFamily="18" charset="0"/>
                            </a:rPr>
                            <m:t>(</m:t>
                          </m:r>
                        </m:e>
                      </m:func>
                      <m:sSub>
                        <m:sSubPr>
                          <m:ctrlPr>
                            <a:rPr lang="zh-CN" altLang="zh-CN" sz="29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900" i="1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sz="29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zh-CN" altLang="zh-CN" sz="29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9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sz="29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90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zh-CN" altLang="zh-CN" sz="29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900" i="1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sz="29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zh-CN" altLang="zh-CN" sz="29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9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sz="29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900" i="1">
                          <a:latin typeface="Cambria Math" panose="02040503050406030204" pitchFamily="18" charset="0"/>
                        </a:rPr>
                        <m:t>)]</m:t>
                      </m:r>
                    </m:oMath>
                    <m:oMath xmlns:m="http://schemas.openxmlformats.org/officeDocument/2006/math">
                      <m:r>
                        <a:rPr lang="en-US" altLang="zh-CN" sz="29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zh-CN" sz="29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9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9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zh-CN" altLang="zh-CN" sz="29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9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US" altLang="zh-CN" sz="29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2900" i="1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altLang="zh-CN" sz="2900" i="1">
                          <a:latin typeface="Cambria Math" panose="02040503050406030204" pitchFamily="18" charset="0"/>
                        </a:rPr>
                        <m:t>[</m:t>
                      </m:r>
                      <m:func>
                        <m:funcPr>
                          <m:ctrlPr>
                            <a:rPr lang="zh-CN" altLang="zh-CN" sz="29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altLang="zh-CN" sz="2900" i="1">
                              <a:latin typeface="Cambria Math" panose="02040503050406030204" pitchFamily="18" charset="0"/>
                            </a:rPr>
                            <m:t>𝑐𝑜𝑠</m:t>
                          </m:r>
                        </m:fName>
                        <m:e>
                          <m:r>
                            <a:rPr lang="en-US" altLang="zh-CN" sz="2900" i="1">
                              <a:latin typeface="Cambria Math" panose="02040503050406030204" pitchFamily="18" charset="0"/>
                            </a:rPr>
                            <m:t>(</m:t>
                          </m:r>
                        </m:e>
                      </m:func>
                      <m:sSub>
                        <m:sSubPr>
                          <m:ctrlPr>
                            <a:rPr lang="zh-CN" altLang="zh-CN" sz="29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900" i="1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sz="29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zh-CN" altLang="zh-CN" sz="29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9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sz="29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90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zh-CN" altLang="zh-CN" sz="29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900" i="1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sz="29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zh-CN" altLang="zh-CN" sz="29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9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sz="29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900" i="1">
                          <a:latin typeface="Cambria Math" panose="02040503050406030204" pitchFamily="18" charset="0"/>
                        </a:rPr>
                        <m:t>)]=</m:t>
                      </m:r>
                      <m:f>
                        <m:fPr>
                          <m:ctrlPr>
                            <a:rPr lang="zh-CN" altLang="zh-CN" sz="29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9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9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zh-CN" altLang="zh-CN" sz="29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9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US" altLang="zh-CN" sz="29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func>
                        <m:funcPr>
                          <m:ctrlPr>
                            <a:rPr lang="zh-CN" altLang="zh-CN" sz="29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altLang="zh-CN" sz="2900" i="1">
                              <a:latin typeface="Cambria Math" panose="02040503050406030204" pitchFamily="18" charset="0"/>
                            </a:rPr>
                            <m:t>𝑐𝑜𝑠</m:t>
                          </m:r>
                        </m:fName>
                        <m:e>
                          <m:r>
                            <a:rPr lang="en-US" altLang="zh-CN" sz="2900" i="1">
                              <a:latin typeface="Cambria Math" panose="02040503050406030204" pitchFamily="18" charset="0"/>
                            </a:rPr>
                            <m:t>(</m:t>
                          </m:r>
                        </m:e>
                      </m:func>
                      <m:sSub>
                        <m:sSubPr>
                          <m:ctrlPr>
                            <a:rPr lang="zh-CN" altLang="zh-CN" sz="29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900" i="1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sz="29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zh-CN" altLang="zh-CN" sz="29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9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sz="29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90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zh-CN" altLang="zh-CN" sz="29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900" i="1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sz="29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zh-CN" altLang="zh-CN" sz="29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9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sz="29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9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zh-CN" sz="2900" dirty="0"/>
              </a:p>
              <a:p>
                <a:pPr marL="0" indent="0">
                  <a:lnSpc>
                    <a:spcPct val="170000"/>
                  </a:lnSpc>
                  <a:buNone/>
                </a:pPr>
                <a:endParaRPr lang="en-US" altLang="zh-CN" dirty="0"/>
              </a:p>
            </p:txBody>
          </p:sp>
        </mc:Choice>
        <mc:Fallback xmlns="">
          <p:sp>
            <p:nvSpPr>
              <p:cNvPr id="4" name="内容占位符 3">
                <a:extLst>
                  <a:ext uri="{FF2B5EF4-FFF2-40B4-BE49-F238E27FC236}">
                    <a16:creationId xmlns:a16="http://schemas.microsoft.com/office/drawing/2014/main" id="{15B4170A-A429-464B-9915-B70C8DF1523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1520" y="404664"/>
                <a:ext cx="8641493" cy="5336313"/>
              </a:xfrm>
              <a:blipFill>
                <a:blip r:embed="rId2"/>
                <a:stretch>
                  <a:fillRect l="-1058" t="-21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116715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145DEA50-E102-4549-BE68-0F3550E7D16B}"/>
                  </a:ext>
                </a:extLst>
              </p:cNvPr>
              <p:cNvSpPr>
                <a:spLocks noGrp="1"/>
              </p:cNvSpPr>
              <p:nvPr>
                <p:ph/>
              </p:nvPr>
            </p:nvSpPr>
            <p:spPr>
              <a:xfrm>
                <a:off x="450273" y="940377"/>
                <a:ext cx="8402782" cy="4814455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x-none" altLang="zh-CN" dirty="0">
                    <a:solidFill>
                      <a:schemeClr val="accent2"/>
                    </a:solidFill>
                  </a:rPr>
                  <a:t>2. </a:t>
                </a:r>
                <a:r>
                  <a:rPr lang="zh-CN" altLang="zh-CN" dirty="0">
                    <a:solidFill>
                      <a:schemeClr val="accent2"/>
                    </a:solidFill>
                  </a:rPr>
                  <a:t>振幅、相位随机变量，角频率常数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𝐴</m:t>
                    </m:r>
                    <m:func>
                      <m:func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𝑐𝑜𝑠</m:t>
                        </m:r>
                      </m:fName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func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𝛩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dirty="0"/>
                  <a:t> </a:t>
                </a:r>
                <a:r>
                  <a:rPr lang="zh-CN" altLang="zh-CN" dirty="0"/>
                  <a:t>， </a:t>
                </a:r>
                <a:r>
                  <a:rPr lang="en-US" altLang="zh-CN" i="1" dirty="0"/>
                  <a:t>A</a:t>
                </a:r>
                <a:r>
                  <a:rPr lang="zh-CN" altLang="zh-CN" dirty="0"/>
                  <a:t>服从参数为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dirty="0"/>
                  <a:t> </a:t>
                </a:r>
                <a:r>
                  <a:rPr lang="zh-CN" altLang="zh-CN" dirty="0"/>
                  <a:t>的瑞利分布，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𝛩</m:t>
                    </m:r>
                  </m:oMath>
                </a14:m>
                <a:r>
                  <a:rPr lang="zh-CN" altLang="zh-CN" dirty="0"/>
                  <a:t>在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0,2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</m:d>
                  </m:oMath>
                </a14:m>
                <a:r>
                  <a:rPr lang="en-US" altLang="zh-CN" dirty="0"/>
                  <a:t> </a:t>
                </a:r>
                <a:r>
                  <a:rPr lang="zh-CN" altLang="zh-CN" dirty="0"/>
                  <a:t>均匀分布，且二者统计独立。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dirty="0"/>
                  <a:t>1</a:t>
                </a:r>
                <a:r>
                  <a:rPr lang="zh-CN" altLang="zh-CN" dirty="0"/>
                  <a:t>）均值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𝐴</m:t>
                        </m:r>
                        <m:func>
                          <m:func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𝑐𝑜𝑠</m:t>
                            </m:r>
                          </m:fName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(</m:t>
                            </m:r>
                          </m:e>
                        </m:func>
                        <m:sSub>
                          <m:sSub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𝛩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]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𝑐𝑜𝑠</m:t>
                            </m:r>
                          </m:fName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(</m:t>
                            </m:r>
                          </m:e>
                        </m:func>
                        <m:sSub>
                          <m:sSub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𝛩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altLang="zh-CN" dirty="0"/>
                  <a:t>  </a:t>
                </a:r>
                <a:endParaRPr lang="zh-CN" altLang="zh-CN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dirty="0"/>
                  <a:t>2</a:t>
                </a:r>
                <a:r>
                  <a:rPr lang="zh-CN" altLang="zh-CN" dirty="0"/>
                  <a:t>）自相关函数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func>
                            <m:func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𝑐𝑜𝑠</m:t>
                              </m:r>
                            </m:fName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</m:e>
                          </m:func>
                          <m:sSub>
                            <m:sSub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𝛩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)</m:t>
                          </m:r>
                          <m:func>
                            <m:func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𝑐𝑜𝑠</m:t>
                              </m:r>
                            </m:fName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</m:e>
                          </m:func>
                          <m:sSub>
                            <m:sSub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𝛩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𝑐𝑜𝑠</m:t>
                              </m:r>
                            </m:fName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</m:e>
                          </m:func>
                          <m:sSub>
                            <m:sSub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𝛩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)</m:t>
                          </m:r>
                          <m:func>
                            <m:func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𝑐𝑜𝑠</m:t>
                              </m:r>
                            </m:fName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</m:e>
                          </m:func>
                          <m:sSub>
                            <m:sSub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𝛩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func>
                        <m:func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𝑐𝑜𝑠</m:t>
                          </m:r>
                        </m:fName>
                        <m:e>
                          <m:d>
                            <m:d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zh-CN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zh-CN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</m:e>
                      </m:func>
                      <m:r>
                        <a:rPr lang="en-US" altLang="zh-CN" i="1">
                          <a:latin typeface="Cambria Math" panose="02040503050406030204" pitchFamily="18" charset="0"/>
                        </a:rPr>
                        <m:t>⋅2</m:t>
                      </m:r>
                      <m:sSup>
                        <m:sSup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func>
                        <m:func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𝑐𝑜𝑠</m:t>
                          </m:r>
                        </m:fName>
                        <m:e>
                          <m:d>
                            <m:d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zh-CN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zh-CN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zh-CN" altLang="zh-CN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145DEA50-E102-4549-BE68-0F3550E7D16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xfrm>
                <a:off x="450273" y="940377"/>
                <a:ext cx="8402782" cy="4814455"/>
              </a:xfrm>
              <a:blipFill>
                <a:blip r:embed="rId3"/>
                <a:stretch>
                  <a:fillRect l="-871" t="-1139" r="-218" b="-15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625848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8686EDE7-E9C6-4FE1-9D55-2CBF15DA6827}"/>
                  </a:ext>
                </a:extLst>
              </p:cNvPr>
              <p:cNvSpPr>
                <a:spLocks noGrp="1"/>
              </p:cNvSpPr>
              <p:nvPr>
                <p:ph/>
              </p:nvPr>
            </p:nvSpPr>
            <p:spPr>
              <a:xfrm>
                <a:off x="539552" y="1194954"/>
                <a:ext cx="8424936" cy="4468091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altLang="zh-CN" sz="2400" dirty="0">
                    <a:solidFill>
                      <a:schemeClr val="accent2"/>
                    </a:solidFill>
                  </a:rPr>
                  <a:t>2 </a:t>
                </a:r>
                <a:r>
                  <a:rPr lang="zh-CN" altLang="zh-CN" sz="2400" dirty="0">
                    <a:solidFill>
                      <a:schemeClr val="accent2"/>
                    </a:solidFill>
                  </a:rPr>
                  <a:t>贝努利随机序列</a:t>
                </a:r>
                <a:r>
                  <a:rPr lang="en-US" altLang="zh-CN" sz="2400" dirty="0">
                    <a:solidFill>
                      <a:schemeClr val="accent2"/>
                    </a:solidFill>
                  </a:rPr>
                  <a:t>  </a:t>
                </a:r>
                <a:r>
                  <a:rPr lang="zh-CN" altLang="en-US" sz="2400" dirty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方正粗黑宋简体" panose="02000000000000000000" pitchFamily="2" charset="-122"/>
                    <a:ea typeface="方正粗黑宋简体" panose="02000000000000000000" pitchFamily="2" charset="-122"/>
                  </a:rPr>
                  <a:t>（广义平稳信号，也是严平稳信号）</a:t>
                </a:r>
                <a:endParaRPr lang="zh-CN" altLang="zh-CN" sz="2400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粗黑宋简体" panose="02000000000000000000" pitchFamily="2" charset="-122"/>
                  <a:ea typeface="方正粗黑宋简体" panose="02000000000000000000" pitchFamily="2" charset="-122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=1,2,...</m:t>
                        </m:r>
                      </m:e>
                    </m:d>
                  </m:oMath>
                </a14:m>
                <a:r>
                  <a:rPr lang="zh-CN" altLang="zh-CN" dirty="0"/>
                  <a:t>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zh-CN" dirty="0"/>
                  <a:t> </a:t>
                </a:r>
                <a:r>
                  <a:rPr lang="zh-CN" altLang="zh-CN" dirty="0"/>
                  <a:t>统计独立的</a:t>
                </a:r>
                <a:r>
                  <a:rPr lang="en-US" altLang="zh-CN" dirty="0"/>
                  <a:t>0-1</a:t>
                </a:r>
                <a:r>
                  <a:rPr lang="zh-CN" altLang="zh-CN" dirty="0"/>
                  <a:t>分布的随机变量，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nor/>
                      </m:rPr>
                      <a:rPr lang="en-US" altLang="zh-CN"/>
                      <m:t>~ 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(1,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。</a:t>
                </a:r>
                <a:endParaRPr lang="zh-CN" altLang="zh-CN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dirty="0"/>
                  <a:t>1. </a:t>
                </a:r>
                <a:r>
                  <a:rPr lang="zh-CN" altLang="zh-CN" dirty="0"/>
                  <a:t>均值 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dirty="0"/>
                  <a:t>      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lang="zh-CN" altLang="zh-CN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dirty="0"/>
                  <a:t>2. </a:t>
                </a:r>
                <a:r>
                  <a:rPr lang="zh-CN" altLang="zh-CN" dirty="0"/>
                  <a:t>自相关函数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  </a:t>
                </a:r>
                <a14:m>
                  <m:oMath xmlns:m="http://schemas.openxmlformats.org/officeDocument/2006/math">
                    <m:r>
                      <a:rPr lang="en-US" altLang="zh-CN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sSub>
                              <m:sSubPr>
                                <m:ctrlPr>
                                  <a:rPr lang="zh-CN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sub>
                        </m:sSub>
                        <m:sSub>
                          <m:sSub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sSub>
                              <m:sSubPr>
                                <m:ctrlPr>
                                  <a:rPr lang="zh-CN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sub>
                        </m:sSub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𝐸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zh-CN" altLang="zh-CN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zh-CN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zh-CN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  <m:sub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sub>
                                </m:sSub>
                              </m:e>
                            </m:d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𝐸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zh-CN" altLang="zh-CN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zh-CN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zh-CN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  <m:sub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sub>
                                </m:sSub>
                              </m:e>
                            </m:d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sSup>
                              <m:sSupPr>
                                <m:ctrlPr>
                                  <a:rPr lang="zh-CN" altLang="zh-CN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p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zh-CN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≠</m:t>
                            </m:r>
                            <m:sSub>
                              <m:sSubPr>
                                <m:ctrlPr>
                                  <a:rPr lang="zh-CN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𝐸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zh-CN" altLang="zh-CN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Sup>
                                  <m:sSubSupPr>
                                    <m:ctrlPr>
                                      <a:rPr lang="zh-CN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zh-CN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  <m:sub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sub>
                                  <m:sup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e>
                            </m:d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zh-CN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zh-CN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eqArr>
                      </m:e>
                    </m:d>
                  </m:oMath>
                </a14:m>
                <a:r>
                  <a:rPr lang="en-US" altLang="zh-CN" dirty="0"/>
                  <a:t> 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                                          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US" altLang="zh-CN" b="0" i="1">
                        <a:latin typeface="Cambria Math" panose="02040503050406030204" pitchFamily="18" charset="0"/>
                      </a:rPr>
                      <m:t>q</m:t>
                    </m:r>
                    <m:r>
                      <a:rPr lang="zh-CN" altLang="en-US" b="0" i="1" smtClean="0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CN" altLang="zh-CN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8686EDE7-E9C6-4FE1-9D55-2CBF15DA682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xfrm>
                <a:off x="539552" y="1194954"/>
                <a:ext cx="8424936" cy="4468091"/>
              </a:xfrm>
              <a:blipFill>
                <a:blip r:embed="rId3"/>
                <a:stretch>
                  <a:fillRect l="-1158" t="-150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038697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9D8463F3-24F6-4428-84E1-EA624F7C2FBE}"/>
                  </a:ext>
                </a:extLst>
              </p:cNvPr>
              <p:cNvSpPr>
                <a:spLocks noGrp="1"/>
              </p:cNvSpPr>
              <p:nvPr>
                <p:ph/>
              </p:nvPr>
            </p:nvSpPr>
            <p:spPr>
              <a:xfrm>
                <a:off x="436418" y="1117622"/>
                <a:ext cx="8255000" cy="4477883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10000"/>
                  </a:lnSpc>
                  <a:spcBef>
                    <a:spcPts val="900"/>
                  </a:spcBef>
                  <a:buNone/>
                </a:pPr>
                <a:r>
                  <a:rPr lang="en-US" altLang="zh-CN" sz="2400" dirty="0">
                    <a:solidFill>
                      <a:schemeClr val="accent2"/>
                    </a:solidFill>
                  </a:rPr>
                  <a:t>3 </a:t>
                </a:r>
                <a:r>
                  <a:rPr lang="zh-CN" altLang="zh-CN" sz="2400" dirty="0">
                    <a:solidFill>
                      <a:schemeClr val="accent2"/>
                    </a:solidFill>
                  </a:rPr>
                  <a:t>半随机二进制传输信号</a:t>
                </a:r>
                <a:r>
                  <a:rPr lang="en-US" altLang="zh-CN" sz="2400" dirty="0">
                    <a:solidFill>
                      <a:schemeClr val="accent2"/>
                    </a:solidFill>
                  </a:rPr>
                  <a:t> </a:t>
                </a:r>
                <a:r>
                  <a:rPr lang="zh-CN" altLang="en-US" sz="2400" dirty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方正粗黑宋简体" panose="02000000000000000000" pitchFamily="2" charset="-122"/>
                    <a:ea typeface="方正粗黑宋简体" panose="02000000000000000000" pitchFamily="2" charset="-122"/>
                  </a:rPr>
                  <a:t>（非广义平稳信号）</a:t>
                </a:r>
                <a:endParaRPr lang="zh-CN" altLang="zh-CN" sz="2400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粗黑宋简体" panose="02000000000000000000" pitchFamily="2" charset="-122"/>
                  <a:ea typeface="方正粗黑宋简体" panose="02000000000000000000" pitchFamily="2" charset="-122"/>
                </a:endParaRPr>
              </a:p>
              <a:p>
                <a:pPr marL="0" indent="0">
                  <a:lnSpc>
                    <a:spcPct val="110000"/>
                  </a:lnSpc>
                  <a:spcBef>
                    <a:spcPts val="900"/>
                  </a:spcBef>
                  <a:buNone/>
                </a:pPr>
                <a:r>
                  <a:rPr lang="en-US" altLang="zh-CN" sz="1800" dirty="0"/>
                  <a:t>1</a:t>
                </a:r>
                <a:r>
                  <a:rPr lang="zh-CN" altLang="zh-CN" sz="1800" dirty="0"/>
                  <a:t>．定义</a:t>
                </a:r>
              </a:p>
              <a:p>
                <a:pPr>
                  <a:lnSpc>
                    <a:spcPct val="110000"/>
                  </a:lnSpc>
                  <a:spcBef>
                    <a:spcPts val="900"/>
                  </a:spcBef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zh-CN" altLang="zh-CN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zh-CN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=1,2,...</m:t>
                        </m:r>
                      </m:e>
                    </m:d>
                  </m:oMath>
                </a14:m>
                <a:r>
                  <a:rPr lang="zh-CN" altLang="zh-CN" sz="1800" dirty="0"/>
                  <a:t>是贝努利随机过程</a:t>
                </a:r>
                <a:r>
                  <a:rPr lang="zh-CN" altLang="en-US" sz="1800" dirty="0"/>
                  <a:t>，</a:t>
                </a:r>
                <a:endParaRPr lang="en-US" altLang="zh-CN" sz="1800" dirty="0"/>
              </a:p>
              <a:p>
                <a:pPr marL="0" indent="0">
                  <a:lnSpc>
                    <a:spcPct val="110000"/>
                  </a:lnSpc>
                  <a:spcBef>
                    <a:spcPts val="900"/>
                  </a:spcBef>
                  <a:buNone/>
                </a:pPr>
                <a:r>
                  <a:rPr lang="en-US" altLang="zh-CN" sz="1800" dirty="0"/>
                  <a:t>           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zh-CN" altLang="zh-CN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zh-CN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=1</m:t>
                        </m:r>
                      </m:e>
                    </m:d>
                    <m:r>
                      <a:rPr lang="en-US" altLang="zh-CN" sz="1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zh-CN" altLang="zh-CN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zh-CN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=0</m:t>
                        </m:r>
                      </m:e>
                    </m:d>
                    <m:r>
                      <a:rPr lang="en-US" altLang="zh-CN" sz="1800" i="1">
                        <a:latin typeface="Cambria Math" panose="02040503050406030204" pitchFamily="18" charset="0"/>
                      </a:rPr>
                      <m:t>=1−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zh-CN" altLang="zh-CN" sz="1800" dirty="0"/>
                  <a:t>，</a:t>
                </a:r>
                <a:endParaRPr lang="en-US" altLang="zh-CN" sz="1800" dirty="0"/>
              </a:p>
              <a:p>
                <a:pPr>
                  <a:lnSpc>
                    <a:spcPct val="110000"/>
                  </a:lnSpc>
                  <a:spcBef>
                    <a:spcPts val="900"/>
                  </a:spcBef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zh-CN" altLang="zh-CN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)=2</m:t>
                        </m:r>
                        <m:sSub>
                          <m:sSubPr>
                            <m:ctrlPr>
                              <a:rPr lang="zh-CN" altLang="zh-CN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−1,(</m:t>
                        </m:r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−1)</m:t>
                        </m:r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𝑛𝑇</m:t>
                        </m:r>
                      </m:e>
                    </m:d>
                  </m:oMath>
                </a14:m>
                <a:r>
                  <a:rPr lang="zh-CN" altLang="zh-CN" sz="1800" dirty="0"/>
                  <a:t>，</a:t>
                </a:r>
                <a:r>
                  <a:rPr lang="en-US" altLang="zh-CN" sz="1800" i="1" dirty="0"/>
                  <a:t>T</a:t>
                </a:r>
                <a:r>
                  <a:rPr lang="zh-CN" altLang="zh-CN" sz="1800" dirty="0"/>
                  <a:t>为常数</a:t>
                </a:r>
              </a:p>
              <a:p>
                <a:pPr>
                  <a:lnSpc>
                    <a:spcPct val="110000"/>
                  </a:lnSpc>
                  <a:spcBef>
                    <a:spcPts val="900"/>
                  </a:spcBef>
                  <a:buFont typeface="Arial" panose="020B0604020202020204" pitchFamily="34" charset="0"/>
                  <a:buChar char="•"/>
                </a:pPr>
                <a:r>
                  <a:rPr lang="zh-CN" altLang="zh-CN" sz="1800" dirty="0"/>
                  <a:t>定义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sz="1800" i="1">
                        <a:latin typeface="Cambria Math" panose="02040503050406030204" pitchFamily="18" charset="0"/>
                      </a:rPr>
                      <m:t>=2</m:t>
                    </m:r>
                    <m:sSub>
                      <m:sSubPr>
                        <m:ctrlPr>
                          <a:rPr lang="zh-CN" altLang="zh-C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sz="1800" i="1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altLang="zh-CN" sz="1800" dirty="0"/>
                  <a:t> </a:t>
                </a:r>
                <a:r>
                  <a:rPr lang="zh-CN" altLang="zh-CN" sz="1800" dirty="0"/>
                  <a:t>，则有</a:t>
                </a:r>
                <a14:m>
                  <m:oMath xmlns:m="http://schemas.openxmlformats.org/officeDocument/2006/math">
                    <m:r>
                      <a:rPr lang="en-US" altLang="zh-CN" sz="1800" b="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zh-CN" altLang="zh-CN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zh-CN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=1</m:t>
                        </m:r>
                      </m:e>
                    </m:d>
                    <m:r>
                      <a:rPr lang="en-US" altLang="zh-CN" sz="1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zh-CN" altLang="zh-CN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zh-CN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=−1</m:t>
                        </m:r>
                      </m:e>
                    </m:d>
                    <m:r>
                      <a:rPr lang="en-US" altLang="zh-CN" sz="1800" i="1">
                        <a:latin typeface="Cambria Math" panose="02040503050406030204" pitchFamily="18" charset="0"/>
                      </a:rPr>
                      <m:t>=1−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endParaRPr lang="zh-CN" altLang="zh-CN" sz="1800" dirty="0"/>
              </a:p>
              <a:p>
                <a:pPr>
                  <a:lnSpc>
                    <a:spcPct val="110000"/>
                  </a:lnSpc>
                  <a:spcBef>
                    <a:spcPts val="900"/>
                  </a:spcBef>
                  <a:buFont typeface="Arial" panose="020B0604020202020204" pitchFamily="34" charset="0"/>
                  <a:buChar char="•"/>
                </a:pPr>
                <a:r>
                  <a:rPr lang="zh-CN" altLang="zh-CN" sz="1800" dirty="0"/>
                  <a:t>令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r>
                      <a:rPr lang="en-US" altLang="zh-CN" sz="18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)=</m:t>
                    </m:r>
                    <m:d>
                      <m:dPr>
                        <m:begChr m:val="{"/>
                        <m:endChr m:val=""/>
                        <m:ctrlPr>
                          <a:rPr lang="zh-CN" altLang="zh-CN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zh-CN" altLang="zh-CN" sz="1800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1,0≤</m:t>
                            </m:r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≤</m:t>
                            </m:r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e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0,</m:t>
                            </m:r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𝑜𝑡h𝑒𝑟𝑤𝑖𝑠𝑒</m:t>
                            </m:r>
                          </m:e>
                        </m:eqArr>
                      </m:e>
                    </m:d>
                  </m:oMath>
                </a14:m>
                <a:r>
                  <a:rPr lang="en-US" altLang="zh-CN" sz="1800" dirty="0"/>
                  <a:t> </a:t>
                </a:r>
                <a:r>
                  <a:rPr lang="zh-CN" altLang="zh-CN" sz="1800" dirty="0"/>
                  <a:t>，则 </a:t>
                </a:r>
                <a:endParaRPr lang="en-US" altLang="zh-CN" sz="1800" i="1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10000"/>
                  </a:lnSpc>
                  <a:spcBef>
                    <a:spcPts val="900"/>
                  </a:spcBef>
                  <a:buNone/>
                </a:pPr>
                <a:r>
                  <a:rPr lang="en-US" altLang="zh-CN" sz="1800" dirty="0"/>
                  <a:t>                 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)=</m:t>
                    </m:r>
                    <m:nary>
                      <m:naryPr>
                        <m:chr m:val="∑"/>
                        <m:ctrlPr>
                          <a:rPr lang="zh-CN" altLang="zh-CN" sz="18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=−∞</m:t>
                        </m:r>
                      </m:sub>
                      <m:sup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b>
                          <m:sSubPr>
                            <m:ctrlPr>
                              <a:rPr lang="zh-CN" altLang="zh-CN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nary>
                    <m:sSub>
                      <m:sSubPr>
                        <m:ctrlPr>
                          <a:rPr lang="zh-CN" altLang="zh-C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r>
                      <a:rPr lang="en-US" altLang="zh-CN" sz="18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𝑛𝑇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1800" dirty="0"/>
                  <a:t> </a:t>
                </a:r>
                <a:r>
                  <a:rPr lang="zh-CN" altLang="zh-CN" sz="1800" dirty="0"/>
                  <a:t>，</a:t>
                </a:r>
              </a:p>
              <a:p>
                <a:pPr marL="0" indent="0">
                  <a:lnSpc>
                    <a:spcPct val="110000"/>
                  </a:lnSpc>
                  <a:spcBef>
                    <a:spcPts val="900"/>
                  </a:spcBef>
                  <a:buNone/>
                </a:pPr>
                <a:r>
                  <a:rPr lang="zh-CN" altLang="zh-CN" sz="1800" dirty="0"/>
                  <a:t>称为半随机二进制传输信号</a:t>
                </a:r>
                <a:r>
                  <a:rPr lang="zh-CN" altLang="en-US" sz="1800" dirty="0"/>
                  <a:t>。</a:t>
                </a:r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9D8463F3-24F6-4428-84E1-EA624F7C2FB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xfrm>
                <a:off x="436418" y="1117622"/>
                <a:ext cx="8255000" cy="4477883"/>
              </a:xfrm>
              <a:blipFill>
                <a:blip r:embed="rId3"/>
                <a:stretch>
                  <a:fillRect l="-1182" t="-13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>
            <a:extLst>
              <a:ext uri="{FF2B5EF4-FFF2-40B4-BE49-F238E27FC236}">
                <a16:creationId xmlns:a16="http://schemas.microsoft.com/office/drawing/2014/main" id="{13ECE97F-CBDE-4B76-BE13-BFB5A51602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2200" y="1772816"/>
            <a:ext cx="2213129" cy="130305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4185541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612EC3D1-7510-41CB-8ABA-137D13F9ACCA}"/>
                  </a:ext>
                </a:extLst>
              </p:cNvPr>
              <p:cNvSpPr>
                <a:spLocks noGrp="1"/>
              </p:cNvSpPr>
              <p:nvPr>
                <p:ph/>
              </p:nvPr>
            </p:nvSpPr>
            <p:spPr>
              <a:xfrm>
                <a:off x="467544" y="437707"/>
                <a:ext cx="8084126" cy="1623141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altLang="zh-CN" dirty="0"/>
                  <a:t>2. </a:t>
                </a:r>
                <a:r>
                  <a:rPr lang="zh-CN" altLang="zh-CN" dirty="0"/>
                  <a:t>均值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1500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zh-CN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500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zh-CN" sz="15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15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sz="150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r>
                        <a:rPr lang="en-US" altLang="zh-CN" sz="15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500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zh-CN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lang="zh-CN" altLang="zh-CN" sz="15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CN" sz="15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zh-CN" sz="1500" i="1">
                                  <a:latin typeface="Cambria Math" panose="02040503050406030204" pitchFamily="18" charset="0"/>
                                </a:rPr>
                                <m:t>=−∞</m:t>
                              </m:r>
                            </m:sub>
                            <m:sup>
                              <m:r>
                                <a:rPr lang="en-US" altLang="zh-CN" sz="1500" i="1"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zh-CN" altLang="zh-CN" sz="15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500" i="1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altLang="zh-CN" sz="15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nary>
                          <m:sSub>
                            <m:sSubPr>
                              <m:ctrlPr>
                                <a:rPr lang="zh-CN" altLang="zh-CN" sz="15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5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zh-CN" sz="15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b>
                          </m:sSub>
                          <m:r>
                            <a:rPr lang="en-US" altLang="zh-CN" sz="15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15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sz="15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1500" i="1">
                              <a:latin typeface="Cambria Math" panose="02040503050406030204" pitchFamily="18" charset="0"/>
                            </a:rPr>
                            <m:t>𝑛𝑇</m:t>
                          </m:r>
                          <m:r>
                            <a:rPr lang="en-US" altLang="zh-CN" sz="150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r>
                        <a:rPr lang="en-US" altLang="zh-CN" sz="15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zh-CN" altLang="zh-CN" sz="15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15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sz="1500" i="1">
                              <a:latin typeface="Cambria Math" panose="02040503050406030204" pitchFamily="18" charset="0"/>
                            </a:rPr>
                            <m:t>=−∞</m:t>
                          </m:r>
                        </m:sub>
                        <m:sup>
                          <m:r>
                            <a:rPr lang="en-US" altLang="zh-CN" sz="1500" i="1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altLang="zh-CN" sz="1500" i="1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zh-CN" altLang="zh-CN" sz="15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zh-CN" sz="15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500" i="1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altLang="zh-CN" sz="15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sSub>
                        <m:sSubPr>
                          <m:ctrlPr>
                            <a:rPr lang="zh-CN" altLang="zh-CN" sz="15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50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zh-CN" sz="1500" i="1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d>
                        <m:dPr>
                          <m:ctrlPr>
                            <a:rPr lang="en-US" altLang="zh-CN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5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sz="15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1500" i="1">
                              <a:latin typeface="Cambria Math" panose="02040503050406030204" pitchFamily="18" charset="0"/>
                            </a:rPr>
                            <m:t>𝑛𝑇</m:t>
                          </m:r>
                        </m:e>
                      </m:d>
                      <m:r>
                        <a:rPr lang="en-US" altLang="zh-CN" sz="15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zh-CN" altLang="zh-CN" sz="15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15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sz="1500" i="1">
                              <a:latin typeface="Cambria Math" panose="02040503050406030204" pitchFamily="18" charset="0"/>
                            </a:rPr>
                            <m:t>=−∞</m:t>
                          </m:r>
                        </m:sub>
                        <m:sup>
                          <m:r>
                            <a:rPr lang="en-US" altLang="zh-CN" sz="1500" i="1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d>
                            <m:dPr>
                              <m:ctrlPr>
                                <a:rPr lang="en-US" altLang="zh-CN" sz="15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5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altLang="zh-CN" sz="15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150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</m:d>
                        </m:e>
                      </m:nary>
                      <m:sSub>
                        <m:sSubPr>
                          <m:ctrlPr>
                            <a:rPr lang="zh-CN" altLang="zh-CN" sz="15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50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zh-CN" sz="1500" i="1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d>
                        <m:dPr>
                          <m:ctrlPr>
                            <a:rPr lang="en-US" altLang="zh-CN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5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sz="15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1500" i="1">
                              <a:latin typeface="Cambria Math" panose="02040503050406030204" pitchFamily="18" charset="0"/>
                            </a:rPr>
                            <m:t>𝑛𝑇</m:t>
                          </m:r>
                        </m:e>
                      </m:d>
                      <m:r>
                        <a:rPr lang="en-US" altLang="zh-CN" sz="15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500" i="1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altLang="zh-CN" sz="15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1500" i="1">
                          <a:latin typeface="Cambria Math" panose="02040503050406030204" pitchFamily="18" charset="0"/>
                        </a:rPr>
                        <m:t>𝑞</m:t>
                      </m:r>
                    </m:oMath>
                  </m:oMathPara>
                </a14:m>
                <a:endParaRPr lang="en-US" altLang="zh-CN" sz="1500" dirty="0"/>
              </a:p>
              <a:p>
                <a:pPr marL="0" indent="0">
                  <a:buNone/>
                </a:pPr>
                <a:r>
                  <a:rPr lang="en-US" altLang="zh-CN" sz="1500" b="0" dirty="0"/>
                  <a:t>=2E[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zh-CN" sz="1500" b="0" dirty="0"/>
                  <a:t>]-1=</a:t>
                </a:r>
                <a:r>
                  <a:rPr lang="en-US" altLang="zh-CN" sz="1500" dirty="0"/>
                  <a:t> </a:t>
                </a:r>
                <a14:m>
                  <m:oMath xmlns:m="http://schemas.openxmlformats.org/officeDocument/2006/math">
                    <m:r>
                      <a:rPr lang="en-US" altLang="zh-CN" sz="1500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sz="15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1500" i="1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endParaRPr lang="zh-CN" altLang="zh-CN" sz="1500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612EC3D1-7510-41CB-8ABA-137D13F9ACC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xfrm>
                <a:off x="467544" y="437707"/>
                <a:ext cx="8084126" cy="1623141"/>
              </a:xfrm>
              <a:blipFill>
                <a:blip r:embed="rId3"/>
                <a:stretch>
                  <a:fillRect l="-905" t="-338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1">
                <a:extLst>
                  <a:ext uri="{FF2B5EF4-FFF2-40B4-BE49-F238E27FC236}">
                    <a16:creationId xmlns:a16="http://schemas.microsoft.com/office/drawing/2014/main" id="{87C95C0E-95AB-4168-AAFE-6FC858924463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566928" y="2348880"/>
                <a:ext cx="8577072" cy="365067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  <a:normAutofit fontScale="62500" lnSpcReduction="20000"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800" b="1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400" b="1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 b="1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b="1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altLang="zh-CN" sz="2550" dirty="0"/>
                  <a:t>3</a:t>
                </a:r>
                <a:r>
                  <a:rPr lang="zh-CN" altLang="zh-CN" sz="2550" dirty="0"/>
                  <a:t>．</a:t>
                </a:r>
                <a:r>
                  <a:rPr lang="zh-CN" altLang="zh-CN" sz="3000" dirty="0"/>
                  <a:t>自相关函数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zh-CN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zh-CN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lang="zh-CN" altLang="zh-CN" sz="2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sSub>
                                <m:sSubPr>
                                  <m:ctrlPr>
                                    <a:rPr lang="zh-CN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=−∞</m:t>
                              </m:r>
                            </m:sub>
                            <m:sup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zh-CN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zh-CN" altLang="zh-CN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b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sub>
                              </m:sSub>
                            </m:e>
                          </m:nary>
                          <m:sSub>
                            <m:sSubPr>
                              <m:ctrlPr>
                                <a:rPr lang="zh-CN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b>
                          </m:s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zh-CN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zh-CN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)</m:t>
                          </m:r>
                          <m:nary>
                            <m:naryPr>
                              <m:chr m:val="∑"/>
                              <m:ctrlPr>
                                <a:rPr lang="zh-CN" altLang="zh-CN" sz="2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sSub>
                                <m:sSubPr>
                                  <m:ctrlPr>
                                    <a:rPr lang="zh-CN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=−∞</m:t>
                              </m:r>
                            </m:sub>
                            <m:sup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zh-CN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zh-CN" altLang="zh-CN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b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sub>
                              </m:sSub>
                            </m:e>
                          </m:nary>
                          <m:sSub>
                            <m:sSubPr>
                              <m:ctrlPr>
                                <a:rPr lang="zh-CN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b>
                          </m:s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zh-CN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zh-CN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  <m:oMath xmlns:m="http://schemas.openxmlformats.org/officeDocument/2006/math"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lang="zh-CN" altLang="zh-CN" sz="2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sSub>
                                <m:sSubPr>
                                  <m:ctrlPr>
                                    <a:rPr lang="zh-CN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=−∞</m:t>
                              </m:r>
                            </m:sub>
                            <m:sup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sup>
                            <m:e>
                              <m:nary>
                                <m:naryPr>
                                  <m:chr m:val="∑"/>
                                  <m:ctrlPr>
                                    <a:rPr lang="zh-CN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sSub>
                                    <m:sSubPr>
                                      <m:ctrlPr>
                                        <a:rPr lang="zh-CN" altLang="zh-CN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b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=−∞</m:t>
                                  </m:r>
                                </m:sub>
                                <m:sup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∞</m:t>
                                  </m:r>
                                </m:sup>
                                <m:e>
                                  <m:sSub>
                                    <m:sSubPr>
                                      <m:ctrlPr>
                                        <a:rPr lang="zh-CN" altLang="zh-CN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  <m:t>𝐼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zh-CN" altLang="zh-CN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zh-CN" altLang="zh-CN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  <m:t>𝐼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zh-CN" altLang="zh-CN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sub>
                                  </m:sSub>
                                </m:e>
                              </m:nary>
                              <m:sSub>
                                <m:sSubPr>
                                  <m:ctrlPr>
                                    <a:rPr lang="zh-CN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b>
                              </m:s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zh-CN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zh-CN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sSub>
                                <m:sSubPr>
                                  <m:ctrlPr>
                                    <a:rPr lang="zh-CN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b>
                              </m:s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zh-CN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zh-CN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e>
                      </m:d>
                      <m:r>
                        <a:rPr lang="en-US" altLang="zh-CN" sz="2400" i="1">
                          <a:highlight>
                            <a:srgbClr val="FFFF00"/>
                          </a:highlight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zh-CN" altLang="zh-CN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zh-CN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=−∞</m:t>
                          </m:r>
                        </m:sub>
                        <m:sup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zh-CN" altLang="zh-CN" sz="2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sSub>
                                <m:sSubPr>
                                  <m:ctrlPr>
                                    <a:rPr lang="zh-CN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=−∞</m:t>
                              </m:r>
                            </m:sub>
                            <m:sup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sup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zh-CN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zh-CN" altLang="zh-CN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  <m:t>𝐼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zh-CN" altLang="zh-CN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zh-CN" altLang="zh-CN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  <m:t>𝐼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zh-CN" altLang="zh-CN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sub>
                                  </m:sSub>
                                </m:e>
                              </m:d>
                            </m:e>
                          </m:nary>
                          <m:sSub>
                            <m:sSubPr>
                              <m:ctrlPr>
                                <a:rPr lang="zh-CN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b>
                          </m:s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zh-CN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zh-CN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zh-CN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b>
                          </m:s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zh-CN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zh-CN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altLang="zh-CN" sz="24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br>
                  <a:rPr lang="en-US" altLang="zh-CN" sz="2400" i="1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zh-CN" altLang="zh-CN" sz="2400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𝐸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zh-CN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Sup>
                                  <m:sSubSupPr>
                                    <m:ctrlPr>
                                      <a:rPr lang="zh-CN" altLang="zh-CN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</m:e>
                                  <m:sub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  <m:sup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e>
                            </m:d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=1,</m:t>
                            </m:r>
                            <m:sSub>
                              <m:sSubPr>
                                <m:ctrlPr>
                                  <a:rPr lang="zh-CN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zh-CN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zh-CN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zh-CN" altLang="zh-CN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zh-CN" altLang="zh-CN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400" i="1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e>
                                      <m:sub>
                                        <m:r>
                                          <a:rPr lang="en-US" altLang="zh-CN" sz="2400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den>
                                </m:f>
                              </m:e>
                            </m:d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zh-CN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zh-CN" altLang="zh-CN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zh-CN" altLang="zh-CN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400" i="1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e>
                                      <m:sub>
                                        <m:r>
                                          <a:rPr lang="en-US" altLang="zh-CN" sz="24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den>
                                </m:f>
                              </m:e>
                            </m:d>
                          </m:e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𝐸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zh-CN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zh-CN" altLang="zh-CN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zh-CN" altLang="zh-CN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400" i="1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  <m:sub>
                                        <m:r>
                                          <a:rPr lang="en-US" altLang="zh-CN" sz="2400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sub>
                                </m:sSub>
                                <m:sSub>
                                  <m:sSubPr>
                                    <m:ctrlPr>
                                      <a:rPr lang="zh-CN" altLang="zh-CN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zh-CN" altLang="zh-CN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400" i="1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  <m:sub>
                                        <m:r>
                                          <a:rPr lang="en-US" altLang="zh-CN" sz="24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sub>
                                </m:sSub>
                              </m:e>
                            </m:d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𝐸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zh-CN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zh-CN" altLang="zh-CN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zh-CN" altLang="zh-CN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400" i="1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  <m:sub>
                                        <m:r>
                                          <a:rPr lang="en-US" altLang="zh-CN" sz="2400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sub>
                                </m:sSub>
                              </m:e>
                            </m:d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𝐸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zh-CN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zh-CN" altLang="zh-CN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zh-CN" altLang="zh-CN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400" i="1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  <m:sub>
                                        <m:r>
                                          <a:rPr lang="en-US" altLang="zh-CN" sz="24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sub>
                                </m:sSub>
                              </m:e>
                            </m:d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=(2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  <m:sSup>
                              <m:sSupPr>
                                <m:ctrlPr>
                                  <a:rPr lang="zh-CN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zh-CN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≠</m:t>
                            </m:r>
                            <m:sSub>
                              <m:sSubPr>
                                <m:ctrlPr>
                                  <a:rPr lang="zh-CN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zh-CN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zh-CN" altLang="zh-CN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zh-CN" altLang="zh-CN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400" i="1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e>
                                      <m:sub>
                                        <m:r>
                                          <a:rPr lang="en-US" altLang="zh-CN" sz="2400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den>
                                </m:f>
                              </m:e>
                            </m:d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≠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zh-CN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zh-CN" altLang="zh-CN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zh-CN" altLang="zh-CN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400" i="1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e>
                                      <m:sub>
                                        <m:r>
                                          <a:rPr lang="en-US" altLang="zh-CN" sz="24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den>
                                </m:f>
                              </m:e>
                            </m:d>
                          </m:e>
                        </m:eqArr>
                      </m:e>
                    </m:d>
                  </m:oMath>
                </a14:m>
                <a:r>
                  <a:rPr lang="en-US" altLang="zh-CN" sz="2400" dirty="0"/>
                  <a:t> 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=1−4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𝑝𝑞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+4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𝑝𝑞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𝛿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["/>
                            <m:endChr m:val="]"/>
                            <m:ctrlPr>
                              <a:rPr lang="zh-CN" altLang="zh-CN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zh-CN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zh-CN" altLang="zh-CN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den>
                            </m:f>
                          </m:e>
                        </m:d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−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zh-CN" altLang="zh-CN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zh-CN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zh-CN" altLang="zh-CN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den>
                            </m:f>
                          </m:e>
                        </m:d>
                      </m:e>
                    </m:d>
                  </m:oMath>
                </a14:m>
                <a:endParaRPr lang="en-US" altLang="zh-CN" sz="2400" dirty="0"/>
              </a:p>
              <a:p>
                <a:pPr marL="0" indent="0">
                  <a:buNone/>
                </a:pPr>
                <a:endParaRPr lang="zh-CN" altLang="en-US" sz="2100" dirty="0"/>
              </a:p>
            </p:txBody>
          </p:sp>
        </mc:Choice>
        <mc:Fallback xmlns="">
          <p:sp>
            <p:nvSpPr>
              <p:cNvPr id="3" name="内容占位符 1">
                <a:extLst>
                  <a:ext uri="{FF2B5EF4-FFF2-40B4-BE49-F238E27FC236}">
                    <a16:creationId xmlns:a16="http://schemas.microsoft.com/office/drawing/2014/main" id="{87C95C0E-95AB-4168-AAFE-6FC8589244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66928" y="2348880"/>
                <a:ext cx="8577072" cy="3650672"/>
              </a:xfrm>
              <a:prstGeom prst="rect">
                <a:avLst/>
              </a:prstGeom>
              <a:blipFill>
                <a:blip r:embed="rId4"/>
                <a:stretch>
                  <a:fillRect l="-640" t="-3172"/>
                </a:stretch>
              </a:blip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椭圆 3"/>
          <p:cNvSpPr/>
          <p:nvPr/>
        </p:nvSpPr>
        <p:spPr bwMode="auto">
          <a:xfrm>
            <a:off x="6372200" y="4941168"/>
            <a:ext cx="2576945" cy="1238888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algn="ctr" defTabSz="685800"/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自相关函数与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ctr" defTabSz="685800"/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时间起点和终点的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ctr" defTabSz="685800"/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取值有关</a:t>
            </a:r>
          </a:p>
        </p:txBody>
      </p:sp>
    </p:spTree>
    <p:extLst>
      <p:ext uri="{BB962C8B-B14F-4D97-AF65-F5344CB8AC3E}">
        <p14:creationId xmlns:p14="http://schemas.microsoft.com/office/powerpoint/2010/main" val="4999836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749A5A3D-B69A-4DED-BB56-CBFDFB33DF0F}"/>
                  </a:ext>
                </a:extLst>
              </p:cNvPr>
              <p:cNvSpPr>
                <a:spLocks noGrp="1"/>
              </p:cNvSpPr>
              <p:nvPr>
                <p:ph/>
              </p:nvPr>
            </p:nvSpPr>
            <p:spPr>
              <a:xfrm>
                <a:off x="471055" y="1082986"/>
                <a:ext cx="8255000" cy="4512519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altLang="zh-CN" sz="2400" dirty="0">
                    <a:solidFill>
                      <a:schemeClr val="accent2"/>
                    </a:solidFill>
                  </a:rPr>
                  <a:t>4 </a:t>
                </a:r>
                <a:r>
                  <a:rPr lang="zh-CN" altLang="zh-CN" sz="2400" dirty="0">
                    <a:solidFill>
                      <a:schemeClr val="accent2"/>
                    </a:solidFill>
                  </a:rPr>
                  <a:t>泊松过程</a:t>
                </a:r>
                <a:r>
                  <a:rPr lang="en-US" altLang="zh-CN" sz="2400" dirty="0">
                    <a:solidFill>
                      <a:schemeClr val="accent2"/>
                    </a:solidFill>
                  </a:rPr>
                  <a:t> </a:t>
                </a:r>
                <a:r>
                  <a:rPr lang="zh-CN" altLang="en-US" sz="2400" dirty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方正粗黑宋简体" panose="02000000000000000000" pitchFamily="2" charset="-122"/>
                    <a:ea typeface="方正粗黑宋简体" panose="02000000000000000000" pitchFamily="2" charset="-122"/>
                  </a:rPr>
                  <a:t>（非广义平稳信号）</a:t>
                </a:r>
                <a:endParaRPr lang="zh-CN" altLang="zh-CN" sz="2400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粗黑宋简体" panose="02000000000000000000" pitchFamily="2" charset="-122"/>
                  <a:ea typeface="方正粗黑宋简体" panose="02000000000000000000" pitchFamily="2" charset="-122"/>
                </a:endParaRPr>
              </a:p>
              <a:p>
                <a:pPr marL="0" indent="0">
                  <a:buNone/>
                </a:pPr>
                <a:r>
                  <a:rPr lang="x-none" altLang="zh-CN" sz="1800" dirty="0">
                    <a:solidFill>
                      <a:srgbClr val="FF0000"/>
                    </a:solidFill>
                  </a:rPr>
                  <a:t>1. </a:t>
                </a:r>
                <a:r>
                  <a:rPr lang="zh-CN" altLang="zh-CN" sz="1800" dirty="0">
                    <a:solidFill>
                      <a:srgbClr val="FF0000"/>
                    </a:solidFill>
                  </a:rPr>
                  <a:t>定义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zh-CN" altLang="zh-CN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),</m:t>
                        </m:r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≥0</m:t>
                        </m:r>
                      </m:e>
                    </m:d>
                  </m:oMath>
                </a14:m>
                <a:r>
                  <a:rPr lang="zh-CN" altLang="zh-CN" sz="1800" dirty="0"/>
                  <a:t>，描述某种随机现象反复发生的时间点与次数的问题。</a:t>
                </a:r>
                <a:endParaRPr lang="en-US" altLang="zh-CN" sz="1800" dirty="0"/>
              </a:p>
              <a:p>
                <a:pPr marL="0" indent="0"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en-US" altLang="zh-CN" sz="1800" dirty="0"/>
                  <a:t>1</a:t>
                </a:r>
                <a:r>
                  <a:rPr lang="zh-CN" altLang="en-US" sz="1800" dirty="0"/>
                  <a:t>）</a:t>
                </a:r>
                <a:r>
                  <a:rPr lang="zh-CN" altLang="zh-CN" sz="1800" dirty="0"/>
                  <a:t>零初始值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zh-CN" altLang="zh-CN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altLang="zh-CN" sz="1800" i="1">
                        <a:latin typeface="Cambria Math" panose="02040503050406030204" pitchFamily="18" charset="0"/>
                      </a:rPr>
                      <m:t>≡0</m:t>
                    </m:r>
                  </m:oMath>
                </a14:m>
                <a:endParaRPr lang="zh-CN" altLang="zh-CN" sz="1800" dirty="0"/>
              </a:p>
              <a:p>
                <a:pPr marL="0" indent="0"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en-US" altLang="zh-CN" sz="1800" dirty="0"/>
                  <a:t>2</a:t>
                </a:r>
                <a:r>
                  <a:rPr lang="zh-CN" altLang="en-US" sz="1800" dirty="0"/>
                  <a:t>）</a:t>
                </a:r>
                <a:r>
                  <a:rPr lang="zh-CN" altLang="zh-CN" sz="1800" dirty="0"/>
                  <a:t>在不重叠的时间区间上，事件发生的行为是独立的，即</a:t>
                </a:r>
                <a14:m>
                  <m:oMath xmlns:m="http://schemas.openxmlformats.org/officeDocument/2006/math">
                    <m:r>
                      <a:rPr lang="en-US" altLang="zh-CN" sz="1800" i="1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≥3</m:t>
                    </m:r>
                  </m:oMath>
                </a14:m>
                <a:r>
                  <a:rPr lang="zh-CN" altLang="zh-CN" sz="1800" dirty="0"/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1800" i="1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zh-CN" altLang="zh-C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1800" i="1">
                        <a:latin typeface="Cambria Math" panose="02040503050406030204" pitchFamily="18" charset="0"/>
                      </a:rPr>
                      <m:t>⋯&lt;</m:t>
                    </m:r>
                    <m:sSub>
                      <m:sSubPr>
                        <m:ctrlPr>
                          <a:rPr lang="zh-CN" altLang="zh-C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sz="1800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altLang="zh-CN" sz="1800" dirty="0"/>
                  <a:t> </a:t>
                </a:r>
                <a:r>
                  <a:rPr lang="zh-CN" altLang="zh-CN" sz="1800" dirty="0"/>
                  <a:t>，随机变量</a:t>
                </a:r>
                <a:endParaRPr lang="en-US" altLang="zh-CN" sz="1800" dirty="0"/>
              </a:p>
              <a:p>
                <a:pPr marL="0" indent="0" algn="ctr">
                  <a:spcBef>
                    <a:spcPts val="900"/>
                  </a:spcBef>
                  <a:spcAft>
                    <a:spcPts val="900"/>
                  </a:spcAft>
                  <a:buNone/>
                </a:pPr>
                <a14:m>
                  <m:oMath xmlns:m="http://schemas.openxmlformats.org/officeDocument/2006/math"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𝑋</m:t>
                    </m:r>
                    <m:d>
                      <m:dPr>
                        <m:ctrlPr>
                          <a:rPr lang="zh-CN" altLang="zh-CN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zh-CN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altLang="zh-CN" sz="18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𝑋</m:t>
                    </m:r>
                    <m:d>
                      <m:dPr>
                        <m:ctrlPr>
                          <a:rPr lang="zh-CN" altLang="zh-CN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zh-CN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zh-CN" sz="1800" dirty="0"/>
                  <a:t>、</a:t>
                </a:r>
                <a14:m>
                  <m:oMath xmlns:m="http://schemas.openxmlformats.org/officeDocument/2006/math"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𝑋</m:t>
                    </m:r>
                    <m:d>
                      <m:dPr>
                        <m:ctrlPr>
                          <a:rPr lang="zh-CN" altLang="zh-CN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zh-CN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e>
                    </m:d>
                    <m:r>
                      <a:rPr lang="en-US" altLang="zh-CN" sz="18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𝑋</m:t>
                    </m:r>
                    <m:d>
                      <m:dPr>
                        <m:ctrlPr>
                          <a:rPr lang="zh-CN" altLang="zh-CN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zh-CN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zh-CN" sz="1800" dirty="0"/>
                  <a:t>、</a:t>
                </a:r>
                <a14:m>
                  <m:oMath xmlns:m="http://schemas.openxmlformats.org/officeDocument/2006/math"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𝑋</m:t>
                    </m:r>
                    <m:d>
                      <m:dPr>
                        <m:ctrlPr>
                          <a:rPr lang="zh-CN" altLang="zh-CN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zh-CN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altLang="zh-CN" sz="18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𝑋</m:t>
                    </m:r>
                    <m:d>
                      <m:dPr>
                        <m:ctrlPr>
                          <a:rPr lang="zh-CN" altLang="zh-CN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zh-CN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e>
                    </m:d>
                  </m:oMath>
                </a14:m>
                <a:endParaRPr lang="en-US" altLang="zh-CN" sz="1800" dirty="0"/>
              </a:p>
              <a:p>
                <a:pPr marL="0" indent="0"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zh-CN" altLang="zh-CN" sz="1800" dirty="0"/>
                  <a:t>是统计独立的。</a:t>
                </a:r>
                <a:r>
                  <a:rPr lang="zh-CN" altLang="en-US" sz="1800" dirty="0">
                    <a:solidFill>
                      <a:srgbClr val="FF0000"/>
                    </a:solidFill>
                  </a:rPr>
                  <a:t>（独立增量过程）</a:t>
                </a:r>
                <a:endParaRPr lang="zh-CN" altLang="zh-CN" sz="1800" dirty="0">
                  <a:solidFill>
                    <a:srgbClr val="FF0000"/>
                  </a:solidFill>
                </a:endParaRPr>
              </a:p>
              <a:p>
                <a:pPr marL="0" indent="0"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en-US" altLang="zh-CN" sz="1800" dirty="0"/>
                  <a:t>3</a:t>
                </a:r>
                <a:r>
                  <a:rPr lang="zh-CN" altLang="en-US" sz="1800" dirty="0"/>
                  <a:t>）</a:t>
                </a:r>
                <a:r>
                  <a:rPr lang="zh-CN" altLang="zh-CN" sz="1800" dirty="0"/>
                  <a:t>在任何间隔为</a:t>
                </a:r>
                <a14:m>
                  <m:oMath xmlns:m="http://schemas.openxmlformats.org/officeDocument/2006/math"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zh-CN" altLang="zh-CN" sz="1800" dirty="0"/>
                  <a:t>的区间上，事件发生的次数服从参数为</a:t>
                </a:r>
                <a14:m>
                  <m:oMath xmlns:m="http://schemas.openxmlformats.org/officeDocument/2006/math"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𝜆𝜏</m:t>
                    </m:r>
                  </m:oMath>
                </a14:m>
                <a:r>
                  <a:rPr lang="zh-CN" altLang="zh-CN" sz="1800" dirty="0"/>
                  <a:t>的泊松分布，</a:t>
                </a:r>
                <a14:m>
                  <m:oMath xmlns:m="http://schemas.openxmlformats.org/officeDocument/2006/math"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zh-CN" altLang="zh-CN" sz="1800" dirty="0"/>
                  <a:t>为常数，表示单位时间内事件发生的次数。</a:t>
                </a:r>
              </a:p>
              <a:p>
                <a:pPr marL="0" indent="0"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zh-CN" altLang="zh-CN" sz="1800" dirty="0"/>
                  <a:t>即  </a:t>
                </a:r>
                <a14:m>
                  <m:oMath xmlns:m="http://schemas.openxmlformats.org/officeDocument/2006/math">
                    <m:r>
                      <a:rPr lang="en-US" altLang="zh-CN" sz="1800">
                        <a:latin typeface="Cambria Math" panose="02040503050406030204" pitchFamily="18" charset="0"/>
                      </a:rPr>
                      <m:t>     </m:t>
                    </m:r>
                    <m:sSub>
                      <m:sSubPr>
                        <m:ctrlPr>
                          <a:rPr lang="zh-CN" altLang="zh-C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CN" sz="18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zh-CN" altLang="zh-CN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𝑁</m:t>
                        </m:r>
                        <m:d>
                          <m:dPr>
                            <m:ctrlPr>
                              <a:rPr lang="zh-CN" altLang="zh-CN" sz="1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altLang="zh-CN" sz="18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zh-CN" sz="1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zh-CN" altLang="zh-CN" sz="1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zh-CN" altLang="zh-CN" sz="1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1800" i="1"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  <m:r>
                                  <a:rPr lang="en-US" altLang="zh-CN" sz="18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</m:e>
                          <m:sup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num>
                      <m:den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sSup>
                      <m:sSupPr>
                        <m:ctrlPr>
                          <a:rPr lang="zh-CN" altLang="zh-CN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lang="zh-CN" altLang="zh-CN" sz="1800" dirty="0"/>
                  <a:t>，</a:t>
                </a:r>
                <a14:m>
                  <m:oMath xmlns:m="http://schemas.openxmlformats.org/officeDocument/2006/math"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=0,1,2,⋯</m:t>
                    </m:r>
                  </m:oMath>
                </a14:m>
                <a:endParaRPr lang="en-US" altLang="zh-CN" sz="1800" dirty="0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altLang="zh-CN" dirty="0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749A5A3D-B69A-4DED-BB56-CBFDFB33DF0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xfrm>
                <a:off x="471055" y="1082986"/>
                <a:ext cx="8255000" cy="4512519"/>
              </a:xfrm>
              <a:blipFill>
                <a:blip r:embed="rId2"/>
                <a:stretch>
                  <a:fillRect l="-1108" t="-1757" b="-540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557151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59EC5E42-E263-4100-B351-7E8D420EDD2F}"/>
                  </a:ext>
                </a:extLst>
              </p:cNvPr>
              <p:cNvSpPr>
                <a:spLocks noGrp="1"/>
              </p:cNvSpPr>
              <p:nvPr>
                <p:ph/>
              </p:nvPr>
            </p:nvSpPr>
            <p:spPr>
              <a:xfrm>
                <a:off x="464128" y="1221532"/>
                <a:ext cx="8255000" cy="404666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x-none" altLang="zh-CN" dirty="0">
                    <a:solidFill>
                      <a:srgbClr val="FF0000"/>
                    </a:solidFill>
                  </a:rPr>
                  <a:t>2. </a:t>
                </a:r>
                <a:r>
                  <a:rPr lang="zh-CN" altLang="zh-CN" dirty="0">
                    <a:solidFill>
                      <a:srgbClr val="FF0000"/>
                    </a:solidFill>
                  </a:rPr>
                  <a:t>特征函数</a:t>
                </a:r>
              </a:p>
              <a:p>
                <a:pPr marL="0" indent="0">
                  <a:buNone/>
                </a:pPr>
                <a:r>
                  <a:rPr lang="zh-CN" altLang="zh-CN" dirty="0"/>
                  <a:t>一维</a:t>
                </a:r>
                <a:endParaRPr lang="en-US" altLang="zh-CN" dirty="0"/>
              </a:p>
              <a:p>
                <a:pPr marL="0" indent="0" algn="ctr">
                  <a:buNone/>
                </a:pPr>
                <a:r>
                  <a:rPr lang="zh-CN" altLang="zh-CN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x-none" altLang="zh-CN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x-none" altLang="zh-CN" i="1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  <m:r>
                      <a:rPr lang="x-none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x-none" altLang="zh-CN" i="1">
                        <a:latin typeface="Cambria Math" panose="02040503050406030204" pitchFamily="18" charset="0"/>
                      </a:rPr>
                      <m:t>𝑣</m:t>
                    </m:r>
                    <m:func>
                      <m:func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x-none" altLang="zh-CN" i="1">
                            <a:latin typeface="Cambria Math" panose="02040503050406030204" pitchFamily="18" charset="0"/>
                          </a:rPr>
                          <m:t>;</m:t>
                        </m:r>
                      </m:fName>
                      <m:e>
                        <m:r>
                          <a:rPr lang="x-none" altLang="zh-CN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func>
                    <m:r>
                      <a:rPr lang="x-none" altLang="zh-CN" i="1">
                        <a:latin typeface="Cambria Math" panose="02040503050406030204" pitchFamily="18" charset="0"/>
                      </a:rPr>
                      <m:t>)=</m:t>
                    </m:r>
                    <m:r>
                      <a:rPr lang="x-none" altLang="zh-CN" i="1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x-none" altLang="zh-CN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x-none" altLang="zh-CN" i="1">
                                <a:latin typeface="Cambria Math" panose="02040503050406030204" pitchFamily="18" charset="0"/>
                              </a:rPr>
                              <m:t>𝑗𝑣𝑁</m:t>
                            </m:r>
                            <m:r>
                              <a:rPr lang="x-none" altLang="zh-CN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x-none" altLang="zh-CN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x-none" altLang="zh-CN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</m:e>
                    </m:d>
                    <m:r>
                      <a:rPr lang="x-none" altLang="zh-CN" i="1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x-none" altLang="zh-CN" i="1">
                            <a:latin typeface="Cambria Math" panose="02040503050406030204" pitchFamily="18" charset="0"/>
                          </a:rPr>
                          <m:t>𝑒𝑥𝑝</m:t>
                        </m:r>
                      </m:fName>
                      <m:e>
                        <m:d>
                          <m:d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x-none" altLang="zh-CN" i="1">
                                <a:latin typeface="Cambria Math" panose="02040503050406030204" pitchFamily="18" charset="0"/>
                              </a:rPr>
                              <m:t>𝜆</m:t>
                            </m:r>
                            <m:r>
                              <a:rPr lang="x-none" altLang="zh-CN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d>
                              <m:dPr>
                                <m:ctrlPr>
                                  <a:rPr lang="zh-CN" altLang="zh-CN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zh-CN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x-none" altLang="zh-CN" i="1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x-none" altLang="zh-CN" i="1">
                                        <a:latin typeface="Cambria Math" panose="02040503050406030204" pitchFamily="18" charset="0"/>
                                      </a:rPr>
                                      <m:t>𝑗𝑣</m:t>
                                    </m:r>
                                  </m:sup>
                                </m:sSup>
                                <m:r>
                                  <a:rPr lang="x-none" altLang="zh-CN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</m:e>
                        </m:d>
                      </m:e>
                    </m:func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begChr m:val="{"/>
                          <m:endChr m:val="}"/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𝑁</m:t>
                          </m:r>
                          <m:d>
                            <m:d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zh-CN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!</m:t>
                          </m:r>
                        </m:den>
                      </m:f>
                      <m:sSup>
                        <m:sSup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𝜆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</m:oMath>
                  </m:oMathPara>
                </a14:m>
                <a:endParaRPr lang="zh-CN" altLang="zh-CN" dirty="0"/>
              </a:p>
              <a:p>
                <a:pPr marL="0" indent="0">
                  <a:buNone/>
                </a:pPr>
                <a:r>
                  <a:rPr lang="x-none" altLang="zh-CN" dirty="0">
                    <a:solidFill>
                      <a:srgbClr val="FF0000"/>
                    </a:solidFill>
                  </a:rPr>
                  <a:t>3. </a:t>
                </a:r>
                <a:r>
                  <a:rPr lang="zh-CN" altLang="zh-CN" dirty="0">
                    <a:solidFill>
                      <a:srgbClr val="FF0000"/>
                    </a:solidFill>
                  </a:rPr>
                  <a:t>数字特征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1</a:t>
                </a:r>
                <a:r>
                  <a:rPr lang="zh-CN" altLang="zh-CN" dirty="0"/>
                  <a:t>）均值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𝑵</m:t>
                          </m:r>
                        </m:sub>
                      </m:sSub>
                      <m:d>
                        <m:d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𝑬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𝑵</m:t>
                          </m:r>
                          <m:d>
                            <m:d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e>
                          </m:d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⋅</m:t>
                          </m:r>
                        </m:e>
                      </m:nary>
                      <m:f>
                        <m:f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zh-CN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𝝀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𝒕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sup>
                          </m:sSup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!</m:t>
                          </m:r>
                        </m:den>
                      </m:f>
                      <m:sSup>
                        <m:sSup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𝝀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𝒕</m:t>
                          </m:r>
                        </m:sup>
                      </m:sSup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𝝀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𝒕</m:t>
                          </m:r>
                        </m:sup>
                      </m:sSup>
                      <m:nary>
                        <m:naryPr>
                          <m:chr m:val="∑"/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f>
                            <m:f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zh-CN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zh-CN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𝝀</m:t>
                                      </m:r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𝒕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𝒌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p>
                              </m:sSup>
                            </m:num>
                            <m:den>
                              <m:d>
                                <m:dPr>
                                  <m:ctrlPr>
                                    <a:rPr lang="zh-CN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𝒌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e>
                              </m:d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!</m:t>
                              </m:r>
                            </m:den>
                          </m:f>
                        </m:e>
                      </m:nary>
                      <m:r>
                        <a:rPr lang="en-US" altLang="zh-CN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𝝀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𝝀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𝒕</m:t>
                      </m:r>
                    </m:oMath>
                  </m:oMathPara>
                </a14:m>
                <a:endParaRPr lang="zh-CN" altLang="zh-CN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59EC5E42-E263-4100-B351-7E8D420EDD2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xfrm>
                <a:off x="464128" y="1221532"/>
                <a:ext cx="8255000" cy="4046660"/>
              </a:xfrm>
              <a:blipFill>
                <a:blip r:embed="rId2"/>
                <a:stretch>
                  <a:fillRect l="-886" t="-13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076931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21709987-7FBD-4325-8088-783425AE5571}"/>
                  </a:ext>
                </a:extLst>
              </p:cNvPr>
              <p:cNvSpPr>
                <a:spLocks noGrp="1"/>
              </p:cNvSpPr>
              <p:nvPr>
                <p:ph/>
              </p:nvPr>
            </p:nvSpPr>
            <p:spPr>
              <a:xfrm>
                <a:off x="471055" y="951367"/>
                <a:ext cx="8575964" cy="4831175"/>
              </a:xfrm>
            </p:spPr>
            <p:txBody>
              <a:bodyPr/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dirty="0">
                    <a:solidFill>
                      <a:srgbClr val="FF0000"/>
                    </a:solidFill>
                  </a:rPr>
                  <a:t>2</a:t>
                </a:r>
                <a:r>
                  <a:rPr lang="zh-CN" altLang="zh-CN" dirty="0">
                    <a:solidFill>
                      <a:srgbClr val="FF0000"/>
                    </a:solidFill>
                  </a:rPr>
                  <a:t>）方差</a:t>
                </a:r>
              </a:p>
              <a:p>
                <a:pPr marL="0" indent="0" algn="ctr">
                  <a:lnSpc>
                    <a:spcPct val="150000"/>
                  </a:lnSpc>
                  <a:buNone/>
                </a:pPr>
                <a:r>
                  <a:rPr lang="en-US" altLang="zh-CN" dirty="0"/>
                  <a:t>  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𝑬</m:t>
                    </m:r>
                    <m:d>
                      <m:dPr>
                        <m:begChr m:val="["/>
                        <m:endChr m:val="]"/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𝑵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𝒕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𝑹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)=</m:t>
                    </m:r>
                    <m:sSup>
                      <m:sSup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𝝀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𝒕</m:t>
                            </m:r>
                          </m:e>
                        </m:d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altLang="zh-CN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𝝀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𝒕</m:t>
                    </m:r>
                  </m:oMath>
                </a14:m>
                <a:r>
                  <a:rPr lang="en-US" altLang="zh-CN" dirty="0"/>
                  <a:t>    </a:t>
                </a:r>
              </a:p>
              <a:p>
                <a:pPr marL="0" indent="0" algn="ctr">
                  <a:lnSpc>
                    <a:spcPct val="150000"/>
                  </a:lnSpc>
                  <a:buNone/>
                </a:pPr>
                <a:r>
                  <a:rPr lang="en-US" altLang="zh-CN" dirty="0"/>
                  <a:t> 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∴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𝑫</m:t>
                    </m:r>
                    <m:d>
                      <m:dPr>
                        <m:begChr m:val="["/>
                        <m:endChr m:val="]"/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𝑵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𝒕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𝝀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𝒕</m:t>
                    </m:r>
                  </m:oMath>
                </a14:m>
                <a:endParaRPr lang="zh-CN" altLang="zh-CN" dirty="0"/>
              </a:p>
              <a:p>
                <a:pPr marL="0" indent="0">
                  <a:buNone/>
                </a:pPr>
                <a:endParaRPr lang="en-US" altLang="zh-CN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r>
                  <a:rPr lang="en-US" altLang="zh-CN" dirty="0">
                    <a:solidFill>
                      <a:srgbClr val="FF0000"/>
                    </a:solidFill>
                  </a:rPr>
                  <a:t>3</a:t>
                </a:r>
                <a:r>
                  <a:rPr lang="zh-CN" altLang="zh-CN" dirty="0">
                    <a:solidFill>
                      <a:srgbClr val="FF0000"/>
                    </a:solidFill>
                  </a:rPr>
                  <a:t>）自相关函数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𝑵</m:t>
                          </m:r>
                        </m:sub>
                      </m:sSub>
                      <m:d>
                        <m:d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𝒔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𝑬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𝑵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𝒔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𝑵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𝒕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𝑬</m:t>
                      </m:r>
                      <m:d>
                        <m:dPr>
                          <m:begChr m:val="{"/>
                          <m:endChr m:val="}"/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𝑵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)−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𝑵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𝑵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𝒕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)+</m:t>
                          </m:r>
                          <m:sSup>
                            <m:sSup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𝑵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𝒕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           </m:t>
                      </m:r>
                      <m:r>
                        <a:rPr lang="zh-CN" altLang="en-US" i="1">
                          <a:latin typeface="Cambria Math" panose="02040503050406030204" pitchFamily="18" charset="0"/>
                        </a:rPr>
                        <m:t>（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𝒔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zh-CN" altLang="en-US" i="1">
                          <a:latin typeface="Cambria Math" panose="02040503050406030204" pitchFamily="18" charset="0"/>
                        </a:rPr>
                        <m:t>）</m:t>
                      </m:r>
                    </m:oMath>
                  </m:oMathPara>
                </a14:m>
                <a:endParaRPr lang="en-US" altLang="zh-CN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dirty="0"/>
                  <a:t>	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𝑬</m:t>
                    </m:r>
                    <m:d>
                      <m:dPr>
                        <m:begChr m:val="["/>
                        <m:endChr m:val="]"/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𝑵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𝒔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)−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𝑵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𝒕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𝑬</m:t>
                    </m:r>
                    <m:d>
                      <m:dPr>
                        <m:begChr m:val="["/>
                        <m:endChr m:val="]"/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𝑵</m:t>
                        </m:r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𝒕</m:t>
                            </m:r>
                          </m:e>
                        </m:d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𝑬</m:t>
                    </m:r>
                    <m:d>
                      <m:dPr>
                        <m:begChr m:val="["/>
                        <m:endChr m:val="]"/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𝑵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𝒕</m:t>
                            </m:r>
                          </m:e>
                        </m:d>
                      </m:e>
                    </m:d>
                  </m:oMath>
                </a14:m>
                <a:endParaRPr lang="en-US" altLang="zh-CN" i="1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dirty="0"/>
                  <a:t>	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𝝀</m:t>
                    </m:r>
                    <m:d>
                      <m:d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𝒔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𝝀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𝝀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𝝀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sSup>
                      <m:sSup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endParaRPr lang="en-US" altLang="zh-CN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dirty="0"/>
                  <a:t>	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𝝀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altLang="zh-CN" i="1">
                        <a:latin typeface="Cambria Math" panose="02040503050406030204" pitchFamily="18" charset="0"/>
                      </a:rPr>
                      <m:t>𝒔𝒕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𝝀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zh-CN" altLang="zh-CN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𝝀</m:t>
                        </m:r>
                      </m:e>
                      <m:sup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𝒔𝒕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𝝀</m:t>
                    </m:r>
                    <m:func>
                      <m:funcPr>
                        <m:ctrlPr>
                          <a:rPr lang="zh-CN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𝒎𝒊𝒏</m:t>
                        </m:r>
                      </m:fName>
                      <m:e>
                        <m:d>
                          <m:dPr>
                            <m:ctrlPr>
                              <a:rPr lang="zh-CN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𝒕</m:t>
                            </m:r>
                          </m:e>
                        </m:d>
                      </m:e>
                    </m:func>
                  </m:oMath>
                </a14:m>
                <a:endParaRPr lang="zh-CN" altLang="zh-CN" dirty="0"/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21709987-7FBD-4325-8088-783425AE557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xfrm>
                <a:off x="471055" y="951367"/>
                <a:ext cx="8575964" cy="4831175"/>
              </a:xfrm>
              <a:blipFill>
                <a:blip r:embed="rId3"/>
                <a:stretch>
                  <a:fillRect l="-8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061089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ADB7EFF1-934C-44A8-A635-94A95EB374DC}"/>
                  </a:ext>
                </a:extLst>
              </p:cNvPr>
              <p:cNvSpPr txBox="1"/>
              <p:nvPr>
                <p:custDataLst>
                  <p:tags r:id="rId2"/>
                </p:custDataLst>
              </p:nvPr>
            </p:nvSpPr>
            <p:spPr>
              <a:xfrm>
                <a:off x="914400" y="1333500"/>
                <a:ext cx="7315200" cy="2419350"/>
              </a:xfrm>
              <a:prstGeom prst="rect">
                <a:avLst/>
              </a:prstGeom>
              <a:noFill/>
            </p:spPr>
            <p:txBody>
              <a:bodyPr vert="horz" wrap="square" rtlCol="0" anchor="ctr" anchorCtr="0">
                <a:no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195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已知随机信号</a:t>
                </a:r>
                <a14:m>
                  <m:oMath xmlns:m="http://schemas.openxmlformats.org/officeDocument/2006/math">
                    <m:r>
                      <a:rPr lang="en-US" altLang="zh-CN"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𝑆</m:t>
                    </m:r>
                    <m:d>
                      <m:dPr>
                        <m:ctrlPr>
                          <a:rPr lang="en-US" altLang="zh-CN"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𝑡</m:t>
                        </m:r>
                      </m:e>
                    </m:d>
                    <m:r>
                      <a:rPr lang="en-US" altLang="zh-CN"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=</m:t>
                    </m:r>
                    <m:r>
                      <a:rPr lang="en-US" altLang="zh-CN"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𝑋𝑐𝑜𝑠𝑡</m:t>
                    </m:r>
                    <m:r>
                      <a:rPr lang="en-US" altLang="zh-CN"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+</m:t>
                    </m:r>
                    <m:r>
                      <a:rPr lang="en-US" altLang="zh-CN"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𝑌𝑠𝑖𝑛𝑡</m:t>
                    </m:r>
                    <m:r>
                      <a:rPr lang="en-US" altLang="zh-CN"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, −∞&lt;</m:t>
                    </m:r>
                    <m:r>
                      <a:rPr lang="en-US" altLang="zh-CN"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Microsoft Yahei" panose="020B0503020204020204" pitchFamily="34" charset="-122"/>
                      </a:rPr>
                      <m:t>𝑡</m:t>
                    </m:r>
                    <m:r>
                      <a:rPr lang="en-US" altLang="zh-CN"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Microsoft Yahei" panose="020B0503020204020204" pitchFamily="34" charset="-122"/>
                      </a:rPr>
                      <m:t>&lt;∞</m:t>
                    </m:r>
                  </m:oMath>
                </a14:m>
                <a:r>
                  <a:rPr lang="en-US" altLang="zh-CN" sz="195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, </a:t>
                </a:r>
                <a:r>
                  <a:rPr lang="zh-CN" altLang="zh-CN" sz="195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其中</a:t>
                </a:r>
                <a14:m>
                  <m:oMath xmlns:m="http://schemas.openxmlformats.org/officeDocument/2006/math">
                    <m:r>
                      <a:rPr lang="en-US" altLang="zh-CN" sz="195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𝑋</m:t>
                    </m:r>
                    <m:r>
                      <a:rPr lang="en-US" altLang="zh-CN" sz="195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,</m:t>
                    </m:r>
                    <m:r>
                      <a:rPr lang="en-US" altLang="zh-CN" sz="195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𝑌</m:t>
                    </m:r>
                  </m:oMath>
                </a14:m>
                <a:r>
                  <a:rPr lang="zh-CN" altLang="en-US" sz="195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是任意的不相关的随机变量</a:t>
                </a:r>
                <a:r>
                  <a:rPr lang="zh-CN" altLang="zh-CN" sz="195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，</a:t>
                </a:r>
                <a:r>
                  <a:rPr lang="zh-CN" altLang="en-US" sz="195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均值为</a:t>
                </a:r>
                <a:r>
                  <a:rPr lang="en-US" altLang="zh-CN" sz="195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0</a:t>
                </a:r>
                <a:r>
                  <a:rPr lang="zh-CN" altLang="en-US" sz="195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，方差为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sSupPr>
                      <m:e>
                        <m:r>
                          <a:rPr lang="zh-CN" altLang="en-US"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𝜎</m:t>
                        </m:r>
                      </m:e>
                      <m:sup>
                        <m:r>
                          <a:rPr lang="en-US" altLang="zh-CN"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en-US" sz="195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，且两者的概率密度函数满足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𝑓</m:t>
                        </m:r>
                      </m:e>
                      <m:sub>
                        <m:r>
                          <a:rPr lang="en-US" altLang="zh-CN"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𝑋</m:t>
                        </m:r>
                      </m:sub>
                    </m:sSub>
                    <m:r>
                      <a:rPr lang="en-US" altLang="zh-CN"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(</m:t>
                    </m:r>
                    <m:r>
                      <a:rPr lang="en-US" altLang="zh-CN"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𝑥</m:t>
                    </m:r>
                    <m:r>
                      <a:rPr lang="en-US" altLang="zh-CN"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)≠</m:t>
                    </m:r>
                    <m:sSub>
                      <m:sSubPr>
                        <m:ctrlPr>
                          <a:rPr lang="en-US" altLang="zh-CN"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</m:sub>
                    </m:sSub>
                    <m:r>
                      <a:rPr lang="en-US" altLang="zh-CN"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altLang="zh-CN"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195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。</a:t>
                </a:r>
                <a:endParaRPr lang="en-US" altLang="zh-CN" sz="1950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195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证明：信号</a:t>
                </a:r>
                <a14:m>
                  <m:oMath xmlns:m="http://schemas.openxmlformats.org/officeDocument/2006/math">
                    <m:r>
                      <a:rPr lang="en-US" altLang="zh-CN"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𝑆</m:t>
                    </m:r>
                    <m:d>
                      <m:dPr>
                        <m:ctrlPr>
                          <a:rPr lang="en-US" altLang="zh-CN"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𝑡</m:t>
                        </m:r>
                      </m:e>
                    </m:d>
                  </m:oMath>
                </a14:m>
                <a:r>
                  <a:rPr lang="zh-CN" altLang="en-US" sz="195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广义平稳而不是严格平稳。</a:t>
                </a: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ADB7EFF1-934C-44A8-A635-94A95EB374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3"/>
                </p:custDataLst>
              </p:nvPr>
            </p:nvSpPr>
            <p:spPr>
              <a:xfrm>
                <a:off x="914400" y="1333500"/>
                <a:ext cx="7315200" cy="2419350"/>
              </a:xfrm>
              <a:prstGeom prst="rect">
                <a:avLst/>
              </a:prstGeom>
              <a:blipFill>
                <a:blip r:embed="rId14"/>
                <a:stretch>
                  <a:fillRect l="-833" r="-7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矩形: 圆角 5">
            <a:extLst>
              <a:ext uri="{FF2B5EF4-FFF2-40B4-BE49-F238E27FC236}">
                <a16:creationId xmlns:a16="http://schemas.microsoft.com/office/drawing/2014/main" id="{BDA3492F-8DDB-41D0-9CFA-AB5F98CD001E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6686550" y="5518547"/>
            <a:ext cx="1157288" cy="30861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rtlCol="0" anchor="ctr" anchorCtr="1" compatLnSpc="1">
            <a:prstTxWarp prst="textNoShape">
              <a:avLst/>
            </a:prstTxWarp>
            <a:noAutofit/>
          </a:bodyPr>
          <a:lstStyle/>
          <a:p>
            <a:pPr defTabSz="685800"/>
            <a:r>
              <a:rPr lang="zh-CN" altLang="en-US" sz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0382C75-F04D-41A1-811B-B6E2D402D7DF}"/>
              </a:ext>
            </a:extLst>
          </p:cNvPr>
          <p:cNvSpPr/>
          <p:nvPr>
            <p:custDataLst>
              <p:tags r:id="rId4"/>
            </p:custDataLst>
          </p:nvPr>
        </p:nvSpPr>
        <p:spPr bwMode="auto">
          <a:xfrm>
            <a:off x="0" y="5152787"/>
            <a:ext cx="9144000" cy="365760"/>
          </a:xfrm>
          <a:prstGeom prst="rect">
            <a:avLst/>
          </a:prstGeom>
          <a:solidFill>
            <a:srgbClr val="FBFAE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rtlCol="0" anchor="ctr" anchorCtr="1" compatLnSpc="1">
            <a:prstTxWarp prst="textNoShape">
              <a:avLst/>
            </a:prstTxWarp>
            <a:no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正常使用主观题需</a:t>
            </a:r>
            <a:r>
              <a:rPr lang="en-US" altLang="zh-CN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2.0</a:t>
            </a:r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以上版本雨课堂</a:t>
            </a: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D1C7E6DB-184E-4427-8B31-C97468FD60DB}"/>
              </a:ext>
            </a:extLst>
          </p:cNvPr>
          <p:cNvGrpSpPr/>
          <p:nvPr>
            <p:custDataLst>
              <p:tags r:id="rId5"/>
            </p:custDataLst>
          </p:nvPr>
        </p:nvGrpSpPr>
        <p:grpSpPr>
          <a:xfrm>
            <a:off x="0" y="0"/>
            <a:ext cx="9144000" cy="490220"/>
            <a:chOff x="0" y="-1143000"/>
            <a:chExt cx="12192000" cy="653627"/>
          </a:xfrm>
        </p:grpSpPr>
        <p:sp>
          <p:nvSpPr>
            <p:cNvPr id="7" name="TitleBackground">
              <a:extLst>
                <a:ext uri="{FF2B5EF4-FFF2-40B4-BE49-F238E27FC236}">
                  <a16:creationId xmlns:a16="http://schemas.microsoft.com/office/drawing/2014/main" id="{A31652B9-C04D-4051-B6B5-3989CE27521D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 bwMode="auto">
            <a:xfrm>
              <a:off x="0" y="-1143000"/>
              <a:ext cx="12192000" cy="635000"/>
            </a:xfrm>
            <a:prstGeom prst="rect">
              <a:avLst/>
            </a:prstGeom>
            <a:solidFill>
              <a:srgbClr val="F6F7F8"/>
            </a:solidFill>
            <a:ln w="952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" name="ColorBlock">
              <a:extLst>
                <a:ext uri="{FF2B5EF4-FFF2-40B4-BE49-F238E27FC236}">
                  <a16:creationId xmlns:a16="http://schemas.microsoft.com/office/drawing/2014/main" id="{C3415CD9-5743-4ECB-940A-6B011827F390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 bwMode="auto">
            <a:xfrm>
              <a:off x="0" y="-114300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" name="TypeText">
              <a:extLst>
                <a:ext uri="{FF2B5EF4-FFF2-40B4-BE49-F238E27FC236}">
                  <a16:creationId xmlns:a16="http://schemas.microsoft.com/office/drawing/2014/main" id="{89F82D0B-716F-48AE-A7DF-2201A58E7406}"/>
                </a:ext>
              </a:extLst>
            </p:cNvPr>
            <p:cNvSpPr txBox="1"/>
            <p:nvPr>
              <p:custDataLst>
                <p:tags r:id="rId9"/>
              </p:custDataLst>
            </p:nvPr>
          </p:nvSpPr>
          <p:spPr>
            <a:xfrm>
              <a:off x="338667" y="-114300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195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主观题</a:t>
              </a:r>
            </a:p>
          </p:txBody>
        </p:sp>
        <p:sp>
          <p:nvSpPr>
            <p:cNvPr id="10" name="TipText">
              <a:extLst>
                <a:ext uri="{FF2B5EF4-FFF2-40B4-BE49-F238E27FC236}">
                  <a16:creationId xmlns:a16="http://schemas.microsoft.com/office/drawing/2014/main" id="{82049DF6-0266-423E-B17A-CE15E3075640}"/>
                </a:ext>
              </a:extLst>
            </p:cNvPr>
            <p:cNvSpPr txBox="1"/>
            <p:nvPr>
              <p:custDataLst>
                <p:tags r:id="rId10"/>
              </p:custDataLst>
            </p:nvPr>
          </p:nvSpPr>
          <p:spPr>
            <a:xfrm>
              <a:off x="1670473" y="-997373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15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10</a:t>
              </a:r>
              <a:r>
                <a:rPr lang="zh-CN" altLang="en-US" sz="15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BE1A5E48-1823-4224-9680-3F97CBA2804C}"/>
              </a:ext>
            </a:extLst>
          </p:cNvPr>
          <p:cNvPicPr>
            <a:picLocks/>
          </p:cNvPicPr>
          <p:nvPr>
            <p:custDataLst>
              <p:tags r:id="rId6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9168938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8F5A82CC-ABBA-43E9-A573-6DD9D36BDAE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dirty="0"/>
                  <a:t>证明：</a:t>
                </a:r>
                <a:endParaRPr lang="en-US" altLang="zh-CN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dirty="0"/>
                  <a:t>证明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𝑆</m:t>
                    </m:r>
                    <m:d>
                      <m:dPr>
                        <m:ctrlPr>
                          <a:rPr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𝑡</m:t>
                        </m:r>
                      </m:e>
                    </m:d>
                  </m:oMath>
                </a14:m>
                <a:r>
                  <a:rPr lang="zh-CN" altLang="en-US" dirty="0"/>
                  <a:t>广义平稳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略</a:t>
                </a:r>
                <a:r>
                  <a:rPr lang="zh-CN" altLang="en-US" dirty="0"/>
                  <a:t>。</a:t>
                </a:r>
                <a:endParaRPr lang="en-US" altLang="zh-CN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dirty="0"/>
                  <a:t>反证法：</a:t>
                </a:r>
                <a:endParaRPr lang="en-US" altLang="zh-CN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dirty="0"/>
                  <a:t>当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  <m:sub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zh-CN" altLang="en-US" dirty="0"/>
                  <a:t>时，</a:t>
                </a:r>
                <a:r>
                  <a:rPr lang="en-US" altLang="zh-CN" dirty="0">
                    <a:solidFill>
                      <a:srgbClr val="000000"/>
                    </a:solidFill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𝑆</m:t>
                    </m:r>
                    <m:d>
                      <m:dPr>
                        <m:ctrlPr>
                          <a:rPr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𝑡</m:t>
                        </m:r>
                      </m:e>
                    </m:d>
                    <m:r>
                      <a:rPr lang="en-US" altLang="zh-CN" b="1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=</m:t>
                    </m:r>
                    <m:r>
                      <a:rPr lang="en-US" altLang="zh-CN" b="1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𝐗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；</m:t>
                    </m:r>
                  </m:oMath>
                </a14:m>
                <a:r>
                  <a:rPr lang="zh-CN" altLang="en-US" dirty="0"/>
                  <a:t>此时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dirty="0" smtClean="0"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en-US" altLang="zh-CN" b="1" i="1" dirty="0" smtClean="0">
                            <a:latin typeface="Cambria Math" panose="02040503050406030204" pitchFamily="18" charset="0"/>
                          </a:rPr>
                          <m:t>𝑺</m:t>
                        </m:r>
                      </m:sub>
                    </m:sSub>
                    <m:d>
                      <m:dPr>
                        <m:ctrlPr>
                          <a:rPr lang="en-US" altLang="zh-CN" b="1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dirty="0" smtClean="0">
                            <a:latin typeface="Cambria Math" panose="02040503050406030204" pitchFamily="18" charset="0"/>
                          </a:rPr>
                          <m:t>𝒔</m:t>
                        </m:r>
                        <m:r>
                          <a:rPr lang="zh-CN" altLang="en-US" i="1" dirty="0">
                            <a:latin typeface="Cambria Math" panose="02040503050406030204" pitchFamily="18" charset="0"/>
                          </a:rPr>
                          <m:t>；</m:t>
                        </m:r>
                        <m:sSub>
                          <m:sSubPr>
                            <m:ctrlPr>
                              <a:rPr lang="en-US" altLang="zh-CN" b="1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 dirty="0" smtClean="0">
                                <a:latin typeface="Cambria Math" panose="02040503050406030204" pitchFamily="18" charset="0"/>
                              </a:rPr>
                              <m:t>𝒕</m:t>
                            </m:r>
                          </m:e>
                          <m:sub>
                            <m:r>
                              <a:rPr lang="en-US" altLang="zh-CN" b="1" i="1" dirty="0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e>
                    </m:d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dirty="0" smtClean="0"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en-US" altLang="zh-CN" b="1" i="1" dirty="0" smtClean="0">
                            <a:latin typeface="Cambria Math" panose="02040503050406030204" pitchFamily="18" charset="0"/>
                          </a:rPr>
                          <m:t>𝑿</m:t>
                        </m:r>
                      </m:sub>
                    </m:sSub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dirty="0"/>
                  <a:t>;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dirty="0"/>
                  <a:t>当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  <m:sub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𝝅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r>
                  <a:rPr lang="zh-CN" altLang="en-US" dirty="0"/>
                  <a:t>时，</a:t>
                </a:r>
                <a:r>
                  <a:rPr lang="en-US" altLang="zh-CN" dirty="0">
                    <a:solidFill>
                      <a:srgbClr val="000000"/>
                    </a:solidFill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𝑆</m:t>
                    </m:r>
                    <m:d>
                      <m:dPr>
                        <m:ctrlPr>
                          <a:rPr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𝑡</m:t>
                        </m:r>
                      </m:e>
                    </m:d>
                    <m:r>
                      <a:rPr lang="en-US" altLang="zh-CN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=</m:t>
                    </m:r>
                    <m:r>
                      <a:rPr lang="en-US" altLang="zh-CN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𝒀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；</m:t>
                    </m:r>
                  </m:oMath>
                </a14:m>
                <a:r>
                  <a:rPr lang="zh-CN" altLang="en-US" dirty="0"/>
                  <a:t>此时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𝑺</m:t>
                        </m:r>
                      </m:sub>
                    </m:sSub>
                    <m:d>
                      <m:d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𝒔</m:t>
                        </m:r>
                        <m:r>
                          <a:rPr lang="zh-CN" altLang="en-US" i="1" dirty="0">
                            <a:latin typeface="Cambria Math" panose="02040503050406030204" pitchFamily="18" charset="0"/>
                          </a:rPr>
                          <m:t>；</m:t>
                        </m:r>
                        <m:sSub>
                          <m:sSubPr>
                            <m:ctrlPr>
                              <a:rPr lang="en-US" altLang="zh-CN" b="1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 dirty="0" smtClean="0">
                                <a:latin typeface="Cambria Math" panose="02040503050406030204" pitchFamily="18" charset="0"/>
                              </a:rPr>
                              <m:t>𝒕</m:t>
                            </m:r>
                          </m:e>
                          <m:sub>
                            <m:r>
                              <a:rPr lang="en-US" altLang="zh-CN" b="1" i="1" dirty="0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e>
                    </m:d>
                    <m:r>
                      <a:rPr lang="en-US" altLang="zh-CN" i="1" dirty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en-US" altLang="zh-CN" b="1" i="1" dirty="0" smtClean="0">
                            <a:latin typeface="Cambria Math" panose="02040503050406030204" pitchFamily="18" charset="0"/>
                          </a:rPr>
                          <m:t>𝒀</m:t>
                        </m:r>
                      </m:sub>
                    </m:sSub>
                    <m:r>
                      <a:rPr lang="en-US" altLang="zh-CN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dirty="0"/>
                  <a:t>;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dirty="0"/>
                  <a:t>显然：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𝑺</m:t>
                        </m:r>
                      </m:sub>
                    </m:sSub>
                    <m:d>
                      <m:d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𝒔</m:t>
                        </m:r>
                        <m:r>
                          <a:rPr lang="zh-CN" altLang="en-US" i="1" dirty="0">
                            <a:latin typeface="Cambria Math" panose="02040503050406030204" pitchFamily="18" charset="0"/>
                          </a:rPr>
                          <m:t>；</m:t>
                        </m:r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𝒕</m:t>
                            </m:r>
                          </m:e>
                          <m:sub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e>
                    </m:d>
                    <m:r>
                      <a:rPr lang="en-US" altLang="zh-CN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𝑺</m:t>
                        </m:r>
                      </m:sub>
                    </m:sSub>
                    <m:d>
                      <m:d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𝒔</m:t>
                        </m:r>
                        <m:r>
                          <a:rPr lang="zh-CN" altLang="en-US" i="1" dirty="0">
                            <a:latin typeface="Cambria Math" panose="02040503050406030204" pitchFamily="18" charset="0"/>
                          </a:rPr>
                          <m:t>；</m:t>
                        </m:r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𝒕</m:t>
                            </m:r>
                          </m:e>
                          <m:sub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e>
                    </m:d>
                  </m:oMath>
                </a14:m>
                <a:endParaRPr lang="en-US" altLang="zh-CN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dirty="0"/>
                  <a:t>故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𝑆</m:t>
                    </m:r>
                    <m:d>
                      <m:dPr>
                        <m:ctrlPr>
                          <a:rPr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𝑡</m:t>
                        </m:r>
                      </m:e>
                    </m:d>
                  </m:oMath>
                </a14:m>
                <a:r>
                  <a:rPr lang="zh-CN" altLang="en-US" dirty="0"/>
                  <a:t>不是严格平稳信号。</a:t>
                </a:r>
                <a:endParaRPr lang="en-US" altLang="zh-CN" dirty="0"/>
              </a:p>
              <a:p>
                <a:pPr marL="0" indent="0">
                  <a:buNone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8F5A82CC-ABBA-43E9-A573-6DD9D36BDAE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9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091574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888BB272-6F23-43A8-AE05-68A515BA749B}"/>
                  </a:ext>
                </a:extLst>
              </p:cNvPr>
              <p:cNvSpPr>
                <a:spLocks noGrp="1"/>
              </p:cNvSpPr>
              <p:nvPr>
                <p:ph/>
              </p:nvPr>
            </p:nvSpPr>
            <p:spPr/>
            <p:txBody>
              <a:bodyPr/>
              <a:lstStyle/>
              <a:p>
                <a:pPr marL="0" indent="0" algn="ctr">
                  <a:spcAft>
                    <a:spcPts val="900"/>
                  </a:spcAft>
                  <a:buNone/>
                </a:pPr>
                <a:r>
                  <a:rPr lang="en-US" altLang="zh-CN" sz="2400" dirty="0">
                    <a:solidFill>
                      <a:srgbClr val="FF0000"/>
                    </a:solidFill>
                  </a:rPr>
                  <a:t>3.1.2  </a:t>
                </a:r>
                <a:r>
                  <a:rPr lang="zh-CN" altLang="zh-CN" sz="2400" dirty="0">
                    <a:solidFill>
                      <a:srgbClr val="FF0000"/>
                    </a:solidFill>
                  </a:rPr>
                  <a:t>联合平稳性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x-none" altLang="zh-CN" dirty="0">
                    <a:solidFill>
                      <a:schemeClr val="accent2"/>
                    </a:solidFill>
                    <a:latin typeface="+mj-ea"/>
                    <a:ea typeface="+mj-ea"/>
                  </a:rPr>
                  <a:t>1. </a:t>
                </a:r>
                <a:r>
                  <a:rPr lang="zh-CN" altLang="zh-CN" dirty="0">
                    <a:solidFill>
                      <a:schemeClr val="accent2"/>
                    </a:solidFill>
                    <a:latin typeface="+mj-ea"/>
                    <a:ea typeface="+mj-ea"/>
                  </a:rPr>
                  <a:t>严格联合平稳过程</a:t>
                </a:r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p"/>
                </a:pPr>
                <a:r>
                  <a:rPr lang="zh-CN" altLang="zh-CN" dirty="0"/>
                  <a:t>随机过程</a:t>
                </a:r>
                <a:r>
                  <a:rPr lang="en-US" altLang="zh-CN" i="1" dirty="0"/>
                  <a:t>X</a:t>
                </a:r>
                <a:r>
                  <a:rPr lang="en-US" altLang="zh-CN" dirty="0"/>
                  <a:t>(</a:t>
                </a:r>
                <a:r>
                  <a:rPr lang="en-US" altLang="zh-CN" i="1" dirty="0"/>
                  <a:t>t</a:t>
                </a:r>
                <a:r>
                  <a:rPr lang="en-US" altLang="zh-CN" dirty="0"/>
                  <a:t>),  </a:t>
                </a:r>
                <a:r>
                  <a:rPr lang="en-US" altLang="zh-CN" i="1" dirty="0"/>
                  <a:t>Y</a:t>
                </a:r>
                <a:r>
                  <a:rPr lang="en-US" altLang="zh-CN" dirty="0"/>
                  <a:t>(</a:t>
                </a:r>
                <a:r>
                  <a:rPr lang="en-US" altLang="zh-CN" i="1" dirty="0"/>
                  <a:t>t</a:t>
                </a:r>
                <a:r>
                  <a:rPr lang="en-US" altLang="zh-CN" dirty="0"/>
                  <a:t>)</a:t>
                </a:r>
                <a:endParaRPr lang="zh-CN" altLang="zh-CN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𝑋𝑌</m:t>
                          </m:r>
                        </m:sub>
                      </m:sSub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zh-CN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zh-CN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,..,</m:t>
                      </m:r>
                      <m:sSub>
                        <m:sSubPr>
                          <m:ctrlPr>
                            <a:rPr lang="zh-CN" altLang="zh-CN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func>
                        <m:funcPr>
                          <m:ctrlPr>
                            <a:rPr lang="zh-CN" altLang="zh-CN" b="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zh-CN" altLang="zh-CN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fName>
                        <m:e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,</m:t>
                          </m:r>
                        </m:e>
                      </m:func>
                      <m:sSub>
                        <m:sSubPr>
                          <m:ctrlPr>
                            <a:rPr lang="zh-CN" altLang="zh-CN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,..,</m:t>
                      </m:r>
                      <m:sSub>
                        <m:sSubPr>
                          <m:ctrlPr>
                            <a:rPr lang="zh-CN" altLang="zh-CN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func>
                        <m:funcPr>
                          <m:ctrlPr>
                            <a:rPr lang="zh-CN" altLang="zh-CN" b="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zh-CN" altLang="zh-CN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fName>
                        <m:e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,</m:t>
                          </m:r>
                        </m:e>
                      </m:func>
                      <m:sSub>
                        <m:sSubPr>
                          <m:ctrlPr>
                            <a:rPr lang="zh-CN" altLang="zh-CN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,...,</m:t>
                      </m:r>
                      <m:sSub>
                        <m:sSubPr>
                          <m:ctrlPr>
                            <a:rPr lang="zh-CN" altLang="zh-CN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zh-CN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zh-CN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…</m:t>
                      </m:r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zh-CN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zh-CN" b="0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zh-CN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𝑋𝑌</m:t>
                          </m:r>
                        </m:sub>
                      </m:sSub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zh-CN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zh-CN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,..,</m:t>
                      </m:r>
                      <m:sSub>
                        <m:sSubPr>
                          <m:ctrlPr>
                            <a:rPr lang="zh-CN" altLang="zh-CN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func>
                        <m:funcPr>
                          <m:ctrlPr>
                            <a:rPr lang="zh-CN" altLang="zh-CN" b="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zh-CN" altLang="zh-CN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fName>
                        <m:e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,</m:t>
                          </m:r>
                        </m:e>
                      </m:func>
                      <m:sSub>
                        <m:sSubPr>
                          <m:ctrlPr>
                            <a:rPr lang="zh-CN" altLang="zh-CN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,..,</m:t>
                      </m:r>
                      <m:sSub>
                        <m:sSubPr>
                          <m:ctrlPr>
                            <a:rPr lang="zh-CN" altLang="zh-CN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func>
                        <m:funcPr>
                          <m:ctrlPr>
                            <a:rPr lang="zh-CN" altLang="zh-CN" b="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zh-CN" altLang="zh-CN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fName>
                        <m:e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+</m:t>
                          </m:r>
                        </m:e>
                      </m:func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zh-CN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,…,</m:t>
                      </m:r>
                      <m:sSub>
                        <m:sSubPr>
                          <m:ctrlPr>
                            <a:rPr lang="zh-CN" altLang="zh-CN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zh-CN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zh-CN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,…,</m:t>
                      </m:r>
                      <m:sSub>
                        <m:sSubPr>
                          <m:ctrlPr>
                            <a:rPr lang="zh-CN" altLang="zh-CN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zh-CN" b="0" dirty="0"/>
              </a:p>
              <a:p>
                <a:pPr>
                  <a:buFont typeface="Wingdings" panose="05000000000000000000" pitchFamily="2" charset="2"/>
                  <a:buChar char="p"/>
                </a:pPr>
                <a:r>
                  <a:rPr lang="zh-CN" altLang="en-US" dirty="0"/>
                  <a:t>联合概率密度函数不随时间推移发生变化。</a:t>
                </a:r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888BB272-6F23-43A8-AE05-68A515BA749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blipFill>
                <a:blip r:embed="rId2"/>
                <a:stretch>
                  <a:fillRect l="-886" t="-12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62938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B6D19F96-F88E-4347-AEC2-5838A55F5BE3}"/>
                  </a:ext>
                </a:extLst>
              </p:cNvPr>
              <p:cNvSpPr>
                <a:spLocks noGrp="1"/>
              </p:cNvSpPr>
              <p:nvPr>
                <p:ph/>
              </p:nvPr>
            </p:nvSpPr>
            <p:spPr/>
            <p:txBody>
              <a:bodyPr/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x-none" altLang="zh-CN" dirty="0">
                    <a:solidFill>
                      <a:schemeClr val="accent2"/>
                    </a:solidFill>
                    <a:latin typeface="+mj-ea"/>
                    <a:ea typeface="+mj-ea"/>
                  </a:rPr>
                  <a:t>2. </a:t>
                </a:r>
                <a:r>
                  <a:rPr lang="zh-CN" altLang="zh-CN" dirty="0">
                    <a:solidFill>
                      <a:schemeClr val="accent2"/>
                    </a:solidFill>
                    <a:latin typeface="+mj-ea"/>
                    <a:ea typeface="+mj-ea"/>
                  </a:rPr>
                  <a:t>联合平稳信号的二维</a:t>
                </a:r>
                <a:r>
                  <a:rPr lang="x-none" altLang="zh-CN" dirty="0">
                    <a:solidFill>
                      <a:schemeClr val="accent2"/>
                    </a:solidFill>
                    <a:latin typeface="+mj-ea"/>
                    <a:ea typeface="+mj-ea"/>
                  </a:rPr>
                  <a:t>PDF</a:t>
                </a:r>
                <a:r>
                  <a:rPr lang="zh-CN" altLang="zh-CN" dirty="0">
                    <a:solidFill>
                      <a:schemeClr val="accent2"/>
                    </a:solidFill>
                    <a:latin typeface="+mj-ea"/>
                    <a:ea typeface="+mj-ea"/>
                  </a:rPr>
                  <a:t>的特点</a:t>
                </a:r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p"/>
                </a:pPr>
                <a:r>
                  <a:rPr lang="zh-CN" altLang="zh-CN" dirty="0"/>
                  <a:t>同理，联合平稳过程的二维联合</a:t>
                </a:r>
                <a:r>
                  <a:rPr lang="en-US" altLang="zh-CN" dirty="0"/>
                  <a:t>PDF</a:t>
                </a:r>
                <a:r>
                  <a:rPr lang="zh-CN" altLang="zh-CN" dirty="0"/>
                  <a:t>满足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𝑋𝑌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𝑦</m:t>
                      </m:r>
                      <m:func>
                        <m:func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fName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,</m:t>
                          </m:r>
                        </m:e>
                      </m:func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𝑋𝑌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𝑦</m:t>
                      </m:r>
                      <m:func>
                        <m:func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−</m:t>
                          </m:r>
                        </m:e>
                      </m:func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zh-CN" dirty="0"/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p"/>
                </a:pPr>
                <a:r>
                  <a:rPr lang="zh-CN" altLang="zh-CN" dirty="0"/>
                  <a:t>故与二维概率密度函数有关的自相关、协方差、互相关和互协方差仅为</a:t>
                </a:r>
                <a:r>
                  <a:rPr lang="zh-CN" altLang="zh-CN" dirty="0">
                    <a:solidFill>
                      <a:srgbClr val="FF0000"/>
                    </a:solidFill>
                  </a:rPr>
                  <a:t>时间间隔</a:t>
                </a:r>
                <a14:m>
                  <m:oMath xmlns:m="http://schemas.openxmlformats.org/officeDocument/2006/math">
                    <m:r>
                      <a:rPr lang="en-US" altLang="zh-CN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zh-CN" altLang="zh-CN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zh-CN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zh-CN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e>
                    </m:func>
                    <m:sSub>
                      <m:sSubPr>
                        <m:ctrlPr>
                          <a:rPr lang="zh-CN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zh-CN" dirty="0"/>
                  <a:t>的函数。</a:t>
                </a:r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p"/>
                </a:pPr>
                <a:r>
                  <a:rPr lang="zh-CN" altLang="en-US" dirty="0"/>
                  <a:t>即</a:t>
                </a:r>
                <a:r>
                  <a:rPr lang="en-US" altLang="zh-CN" dirty="0"/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)=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[</m:t>
                    </m:r>
                    <m:sSup>
                      <m:sSup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)]</m:t>
                    </m:r>
                  </m:oMath>
                </a14:m>
                <a:endParaRPr lang="zh-CN" altLang="zh-CN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          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𝑋𝑌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𝑋𝑌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[</m:t>
                      </m:r>
                      <m:sSup>
                        <m:sSup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altLang="zh-CN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)]</m:t>
                      </m:r>
                    </m:oMath>
                  </m:oMathPara>
                </a14:m>
                <a:endParaRPr lang="zh-CN" altLang="zh-CN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           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),</m:t>
                      </m:r>
                      <m:r>
                        <m:rPr>
                          <m:nor/>
                        </m:rPr>
                        <a:rPr lang="en-US" altLang="zh-CN" b="1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CN"/>
                        <m:t> </m:t>
                      </m:r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𝑋𝑌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𝑋𝑌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zh-CN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B6D19F96-F88E-4347-AEC2-5838A55F5BE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blipFill>
                <a:blip r:embed="rId2"/>
                <a:stretch>
                  <a:fillRect l="-110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590265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47E968A4-C1A4-42EF-AD87-2EA25929BC1F}"/>
                  </a:ext>
                </a:extLst>
              </p:cNvPr>
              <p:cNvSpPr>
                <a:spLocks noGrp="1"/>
              </p:cNvSpPr>
              <p:nvPr>
                <p:ph/>
              </p:nvPr>
            </p:nvSpPr>
            <p:spPr>
              <a:xfrm>
                <a:off x="444500" y="836712"/>
                <a:ext cx="8255000" cy="4720337"/>
              </a:xfrm>
            </p:spPr>
            <p:txBody>
              <a:bodyPr/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x-none" altLang="zh-CN" dirty="0">
                    <a:solidFill>
                      <a:schemeClr val="accent2"/>
                    </a:solidFill>
                    <a:latin typeface="+mj-ea"/>
                    <a:ea typeface="+mj-ea"/>
                  </a:rPr>
                  <a:t>3. </a:t>
                </a:r>
                <a:r>
                  <a:rPr lang="zh-CN" altLang="zh-CN" dirty="0">
                    <a:solidFill>
                      <a:schemeClr val="accent2"/>
                    </a:solidFill>
                    <a:latin typeface="+mj-ea"/>
                    <a:ea typeface="+mj-ea"/>
                  </a:rPr>
                  <a:t>联合宽平稳信号</a:t>
                </a:r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p"/>
                </a:pPr>
                <a:r>
                  <a:rPr lang="en-US" altLang="zh-CN" i="1" dirty="0"/>
                  <a:t>X</a:t>
                </a:r>
                <a:r>
                  <a:rPr lang="en-US" altLang="zh-CN" dirty="0"/>
                  <a:t>(</a:t>
                </a:r>
                <a:r>
                  <a:rPr lang="en-US" altLang="zh-CN" i="1" dirty="0"/>
                  <a:t>t</a:t>
                </a:r>
                <a:r>
                  <a:rPr lang="en-US" altLang="zh-CN" dirty="0"/>
                  <a:t>),</a:t>
                </a:r>
                <a:r>
                  <a:rPr lang="en-US" altLang="zh-CN" i="1" dirty="0"/>
                  <a:t>Y</a:t>
                </a:r>
                <a:r>
                  <a:rPr lang="en-US" altLang="zh-CN" dirty="0"/>
                  <a:t>(</a:t>
                </a:r>
                <a:r>
                  <a:rPr lang="en-US" altLang="zh-CN" i="1" dirty="0"/>
                  <a:t>t</a:t>
                </a:r>
                <a:r>
                  <a:rPr lang="en-US" altLang="zh-CN" dirty="0"/>
                  <a:t>)   </a:t>
                </a:r>
                <a:r>
                  <a:rPr lang="zh-CN" altLang="zh-CN" dirty="0"/>
                  <a:t>满足</a:t>
                </a:r>
                <a:r>
                  <a:rPr lang="en-US" altLang="zh-CN" dirty="0"/>
                  <a:t>  </a:t>
                </a:r>
              </a:p>
              <a:p>
                <a:pPr marL="0" indent="0" algn="ctr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𝑋𝑌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𝑋𝑌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𝑋𝑌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[</m:t>
                      </m:r>
                      <m:sSup>
                        <m:sSup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altLang="zh-CN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)]</m:t>
                      </m:r>
                    </m:oMath>
                  </m:oMathPara>
                </a14:m>
                <a:endParaRPr lang="en-US" altLang="zh-CN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dirty="0"/>
                  <a:t>则</a:t>
                </a:r>
                <a:r>
                  <a:rPr lang="en-US" altLang="zh-CN" i="1" dirty="0"/>
                  <a:t>X</a:t>
                </a:r>
                <a:r>
                  <a:rPr lang="en-US" altLang="zh-CN" dirty="0"/>
                  <a:t>(</a:t>
                </a:r>
                <a:r>
                  <a:rPr lang="en-US" altLang="zh-CN" i="1" dirty="0"/>
                  <a:t>t</a:t>
                </a:r>
                <a:r>
                  <a:rPr lang="en-US" altLang="zh-CN" dirty="0"/>
                  <a:t>),</a:t>
                </a:r>
                <a:r>
                  <a:rPr lang="en-US" altLang="zh-CN" i="1" dirty="0"/>
                  <a:t>Y</a:t>
                </a:r>
                <a:r>
                  <a:rPr lang="en-US" altLang="zh-CN" dirty="0"/>
                  <a:t>(</a:t>
                </a:r>
                <a:r>
                  <a:rPr lang="en-US" altLang="zh-CN" i="1" dirty="0"/>
                  <a:t>t</a:t>
                </a:r>
                <a:r>
                  <a:rPr lang="en-US" altLang="zh-CN" dirty="0"/>
                  <a:t>) </a:t>
                </a:r>
                <a:r>
                  <a:rPr lang="zh-CN" altLang="en-US" dirty="0"/>
                  <a:t>联合宽平稳。</a:t>
                </a:r>
                <a:endParaRPr lang="zh-CN" altLang="zh-CN" dirty="0"/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p"/>
                </a:pPr>
                <a:r>
                  <a:rPr lang="zh-CN" altLang="zh-CN" dirty="0"/>
                  <a:t>例</a:t>
                </a:r>
                <a:r>
                  <a:rPr lang="zh-CN" altLang="en-US" dirty="0"/>
                  <a:t>：</a:t>
                </a:r>
                <a:r>
                  <a:rPr lang="zh-CN" altLang="zh-CN" dirty="0"/>
                  <a:t> </a:t>
                </a:r>
                <a:endParaRPr lang="en-US" altLang="zh-CN" dirty="0"/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p"/>
                </a:pPr>
                <a:r>
                  <a:rPr lang="zh-CN" altLang="zh-CN" dirty="0"/>
                  <a:t>已知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=1,2,...}</m:t>
                    </m:r>
                  </m:oMath>
                </a14:m>
                <a:r>
                  <a:rPr lang="zh-CN" altLang="zh-CN" dirty="0"/>
                  <a:t>为随机变量序列，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=1,2,...}</m:t>
                    </m:r>
                  </m:oMath>
                </a14:m>
                <a:r>
                  <a:rPr lang="zh-CN" altLang="zh-CN" dirty="0"/>
                  <a:t>为两两不相等的实数序列，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)=</m:t>
                    </m:r>
                    <m:nary>
                      <m:naryPr>
                        <m:chr m:val="∑"/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b>
                          <m:sSub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nary>
                    <m:sSup>
                      <m:sSup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𝑗</m:t>
                        </m:r>
                        <m:sSub>
                          <m:sSub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lang="zh-CN" altLang="zh-CN" dirty="0"/>
                  <a:t>。</a:t>
                </a:r>
                <a:r>
                  <a:rPr lang="en-US" altLang="zh-CN" dirty="0"/>
                  <a:t>  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zh-CN" dirty="0"/>
                  <a:t>问</a:t>
                </a:r>
                <a:r>
                  <a:rPr lang="zh-CN" altLang="en-US" dirty="0"/>
                  <a:t>：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=1,2,...}</m:t>
                    </m:r>
                  </m:oMath>
                </a14:m>
                <a:r>
                  <a:rPr lang="zh-CN" altLang="zh-CN" dirty="0"/>
                  <a:t>需满足什么条件，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),−∞&lt;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&lt;∞}</m:t>
                    </m:r>
                  </m:oMath>
                </a14:m>
                <a:r>
                  <a:rPr lang="zh-CN" altLang="zh-CN" dirty="0"/>
                  <a:t>为宽平稳随机过程？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47E968A4-C1A4-42EF-AD87-2EA25929BC1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xfrm>
                <a:off x="444500" y="836712"/>
                <a:ext cx="8255000" cy="4720337"/>
              </a:xfrm>
              <a:blipFill>
                <a:blip r:embed="rId2"/>
                <a:stretch>
                  <a:fillRect l="-886" r="-148" b="-14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59367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D9ECE9E3-9049-44D3-A01E-3386969A50D4}"/>
                  </a:ext>
                </a:extLst>
              </p:cNvPr>
              <p:cNvSpPr>
                <a:spLocks noGrp="1"/>
              </p:cNvSpPr>
              <p:nvPr>
                <p:ph/>
              </p:nvPr>
            </p:nvSpPr>
            <p:spPr>
              <a:xfrm>
                <a:off x="96983" y="1152259"/>
                <a:ext cx="8915400" cy="463721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zh-CN" altLang="zh-CN" dirty="0"/>
                  <a:t>解：</a:t>
                </a:r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p"/>
                </a:pP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)]=</m:t>
                    </m:r>
                    <m:nary>
                      <m:naryPr>
                        <m:chr m:val="∑"/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[</m:t>
                        </m:r>
                        <m:sSub>
                          <m:sSub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]</m:t>
                        </m:r>
                        <m:sSup>
                          <m:sSup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sSub>
                              <m:sSubPr>
                                <m:ctrlPr>
                                  <a:rPr lang="zh-CN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</m:e>
                    </m:nary>
                  </m:oMath>
                </a14:m>
                <a:r>
                  <a:rPr lang="zh-CN" altLang="zh-CN" dirty="0"/>
                  <a:t>，</a:t>
                </a:r>
                <a:r>
                  <a:rPr lang="zh-CN" altLang="zh-CN" dirty="0">
                    <a:solidFill>
                      <a:srgbClr val="FF0000"/>
                    </a:solidFill>
                  </a:rPr>
                  <a:t>当且仅当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[</m:t>
                    </m:r>
                    <m:sSub>
                      <m:sSubPr>
                        <m:ctrlPr>
                          <a:rPr lang="zh-CN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]=0</m:t>
                    </m:r>
                  </m:oMath>
                </a14:m>
                <a:r>
                  <a:rPr lang="zh-CN" altLang="zh-CN" dirty="0">
                    <a:solidFill>
                      <a:srgbClr val="FF0000"/>
                    </a:solidFill>
                  </a:rPr>
                  <a:t>时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)]=0</m:t>
                    </m:r>
                  </m:oMath>
                </a14:m>
                <a:r>
                  <a:rPr lang="zh-CN" altLang="zh-CN" dirty="0">
                    <a:solidFill>
                      <a:srgbClr val="FF0000"/>
                    </a:solidFill>
                  </a:rPr>
                  <a:t>与</a:t>
                </a:r>
                <a:r>
                  <a:rPr lang="en-US" altLang="zh-CN" i="1" dirty="0">
                    <a:solidFill>
                      <a:srgbClr val="FF0000"/>
                    </a:solidFill>
                  </a:rPr>
                  <a:t>t</a:t>
                </a:r>
                <a:r>
                  <a:rPr lang="zh-CN" altLang="zh-CN" dirty="0">
                    <a:solidFill>
                      <a:srgbClr val="FF0000"/>
                    </a:solidFill>
                  </a:rPr>
                  <a:t>无关。</a:t>
                </a:r>
                <a:endParaRPr lang="en-US" altLang="zh-CN" dirty="0">
                  <a:solidFill>
                    <a:srgbClr val="FF0000"/>
                  </a:solidFill>
                </a:endParaRPr>
              </a:p>
              <a:p>
                <a:pPr>
                  <a:spcBef>
                    <a:spcPts val="900"/>
                  </a:spcBef>
                  <a:buFont typeface="Wingdings" panose="05000000000000000000" pitchFamily="2" charset="2"/>
                  <a:buChar char="p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                             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𝑌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[</m:t>
                    </m:r>
                    <m:sSup>
                      <m:sSup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)]</m:t>
                    </m:r>
                  </m:oMath>
                </a14:m>
                <a:br>
                  <a:rPr lang="en-US" altLang="zh-CN" i="1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CN"/>
                      <m:t>               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[(</m:t>
                    </m:r>
                    <m:nary>
                      <m:naryPr>
                        <m:chr m:val="∑"/>
                        <m:ctrlPr>
                          <a:rPr lang="zh-CN" altLang="zh-CN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b>
                          <m:sSubPr>
                            <m:ctrlPr>
                              <a:rPr lang="zh-CN" altLang="zh-CN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sSup>
                          <m:sSupPr>
                            <m:ctrlPr>
                              <a:rPr lang="zh-CN" altLang="zh-CN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  <m:sSub>
                              <m:sSubPr>
                                <m:ctrlPr>
                                  <a:rPr lang="zh-CN" altLang="zh-CN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en-US" altLang="zh-CN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  <m:r>
                              <a:rPr lang="en-US" altLang="zh-CN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  <m:sSup>
                          <m:sSupPr>
                            <m:ctrlPr>
                              <a:rPr lang="zh-CN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nary>
                          <m:naryPr>
                            <m:chr m:val="∑"/>
                            <m:ctrlPr>
                              <a:rPr lang="zh-CN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∞</m:t>
                            </m:r>
                          </m:sup>
                          <m:e>
                            <m:sSub>
                              <m:sSubPr>
                                <m:ctrlPr>
                                  <a:rPr lang="zh-CN" altLang="zh-CN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altLang="zh-CN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sSup>
                              <m:sSupPr>
                                <m:ctrlPr>
                                  <a:rPr lang="zh-CN" altLang="zh-CN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altLang="zh-CN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sSub>
                                  <m:sSubPr>
                                    <m:ctrlPr>
                                      <a:rPr lang="zh-CN" altLang="zh-CN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𝜔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  <m:r>
                                  <a:rPr lang="en-US" altLang="zh-CN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CN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altLang="zh-CN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zh-CN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𝜏</m:t>
                                </m:r>
                                <m:r>
                                  <a:rPr lang="en-US" altLang="zh-CN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sup>
                            </m:sSup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)]</m:t>
                            </m:r>
                          </m:e>
                        </m:nary>
                      </m:e>
                    </m:nary>
                  </m:oMath>
                </a14:m>
                <a:br>
                  <a:rPr lang="en-US" altLang="zh-CN" i="1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CN"/>
                      <m:t>               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nary>
                          <m:naryPr>
                            <m:chr m:val="∑"/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∞</m:t>
                            </m:r>
                          </m:sup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𝐸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[</m:t>
                            </m:r>
                            <m:sSub>
                              <m:sSubPr>
                                <m:ctrlPr>
                                  <a:rPr lang="zh-CN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sSup>
                                  <m:sSupPr>
                                    <m:ctrlPr>
                                      <a:rPr lang="zh-CN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p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p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zh-CN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]</m:t>
                            </m:r>
                            <m:sSup>
                              <m:sSupPr>
                                <m:ctrlPr>
                                  <a:rPr lang="zh-CN" altLang="zh-CN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zh-CN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𝜔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zh-CN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𝜔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p>
                            </m:sSup>
                            <m:sSup>
                              <m:sSupPr>
                                <m:ctrlPr>
                                  <a:rPr lang="zh-CN" altLang="zh-CN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sSub>
                                  <m:sSubPr>
                                    <m:ctrlPr>
                                      <a:rPr lang="zh-CN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𝜔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𝜏</m:t>
                                </m:r>
                              </m:sup>
                            </m:sSup>
                          </m:e>
                        </m:nary>
                      </m:e>
                    </m:nary>
                  </m:oMath>
                </a14:m>
                <a:endParaRPr lang="zh-CN" altLang="zh-CN" dirty="0"/>
              </a:p>
              <a:p>
                <a:pPr>
                  <a:buFont typeface="Wingdings" panose="05000000000000000000" pitchFamily="2" charset="2"/>
                  <a:buChar char="p"/>
                </a:pPr>
                <a:r>
                  <a:rPr lang="zh-CN" altLang="zh-CN" dirty="0">
                    <a:solidFill>
                      <a:srgbClr val="FF0000"/>
                    </a:solidFill>
                  </a:rPr>
                  <a:t>当且仅当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[</m:t>
                    </m:r>
                    <m:sSub>
                      <m:sSubPr>
                        <m:ctrlPr>
                          <a:rPr lang="zh-CN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p>
                          <m:sSupPr>
                            <m:ctrlPr>
                              <a:rPr lang="zh-CN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p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  <m:sub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sSub>
                      <m:sSubPr>
                        <m:ctrlPr>
                          <a:rPr lang="zh-CN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]=</m:t>
                    </m:r>
                    <m:d>
                      <m:dPr>
                        <m:begChr m:val="{"/>
                        <m:endChr m:val=""/>
                        <m:ctrlPr>
                          <a:rPr lang="zh-CN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zh-CN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p>
                                <m:sSupPr>
                                  <m:ctrlPr>
                                    <a:rPr lang="zh-CN" altLang="zh-CN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zh-CN" altLang="zh-CN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sub>
                                  </m:sSub>
                                </m:e>
                                <m:sup>
                                  <m:r>
                                    <a:rPr lang="en-US" altLang="zh-CN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nor/>
                                </m:rPr>
                                <a:rPr lang="en-US" altLang="zh-CN">
                                  <a:solidFill>
                                    <a:srgbClr val="FF0000"/>
                                  </a:solidFill>
                                </a:rPr>
                                <m:t>  </m:t>
                              </m:r>
                              <m:r>
                                <a:rPr lang="en-US" altLang="zh-CN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zh-CN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altLang="zh-CN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m:rPr>
                                  <m:nor/>
                                </m:rPr>
                                <a:rPr lang="en-US" altLang="zh-CN">
                                  <a:solidFill>
                                    <a:srgbClr val="FF0000"/>
                                  </a:solidFill>
                                </a:rPr>
                                <m:t>    </m:t>
                              </m:r>
                              <m:r>
                                <a:rPr lang="en-US" altLang="zh-CN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zh-CN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≠</m:t>
                              </m:r>
                              <m: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altLang="zh-CN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zh-CN" altLang="zh-CN" dirty="0">
                    <a:solidFill>
                      <a:srgbClr val="FF0000"/>
                    </a:solidFill>
                  </a:rPr>
                  <a:t>时，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sub>
                    </m:sSub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zh-CN" dirty="0">
                    <a:solidFill>
                      <a:srgbClr val="FF0000"/>
                    </a:solidFill>
                  </a:rPr>
                  <a:t>与</a:t>
                </a:r>
                <a:r>
                  <a:rPr lang="en-US" altLang="zh-CN" i="1" dirty="0">
                    <a:solidFill>
                      <a:srgbClr val="FF0000"/>
                    </a:solidFill>
                  </a:rPr>
                  <a:t>t</a:t>
                </a:r>
                <a:r>
                  <a:rPr lang="zh-CN" altLang="zh-CN" dirty="0">
                    <a:solidFill>
                      <a:srgbClr val="FF0000"/>
                    </a:solidFill>
                  </a:rPr>
                  <a:t>无关，</a:t>
                </a:r>
              </a:p>
              <a:p>
                <a:pPr>
                  <a:buFont typeface="Wingdings" panose="05000000000000000000" pitchFamily="2" charset="2"/>
                  <a:buChar char="p"/>
                </a:pPr>
                <a:r>
                  <a:rPr lang="zh-CN" altLang="en-US" dirty="0"/>
                  <a:t>故</a:t>
                </a:r>
                <a:r>
                  <a:rPr lang="en-US" altLang="zh-CN" dirty="0"/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𝑌</m:t>
                        </m:r>
                      </m:sub>
                    </m:sSub>
                    <m:r>
                      <a:rPr lang="zh-CN" altLang="zh-CN" i="1">
                        <a:latin typeface="Cambria Math" panose="02040503050406030204" pitchFamily="18" charset="0"/>
                      </a:rPr>
                      <m:t>（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)=</m:t>
                    </m:r>
                    <m:nary>
                      <m:naryPr>
                        <m:chr m:val="∑"/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p>
                          <m:sSup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zh-CN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sSup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sSub>
                              <m:sSubPr>
                                <m:ctrlPr>
                                  <a:rPr lang="zh-CN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𝜏</m:t>
                            </m:r>
                          </m:sup>
                        </m:sSup>
                      </m:e>
                    </m:nary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𝑌</m:t>
                        </m:r>
                      </m:sub>
                    </m:sSub>
                    <m:r>
                      <a:rPr lang="zh-CN" altLang="zh-CN" i="1">
                        <a:latin typeface="Cambria Math" panose="02040503050406030204" pitchFamily="18" charset="0"/>
                      </a:rPr>
                      <m:t>（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CN" altLang="zh-CN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D9ECE9E3-9049-44D3-A01E-3386969A50D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xfrm>
                <a:off x="96983" y="1152259"/>
                <a:ext cx="8915400" cy="4637210"/>
              </a:xfrm>
              <a:blipFill>
                <a:blip r:embed="rId3"/>
                <a:stretch>
                  <a:fillRect l="-821" t="-1183" r="-205" b="-120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412640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79F8F83D-F817-44DB-BD53-00DDA0BB0A49}"/>
                  </a:ext>
                </a:extLst>
              </p:cNvPr>
              <p:cNvSpPr txBox="1"/>
              <p:nvPr>
                <p:custDataLst>
                  <p:tags r:id="rId2"/>
                </p:custDataLst>
              </p:nvPr>
            </p:nvSpPr>
            <p:spPr>
              <a:xfrm>
                <a:off x="699655" y="1333500"/>
                <a:ext cx="8146472" cy="2820162"/>
              </a:xfrm>
              <a:prstGeom prst="rect">
                <a:avLst/>
              </a:prstGeom>
              <a:noFill/>
            </p:spPr>
            <p:txBody>
              <a:bodyPr vert="horz" wrap="square" rtlCol="0" anchor="ctr" anchorCtr="0">
                <a:no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195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给定过程</a:t>
                </a:r>
                <a:endParaRPr lang="en-US" altLang="zh-CN" sz="1950" i="1" dirty="0">
                  <a:solidFill>
                    <a:srgbClr val="000000"/>
                  </a:solidFill>
                  <a:latin typeface="Cambria Math" panose="02040503050406030204" pitchFamily="18" charset="0"/>
                  <a:ea typeface="Microsoft Yahei" panose="020B0503020204020204" pitchFamily="34" charset="-122"/>
                  <a:sym typeface="Microsoft Yahei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𝑋</m:t>
                    </m:r>
                    <m:d>
                      <m:dPr>
                        <m:ctrlPr>
                          <a:rPr lang="en-US" altLang="zh-CN"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𝑡</m:t>
                        </m:r>
                      </m:e>
                    </m:d>
                    <m:r>
                      <a:rPr lang="en-US" altLang="zh-CN"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=</m:t>
                    </m:r>
                    <m:r>
                      <a:rPr lang="en-US" altLang="zh-CN"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𝐴𝑐𝑜𝑠𝑡</m:t>
                    </m:r>
                    <m:r>
                      <a:rPr lang="en-US" altLang="zh-CN"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+</m:t>
                    </m:r>
                    <m:r>
                      <a:rPr lang="en-US" altLang="zh-CN"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𝐵𝑠𝑖𝑛𝑡</m:t>
                    </m:r>
                    <m:r>
                      <a:rPr lang="en-US" altLang="zh-CN"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, −∞&lt;</m:t>
                    </m:r>
                    <m:r>
                      <a:rPr lang="en-US" altLang="zh-CN"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Microsoft Yahei" panose="020B0503020204020204" pitchFamily="34" charset="-122"/>
                      </a:rPr>
                      <m:t>𝑡</m:t>
                    </m:r>
                    <m:r>
                      <a:rPr lang="en-US" altLang="zh-CN"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Microsoft Yahei" panose="020B0503020204020204" pitchFamily="34" charset="-122"/>
                      </a:rPr>
                      <m:t>&lt;∞,</m:t>
                    </m:r>
                  </m:oMath>
                </a14:m>
                <a:r>
                  <a:rPr lang="zh-CN" altLang="en-US" sz="195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和</a:t>
                </a:r>
                <a:endParaRPr lang="en-US" altLang="zh-CN" sz="1950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𝑌</m:t>
                    </m:r>
                    <m:d>
                      <m:dPr>
                        <m:ctrlPr>
                          <a:rPr lang="en-US" altLang="zh-CN"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𝑡</m:t>
                        </m:r>
                      </m:e>
                    </m:d>
                    <m:r>
                      <a:rPr lang="en-US" altLang="zh-CN"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=</m:t>
                    </m:r>
                    <m:r>
                      <a:rPr lang="en-US" altLang="zh-CN"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𝐴𝑐𝑜𝑠𝑡</m:t>
                    </m:r>
                    <m:r>
                      <a:rPr lang="en-US" altLang="zh-CN"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−</m:t>
                    </m:r>
                    <m:r>
                      <a:rPr lang="en-US" altLang="zh-CN"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𝐵𝑠𝑖𝑛𝑡</m:t>
                    </m:r>
                    <m:r>
                      <a:rPr lang="en-US" altLang="zh-CN"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, −∞&lt;</m:t>
                    </m:r>
                    <m:r>
                      <a:rPr lang="en-US" altLang="zh-CN"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Microsoft Yahei" panose="020B0503020204020204" pitchFamily="34" charset="-122"/>
                      </a:rPr>
                      <m:t>𝑡</m:t>
                    </m:r>
                    <m:r>
                      <a:rPr lang="en-US" altLang="zh-CN"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Microsoft Yahei" panose="020B0503020204020204" pitchFamily="34" charset="-122"/>
                      </a:rPr>
                      <m:t>&lt;∞</m:t>
                    </m:r>
                  </m:oMath>
                </a14:m>
                <a:r>
                  <a:rPr lang="en-US" altLang="zh-CN" sz="195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, </a:t>
                </a:r>
              </a:p>
              <a:p>
                <a:pPr>
                  <a:lnSpc>
                    <a:spcPct val="150000"/>
                  </a:lnSpc>
                </a:pPr>
                <a:r>
                  <a:rPr lang="zh-CN" altLang="en-US" sz="195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其中随机变量</a:t>
                </a:r>
                <a:r>
                  <a:rPr lang="en-US" altLang="zh-CN" sz="195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A</a:t>
                </a:r>
                <a:r>
                  <a:rPr lang="zh-CN" altLang="en-US" sz="195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和</a:t>
                </a:r>
                <a:r>
                  <a:rPr lang="en-US" altLang="zh-CN" sz="195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B</a:t>
                </a:r>
                <a:r>
                  <a:rPr lang="zh-CN" altLang="en-US" sz="195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统计独立，且均值为</a:t>
                </a:r>
                <a:r>
                  <a:rPr lang="en-US" altLang="zh-CN" sz="195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0</a:t>
                </a:r>
                <a:r>
                  <a:rPr lang="zh-CN" altLang="en-US" sz="195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，方差为</a:t>
                </a:r>
                <a:r>
                  <a:rPr lang="en-US" altLang="zh-CN" sz="195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1.</a:t>
                </a:r>
              </a:p>
              <a:p>
                <a:pPr>
                  <a:lnSpc>
                    <a:spcPct val="150000"/>
                  </a:lnSpc>
                </a:pPr>
                <a:r>
                  <a:rPr lang="zh-CN" altLang="en-US" sz="195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证明：</a:t>
                </a:r>
                <a:r>
                  <a:rPr lang="en-US" altLang="zh-CN" sz="1950" dirty="0">
                    <a:solidFill>
                      <a:srgbClr val="000000"/>
                    </a:solidFill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𝑋</m:t>
                    </m:r>
                    <m:d>
                      <m:dPr>
                        <m:ctrlPr>
                          <a:rPr lang="en-US" altLang="zh-CN"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𝑡</m:t>
                        </m:r>
                      </m:e>
                    </m:d>
                  </m:oMath>
                </a14:m>
                <a:r>
                  <a:rPr lang="zh-CN" altLang="en-US" sz="195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𝑌</m:t>
                    </m:r>
                    <m:d>
                      <m:dPr>
                        <m:ctrlPr>
                          <a:rPr lang="en-US" altLang="zh-CN"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𝑡</m:t>
                        </m:r>
                      </m:e>
                    </m:d>
                  </m:oMath>
                </a14:m>
                <a:r>
                  <a:rPr lang="zh-CN" altLang="en-US" sz="195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各自平稳且联合平稳。</a:t>
                </a: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79F8F83D-F817-44DB-BD53-00DDA0BB0A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3"/>
                </p:custDataLst>
              </p:nvPr>
            </p:nvSpPr>
            <p:spPr>
              <a:xfrm>
                <a:off x="699655" y="1333500"/>
                <a:ext cx="8146472" cy="2820162"/>
              </a:xfrm>
              <a:prstGeom prst="rect">
                <a:avLst/>
              </a:prstGeom>
              <a:blipFill>
                <a:blip r:embed="rId14"/>
                <a:stretch>
                  <a:fillRect l="-74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矩形: 圆角 5">
            <a:extLst>
              <a:ext uri="{FF2B5EF4-FFF2-40B4-BE49-F238E27FC236}">
                <a16:creationId xmlns:a16="http://schemas.microsoft.com/office/drawing/2014/main" id="{27CC0B71-AAE5-4779-BFEB-546EA7AF5826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6686550" y="5518547"/>
            <a:ext cx="1157288" cy="30861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rtlCol="0" anchor="ctr" anchorCtr="1" compatLnSpc="1">
            <a:prstTxWarp prst="textNoShape">
              <a:avLst/>
            </a:prstTxWarp>
            <a:noAutofit/>
          </a:bodyPr>
          <a:lstStyle/>
          <a:p>
            <a:pPr defTabSz="685800"/>
            <a:r>
              <a:rPr lang="zh-CN" altLang="en-US" sz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073E14A-5853-420E-AD3D-8B80CDD5C64E}"/>
              </a:ext>
            </a:extLst>
          </p:cNvPr>
          <p:cNvSpPr/>
          <p:nvPr>
            <p:custDataLst>
              <p:tags r:id="rId4"/>
            </p:custDataLst>
          </p:nvPr>
        </p:nvSpPr>
        <p:spPr bwMode="auto">
          <a:xfrm>
            <a:off x="0" y="5152787"/>
            <a:ext cx="9144000" cy="365760"/>
          </a:xfrm>
          <a:prstGeom prst="rect">
            <a:avLst/>
          </a:prstGeom>
          <a:solidFill>
            <a:srgbClr val="FBFAE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rtlCol="0" anchor="ctr" anchorCtr="1" compatLnSpc="1">
            <a:prstTxWarp prst="textNoShape">
              <a:avLst/>
            </a:prstTxWarp>
            <a:no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正常使用主观题需</a:t>
            </a:r>
            <a:r>
              <a:rPr lang="en-US" altLang="zh-CN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2.0</a:t>
            </a:r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以上版本雨课堂</a:t>
            </a: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56402308-EB10-407E-B916-F6F2BE416403}"/>
              </a:ext>
            </a:extLst>
          </p:cNvPr>
          <p:cNvGrpSpPr/>
          <p:nvPr>
            <p:custDataLst>
              <p:tags r:id="rId5"/>
            </p:custDataLst>
          </p:nvPr>
        </p:nvGrpSpPr>
        <p:grpSpPr>
          <a:xfrm>
            <a:off x="0" y="0"/>
            <a:ext cx="9144000" cy="490220"/>
            <a:chOff x="0" y="-1143000"/>
            <a:chExt cx="12192000" cy="653627"/>
          </a:xfrm>
        </p:grpSpPr>
        <p:sp>
          <p:nvSpPr>
            <p:cNvPr id="7" name="TitleBackground">
              <a:extLst>
                <a:ext uri="{FF2B5EF4-FFF2-40B4-BE49-F238E27FC236}">
                  <a16:creationId xmlns:a16="http://schemas.microsoft.com/office/drawing/2014/main" id="{62C9B5B3-FBB3-4979-9A2E-6161EDCB94AE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 bwMode="auto">
            <a:xfrm>
              <a:off x="0" y="-1143000"/>
              <a:ext cx="12192000" cy="635000"/>
            </a:xfrm>
            <a:prstGeom prst="rect">
              <a:avLst/>
            </a:prstGeom>
            <a:solidFill>
              <a:srgbClr val="F6F7F8"/>
            </a:solidFill>
            <a:ln w="952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" name="ColorBlock">
              <a:extLst>
                <a:ext uri="{FF2B5EF4-FFF2-40B4-BE49-F238E27FC236}">
                  <a16:creationId xmlns:a16="http://schemas.microsoft.com/office/drawing/2014/main" id="{7E257DF5-2EE7-45DA-8E70-09378F603D99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 bwMode="auto">
            <a:xfrm>
              <a:off x="0" y="-114300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" name="TypeText">
              <a:extLst>
                <a:ext uri="{FF2B5EF4-FFF2-40B4-BE49-F238E27FC236}">
                  <a16:creationId xmlns:a16="http://schemas.microsoft.com/office/drawing/2014/main" id="{4141CE29-410C-4059-BF5B-82F45CC0B601}"/>
                </a:ext>
              </a:extLst>
            </p:cNvPr>
            <p:cNvSpPr txBox="1"/>
            <p:nvPr>
              <p:custDataLst>
                <p:tags r:id="rId9"/>
              </p:custDataLst>
            </p:nvPr>
          </p:nvSpPr>
          <p:spPr>
            <a:xfrm>
              <a:off x="338667" y="-114300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195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主观题</a:t>
              </a:r>
            </a:p>
          </p:txBody>
        </p:sp>
        <p:sp>
          <p:nvSpPr>
            <p:cNvPr id="10" name="TipText">
              <a:extLst>
                <a:ext uri="{FF2B5EF4-FFF2-40B4-BE49-F238E27FC236}">
                  <a16:creationId xmlns:a16="http://schemas.microsoft.com/office/drawing/2014/main" id="{B7135504-2B31-40D5-8A1B-56D734BD2706}"/>
                </a:ext>
              </a:extLst>
            </p:cNvPr>
            <p:cNvSpPr txBox="1"/>
            <p:nvPr>
              <p:custDataLst>
                <p:tags r:id="rId10"/>
              </p:custDataLst>
            </p:nvPr>
          </p:nvSpPr>
          <p:spPr>
            <a:xfrm>
              <a:off x="1670473" y="-997373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15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10</a:t>
              </a:r>
              <a:r>
                <a:rPr lang="zh-CN" altLang="en-US" sz="15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5DC0BFDD-9FED-4553-AF3C-C985A2D148BC}"/>
              </a:ext>
            </a:extLst>
          </p:cNvPr>
          <p:cNvPicPr>
            <a:picLocks/>
          </p:cNvPicPr>
          <p:nvPr>
            <p:custDataLst>
              <p:tags r:id="rId6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493653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AC1B785E-5955-4F19-977F-4C4DCC800E1A}"/>
                  </a:ext>
                </a:extLst>
              </p:cNvPr>
              <p:cNvSpPr>
                <a:spLocks noGrp="1"/>
              </p:cNvSpPr>
              <p:nvPr>
                <p:ph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zh-CN" altLang="en-US" dirty="0"/>
                  <a:t>解：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zh-CN" altLang="en-US" dirty="0"/>
                  <a:t>证明</a:t>
                </a:r>
                <a14:m>
                  <m:oMath xmlns:m="http://schemas.openxmlformats.org/officeDocument/2006/math">
                    <m:r>
                      <a:rPr lang="en-US" altLang="zh-CN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𝑋</m:t>
                    </m:r>
                    <m:d>
                      <m:dPr>
                        <m:ctrlPr>
                          <a:rPr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𝑡</m:t>
                        </m:r>
                      </m:e>
                    </m:d>
                  </m:oMath>
                </a14:m>
                <a:r>
                  <a:rPr lang="zh-CN" altLang="en-US" dirty="0"/>
                  <a:t>和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𝒀</m:t>
                    </m:r>
                    <m:d>
                      <m:dPr>
                        <m:ctrlPr>
                          <a:rPr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𝑡</m:t>
                        </m:r>
                      </m:e>
                    </m:d>
                  </m:oMath>
                </a14:m>
                <a:r>
                  <a:rPr lang="zh-CN" altLang="en-US" dirty="0"/>
                  <a:t>平稳略。现证明它们联合平稳。</a:t>
                </a:r>
                <a:endParaRPr lang="en-US" altLang="zh-CN" dirty="0"/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𝑋𝑌</m:t>
                          </m:r>
                        </m:sub>
                      </m:sSub>
                      <m:d>
                        <m:dPr>
                          <m:ctrlPr>
                            <a:rPr lang="en-US" altLang="zh-CN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zh-CN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zh-CN" altLang="zh-CN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zh-CN" altLang="zh-CN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p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d>
                            <m:dPr>
                              <m:ctrlP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𝑌</m:t>
                          </m:r>
                          <m:d>
                            <m:dPr>
                              <m:ctrlP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</m:d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  <a:sym typeface="Microsoft Yahei" panose="020B0503020204020204" pitchFamily="34" charset="-122"/>
                                </a:rPr>
                                <m:t>𝐴𝑐𝑜𝑠𝑡</m:t>
                              </m:r>
                              <m:r>
                                <a:rPr lang="en-US" altLang="zh-CN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  <a:sym typeface="Microsoft Yahei" panose="020B0503020204020204" pitchFamily="34" charset="-122"/>
                                </a:rPr>
                                <m:t>+</m:t>
                              </m:r>
                              <m:r>
                                <a:rPr lang="en-US" altLang="zh-CN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  <a:sym typeface="Microsoft Yahei" panose="020B0503020204020204" pitchFamily="34" charset="-122"/>
                                </a:rPr>
                                <m:t>𝐵𝑠𝑖𝑛𝑡</m:t>
                              </m:r>
                            </m:e>
                          </m:d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  <a:sym typeface="Microsoft Yahei" panose="020B0503020204020204" pitchFamily="34" charset="-122"/>
                                </a:rPr>
                                <m:t>𝐴</m:t>
                              </m:r>
                              <m:r>
                                <a:rPr lang="en-US" altLang="zh-CN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  <a:sym typeface="Microsoft Yahei" panose="020B0503020204020204" pitchFamily="34" charset="-122"/>
                                </a:rPr>
                                <m:t>𝑠𝑖𝑛</m:t>
                              </m:r>
                              <m:d>
                                <m:dPr>
                                  <m:ctrlPr>
                                    <a:rPr lang="en-US" altLang="zh-CN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Microsoft Yahei" panose="020B0503020204020204" pitchFamily="34" charset="-122"/>
                                      <a:sym typeface="Microsoft Yahei" panose="020B0503020204020204" pitchFamily="34" charset="-12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Microsoft Yahei" panose="020B0503020204020204" pitchFamily="34" charset="-122"/>
                                      <a:sym typeface="Microsoft Yahei" panose="020B0503020204020204" pitchFamily="34" charset="-122"/>
                                    </a:rPr>
                                    <m:t>𝑡</m:t>
                                  </m:r>
                                  <m:r>
                                    <a:rPr lang="en-US" altLang="zh-CN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Microsoft Yahei" panose="020B0503020204020204" pitchFamily="34" charset="-122"/>
                                      <a:sym typeface="Microsoft Yahei" panose="020B0503020204020204" pitchFamily="34" charset="-122"/>
                                    </a:rPr>
                                    <m:t>+</m:t>
                                  </m:r>
                                  <m:r>
                                    <a:rPr lang="zh-CN" altLang="en-US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Microsoft Yahei" panose="020B0503020204020204" pitchFamily="34" charset="-122"/>
                                      <a:sym typeface="Microsoft Yahei" panose="020B0503020204020204" pitchFamily="34" charset="-122"/>
                                    </a:rPr>
                                    <m:t>𝜏</m:t>
                                  </m:r>
                                </m:e>
                              </m:d>
                              <m:r>
                                <a:rPr lang="en-US" altLang="zh-CN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  <a:sym typeface="Microsoft Yahei" panose="020B0503020204020204" pitchFamily="34" charset="-122"/>
                                </a:rPr>
                                <m:t>−</m:t>
                              </m:r>
                              <m:r>
                                <a:rPr lang="en-US" altLang="zh-CN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  <a:sym typeface="Microsoft Yahei" panose="020B0503020204020204" pitchFamily="34" charset="-122"/>
                                </a:rPr>
                                <m:t>𝐵</m:t>
                              </m:r>
                              <m:r>
                                <a:rPr lang="en-US" altLang="zh-CN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  <a:sym typeface="Microsoft Yahei" panose="020B0503020204020204" pitchFamily="34" charset="-122"/>
                                </a:rPr>
                                <m:t>𝑐𝑜𝑠</m:t>
                              </m:r>
                              <m:r>
                                <a:rPr lang="en-US" altLang="zh-CN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  <a:sym typeface="Microsoft Yahei" panose="020B0503020204020204" pitchFamily="34" charset="-122"/>
                                </a:rPr>
                                <m:t>(</m:t>
                              </m:r>
                              <m:r>
                                <a:rPr lang="en-US" altLang="zh-CN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  <a:sym typeface="Microsoft Yahei" panose="020B0503020204020204" pitchFamily="34" charset="-122"/>
                                </a:rPr>
                                <m:t>𝑡</m:t>
                              </m:r>
                              <m:r>
                                <a:rPr lang="en-US" altLang="zh-CN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  <a:sym typeface="Microsoft Yahei" panose="020B0503020204020204" pitchFamily="34" charset="-122"/>
                                </a:rPr>
                                <m:t>+</m:t>
                              </m:r>
                              <m:r>
                                <a:rPr lang="zh-CN" altLang="en-US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  <a:sym typeface="Microsoft Yahei" panose="020B0503020204020204" pitchFamily="34" charset="-122"/>
                                </a:rPr>
                                <m:t>𝜏</m:t>
                              </m:r>
                              <m:r>
                                <a:rPr lang="en-US" altLang="zh-CN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  <a:sym typeface="Microsoft Yahei" panose="020B0503020204020204" pitchFamily="34" charset="-122"/>
                                </a:rPr>
                                <m:t>)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altLang="zh-CN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𝑐𝑜𝑠𝑡𝑠𝑖𝑛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b="0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)−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𝐴𝐵𝑐𝑜𝑠𝑡𝑐𝑜𝑠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b="0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)+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𝐵𝐴𝑠𝑖𝑛𝑡𝑠𝑖𝑛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b="0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)−</m:t>
                          </m:r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𝑠𝑖𝑛𝑡𝑐𝑜𝑠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b="0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en-US" altLang="zh-CN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b="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en-US" altLang="zh-CN" b="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altLang="zh-CN" b="0" i="1">
                        <a:latin typeface="Cambria Math" panose="02040503050406030204" pitchFamily="18" charset="0"/>
                      </a:rPr>
                      <m:t>𝑐𝑜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zh-CN" b="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𝑠𝑖𝑛</m:t>
                    </m:r>
                    <m:d>
                      <m:dPr>
                        <m:ctrlPr>
                          <a:rPr lang="en-US" altLang="zh-CN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zh-CN" altLang="en-US" b="0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b="0" i="1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b="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p>
                            <m:r>
                              <a:rPr lang="en-US" altLang="zh-CN" b="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altLang="zh-CN" b="0" i="1">
                        <a:latin typeface="Cambria Math" panose="02040503050406030204" pitchFamily="18" charset="0"/>
                      </a:rPr>
                      <m:t>𝑠𝑖𝑛𝑡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𝑐𝑜𝑠</m:t>
                    </m:r>
                    <m:d>
                      <m:dPr>
                        <m:ctrlPr>
                          <a:rPr lang="en-US" altLang="zh-CN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zh-CN" altLang="en-US" b="0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 altLang="zh-CN" b="0" i="1">
                        <a:latin typeface="Cambria Math" panose="02040503050406030204" pitchFamily="18" charset="0"/>
                      </a:rPr>
                      <m:t>𝑐𝑜𝑠𝑡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𝑐𝑜𝑠</m:t>
                    </m:r>
                    <m:d>
                      <m:dPr>
                        <m:ctrlPr>
                          <a:rPr lang="en-US" altLang="zh-CN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zh-CN" altLang="en-US" b="0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</m:d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</m:oMath>
                </a14:m>
                <a:r>
                  <a:rPr lang="en-US" altLang="zh-CN" b="0" dirty="0"/>
                  <a:t> </a:t>
                </a:r>
                <a14:m>
                  <m:oMath xmlns:m="http://schemas.openxmlformats.org/officeDocument/2006/math">
                    <m:r>
                      <a:rPr lang="en-US" altLang="zh-CN" b="0" i="1">
                        <a:latin typeface="Cambria Math" panose="02040503050406030204" pitchFamily="18" charset="0"/>
                      </a:rPr>
                      <m:t>𝑠𝑖𝑛𝑡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𝑠𝑖𝑛</m:t>
                    </m:r>
                    <m:r>
                      <a:rPr lang="en-US" altLang="zh-CN" b="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b="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zh-CN" altLang="en-US" b="0" i="1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altLang="zh-CN" b="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𝑐𝑜𝑠𝑡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𝑠𝑖𝑛</m:t>
                      </m:r>
                      <m:d>
                        <m:dPr>
                          <m:ctrlPr>
                            <a:rPr lang="en-US" altLang="zh-CN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b="0" i="1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𝑠𝑖𝑛𝑡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𝑐𝑜𝑠</m:t>
                      </m:r>
                      <m:d>
                        <m:dPr>
                          <m:ctrlPr>
                            <a:rPr lang="en-US" altLang="zh-CN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b="0" i="1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𝑠𝑖𝑛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b="0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</m:d>
                    </m:oMath>
                  </m:oMathPara>
                </a14:m>
                <a:endParaRPr lang="en-US" altLang="zh-CN" b="0" dirty="0"/>
              </a:p>
              <a:p>
                <a:pPr marL="0" indent="0">
                  <a:buNone/>
                </a:pPr>
                <a:r>
                  <a:rPr lang="zh-CN" altLang="en-US" b="0" dirty="0"/>
                  <a:t>故</a:t>
                </a:r>
                <a14:m>
                  <m:oMath xmlns:m="http://schemas.openxmlformats.org/officeDocument/2006/math">
                    <m:r>
                      <a:rPr lang="en-US" altLang="zh-CN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𝑋</m:t>
                    </m:r>
                    <m:d>
                      <m:dPr>
                        <m:ctrlPr>
                          <a:rPr lang="en-US" altLang="zh-CN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𝑡</m:t>
                        </m:r>
                      </m:e>
                    </m:d>
                  </m:oMath>
                </a14:m>
                <a:r>
                  <a:rPr lang="zh-CN" altLang="en-US" b="0" dirty="0"/>
                  <a:t>和</a:t>
                </a:r>
                <a14:m>
                  <m:oMath xmlns:m="http://schemas.openxmlformats.org/officeDocument/2006/math">
                    <m:r>
                      <a:rPr lang="en-US" altLang="zh-CN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𝑌</m:t>
                    </m:r>
                    <m:d>
                      <m:dPr>
                        <m:ctrlPr>
                          <a:rPr lang="en-US" altLang="zh-CN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𝑡</m:t>
                        </m:r>
                      </m:e>
                    </m:d>
                  </m:oMath>
                </a14:m>
                <a:r>
                  <a:rPr lang="zh-CN" altLang="en-US" b="0" dirty="0"/>
                  <a:t>联合平稳。</a:t>
                </a:r>
                <a:endParaRPr lang="en-US" altLang="zh-CN" b="0" dirty="0"/>
              </a:p>
              <a:p>
                <a:pPr marL="0" indent="0">
                  <a:buNone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AC1B785E-5955-4F19-977F-4C4DCC800E1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blipFill>
                <a:blip r:embed="rId2"/>
                <a:stretch>
                  <a:fillRect l="-3397" t="-10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493545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F1C47E39-9F93-4669-BAFA-BC7290C29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2800" dirty="0"/>
              <a:t>3.2  </a:t>
            </a:r>
            <a:r>
              <a:rPr lang="zh-CN" altLang="zh-CN" sz="2800" dirty="0"/>
              <a:t>循环平稳性</a:t>
            </a:r>
            <a:endParaRPr lang="zh-CN" alt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3">
                <a:extLst>
                  <a:ext uri="{FF2B5EF4-FFF2-40B4-BE49-F238E27FC236}">
                    <a16:creationId xmlns:a16="http://schemas.microsoft.com/office/drawing/2014/main" id="{3DF6FA92-0F4A-4458-993D-5E8150160A5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85800" y="1488597"/>
                <a:ext cx="7772400" cy="42545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altLang="zh-CN" dirty="0">
                    <a:solidFill>
                      <a:srgbClr val="FF0000"/>
                    </a:solidFill>
                    <a:latin typeface="+mj-ea"/>
                    <a:ea typeface="+mj-ea"/>
                  </a:rPr>
                  <a:t>3.2.1 </a:t>
                </a:r>
                <a:r>
                  <a:rPr lang="zh-CN" altLang="zh-CN" dirty="0">
                    <a:solidFill>
                      <a:srgbClr val="FF0000"/>
                    </a:solidFill>
                    <a:latin typeface="+mj-ea"/>
                    <a:ea typeface="+mj-ea"/>
                  </a:rPr>
                  <a:t>严格循环平稳  </a:t>
                </a:r>
                <a:endParaRPr lang="en-US" altLang="zh-CN" dirty="0">
                  <a:solidFill>
                    <a:srgbClr val="FF0000"/>
                  </a:solidFill>
                  <a:latin typeface="+mj-ea"/>
                  <a:ea typeface="+mj-ea"/>
                </a:endParaRPr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p"/>
                </a:pPr>
                <a:r>
                  <a:rPr lang="zh-CN" altLang="en-US" b="0" dirty="0"/>
                  <a:t>随机过程</a:t>
                </a:r>
                <a:r>
                  <a:rPr lang="en-US" altLang="zh-CN" b="0" i="1" dirty="0"/>
                  <a:t>X</a:t>
                </a:r>
                <a:r>
                  <a:rPr lang="en-US" altLang="zh-CN" b="0" dirty="0"/>
                  <a:t>(</a:t>
                </a:r>
                <a:r>
                  <a:rPr lang="en-US" altLang="zh-CN" b="0" i="1" dirty="0"/>
                  <a:t>t</a:t>
                </a:r>
                <a:r>
                  <a:rPr lang="en-US" altLang="zh-CN" b="0" dirty="0"/>
                  <a:t>)</a:t>
                </a:r>
                <a:r>
                  <a:rPr lang="zh-CN" altLang="zh-CN" b="0" dirty="0">
                    <a:solidFill>
                      <a:srgbClr val="FF0000"/>
                    </a:solidFill>
                  </a:rPr>
                  <a:t>统计特性随时间周期性变化</a:t>
                </a:r>
                <a:r>
                  <a:rPr lang="zh-CN" altLang="en-US" b="0" dirty="0"/>
                  <a:t>，即其任意</a:t>
                </a:r>
                <a:r>
                  <a:rPr lang="en-US" altLang="zh-CN" b="0" i="1" dirty="0"/>
                  <a:t>n</a:t>
                </a:r>
                <a:r>
                  <a:rPr lang="zh-CN" altLang="en-US" b="0" dirty="0"/>
                  <a:t>阶概率分布函数满足</a:t>
                </a:r>
                <a:endParaRPr lang="en-US" altLang="zh-CN" b="0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;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d>
                        <m:dPr>
                          <m:ctrlPr>
                            <a:rPr lang="en-US" altLang="zh-CN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;</m:t>
                          </m:r>
                          <m:sSub>
                            <m:sSubPr>
                              <m:ctrlP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𝑘𝑇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𝑘𝑇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𝑘𝑇</m:t>
                          </m:r>
                        </m:e>
                      </m:d>
                    </m:oMath>
                  </m:oMathPara>
                </a14:m>
                <a:endParaRPr lang="en-US" altLang="zh-CN" b="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b="0" dirty="0"/>
                  <a:t>其中：</a:t>
                </a:r>
                <a:r>
                  <a:rPr lang="en-US" altLang="zh-CN" b="0" i="1" dirty="0"/>
                  <a:t>k</a:t>
                </a:r>
                <a:r>
                  <a:rPr lang="zh-CN" altLang="en-US" b="0" dirty="0"/>
                  <a:t>为任意整数，</a:t>
                </a:r>
                <a:r>
                  <a:rPr lang="en-US" altLang="zh-CN" b="0" i="1" dirty="0"/>
                  <a:t>T</a:t>
                </a:r>
                <a:r>
                  <a:rPr lang="zh-CN" altLang="en-US" b="0" dirty="0"/>
                  <a:t>为正常数。</a:t>
                </a:r>
                <a:endParaRPr lang="en-US" altLang="zh-CN" b="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b="0" dirty="0"/>
                  <a:t>称</a:t>
                </a:r>
                <a:r>
                  <a:rPr lang="en-US" altLang="zh-CN" b="0" i="1" dirty="0"/>
                  <a:t>T</a:t>
                </a:r>
                <a:r>
                  <a:rPr lang="zh-CN" altLang="en-US" b="0" dirty="0"/>
                  <a:t>为</a:t>
                </a:r>
                <a:r>
                  <a:rPr lang="en-US" altLang="zh-CN" b="0" i="1" dirty="0"/>
                  <a:t>X</a:t>
                </a:r>
                <a:r>
                  <a:rPr lang="en-US" altLang="zh-CN" b="0" dirty="0"/>
                  <a:t>(</a:t>
                </a:r>
                <a:r>
                  <a:rPr lang="en-US" altLang="zh-CN" b="0" i="1" dirty="0"/>
                  <a:t>t</a:t>
                </a:r>
                <a:r>
                  <a:rPr lang="en-US" altLang="zh-CN" b="0" dirty="0"/>
                  <a:t>)</a:t>
                </a:r>
                <a:r>
                  <a:rPr lang="zh-CN" altLang="en-US" b="0" dirty="0"/>
                  <a:t>的循环周期。</a:t>
                </a:r>
                <a:endParaRPr lang="en-US" altLang="zh-CN" b="0" dirty="0"/>
              </a:p>
              <a:p>
                <a:pPr marL="0" indent="0">
                  <a:buNone/>
                </a:pPr>
                <a:endParaRPr lang="zh-CN" altLang="zh-CN" dirty="0"/>
              </a:p>
              <a:p>
                <a:pPr marL="0" indent="0">
                  <a:buNone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4" name="内容占位符 3">
                <a:extLst>
                  <a:ext uri="{FF2B5EF4-FFF2-40B4-BE49-F238E27FC236}">
                    <a16:creationId xmlns:a16="http://schemas.microsoft.com/office/drawing/2014/main" id="{3DF6FA92-0F4A-4458-993D-5E8150160A5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5800" y="1488597"/>
                <a:ext cx="7772400" cy="4254500"/>
              </a:xfrm>
              <a:blipFill>
                <a:blip r:embed="rId3"/>
                <a:stretch>
                  <a:fillRect l="-941" t="-12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8402582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3C313893-1EBD-4F40-97A5-32F663B4A73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 algn="ctr"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en-US" altLang="zh-CN" sz="2400" dirty="0">
                    <a:solidFill>
                      <a:srgbClr val="FF0000"/>
                    </a:solidFill>
                  </a:rPr>
                  <a:t>3.2.2  </a:t>
                </a:r>
                <a:r>
                  <a:rPr lang="zh-CN" altLang="zh-CN" sz="2400" dirty="0">
                    <a:solidFill>
                      <a:srgbClr val="FF0000"/>
                    </a:solidFill>
                  </a:rPr>
                  <a:t>广义循环平稳信号</a:t>
                </a:r>
              </a:p>
              <a:p>
                <a:pPr>
                  <a:buFont typeface="Wingdings" panose="05000000000000000000" pitchFamily="2" charset="2"/>
                  <a:buChar char="p"/>
                </a:pPr>
                <a:r>
                  <a:rPr lang="zh-CN" altLang="zh-CN" b="0" dirty="0"/>
                  <a:t>从工程角度，只研究两阶的特性，二维</a:t>
                </a:r>
                <a:r>
                  <a:rPr lang="en-US" altLang="zh-CN" b="0" dirty="0"/>
                  <a:t>PDF </a:t>
                </a:r>
                <a:r>
                  <a:rPr lang="zh-CN" altLang="zh-CN" b="0" dirty="0"/>
                  <a:t>、均值函数、相关函数。</a:t>
                </a:r>
              </a:p>
              <a:p>
                <a:pPr>
                  <a:buFont typeface="Wingdings" panose="05000000000000000000" pitchFamily="2" charset="2"/>
                  <a:buChar char="p"/>
                </a:pPr>
                <a:r>
                  <a:rPr lang="zh-CN" altLang="en-US" b="0" dirty="0"/>
                  <a:t>定义广义循环平稳（</a:t>
                </a:r>
                <a:r>
                  <a:rPr lang="en-US" altLang="zh-CN" b="0" dirty="0"/>
                  <a:t>WSCS</a:t>
                </a:r>
                <a:r>
                  <a:rPr lang="zh-CN" altLang="en-US" b="0" dirty="0"/>
                  <a:t>）性如下</a:t>
                </a:r>
                <a:r>
                  <a:rPr lang="en-US" altLang="zh-CN" b="0" dirty="0"/>
                  <a:t>:</a:t>
                </a:r>
              </a:p>
              <a:p>
                <a:pPr marL="0" indent="0">
                  <a:buNone/>
                </a:pPr>
                <a:r>
                  <a:rPr lang="zh-CN" altLang="zh-CN" b="0" dirty="0"/>
                  <a:t>设二阶矩过程（均方值存在），如果其均值和相关函数具有周期性，即</a:t>
                </a:r>
                <a:r>
                  <a:rPr lang="zh-CN" altLang="en-US" b="0" dirty="0"/>
                  <a:t>满足</a:t>
                </a:r>
                <a:endParaRPr lang="zh-CN" altLang="zh-CN" b="0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zh-CN" altLang="zh-CN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zh-CN" altLang="zh-CN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𝑘𝑇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lang="zh-CN" altLang="zh-CN" b="0" dirty="0"/>
                  <a:t>，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d>
                        <m:dPr>
                          <m:ctrlPr>
                            <a:rPr lang="en-US" altLang="zh-CN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zh-CN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zh-CN" altLang="zh-CN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zh-CN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d>
                        <m:dPr>
                          <m:ctrlPr>
                            <a:rPr lang="en-US" altLang="zh-CN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zh-CN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𝑘𝑇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zh-CN" altLang="zh-CN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𝑘𝑇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,∀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en-US" altLang="zh-CN" b="0" i="1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)=</m:t>
                    </m:r>
                    <m:sSub>
                      <m:sSubPr>
                        <m:ctrlPr>
                          <a:rPr lang="zh-CN" altLang="zh-CN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𝑘𝑇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𝑘𝑇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b="0" dirty="0"/>
                  <a:t> </a:t>
                </a:r>
                <a:endParaRPr lang="zh-CN" altLang="zh-CN" b="0" dirty="0"/>
              </a:p>
              <a:p>
                <a:pPr marL="0" indent="0">
                  <a:buNone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3C313893-1EBD-4F40-97A5-32F663B4A73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41" t="-12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5325520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FEE58E7F-F775-47F8-9FAF-742D09E30F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992549"/>
            <a:ext cx="7886700" cy="657209"/>
          </a:xfrm>
        </p:spPr>
        <p:txBody>
          <a:bodyPr>
            <a:normAutofit/>
          </a:bodyPr>
          <a:lstStyle/>
          <a:p>
            <a:r>
              <a:rPr lang="en-US" altLang="zh-CN" sz="2800" dirty="0"/>
              <a:t>3.3 </a:t>
            </a:r>
            <a:r>
              <a:rPr lang="zh-CN" altLang="zh-CN" sz="2800" dirty="0"/>
              <a:t>平稳信号的相关函数</a:t>
            </a:r>
            <a:endParaRPr lang="zh-CN" alt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3">
                <a:extLst>
                  <a:ext uri="{FF2B5EF4-FFF2-40B4-BE49-F238E27FC236}">
                    <a16:creationId xmlns:a16="http://schemas.microsoft.com/office/drawing/2014/main" id="{698C59A9-4EFE-492B-A9A7-D84203BDEF3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36005" y="1771650"/>
                <a:ext cx="8557120" cy="3858950"/>
              </a:xfrm>
            </p:spPr>
            <p:txBody>
              <a:bodyPr>
                <a:normAutofit fontScale="92500"/>
              </a:bodyPr>
              <a:lstStyle/>
              <a:p>
                <a:pPr marL="0" indent="0">
                  <a:spcAft>
                    <a:spcPts val="450"/>
                  </a:spcAft>
                  <a:buNone/>
                </a:pPr>
                <a:r>
                  <a:rPr lang="en-US" altLang="zh-CN" sz="2600" dirty="0">
                    <a:solidFill>
                      <a:srgbClr val="FF0000"/>
                    </a:solidFill>
                    <a:latin typeface="+mj-ea"/>
                    <a:ea typeface="+mj-ea"/>
                  </a:rPr>
                  <a:t>3.3.1 </a:t>
                </a:r>
                <a:r>
                  <a:rPr lang="zh-CN" altLang="zh-CN" sz="2600" dirty="0">
                    <a:solidFill>
                      <a:srgbClr val="FF0000"/>
                    </a:solidFill>
                    <a:latin typeface="+mj-ea"/>
                    <a:ea typeface="+mj-ea"/>
                  </a:rPr>
                  <a:t>自相关函数（单变量</a:t>
                </a:r>
                <a14:m>
                  <m:oMath xmlns:m="http://schemas.openxmlformats.org/officeDocument/2006/math">
                    <m:r>
                      <a:rPr lang="en-US" altLang="zh-CN" sz="2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+mj-ea"/>
                      </a:rPr>
                      <m:t>𝝉</m:t>
                    </m:r>
                  </m:oMath>
                </a14:m>
                <a:r>
                  <a:rPr lang="zh-CN" altLang="zh-CN" sz="2600" dirty="0">
                    <a:solidFill>
                      <a:srgbClr val="FF0000"/>
                    </a:solidFill>
                    <a:latin typeface="+mj-ea"/>
                    <a:ea typeface="+mj-ea"/>
                  </a:rPr>
                  <a:t>的函数）的性质</a:t>
                </a:r>
              </a:p>
              <a:p>
                <a:pPr marL="0" indent="0">
                  <a:buNone/>
                </a:pPr>
                <a:r>
                  <a:rPr lang="en-US" altLang="zh-CN" b="0" dirty="0"/>
                  <a:t>1</a:t>
                </a:r>
                <a:r>
                  <a:rPr lang="zh-CN" altLang="zh-CN" b="0" dirty="0"/>
                  <a:t>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n-US" altLang="zh-CN" b="0" i="1">
                        <a:latin typeface="Cambria Math" panose="02040503050406030204" pitchFamily="18" charset="0"/>
                      </a:rPr>
                      <m:t>(0)=</m:t>
                    </m:r>
                    <m:r>
                      <a:rPr lang="en-US" altLang="zh-CN" b="0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b="0" i="1">
                        <a:latin typeface="Cambria Math" panose="02040503050406030204" pitchFamily="18" charset="0"/>
                      </a:rPr>
                      <m:t>[</m:t>
                    </m:r>
                    <m:sSup>
                      <m:sSupPr>
                        <m:ctrlPr>
                          <a:rPr lang="zh-CN" altLang="zh-CN" b="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b="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b="0" i="1">
                        <a:latin typeface="Cambria Math" panose="02040503050406030204" pitchFamily="18" charset="0"/>
                      </a:rPr>
                      <m:t>)]</m:t>
                    </m:r>
                  </m:oMath>
                </a14:m>
                <a:r>
                  <a:rPr lang="zh-CN" altLang="zh-CN" b="0" dirty="0"/>
                  <a:t>，复过程时</a:t>
                </a:r>
                <a:r>
                  <a:rPr lang="en-US" altLang="zh-CN" b="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n-US" altLang="zh-CN" b="0" i="1">
                        <a:latin typeface="Cambria Math" panose="02040503050406030204" pitchFamily="18" charset="0"/>
                      </a:rPr>
                      <m:t>(0)=</m:t>
                    </m:r>
                    <m:r>
                      <a:rPr lang="en-US" altLang="zh-CN" b="0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b="0" i="1">
                        <a:latin typeface="Cambria Math" panose="02040503050406030204" pitchFamily="18" charset="0"/>
                      </a:rPr>
                      <m:t>[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b="0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altLang="zh-CN" b="0" dirty="0"/>
                  <a:t>; </a:t>
                </a:r>
                <a:r>
                  <a:rPr lang="zh-CN" altLang="en-US" b="0" dirty="0">
                    <a:solidFill>
                      <a:srgbClr val="FF0000"/>
                    </a:solidFill>
                  </a:rPr>
                  <a:t>最大值在零点出现</a:t>
                </a:r>
                <a:endParaRPr lang="en-US" altLang="zh-CN" b="0" dirty="0"/>
              </a:p>
              <a:p>
                <a:pPr marL="0" indent="0">
                  <a:buNone/>
                </a:pPr>
                <a:r>
                  <a:rPr lang="en-US" altLang="zh-CN" b="0" dirty="0"/>
                  <a:t>2.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b="0" i="1" smtClean="0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d>
                      <m:dPr>
                        <m:ctrlPr>
                          <a:rPr lang="en-US" altLang="zh-CN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zh-CN" altLang="en-US" b="0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</m:d>
                  </m:oMath>
                </a14:m>
                <a:r>
                  <a:rPr lang="en-US" altLang="zh-CN" b="0" dirty="0"/>
                  <a:t>, </a:t>
                </a:r>
                <a:r>
                  <a:rPr lang="zh-CN" altLang="zh-CN" b="0" dirty="0"/>
                  <a:t>复过程时</a:t>
                </a:r>
                <a:r>
                  <a:rPr lang="en-US" altLang="zh-CN" b="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d>
                      <m:dPr>
                        <m:ctrlPr>
                          <a:rPr lang="en-US" altLang="zh-CN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b="0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</m:d>
                    <m:r>
                      <a:rPr lang="en-US" altLang="zh-CN" b="0" i="1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d>
                      <m:dPr>
                        <m:ctrlPr>
                          <a:rPr lang="en-US" altLang="zh-CN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zh-CN" altLang="en-US" b="0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</m:d>
                  </m:oMath>
                </a14:m>
                <a:r>
                  <a:rPr lang="en-US" altLang="zh-CN" b="0" dirty="0"/>
                  <a:t>; </a:t>
                </a:r>
                <a:r>
                  <a:rPr lang="zh-CN" altLang="en-US" b="0" dirty="0">
                    <a:solidFill>
                      <a:srgbClr val="FF0000"/>
                    </a:solidFill>
                  </a:rPr>
                  <a:t>对称性</a:t>
                </a:r>
                <a:endParaRPr lang="en-US" altLang="zh-CN" b="0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r>
                  <a:rPr lang="en-US" altLang="zh-CN" b="0" dirty="0"/>
                  <a:t>3</a:t>
                </a:r>
                <a:r>
                  <a:rPr lang="zh-CN" altLang="zh-CN" b="0" dirty="0"/>
                  <a:t>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n-US" altLang="zh-CN" b="0" i="1">
                        <a:latin typeface="Cambria Math" panose="02040503050406030204" pitchFamily="18" charset="0"/>
                      </a:rPr>
                      <m:t>(0)≥|</m:t>
                    </m:r>
                    <m:sSub>
                      <m:sSubPr>
                        <m:ctrlPr>
                          <a:rPr lang="zh-CN" altLang="zh-CN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n-US" altLang="zh-CN" b="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altLang="zh-CN" b="0" i="1">
                        <a:latin typeface="Cambria Math" panose="02040503050406030204" pitchFamily="18" charset="0"/>
                      </a:rPr>
                      <m:t>)|,</m:t>
                    </m:r>
                    <m:r>
                      <m:rPr>
                        <m:nor/>
                      </m:rPr>
                      <a:rPr lang="en-US" altLang="zh-CN" b="0"/>
                      <m:t>       </m:t>
                    </m:r>
                    <m:sSub>
                      <m:sSubPr>
                        <m:ctrlPr>
                          <a:rPr lang="zh-CN" altLang="zh-CN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n-US" altLang="zh-CN" b="0" i="1">
                        <a:latin typeface="Cambria Math" panose="02040503050406030204" pitchFamily="18" charset="0"/>
                      </a:rPr>
                      <m:t>(0)≥|</m:t>
                    </m:r>
                    <m:sSub>
                      <m:sSubPr>
                        <m:ctrlPr>
                          <a:rPr lang="zh-CN" altLang="zh-CN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d>
                      <m:dPr>
                        <m:ctrlPr>
                          <a:rPr lang="en-US" altLang="zh-CN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endParaRPr lang="zh-CN" altLang="zh-CN" b="0" dirty="0"/>
              </a:p>
              <a:p>
                <a:pPr marL="0" indent="0">
                  <a:buNone/>
                </a:pPr>
                <a:r>
                  <a:rPr lang="zh-CN" altLang="en-US" b="0" dirty="0"/>
                  <a:t>证明：</a:t>
                </a:r>
                <a:endParaRPr lang="en-US" altLang="zh-CN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  <m:d>
                                    <m:d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</m:d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±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zh-CN" altLang="en-US" b="0" i="1" smtClean="0"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≥0⟹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𝑋</m:t>
                              </m:r>
                              <m:d>
                                <m:d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zh-CN" alt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±2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≥0</m:t>
                      </m:r>
                    </m:oMath>
                  </m:oMathPara>
                </a14:m>
                <a:endParaRPr lang="en-US" altLang="zh-CN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⟹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𝑋</m:t>
                                  </m:r>
                                  <m:d>
                                    <m:dPr>
                                      <m:ctrlPr>
                                        <a:rPr lang="en-US" altLang="zh-CN" b="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b="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altLang="zh-CN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altLang="zh-CN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zh-CN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zh-CN" altLang="en-US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  <m:r>
                                <a:rPr lang="en-US" altLang="zh-CN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altLang="zh-CN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±2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  <m:d>
                            <m:dPr>
                              <m:ctrlPr>
                                <a:rPr lang="en-US" altLang="zh-CN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altLang="zh-CN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zh-CN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  <m:r>
                            <a:rPr lang="en-US" altLang="zh-CN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≥0</m:t>
                      </m:r>
                    </m:oMath>
                  </m:oMathPara>
                </a14:m>
                <a:endParaRPr lang="en-US" altLang="zh-CN" b="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zh-CN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  <m:r>
                      <a:rPr lang="en-US" altLang="zh-CN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zh-CN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𝑋</m:t>
                                </m:r>
                                <m:d>
                                  <m:dPr>
                                    <m:ctrlPr>
                                      <a:rPr lang="en-US" altLang="zh-CN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a:rPr lang="en-US" altLang="zh-CN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≥∓2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sub>
                    </m:sSub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e>
                    </m:d>
                    <m:r>
                      <a:rPr lang="en-US" altLang="zh-CN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</m:oMath>
                </a14:m>
                <a:r>
                  <a:rPr lang="en-US" altLang="zh-CN" b="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sub>
                    </m:sSub>
                    <m:d>
                      <m:dPr>
                        <m:ctrlPr>
                          <a:rPr lang="en-US" altLang="zh-CN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zh-CN" alt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d>
                      <m:dPr>
                        <m:begChr m:val="|"/>
                        <m:endChr m:val="|"/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𝑋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𝜏</m:t>
                            </m:r>
                          </m:e>
                        </m:d>
                      </m:e>
                    </m:d>
                    <m:r>
                      <a:rPr lang="zh-CN" altLang="en-US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zh-CN" b="0" dirty="0"/>
                  <a:t>　</a:t>
                </a:r>
                <a:endParaRPr lang="en-US" altLang="zh-CN" b="0" dirty="0"/>
              </a:p>
            </p:txBody>
          </p:sp>
        </mc:Choice>
        <mc:Fallback xmlns="">
          <p:sp>
            <p:nvSpPr>
              <p:cNvPr id="4" name="内容占位符 3">
                <a:extLst>
                  <a:ext uri="{FF2B5EF4-FFF2-40B4-BE49-F238E27FC236}">
                    <a16:creationId xmlns:a16="http://schemas.microsoft.com/office/drawing/2014/main" id="{698C59A9-4EFE-492B-A9A7-D84203BDEF3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36005" y="1771650"/>
                <a:ext cx="8557120" cy="3858950"/>
              </a:xfrm>
              <a:blipFill>
                <a:blip r:embed="rId3"/>
                <a:stretch>
                  <a:fillRect l="-1140" t="-158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573056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3">
                <a:extLst>
                  <a:ext uri="{FF2B5EF4-FFF2-40B4-BE49-F238E27FC236}">
                    <a16:creationId xmlns:a16="http://schemas.microsoft.com/office/drawing/2014/main" id="{3A2CAFF9-FCC3-483E-BC5D-2AD14883595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84213" y="1259498"/>
                <a:ext cx="7772400" cy="4370643"/>
              </a:xfrm>
            </p:spPr>
            <p:txBody>
              <a:bodyPr/>
              <a:lstStyle/>
              <a:p>
                <a:pPr marL="0" indent="0">
                  <a:spcAft>
                    <a:spcPts val="900"/>
                  </a:spcAft>
                  <a:buNone/>
                </a:pPr>
                <a:r>
                  <a:rPr lang="en-US" altLang="zh-CN" dirty="0">
                    <a:solidFill>
                      <a:srgbClr val="FF0000"/>
                    </a:solidFill>
                    <a:latin typeface="+mj-ea"/>
                    <a:ea typeface="+mj-ea"/>
                  </a:rPr>
                  <a:t>3.3.2 </a:t>
                </a:r>
                <a:r>
                  <a:rPr lang="zh-CN" altLang="zh-CN" dirty="0">
                    <a:solidFill>
                      <a:srgbClr val="FF0000"/>
                    </a:solidFill>
                    <a:latin typeface="+mj-ea"/>
                    <a:ea typeface="+mj-ea"/>
                  </a:rPr>
                  <a:t>物理意义</a:t>
                </a:r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p"/>
                </a:pPr>
                <a:r>
                  <a:rPr lang="en-US" altLang="zh-CN" b="0" dirty="0"/>
                  <a:t>1. </a:t>
                </a:r>
                <a:r>
                  <a:rPr lang="zh-CN" altLang="zh-CN" b="0" dirty="0"/>
                  <a:t>平稳随机过程</a:t>
                </a:r>
                <a14:m>
                  <m:oMath xmlns:m="http://schemas.openxmlformats.org/officeDocument/2006/math">
                    <m:r>
                      <a:rPr lang="en-US" altLang="zh-CN" b="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b="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b="0" i="1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altLang="zh-CN" b="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b="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b="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0" i="1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altLang="zh-CN" b="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b="0" dirty="0"/>
                  <a:t>, </a:t>
                </a:r>
                <a:r>
                  <a:rPr lang="en-US" altLang="zh-CN" b="0" i="1" dirty="0"/>
                  <a:t>T</a:t>
                </a:r>
                <a:r>
                  <a:rPr lang="zh-CN" altLang="zh-CN" b="0" dirty="0"/>
                  <a:t>为常数，则其自相关函数也具有相同的周期，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n-US" altLang="zh-CN" b="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altLang="zh-CN" b="0" i="1">
                        <a:latin typeface="Cambria Math" panose="02040503050406030204" pitchFamily="18" charset="0"/>
                      </a:rPr>
                      <m:t>)=</m:t>
                    </m:r>
                    <m:sSub>
                      <m:sSubPr>
                        <m:ctrlPr>
                          <a:rPr lang="zh-CN" altLang="zh-CN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n-US" altLang="zh-CN" b="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altLang="zh-CN" b="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0" i="1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altLang="zh-CN" b="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zh-CN" b="0" dirty="0"/>
                  <a:t>。</a:t>
                </a:r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p"/>
                </a:pPr>
                <a:r>
                  <a:rPr lang="en-US" altLang="zh-CN" b="0" dirty="0"/>
                  <a:t>2. </a:t>
                </a:r>
                <a:r>
                  <a:rPr lang="zh-CN" altLang="zh-CN" b="0" dirty="0"/>
                  <a:t>平稳过程含有周期分量，自相关也有相同的周期的分量。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b="0" dirty="0"/>
                  <a:t>     </a:t>
                </a:r>
                <a14:m>
                  <m:oMath xmlns:m="http://schemas.openxmlformats.org/officeDocument/2006/math">
                    <m:r>
                      <a:rPr lang="en-US" altLang="zh-CN" b="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b="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b="0" i="1">
                        <a:latin typeface="Cambria Math" panose="02040503050406030204" pitchFamily="18" charset="0"/>
                      </a:rPr>
                      <m:t>)=</m:t>
                    </m:r>
                    <m:sSub>
                      <m:sSubPr>
                        <m:ctrlPr>
                          <a:rPr lang="zh-CN" altLang="zh-CN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b="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b="0" i="1">
                        <a:latin typeface="Cambria Math" panose="02040503050406030204" pitchFamily="18" charset="0"/>
                      </a:rPr>
                      <m:t>)+</m:t>
                    </m:r>
                    <m:sSub>
                      <m:sSubPr>
                        <m:ctrlPr>
                          <a:rPr lang="zh-CN" altLang="zh-CN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b="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b="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b="0" dirty="0"/>
                  <a:t> </a:t>
                </a:r>
                <a:r>
                  <a:rPr lang="zh-CN" altLang="en-US" b="0" dirty="0"/>
                  <a:t>，</a:t>
                </a:r>
                <a:r>
                  <a:rPr lang="en-US" altLang="zh-CN" b="0" dirty="0"/>
                  <a:t>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b="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b="0" i="1">
                        <a:latin typeface="Cambria Math" panose="02040503050406030204" pitchFamily="18" charset="0"/>
                      </a:rPr>
                      <m:t>)=</m:t>
                    </m:r>
                    <m:sSub>
                      <m:sSubPr>
                        <m:ctrlPr>
                          <a:rPr lang="zh-CN" altLang="zh-CN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b="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b="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0" i="1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altLang="zh-CN" b="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CN" altLang="zh-CN" b="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b="0" dirty="0"/>
                  <a:t>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n-US" altLang="zh-CN" b="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altLang="zh-CN" b="0" i="1">
                        <a:latin typeface="Cambria Math" panose="02040503050406030204" pitchFamily="18" charset="0"/>
                      </a:rPr>
                      <m:t>)=</m:t>
                    </m:r>
                    <m:sSub>
                      <m:sSubPr>
                        <m:ctrlPr>
                          <a:rPr lang="zh-CN" altLang="zh-CN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b="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altLang="zh-CN" b="0" i="1">
                        <a:latin typeface="Cambria Math" panose="02040503050406030204" pitchFamily="18" charset="0"/>
                      </a:rPr>
                      <m:t>)+</m:t>
                    </m:r>
                    <m:sSub>
                      <m:sSubPr>
                        <m:ctrlPr>
                          <a:rPr lang="zh-CN" altLang="zh-CN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b="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altLang="zh-CN" b="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b="0" dirty="0"/>
                  <a:t> </a:t>
                </a:r>
                <a:r>
                  <a:rPr lang="zh-CN" altLang="en-US" b="0" dirty="0"/>
                  <a:t>，</a:t>
                </a:r>
                <a:r>
                  <a:rPr lang="en-US" altLang="zh-CN" b="0" dirty="0"/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b="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altLang="zh-CN" b="0" i="1">
                        <a:latin typeface="Cambria Math" panose="02040503050406030204" pitchFamily="18" charset="0"/>
                      </a:rPr>
                      <m:t>)=</m:t>
                    </m:r>
                    <m:sSub>
                      <m:sSubPr>
                        <m:ctrlPr>
                          <a:rPr lang="zh-CN" altLang="zh-CN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b="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altLang="zh-CN" b="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0" i="1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altLang="zh-CN" b="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CN" altLang="zh-CN" b="0" dirty="0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zh-CN" altLang="en-US" b="0" dirty="0"/>
              </a:p>
            </p:txBody>
          </p:sp>
        </mc:Choice>
        <mc:Fallback xmlns="">
          <p:sp>
            <p:nvSpPr>
              <p:cNvPr id="4" name="内容占位符 3">
                <a:extLst>
                  <a:ext uri="{FF2B5EF4-FFF2-40B4-BE49-F238E27FC236}">
                    <a16:creationId xmlns:a16="http://schemas.microsoft.com/office/drawing/2014/main" id="{3A2CAFF9-FCC3-483E-BC5D-2AD14883595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4213" y="1259498"/>
                <a:ext cx="7772400" cy="4370643"/>
              </a:xfrm>
              <a:blipFill>
                <a:blip r:embed="rId2"/>
                <a:stretch>
                  <a:fillRect l="-941" t="-11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3503414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5C71669B-40F0-4DA3-8EFB-1ECA22363F0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91140" y="1058608"/>
                <a:ext cx="7772400" cy="4592315"/>
              </a:xfrm>
            </p:spPr>
            <p:txBody>
              <a:bodyPr/>
              <a:lstStyle/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p"/>
                </a:pPr>
                <a:r>
                  <a:rPr lang="en-US" altLang="zh-CN" b="0" dirty="0"/>
                  <a:t>3. </a:t>
                </a:r>
                <a:r>
                  <a:rPr lang="zh-CN" altLang="zh-CN" b="0" dirty="0"/>
                  <a:t>平稳过程含有平均分量，自相关也有相同的平均分量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b="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zh-CN" altLang="zh-CN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CN" b="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b>
                        </m:sSub>
                      </m:e>
                      <m:sup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zh-CN" altLang="zh-CN" b="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b="0" dirty="0"/>
                  <a:t>    </a:t>
                </a:r>
                <a14:m>
                  <m:oMath xmlns:m="http://schemas.openxmlformats.org/officeDocument/2006/math">
                    <m:r>
                      <a:rPr lang="en-US" altLang="zh-CN" b="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b="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b="0" i="1">
                        <a:latin typeface="Cambria Math" panose="02040503050406030204" pitchFamily="18" charset="0"/>
                      </a:rPr>
                      <m:t>)=</m:t>
                    </m:r>
                    <m:sSub>
                      <m:sSubPr>
                        <m:ctrlPr>
                          <a:rPr lang="zh-CN" altLang="zh-CN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b="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b="0" i="1">
                        <a:latin typeface="Cambria Math" panose="02040503050406030204" pitchFamily="18" charset="0"/>
                      </a:rPr>
                      <m:t>)+</m:t>
                    </m:r>
                    <m:sSub>
                      <m:sSubPr>
                        <m:ctrlPr>
                          <a:rPr lang="zh-CN" altLang="zh-CN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</m:oMath>
                </a14:m>
                <a:r>
                  <a:rPr lang="zh-CN" altLang="zh-CN" b="0" dirty="0"/>
                  <a:t>，</a:t>
                </a:r>
                <a:r>
                  <a:rPr lang="en-US" altLang="zh-CN" b="0" dirty="0"/>
                  <a:t>    </a:t>
                </a:r>
                <a14:m>
                  <m:oMath xmlns:m="http://schemas.openxmlformats.org/officeDocument/2006/math">
                    <m:r>
                      <a:rPr lang="en-US" altLang="zh-CN" b="0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b="0" i="1">
                        <a:latin typeface="Cambria Math" panose="02040503050406030204" pitchFamily="18" charset="0"/>
                      </a:rPr>
                      <m:t>[</m:t>
                    </m:r>
                    <m:sSub>
                      <m:sSubPr>
                        <m:ctrlPr>
                          <a:rPr lang="zh-CN" altLang="zh-CN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b="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b="0" i="1">
                        <a:latin typeface="Cambria Math" panose="02040503050406030204" pitchFamily="18" charset="0"/>
                      </a:rPr>
                      <m:t>)]=0</m:t>
                    </m:r>
                  </m:oMath>
                </a14:m>
                <a:r>
                  <a:rPr lang="zh-CN" altLang="zh-CN" b="0" dirty="0"/>
                  <a:t>，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b="0" dirty="0"/>
                  <a:t>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d>
                      <m:dPr>
                        <m:ctrlPr>
                          <a:rPr lang="en-US" altLang="zh-CN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b="0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</m:d>
                    <m:r>
                      <a:rPr lang="en-US" altLang="zh-CN" b="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altLang="zh-CN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b="0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</m:d>
                    <m:r>
                      <a:rPr lang="en-US" altLang="zh-CN" b="0" i="1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altLang="zh-CN" b="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  <m:sup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lang="en-US" altLang="zh-CN" b="0" dirty="0"/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p"/>
                </a:pPr>
                <a:r>
                  <a:rPr lang="en-US" altLang="zh-CN" b="0" dirty="0"/>
                  <a:t>4. </a:t>
                </a:r>
                <a:r>
                  <a:rPr lang="zh-CN" altLang="zh-CN" b="0" dirty="0"/>
                  <a:t>非周期平稳过程</a:t>
                </a:r>
                <a:r>
                  <a:rPr lang="en-US" altLang="zh-CN" b="0" dirty="0"/>
                  <a:t> </a:t>
                </a:r>
                <a:endParaRPr lang="zh-CN" altLang="zh-CN" b="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|→∞</m:t>
                    </m:r>
                  </m:oMath>
                </a14:m>
                <a:r>
                  <a:rPr lang="zh-CN" altLang="zh-CN" b="0" dirty="0"/>
                  <a:t>时，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),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zh-CN" b="0" dirty="0"/>
                  <a:t>不相关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b="0" dirty="0"/>
                  <a:t> </a:t>
                </a:r>
                <a:r>
                  <a:rPr lang="zh-CN" altLang="zh-CN" b="0" dirty="0"/>
                  <a:t>故</a:t>
                </a:r>
                <a:r>
                  <a:rPr lang="en-US" altLang="zh-CN" b="0" dirty="0"/>
                  <a:t>    </a:t>
                </a:r>
                <a14:m>
                  <m:oMath xmlns:m="http://schemas.openxmlformats.org/officeDocument/2006/math">
                    <m:limLow>
                      <m:limLowPr>
                        <m:ctrlPr>
                          <a:rPr lang="zh-CN" altLang="zh-CN" b="0" i="1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𝑙𝑖𝑚</m:t>
                        </m:r>
                      </m:e>
                      <m:lim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𝜏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|→∞</m:t>
                        </m:r>
                      </m:lim>
                    </m:limLow>
                    <m:sSub>
                      <m:sSubPr>
                        <m:ctrlPr>
                          <a:rPr lang="zh-CN" altLang="zh-CN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)=</m:t>
                    </m:r>
                    <m:sSup>
                      <m:sSupPr>
                        <m:ctrlPr>
                          <a:rPr lang="zh-CN" altLang="zh-CN" b="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zh-CN" altLang="zh-CN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b>
                        </m:sSub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en-US" altLang="zh-CN" b="0"/>
                      <m:t>    </m:t>
                    </m:r>
                    <m:limLow>
                      <m:limLowPr>
                        <m:ctrlPr>
                          <a:rPr lang="zh-CN" altLang="zh-CN" b="0" i="1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𝑙𝑖𝑚</m:t>
                        </m:r>
                      </m:e>
                      <m:lim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𝜏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|→∞</m:t>
                        </m:r>
                      </m:lim>
                    </m:limLow>
                    <m:sSub>
                      <m:sSubPr>
                        <m:ctrlPr>
                          <a:rPr lang="zh-CN" altLang="zh-CN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)=0</m:t>
                    </m:r>
                  </m:oMath>
                </a14:m>
                <a:r>
                  <a:rPr lang="zh-CN" altLang="zh-CN" b="0" dirty="0"/>
                  <a:t>，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zh-CN" b="0" dirty="0"/>
                  <a:t>且</a:t>
                </a:r>
                <a:r>
                  <a:rPr lang="en-US" altLang="zh-CN" b="0" dirty="0"/>
                  <a:t>  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)]=</m:t>
                    </m:r>
                    <m:sSub>
                      <m:sSubPr>
                        <m:ctrlPr>
                          <a:rPr lang="zh-CN" altLang="zh-CN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(0)−</m:t>
                    </m:r>
                    <m:sSub>
                      <m:sSubPr>
                        <m:ctrlPr>
                          <a:rPr lang="zh-CN" altLang="zh-CN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(∞)</m:t>
                    </m:r>
                  </m:oMath>
                </a14:m>
                <a:r>
                  <a:rPr lang="zh-CN" altLang="zh-CN" b="0" dirty="0"/>
                  <a:t>。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zh-CN" b="0" dirty="0"/>
                  <a:t>故自相关函数包含了均值、方差等数字特征。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5C71669B-40F0-4DA3-8EFB-1ECA22363F0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91140" y="1058608"/>
                <a:ext cx="7772400" cy="4592315"/>
              </a:xfrm>
              <a:blipFill>
                <a:blip r:embed="rId2"/>
                <a:stretch>
                  <a:fillRect l="-9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0505170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D09FBED3-FE1B-418C-8794-0FAD3A8C468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68036" y="1044753"/>
                <a:ext cx="8201891" cy="4557679"/>
              </a:xfrm>
            </p:spPr>
            <p:txBody>
              <a:bodyPr/>
              <a:lstStyle/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p"/>
                </a:pPr>
                <a:r>
                  <a:rPr lang="en-US" altLang="zh-CN" b="0" dirty="0"/>
                  <a:t>5.  </a:t>
                </a:r>
                <a:r>
                  <a:rPr lang="zh-CN" altLang="zh-CN" b="0" dirty="0"/>
                  <a:t>如果自相关函数满足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zh-CN" altLang="zh-CN" b="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−∞</m:t>
                        </m:r>
                      </m:sub>
                      <m:sup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b>
                          <m:sSubPr>
                            <m:ctrlPr>
                              <a:rPr lang="zh-CN" altLang="zh-CN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b="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b>
                        </m:sSub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𝜏</m:t>
                        </m:r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)</m:t>
                        </m:r>
                        <m:sSup>
                          <m:sSupPr>
                            <m:ctrlPr>
                              <a:rPr lang="zh-CN" altLang="zh-CN" b="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b="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b="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altLang="zh-CN" b="0" i="1">
                                <a:latin typeface="Cambria Math" panose="02040503050406030204" pitchFamily="18" charset="0"/>
                              </a:rPr>
                              <m:t>𝜔𝜏</m:t>
                            </m:r>
                          </m:sup>
                        </m:sSup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𝜏</m:t>
                        </m:r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≥0</m:t>
                        </m:r>
                      </m:e>
                    </m:nary>
                  </m:oMath>
                </a14:m>
                <a:r>
                  <a:rPr lang="zh-CN" altLang="zh-CN" b="0" dirty="0"/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n-US" altLang="zh-CN" b="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altLang="zh-CN" b="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zh-CN" b="0" dirty="0"/>
                  <a:t>满足</a:t>
                </a:r>
                <a:r>
                  <a:rPr lang="en-US" altLang="zh-CN" b="0" dirty="0"/>
                  <a:t>Dirichlet </a:t>
                </a:r>
                <a:r>
                  <a:rPr lang="zh-CN" altLang="en-US" b="0" dirty="0"/>
                  <a:t>条件，且</a:t>
                </a:r>
                <a:r>
                  <a:rPr lang="zh-CN" altLang="zh-CN" b="0" dirty="0"/>
                  <a:t>绝对可积，则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n-US" altLang="zh-CN" b="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altLang="zh-CN" b="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zh-CN" b="0" dirty="0"/>
                  <a:t>的形状不是任意的，不能出现</a:t>
                </a:r>
                <a:r>
                  <a:rPr lang="zh-CN" altLang="zh-CN" b="0" dirty="0">
                    <a:highlight>
                      <a:srgbClr val="FFFF00"/>
                    </a:highlight>
                  </a:rPr>
                  <a:t>平顶</a:t>
                </a:r>
                <a:r>
                  <a:rPr lang="zh-CN" altLang="zh-CN" b="0" dirty="0"/>
                  <a:t>、</a:t>
                </a:r>
                <a:r>
                  <a:rPr lang="zh-CN" altLang="zh-CN" b="0" dirty="0">
                    <a:highlight>
                      <a:srgbClr val="FFFF00"/>
                    </a:highlight>
                  </a:rPr>
                  <a:t>垂直边</a:t>
                </a:r>
                <a:r>
                  <a:rPr lang="zh-CN" altLang="zh-CN" b="0" dirty="0"/>
                  <a:t>、或</a:t>
                </a:r>
                <a:r>
                  <a:rPr lang="zh-CN" altLang="zh-CN" b="0" dirty="0">
                    <a:highlight>
                      <a:srgbClr val="FFFF00"/>
                    </a:highlight>
                  </a:rPr>
                  <a:t>不连续</a:t>
                </a:r>
                <a:r>
                  <a:rPr lang="zh-CN" altLang="zh-CN" b="0" dirty="0"/>
                  <a:t>，</a:t>
                </a:r>
                <a:r>
                  <a:rPr lang="zh-CN" altLang="zh-CN" b="0" dirty="0">
                    <a:highlight>
                      <a:srgbClr val="00FFFF"/>
                    </a:highlight>
                  </a:rPr>
                  <a:t>同时对称，在</a:t>
                </a:r>
                <a14:m>
                  <m:oMath xmlns:m="http://schemas.openxmlformats.org/officeDocument/2006/math">
                    <m:r>
                      <a:rPr lang="en-US" altLang="zh-CN" b="0" i="1">
                        <a:highlight>
                          <a:srgbClr val="00FFFF"/>
                        </a:highlight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altLang="zh-CN" b="0" i="1">
                        <a:highlight>
                          <a:srgbClr val="00FFFF"/>
                        </a:highlight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zh-CN" altLang="zh-CN" b="0" dirty="0">
                    <a:highlight>
                      <a:srgbClr val="00FFFF"/>
                    </a:highlight>
                  </a:rPr>
                  <a:t>具有最大值。</a:t>
                </a:r>
                <a:endParaRPr lang="en-US" altLang="zh-CN" b="0" dirty="0">
                  <a:highlight>
                    <a:srgbClr val="00FFFF"/>
                  </a:highlight>
                </a:endParaRPr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p"/>
                </a:pPr>
                <a:r>
                  <a:rPr lang="zh-CN" altLang="en-US" b="0" dirty="0"/>
                  <a:t>下图中的函数都不可能是平稳随机信号的自相关函数</a:t>
                </a:r>
                <a:endParaRPr lang="zh-CN" altLang="zh-CN" b="0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D09FBED3-FE1B-418C-8794-0FAD3A8C468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68036" y="1044753"/>
                <a:ext cx="8201891" cy="4557679"/>
              </a:xfrm>
              <a:blipFill>
                <a:blip r:embed="rId3"/>
                <a:stretch>
                  <a:fillRect l="-743" t="-10294" r="-8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图片 2">
            <a:extLst>
              <a:ext uri="{FF2B5EF4-FFF2-40B4-BE49-F238E27FC236}">
                <a16:creationId xmlns:a16="http://schemas.microsoft.com/office/drawing/2014/main" id="{C5D1D09D-2A2A-48A6-AF41-D39157AE40E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28384"/>
          <a:stretch/>
        </p:blipFill>
        <p:spPr>
          <a:xfrm>
            <a:off x="1550001" y="3423929"/>
            <a:ext cx="5348097" cy="2249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779270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6B693560-01D5-4AD5-A8CD-A8F675AA68DC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914400" y="1333500"/>
            <a:ext cx="7315200" cy="1607344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100" dirty="0">
                <a:latin typeface="宋体" panose="02010600030101010101" pitchFamily="2" charset="-122"/>
                <a:ea typeface="宋体" panose="02010600030101010101" pitchFamily="2" charset="-122"/>
              </a:rPr>
              <a:t>Dirichlet </a:t>
            </a:r>
            <a:r>
              <a:rPr lang="zh-CN" altLang="en-US" sz="2100" dirty="0">
                <a:latin typeface="宋体" panose="02010600030101010101" pitchFamily="2" charset="-122"/>
                <a:ea typeface="宋体" panose="02010600030101010101" pitchFamily="2" charset="-122"/>
              </a:rPr>
              <a:t>条件（周期信号展成傅里叶级数的条件）包括</a:t>
            </a:r>
            <a:endParaRPr lang="zh-CN" altLang="en-US" sz="195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sym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AC9B20B-50D5-45E0-8D9D-47BBD2D3E195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828800" y="2946797"/>
            <a:ext cx="6400800" cy="482204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100" dirty="0">
                <a:latin typeface="宋体" panose="02010600030101010101" pitchFamily="2" charset="-122"/>
                <a:ea typeface="宋体" panose="02010600030101010101" pitchFamily="2" charset="-122"/>
              </a:rPr>
              <a:t>在一周期内，连续或只有有限个第一类间断点</a:t>
            </a:r>
            <a:endParaRPr lang="zh-CN" altLang="en-US" sz="2100" dirty="0">
              <a:latin typeface="宋体" panose="02010600030101010101" pitchFamily="2" charset="-122"/>
              <a:ea typeface="宋体" panose="02010600030101010101" pitchFamily="2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D764654-415F-4546-9133-F2ED3F4AA577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828800" y="3589735"/>
            <a:ext cx="6400800" cy="482204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100" dirty="0">
                <a:latin typeface="宋体" panose="02010600030101010101" pitchFamily="2" charset="-122"/>
                <a:ea typeface="宋体" panose="02010600030101010101" pitchFamily="2" charset="-122"/>
              </a:rPr>
              <a:t>在一周期内，极大值和极小值的数目应是有限个</a:t>
            </a:r>
            <a:endParaRPr lang="zh-CN" altLang="en-US" sz="210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sym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739B80E-F929-47A5-9489-009806C5DEF0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828800" y="4232672"/>
            <a:ext cx="6400800" cy="482204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100" dirty="0">
                <a:latin typeface="宋体" panose="02010600030101010101" pitchFamily="2" charset="-122"/>
                <a:ea typeface="宋体" panose="02010600030101010101" pitchFamily="2" charset="-122"/>
              </a:rPr>
              <a:t>在一周期内，信号是绝对可积的</a:t>
            </a:r>
            <a:endParaRPr lang="zh-CN" altLang="en-US" sz="210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sym typeface="Microsoft Yahei" panose="020B0503020204020204" pitchFamily="34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70FF0D7-CCA2-4DC1-B020-632F4F53B5B3}"/>
              </a:ext>
            </a:extLst>
          </p:cNvPr>
          <p:cNvSpPr>
            <a:spLocks noChangeAspect="1"/>
          </p:cNvSpPr>
          <p:nvPr>
            <p:custDataLst>
              <p:tags r:id="rId6"/>
            </p:custDataLst>
          </p:nvPr>
        </p:nvSpPr>
        <p:spPr bwMode="auto">
          <a:xfrm>
            <a:off x="1178719" y="2995017"/>
            <a:ext cx="385763" cy="385763"/>
          </a:xfrm>
          <a:prstGeom prst="rect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rtlCol="0" anchor="ctr" anchorCtr="1" compatLnSpc="1">
            <a:prstTxWarp prst="textNoShape">
              <a:avLst/>
            </a:prstTxWarp>
            <a:noAutofit/>
          </a:bodyPr>
          <a:lstStyle/>
          <a:p>
            <a:pPr defTabSz="685800"/>
            <a:r>
              <a:rPr lang="en-US" altLang="zh-CN" sz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2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E139676-7143-44A5-96F2-38DED278B132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1178719" y="3637954"/>
            <a:ext cx="385763" cy="385763"/>
          </a:xfrm>
          <a:prstGeom prst="rect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rtlCol="0" anchor="ctr" anchorCtr="1" compatLnSpc="1">
            <a:prstTxWarp prst="textNoShape">
              <a:avLst/>
            </a:prstTxWarp>
            <a:noAutofit/>
          </a:bodyPr>
          <a:lstStyle/>
          <a:p>
            <a:pPr defTabSz="685800"/>
            <a:r>
              <a:rPr lang="en-US" altLang="zh-CN" sz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2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DD96111-A0E5-4207-B024-81E6E7BDFF66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1178719" y="4280892"/>
            <a:ext cx="385763" cy="385763"/>
          </a:xfrm>
          <a:prstGeom prst="rect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rtlCol="0" anchor="ctr" anchorCtr="1" compatLnSpc="1">
            <a:prstTxWarp prst="textNoShape">
              <a:avLst/>
            </a:prstTxWarp>
            <a:noAutofit/>
          </a:bodyPr>
          <a:lstStyle/>
          <a:p>
            <a:pPr defTabSz="685800"/>
            <a:r>
              <a:rPr lang="en-US" altLang="zh-CN" sz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2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22F65D0E-0461-4ED9-A459-E099D27FF221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6686550" y="5518547"/>
            <a:ext cx="1157288" cy="30861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rtlCol="0" anchor="ctr" anchorCtr="1" compatLnSpc="1">
            <a:prstTxWarp prst="textNoShape">
              <a:avLst/>
            </a:prstTxWarp>
            <a:noAutofit/>
          </a:bodyPr>
          <a:lstStyle/>
          <a:p>
            <a:pPr defTabSz="685800"/>
            <a:r>
              <a:rPr lang="zh-CN" altLang="en-US" sz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4D36BE52-7F67-445C-8A61-F774C2E11C26}"/>
              </a:ext>
            </a:extLst>
          </p:cNvPr>
          <p:cNvGrpSpPr/>
          <p:nvPr>
            <p:custDataLst>
              <p:tags r:id="rId10"/>
            </p:custDataLst>
          </p:nvPr>
        </p:nvGrpSpPr>
        <p:grpSpPr>
          <a:xfrm>
            <a:off x="0" y="0"/>
            <a:ext cx="9144000" cy="490220"/>
            <a:chOff x="0" y="-1143000"/>
            <a:chExt cx="12192000" cy="653627"/>
          </a:xfrm>
        </p:grpSpPr>
        <p:sp>
          <p:nvSpPr>
            <p:cNvPr id="15" name="TitleBackground">
              <a:extLst>
                <a:ext uri="{FF2B5EF4-FFF2-40B4-BE49-F238E27FC236}">
                  <a16:creationId xmlns:a16="http://schemas.microsoft.com/office/drawing/2014/main" id="{5394DDA4-184B-4F1A-99F2-88CB545C7D76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 bwMode="auto">
            <a:xfrm>
              <a:off x="0" y="-1143000"/>
              <a:ext cx="12192000" cy="635000"/>
            </a:xfrm>
            <a:prstGeom prst="rect">
              <a:avLst/>
            </a:prstGeom>
            <a:solidFill>
              <a:srgbClr val="F6F7F8"/>
            </a:solidFill>
            <a:ln w="952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6" name="ColorBlock">
              <a:extLst>
                <a:ext uri="{FF2B5EF4-FFF2-40B4-BE49-F238E27FC236}">
                  <a16:creationId xmlns:a16="http://schemas.microsoft.com/office/drawing/2014/main" id="{F8C0E594-8BD1-4EC5-9F45-A7D53C205CDA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 bwMode="auto">
            <a:xfrm>
              <a:off x="0" y="-114300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7" name="TypeText">
              <a:extLst>
                <a:ext uri="{FF2B5EF4-FFF2-40B4-BE49-F238E27FC236}">
                  <a16:creationId xmlns:a16="http://schemas.microsoft.com/office/drawing/2014/main" id="{A47AB257-8B72-4AD1-856C-24EB994C6508}"/>
                </a:ext>
              </a:extLst>
            </p:cNvPr>
            <p:cNvSpPr txBox="1"/>
            <p:nvPr>
              <p:custDataLst>
                <p:tags r:id="rId14"/>
              </p:custDataLst>
            </p:nvPr>
          </p:nvSpPr>
          <p:spPr>
            <a:xfrm>
              <a:off x="338667" y="-114300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1950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多选题</a:t>
              </a:r>
            </a:p>
          </p:txBody>
        </p:sp>
        <p:sp>
          <p:nvSpPr>
            <p:cNvPr id="18" name="TipText">
              <a:extLst>
                <a:ext uri="{FF2B5EF4-FFF2-40B4-BE49-F238E27FC236}">
                  <a16:creationId xmlns:a16="http://schemas.microsoft.com/office/drawing/2014/main" id="{393DFA08-FF5F-4770-8910-074AABCF03A9}"/>
                </a:ext>
              </a:extLst>
            </p:cNvPr>
            <p:cNvSpPr txBox="1"/>
            <p:nvPr>
              <p:custDataLst>
                <p:tags r:id="rId15"/>
              </p:custDataLst>
            </p:nvPr>
          </p:nvSpPr>
          <p:spPr>
            <a:xfrm>
              <a:off x="1670473" y="-997373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15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15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B184BCAE-5218-4562-BC46-21710C071239}"/>
              </a:ext>
            </a:extLst>
          </p:cNvPr>
          <p:cNvPicPr>
            <a:picLocks/>
          </p:cNvPicPr>
          <p:nvPr>
            <p:custDataLst>
              <p:tags r:id="rId11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3272897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EBC7FE56-912C-4225-9F49-C28C1B4A2A8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lnSpc>
                    <a:spcPct val="150000"/>
                  </a:lnSpc>
                  <a:spcAft>
                    <a:spcPts val="450"/>
                  </a:spcAft>
                  <a:buNone/>
                </a:pPr>
                <a:r>
                  <a:rPr lang="en-US" altLang="zh-CN" sz="2400" dirty="0">
                    <a:solidFill>
                      <a:srgbClr val="FF0000"/>
                    </a:solidFill>
                    <a:latin typeface="+mj-ea"/>
                    <a:ea typeface="+mj-ea"/>
                  </a:rPr>
                  <a:t>3.3.3 </a:t>
                </a:r>
                <a:r>
                  <a:rPr lang="zh-CN" altLang="zh-CN" sz="2400" dirty="0">
                    <a:solidFill>
                      <a:srgbClr val="FF0000"/>
                    </a:solidFill>
                    <a:latin typeface="+mj-ea"/>
                    <a:ea typeface="+mj-ea"/>
                  </a:rPr>
                  <a:t>平稳过程的互相关函数的性质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dirty="0"/>
                  <a:t>  </a:t>
                </a:r>
                <a:r>
                  <a:rPr lang="zh-CN" altLang="zh-CN" dirty="0"/>
                  <a:t>联合平稳，互相关函数仅是时间差的函数</a:t>
                </a:r>
                <a:r>
                  <a:rPr lang="zh-CN" altLang="en-US" dirty="0"/>
                  <a:t>。</a:t>
                </a:r>
                <a:endParaRPr lang="zh-CN" altLang="zh-CN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dirty="0"/>
                  <a:t>1</a:t>
                </a:r>
                <a:r>
                  <a:rPr lang="zh-CN" altLang="zh-CN" dirty="0"/>
                  <a:t>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𝑿𝒀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)=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𝒀𝑿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CN" altLang="zh-CN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dirty="0"/>
                  <a:t>2</a:t>
                </a:r>
                <a:r>
                  <a:rPr lang="zh-CN" altLang="zh-CN" dirty="0"/>
                  <a:t>．</a:t>
                </a:r>
                <a14:m>
                  <m:oMath xmlns:m="http://schemas.openxmlformats.org/officeDocument/2006/math">
                    <m:r>
                      <a:rPr lang="zh-CN" altLang="zh-CN" i="1">
                        <a:latin typeface="Cambria Math" panose="02040503050406030204" pitchFamily="18" charset="0"/>
                      </a:rPr>
                      <m:t>实过程</m:t>
                    </m:r>
                    <m:r>
                      <m:rPr>
                        <m:nor/>
                      </m:rPr>
                      <a:rPr lang="en-US" altLang="zh-CN"/>
                      <m:t>    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𝑿𝒀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𝝉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)=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𝒀𝑿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(−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𝝉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),</m:t>
                    </m:r>
                    <m:r>
                      <m:rPr>
                        <m:nor/>
                      </m:rPr>
                      <a:rPr lang="en-US" altLang="zh-CN"/>
                      <m:t>     </m:t>
                    </m:r>
                    <m:r>
                      <a:rPr lang="zh-CN" altLang="zh-CN">
                        <a:latin typeface="Cambria Math" panose="02040503050406030204" pitchFamily="18" charset="0"/>
                      </a:rPr>
                      <m:t>复过程</m:t>
                    </m:r>
                    <m:r>
                      <m:rPr>
                        <m:nor/>
                      </m:rPr>
                      <a:rPr lang="en-US" altLang="zh-CN"/>
                      <m:t>    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𝑿𝒀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𝝉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)=</m:t>
                    </m:r>
                    <m:sSubSup>
                      <m:sSubSup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𝒀𝑿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en-US" altLang="zh-CN" i="1">
                        <a:latin typeface="Cambria Math" panose="02040503050406030204" pitchFamily="18" charset="0"/>
                      </a:rPr>
                      <m:t>(−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𝝉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CN" altLang="zh-CN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dirty="0"/>
                  <a:t>3</a:t>
                </a:r>
                <a:r>
                  <a:rPr lang="zh-CN" altLang="zh-CN" dirty="0"/>
                  <a:t>．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𝑿𝒀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𝝉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  <m:sSup>
                      <m:sSup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altLang="zh-CN" i="1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𝑿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𝒀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 ,</m:t>
                    </m:r>
                    <m:r>
                      <m:rPr>
                        <m:nor/>
                      </m:rPr>
                      <a:rPr lang="en-US" altLang="zh-CN"/>
                      <m:t>    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𝑿𝒀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𝝉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  <m:sSup>
                      <m:sSup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altLang="zh-CN" i="1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𝑿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𝒀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CN" altLang="zh-CN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dirty="0"/>
                  <a:t>4</a:t>
                </a:r>
                <a:r>
                  <a:rPr lang="zh-CN" altLang="zh-CN" dirty="0"/>
                  <a:t>．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𝑿𝒀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𝝉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)|≤</m:t>
                    </m:r>
                    <m:f>
                      <m:f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  <m:r>
                      <a:rPr lang="en-US" altLang="zh-CN" i="1">
                        <a:latin typeface="Cambria Math" panose="02040503050406030204" pitchFamily="18" charset="0"/>
                      </a:rPr>
                      <m:t>⋅[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𝑿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)+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𝒀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)]</m:t>
                    </m:r>
                  </m:oMath>
                </a14:m>
                <a:endParaRPr lang="zh-CN" altLang="zh-CN" dirty="0"/>
              </a:p>
              <a:p>
                <a:pPr marL="0" indent="0">
                  <a:buNone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EBC7FE56-912C-4225-9F49-C28C1B4A2A8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7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370195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027DA26F-9388-49F7-84E9-0B263150794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84213" y="1163575"/>
                <a:ext cx="7772400" cy="4106132"/>
              </a:xfrm>
            </p:spPr>
            <p:txBody>
              <a:bodyPr>
                <a:normAutofit fontScale="92500"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sz="2400" dirty="0">
                    <a:solidFill>
                      <a:srgbClr val="FF0000"/>
                    </a:solidFill>
                  </a:rPr>
                  <a:t>3.3.4  </a:t>
                </a:r>
                <a:r>
                  <a:rPr lang="zh-CN" altLang="en-US" sz="2400" dirty="0">
                    <a:solidFill>
                      <a:srgbClr val="FF0000"/>
                    </a:solidFill>
                  </a:rPr>
                  <a:t>相关时间：具有相关性的不同时刻的信号的时间间隔。</a:t>
                </a:r>
                <a:endParaRPr lang="en-US" altLang="zh-CN" sz="2400" dirty="0">
                  <a:solidFill>
                    <a:srgbClr val="FF0000"/>
                  </a:solidFill>
                </a:endParaRPr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p"/>
                </a:pPr>
                <a:r>
                  <a:rPr lang="zh-CN" altLang="en-US" b="0" dirty="0"/>
                  <a:t> 相关系数的定义为</a:t>
                </a:r>
                <a:endParaRPr lang="en-US" altLang="zh-CN" b="0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b="0" i="1" smtClean="0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b="0" i="1" smtClean="0"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zh-CN" altLang="zh-CN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zh-CN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zh-CN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zh-CN" altLang="zh-CN" b="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𝐶𝑜𝑣</m:t>
                          </m:r>
                          <m:d>
                            <m:dPr>
                              <m:ctrlPr>
                                <a:rPr lang="zh-CN" altLang="zh-CN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zh-CN" altLang="zh-CN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),</m:t>
                              </m:r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zh-CN" altLang="zh-CN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zh-CN" altLang="zh-CN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sub>
                          </m:sSub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zh-CN" altLang="zh-CN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zh-CN" altLang="zh-CN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sub>
                          </m:sSub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zh-CN" altLang="zh-CN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altLang="zh-CN" b="0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𝑋𝑌</m:t>
                          </m:r>
                        </m:sub>
                      </m:sSub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b="0" i="1" smtClean="0"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zh-CN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sub>
                      </m:sSub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zh-CN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zh-CN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)</m:t>
                      </m:r>
                      <m:f>
                        <m:fPr>
                          <m:ctrlPr>
                            <a:rPr lang="zh-CN" altLang="zh-CN" b="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𝐶𝑜𝑣</m:t>
                          </m:r>
                          <m:d>
                            <m:dPr>
                              <m:ctrlPr>
                                <a:rPr lang="zh-CN" altLang="zh-CN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zh-CN" altLang="zh-CN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),</m:t>
                              </m:r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zh-CN" altLang="zh-CN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zh-CN" altLang="zh-CN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sub>
                          </m:sSub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zh-CN" altLang="zh-CN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zh-CN" altLang="zh-CN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sub>
                          </m:sSub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zh-CN" altLang="zh-CN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altLang="zh-CN" b="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b="0" dirty="0"/>
                  <a:t>表示信号各个时刻之间的相关性。</a:t>
                </a:r>
                <a:endParaRPr lang="en-US" altLang="zh-CN" b="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b="0" dirty="0">
                    <a:solidFill>
                      <a:schemeClr val="accent1">
                        <a:lumMod val="50000"/>
                      </a:schemeClr>
                    </a:solidFill>
                  </a:rPr>
                  <a:t>线性</a:t>
                </a:r>
                <a14:m>
                  <m:oMath xmlns:m="http://schemas.openxmlformats.org/officeDocument/2006/math">
                    <m:r>
                      <a:rPr lang="zh-CN" altLang="en-US" b="0" i="1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相关：</m:t>
                    </m:r>
                    <m:sSub>
                      <m:sSubPr>
                        <m:ctrlPr>
                          <a:rPr lang="zh-CN" altLang="zh-CN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altLang="zh-CN" b="0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d>
                      <m:dPr>
                        <m:ctrlPr>
                          <a:rPr lang="en-US" altLang="zh-CN" b="0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altLang="zh-CN" b="0" i="1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=1,</m:t>
                    </m:r>
                    <m:r>
                      <a:rPr lang="zh-CN" altLang="en-US" b="0" i="1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或</m:t>
                    </m:r>
                    <m:r>
                      <a:rPr lang="en-US" altLang="zh-CN" b="0" i="1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zh-CN" altLang="zh-CN" b="0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altLang="zh-CN" b="0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zh-CN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sub>
                    </m:sSub>
                    <m:d>
                      <m:dPr>
                        <m:ctrlPr>
                          <a:rPr lang="en-US" altLang="zh-CN" b="0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zh-CN" b="0" i="1">
                                <a:solidFill>
                                  <a:schemeClr val="accent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>
                                <a:solidFill>
                                  <a:schemeClr val="accent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b="0" i="1">
                                <a:solidFill>
                                  <a:schemeClr val="accent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b="0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zh-CN" altLang="zh-CN" b="0" i="1">
                                <a:solidFill>
                                  <a:schemeClr val="accent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>
                                <a:solidFill>
                                  <a:schemeClr val="accent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b="0" i="1">
                                <a:solidFill>
                                  <a:schemeClr val="accent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altLang="zh-CN" b="0" i="1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=1 </m:t>
                    </m:r>
                    <m:r>
                      <a:rPr lang="zh-CN" altLang="en-US" b="0" i="1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当</m:t>
                    </m:r>
                    <m:r>
                      <a:rPr lang="en-US" altLang="zh-CN" b="0" i="1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𝑌</m:t>
                    </m:r>
                    <m:d>
                      <m:dPr>
                        <m:ctrlPr>
                          <a:rPr lang="en-US" altLang="zh-CN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zh-CN" b="0" i="1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𝑎𝑋</m:t>
                    </m:r>
                    <m:d>
                      <m:dPr>
                        <m:ctrlPr>
                          <a:rPr lang="en-US" altLang="zh-CN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zh-CN" b="0" i="1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0" i="1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zh-CN" altLang="en-US" b="0" i="1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时</m:t>
                    </m:r>
                  </m:oMath>
                </a14:m>
                <a:r>
                  <a:rPr lang="zh-CN" altLang="en-US" b="0" dirty="0">
                    <a:solidFill>
                      <a:schemeClr val="accent1">
                        <a:lumMod val="50000"/>
                      </a:schemeClr>
                    </a:solidFill>
                  </a:rPr>
                  <a:t> 。</a:t>
                </a:r>
                <a:endParaRPr lang="en-US" altLang="zh-CN" b="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027DA26F-9388-49F7-84E9-0B263150794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4213" y="1163575"/>
                <a:ext cx="7772400" cy="4106132"/>
              </a:xfrm>
              <a:blipFill>
                <a:blip r:embed="rId2"/>
                <a:stretch>
                  <a:fillRect l="-102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823490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027DA26F-9388-49F7-84E9-0B263150794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67146" y="1163575"/>
                <a:ext cx="8492836" cy="4466567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sz="2400" dirty="0">
                    <a:solidFill>
                      <a:srgbClr val="FF0000"/>
                    </a:solidFill>
                  </a:rPr>
                  <a:t>3.3.4  </a:t>
                </a:r>
                <a:r>
                  <a:rPr lang="zh-CN" altLang="en-US" sz="2400" dirty="0">
                    <a:solidFill>
                      <a:srgbClr val="FF0000"/>
                    </a:solidFill>
                  </a:rPr>
                  <a:t>相关时间</a:t>
                </a:r>
                <a:endParaRPr lang="en-US" altLang="zh-CN" sz="2400" dirty="0">
                  <a:solidFill>
                    <a:srgbClr val="FF0000"/>
                  </a:solidFill>
                </a:endParaRPr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p"/>
                </a:pPr>
                <a:r>
                  <a:rPr lang="en-US" altLang="zh-CN" b="0" dirty="0">
                    <a:solidFill>
                      <a:srgbClr val="FF0000"/>
                    </a:solidFill>
                  </a:rPr>
                  <a:t> </a:t>
                </a:r>
                <a:r>
                  <a:rPr lang="zh-CN" altLang="en-US" b="0" dirty="0">
                    <a:solidFill>
                      <a:schemeClr val="tx1"/>
                    </a:solidFill>
                  </a:rPr>
                  <a:t>相关时间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altLang="zh-CN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b="0" dirty="0">
                    <a:solidFill>
                      <a:schemeClr val="tx1"/>
                    </a:solidFill>
                  </a:rPr>
                  <a:t>：当</a:t>
                </a:r>
                <a14:m>
                  <m:oMath xmlns:m="http://schemas.openxmlformats.org/officeDocument/2006/math">
                    <m:r>
                      <a:rPr lang="zh-CN" alt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𝜏</m:t>
                    </m:r>
                    <m:r>
                      <a:rPr lang="zh-CN" alt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altLang="zh-CN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altLang="zh-CN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b="0" dirty="0">
                    <a:solidFill>
                      <a:schemeClr val="tx1"/>
                    </a:solidFill>
                  </a:rPr>
                  <a:t>后，不同时刻的信号之间的基本上不相关了。</a:t>
                </a:r>
                <a:endParaRPr lang="en-US" altLang="zh-CN" b="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p"/>
                </a:pPr>
                <a:r>
                  <a:rPr lang="zh-CN" altLang="en-US" b="0" dirty="0">
                    <a:solidFill>
                      <a:schemeClr val="tx1"/>
                    </a:solidFill>
                  </a:rPr>
                  <a:t>利用相关系数定义。</a:t>
                </a:r>
                <a:r>
                  <a:rPr lang="en-US" altLang="zh-CN" b="0" dirty="0">
                    <a:solidFill>
                      <a:schemeClr val="tx1"/>
                    </a:solidFill>
                  </a:rPr>
                  <a:t> </a:t>
                </a:r>
                <a:r>
                  <a:rPr lang="zh-CN" altLang="en-US" b="0" dirty="0">
                    <a:solidFill>
                      <a:schemeClr val="tx1"/>
                    </a:solidFill>
                  </a:rPr>
                  <a:t>当</a:t>
                </a:r>
                <a14:m>
                  <m:oMath xmlns:m="http://schemas.openxmlformats.org/officeDocument/2006/math">
                    <m:r>
                      <a:rPr lang="zh-CN" altLang="en-US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𝜏</m:t>
                    </m:r>
                    <m:r>
                      <a:rPr lang="zh-CN" altLang="en-US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altLang="zh-CN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altLang="zh-CN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b="0" dirty="0">
                    <a:solidFill>
                      <a:schemeClr val="tx1"/>
                    </a:solidFill>
                  </a:rPr>
                  <a:t>时，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𝜌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zh-CN" alt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𝜏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altLang="zh-CN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altLang="zh-CN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zh-CN" alt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，</m:t>
                    </m:r>
                    <m:sSub>
                      <m:sSubPr>
                        <m:ctrlPr>
                          <a:rPr lang="en-US" altLang="zh-CN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altLang="zh-CN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zh-CN" altLang="en-US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为</m:t>
                    </m:r>
                    <m:r>
                      <m:rPr>
                        <m:nor/>
                      </m:rPr>
                      <a:rPr lang="zh-CN" altLang="en-US" b="0" dirty="0">
                        <a:solidFill>
                          <a:schemeClr val="tx1"/>
                        </a:solidFill>
                      </a:rPr>
                      <m:t>相关时间</m:t>
                    </m:r>
                    <m:r>
                      <a:rPr lang="zh-CN" altLang="en-US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。</m:t>
                    </m:r>
                  </m:oMath>
                </a14:m>
                <a:endParaRPr lang="en-US" altLang="zh-CN" b="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p"/>
                </a:pPr>
                <a:r>
                  <a:rPr lang="zh-CN" altLang="en-US" b="0" dirty="0">
                    <a:solidFill>
                      <a:schemeClr val="tx1"/>
                    </a:solidFill>
                  </a:rPr>
                  <a:t>等效矩形形式定义</a:t>
                </a:r>
                <a:endParaRPr lang="en-US" altLang="zh-CN" b="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p"/>
                </a:pPr>
                <a:endParaRPr lang="en-US" altLang="zh-CN" b="0" dirty="0"/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p"/>
                </a:pPr>
                <a:endParaRPr lang="en-US" altLang="zh-CN" b="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p"/>
                </a:pPr>
                <a:endParaRPr lang="en-US" altLang="zh-CN" b="0" dirty="0"/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p"/>
                </a:pPr>
                <a:r>
                  <a:rPr lang="zh-CN" altLang="en-US" b="0" dirty="0"/>
                  <a:t>近似表示信号在时间上的相关长度。</a:t>
                </a:r>
                <a:endParaRPr lang="en-US" altLang="zh-CN" b="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027DA26F-9388-49F7-84E9-0B263150794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67146" y="1163575"/>
                <a:ext cx="8492836" cy="4466567"/>
              </a:xfrm>
              <a:blipFill>
                <a:blip r:embed="rId2"/>
                <a:stretch>
                  <a:fillRect l="-1077" b="-4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组合 5">
            <a:extLst>
              <a:ext uri="{FF2B5EF4-FFF2-40B4-BE49-F238E27FC236}">
                <a16:creationId xmlns:a16="http://schemas.microsoft.com/office/drawing/2014/main" id="{6C5DEA66-AD5E-440B-B29C-50D9ACEC65E1}"/>
              </a:ext>
            </a:extLst>
          </p:cNvPr>
          <p:cNvGrpSpPr/>
          <p:nvPr/>
        </p:nvGrpSpPr>
        <p:grpSpPr>
          <a:xfrm>
            <a:off x="3660682" y="3043459"/>
            <a:ext cx="2597519" cy="2078362"/>
            <a:chOff x="8048982" y="974725"/>
            <a:chExt cx="3463358" cy="2771150"/>
          </a:xfrm>
        </p:grpSpPr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3D2EBA4E-B3A3-44FC-91B0-B34D2A924C9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10950" r="11129"/>
            <a:stretch/>
          </p:blipFill>
          <p:spPr>
            <a:xfrm>
              <a:off x="8048982" y="974725"/>
              <a:ext cx="3429786" cy="1848931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C53F3150-96A2-4BCD-89C5-4A81937F180B}"/>
                    </a:ext>
                  </a:extLst>
                </p:cNvPr>
                <p:cNvSpPr txBox="1"/>
                <p:nvPr/>
              </p:nvSpPr>
              <p:spPr>
                <a:xfrm>
                  <a:off x="9144000" y="2823656"/>
                  <a:ext cx="2368340" cy="92221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 smtClean="0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nary>
                          <m:nary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∞</m:t>
                            </m:r>
                          </m:sup>
                          <m:e>
                            <m:r>
                              <a:rPr lang="zh-CN" altLang="en-US" b="0" i="1" smtClean="0">
                                <a:latin typeface="Cambria Math" panose="02040503050406030204" pitchFamily="18" charset="0"/>
                              </a:rPr>
                              <m:t>𝜌</m:t>
                            </m:r>
                            <m:d>
                              <m:d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zh-CN" altLang="en-US" b="0" i="1" smtClean="0">
                                    <a:latin typeface="Cambria Math" panose="02040503050406030204" pitchFamily="18" charset="0"/>
                                  </a:rPr>
                                  <m:t>𝜏</m:t>
                                </m:r>
                              </m:e>
                            </m:d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zh-CN" altLang="en-US" b="0" i="1" smtClean="0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</m:nary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C53F3150-96A2-4BCD-89C5-4A81937F180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44000" y="2823656"/>
                  <a:ext cx="2368340" cy="922219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858796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027DA26F-9388-49F7-84E9-0B263150794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84213" y="1163575"/>
                <a:ext cx="7772400" cy="4106132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dirty="0">
                    <a:solidFill>
                      <a:srgbClr val="FF0000"/>
                    </a:solidFill>
                  </a:rPr>
                  <a:t>3.3.4  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相关时间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𝝉</m:t>
                        </m:r>
                      </m:e>
                      <m:sub>
                        <m:r>
                          <a:rPr lang="en-US" altLang="zh-C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altLang="zh-CN" dirty="0">
                    <a:solidFill>
                      <a:srgbClr val="FF0000"/>
                    </a:solidFill>
                  </a:rPr>
                  <a:t>  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b="0" dirty="0"/>
                  <a:t>相关系数的定义为</a:t>
                </a:r>
                <a:endParaRPr lang="en-US" altLang="zh-CN" b="0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b="0" i="1" smtClean="0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b="0" i="1" smtClean="0"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zh-CN" altLang="zh-CN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zh-CN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zh-CN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zh-CN" altLang="zh-CN" b="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𝐶𝑜𝑣</m:t>
                          </m:r>
                          <m:d>
                            <m:dPr>
                              <m:ctrlPr>
                                <a:rPr lang="zh-CN" altLang="zh-CN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zh-CN" altLang="zh-CN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),</m:t>
                              </m:r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zh-CN" altLang="zh-CN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zh-CN" altLang="zh-CN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sub>
                          </m:sSub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zh-CN" altLang="zh-CN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zh-CN" altLang="zh-CN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sub>
                          </m:sSub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zh-CN" altLang="zh-CN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altLang="zh-CN" b="0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𝑋𝑌</m:t>
                          </m:r>
                        </m:sub>
                      </m:sSub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b="0" i="1" smtClean="0"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zh-CN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sub>
                      </m:sSub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zh-CN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zh-CN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)</m:t>
                      </m:r>
                      <m:f>
                        <m:fPr>
                          <m:ctrlPr>
                            <a:rPr lang="zh-CN" altLang="zh-CN" b="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𝐶𝑜𝑣</m:t>
                          </m:r>
                          <m:d>
                            <m:dPr>
                              <m:ctrlPr>
                                <a:rPr lang="zh-CN" altLang="zh-CN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zh-CN" altLang="zh-CN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),</m:t>
                              </m:r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zh-CN" altLang="zh-CN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zh-CN" altLang="zh-CN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sub>
                          </m:sSub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zh-CN" altLang="zh-CN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zh-CN" altLang="zh-CN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sub>
                          </m:sSub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zh-CN" altLang="zh-CN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altLang="zh-CN" b="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b="0" dirty="0"/>
                  <a:t>表示信号各个时刻之间的相关性。</a:t>
                </a:r>
                <a:endParaRPr lang="en-US" altLang="zh-CN" b="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b="0" dirty="0">
                    <a:solidFill>
                      <a:schemeClr val="accent1">
                        <a:lumMod val="50000"/>
                      </a:schemeClr>
                    </a:solidFill>
                  </a:rPr>
                  <a:t>线性</a:t>
                </a:r>
                <a14:m>
                  <m:oMath xmlns:m="http://schemas.openxmlformats.org/officeDocument/2006/math">
                    <m:r>
                      <a:rPr lang="zh-CN" altLang="en-US" b="0" i="1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相关：</m:t>
                    </m:r>
                    <m:sSub>
                      <m:sSubPr>
                        <m:ctrlPr>
                          <a:rPr lang="zh-CN" altLang="zh-CN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altLang="zh-CN" b="0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d>
                      <m:dPr>
                        <m:ctrlPr>
                          <a:rPr lang="en-US" altLang="zh-CN" b="0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altLang="zh-CN" b="0" i="1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=1,</m:t>
                    </m:r>
                    <m:r>
                      <a:rPr lang="zh-CN" altLang="en-US" b="0" i="1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或</m:t>
                    </m:r>
                    <m:r>
                      <a:rPr lang="en-US" altLang="zh-CN" b="0" i="1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zh-CN" altLang="zh-CN" b="0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altLang="zh-CN" b="0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zh-CN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sub>
                    </m:sSub>
                    <m:d>
                      <m:dPr>
                        <m:ctrlPr>
                          <a:rPr lang="en-US" altLang="zh-CN" b="0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zh-CN" b="0" i="1">
                                <a:solidFill>
                                  <a:schemeClr val="accent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>
                                <a:solidFill>
                                  <a:schemeClr val="accent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b="0" i="1">
                                <a:solidFill>
                                  <a:schemeClr val="accent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b="0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zh-CN" altLang="zh-CN" b="0" i="1">
                                <a:solidFill>
                                  <a:schemeClr val="accent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>
                                <a:solidFill>
                                  <a:schemeClr val="accent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b="0" i="1">
                                <a:solidFill>
                                  <a:schemeClr val="accent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altLang="zh-CN" b="0" i="1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=1 </m:t>
                    </m:r>
                    <m:r>
                      <a:rPr lang="zh-CN" altLang="en-US" b="0" i="1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当</m:t>
                    </m:r>
                    <m:r>
                      <a:rPr lang="en-US" altLang="zh-CN" b="0" i="1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𝑌</m:t>
                    </m:r>
                    <m:d>
                      <m:dPr>
                        <m:ctrlPr>
                          <a:rPr lang="en-US" altLang="zh-CN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zh-CN" b="0" i="1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𝑎𝑋</m:t>
                    </m:r>
                    <m:d>
                      <m:dPr>
                        <m:ctrlPr>
                          <a:rPr lang="en-US" altLang="zh-CN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zh-CN" b="0" i="1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0" i="1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zh-CN" altLang="en-US" b="0" i="1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时</m:t>
                    </m:r>
                  </m:oMath>
                </a14:m>
                <a:r>
                  <a:rPr lang="zh-CN" altLang="en-US" b="0" dirty="0">
                    <a:solidFill>
                      <a:schemeClr val="accent1">
                        <a:lumMod val="50000"/>
                      </a:schemeClr>
                    </a:solidFill>
                  </a:rPr>
                  <a:t> 。</a:t>
                </a:r>
                <a:endParaRPr lang="en-US" altLang="zh-CN" b="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027DA26F-9388-49F7-84E9-0B263150794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4213" y="1163575"/>
                <a:ext cx="7772400" cy="4106132"/>
              </a:xfrm>
              <a:blipFill>
                <a:blip r:embed="rId2"/>
                <a:stretch>
                  <a:fillRect l="-941" b="-133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组合 4">
            <a:extLst>
              <a:ext uri="{FF2B5EF4-FFF2-40B4-BE49-F238E27FC236}">
                <a16:creationId xmlns:a16="http://schemas.microsoft.com/office/drawing/2014/main" id="{6C5DEA66-AD5E-440B-B29C-50D9ACEC65E1}"/>
              </a:ext>
            </a:extLst>
          </p:cNvPr>
          <p:cNvGrpSpPr/>
          <p:nvPr/>
        </p:nvGrpSpPr>
        <p:grpSpPr>
          <a:xfrm>
            <a:off x="5163900" y="1456676"/>
            <a:ext cx="2597519" cy="2078362"/>
            <a:chOff x="8048982" y="974725"/>
            <a:chExt cx="3463358" cy="2771150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3D2EBA4E-B3A3-44FC-91B0-B34D2A924C9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10950" r="11129"/>
            <a:stretch/>
          </p:blipFill>
          <p:spPr>
            <a:xfrm>
              <a:off x="8048982" y="974725"/>
              <a:ext cx="3429786" cy="1848931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C53F3150-96A2-4BCD-89C5-4A81937F180B}"/>
                    </a:ext>
                  </a:extLst>
                </p:cNvPr>
                <p:cNvSpPr txBox="1"/>
                <p:nvPr/>
              </p:nvSpPr>
              <p:spPr>
                <a:xfrm>
                  <a:off x="9144000" y="2823656"/>
                  <a:ext cx="2368340" cy="92221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 smtClean="0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nary>
                          <m:nary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∞</m:t>
                            </m:r>
                          </m:sup>
                          <m:e>
                            <m:r>
                              <a:rPr lang="zh-CN" altLang="en-US" b="0" i="1" smtClean="0">
                                <a:latin typeface="Cambria Math" panose="02040503050406030204" pitchFamily="18" charset="0"/>
                              </a:rPr>
                              <m:t>𝜌</m:t>
                            </m:r>
                            <m:d>
                              <m:d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zh-CN" altLang="en-US" b="0" i="1" smtClean="0">
                                    <a:latin typeface="Cambria Math" panose="02040503050406030204" pitchFamily="18" charset="0"/>
                                  </a:rPr>
                                  <m:t>𝜏</m:t>
                                </m:r>
                              </m:e>
                            </m:d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zh-CN" altLang="en-US" b="0" i="1" smtClean="0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</m:nary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C53F3150-96A2-4BCD-89C5-4A81937F180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44000" y="2823656"/>
                  <a:ext cx="2368340" cy="922219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6011546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B3931FD9-6F34-4AE2-AC34-66A09C5387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作  业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526E3A6-B346-43C6-A68A-C1DB9482EA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总结课程有关公式</a:t>
            </a:r>
            <a:endParaRPr lang="en-US" altLang="zh-CN" dirty="0"/>
          </a:p>
          <a:p>
            <a:r>
              <a:rPr lang="zh-CN" altLang="en-US" dirty="0"/>
              <a:t>课堂练习题错题分析</a:t>
            </a:r>
            <a:endParaRPr lang="en-US" altLang="zh-CN" dirty="0"/>
          </a:p>
          <a:p>
            <a:r>
              <a:rPr lang="zh-CN" altLang="en-US" dirty="0"/>
              <a:t>课本习题：</a:t>
            </a:r>
            <a:r>
              <a:rPr lang="en-US" altLang="zh-CN" dirty="0"/>
              <a:t>3.1</a:t>
            </a:r>
            <a:r>
              <a:rPr lang="zh-CN" altLang="en-US" dirty="0"/>
              <a:t>、</a:t>
            </a:r>
            <a:r>
              <a:rPr lang="en-US" altLang="zh-CN" dirty="0"/>
              <a:t>3.3</a:t>
            </a:r>
            <a:r>
              <a:rPr lang="zh-CN" altLang="en-US" dirty="0"/>
              <a:t>、</a:t>
            </a:r>
            <a:r>
              <a:rPr lang="en-US" altLang="zh-CN" dirty="0"/>
              <a:t>3.5</a:t>
            </a:r>
            <a:r>
              <a:rPr lang="zh-CN" altLang="en-US" dirty="0"/>
              <a:t>、</a:t>
            </a:r>
            <a:r>
              <a:rPr lang="en-US" altLang="zh-CN" dirty="0"/>
              <a:t>3.9</a:t>
            </a:r>
            <a:r>
              <a:rPr lang="zh-CN" altLang="en-US" dirty="0"/>
              <a:t>、</a:t>
            </a:r>
            <a:r>
              <a:rPr lang="en-US" altLang="zh-CN" dirty="0"/>
              <a:t>3.16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5035566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SCORE" val="10.0"/>
  <p:tag name="PROBLEMVOICEALLOWED" val="Fals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ShortAnswer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" val="PRODUCTVERSIONTIP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SCORE" val="10.0"/>
  <p:tag name="PROBLEMVOICEALLOWED" val="Fals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ShortAnswer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" val="PRODUCTVERSIONTIP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SCORE" val="10.0"/>
  <p:tag name="PROBLEMVOICEALLOWED" val="Fals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ShortAnswer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" val="PRODUCTVERSIONTIP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MA"/>
  <p:tag name="PROBLEMSCORE" val="1.0"/>
  <p:tag name="PROBLEMSCORE_HALF" val="0.5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MA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MA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heme/theme1.xml><?xml version="1.0" encoding="utf-8"?>
<a:theme xmlns:a="http://schemas.openxmlformats.org/drawingml/2006/main" name="1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Compressive Sensing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1_Pres_in_sample">
  <a:themeElements>
    <a:clrScheme name="1_Pres_in_sample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1_Pres_in_sample">
      <a:majorFont>
        <a:latin typeface="黑体"/>
        <a:ea typeface="黑体"/>
        <a:cs typeface=""/>
      </a:majorFont>
      <a:minorFont>
        <a:latin typeface="仿宋_GB2312"/>
        <a:ea typeface="仿宋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1_Pres_in_sample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res_in_sample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res_in_sample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res_in_sample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res_in_sampl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res_in_sampl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res_in_sampl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2_Pres_in_sample">
  <a:themeElements>
    <a:clrScheme name="1_Pres_in_sample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1_Pres_in_sample">
      <a:majorFont>
        <a:latin typeface="黑体"/>
        <a:ea typeface="黑体"/>
        <a:cs typeface=""/>
      </a:majorFont>
      <a:minorFont>
        <a:latin typeface="仿宋_GB2312"/>
        <a:ea typeface="仿宋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1_Pres_in_sample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res_in_sample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res_in_sample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res_in_sample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res_in_sampl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res_in_sampl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res_in_sampl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Compressive Sensing</Template>
  <TotalTime>8405</TotalTime>
  <Words>3640</Words>
  <Application>Microsoft Office PowerPoint</Application>
  <PresentationFormat>全屏显示(4:3)</PresentationFormat>
  <Paragraphs>333</Paragraphs>
  <Slides>41</Slides>
  <Notes>22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5</vt:i4>
      </vt:variant>
      <vt:variant>
        <vt:lpstr>幻灯片标题</vt:lpstr>
      </vt:variant>
      <vt:variant>
        <vt:i4>41</vt:i4>
      </vt:variant>
    </vt:vector>
  </HeadingPairs>
  <TitlesOfParts>
    <vt:vector size="61" baseType="lpstr">
      <vt:lpstr>Arial Unicode MS</vt:lpstr>
      <vt:lpstr>Helvetica Neue</vt:lpstr>
      <vt:lpstr>方正粗黑宋简体</vt:lpstr>
      <vt:lpstr>黑体</vt:lpstr>
      <vt:lpstr>楷体</vt:lpstr>
      <vt:lpstr>宋体</vt:lpstr>
      <vt:lpstr>Microsoft Yahei</vt:lpstr>
      <vt:lpstr>Arial</vt:lpstr>
      <vt:lpstr>Arial Black</vt:lpstr>
      <vt:lpstr>Calibri</vt:lpstr>
      <vt:lpstr>Cambria Math</vt:lpstr>
      <vt:lpstr>Comic Sans MS</vt:lpstr>
      <vt:lpstr>Tahoma</vt:lpstr>
      <vt:lpstr>Times New Roman</vt:lpstr>
      <vt:lpstr>Wingdings</vt:lpstr>
      <vt:lpstr>1_自定义设计方案</vt:lpstr>
      <vt:lpstr>自定义设计方案</vt:lpstr>
      <vt:lpstr>1_Compressive Sensing</vt:lpstr>
      <vt:lpstr>1_Pres_in_sample</vt:lpstr>
      <vt:lpstr>2_Pres_in_sample</vt:lpstr>
      <vt:lpstr>PowerPoint 演示文稿</vt:lpstr>
      <vt:lpstr>第三章  平稳性与功率谱密度</vt:lpstr>
      <vt:lpstr>本节学习内容</vt:lpstr>
      <vt:lpstr>学习目标</vt:lpstr>
      <vt:lpstr>3.1  平稳性与联合平稳性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3.2  循环平稳性</vt:lpstr>
      <vt:lpstr>PowerPoint 演示文稿</vt:lpstr>
      <vt:lpstr>3.3 平稳信号的相关函数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作  业</vt:lpstr>
    </vt:vector>
  </TitlesOfParts>
  <Company>Keio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Wensheng Zhang</dc:creator>
  <cp:lastModifiedBy>Wensheng Zhang</cp:lastModifiedBy>
  <cp:revision>863</cp:revision>
  <dcterms:created xsi:type="dcterms:W3CDTF">2012-07-10T00:46:24Z</dcterms:created>
  <dcterms:modified xsi:type="dcterms:W3CDTF">2024-11-01T03:08:09Z</dcterms:modified>
</cp:coreProperties>
</file>