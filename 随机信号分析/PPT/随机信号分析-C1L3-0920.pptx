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30.xml" ContentType="application/vnd.openxmlformats-officedocument.presentationml.tags+xml"/>
  <Override PartName="/ppt/tags/tag140.xml" ContentType="application/vnd.openxmlformats-officedocument.presentationml.tags+xml"/>
  <Override PartName="/ppt/tags/tag150.xml" ContentType="application/vnd.openxmlformats-officedocument.presentationml.tags+xml"/>
  <Override PartName="/ppt/tags/tag160.xml" ContentType="application/vnd.openxmlformats-officedocument.presentationml.tags+xml"/>
  <Override PartName="/ppt/tags/tag290.xml" ContentType="application/vnd.openxmlformats-officedocument.presentationml.tags+xml"/>
  <Override PartName="/ppt/tags/tag300.xml" ContentType="application/vnd.openxmlformats-officedocument.presentationml.tags+xml"/>
  <Override PartName="/ppt/tags/tag310.xml" ContentType="application/vnd.openxmlformats-officedocument.presentationml.tags+xml"/>
  <Override PartName="/ppt/tags/tag320.xml" ContentType="application/vnd.openxmlformats-officedocument.presentationml.tags+xml"/>
  <Override PartName="/ppt/tags/tag33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60" r:id="rId2"/>
    <p:sldMasterId id="2147483686" r:id="rId3"/>
    <p:sldMasterId id="2147483690" r:id="rId4"/>
    <p:sldMasterId id="2147483708" r:id="rId5"/>
  </p:sldMasterIdLst>
  <p:notesMasterIdLst>
    <p:notesMasterId r:id="rId67"/>
  </p:notesMasterIdLst>
  <p:handoutMasterIdLst>
    <p:handoutMasterId r:id="rId68"/>
  </p:handoutMasterIdLst>
  <p:sldIdLst>
    <p:sldId id="360" r:id="rId6"/>
    <p:sldId id="256" r:id="rId7"/>
    <p:sldId id="332" r:id="rId8"/>
    <p:sldId id="392" r:id="rId9"/>
    <p:sldId id="362" r:id="rId10"/>
    <p:sldId id="334" r:id="rId11"/>
    <p:sldId id="335" r:id="rId12"/>
    <p:sldId id="336" r:id="rId13"/>
    <p:sldId id="370" r:id="rId14"/>
    <p:sldId id="371" r:id="rId15"/>
    <p:sldId id="364" r:id="rId16"/>
    <p:sldId id="369" r:id="rId17"/>
    <p:sldId id="337" r:id="rId18"/>
    <p:sldId id="339" r:id="rId19"/>
    <p:sldId id="338" r:id="rId20"/>
    <p:sldId id="372" r:id="rId21"/>
    <p:sldId id="340" r:id="rId22"/>
    <p:sldId id="341" r:id="rId23"/>
    <p:sldId id="342" r:id="rId24"/>
    <p:sldId id="390" r:id="rId25"/>
    <p:sldId id="391" r:id="rId26"/>
    <p:sldId id="343" r:id="rId27"/>
    <p:sldId id="344" r:id="rId28"/>
    <p:sldId id="409" r:id="rId29"/>
    <p:sldId id="410" r:id="rId30"/>
    <p:sldId id="411" r:id="rId31"/>
    <p:sldId id="412" r:id="rId32"/>
    <p:sldId id="413" r:id="rId33"/>
    <p:sldId id="414" r:id="rId34"/>
    <p:sldId id="415" r:id="rId35"/>
    <p:sldId id="416" r:id="rId36"/>
    <p:sldId id="417" r:id="rId37"/>
    <p:sldId id="418" r:id="rId38"/>
    <p:sldId id="405" r:id="rId39"/>
    <p:sldId id="406" r:id="rId40"/>
    <p:sldId id="407" r:id="rId41"/>
    <p:sldId id="408" r:id="rId42"/>
    <p:sldId id="404" r:id="rId43"/>
    <p:sldId id="420" r:id="rId44"/>
    <p:sldId id="421" r:id="rId45"/>
    <p:sldId id="422" r:id="rId46"/>
    <p:sldId id="423" r:id="rId47"/>
    <p:sldId id="424" r:id="rId48"/>
    <p:sldId id="425" r:id="rId49"/>
    <p:sldId id="426" r:id="rId50"/>
    <p:sldId id="427" r:id="rId51"/>
    <p:sldId id="428" r:id="rId52"/>
    <p:sldId id="429" r:id="rId53"/>
    <p:sldId id="430" r:id="rId54"/>
    <p:sldId id="431" r:id="rId55"/>
    <p:sldId id="432" r:id="rId56"/>
    <p:sldId id="433" r:id="rId57"/>
    <p:sldId id="434" r:id="rId58"/>
    <p:sldId id="435" r:id="rId59"/>
    <p:sldId id="436" r:id="rId60"/>
    <p:sldId id="437" r:id="rId61"/>
    <p:sldId id="438" r:id="rId62"/>
    <p:sldId id="439" r:id="rId63"/>
    <p:sldId id="440" r:id="rId64"/>
    <p:sldId id="377" r:id="rId65"/>
    <p:sldId id="399" r:id="rId66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 USER" initials="L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5"/>
    <a:srgbClr val="D09E00"/>
    <a:srgbClr val="FFD347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7" autoAdjust="0"/>
    <p:restoredTop sz="87396" autoAdjust="0"/>
  </p:normalViewPr>
  <p:slideViewPr>
    <p:cSldViewPr>
      <p:cViewPr varScale="1">
        <p:scale>
          <a:sx n="94" d="100"/>
          <a:sy n="94" d="100"/>
        </p:scale>
        <p:origin x="149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notesViewPr>
    <p:cSldViewPr>
      <p:cViewPr varScale="1">
        <p:scale>
          <a:sx n="50" d="100"/>
          <a:sy n="50" d="100"/>
        </p:scale>
        <p:origin x="2326" y="2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commentAuthors" Target="commentAuthor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71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215D6-64B5-4D81-A068-018BC9D15C70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B2BF-B727-4E7D-871C-58E4727485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034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34918-EEE7-4DA3-9986-E691913FFCBE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4D2F-56DD-4976-9716-D18248F948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87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9%BB%8E%E6%9B%BC/346114?fromModule=lemma_inlink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baike.baidu.com/item/%E5%8B%92%E8%B4%9D%E6%A0%BC%E7%A7%AF%E5%88%86/966559?fromModule=lemma_inlink" TargetMode="External"/><Relationship Id="rId4" Type="http://schemas.openxmlformats.org/officeDocument/2006/relationships/hyperlink" Target="https://baike.baidu.com/item/%E5%8C%BA%E9%97%B4/1273117?fromModule=lemma_inlink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AC%AC%E4%B8%80%E7%B1%BB%E9%97%B4%E6%96%AD%E7%82%B9/5014967?fromModule=lemma_inlink" TargetMode="External"/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由黎巴嫩传呼机说开去，激发无线通信学习热情！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22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复习瑞利分布？ 扩展通信知识。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37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黎曼积分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(Riemann Integral)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，也就是所说的正常积分、定积分。在实分析中，由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黎曼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创立的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黎曼积分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首次对函数在给定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区间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上的积分给出了一个精确定义。黎曼积分在技术上的某些不足之处可由后来的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黎曼－斯蒂尔杰斯积分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zh-CN" altLang="en-U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勒贝格积分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得到修补。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6473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Moment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2143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Relevant related Relation relative </a:t>
            </a:r>
            <a:r>
              <a:rPr lang="zh-CN" altLang="en-US" dirty="0"/>
              <a:t>亲戚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9298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Covarance</a:t>
            </a:r>
            <a:r>
              <a:rPr lang="en-US" altLang="zh-CN" dirty="0"/>
              <a:t> </a:t>
            </a:r>
            <a:r>
              <a:rPr lang="zh-CN" altLang="en-US" dirty="0"/>
              <a:t>记住理解 互相关</a:t>
            </a:r>
            <a:r>
              <a:rPr lang="en-US" altLang="zh-CN" dirty="0" err="1"/>
              <a:t>Rxy</a:t>
            </a:r>
            <a:r>
              <a:rPr lang="zh-CN" altLang="en-US" dirty="0"/>
              <a:t>和协方差</a:t>
            </a:r>
            <a:r>
              <a:rPr lang="en-US" altLang="zh-CN" dirty="0" err="1"/>
              <a:t>Cxy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4695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相关系数  </a:t>
            </a:r>
            <a:r>
              <a:rPr lang="en-US" altLang="zh-CN" dirty="0"/>
              <a:t>correlation coefficient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127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ffectLst/>
              </a:rPr>
              <a:t>Rho=1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的充要条件是，存在常数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，使得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P{y=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ax+b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}=1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独立，则必有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pho=0</a:t>
            </a:r>
            <a:endParaRPr lang="zh-CN" altLang="en-US" dirty="0">
              <a:effectLst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，因而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不相关；若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不相关，则仅仅是不存在线性关系，可能存在其他关系，如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x^2+y^2=1</a:t>
            </a:r>
            <a:endParaRPr lang="zh-CN" altLang="en-US" dirty="0">
              <a:effectLst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不独立。 “不相关”是一个比“独立”要弱的概念。</a:t>
            </a:r>
            <a:endParaRPr lang="zh-CN" altLang="en-US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7191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278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看书</a:t>
            </a:r>
            <a:r>
              <a:rPr lang="en-US" altLang="zh-CN" dirty="0"/>
              <a:t>P18 </a:t>
            </a:r>
            <a:r>
              <a:rPr lang="zh-CN" altLang="en-US" dirty="0"/>
              <a:t>例题</a:t>
            </a:r>
            <a:r>
              <a:rPr lang="en-US" altLang="zh-CN" dirty="0"/>
              <a:t>1.16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9580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3D7A1B-A0FA-4282-B466-3A85211C7BD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0602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244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时域与频域；</a:t>
            </a:r>
            <a:r>
              <a:rPr lang="en-US" altLang="zh-CN" dirty="0"/>
              <a:t>2. </a:t>
            </a:r>
            <a:r>
              <a:rPr lang="zh-CN" altLang="en-US" dirty="0"/>
              <a:t>负的频率有没有物理意义？ </a:t>
            </a:r>
            <a:r>
              <a:rPr lang="en-US" altLang="zh-CN" dirty="0"/>
              <a:t>3. 5G</a:t>
            </a:r>
            <a:r>
              <a:rPr lang="zh-CN" altLang="en-US" dirty="0"/>
              <a:t>频谱 </a:t>
            </a:r>
            <a:r>
              <a:rPr lang="en-US" altLang="zh-CN" dirty="0"/>
              <a:t>FR1 FR2 </a:t>
            </a:r>
            <a:r>
              <a:rPr lang="zh-CN" altLang="en-US" dirty="0"/>
              <a:t>广电</a:t>
            </a:r>
            <a:r>
              <a:rPr lang="en-US" altLang="zh-CN" dirty="0"/>
              <a:t>(https://lmtw.com/mzw/content/detail/id/205477)</a:t>
            </a:r>
            <a:r>
              <a:rPr lang="zh-CN" altLang="en-US" dirty="0"/>
              <a:t>； </a:t>
            </a:r>
            <a:r>
              <a:rPr lang="en-US" altLang="zh-CN" dirty="0"/>
              <a:t>4. </a:t>
            </a:r>
            <a:r>
              <a:rPr lang="zh-CN" altLang="en-US" dirty="0"/>
              <a:t>频轨资源？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 </a:t>
            </a:r>
            <a:r>
              <a:rPr lang="zh-CN" altLang="en-US" dirty="0"/>
              <a:t>傅里叶级数 拉普拉斯 拉格朗日   世界本质上是模糊的！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3337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）在一周期内，连续或只有有限个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第一类间断点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）在一周期内，极大值和极小值的数目应是有限个；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）在一周期内，信号是绝对可积的。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458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写下来，与傅里叶变换比较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1566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描述在固定时间或空间内随机事件发生的次数。</a:t>
            </a:r>
            <a:r>
              <a:rPr lang="zh-CN" altLang="en-US" b="1" i="0" dirty="0">
                <a:solidFill>
                  <a:srgbClr val="05073B"/>
                </a:solidFill>
                <a:effectLst/>
                <a:latin typeface="-apple-system"/>
              </a:rPr>
              <a:t>通信领域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：用于描述电话交换机接到的电话呼叫次数、网络中的数据包到达次数等。 </a:t>
            </a:r>
            <a:r>
              <a:rPr lang="zh-CN" altLang="en-US" dirty="0"/>
              <a:t>指数函数泰勒级数展开！</a:t>
            </a:r>
            <a:r>
              <a:rPr lang="en-US" altLang="zh-CN" dirty="0" err="1"/>
              <a:t>e^x</a:t>
            </a:r>
            <a:r>
              <a:rPr lang="en-US" altLang="zh-CN" dirty="0"/>
              <a:t>=1+x+x^2/2!+…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174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lang="zh-CN" altLang="en-US" dirty="0"/>
                  <a:t>时域卷积，频域乘积。</a:t>
                </a:r>
                <a:endParaRPr lang="en-US" altLang="zh-CN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lang="zh-CN" altLang="en-US" b="0" dirty="0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0" dirty="0"/>
                  <a:t>统计独立，有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b="0" dirty="0"/>
                  <a:t>=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b="0" dirty="0"/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b="0" dirty="0"/>
                  <a:t>=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b="0" dirty="0"/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)⋇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lang="zh-CN" altLang="en-US" dirty="0"/>
                  <a:t>时域卷积，频域乘积。</a:t>
                </a:r>
                <a:endParaRPr lang="en-US" altLang="zh-CN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lang="zh-CN" altLang="en-US" b="0" dirty="0"/>
                  <a:t>若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𝑓_𝑋𝑌 (𝑥,𝑦)=𝑓_𝑋 (𝑥) 𝑓_𝑌 (𝑦),   𝑋 </a:t>
                </a:r>
                <a:r>
                  <a:rPr lang="zh-CN" alt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、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𝑌 </a:t>
                </a:r>
                <a:r>
                  <a:rPr lang="zh-CN" altLang="en-US" b="0" dirty="0"/>
                  <a:t>统计独立，有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〖     𝑓〗_𝑍 (𝑧)</a:t>
                </a:r>
                <a:r>
                  <a:rPr lang="en-US" altLang="zh-CN" b="0" dirty="0"/>
                  <a:t>=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∫_(−∞)^∞</a:t>
                </a:r>
                <a:r>
                  <a:rPr lang="en-US" altLang="zh-CN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▒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〖𝑓_𝑋𝑌 (𝑧−𝑢,𝑢)</a:t>
                </a:r>
                <a:r>
                  <a:rPr lang="en-US" altLang="zh-CN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"</a:t>
                </a:r>
                <a:r>
                  <a:rPr lang="en-US" altLang="zh-CN" b="0" i="0" dirty="0"/>
                  <a:t> 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" 𝑑𝑢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〗</a:t>
                </a:r>
                <a:r>
                  <a:rPr lang="en-US" altLang="zh-CN" b="0" dirty="0"/>
                  <a:t>=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∫_(−∞)^∞</a:t>
                </a:r>
                <a:r>
                  <a:rPr lang="en-US" altLang="zh-CN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▒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〖𝑓_𝑋 (𝑧−𝑢)𝑓_𝑌 (𝑢)</a:t>
                </a:r>
                <a:r>
                  <a:rPr lang="en-US" altLang="zh-CN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"</a:t>
                </a:r>
                <a:r>
                  <a:rPr lang="en-US" altLang="zh-CN" b="0" i="0" dirty="0"/>
                  <a:t> 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" 𝑑𝑢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〗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=𝑓_𝑋 (𝑧)⋇</a:t>
                </a:r>
                <a:r>
                  <a:rPr lang="en-US" altLang="zh-CN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𝑓_𝑌 (𝑧)</a:t>
                </a:r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6509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zh-CN" altLang="en-US" dirty="0"/>
              <a:t>（</a:t>
            </a:r>
            <a:r>
              <a:rPr lang="en-US" altLang="zh-CN" dirty="0"/>
              <a:t>e^(</a:t>
            </a:r>
            <a:r>
              <a:rPr lang="en-US" altLang="zh-CN" dirty="0" err="1"/>
              <a:t>e^x</a:t>
            </a:r>
            <a:r>
              <a:rPr lang="en-US" altLang="zh-CN" dirty="0"/>
              <a:t>)</a:t>
            </a:r>
            <a:r>
              <a:rPr lang="zh-CN" altLang="en-US" dirty="0"/>
              <a:t>）</a:t>
            </a:r>
            <a:r>
              <a:rPr lang="en-US" altLang="zh-CN" dirty="0"/>
              <a:t>/dx=e(</a:t>
            </a:r>
            <a:r>
              <a:rPr lang="en-US" altLang="zh-CN" dirty="0" err="1"/>
              <a:t>x+e^x</a:t>
            </a:r>
            <a:r>
              <a:rPr lang="en-US" altLang="zh-CN" dirty="0"/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6153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麦克劳林公式是泰勒公式的特殊情况，泰勒公式的意义就是把复杂的函数简单化，也即是化成多项式函数，泰勒公式是在任何点的展开形式，而麦克劳林公式是在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点，对函数进行泰勒展开。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314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0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4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2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2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0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9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78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10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5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791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51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90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29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887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504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88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784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396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36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175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156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0E5B7-4980-4DCB-B895-755E41E90C37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20/09/2024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EF8F-819D-4663-82E4-C10ECE9AAC28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18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0" y="6425952"/>
            <a:ext cx="1691680" cy="432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ES" altLang="zh-CN">
                <a:solidFill>
                  <a:prstClr val="black"/>
                </a:solidFill>
              </a:rPr>
              <a:t>Wensheng Zhang</a:t>
            </a:r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88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8173156" cy="14176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C957B-D1FD-480F-B320-0EDA5B29C51F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20/09/2024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27784" y="638132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CF0F2-C070-45F9-912E-4BD4A0D78506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7464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91805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1563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20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76686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97970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09834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7134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6170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47829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0959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66624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270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69345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15518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302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22463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01328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99126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27399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2961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06357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5599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751119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27861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41647"/>
            <a:ext cx="3429002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 dirty="0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0670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337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 dirty="0"/>
              <a:t>Copyright by </a:t>
            </a:r>
            <a:r>
              <a:rPr lang="en-US" altLang="zh-CN" dirty="0" err="1"/>
              <a:t>Hailiang</a:t>
            </a:r>
            <a:r>
              <a:rPr lang="en-US" altLang="zh-CN" dirty="0"/>
              <a:t> </a:t>
            </a:r>
            <a:r>
              <a:rPr lang="en-US" altLang="zh-CN" dirty="0" err="1"/>
              <a:t>Xiong</a:t>
            </a:r>
            <a:r>
              <a:rPr lang="zh-CN" altLang="en-US" dirty="0"/>
              <a:t>山东大学</a:t>
            </a:r>
            <a:r>
              <a:rPr lang="en-US" altLang="zh-CN" dirty="0">
                <a:latin typeface="Arial" panose="020B0604020202020204" pitchFamily="34" charset="0"/>
              </a:rPr>
              <a:t>	                                                                </a:t>
            </a:r>
            <a:fld id="{8FBAAC0D-07A3-4AB9-A234-A9E9A2F0A6FD}" type="slidenum">
              <a:rPr lang="en-US" altLang="zh-CN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336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 dirty="0"/>
              <a:t>copyright  </a:t>
            </a:r>
            <a:r>
              <a:rPr lang="zh-CN" altLang="en-US" dirty="0"/>
              <a:t>朱维红</a:t>
            </a:r>
            <a:endParaRPr lang="en-US" altLang="zh-CN" dirty="0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9253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7978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502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333905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52685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265801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00799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568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FDD8F-1499-4C79-8BBC-577CD559A01B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3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9855-D108-4DFB-8CB9-5769378610FC}" type="datetimeFigureOut">
              <a:rPr lang="zh-CN" altLang="en-US" smtClean="0"/>
              <a:pPr/>
              <a:t>2024/9/20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1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60432" y="6460772"/>
            <a:ext cx="7183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ownloads\SDU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80" y="3235"/>
            <a:ext cx="880064" cy="83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0" y="1124744"/>
            <a:ext cx="91430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839047"/>
            <a:ext cx="12477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32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289062" y="6415221"/>
            <a:ext cx="1066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de-DE" altLang="zh-CN" sz="900" dirty="0">
                <a:solidFill>
                  <a:srgbClr val="808080"/>
                </a:solidFill>
                <a:latin typeface="Arial" panose="020B0604020202020204" pitchFamily="34" charset="0"/>
              </a:rPr>
              <a:t>Slide </a:t>
            </a:r>
            <a:fld id="{ED94CCA2-7169-4BB5-975E-E6CC90B66E06}" type="slidenum">
              <a:rPr lang="de-DE" altLang="zh-CN" sz="9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05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2612555" y="6521901"/>
            <a:ext cx="312420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20224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0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808913" y="6461125"/>
            <a:ext cx="12954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5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197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611560" y="6415220"/>
            <a:ext cx="504056" cy="30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ED94CCA2-7169-4BB5-975E-E6CC90B66E06}" type="slidenum">
              <a:rPr lang="de-DE" altLang="zh-CN" sz="18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190419" y="6422607"/>
            <a:ext cx="258843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2024 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596336" y="6439619"/>
            <a:ext cx="1295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image" Target="../media/image12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6.tmp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image" Target="../media/image14.png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tags" Target="../tags/tag12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image" Target="../media/image6.tm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13" Type="http://schemas.openxmlformats.org/officeDocument/2006/relationships/image" Target="../media/image21.png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tags" Target="../tags/tag2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Relationship Id="rId14" Type="http://schemas.openxmlformats.org/officeDocument/2006/relationships/image" Target="../media/image6.tmp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13" Type="http://schemas.openxmlformats.org/officeDocument/2006/relationships/image" Target="../media/image30.png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tags" Target="../tags/tag32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3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Relationship Id="rId14" Type="http://schemas.openxmlformats.org/officeDocument/2006/relationships/image" Target="../media/image6.tmp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4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5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2.wmf"/><Relationship Id="rId4" Type="http://schemas.openxmlformats.org/officeDocument/2006/relationships/oleObject" Target="../embeddings/oleObject2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6%95%B0%E5%AD%A6%E5%AE%B6/1210991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8.xml"/><Relationship Id="rId4" Type="http://schemas.openxmlformats.org/officeDocument/2006/relationships/image" Target="../media/image13.jpe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13" Type="http://schemas.openxmlformats.org/officeDocument/2006/relationships/tags" Target="../tags/tag42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notesSlide" Target="../notesSlides/notesSlide14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45.xml"/><Relationship Id="rId15" Type="http://schemas.openxmlformats.org/officeDocument/2006/relationships/image" Target="../media/image6.tmp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Relationship Id="rId14" Type="http://schemas.openxmlformats.org/officeDocument/2006/relationships/image" Target="../media/image4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1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13" Type="http://schemas.openxmlformats.org/officeDocument/2006/relationships/tags" Target="../tags/tag63.xml"/><Relationship Id="rId18" Type="http://schemas.openxmlformats.org/officeDocument/2006/relationships/slideLayout" Target="../slideLayouts/slideLayout45.xml"/><Relationship Id="rId26" Type="http://schemas.openxmlformats.org/officeDocument/2006/relationships/image" Target="../media/image150.png"/><Relationship Id="rId3" Type="http://schemas.openxmlformats.org/officeDocument/2006/relationships/tags" Target="../tags/tag53.xml"/><Relationship Id="rId21" Type="http://schemas.openxmlformats.org/officeDocument/2006/relationships/tags" Target="../tags/tag140.xml"/><Relationship Id="rId7" Type="http://schemas.openxmlformats.org/officeDocument/2006/relationships/tags" Target="../tags/tag57.xml"/><Relationship Id="rId12" Type="http://schemas.openxmlformats.org/officeDocument/2006/relationships/tags" Target="../tags/tag62.xml"/><Relationship Id="rId17" Type="http://schemas.openxmlformats.org/officeDocument/2006/relationships/tags" Target="../tags/tag67.xml"/><Relationship Id="rId25" Type="http://schemas.openxmlformats.org/officeDocument/2006/relationships/tags" Target="../tags/tag160.xml"/><Relationship Id="rId2" Type="http://schemas.openxmlformats.org/officeDocument/2006/relationships/tags" Target="../tags/tag52.xml"/><Relationship Id="rId16" Type="http://schemas.openxmlformats.org/officeDocument/2006/relationships/tags" Target="../tags/tag66.xml"/><Relationship Id="rId20" Type="http://schemas.openxmlformats.org/officeDocument/2006/relationships/image" Target="../media/image120.png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tags" Target="../tags/tag61.xml"/><Relationship Id="rId24" Type="http://schemas.openxmlformats.org/officeDocument/2006/relationships/image" Target="../media/image140.png"/><Relationship Id="rId5" Type="http://schemas.openxmlformats.org/officeDocument/2006/relationships/tags" Target="../tags/tag55.xml"/><Relationship Id="rId15" Type="http://schemas.openxmlformats.org/officeDocument/2006/relationships/tags" Target="../tags/tag65.xml"/><Relationship Id="rId23" Type="http://schemas.openxmlformats.org/officeDocument/2006/relationships/tags" Target="../tags/tag150.xml"/><Relationship Id="rId10" Type="http://schemas.openxmlformats.org/officeDocument/2006/relationships/tags" Target="../tags/tag60.xml"/><Relationship Id="rId19" Type="http://schemas.openxmlformats.org/officeDocument/2006/relationships/tags" Target="../tags/tag130.xml"/><Relationship Id="rId4" Type="http://schemas.openxmlformats.org/officeDocument/2006/relationships/tags" Target="../tags/tag54.xml"/><Relationship Id="rId9" Type="http://schemas.openxmlformats.org/officeDocument/2006/relationships/tags" Target="../tags/tag59.xml"/><Relationship Id="rId14" Type="http://schemas.openxmlformats.org/officeDocument/2006/relationships/tags" Target="../tags/tag64.xml"/><Relationship Id="rId22" Type="http://schemas.openxmlformats.org/officeDocument/2006/relationships/image" Target="../media/image130.png"/><Relationship Id="rId27" Type="http://schemas.openxmlformats.org/officeDocument/2006/relationships/image" Target="../media/image6.tmp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13" Type="http://schemas.openxmlformats.org/officeDocument/2006/relationships/tags" Target="../tags/tag80.xml"/><Relationship Id="rId18" Type="http://schemas.openxmlformats.org/officeDocument/2006/relationships/slideLayout" Target="../slideLayouts/slideLayout45.xml"/><Relationship Id="rId26" Type="http://schemas.openxmlformats.org/officeDocument/2006/relationships/image" Target="../media/image190.png"/><Relationship Id="rId3" Type="http://schemas.openxmlformats.org/officeDocument/2006/relationships/tags" Target="../tags/tag70.xml"/><Relationship Id="rId21" Type="http://schemas.openxmlformats.org/officeDocument/2006/relationships/tags" Target="../tags/tag300.xml"/><Relationship Id="rId7" Type="http://schemas.openxmlformats.org/officeDocument/2006/relationships/tags" Target="../tags/tag74.xml"/><Relationship Id="rId12" Type="http://schemas.openxmlformats.org/officeDocument/2006/relationships/tags" Target="../tags/tag79.xml"/><Relationship Id="rId17" Type="http://schemas.openxmlformats.org/officeDocument/2006/relationships/tags" Target="../tags/tag84.xml"/><Relationship Id="rId25" Type="http://schemas.openxmlformats.org/officeDocument/2006/relationships/tags" Target="../tags/tag320.xml"/><Relationship Id="rId2" Type="http://schemas.openxmlformats.org/officeDocument/2006/relationships/tags" Target="../tags/tag69.xml"/><Relationship Id="rId16" Type="http://schemas.openxmlformats.org/officeDocument/2006/relationships/tags" Target="../tags/tag83.xml"/><Relationship Id="rId20" Type="http://schemas.openxmlformats.org/officeDocument/2006/relationships/image" Target="../media/image160.png"/><Relationship Id="rId29" Type="http://schemas.openxmlformats.org/officeDocument/2006/relationships/image" Target="../media/image6.tmp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tags" Target="../tags/tag78.xml"/><Relationship Id="rId24" Type="http://schemas.openxmlformats.org/officeDocument/2006/relationships/image" Target="../media/image180.png"/><Relationship Id="rId5" Type="http://schemas.openxmlformats.org/officeDocument/2006/relationships/tags" Target="../tags/tag72.xml"/><Relationship Id="rId15" Type="http://schemas.openxmlformats.org/officeDocument/2006/relationships/tags" Target="../tags/tag82.xml"/><Relationship Id="rId23" Type="http://schemas.openxmlformats.org/officeDocument/2006/relationships/tags" Target="../tags/tag310.xml"/><Relationship Id="rId28" Type="http://schemas.openxmlformats.org/officeDocument/2006/relationships/image" Target="../media/image200.png"/><Relationship Id="rId10" Type="http://schemas.openxmlformats.org/officeDocument/2006/relationships/tags" Target="../tags/tag77.xml"/><Relationship Id="rId19" Type="http://schemas.openxmlformats.org/officeDocument/2006/relationships/tags" Target="../tags/tag290.xml"/><Relationship Id="rId4" Type="http://schemas.openxmlformats.org/officeDocument/2006/relationships/tags" Target="../tags/tag71.xml"/><Relationship Id="rId9" Type="http://schemas.openxmlformats.org/officeDocument/2006/relationships/tags" Target="../tags/tag76.xml"/><Relationship Id="rId14" Type="http://schemas.openxmlformats.org/officeDocument/2006/relationships/tags" Target="../tags/tag81.xml"/><Relationship Id="rId22" Type="http://schemas.openxmlformats.org/officeDocument/2006/relationships/image" Target="../media/image170.png"/><Relationship Id="rId27" Type="http://schemas.openxmlformats.org/officeDocument/2006/relationships/tags" Target="../tags/tag33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5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5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tags" Target="../tags/tag92.xml"/><Relationship Id="rId13" Type="http://schemas.openxmlformats.org/officeDocument/2006/relationships/image" Target="../media/image52.png"/><Relationship Id="rId3" Type="http://schemas.openxmlformats.org/officeDocument/2006/relationships/tags" Target="../tags/tag87.xml"/><Relationship Id="rId7" Type="http://schemas.openxmlformats.org/officeDocument/2006/relationships/tags" Target="../tags/tag91.xml"/><Relationship Id="rId12" Type="http://schemas.openxmlformats.org/officeDocument/2006/relationships/tags" Target="../tags/tag86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89.xml"/><Relationship Id="rId10" Type="http://schemas.openxmlformats.org/officeDocument/2006/relationships/tags" Target="../tags/tag94.xml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image" Target="../media/image6.tmp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2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51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13" Type="http://schemas.openxmlformats.org/officeDocument/2006/relationships/image" Target="../media/image57.png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tags" Target="../tags/tag96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99.xml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Relationship Id="rId14" Type="http://schemas.openxmlformats.org/officeDocument/2006/relationships/image" Target="../media/image6.tmp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179512" y="512180"/>
            <a:ext cx="8496944" cy="122413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latin typeface="宋体"/>
              </a:rPr>
              <a:t>随机信号分析</a:t>
            </a:r>
            <a:endParaRPr lang="en-US" altLang="zh-CN" b="1" dirty="0">
              <a:solidFill>
                <a:srgbClr val="C00000"/>
              </a:solidFill>
              <a:latin typeface="宋体"/>
            </a:endParaRPr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signal analysis</a:t>
            </a:r>
            <a:endParaRPr lang="es-H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3933056"/>
            <a:ext cx="74888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prstClr val="white"/>
                </a:solidFill>
                <a:latin typeface="宋体"/>
              </a:rPr>
              <a:t>张文胜 </a:t>
            </a:r>
            <a:endParaRPr lang="en-US" altLang="zh-CN" sz="3600" b="1" dirty="0">
              <a:solidFill>
                <a:prstClr val="white"/>
              </a:solidFill>
              <a:latin typeface="宋体"/>
            </a:endParaRPr>
          </a:p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宋体"/>
              </a:rPr>
              <a:t>微信：</a:t>
            </a:r>
            <a:r>
              <a:rPr lang="en-US" altLang="zh-CN" sz="2800" b="1" dirty="0">
                <a:solidFill>
                  <a:prstClr val="white"/>
                </a:solidFill>
                <a:latin typeface="宋体"/>
              </a:rPr>
              <a:t>15063339795  QQ:762329090</a:t>
            </a:r>
          </a:p>
          <a:p>
            <a:pPr algn="ctr"/>
            <a:r>
              <a:rPr lang="en-US" altLang="zh-CN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zhangwsh@sdu.edu.cn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zhang8181@gmail.com</a:t>
            </a:r>
          </a:p>
          <a:p>
            <a:pPr algn="ctr"/>
            <a:r>
              <a:rPr lang="en-US" altLang="zh-HK" sz="20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School of Information Science and Engineering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Shandong University</a:t>
            </a:r>
            <a:endParaRPr lang="zh-TW" altLang="zh-HK" sz="28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endParaRPr lang="zh-TW" altLang="zh-HK" sz="24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6" name="1 Título"/>
          <p:cNvSpPr txBox="1">
            <a:spLocks/>
          </p:cNvSpPr>
          <p:nvPr/>
        </p:nvSpPr>
        <p:spPr>
          <a:xfrm>
            <a:off x="827584" y="2248402"/>
            <a:ext cx="7488832" cy="64757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课程号</a:t>
            </a:r>
            <a:r>
              <a:rPr lang="en-US" altLang="zh-CN" sz="2800" b="1" dirty="0">
                <a:cs typeface="Arial Unicode MS" pitchFamily="34" charset="-122"/>
              </a:rPr>
              <a:t>: </a:t>
            </a:r>
            <a:r>
              <a:rPr lang="en-US" altLang="zh-CN" sz="2800" b="1" dirty="0"/>
              <a:t>sd01234090    </a:t>
            </a:r>
            <a:r>
              <a:rPr lang="zh-CN" altLang="en-US" sz="2800" b="1" dirty="0"/>
              <a:t>周五</a:t>
            </a:r>
            <a:r>
              <a:rPr lang="en-US" altLang="zh-CN" sz="2800" b="1" dirty="0"/>
              <a:t>5-6</a:t>
            </a:r>
            <a:r>
              <a:rPr lang="zh-CN" altLang="en-US" sz="2800" b="1" dirty="0"/>
              <a:t>节  </a:t>
            </a:r>
            <a:endParaRPr lang="en-US" altLang="zh-CN" sz="2800" b="1" dirty="0"/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b="1" dirty="0">
                <a:cs typeface="Arial Unicode MS" pitchFamily="34" charset="-122"/>
              </a:rPr>
              <a:t>振声苑</a:t>
            </a:r>
            <a:r>
              <a:rPr lang="en-US" altLang="zh-CN" sz="2800" b="1" dirty="0">
                <a:cs typeface="Arial Unicode MS" pitchFamily="34" charset="-122"/>
              </a:rPr>
              <a:t>W106</a:t>
            </a:r>
            <a:r>
              <a:rPr lang="zh-CN" altLang="en-US" sz="2800" b="1" dirty="0">
                <a:cs typeface="Arial Unicode MS" pitchFamily="34" charset="-122"/>
              </a:rPr>
              <a:t>，通信</a:t>
            </a:r>
            <a:r>
              <a:rPr lang="en-US" altLang="zh-CN" sz="2800" b="1" dirty="0">
                <a:cs typeface="Arial Unicode MS" pitchFamily="34" charset="-122"/>
              </a:rPr>
              <a:t>23[2-3]</a:t>
            </a:r>
            <a:r>
              <a:rPr lang="zh-CN" altLang="en-US" sz="2800" b="1" dirty="0">
                <a:cs typeface="Arial Unicode MS" pitchFamily="34" charset="-122"/>
              </a:rPr>
              <a:t>班，</a:t>
            </a:r>
            <a:r>
              <a:rPr lang="en-US" altLang="zh-CN" sz="2800" b="1" dirty="0">
                <a:cs typeface="Arial Unicode MS" pitchFamily="34" charset="-122"/>
              </a:rPr>
              <a:t>2024</a:t>
            </a:r>
            <a:r>
              <a:rPr lang="zh-CN" altLang="en-US" sz="2800" b="1" dirty="0">
                <a:cs typeface="Arial Unicode MS" pitchFamily="34" charset="-122"/>
              </a:rPr>
              <a:t>年秋</a:t>
            </a:r>
            <a:endParaRPr lang="es-HN" sz="2800" b="1" dirty="0"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10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A0A19-4259-4472-8BDE-77AEA81EF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第一章 概率论基础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545D4DA1-3AAE-44E8-AABD-3F7DCFA576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496982"/>
            <a:ext cx="7772400" cy="4254500"/>
          </a:xfrm>
        </p:spPr>
        <p:txBody>
          <a:bodyPr/>
          <a:lstStyle/>
          <a:p>
            <a:pPr algn="l"/>
            <a:r>
              <a:rPr lang="en-US" altLang="zh-CN" sz="2800" dirty="0"/>
              <a:t>1.4  </a:t>
            </a:r>
            <a:r>
              <a:rPr lang="zh-CN" altLang="en-US" sz="2800" dirty="0"/>
              <a:t>数字特征和数学期望</a:t>
            </a:r>
            <a:endParaRPr lang="en-US" altLang="zh-CN" sz="2800" dirty="0"/>
          </a:p>
          <a:p>
            <a:pPr lvl="0" eaLnBrk="0" hangingPunct="0">
              <a:lnSpc>
                <a:spcPct val="110000"/>
              </a:lnSpc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1.5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特征函数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0" lvl="0" indent="0" eaLnBrk="0" hangingPunct="0">
              <a:lnSpc>
                <a:spcPct val="110000"/>
              </a:lnSpc>
              <a:spcBef>
                <a:spcPts val="9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1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、特征函数的定义及相关概念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		</a:t>
            </a:r>
          </a:p>
          <a:p>
            <a:pPr marL="0" lvl="0" indent="0" eaLnBrk="0" hangingPunct="0">
              <a:lnSpc>
                <a:spcPct val="110000"/>
              </a:lnSpc>
              <a:spcBef>
                <a:spcPts val="9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2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zh-CN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统计独立随机变量和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的特征函数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</a:p>
          <a:p>
            <a:pPr marL="0" lvl="0" indent="0" eaLnBrk="0" hangingPunct="0">
              <a:lnSpc>
                <a:spcPct val="110000"/>
              </a:lnSpc>
              <a:spcBef>
                <a:spcPts val="900"/>
              </a:spcBef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3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、特征函数与矩的关系</a:t>
            </a:r>
            <a:endParaRPr lang="zh-CN" altLang="en-US" sz="2800" dirty="0">
              <a:solidFill>
                <a:srgbClr val="FF0000"/>
              </a:solidFill>
              <a:ea typeface="隶书" panose="02010509060101010101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8552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9A3F2C-DF2B-41D7-B79B-5B31878A7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329"/>
            <a:ext cx="7886700" cy="1119659"/>
          </a:xfrm>
        </p:spPr>
        <p:txBody>
          <a:bodyPr>
            <a:normAutofit/>
          </a:bodyPr>
          <a:lstStyle/>
          <a:p>
            <a:r>
              <a:rPr lang="en-US" altLang="zh-CN" dirty="0"/>
              <a:t>1.4.1 </a:t>
            </a:r>
            <a:r>
              <a:rPr lang="zh-CN" altLang="en-US" dirty="0"/>
              <a:t>数学期望（或统计平均）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BA386C-C18E-4B08-966E-278AB79A83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9552" y="1174988"/>
                <a:ext cx="7975798" cy="448626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随机变量的数学期望（统计平均，集合平均，均值）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   expectation, statistical average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，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ensemble average,  mean</a:t>
                </a:r>
              </a:p>
              <a:p>
                <a:pPr>
                  <a:buFont typeface="Wingdings" panose="05000000000000000000" pitchFamily="2" charset="2"/>
                  <a:buChar char="u"/>
                </a:pPr>
                <a:r>
                  <a:rPr lang="en-US" altLang="zh-CN" sz="2400" b="0" dirty="0"/>
                  <a:t>   </a:t>
                </a:r>
                <a:r>
                  <a:rPr lang="zh-CN" altLang="zh-CN" sz="2400" b="0" dirty="0"/>
                  <a:t>随机变量按其取值概率的加权平均，表征概率分布的</a:t>
                </a:r>
                <a:endParaRPr lang="en-US" altLang="zh-CN" sz="2400" b="0" dirty="0"/>
              </a:p>
              <a:p>
                <a:pPr marL="0" indent="0">
                  <a:buNone/>
                </a:pPr>
                <a:r>
                  <a:rPr lang="en-US" altLang="zh-CN" sz="2400" b="0" dirty="0"/>
                  <a:t>      </a:t>
                </a:r>
                <a:r>
                  <a:rPr lang="zh-CN" altLang="zh-CN" sz="2400" b="0" dirty="0"/>
                  <a:t>中心位置</a:t>
                </a:r>
                <a:r>
                  <a:rPr lang="zh-CN" altLang="en-US" sz="2400" b="0" dirty="0"/>
                  <a:t>。</a:t>
                </a:r>
                <a:endParaRPr lang="zh-CN" altLang="zh-CN" sz="2400" b="0" dirty="0"/>
              </a:p>
              <a:p>
                <a:pPr>
                  <a:buFont typeface="Wingdings" panose="05000000000000000000" pitchFamily="2" charset="2"/>
                  <a:buChar char="u"/>
                </a:pPr>
                <a:r>
                  <a:rPr lang="zh-CN" altLang="en-US" sz="2400" b="0" dirty="0"/>
                  <a:t>   一般形式的定义：</a:t>
                </a:r>
                <a:endParaRPr lang="en-US" altLang="zh-CN" sz="2400" b="0" dirty="0"/>
              </a:p>
              <a:p>
                <a:pPr marL="0" indent="0">
                  <a:buNone/>
                </a:pPr>
                <a:r>
                  <a:rPr lang="en-US" altLang="zh-CN" sz="2400" b="0" dirty="0"/>
                  <a:t>   </a:t>
                </a:r>
                <a:r>
                  <a:rPr lang="en-US" altLang="zh-CN" sz="2400" b="0" i="1" dirty="0"/>
                  <a:t>X  </a:t>
                </a:r>
                <a:r>
                  <a:rPr lang="zh-CN" altLang="zh-CN" sz="2400" b="0" dirty="0"/>
                  <a:t>分布函数为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0" dirty="0"/>
                  <a:t>，若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|∙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zh-CN" altLang="zh-CN" sz="2400" b="0" dirty="0"/>
                  <a:t>，则称</a:t>
                </a:r>
              </a:p>
              <a:p>
                <a:pPr marL="0" indent="0">
                  <a:buNone/>
                </a:pPr>
                <a:r>
                  <a:rPr lang="en-US" altLang="zh-CN" sz="2400" b="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400" b="0" dirty="0"/>
                  <a:t> </a:t>
                </a:r>
                <a:r>
                  <a:rPr lang="zh-CN" altLang="zh-CN" sz="2400" b="0" dirty="0"/>
                  <a:t>为其数学期望，是</a:t>
                </a:r>
                <a:r>
                  <a:rPr lang="en-US" altLang="zh-CN" sz="2400" b="0" i="1" dirty="0"/>
                  <a:t>x</a:t>
                </a:r>
                <a:r>
                  <a:rPr lang="zh-CN" altLang="zh-CN" sz="2400" b="0" dirty="0"/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0" dirty="0"/>
                  <a:t>的</a:t>
                </a:r>
                <a:r>
                  <a:rPr lang="zh-CN" altLang="en-US" sz="2400" b="0" dirty="0"/>
                  <a:t>黎曼</a:t>
                </a:r>
                <a:r>
                  <a:rPr lang="en-US" altLang="zh-CN" sz="2400" b="0" dirty="0"/>
                  <a:t>-</a:t>
                </a:r>
                <a:r>
                  <a:rPr lang="zh-CN" altLang="zh-CN" sz="2400" b="0" dirty="0"/>
                  <a:t>斯蒂尔切斯</a:t>
                </a:r>
                <a:r>
                  <a:rPr lang="en-US" altLang="zh-CN" sz="2400" b="0" dirty="0"/>
                  <a:t>(R-S)</a:t>
                </a:r>
                <a:r>
                  <a:rPr lang="zh-CN" altLang="zh-CN" sz="2400" b="0" dirty="0"/>
                  <a:t>积分。</a:t>
                </a:r>
                <a:r>
                  <a:rPr lang="en-US" altLang="zh-CN" sz="2400" b="0" dirty="0"/>
                  <a:t> Riemann-</a:t>
                </a:r>
                <a:r>
                  <a:rPr lang="en-US" altLang="zh-CN" sz="2400" b="0" dirty="0" err="1"/>
                  <a:t>Stieltjes</a:t>
                </a:r>
                <a:r>
                  <a:rPr lang="en-US" altLang="zh-CN" sz="2400" b="0" dirty="0"/>
                  <a:t> integral</a:t>
                </a:r>
              </a:p>
              <a:p>
                <a:pPr marL="0" indent="0">
                  <a:buNone/>
                </a:pPr>
                <a:r>
                  <a:rPr lang="en-US" altLang="zh-CN" b="0" dirty="0"/>
                  <a:t>    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8BA386C-C18E-4B08-966E-278AB79A83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9552" y="1174988"/>
                <a:ext cx="7975798" cy="4486261"/>
              </a:xfrm>
              <a:blipFill>
                <a:blip r:embed="rId3"/>
                <a:stretch>
                  <a:fillRect l="-1223" t="-1495" r="-3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574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AD90002-FF1E-4D18-A2E4-19418647E0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1519" y="332656"/>
                <a:ext cx="8695053" cy="5832648"/>
              </a:xfrm>
            </p:spPr>
            <p:txBody>
              <a:bodyPr/>
              <a:lstStyle/>
              <a:p>
                <a:pPr marL="0" indent="0">
                  <a:spcBef>
                    <a:spcPct val="20000"/>
                  </a:spcBef>
                  <a:buNone/>
                </a:pPr>
                <a:r>
                  <a:rPr lang="en-US" altLang="zh-CN" sz="2800" b="0" dirty="0"/>
                  <a:t>1</a:t>
                </a:r>
                <a:r>
                  <a:rPr lang="zh-CN" altLang="en-US" sz="2800" b="0" dirty="0"/>
                  <a:t>）</a:t>
                </a:r>
                <a:r>
                  <a:rPr lang="zh-CN" altLang="zh-CN" sz="2800" b="0" dirty="0"/>
                  <a:t>离散型随机变量</a:t>
                </a:r>
                <a:r>
                  <a:rPr lang="en-US" altLang="zh-CN" sz="2800" b="0" dirty="0"/>
                  <a:t>X</a:t>
                </a:r>
                <a:r>
                  <a:rPr lang="zh-CN" altLang="zh-CN" sz="2800" b="0" dirty="0"/>
                  <a:t>的分布律为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b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800" b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800" b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b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800" b="0">
                        <a:latin typeface="Cambria Math" panose="02040503050406030204" pitchFamily="18" charset="0"/>
                      </a:rPr>
                      <m:t>}</m:t>
                    </m:r>
                    <m:r>
                      <a:rPr lang="zh-CN" altLang="en-US" sz="2800" b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800" b="0" dirty="0"/>
                  <a:t> </a:t>
                </a:r>
              </a:p>
              <a:p>
                <a:pPr marL="0" indent="0">
                  <a:spcBef>
                    <a:spcPct val="20000"/>
                  </a:spcBef>
                  <a:buNone/>
                </a:pPr>
                <a:r>
                  <a:rPr lang="en-US" altLang="zh-CN" sz="2800" b="0" i="1" dirty="0"/>
                  <a:t>        k</a:t>
                </a:r>
                <a:r>
                  <a:rPr lang="en-US" altLang="zh-CN" sz="2800" b="0" dirty="0"/>
                  <a:t>=1,2…</a:t>
                </a:r>
                <a:r>
                  <a:rPr lang="zh-CN" altLang="en-US" sz="2800" b="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800" b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800" b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zh-CN" altLang="zh-CN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CN" altLang="zh-CN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800" b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800" b="0" dirty="0"/>
                  <a:t>  </a:t>
                </a:r>
                <a:r>
                  <a:rPr lang="zh-CN" altLang="zh-CN" sz="2800" b="0" dirty="0"/>
                  <a:t>为随机变量</a:t>
                </a:r>
                <a:r>
                  <a:rPr lang="en-US" altLang="zh-CN" sz="2800" b="0" dirty="0"/>
                  <a:t>X</a:t>
                </a:r>
                <a:r>
                  <a:rPr lang="zh-CN" altLang="zh-CN" sz="2800" b="0" dirty="0"/>
                  <a:t>的数学</a:t>
                </a:r>
                <a:endParaRPr lang="en-US" altLang="zh-CN" sz="2800" b="0" dirty="0"/>
              </a:p>
              <a:p>
                <a:pPr marL="0" indent="0">
                  <a:spcBef>
                    <a:spcPct val="20000"/>
                  </a:spcBef>
                  <a:buNone/>
                </a:pPr>
                <a:r>
                  <a:rPr lang="en-US" altLang="zh-CN" sz="2800" b="0" dirty="0"/>
                  <a:t>        </a:t>
                </a:r>
                <a:r>
                  <a:rPr lang="zh-CN" altLang="zh-CN" sz="2800" b="0" dirty="0"/>
                  <a:t>期望或均值。</a:t>
                </a:r>
              </a:p>
              <a:p>
                <a:pPr marL="0" indent="0">
                  <a:buNone/>
                </a:pPr>
                <a:endParaRPr lang="en-US" altLang="zh-CN" sz="2800" b="0" dirty="0"/>
              </a:p>
              <a:p>
                <a:pPr marL="0" indent="0">
                  <a:spcBef>
                    <a:spcPct val="20000"/>
                  </a:spcBef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b="0" dirty="0"/>
                      <m:t>2</m:t>
                    </m:r>
                    <m:r>
                      <m:rPr>
                        <m:nor/>
                      </m:rPr>
                      <a:rPr lang="zh-CN" altLang="en-US" sz="2800" b="0" dirty="0"/>
                      <m:t>）</m:t>
                    </m:r>
                  </m:oMath>
                </a14:m>
                <a:r>
                  <a:rPr lang="zh-CN" altLang="zh-CN" sz="2800" b="0" dirty="0"/>
                  <a:t>若连续型随机变量</a:t>
                </a:r>
                <a:r>
                  <a:rPr lang="en-US" altLang="zh-CN" sz="2800" b="0" dirty="0"/>
                  <a:t>X</a:t>
                </a:r>
                <a:r>
                  <a:rPr lang="zh-CN" altLang="zh-CN" sz="2800" b="0" dirty="0"/>
                  <a:t>的</a:t>
                </a:r>
                <a:r>
                  <a:rPr lang="en-US" altLang="zh-CN" sz="2800" b="0" dirty="0"/>
                  <a:t>PDF</a:t>
                </a:r>
                <a:r>
                  <a:rPr lang="zh-CN" altLang="zh-CN" sz="2800" b="0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800" b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800" b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800" b="0" dirty="0"/>
                  <a:t>，</a:t>
                </a:r>
                <a:endParaRPr lang="en-US" altLang="zh-CN" sz="2800" b="0" dirty="0"/>
              </a:p>
              <a:p>
                <a:pPr marL="0" indent="0">
                  <a:spcBef>
                    <a:spcPct val="20000"/>
                  </a:spcBef>
                  <a:buNone/>
                </a:pPr>
                <a:r>
                  <a:rPr lang="en-US" altLang="zh-CN" sz="2800" b="0" dirty="0"/>
                  <a:t>  </a:t>
                </a:r>
                <a14:m>
                  <m:oMath xmlns:m="http://schemas.openxmlformats.org/officeDocument/2006/math">
                    <m:r>
                      <a:rPr lang="en-US" altLang="zh-CN" sz="2800" b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8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sz="2800" b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800" b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zh-CN" altLang="zh-CN" sz="2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0">
                                <a:latin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zh-CN" sz="2800" b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800" b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800" b="0" dirty="0"/>
                  <a:t>  </a:t>
                </a:r>
                <a:r>
                  <a:rPr lang="zh-CN" altLang="zh-CN" sz="2800" b="0" dirty="0"/>
                  <a:t>为随机变量</a:t>
                </a:r>
                <a:r>
                  <a:rPr lang="en-US" altLang="zh-CN" sz="2800" b="0" dirty="0"/>
                  <a:t>X</a:t>
                </a:r>
                <a:r>
                  <a:rPr lang="zh-CN" altLang="zh-CN" sz="2800" b="0" dirty="0"/>
                  <a:t>的数学期望</a:t>
                </a:r>
                <a:endParaRPr lang="en-US" altLang="zh-CN" sz="2800" b="0" dirty="0"/>
              </a:p>
              <a:p>
                <a:pPr marL="0" indent="0">
                  <a:spcBef>
                    <a:spcPct val="20000"/>
                  </a:spcBef>
                  <a:buNone/>
                </a:pPr>
                <a:r>
                  <a:rPr lang="en-US" altLang="zh-CN" sz="2800" b="0" dirty="0"/>
                  <a:t>        </a:t>
                </a:r>
                <a:r>
                  <a:rPr lang="zh-CN" altLang="zh-CN" sz="2800" b="0" dirty="0"/>
                  <a:t>或均值。</a:t>
                </a:r>
                <a:r>
                  <a:rPr lang="en-US" altLang="zh-CN" sz="2800" b="0" dirty="0"/>
                  <a:t>        </a:t>
                </a:r>
              </a:p>
              <a:p>
                <a:pPr marL="0" indent="0">
                  <a:spcBef>
                    <a:spcPct val="20000"/>
                  </a:spcBef>
                  <a:buNone/>
                </a:pPr>
                <a:r>
                  <a:rPr lang="en-US" altLang="zh-CN" sz="2800" b="0" dirty="0"/>
                  <a:t> </a:t>
                </a:r>
              </a:p>
              <a:p>
                <a:pPr>
                  <a:spcBef>
                    <a:spcPct val="20000"/>
                  </a:spcBef>
                  <a:buFont typeface="Wingdings" panose="05000000000000000000" pitchFamily="2" charset="2"/>
                  <a:buChar char="u"/>
                </a:pPr>
                <a:r>
                  <a:rPr lang="en-US" altLang="zh-CN" sz="2800" b="0" dirty="0"/>
                  <a:t>     </a:t>
                </a:r>
                <a:r>
                  <a:rPr lang="zh-CN" altLang="zh-CN" sz="2800" b="0" dirty="0"/>
                  <a:t>对随机变量的所有取值求和，加权系数为此值的概率</a:t>
                </a:r>
                <a:r>
                  <a:rPr lang="zh-CN" altLang="en-US" sz="2800" b="0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AD90002-FF1E-4D18-A2E4-19418647E0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19" y="332656"/>
                <a:ext cx="8695053" cy="5832648"/>
              </a:xfrm>
              <a:blipFill>
                <a:blip r:embed="rId2"/>
                <a:stretch>
                  <a:fillRect l="-1402" t="-13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82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87A7DDE-E6EE-404C-A70B-ED9D81AC1CAF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51520" y="188640"/>
                <a:ext cx="8601535" cy="465512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         2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随机变量函数的数学期望</a:t>
                </a:r>
                <a:r>
                  <a:rPr lang="x-none" altLang="zh-CN" sz="2400" dirty="0">
                    <a:solidFill>
                      <a:srgbClr val="FF0000"/>
                    </a:solidFill>
                  </a:rPr>
                  <a:t>  </a:t>
                </a:r>
                <a:endParaRPr lang="zh-CN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sz="2400" b="0" dirty="0">
                    <a:solidFill>
                      <a:schemeClr val="accent2"/>
                    </a:solidFill>
                  </a:rPr>
                  <a:t>1</a:t>
                </a:r>
                <a:r>
                  <a:rPr lang="zh-CN" altLang="en-US" sz="2400" b="0" dirty="0">
                    <a:solidFill>
                      <a:schemeClr val="accent2"/>
                    </a:solidFill>
                  </a:rPr>
                  <a:t>）</a:t>
                </a:r>
                <a:r>
                  <a:rPr lang="zh-CN" altLang="zh-CN" sz="2400" b="0" dirty="0">
                    <a:solidFill>
                      <a:schemeClr val="accent2"/>
                    </a:solidFill>
                  </a:rPr>
                  <a:t>单个随机变量函数的期望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400" b="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0" dirty="0"/>
                  <a:t>（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0" dirty="0"/>
                  <a:t>连续函数）利用</a:t>
                </a:r>
                <a:r>
                  <a:rPr lang="en-US" altLang="zh-CN" sz="2400" b="0" i="1" dirty="0"/>
                  <a:t>X</a:t>
                </a:r>
                <a:r>
                  <a:rPr lang="zh-CN" altLang="zh-CN" sz="2400" b="0" dirty="0"/>
                  <a:t>的分布求</a:t>
                </a:r>
                <a:r>
                  <a:rPr lang="en-US" altLang="zh-CN" sz="2400" b="0" i="1" dirty="0"/>
                  <a:t>Y</a:t>
                </a:r>
                <a:r>
                  <a:rPr lang="zh-CN" altLang="zh-CN" sz="2400" b="0" dirty="0"/>
                  <a:t>的期望，间接求</a:t>
                </a:r>
                <a:r>
                  <a:rPr lang="en-US" altLang="zh-CN" sz="2400" b="0" i="1" dirty="0"/>
                  <a:t>Y</a:t>
                </a:r>
                <a:r>
                  <a:rPr lang="zh-CN" altLang="zh-CN" sz="2400" b="0" dirty="0"/>
                  <a:t>分布。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b="0" dirty="0"/>
                  <a:t>（</a:t>
                </a:r>
                <a:r>
                  <a:rPr lang="en-US" altLang="zh-CN" sz="2400" b="0" dirty="0"/>
                  <a:t>1</a:t>
                </a:r>
                <a:r>
                  <a:rPr lang="zh-CN" altLang="en-US" sz="2400" b="0" dirty="0"/>
                  <a:t>）</a:t>
                </a:r>
                <a:r>
                  <a:rPr lang="zh-CN" altLang="zh-CN" sz="2400" b="0" dirty="0"/>
                  <a:t>若</a:t>
                </a:r>
                <a:r>
                  <a:rPr lang="zh-CN" altLang="zh-CN" sz="2400" b="0" u="sng" dirty="0"/>
                  <a:t>离散型随机变量</a:t>
                </a:r>
                <a:r>
                  <a:rPr lang="en-US" altLang="zh-CN" sz="2400" b="0" i="1" dirty="0"/>
                  <a:t>X</a:t>
                </a:r>
                <a:r>
                  <a:rPr lang="zh-CN" altLang="zh-CN" sz="2400" b="0" dirty="0"/>
                  <a:t>的分布律为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2400" b="0" dirty="0"/>
                  <a:t>，（</a:t>
                </a:r>
                <a:r>
                  <a:rPr lang="en-US" altLang="zh-CN" sz="2400" b="0" i="1" dirty="0" err="1"/>
                  <a:t>i</a:t>
                </a:r>
                <a:r>
                  <a:rPr lang="en-US" altLang="zh-CN" sz="2400" b="0" dirty="0"/>
                  <a:t>=1,2…</a:t>
                </a:r>
                <a:r>
                  <a:rPr lang="zh-CN" altLang="zh-CN" sz="2400" b="0" dirty="0"/>
                  <a:t>）</a:t>
                </a:r>
                <a:r>
                  <a:rPr lang="en-US" altLang="zh-CN" sz="2400" b="0" dirty="0"/>
                  <a:t>,               </a:t>
                </a:r>
                <a:r>
                  <a:rPr lang="zh-CN" altLang="zh-CN" sz="2400" b="0" dirty="0"/>
                  <a:t>当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)|</m:t>
                        </m:r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zh-CN" altLang="zh-CN" sz="2400" b="0" dirty="0"/>
                  <a:t>时，则有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b="0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)⋅</m:t>
                        </m:r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400" b="0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b="0" dirty="0"/>
                  <a:t>（</a:t>
                </a:r>
                <a:r>
                  <a:rPr lang="en-US" altLang="zh-CN" sz="2400" b="0" dirty="0"/>
                  <a:t>2</a:t>
                </a:r>
                <a:r>
                  <a:rPr lang="zh-CN" altLang="en-US" sz="2400" b="0" dirty="0"/>
                  <a:t>）</a:t>
                </a:r>
                <a:r>
                  <a:rPr lang="zh-CN" altLang="zh-CN" sz="2400" b="0" dirty="0"/>
                  <a:t>若</a:t>
                </a:r>
                <a:r>
                  <a:rPr lang="zh-CN" altLang="zh-CN" sz="2400" b="0" u="sng" dirty="0"/>
                  <a:t>连续型随机变量</a:t>
                </a:r>
                <a:r>
                  <a:rPr lang="en-US" altLang="zh-CN" sz="2400" b="0" i="1" dirty="0"/>
                  <a:t>X</a:t>
                </a:r>
                <a:r>
                  <a:rPr lang="zh-CN" altLang="zh-CN" sz="2400" b="0" dirty="0"/>
                  <a:t>的</a:t>
                </a:r>
                <a:r>
                  <a:rPr lang="en-US" altLang="zh-CN" sz="2400" b="0" dirty="0"/>
                  <a:t>PDF</a:t>
                </a:r>
                <a:r>
                  <a:rPr lang="zh-CN" altLang="zh-CN" sz="2400" b="0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0" dirty="0"/>
                  <a:t>，当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)|</m:t>
                        </m:r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zh-CN" altLang="zh-CN" sz="2400" b="0" dirty="0"/>
                  <a:t>时，则有</a:t>
                </a:r>
                <a:r>
                  <a:rPr lang="en-US" altLang="zh-CN" sz="2400" b="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zh-CN" altLang="zh-CN" sz="2400" b="0" dirty="0"/>
                  <a:t> </a:t>
                </a:r>
                <a:endParaRPr lang="zh-CN" altLang="en-US" sz="2400" b="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87A7DDE-E6EE-404C-A70B-ED9D81AC1C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51520" y="188640"/>
                <a:ext cx="8601535" cy="4655128"/>
              </a:xfrm>
              <a:blipFill>
                <a:blip r:embed="rId2"/>
                <a:stretch>
                  <a:fillRect l="-1063" t="-1440" r="-1063" b="-273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68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7E725A-DD98-4575-AE1C-695AA2A78DF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1427" y="548680"/>
                <a:ext cx="8241146" cy="4634345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400" b="0" dirty="0">
                    <a:solidFill>
                      <a:schemeClr val="accent2"/>
                    </a:solidFill>
                  </a:rPr>
                  <a:t>     2</a:t>
                </a:r>
                <a:r>
                  <a:rPr lang="zh-CN" altLang="en-US" sz="2400" b="0" dirty="0">
                    <a:solidFill>
                      <a:schemeClr val="accent2"/>
                    </a:solidFill>
                  </a:rPr>
                  <a:t>）</a:t>
                </a:r>
                <a:r>
                  <a:rPr lang="zh-CN" altLang="zh-CN" sz="2400" b="0" dirty="0">
                    <a:solidFill>
                      <a:schemeClr val="accent2"/>
                    </a:solidFill>
                  </a:rPr>
                  <a:t>两个随机变量函数的期望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400" b="0" dirty="0"/>
                  <a:t>          </a:t>
                </a:r>
                <a:r>
                  <a:rPr lang="zh-CN" altLang="zh-CN" sz="2400" b="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0" dirty="0"/>
                  <a:t>（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0" dirty="0"/>
                  <a:t>连续函数）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400" b="0" dirty="0"/>
                  <a:t>（</a:t>
                </a:r>
                <a:r>
                  <a:rPr lang="en-US" altLang="zh-CN" sz="2400" b="0" dirty="0"/>
                  <a:t>1</a:t>
                </a:r>
                <a:r>
                  <a:rPr lang="zh-CN" altLang="en-US" sz="2400" b="0" dirty="0"/>
                  <a:t>）</a:t>
                </a:r>
                <a:r>
                  <a:rPr lang="zh-CN" altLang="zh-CN" sz="2400" b="0" dirty="0"/>
                  <a:t>若离散型随机变量</a:t>
                </a:r>
                <a:r>
                  <a:rPr lang="en-US" altLang="zh-CN" sz="2400" b="0" dirty="0"/>
                  <a:t> (</a:t>
                </a:r>
                <a:r>
                  <a:rPr lang="en-US" altLang="zh-CN" sz="2400" b="0" i="1" dirty="0"/>
                  <a:t>X</a:t>
                </a:r>
                <a:r>
                  <a:rPr lang="zh-CN" altLang="zh-CN" sz="2400" b="0" dirty="0"/>
                  <a:t>，</a:t>
                </a:r>
                <a:r>
                  <a:rPr lang="en-US" altLang="zh-CN" sz="2400" b="0" i="1" dirty="0"/>
                  <a:t>Y</a:t>
                </a:r>
                <a:r>
                  <a:rPr lang="en-US" altLang="zh-CN" sz="2400" b="0" dirty="0"/>
                  <a:t>) </a:t>
                </a:r>
                <a:r>
                  <a:rPr lang="zh-CN" altLang="zh-CN" sz="2400" b="0" dirty="0"/>
                  <a:t>的联合分布律为</a:t>
                </a:r>
                <a:endParaRPr lang="en-US" altLang="zh-CN" sz="2400" b="0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2400" b="0" dirty="0"/>
                  <a:t>，（</a:t>
                </a:r>
                <a:r>
                  <a:rPr lang="en-US" altLang="zh-CN" sz="2400" b="0" i="1" dirty="0" err="1"/>
                  <a:t>i</a:t>
                </a:r>
                <a:r>
                  <a:rPr lang="en-US" altLang="zh-CN" sz="2400" b="0" dirty="0"/>
                  <a:t>=1,2…</a:t>
                </a:r>
                <a:r>
                  <a:rPr lang="zh-CN" altLang="zh-CN" sz="2400" b="0" dirty="0"/>
                  <a:t>，</a:t>
                </a:r>
                <a:r>
                  <a:rPr lang="en-US" altLang="zh-CN" sz="2400" b="0" i="1" dirty="0"/>
                  <a:t>j</a:t>
                </a:r>
                <a:r>
                  <a:rPr lang="en-US" altLang="zh-CN" sz="2400" b="0" dirty="0"/>
                  <a:t>=1,2…</a:t>
                </a:r>
                <a:r>
                  <a:rPr lang="zh-CN" altLang="zh-CN" sz="2400" b="0" dirty="0"/>
                  <a:t>）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2400" b="0" dirty="0"/>
                  <a:t>当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   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)|</m:t>
                            </m:r>
                            <m:sSub>
                              <m:sSubPr>
                                <m:ctrlPr>
                                  <a:rPr lang="zh-CN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&lt;∞</m:t>
                        </m:r>
                      </m:e>
                    </m:nary>
                  </m:oMath>
                </a14:m>
                <a:r>
                  <a:rPr lang="zh-CN" altLang="zh-CN" sz="2400" b="0" dirty="0"/>
                  <a:t>时，则有</a:t>
                </a:r>
                <a:endParaRPr lang="en-US" altLang="zh-CN" sz="2400" b="0" dirty="0"/>
              </a:p>
              <a:p>
                <a:pPr marL="0" indent="0" algn="ctr">
                  <a:lnSpc>
                    <a:spcPct val="120000"/>
                  </a:lnSpc>
                  <a:buNone/>
                </a:pPr>
                <a:r>
                  <a:rPr lang="zh-CN" altLang="zh-CN" sz="2400" b="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hr m:val="∑"/>
                        <m:supHide m:val="on"/>
                        <m:ctrlPr>
                          <a:rPr lang="zh-CN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zh-CN" altLang="zh-CN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zh-CN" altLang="zh-CN" sz="24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)⋅</m:t>
                            </m:r>
                            <m:sSub>
                              <m:sSubPr>
                                <m:ctrlPr>
                                  <a:rPr lang="zh-CN" altLang="zh-CN" sz="24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altLang="zh-CN" sz="2400" b="0" dirty="0"/>
                  <a:t> </a:t>
                </a:r>
                <a:endParaRPr lang="zh-CN" altLang="zh-CN" sz="24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400" b="0" dirty="0"/>
                  <a:t>（</a:t>
                </a:r>
                <a:r>
                  <a:rPr lang="en-US" altLang="zh-CN" sz="2400" b="0" dirty="0"/>
                  <a:t>2</a:t>
                </a:r>
                <a:r>
                  <a:rPr lang="zh-CN" altLang="en-US" sz="2400" b="0" dirty="0"/>
                  <a:t>）</a:t>
                </a:r>
                <a:r>
                  <a:rPr lang="zh-CN" altLang="zh-CN" sz="2400" b="0" dirty="0"/>
                  <a:t>若连续型随机变量</a:t>
                </a:r>
                <a:r>
                  <a:rPr lang="en-US" altLang="zh-CN" sz="2400" b="0" dirty="0"/>
                  <a:t>(</a:t>
                </a:r>
                <a:r>
                  <a:rPr lang="en-US" altLang="zh-CN" sz="2400" b="0" i="1" dirty="0"/>
                  <a:t>X</a:t>
                </a:r>
                <a:r>
                  <a:rPr lang="zh-CN" altLang="zh-CN" sz="2400" b="0" dirty="0"/>
                  <a:t>，</a:t>
                </a:r>
                <a:r>
                  <a:rPr lang="en-US" altLang="zh-CN" sz="2400" b="0" i="1" dirty="0"/>
                  <a:t>Y</a:t>
                </a:r>
                <a:r>
                  <a:rPr lang="en-US" altLang="zh-CN" sz="2400" b="0" dirty="0"/>
                  <a:t>)</a:t>
                </a:r>
                <a:r>
                  <a:rPr lang="zh-CN" altLang="zh-CN" sz="2400" b="0" dirty="0"/>
                  <a:t>的联合</a:t>
                </a:r>
                <a:r>
                  <a:rPr lang="en-US" altLang="zh-CN" sz="2400" b="0" dirty="0"/>
                  <a:t>PDF</a:t>
                </a:r>
                <a:r>
                  <a:rPr lang="zh-CN" altLang="zh-CN" sz="2400" b="0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en-US" sz="2400" b="0" dirty="0"/>
                  <a:t>，当  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)|</m:t>
                            </m:r>
                            <m:sSub>
                              <m:sSubPr>
                                <m:ctrlPr>
                                  <a:rPr lang="zh-CN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𝑋𝑌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𝑑𝑦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&lt;∞</m:t>
                        </m:r>
                      </m:e>
                    </m:nary>
                  </m:oMath>
                </a14:m>
                <a:r>
                  <a:rPr lang="en-US" altLang="zh-CN" sz="2400" b="0" dirty="0"/>
                  <a:t>   </a:t>
                </a:r>
                <a:r>
                  <a:rPr lang="zh-CN" altLang="en-US" sz="2400" b="0" dirty="0"/>
                  <a:t>时，</a:t>
                </a:r>
                <a:r>
                  <a:rPr lang="zh-CN" altLang="zh-CN" sz="2400" b="0" dirty="0"/>
                  <a:t>有</a:t>
                </a:r>
                <a:r>
                  <a:rPr lang="en-US" altLang="zh-CN" sz="2400" b="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400" b="0" dirty="0"/>
                  <a:t>  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)]=</m:t>
                    </m:r>
                    <m:nary>
                      <m:naryPr>
                        <m:ctrlPr>
                          <a:rPr lang="zh-CN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zh-CN" altLang="zh-CN" sz="2400" b="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zh-CN" altLang="zh-CN" sz="2400" b="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𝑋𝑌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𝑑𝑥</m:t>
                            </m:r>
                          </m:e>
                        </m:nary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𝑑𝑦</m:t>
                        </m:r>
                      </m:e>
                    </m:nary>
                  </m:oMath>
                </a14:m>
                <a:endParaRPr lang="zh-CN" altLang="en-US" sz="2400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7E725A-DD98-4575-AE1C-695AA2A78D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1427" y="548680"/>
                <a:ext cx="8241146" cy="4634345"/>
              </a:xfrm>
              <a:blipFill>
                <a:blip r:embed="rId2"/>
                <a:stretch>
                  <a:fillRect l="-1109" t="-789" b="-5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072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80387D-4263-4EB8-9352-F1C7E9C0BC2D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38990" y="260648"/>
                <a:ext cx="8869513" cy="6048672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lnSpc>
                    <a:spcPct val="140000"/>
                  </a:lnSpc>
                  <a:buNone/>
                </a:pPr>
                <a:r>
                  <a:rPr lang="zh-CN" altLang="en-US" sz="4400" dirty="0">
                    <a:solidFill>
                      <a:schemeClr val="accent2"/>
                    </a:solidFill>
                  </a:rPr>
                  <a:t>例：</a:t>
                </a:r>
                <a:r>
                  <a:rPr lang="zh-CN" altLang="zh-CN" sz="4400" dirty="0"/>
                  <a:t>求两</a:t>
                </a:r>
                <a:r>
                  <a:rPr lang="zh-CN" altLang="en-US" sz="4400" dirty="0"/>
                  <a:t>个</a:t>
                </a:r>
                <a:r>
                  <a:rPr lang="zh-CN" altLang="zh-CN" sz="4400" dirty="0"/>
                  <a:t>连续随机变量线性组合的数学期望</a:t>
                </a:r>
                <a:r>
                  <a:rPr lang="zh-CN" altLang="en-US" sz="4400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4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4400" dirty="0"/>
                  <a:t> </a:t>
                </a:r>
                <a:r>
                  <a:rPr lang="zh-CN" altLang="en-US" sz="4400" dirty="0"/>
                  <a:t>，</a:t>
                </a:r>
                <a:r>
                  <a:rPr lang="en-US" altLang="zh-CN" sz="4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4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4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4400" i="1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zh-CN" altLang="zh-CN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4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4400" i="1">
                        <a:latin typeface="Cambria Math" panose="02040503050406030204" pitchFamily="18" charset="0"/>
                      </a:rPr>
                      <m:t>𝑏</m:t>
                    </m:r>
                    <m:sSub>
                      <m:sSubPr>
                        <m:ctrlPr>
                          <a:rPr lang="zh-CN" altLang="zh-CN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zh-CN" altLang="zh-CN" sz="4400" dirty="0"/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4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4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4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4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44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44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4400" i="1">
                          <a:latin typeface="Cambria Math" panose="02040503050406030204" pitchFamily="18" charset="0"/>
                        </a:rPr>
                        <m:t>𝑎</m:t>
                      </m:r>
                      <m:sSub>
                        <m:sSubPr>
                          <m:ctrlPr>
                            <a:rPr lang="zh-CN" altLang="zh-CN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4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4400" i="1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zh-CN" altLang="zh-CN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4400" i="1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trlPr>
                            <a:rPr lang="zh-CN" altLang="zh-CN" sz="4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CN" altLang="zh-CN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4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4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4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4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4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en-US" altLang="zh-CN" sz="4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sz="4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  <m:nary>
                        <m:naryPr>
                          <m:ctrlPr>
                            <a:rPr lang="zh-CN" altLang="zh-CN" sz="4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nary>
                        <m:naryPr>
                          <m:ctrlPr>
                            <a:rPr lang="zh-CN" altLang="zh-CN" sz="4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zh-CN" sz="4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4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44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zh-CN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4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br>
                  <a:rPr lang="zh-CN" altLang="zh-CN" sz="4400" dirty="0"/>
                </a:br>
                <a14:m>
                  <m:oMath xmlns:m="http://schemas.openxmlformats.org/officeDocument/2006/math">
                    <m:r>
                      <a:rPr lang="en-US" altLang="zh-CN" sz="4400" b="1" i="0" smtClean="0">
                        <a:latin typeface="Cambria Math" panose="02040503050406030204" pitchFamily="18" charset="0"/>
                      </a:rPr>
                      <m:t>            </m:t>
                    </m:r>
                    <m:r>
                      <a:rPr lang="en-US" altLang="zh-CN" sz="44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4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sz="4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sSubPr>
                            <m:ctrlPr>
                              <a:rPr lang="zh-CN" altLang="zh-CN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zh-CN" sz="4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4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4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trlPr>
                              <a:rPr lang="zh-CN" altLang="zh-CN" sz="4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sSub>
                              <m:sSubPr>
                                <m:ctrlPr>
                                  <a:rPr lang="zh-CN" altLang="zh-CN" sz="4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4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4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400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zh-CN" sz="4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4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2)</m:t>
                            </m:r>
                            <m:r>
                              <a:rPr lang="en-US" altLang="zh-CN" sz="4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sSub>
                              <m:sSubPr>
                                <m:ctrlPr>
                                  <a:rPr lang="zh-CN" altLang="zh-CN" sz="4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4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4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nary>
                      </m:e>
                    </m:nary>
                    <m:r>
                      <a:rPr lang="en-US" altLang="zh-CN" sz="4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4400" i="1">
                        <a:latin typeface="Cambria Math" panose="02040503050406030204" pitchFamily="18" charset="0"/>
                      </a:rPr>
                      <m:t>𝑎𝐸</m:t>
                    </m:r>
                    <m:r>
                      <a:rPr lang="en-US" altLang="zh-CN" sz="44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4400" i="1">
                        <a:latin typeface="Cambria Math" panose="02040503050406030204" pitchFamily="18" charset="0"/>
                      </a:rPr>
                      <m:t>]+</m:t>
                    </m:r>
                    <m:r>
                      <a:rPr lang="en-US" altLang="zh-CN" sz="4400" i="1">
                        <a:latin typeface="Cambria Math" panose="02040503050406030204" pitchFamily="18" charset="0"/>
                      </a:rPr>
                      <m:t>𝑏𝐸</m:t>
                    </m:r>
                    <m:r>
                      <a:rPr lang="en-US" altLang="zh-CN" sz="44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4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4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4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4400" dirty="0"/>
                  <a:t> </a:t>
                </a:r>
                <a:endParaRPr lang="zh-CN" altLang="zh-CN" sz="4400" dirty="0"/>
              </a:p>
              <a:p>
                <a:pPr>
                  <a:lnSpc>
                    <a:spcPct val="140000"/>
                  </a:lnSpc>
                  <a:buFont typeface="Wingdings" panose="05000000000000000000" pitchFamily="2" charset="2"/>
                  <a:buChar char="u"/>
                </a:pPr>
                <a:r>
                  <a:rPr lang="zh-CN" altLang="en-US" sz="5100" dirty="0">
                    <a:solidFill>
                      <a:srgbClr val="FF0000"/>
                    </a:solidFill>
                  </a:rPr>
                  <a:t>结论：</a:t>
                </a:r>
                <a:r>
                  <a:rPr lang="zh-CN" altLang="zh-CN" sz="5100" dirty="0">
                    <a:solidFill>
                      <a:srgbClr val="FF0000"/>
                    </a:solidFill>
                  </a:rPr>
                  <a:t>两随机变量线性组合的数学期望为各自数学期望的线性组合。</a:t>
                </a:r>
              </a:p>
              <a:p>
                <a:pPr>
                  <a:lnSpc>
                    <a:spcPct val="140000"/>
                  </a:lnSpc>
                  <a:buFont typeface="Wingdings" panose="05000000000000000000" pitchFamily="2" charset="2"/>
                  <a:buChar char="u"/>
                </a:pPr>
                <a:r>
                  <a:rPr lang="zh-CN" altLang="zh-CN" sz="5100" dirty="0">
                    <a:solidFill>
                      <a:srgbClr val="FF0000"/>
                    </a:solidFill>
                  </a:rPr>
                  <a:t>推广 </a:t>
                </a:r>
                <a:r>
                  <a:rPr lang="zh-CN" altLang="en-US" sz="5100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zh-CN" sz="5100" dirty="0">
                    <a:solidFill>
                      <a:srgbClr val="FF0000"/>
                    </a:solidFill>
                  </a:rPr>
                  <a:t>多个随机变量线性组合的数学期望为各自数学期望的线性组合。</a:t>
                </a:r>
              </a:p>
              <a:p>
                <a:pPr marL="0" indent="0">
                  <a:lnSpc>
                    <a:spcPct val="140000"/>
                  </a:lnSpc>
                  <a:buNone/>
                </a:pPr>
                <a:r>
                  <a:rPr lang="en-US" altLang="zh-CN" sz="5100" dirty="0"/>
                  <a:t>      </a:t>
                </a:r>
                <a:r>
                  <a:rPr lang="zh-CN" altLang="zh-CN" sz="5100" dirty="0"/>
                  <a:t>即求数学期望为线性运算</a:t>
                </a:r>
                <a:endParaRPr lang="en-US" altLang="zh-CN" sz="5100" dirty="0"/>
              </a:p>
              <a:p>
                <a:pPr marL="0" indent="0" algn="ctr">
                  <a:lnSpc>
                    <a:spcPct val="140000"/>
                  </a:lnSpc>
                  <a:buNone/>
                </a:pPr>
                <a:r>
                  <a:rPr lang="zh-CN" altLang="zh-CN" sz="5100" dirty="0"/>
                  <a:t> </a:t>
                </a:r>
                <a14:m>
                  <m:oMath xmlns:m="http://schemas.openxmlformats.org/officeDocument/2006/math">
                    <m:r>
                      <a:rPr lang="en-US" altLang="zh-CN" sz="51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5100" i="1">
                        <a:latin typeface="Cambria Math" panose="02040503050406030204" pitchFamily="18" charset="0"/>
                      </a:rPr>
                      <m:t>[</m:t>
                    </m:r>
                    <m:nary>
                      <m:naryPr>
                        <m:chr m:val="∑"/>
                        <m:ctrlPr>
                          <a:rPr lang="zh-CN" altLang="zh-CN" sz="51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51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51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51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zh-CN" altLang="zh-CN" sz="5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5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5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5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51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5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51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zh-CN" sz="51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zh-CN" sz="51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51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51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5100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zh-CN" altLang="zh-CN" sz="5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51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5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5100" i="1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51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zh-CN" altLang="zh-CN" sz="51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51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51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51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endParaRPr lang="zh-CN" altLang="en-US" sz="23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F80387D-4263-4EB8-9352-F1C7E9C0BC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38990" y="260648"/>
                <a:ext cx="8869513" cy="6048672"/>
              </a:xfrm>
              <a:blipFill>
                <a:blip r:embed="rId2"/>
                <a:stretch>
                  <a:fillRect l="-893" t="-504" r="-8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231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2BD5720-9CBC-435D-B78F-75145CE35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188640"/>
            <a:ext cx="8250559" cy="839744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dirty="0"/>
              <a:t>1.4.2 </a:t>
            </a:r>
            <a:r>
              <a:rPr lang="zh-CN" altLang="zh-CN" dirty="0"/>
              <a:t>矩</a:t>
            </a:r>
            <a:r>
              <a:rPr lang="zh-CN" altLang="en-US" dirty="0"/>
              <a:t>（</a:t>
            </a:r>
            <a:r>
              <a:rPr lang="en-US" altLang="zh-CN" dirty="0"/>
              <a:t>Moment</a:t>
            </a:r>
            <a:r>
              <a:rPr lang="zh-CN" altLang="en-US" dirty="0"/>
              <a:t>）</a:t>
            </a:r>
            <a:r>
              <a:rPr lang="zh-CN" altLang="zh-CN" dirty="0"/>
              <a:t>与联合矩</a:t>
            </a:r>
            <a:br>
              <a:rPr lang="en-US" altLang="zh-CN" dirty="0"/>
            </a:br>
            <a:r>
              <a:rPr lang="en-US" altLang="zh-CN" dirty="0"/>
              <a:t>               </a:t>
            </a:r>
            <a:r>
              <a:rPr lang="zh-CN" altLang="zh-CN" dirty="0"/>
              <a:t>（理解为对随机变量的函数求统计平均）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C2BFA1ED-FA78-43B9-B633-677E74A869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7504" y="1124744"/>
                <a:ext cx="9036496" cy="5184576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8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800" dirty="0">
                    <a:solidFill>
                      <a:srgbClr val="FF0000"/>
                    </a:solidFill>
                  </a:rPr>
                  <a:t>一维随机变量的矩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800" dirty="0"/>
                  <a:t>1</a:t>
                </a:r>
                <a:r>
                  <a:rPr lang="zh-CN" altLang="zh-CN" sz="2800" dirty="0"/>
                  <a:t>）</a:t>
                </a:r>
                <a:r>
                  <a:rPr lang="en-US" altLang="zh-CN" sz="2800" dirty="0"/>
                  <a:t>n</a:t>
                </a:r>
                <a:r>
                  <a:rPr lang="zh-CN" altLang="zh-CN" sz="2800" dirty="0"/>
                  <a:t>阶原点矩</a:t>
                </a:r>
                <a:r>
                  <a:rPr lang="en-US" altLang="zh-CN" sz="2800" dirty="0"/>
                  <a:t>    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800" b="0" dirty="0"/>
                  <a:t>， </a:t>
                </a:r>
                <a:r>
                  <a:rPr lang="en-US" altLang="zh-CN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zh-CN" sz="2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         </m:t>
                        </m:r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nor/>
                      </m:rPr>
                      <a:rPr lang="en-US" altLang="zh-CN" sz="2800" b="0"/>
                      <m:t>   </m:t>
                    </m:r>
                    <m:r>
                      <m:rPr>
                        <m:nor/>
                      </m:rPr>
                      <a:rPr lang="en-US" altLang="zh-CN" sz="2800"/>
                      <m:t> </m:t>
                    </m:r>
                    <m:r>
                      <a:rPr lang="zh-CN" altLang="zh-CN" sz="2800">
                        <a:latin typeface="Cambria Math" panose="02040503050406030204" pitchFamily="18" charset="0"/>
                      </a:rPr>
                      <m:t>二阶原点矩，均方值</m:t>
                    </m:r>
                  </m:oMath>
                </a14:m>
                <a:r>
                  <a:rPr lang="en-US" altLang="zh-CN" sz="2800" dirty="0"/>
                  <a:t>;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      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zh-CN" altLang="zh-CN" sz="2800" i="1">
                        <a:latin typeface="Cambria Math" panose="02040503050406030204" pitchFamily="18" charset="0"/>
                      </a:rPr>
                      <m:t>阶绝对矩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：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b="0">
                        <a:latin typeface="Cambria Math" panose="02040503050406030204" pitchFamily="18" charset="0"/>
                      </a:rPr>
                      <m:t>[|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𝑋</m:t>
                    </m:r>
                    <m:sSup>
                      <m:sSupPr>
                        <m:ctrlPr>
                          <a:rPr lang="zh-CN" altLang="zh-CN" sz="28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US" altLang="zh-CN" sz="2800" b="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8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800" dirty="0"/>
                  <a:t>2</a:t>
                </a:r>
                <a:r>
                  <a:rPr lang="zh-CN" altLang="zh-CN" sz="2800" dirty="0"/>
                  <a:t>）</a:t>
                </a:r>
                <a:r>
                  <a:rPr lang="en-US" altLang="zh-CN" sz="2800" dirty="0"/>
                  <a:t>n</a:t>
                </a:r>
                <a:r>
                  <a:rPr lang="zh-CN" altLang="zh-CN" sz="2800" dirty="0"/>
                  <a:t>阶中心矩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latin typeface="Cambria Math" panose="02040503050406030204" pitchFamily="18" charset="0"/>
                      </a:rPr>
                      <m:t>       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=1,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i="1">
                        <a:latin typeface="Cambria Math" panose="02040503050406030204" pitchFamily="18" charset="0"/>
                      </a:rPr>
                      <m:t>] =</m:t>
                    </m:r>
                    <m:r>
                      <m:rPr>
                        <m:nor/>
                      </m:rPr>
                      <a:rPr lang="en-US" altLang="zh-CN" sz="2800" smtClean="0">
                        <a:solidFill>
                          <a:srgbClr val="FF0000"/>
                        </a:solidFill>
                      </a:rPr>
                      <m:t>Var</m:t>
                    </m:r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zh-CN" altLang="zh-CN" sz="28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2800" dirty="0"/>
                  <a:t>二阶中心矩</a:t>
                </a:r>
                <a:r>
                  <a:rPr lang="en-US" altLang="zh-CN" sz="2800" dirty="0"/>
                  <a:t>(</a:t>
                </a:r>
                <a:r>
                  <a:rPr lang="zh-CN" altLang="zh-CN" sz="2800" dirty="0"/>
                  <a:t>方差</a:t>
                </a:r>
                <a:r>
                  <a:rPr lang="zh-CN" altLang="en-US" sz="2800" dirty="0"/>
                  <a:t>）</a:t>
                </a:r>
                <a:r>
                  <a:rPr lang="zh-CN" altLang="zh-CN" sz="2800" dirty="0"/>
                  <a:t>，表示随机变量的取值相对于均值分散程度的度量。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2800" dirty="0"/>
                  <a:t>小：取值集中在均值附近</a:t>
                </a:r>
                <a:r>
                  <a:rPr lang="en-US" altLang="zh-CN" sz="2800" dirty="0"/>
                  <a:t>  </a:t>
                </a:r>
                <a:r>
                  <a:rPr lang="zh-CN" altLang="zh-CN" sz="2800" dirty="0"/>
                  <a:t>；大：取值分散</a:t>
                </a:r>
                <a:r>
                  <a:rPr lang="zh-CN" altLang="en-US" sz="2800" dirty="0"/>
                  <a:t>；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800" dirty="0"/>
                  <a:t> </a:t>
                </a:r>
                <a:r>
                  <a:rPr lang="zh-CN" altLang="zh-CN" sz="2800" dirty="0"/>
                  <a:t>的正平方根为</a:t>
                </a:r>
                <a:r>
                  <a:rPr lang="zh-CN" altLang="zh-CN" sz="2800" dirty="0">
                    <a:solidFill>
                      <a:srgbClr val="C00000"/>
                    </a:solidFill>
                  </a:rPr>
                  <a:t>标准差</a:t>
                </a:r>
                <a14:m>
                  <m:oMath xmlns:m="http://schemas.openxmlformats.org/officeDocument/2006/math">
                    <m:r>
                      <a:rPr lang="en-US" altLang="zh-CN" sz="2800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zh-CN" altLang="zh-CN" sz="28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2800" dirty="0">
                    <a:solidFill>
                      <a:srgbClr val="FF0000"/>
                    </a:solidFill>
                  </a:rPr>
                  <a:t>均值、均方值、方差有如下的关系：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𝑉𝑎𝑟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]−(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]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800"/>
                        <m:t>        </m:t>
                      </m:r>
                      <m:r>
                        <a:rPr lang="zh-CN" altLang="zh-CN" sz="2800">
                          <a:latin typeface="Cambria Math" panose="02040503050406030204" pitchFamily="18" charset="0"/>
                        </a:rPr>
                        <m:t>即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zh-CN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2800" dirty="0"/>
                  <a:t>另：若随机变量的各阶矩都存在，则通过各阶矩可以完全描述随机变量的统计特性</a:t>
                </a:r>
                <a:r>
                  <a:rPr lang="en-US" altLang="zh-CN" sz="2800" dirty="0"/>
                  <a:t>.</a:t>
                </a:r>
                <a:endParaRPr lang="zh-CN" altLang="zh-CN" sz="2800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C2BFA1ED-FA78-43B9-B633-677E74A869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124744"/>
                <a:ext cx="9036496" cy="5184576"/>
              </a:xfrm>
              <a:blipFill>
                <a:blip r:embed="rId3"/>
                <a:stretch>
                  <a:fillRect l="-877" t="-1176" r="-5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2657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58EA99-3BD7-4564-A37E-BD5E358F66EC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 dirty="0"/>
              <a:t>讨论：下图为两个随机变量概率密度曲线，其中均值</a:t>
            </a:r>
            <a:r>
              <a:rPr lang="en-US" altLang="zh-CN" sz="2400" dirty="0"/>
              <a:t>=1</a:t>
            </a:r>
            <a:r>
              <a:rPr lang="zh-CN" altLang="en-US" sz="2400" dirty="0"/>
              <a:t>和标值差分别为</a:t>
            </a:r>
            <a:r>
              <a:rPr lang="en-US" altLang="zh-CN" sz="2400" dirty="0"/>
              <a:t>1</a:t>
            </a:r>
            <a:r>
              <a:rPr lang="zh-CN" altLang="en-US" sz="2400" dirty="0"/>
              <a:t>和</a:t>
            </a:r>
            <a:r>
              <a:rPr lang="en-US" altLang="zh-CN" sz="2400" dirty="0"/>
              <a:t>3</a:t>
            </a:r>
            <a:r>
              <a:rPr lang="zh-CN" altLang="en-US" sz="2400" dirty="0"/>
              <a:t>，你觉得哪个随机变量的随机性更强一些？为什么？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E3626F91-ACD3-42A9-9F16-D7C3B5A758DF}"/>
              </a:ext>
            </a:extLst>
          </p:cNvPr>
          <p:cNvGrpSpPr/>
          <p:nvPr/>
        </p:nvGrpSpPr>
        <p:grpSpPr>
          <a:xfrm>
            <a:off x="800677" y="2426447"/>
            <a:ext cx="4000500" cy="3000375"/>
            <a:chOff x="3445933" y="1898142"/>
            <a:chExt cx="5334000" cy="400050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911BD4D-98C5-454E-AD9D-9F3B42FD99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445933" y="1898142"/>
              <a:ext cx="5334000" cy="4000500"/>
            </a:xfrm>
            <a:prstGeom prst="rect">
              <a:avLst/>
            </a:prstGeom>
          </p:spPr>
        </p:pic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DF5F94D7-821A-4488-8607-F6598A9B0250}"/>
                </a:ext>
              </a:extLst>
            </p:cNvPr>
            <p:cNvCxnSpPr/>
            <p:nvPr/>
          </p:nvCxnSpPr>
          <p:spPr bwMode="auto">
            <a:xfrm>
              <a:off x="6412992" y="2212848"/>
              <a:ext cx="0" cy="3249168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6F28308B-77B9-451C-9F0E-01E01AD6B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962" y="2426447"/>
            <a:ext cx="400050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819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6268230-A844-4FA0-A644-9C411EB94C02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395536" y="1339453"/>
                <a:ext cx="8136904" cy="2881868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现有统计独立的随机变量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和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Y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</a:t>
                </a:r>
                <a:endParaRPr lang="en-US" altLang="zh-CN" sz="2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𝐸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[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]=1,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𝐸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[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]=3,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𝐷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[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]=2,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𝐷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[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]=5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；</a:t>
                </a:r>
                <a:endParaRPr lang="en-US" altLang="zh-CN" sz="28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则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𝐸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[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]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</a:t>
                </a:r>
                <a:r>
                  <a:rPr lang="zh-CN" altLang="en-US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:r>
                  <a:rPr lang="en-US" altLang="zh-CN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[</a:t>
                </a:r>
                <a:r>
                  <a:rPr lang="zh-CN" altLang="en-US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填空</a:t>
                </a:r>
                <a:r>
                  <a:rPr lang="en-US" altLang="zh-CN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1]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𝐸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[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−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]= </m:t>
                    </m:r>
                  </m:oMath>
                </a14:m>
                <a:r>
                  <a:rPr lang="en-US" altLang="zh-CN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[</a:t>
                </a:r>
                <a:r>
                  <a:rPr lang="zh-CN" altLang="en-US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填空</a:t>
                </a:r>
                <a:r>
                  <a:rPr lang="en-US" altLang="zh-CN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2]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,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𝐷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[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+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]= </m:t>
                    </m:r>
                  </m:oMath>
                </a14:m>
                <a:r>
                  <a:rPr lang="en-US" altLang="zh-CN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[</a:t>
                </a:r>
                <a:r>
                  <a:rPr lang="zh-CN" altLang="en-US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填空</a:t>
                </a:r>
                <a:r>
                  <a:rPr lang="en-US" altLang="zh-CN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3]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, </a:t>
                </a:r>
                <a14:m>
                  <m:oMath xmlns:m="http://schemas.openxmlformats.org/officeDocument/2006/math"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𝐸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[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𝑋𝑌</m:t>
                    </m:r>
                    <m:r>
                      <a:rPr lang="en-US" altLang="zh-CN" sz="28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]= </m:t>
                    </m:r>
                  </m:oMath>
                </a14:m>
                <a:r>
                  <a:rPr lang="en-US" altLang="zh-CN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[</a:t>
                </a:r>
                <a:r>
                  <a:rPr lang="zh-CN" altLang="en-US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填空</a:t>
                </a:r>
                <a:r>
                  <a:rPr lang="en-US" altLang="zh-CN" sz="2800" dirty="0">
                    <a:solidFill>
                      <a:srgbClr val="639EF4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4]</a:t>
                </a:r>
                <a:r>
                  <a:rPr lang="en-US" altLang="zh-CN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</a:t>
                </a:r>
                <a:r>
                  <a:rPr lang="zh-CN" altLang="en-US" sz="28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6268230-A844-4FA0-A644-9C411EB94C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395536" y="1339453"/>
                <a:ext cx="8136904" cy="2881868"/>
              </a:xfrm>
              <a:prstGeom prst="rect">
                <a:avLst/>
              </a:prstGeom>
              <a:blipFill>
                <a:blip r:embed="rId13"/>
                <a:stretch>
                  <a:fillRect l="-1573" b="-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BA86C0D6-59F9-4C48-9AF5-343DC0A62D3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6589FFF-78CF-4CA7-9200-3894326511D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1A12131-B104-4BED-BF9F-C191F2D7D3BA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8A72B49C-54E1-498B-A871-0D34432A5E22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0C96E807-1251-495C-B1FF-D4C72F5663A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D7F2349E-0EEA-44D8-AB57-E717142C3D97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516F0DBF-6651-4984-A518-C59DC6A23F29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4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158F7A72-7808-4846-AABA-1A635D8D4648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1324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2F47E13-0DD9-4831-AC84-02FB80779B28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395536" y="1333500"/>
                <a:ext cx="8424936" cy="3607668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已知随机变量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的可能取值为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−3,−1,1,3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对应的概率为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8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4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,</m:t>
                        </m:r>
                        <m:f>
                          <m:f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求：</a:t>
                </a:r>
                <a:endParaRPr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（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）随机变量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的数学期望、方差；</a:t>
                </a:r>
                <a:endParaRPr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（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）随机变量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的概率密度函数；</a:t>
                </a:r>
                <a:endParaRPr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（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3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）随机变量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Y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的数学期望和方差。</a:t>
                </a:r>
                <a:endParaRPr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A2F47E13-0DD9-4831-AC84-02FB80779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395536" y="1333500"/>
                <a:ext cx="8424936" cy="3607668"/>
              </a:xfrm>
              <a:prstGeom prst="rect">
                <a:avLst/>
              </a:prstGeom>
              <a:blipFill>
                <a:blip r:embed="rId13"/>
                <a:stretch>
                  <a:fillRect l="-11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8557E226-EB44-48F6-9328-883A51D710E4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3454B34-D2C7-4275-9C3E-E3339A1026C2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24B7C6E7-96FF-46EE-B13B-1A36C0C1442E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1AB9D768-AEBD-4D84-9071-54A40C0680B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44DA6620-7D16-4C3E-AFE2-7AC1AD879333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5DCF3B5E-E9E3-4733-AA48-7BFD9C5E3DC8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07E5E5E9-A057-4C49-AB77-B4BE63DF98C0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6C192EFA-EF14-46C1-95F3-F17B2FC424D8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70896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325815C-15A0-4550-8513-FFFA35B37DD7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73182" y="1037359"/>
                <a:ext cx="8825345" cy="458585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解：（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]=−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𝟑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0" smtClean="0">
                        <a:latin typeface="Cambria Math" panose="02040503050406030204" pitchFamily="18" charset="0"/>
                      </a:rPr>
                      <m:t>𝟑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𝑬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  <m:sSup>
                        <m:sSup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𝟒</m:t>
                          </m:r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𝟒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𝟒𝟕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𝜹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𝜹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𝜹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zh-CN" altLang="en-US" i="1">
                        <a:latin typeface="Cambria Math" panose="02040503050406030204" pitchFamily="18" charset="0"/>
                      </a:rPr>
                      <m:t>𝜹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𝑌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𝑋</m:t>
                          </m:r>
                        </m:e>
                        <m:sup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⇒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𝑓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𝑦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4</m:t>
                          </m:r>
                        </m:den>
                      </m:f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𝜹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3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4</m:t>
                          </m:r>
                        </m:den>
                      </m:f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𝜹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𝒚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𝟏𝟐</m:t>
                    </m:r>
                  </m:oMath>
                </a14:m>
                <a:r>
                  <a:rPr lang="en-US" altLang="zh-CN" dirty="0"/>
                  <a:t>.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325815C-15A0-4550-8513-FFFA35B37D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73182" y="1037359"/>
                <a:ext cx="8825345" cy="4585855"/>
              </a:xfrm>
              <a:blipFill>
                <a:blip r:embed="rId2"/>
                <a:stretch>
                  <a:fillRect l="-8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950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CF8550-4F91-4E02-B8EE-F4FD03425F41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38546" y="836713"/>
                <a:ext cx="8894618" cy="476572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rgbClr val="FF0000"/>
                    </a:solidFill>
                  </a:rPr>
                  <a:t>          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二维随机变量的联合矩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b="0" dirty="0"/>
                  <a:t>1</a:t>
                </a:r>
                <a:r>
                  <a:rPr lang="zh-CN" altLang="en-US" sz="2400" b="0" dirty="0"/>
                  <a:t>）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sz="2400" b="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阶</m:t>
                    </m:r>
                  </m:oMath>
                </a14:m>
                <a:r>
                  <a:rPr lang="zh-CN" altLang="zh-CN" sz="2400" dirty="0">
                    <a:solidFill>
                      <a:srgbClr val="C00000"/>
                    </a:solidFill>
                  </a:rPr>
                  <a:t>联合原点矩</a:t>
                </a:r>
                <a:r>
                  <a:rPr lang="en-US" altLang="zh-CN" sz="2400" dirty="0">
                    <a:solidFill>
                      <a:srgbClr val="C00000"/>
                    </a:solidFill>
                  </a:rPr>
                  <a:t>      </a:t>
                </a:r>
                <a:endParaRPr lang="en-US" altLang="zh-CN" sz="2400" i="1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b="0" dirty="0"/>
                  <a:t>   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      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b="0" i="1" dirty="0">
                    <a:latin typeface="Cambria Math" panose="02040503050406030204" pitchFamily="18" charset="0"/>
                  </a:rPr>
                  <a:t>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                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𝑛𝑘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sSup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altLang="zh-CN" sz="24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b="0" dirty="0"/>
                  <a:t>特别：</a:t>
                </a:r>
                <a:br>
                  <a:rPr lang="zh-CN" altLang="zh-CN" sz="2400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],</m:t>
                      </m:r>
                      <m:r>
                        <m:rPr>
                          <m:nor/>
                        </m:rPr>
                        <a:rPr lang="en-US" altLang="zh-CN" sz="2400" b="0"/>
                        <m:t> </m:t>
                      </m:r>
                      <m:sSub>
                        <m:sSub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zh-CN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],</m:t>
                      </m:r>
                      <m:r>
                        <m:rPr>
                          <m:nor/>
                        </m:rPr>
                        <a:rPr lang="en-US" altLang="zh-CN" sz="2400" b="0"/>
                        <m:t> </m:t>
                      </m:r>
                      <m:sSub>
                        <m:sSub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CN" sz="2400" b="0"/>
                        <m:t> </m:t>
                      </m:r>
                      <m:sSub>
                        <m:sSub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br>
                  <a:rPr lang="zh-CN" altLang="zh-CN" sz="2400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          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],</m:t>
                    </m:r>
                    <m:r>
                      <m:rPr>
                        <m:nor/>
                      </m:rPr>
                      <a:rPr lang="en-US" altLang="zh-CN" sz="2400" b="0"/>
                      <m:t> </m:t>
                    </m:r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b="0" dirty="0"/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</m:oMath>
                </a14:m>
                <a:endParaRPr lang="zh-CN" altLang="zh-CN" sz="2400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</m:oMath>
                </a14:m>
                <a:r>
                  <a:rPr lang="zh-CN" altLang="zh-CN" sz="2400" b="0" dirty="0">
                    <a:solidFill>
                      <a:srgbClr val="FF0000"/>
                    </a:solidFill>
                  </a:rPr>
                  <a:t>称为随机变量</a:t>
                </a:r>
                <a:r>
                  <a:rPr lang="en-US" altLang="zh-CN" sz="2400" b="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400" b="0" i="1" dirty="0">
                    <a:solidFill>
                      <a:srgbClr val="FF0000"/>
                    </a:solidFill>
                  </a:rPr>
                  <a:t>X</a:t>
                </a:r>
                <a:r>
                  <a:rPr lang="en-US" altLang="zh-CN" sz="2400" b="0" dirty="0">
                    <a:solidFill>
                      <a:srgbClr val="FF0000"/>
                    </a:solidFill>
                  </a:rPr>
                  <a:t>,</a:t>
                </a:r>
                <a:r>
                  <a:rPr lang="en-US" altLang="zh-CN" sz="2400" b="0" i="1" dirty="0">
                    <a:solidFill>
                      <a:srgbClr val="FF0000"/>
                    </a:solidFill>
                  </a:rPr>
                  <a:t>Y </a:t>
                </a:r>
                <a:r>
                  <a:rPr lang="zh-CN" altLang="zh-CN" sz="2400" b="0" dirty="0">
                    <a:solidFill>
                      <a:srgbClr val="FF0000"/>
                    </a:solidFill>
                  </a:rPr>
                  <a:t>的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互相关</a:t>
                </a:r>
                <a:r>
                  <a:rPr lang="zh-CN" altLang="zh-CN" sz="2400" b="0" dirty="0">
                    <a:solidFill>
                      <a:srgbClr val="FF0000"/>
                    </a:solidFill>
                  </a:rPr>
                  <a:t>，表示</a:t>
                </a:r>
                <a:r>
                  <a:rPr lang="en-US" altLang="zh-CN" sz="2400" b="0" i="1" dirty="0">
                    <a:solidFill>
                      <a:srgbClr val="FF0000"/>
                    </a:solidFill>
                  </a:rPr>
                  <a:t>X</a:t>
                </a:r>
                <a:r>
                  <a:rPr lang="en-US" altLang="zh-CN" sz="2400" b="0" dirty="0">
                    <a:solidFill>
                      <a:srgbClr val="FF0000"/>
                    </a:solidFill>
                  </a:rPr>
                  <a:t>,</a:t>
                </a:r>
                <a:r>
                  <a:rPr lang="en-US" altLang="zh-CN" sz="2400" b="0" i="1" dirty="0">
                    <a:solidFill>
                      <a:srgbClr val="FF0000"/>
                    </a:solidFill>
                  </a:rPr>
                  <a:t>Y</a:t>
                </a:r>
                <a:r>
                  <a:rPr lang="zh-CN" altLang="zh-CN" sz="2400" b="0" dirty="0">
                    <a:solidFill>
                      <a:srgbClr val="FF0000"/>
                    </a:solidFill>
                  </a:rPr>
                  <a:t>的关联程度。</a:t>
                </a:r>
                <a:endParaRPr lang="en-US" altLang="zh-CN" sz="2400" b="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DCF8550-4F91-4E02-B8EE-F4FD03425F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38546" y="836713"/>
                <a:ext cx="8894618" cy="4765720"/>
              </a:xfrm>
              <a:blipFill>
                <a:blip r:embed="rId3"/>
                <a:stretch>
                  <a:fillRect l="-10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77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CF3FB11-A201-403A-9A24-73A38EAFD69A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b="0" dirty="0">
                    <a:solidFill>
                      <a:srgbClr val="C00000"/>
                    </a:solidFill>
                  </a:rPr>
                  <a:t>2</a:t>
                </a:r>
                <a:r>
                  <a:rPr lang="zh-CN" altLang="en-US" sz="2400" b="0" dirty="0">
                    <a:solidFill>
                      <a:srgbClr val="C00000"/>
                    </a:solidFill>
                  </a:rPr>
                  <a:t>）</a:t>
                </a:r>
                <a:r>
                  <a:rPr lang="zh-CN" altLang="zh-CN" sz="2400" b="0" dirty="0">
                    <a:solidFill>
                      <a:srgbClr val="C00000"/>
                    </a:solidFill>
                  </a:rPr>
                  <a:t>联合中心矩</a:t>
                </a:r>
                <a:endParaRPr lang="en-US" altLang="zh-CN" sz="2400" b="0" dirty="0">
                  <a:solidFill>
                    <a:srgbClr val="C0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𝑛𝑘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4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b="0" dirty="0"/>
                  <a:t>特别：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400" b="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02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altLang="zh-CN" sz="2400" b="0" dirty="0"/>
                  <a:t>,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b="0" dirty="0"/>
                  <a:t>	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CN" sz="2400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altLang="zh-CN" sz="2400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CN" sz="2400" b="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zh-CN" sz="2400" b="0" dirty="0"/>
                  <a:t>称为</a:t>
                </a:r>
                <a:r>
                  <a:rPr lang="en-US" altLang="zh-CN" sz="2400" b="0" i="1" dirty="0"/>
                  <a:t>X</a:t>
                </a:r>
                <a:r>
                  <a:rPr lang="zh-CN" altLang="en-US" sz="2400" b="0" dirty="0"/>
                  <a:t>、</a:t>
                </a:r>
                <a:r>
                  <a:rPr lang="en-US" altLang="zh-CN" sz="2400" b="0" i="1" dirty="0"/>
                  <a:t>Y</a:t>
                </a:r>
                <a:r>
                  <a:rPr lang="zh-CN" altLang="zh-CN" sz="2400" b="0" dirty="0"/>
                  <a:t>的</a:t>
                </a:r>
                <a:r>
                  <a:rPr lang="zh-CN" altLang="zh-CN" sz="2400" dirty="0">
                    <a:solidFill>
                      <a:srgbClr val="C00000"/>
                    </a:solidFill>
                  </a:rPr>
                  <a:t>协方差</a:t>
                </a:r>
                <a:r>
                  <a:rPr lang="zh-CN" altLang="zh-CN" sz="2400" b="0" dirty="0"/>
                  <a:t>，表示</a:t>
                </a:r>
                <a:r>
                  <a:rPr lang="en-US" altLang="zh-CN" sz="2400" b="0" i="1" dirty="0"/>
                  <a:t>X</a:t>
                </a:r>
                <a:r>
                  <a:rPr lang="zh-CN" altLang="en-US" sz="2400" b="0" dirty="0"/>
                  <a:t>、</a:t>
                </a:r>
                <a:r>
                  <a:rPr lang="en-US" altLang="zh-CN" sz="2400" b="0" i="1" dirty="0"/>
                  <a:t>Y</a:t>
                </a:r>
                <a:r>
                  <a:rPr lang="zh-CN" altLang="en-US" sz="2400" b="0" dirty="0"/>
                  <a:t>的</a:t>
                </a:r>
                <a:r>
                  <a:rPr lang="zh-CN" altLang="zh-CN" sz="2400" b="0" dirty="0"/>
                  <a:t>关联程度。</a:t>
                </a:r>
                <a:endParaRPr lang="en-US" altLang="zh-CN" sz="2400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</m:oMath>
                </a14:m>
                <a:r>
                  <a:rPr lang="zh-CN" altLang="en-US" sz="2400" b="0" dirty="0"/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𝐶𝑜𝑣</m:t>
                    </m:r>
                    <m:d>
                      <m:d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zh-CN" altLang="en-US" sz="2400" b="0" dirty="0"/>
                  <a:t>的关系：</a:t>
                </a:r>
                <a:r>
                  <a:rPr lang="en-US" altLang="zh-CN" sz="2400" b="0" dirty="0"/>
                  <a:t>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zh-CN" altLang="zh-CN" sz="2400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ACF3FB11-A201-403A-9A24-73A38EAFD6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3"/>
                <a:stretch>
                  <a:fillRect l="-1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697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28EF82E-711D-4DA5-A909-409809D335E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17763" y="980728"/>
                <a:ext cx="8908473" cy="404666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b="0" dirty="0">
                    <a:solidFill>
                      <a:srgbClr val="C00000"/>
                    </a:solidFill>
                  </a:rPr>
                  <a:t>3) </a:t>
                </a:r>
                <a:r>
                  <a:rPr lang="zh-CN" altLang="zh-CN" sz="2400" b="0" dirty="0">
                    <a:solidFill>
                      <a:srgbClr val="C00000"/>
                    </a:solidFill>
                  </a:rPr>
                  <a:t>归一化的协方差</a:t>
                </a:r>
                <a:r>
                  <a:rPr lang="en-US" altLang="zh-CN" sz="2400" b="0" dirty="0">
                    <a:solidFill>
                      <a:srgbClr val="C00000"/>
                    </a:solidFill>
                  </a:rPr>
                  <a:t>——</a:t>
                </a:r>
                <a:r>
                  <a:rPr lang="zh-CN" altLang="zh-CN" sz="2400" dirty="0">
                    <a:solidFill>
                      <a:srgbClr val="C00000"/>
                    </a:solidFill>
                  </a:rPr>
                  <a:t>相关系数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b="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𝐶𝑜𝑣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]−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2400" b="0" dirty="0"/>
                  <a:t>，  </a:t>
                </a:r>
                <a:r>
                  <a:rPr lang="en-US" altLang="zh-CN" sz="2400" b="0" dirty="0"/>
                  <a:t>  </a:t>
                </a:r>
                <a:r>
                  <a:rPr lang="zh-CN" altLang="zh-CN" sz="2400" b="0" dirty="0"/>
                  <a:t>有</a:t>
                </a:r>
                <a:r>
                  <a:rPr lang="en-US" altLang="zh-CN" sz="2400" b="0" dirty="0"/>
                  <a:t>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|≤1</m:t>
                    </m:r>
                  </m:oMath>
                </a14:m>
                <a:r>
                  <a:rPr lang="en-US" altLang="zh-CN" sz="2400" b="0" dirty="0"/>
                  <a:t> </a:t>
                </a:r>
                <a:r>
                  <a:rPr lang="zh-CN" altLang="zh-CN" sz="2400" b="0" dirty="0"/>
                  <a:t>；</a:t>
                </a:r>
                <a:endParaRPr lang="en-US" altLang="zh-CN" sz="2400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400" b="0" dirty="0"/>
                  <a:t>  </a:t>
                </a:r>
                <a:r>
                  <a:rPr lang="zh-CN" altLang="zh-CN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sz="2400" b="0" dirty="0"/>
                  <a:t>时</a:t>
                </a:r>
                <a:r>
                  <a:rPr lang="zh-CN" altLang="en-US" sz="2400" b="0" dirty="0"/>
                  <a:t>， </a:t>
                </a:r>
                <a:r>
                  <a:rPr lang="zh-CN" altLang="zh-CN" sz="2400" b="0" dirty="0"/>
                  <a:t>线性不相关</a:t>
                </a:r>
                <a:r>
                  <a:rPr lang="zh-CN" altLang="en-US" sz="2400" b="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400" b="0" dirty="0"/>
                  <a:t> </a:t>
                </a:r>
                <a:r>
                  <a:rPr lang="zh-CN" altLang="zh-CN" sz="2400" b="0" dirty="0"/>
                  <a:t>；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400" b="0" dirty="0"/>
                  <a:t>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=±1</m:t>
                    </m:r>
                  </m:oMath>
                </a14:m>
                <a:r>
                  <a:rPr lang="zh-CN" altLang="zh-CN" sz="2400" b="0" dirty="0"/>
                  <a:t>时</a:t>
                </a:r>
                <a:r>
                  <a:rPr lang="zh-CN" altLang="en-US" sz="2400" b="0" dirty="0"/>
                  <a:t>，</a:t>
                </a:r>
                <a:r>
                  <a:rPr lang="zh-CN" altLang="zh-CN" sz="2400" b="0" dirty="0"/>
                  <a:t> 线性相关，成线性关系</a:t>
                </a:r>
                <a:r>
                  <a:rPr lang="zh-CN" altLang="en-US" sz="2400" b="0" dirty="0"/>
                  <a:t>（正负相关）；</a:t>
                </a:r>
                <a:endParaRPr lang="zh-CN" altLang="zh-CN" sz="2400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400" b="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0≤|</m:t>
                    </m:r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|&lt;1</m:t>
                    </m:r>
                  </m:oMath>
                </a14:m>
                <a:r>
                  <a:rPr lang="zh-CN" altLang="zh-CN" sz="2400" b="0" dirty="0"/>
                  <a:t>时，非线性相关</a:t>
                </a:r>
                <a:r>
                  <a:rPr lang="zh-CN" altLang="en-US" sz="2400" b="0" dirty="0"/>
                  <a:t>。</a:t>
                </a:r>
                <a:endParaRPr lang="zh-CN" altLang="zh-CN" sz="2400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228EF82E-711D-4DA5-A909-409809D335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17763" y="980728"/>
                <a:ext cx="8908473" cy="4046660"/>
              </a:xfrm>
              <a:blipFill>
                <a:blip r:embed="rId3"/>
                <a:stretch>
                  <a:fillRect l="-1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A05ADB6-F452-4BDC-9018-B22A8D7664D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02940" y="620688"/>
                <a:ext cx="8538120" cy="4495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800" dirty="0"/>
                  <a:t>讨论：</a:t>
                </a:r>
                <a:endParaRPr lang="en-US" altLang="zh-CN" sz="2800" dirty="0"/>
              </a:p>
              <a:p>
                <a:pPr marL="0" indent="0">
                  <a:buNone/>
                </a:pPr>
                <a:r>
                  <a:rPr lang="zh-CN" altLang="en-US" sz="2400" dirty="0"/>
                  <a:t>随机变量</a:t>
                </a:r>
                <a:r>
                  <a:rPr lang="en-US" altLang="zh-CN" sz="2400" b="0" i="1" dirty="0"/>
                  <a:t>X </a:t>
                </a:r>
                <a:r>
                  <a:rPr lang="zh-CN" altLang="en-US" sz="2400" dirty="0"/>
                  <a:t>和 </a:t>
                </a:r>
                <a:r>
                  <a:rPr lang="en-US" altLang="zh-CN" sz="2400" b="0" i="1" dirty="0"/>
                  <a:t>Y </a:t>
                </a:r>
                <a:r>
                  <a:rPr lang="zh-CN" altLang="en-US" sz="2400" dirty="0"/>
                  <a:t>满足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𝑎𝑋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b="0" i="1" dirty="0"/>
                  <a:t>X</a:t>
                </a:r>
                <a:r>
                  <a:rPr lang="zh-CN" altLang="en-US" sz="2400" dirty="0"/>
                  <a:t>和</a:t>
                </a:r>
                <a:r>
                  <a:rPr lang="en-US" altLang="zh-CN" sz="2400" b="0" i="1" dirty="0"/>
                  <a:t>Y</a:t>
                </a:r>
                <a:r>
                  <a:rPr lang="zh-CN" altLang="en-US" sz="2400" dirty="0"/>
                  <a:t>线性相关吗？或者说一定满足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𝝆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XY</m:t>
                            </m:r>
                          </m:sub>
                        </m:sSub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zh-CN" altLang="en-US" sz="2400" dirty="0"/>
                  <a:t>吗？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解：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                   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𝑿𝒀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sSup>
                          <m:sSup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𝒃𝑿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𝒂𝑬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  <m:sup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𝒃𝑬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CN" sz="2400" dirty="0"/>
                  <a:t>]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]</m:t>
                      </m:r>
                      <m:d>
                        <m:d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𝒂𝑬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4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𝒃𝑬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400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𝑿𝒀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𝒂𝑬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𝒂𝑫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400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XY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𝑿𝒀</m:t>
                                  </m:r>
                                </m:e>
                              </m:d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 smtClean="0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b="1" i="1" smtClean="0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𝒀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𝒂𝑫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</m:d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den>
                          </m:f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0A05ADB6-F452-4BDC-9018-B22A8D766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02940" y="620688"/>
                <a:ext cx="8538120" cy="4495800"/>
              </a:xfrm>
              <a:blipFill>
                <a:blip r:embed="rId3"/>
                <a:stretch>
                  <a:fillRect l="-1500" t="-1900" r="-1071" b="-5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834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930AB15-34F3-4E5B-82B5-AC69FAD943DA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07504" y="260648"/>
                <a:ext cx="8679872" cy="486695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多维随机变量的协方差矩阵和相关矩阵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zh-CN" sz="2400" dirty="0"/>
                  <a:t>随机矢量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,...,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400" dirty="0"/>
                  <a:t>的关联程度可用自相关矩阵和协方差矩阵表示，如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,...,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,...,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</m:oMath>
                </a14:m>
                <a:r>
                  <a:rPr lang="en-US" altLang="zh-CN" sz="2400" dirty="0"/>
                  <a:t>(</a:t>
                </a:r>
                <a:r>
                  <a:rPr lang="zh-CN" altLang="en-US" sz="2400" dirty="0"/>
                  <a:t>均值矢量</a:t>
                </a:r>
                <a:r>
                  <a:rPr lang="en-US" altLang="zh-CN" sz="2400" dirty="0"/>
                  <a:t>)</a:t>
                </a:r>
              </a:p>
              <a:p>
                <a:pPr marL="0" indent="0">
                  <a:buNone/>
                </a:pPr>
                <a:r>
                  <a:rPr lang="zh-CN" altLang="zh-CN" sz="2400" dirty="0"/>
                  <a:t>则</a:t>
                </a:r>
                <a:r>
                  <a:rPr lang="zh-CN" altLang="zh-CN" sz="2400" dirty="0">
                    <a:solidFill>
                      <a:srgbClr val="C00000"/>
                    </a:solidFill>
                  </a:rPr>
                  <a:t>自相关矩阵</a:t>
                </a:r>
                <a:r>
                  <a:rPr lang="zh-CN" altLang="zh-CN" sz="2400" dirty="0"/>
                  <a:t>为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  <m:sSup>
                            <m:sSup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   …    </m:t>
                                  </m:r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   …    </m:t>
                                  </m:r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eqAr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  …   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  …   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  …   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en-US" sz="2400" dirty="0"/>
                  <a:t>其中：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/>
                  <a:t>第</a:t>
                </a:r>
                <a:r>
                  <a:rPr lang="en-US" altLang="zh-CN" sz="2400" i="1" dirty="0" err="1"/>
                  <a:t>i</a:t>
                </a:r>
                <a:r>
                  <a:rPr lang="zh-CN" altLang="en-US" sz="2400" dirty="0"/>
                  <a:t>、</a:t>
                </a:r>
                <a:r>
                  <a:rPr lang="en-US" altLang="zh-CN" sz="2400" i="1" dirty="0"/>
                  <a:t>j</a:t>
                </a:r>
                <a:r>
                  <a:rPr lang="zh-CN" altLang="en-US" sz="2400" dirty="0"/>
                  <a:t>个随机变量的互相关。</a:t>
                </a: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930AB15-34F3-4E5B-82B5-AC69FAD943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07504" y="260648"/>
                <a:ext cx="8679872" cy="4866959"/>
              </a:xfrm>
              <a:blipFill>
                <a:blip r:embed="rId2"/>
                <a:stretch>
                  <a:fillRect l="-1124" t="-1378" r="-703" b="-139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5">
            <a:extLst>
              <a:ext uri="{FF2B5EF4-FFF2-40B4-BE49-F238E27FC236}">
                <a16:creationId xmlns:a16="http://schemas.microsoft.com/office/drawing/2014/main" id="{8ADC53B9-DB65-4F69-9793-436152A68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000" y="3716886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1086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FD4AD17-1803-4B30-B2B6-71E088EDEA0A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95536" y="476672"/>
                <a:ext cx="8485909" cy="5016380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zh-CN" altLang="zh-CN" sz="2475" dirty="0">
                    <a:solidFill>
                      <a:srgbClr val="C00000"/>
                    </a:solidFill>
                  </a:rPr>
                  <a:t>协方差矩阵</a:t>
                </a:r>
                <a:endParaRPr lang="en-US" altLang="zh-CN" sz="2475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lang="en-US" altLang="zh-CN" sz="22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1" i="1" smtClean="0"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e>
                                <m:sub>
                                  <m:r>
                                    <a:rPr lang="en-US" altLang="zh-CN" sz="2200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sub>
                              </m:sSub>
                            </m:e>
                          </m:d>
                          <m:sSup>
                            <m:sSup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  <m:r>
                                    <a:rPr lang="en-US" altLang="zh-CN" sz="22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  <m:t>𝒎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sSub>
                                    <m:sSubPr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…</m:t>
                                  </m:r>
                                </m:e>
                                <m:e>
                                  <m:sSub>
                                    <m:sSubPr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200" b="0" i="1" smtClean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eqAr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eqArr>
                                <m:eqArr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CN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2200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2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2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sz="2200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2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2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     </m:t>
                                  </m:r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   …    </m:t>
                                  </m:r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    </m:t>
                                  </m:r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2200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2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𝑋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zh-CN" sz="2200" b="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200" b="0" i="1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200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2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   …</m:t>
                                  </m:r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   </m:t>
                                  </m:r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d>
                                        <m:d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eqArr>
                            </m:e>
                            <m:e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d>
                                    <m:dPr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200" b="0" i="1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200" b="0" i="1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2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eqArr>
                        </m:e>
                      </m:d>
                      <m:r>
                        <a:rPr lang="en-US" altLang="zh-CN" sz="2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   …   </m:t>
                              </m:r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   …   </m:t>
                              </m:r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  <m:t>   …   </m:t>
                              </m:r>
                              <m:sSub>
                                <m:sSubPr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  <m:t>𝑛𝑛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其中：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zh-CN" altLang="en-US" dirty="0"/>
                  <a:t>，第</a:t>
                </a:r>
                <a:r>
                  <a:rPr lang="en-US" altLang="zh-CN" i="1" dirty="0"/>
                  <a:t>i</a:t>
                </a:r>
                <a:r>
                  <a:rPr lang="zh-CN" altLang="en-US" dirty="0"/>
                  <a:t>、</a:t>
                </a:r>
                <a:r>
                  <a:rPr lang="en-US" altLang="zh-CN" i="1" dirty="0"/>
                  <a:t>j</a:t>
                </a:r>
                <a:r>
                  <a:rPr lang="zh-CN" altLang="en-US" dirty="0"/>
                  <a:t>个随机变量的协方差。</a:t>
                </a:r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FD4AD17-1803-4B30-B2B6-71E088EDEA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95536" y="476672"/>
                <a:ext cx="8485909" cy="5016380"/>
              </a:xfrm>
              <a:blipFill>
                <a:blip r:embed="rId2"/>
                <a:stretch>
                  <a:fillRect l="-1078" t="-1215" b="-8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BEA83E5-C1C0-4C03-A828-6A8CC957CD6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317241" y="3226002"/>
            <a:ext cx="2238530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158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821C5A6-013C-4605-80C9-28B83235A923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1" y="1325440"/>
            <a:ext cx="8255000" cy="375974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800" dirty="0"/>
              <a:t>自相关矩阵与协方差矩阵的特征：</a:t>
            </a:r>
            <a:endParaRPr lang="en-US" altLang="zh-CN" sz="2800" dirty="0"/>
          </a:p>
          <a:p>
            <a:pPr marL="642938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相关矩阵</a:t>
            </a:r>
            <a:r>
              <a:rPr lang="en-US" altLang="zh-CN" sz="2400" i="1" dirty="0"/>
              <a:t>R</a:t>
            </a:r>
            <a:r>
              <a:rPr lang="zh-CN" altLang="en-US" sz="2400" dirty="0"/>
              <a:t>和协方差矩阵</a:t>
            </a:r>
            <a:r>
              <a:rPr lang="en-US" altLang="zh-CN" sz="2400" i="1" dirty="0"/>
              <a:t>C</a:t>
            </a:r>
            <a:r>
              <a:rPr lang="zh-CN" altLang="zh-CN" sz="2400" dirty="0"/>
              <a:t>为对称矩阵；</a:t>
            </a:r>
            <a:endParaRPr lang="en-US" altLang="zh-CN" sz="2400" dirty="0"/>
          </a:p>
          <a:p>
            <a:pPr marL="642938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相关矩阵</a:t>
            </a:r>
            <a:r>
              <a:rPr lang="en-US" altLang="zh-CN" sz="2400" i="1" dirty="0"/>
              <a:t>R</a:t>
            </a:r>
            <a:r>
              <a:rPr lang="en-US" altLang="zh-CN" sz="2400" dirty="0"/>
              <a:t> </a:t>
            </a:r>
            <a:r>
              <a:rPr lang="zh-CN" altLang="zh-CN" sz="2400" dirty="0"/>
              <a:t>的主对角线元素为各随机变量的</a:t>
            </a:r>
            <a:r>
              <a:rPr lang="zh-CN" altLang="zh-CN" sz="2400" dirty="0">
                <a:solidFill>
                  <a:srgbClr val="FF0000"/>
                </a:solidFill>
              </a:rPr>
              <a:t>均方值</a:t>
            </a:r>
            <a:r>
              <a:rPr lang="zh-CN" altLang="zh-CN" sz="2400" dirty="0"/>
              <a:t>；</a:t>
            </a:r>
          </a:p>
          <a:p>
            <a:pPr marL="642938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协方差矩阵</a:t>
            </a:r>
            <a:r>
              <a:rPr lang="en-US" altLang="zh-CN" sz="2400" i="1" dirty="0"/>
              <a:t>C</a:t>
            </a:r>
            <a:r>
              <a:rPr lang="zh-CN" altLang="zh-CN" sz="2400" dirty="0"/>
              <a:t>的主对角线元素为各随机变量的</a:t>
            </a:r>
            <a:r>
              <a:rPr lang="zh-CN" altLang="zh-CN" sz="2400" dirty="0">
                <a:solidFill>
                  <a:srgbClr val="FF0000"/>
                </a:solidFill>
              </a:rPr>
              <a:t>方差</a:t>
            </a:r>
            <a:r>
              <a:rPr lang="zh-CN" altLang="zh-CN" sz="2400" dirty="0"/>
              <a:t>；</a:t>
            </a:r>
          </a:p>
          <a:p>
            <a:pPr marL="642938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/>
              <a:t>各</a:t>
            </a:r>
            <a:r>
              <a:rPr lang="zh-CN" altLang="zh-CN" sz="2400" dirty="0"/>
              <a:t>随机变量互不相关时，</a:t>
            </a:r>
            <a:r>
              <a:rPr lang="zh-CN" altLang="en-US" sz="2400" dirty="0"/>
              <a:t>协方差矩阵</a:t>
            </a:r>
            <a:r>
              <a:rPr lang="en-US" altLang="zh-CN" sz="2400" dirty="0"/>
              <a:t>C</a:t>
            </a:r>
            <a:r>
              <a:rPr lang="zh-CN" altLang="zh-CN" sz="2400" dirty="0"/>
              <a:t>为对角矩阵。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5795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39552" y="1628800"/>
                <a:ext cx="8174181" cy="288032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  <a:sym typeface="Microsoft Yahei" panose="020B0503020204020204" pitchFamily="34" charset="-122"/>
                  </a:rPr>
                  <a:t>正态分布的随机变量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sub>
                    </m:sSub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统计独立且具有相同的分布，均值为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𝜇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</m:t>
                    </m:r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方差为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zh-CN" altLang="en-US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𝜎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，写出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sub>
                    </m:sSub>
                    <m:r>
                      <a:rPr lang="zh-CN" altLang="en-US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的自相关矩阵和自协方差矩阵。</m:t>
                    </m:r>
                  </m:oMath>
                </a14:m>
                <a:endParaRPr lang="zh-CN" altLang="en-US" sz="2400" dirty="0">
                  <a:solidFill>
                    <a:srgbClr val="000000"/>
                  </a:solidFill>
                  <a:latin typeface="楷体" panose="02010609060101010101" pitchFamily="49" charset="-122"/>
                  <a:ea typeface="楷体" panose="02010609060101010101" pitchFamily="49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539552" y="1628800"/>
                <a:ext cx="8174181" cy="2880320"/>
              </a:xfrm>
              <a:prstGeom prst="rect">
                <a:avLst/>
              </a:prstGeom>
              <a:blipFill>
                <a:blip r:embed="rId13"/>
                <a:stretch>
                  <a:fillRect l="-1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圆角矩形 4"/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6" name="TitleBackground"/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ColorBlock"/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 dirty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FAFF85B1-0EC0-4155-9457-2A06FE448B8D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3906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821C5A6-013C-4605-80C9-28B83235A923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827584" y="620688"/>
                <a:ext cx="7920880" cy="4235428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  自相关矩阵为</a:t>
                </a:r>
                <a:r>
                  <a:rPr lang="en-US" altLang="zh-CN" sz="2400" dirty="0"/>
                  <a:t>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 smtClean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   协方差矩阵为       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</m:e>
                            <m:e>
                              <m:sSup>
                                <m:sSup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i="1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altLang="zh-CN" dirty="0"/>
              </a:p>
              <a:p>
                <a:pPr marL="300038" lvl="1" indent="0">
                  <a:lnSpc>
                    <a:spcPct val="150000"/>
                  </a:lnSpc>
                  <a:buNone/>
                </a:pPr>
                <a:endParaRPr lang="zh-CN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9821C5A6-013C-4605-80C9-28B83235A9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827584" y="620688"/>
                <a:ext cx="7920880" cy="4235428"/>
              </a:xfrm>
              <a:blipFill>
                <a:blip r:embed="rId2"/>
                <a:stretch>
                  <a:fillRect b="-100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2234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248419F-F3A5-45AA-B654-7E39363AA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124061"/>
            <a:ext cx="8269287" cy="83974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1.4.3 </a:t>
            </a:r>
            <a:r>
              <a:rPr lang="zh-CN" altLang="zh-CN" dirty="0"/>
              <a:t>相关、正交及统计独立</a:t>
            </a:r>
            <a:r>
              <a:rPr lang="en-US" altLang="zh-CN" dirty="0"/>
              <a:t>  </a:t>
            </a:r>
            <a:r>
              <a:rPr lang="zh-CN" altLang="en-US" dirty="0"/>
              <a:t>（</a:t>
            </a:r>
            <a:r>
              <a:rPr lang="zh-CN" altLang="zh-CN" dirty="0"/>
              <a:t>讨论随机变量之间的关系</a:t>
            </a:r>
            <a:r>
              <a:rPr lang="zh-CN" altLang="en-US" dirty="0"/>
              <a:t>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7748E176-0FAC-47F4-B4CA-58471B7D21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7036" y="980728"/>
                <a:ext cx="8769928" cy="475252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1.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相关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correlated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）</a:t>
                </a:r>
                <a:endParaRPr lang="zh-CN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zh-CN" sz="2400" dirty="0"/>
                  <a:t>客观世界中，各随机变量存在某种关系 </a:t>
                </a:r>
                <a:r>
                  <a:rPr lang="zh-CN" altLang="en-US" sz="2400" dirty="0"/>
                  <a:t>。</a:t>
                </a:r>
                <a:endParaRPr lang="zh-CN" altLang="zh-CN" sz="2400" dirty="0"/>
              </a:p>
              <a:p>
                <a:pPr marL="0" indent="0">
                  <a:buNone/>
                </a:pPr>
                <a:r>
                  <a:rPr lang="zh-CN" altLang="zh-CN" sz="2400" dirty="0">
                    <a:solidFill>
                      <a:schemeClr val="accent2"/>
                    </a:solidFill>
                  </a:rPr>
                  <a:t>确定性关系</a:t>
                </a:r>
                <a:r>
                  <a:rPr lang="zh-CN" altLang="en-US" sz="2400" dirty="0"/>
                  <a:t>：</a:t>
                </a:r>
                <a:r>
                  <a:rPr lang="zh-CN" altLang="zh-CN" sz="2400" dirty="0"/>
                  <a:t>用函数关系表示，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; </a:t>
                </a:r>
              </a:p>
              <a:p>
                <a:pPr marL="0" indent="0">
                  <a:buNone/>
                </a:pPr>
                <a:r>
                  <a:rPr lang="zh-CN" altLang="zh-CN" sz="2400" dirty="0">
                    <a:solidFill>
                      <a:schemeClr val="accent2"/>
                    </a:solidFill>
                  </a:rPr>
                  <a:t>不确定关系</a:t>
                </a:r>
                <a:r>
                  <a:rPr lang="zh-CN" altLang="en-US" sz="2400" dirty="0"/>
                  <a:t>：</a:t>
                </a:r>
                <a:r>
                  <a:rPr lang="zh-CN" altLang="zh-CN" sz="2400" dirty="0"/>
                  <a:t>用相关关系描述，如人的身高体重。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描述相关程度</a:t>
                </a:r>
                <a:r>
                  <a:rPr lang="zh-CN" altLang="en-US" sz="2400" dirty="0"/>
                  <a:t>，</a:t>
                </a:r>
                <a:r>
                  <a:rPr lang="zh-CN" altLang="zh-CN" sz="2400" dirty="0"/>
                  <a:t>三种参数，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（相关）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</m:oMath>
                </a14:m>
                <a:r>
                  <a:rPr lang="zh-CN" altLang="en-US" sz="2400" dirty="0"/>
                  <a:t>（协方差）</a:t>
                </a:r>
                <a:r>
                  <a:rPr lang="en-US" altLang="zh-CN" sz="2400" dirty="0"/>
                  <a:t>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</m:oMath>
                </a14:m>
                <a:r>
                  <a:rPr lang="zh-CN" altLang="en-US" sz="2400" dirty="0"/>
                  <a:t>（相关系数）</a:t>
                </a:r>
                <a:endParaRPr lang="zh-CN" altLang="zh-CN" sz="2400" dirty="0"/>
              </a:p>
              <a:p>
                <a:pPr marL="0" indent="0">
                  <a:buNone/>
                </a:pPr>
                <a:r>
                  <a:rPr lang="zh-CN" altLang="zh-CN" sz="2400" dirty="0">
                    <a:solidFill>
                      <a:schemeClr val="accent2"/>
                    </a:solidFill>
                  </a:rPr>
                  <a:t>不相关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zh-CN" sz="2400" dirty="0">
                    <a:solidFill>
                      <a:schemeClr val="accent2"/>
                    </a:solidFill>
                  </a:rPr>
                  <a:t>uncorrelated</a:t>
                </a:r>
                <a:r>
                  <a:rPr lang="zh-CN" altLang="en-US" sz="2400" dirty="0">
                    <a:solidFill>
                      <a:schemeClr val="accent2"/>
                    </a:solidFill>
                  </a:rPr>
                  <a:t>）</a:t>
                </a:r>
                <a:r>
                  <a:rPr lang="zh-CN" altLang="zh-CN" sz="2400" dirty="0">
                    <a:solidFill>
                      <a:schemeClr val="accent2"/>
                    </a:solidFill>
                  </a:rPr>
                  <a:t>的充要条件</a:t>
                </a:r>
                <a:r>
                  <a:rPr lang="zh-CN" altLang="zh-CN" sz="24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de-DE" altLang="zh-CN" sz="2400" dirty="0"/>
                  <a:t>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=0;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</m:oMath>
                </a14:m>
                <a:r>
                  <a:rPr lang="en-US" altLang="zh-CN" sz="2400" dirty="0"/>
                  <a:t>=0 </a:t>
                </a:r>
                <a:r>
                  <a:rPr lang="zh-CN" altLang="en-US" sz="2400" dirty="0"/>
                  <a:t>。</a:t>
                </a:r>
                <a:r>
                  <a:rPr lang="en-US" altLang="zh-CN" sz="2400" dirty="0"/>
                  <a:t> </a:t>
                </a:r>
              </a:p>
              <a:p>
                <a:pPr marL="0" indent="0"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．正交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orthogonal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）</a:t>
                </a:r>
                <a:endParaRPr lang="zh-CN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zh-CN" sz="2400" dirty="0"/>
                  <a:t>如</a:t>
                </a:r>
                <a:r>
                  <a:rPr lang="en-US" altLang="zh-CN" sz="2400" i="1" dirty="0"/>
                  <a:t>X,Y</a:t>
                </a:r>
                <a:r>
                  <a:rPr lang="zh-CN" altLang="zh-CN" sz="2400" dirty="0"/>
                  <a:t>满足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]=0</m:t>
                    </m:r>
                  </m:oMath>
                </a14:m>
                <a:r>
                  <a:rPr lang="zh-CN" altLang="zh-CN" sz="2400" dirty="0"/>
                  <a:t>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]∗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r>
                  <a:rPr lang="zh-CN" altLang="zh-CN" sz="2400" dirty="0"/>
                  <a:t>，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则</a:t>
                </a:r>
                <a:r>
                  <a:rPr lang="en-US" altLang="zh-CN" sz="2400" dirty="0"/>
                  <a:t>X,</a:t>
                </a:r>
                <a:r>
                  <a:rPr lang="en-US" altLang="zh-CN" sz="2400" i="1" dirty="0"/>
                  <a:t>Y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正交</a:t>
                </a:r>
                <a:r>
                  <a:rPr lang="zh-CN" altLang="zh-CN" sz="2400" dirty="0"/>
                  <a:t>，即</a:t>
                </a:r>
                <a:r>
                  <a:rPr lang="en-US" altLang="zh-CN" sz="2400" dirty="0"/>
                  <a:t>X, Y</a:t>
                </a:r>
                <a:r>
                  <a:rPr lang="zh-CN" altLang="zh-CN" sz="2400" dirty="0"/>
                  <a:t>的相关为</a:t>
                </a:r>
                <a:r>
                  <a:rPr lang="en-US" altLang="zh-CN" sz="2400" dirty="0"/>
                  <a:t>0</a:t>
                </a:r>
                <a:r>
                  <a:rPr lang="zh-CN" altLang="en-US" sz="2400" dirty="0"/>
                  <a:t>。</a:t>
                </a: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7748E176-0FAC-47F4-B4CA-58471B7D21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7036" y="980728"/>
                <a:ext cx="8769928" cy="4752528"/>
              </a:xfrm>
              <a:blipFill>
                <a:blip r:embed="rId3"/>
                <a:stretch>
                  <a:fillRect l="-1113" t="-1284" r="-626" b="-168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265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58D7A8F-8243-4D5E-91EA-7B11FC7A7593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39436" y="764704"/>
                <a:ext cx="8465127" cy="504056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3. 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统计独立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（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independent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）</a:t>
                </a:r>
                <a:endParaRPr lang="zh-CN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400" dirty="0"/>
                  <a:t>如</a:t>
                </a:r>
                <a:r>
                  <a:rPr lang="en-US" altLang="zh-CN" sz="2400" i="1" dirty="0"/>
                  <a:t>X</a:t>
                </a:r>
                <a:r>
                  <a:rPr lang="en-US" altLang="zh-CN" sz="2400" dirty="0"/>
                  <a:t>,</a:t>
                </a:r>
                <a:r>
                  <a:rPr lang="en-US" altLang="zh-CN" sz="2400" i="1" dirty="0"/>
                  <a:t>Y</a:t>
                </a:r>
                <a:r>
                  <a:rPr lang="zh-CN" altLang="zh-CN" sz="2400" dirty="0"/>
                  <a:t>满足：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4. 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统计独立和不相关的关系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400" dirty="0"/>
                  <a:t>统计独立从分布函数、</a:t>
                </a:r>
                <a:r>
                  <a:rPr lang="en-US" altLang="zh-CN" sz="2400" dirty="0"/>
                  <a:t>PDF</a:t>
                </a:r>
                <a:r>
                  <a:rPr lang="zh-CN" altLang="zh-CN" sz="2400" dirty="0"/>
                  <a:t>得到，从最完整的意义上描述随机变量的统计特性，而不相关仅要求二阶原点矩（互相关）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</m:oMath>
                  </m:oMathPara>
                </a14:m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400" dirty="0"/>
                  <a:t>故统计独立意义最严格，不相关仅为</a:t>
                </a:r>
                <a:r>
                  <a:rPr lang="zh-CN" altLang="en-US" sz="2400" dirty="0"/>
                  <a:t>其</a:t>
                </a:r>
                <a:r>
                  <a:rPr lang="zh-CN" altLang="zh-CN" sz="2400" dirty="0"/>
                  <a:t>一特殊情况，故统计独立必不相关，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反之不然</a:t>
                </a:r>
                <a:r>
                  <a:rPr lang="zh-CN" altLang="zh-CN" sz="2400" dirty="0"/>
                  <a:t>。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A58D7A8F-8243-4D5E-91EA-7B11FC7A75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39436" y="764704"/>
                <a:ext cx="8465127" cy="5040560"/>
              </a:xfrm>
              <a:blipFill>
                <a:blip r:embed="rId3"/>
                <a:stretch>
                  <a:fillRect l="-1153" r="-1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175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B0B9439-CB5D-4AFA-A091-2C65D2F11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987" y="0"/>
            <a:ext cx="7886700" cy="839744"/>
          </a:xfrm>
        </p:spPr>
        <p:txBody>
          <a:bodyPr>
            <a:normAutofit/>
          </a:bodyPr>
          <a:lstStyle/>
          <a:p>
            <a:r>
              <a:rPr lang="en-US" altLang="zh-CN" dirty="0"/>
              <a:t>1.4.4  </a:t>
            </a:r>
            <a:r>
              <a:rPr lang="zh-CN" altLang="zh-CN" dirty="0"/>
              <a:t>条件数学期望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7FD551F-93C4-47F4-BBCD-0770C2DA0B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4746" y="980728"/>
                <a:ext cx="8555182" cy="5328592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x-none" altLang="zh-CN" sz="26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6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600" dirty="0">
                    <a:solidFill>
                      <a:srgbClr val="FF0000"/>
                    </a:solidFill>
                  </a:rPr>
                  <a:t>离散随机变量的条件数学期望</a:t>
                </a:r>
                <a:endParaRPr lang="en-US" altLang="zh-CN" sz="26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2600" dirty="0"/>
                  <a:t>设（</a:t>
                </a:r>
                <a:r>
                  <a:rPr lang="en-US" altLang="zh-CN" sz="2600" i="1" dirty="0"/>
                  <a:t>X</a:t>
                </a:r>
                <a:r>
                  <a:rPr lang="zh-CN" altLang="zh-CN" sz="2600" dirty="0"/>
                  <a:t>，</a:t>
                </a:r>
                <a:r>
                  <a:rPr lang="en-US" altLang="zh-CN" sz="2600" i="1" dirty="0"/>
                  <a:t>Y</a:t>
                </a:r>
                <a:r>
                  <a:rPr lang="zh-CN" altLang="zh-CN" sz="2600" dirty="0"/>
                  <a:t>）为二维离散随机变量，联合分布律为</a:t>
                </a:r>
                <a:r>
                  <a:rPr lang="en-US" altLang="zh-CN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𝒊𝒋</m:t>
                        </m:r>
                      </m:sub>
                    </m:sSub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zh-CN" altLang="en-US" sz="2600"/>
                      <m:t>（</m:t>
                    </m:r>
                    <m:r>
                      <m:rPr>
                        <m:nor/>
                      </m:rPr>
                      <a:rPr lang="en-US" altLang="zh-CN" sz="2600" i="1"/>
                      <m:t>i</m:t>
                    </m:r>
                    <m:r>
                      <m:rPr>
                        <m:nor/>
                      </m:rPr>
                      <a:rPr lang="en-US" altLang="zh-CN" sz="2600"/>
                      <m:t>=1,2…</m:t>
                    </m:r>
                    <m:r>
                      <m:rPr>
                        <m:nor/>
                      </m:rPr>
                      <a:rPr lang="zh-CN" altLang="en-US" sz="2600"/>
                      <m:t>，</m:t>
                    </m:r>
                    <m:r>
                      <m:rPr>
                        <m:nor/>
                      </m:rPr>
                      <a:rPr lang="en-US" altLang="zh-CN" sz="2600" i="1"/>
                      <m:t>j</m:t>
                    </m:r>
                    <m:r>
                      <m:rPr>
                        <m:nor/>
                      </m:rPr>
                      <a:rPr lang="en-US" altLang="zh-CN" sz="2600"/>
                      <m:t>=1,2…</m:t>
                    </m:r>
                    <m:r>
                      <m:rPr>
                        <m:nor/>
                      </m:rPr>
                      <a:rPr lang="zh-CN" altLang="en-US" sz="2600"/>
                      <m:t>）</m:t>
                    </m:r>
                  </m:oMath>
                </a14:m>
                <a:r>
                  <a:rPr lang="en-US" altLang="zh-CN" sz="2600" dirty="0"/>
                  <a:t>,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d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d>
                          <m:dPr>
                            <m:begChr m:val=""/>
                            <m:endChr m:val="|"/>
                            <m:ctrlP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𝒊𝒋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600" dirty="0"/>
                  <a:t> </a:t>
                </a:r>
                <a:r>
                  <a:rPr lang="zh-CN" altLang="en-US" sz="2600" dirty="0"/>
                  <a:t>表示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600" dirty="0"/>
                  <a:t>条件下</a:t>
                </a:r>
                <a:r>
                  <a:rPr lang="zh-CN" altLang="zh-CN" sz="2600" dirty="0"/>
                  <a:t>随机变量</a:t>
                </a:r>
                <a:r>
                  <a:rPr lang="en-US" altLang="zh-CN" sz="2600" i="1" dirty="0"/>
                  <a:t>Y</a:t>
                </a:r>
                <a:r>
                  <a:rPr lang="zh-CN" altLang="zh-CN" sz="2600" dirty="0"/>
                  <a:t>的条件分布律</a:t>
                </a:r>
                <a:r>
                  <a:rPr lang="zh-CN" altLang="en-US" sz="2600" dirty="0"/>
                  <a:t>。</a:t>
                </a:r>
                <a:endParaRPr lang="en-US" altLang="zh-CN" sz="26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600" dirty="0"/>
                  <a:t>若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sz="2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6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d>
                          <m:dPr>
                            <m:begChr m:val=""/>
                            <m:endChr m:val="|"/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e>
                        </m:d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CN" sz="2600" dirty="0"/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zh-CN" alt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6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CN" sz="2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d>
                          <m:dPr>
                            <m:begChr m:val=""/>
                            <m:endChr m:val="|"/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e>
                        </m:d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6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altLang="zh-CN" sz="2600" dirty="0"/>
                  <a:t>, </a:t>
                </a:r>
                <a:r>
                  <a:rPr lang="zh-CN" altLang="zh-CN" sz="2600" dirty="0"/>
                  <a:t>则称</a:t>
                </a:r>
                <a:endParaRPr lang="en-US" altLang="zh-CN" sz="26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600" b="1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6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sz="2600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6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e>
                            </m:d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zh-CN" sz="2600" dirty="0"/>
                  <a:t>为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zh-CN" sz="2600" dirty="0"/>
                  <a:t>条件下，</a:t>
                </a:r>
                <a:r>
                  <a:rPr lang="en-US" altLang="zh-CN" sz="2600" i="1" dirty="0"/>
                  <a:t>X</a:t>
                </a:r>
                <a:r>
                  <a:rPr lang="zh-CN" altLang="zh-CN" sz="2600" dirty="0"/>
                  <a:t>的条件数学期望，</a:t>
                </a:r>
                <a:r>
                  <a:rPr lang="zh-CN" altLang="en-US" sz="2600" dirty="0"/>
                  <a:t>它是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zh-CN" altLang="en-US" sz="2600" dirty="0"/>
                  <a:t>的函数。</a:t>
                </a:r>
                <a:endParaRPr lang="en-US" altLang="zh-CN" sz="26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altLang="zh-CN" sz="26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𝑷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CN" sz="26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6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sub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𝒋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600" i="1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d>
                              <m:dPr>
                                <m:begChr m:val=""/>
                                <m:endChr m:val="|"/>
                                <m:ctrlPr>
                                  <a:rPr lang="en-US" altLang="zh-CN" sz="26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6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e>
                            </m:d>
                            <m:r>
                              <a:rPr lang="en-US" altLang="zh-CN" sz="26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</m:oMath>
                </a14:m>
                <a:r>
                  <a:rPr lang="zh-CN" altLang="zh-CN" sz="2600" dirty="0"/>
                  <a:t>为</a:t>
                </a:r>
                <a14:m>
                  <m:oMath xmlns:m="http://schemas.openxmlformats.org/officeDocument/2006/math">
                    <m:r>
                      <a:rPr lang="en-US" altLang="zh-CN" sz="26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zh-CN" sz="2600" dirty="0"/>
                  <a:t>条件下，</a:t>
                </a:r>
                <a:r>
                  <a:rPr lang="en-US" altLang="zh-CN" sz="2600" i="1" dirty="0"/>
                  <a:t>Y</a:t>
                </a:r>
                <a:r>
                  <a:rPr lang="zh-CN" altLang="zh-CN" sz="2600" dirty="0"/>
                  <a:t>的条件数学期望，</a:t>
                </a:r>
                <a:r>
                  <a:rPr lang="zh-CN" altLang="en-US" sz="2600" dirty="0"/>
                  <a:t>它是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600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zh-CN" altLang="en-US" sz="2600" dirty="0"/>
                  <a:t>的函数。</a:t>
                </a:r>
                <a:endParaRPr lang="en-US" altLang="zh-CN" sz="2600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7FD551F-93C4-47F4-BBCD-0770C2DA0B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4746" y="980728"/>
                <a:ext cx="8555182" cy="5328592"/>
              </a:xfrm>
              <a:blipFill>
                <a:blip r:embed="rId3"/>
                <a:stretch>
                  <a:fillRect l="-1068" t="-1945" r="-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677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FA73C355-CB0C-46EB-93CD-D420B832838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548680"/>
                <a:ext cx="8437418" cy="54006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2.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连续随机变量的条件数学期望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zh-CN" sz="2400" dirty="0"/>
                  <a:t>设（</a:t>
                </a:r>
                <a:r>
                  <a:rPr lang="en-US" altLang="zh-CN" sz="2400" i="1" dirty="0"/>
                  <a:t>X</a:t>
                </a:r>
                <a:r>
                  <a:rPr lang="zh-CN" altLang="zh-CN" sz="2400" dirty="0"/>
                  <a:t>，</a:t>
                </a:r>
                <a:r>
                  <a:rPr lang="en-US" altLang="zh-CN" sz="2400" i="1" dirty="0"/>
                  <a:t>Y</a:t>
                </a:r>
                <a:r>
                  <a:rPr lang="zh-CN" altLang="zh-CN" sz="2400" dirty="0"/>
                  <a:t>）为二维连续随机变量，联合</a:t>
                </a:r>
                <a:r>
                  <a:rPr lang="en-US" altLang="zh-CN" sz="2400" dirty="0"/>
                  <a:t>PDF</a:t>
                </a:r>
                <a:r>
                  <a:rPr lang="zh-CN" altLang="zh-CN" sz="2400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𝑿𝒀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,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𝑿𝒀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𝒚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为在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zh-CN" sz="2400" dirty="0"/>
                  <a:t>条件下随机变量</a:t>
                </a:r>
                <a:r>
                  <a:rPr lang="en-US" altLang="zh-CN" sz="2400" i="1" dirty="0"/>
                  <a:t>Y</a:t>
                </a:r>
                <a:r>
                  <a:rPr lang="zh-CN" altLang="zh-CN" sz="2400" dirty="0"/>
                  <a:t>的条件</a:t>
                </a:r>
                <a:r>
                  <a:rPr lang="zh-CN" altLang="en-US" sz="2400" dirty="0"/>
                  <a:t>概率密度函数，</a:t>
                </a:r>
                <a:endParaRPr lang="en-US" altLang="zh-CN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在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zh-CN" sz="2400" dirty="0"/>
                  <a:t>条件下随机变量</a:t>
                </a:r>
                <a:r>
                  <a:rPr lang="en-US" altLang="zh-CN" sz="2400" i="1" dirty="0"/>
                  <a:t>Y</a:t>
                </a:r>
                <a:r>
                  <a:rPr lang="zh-CN" altLang="zh-CN" sz="2400" dirty="0"/>
                  <a:t>的条件</a:t>
                </a:r>
                <a:r>
                  <a:rPr lang="zh-CN" altLang="en-US" sz="2400" dirty="0"/>
                  <a:t>概率密度函数，</a:t>
                </a:r>
                <a:endParaRPr lang="en-US" altLang="zh-CN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zh-CN" altLang="en-US" sz="2400" dirty="0"/>
                  <a:t>若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</m:nary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𝒀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𝑿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𝒅𝒚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zh-CN" altLang="en-US" sz="2400" dirty="0"/>
                  <a:t>，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nary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𝑿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d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𝒅𝒙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zh-CN" altLang="en-US" sz="2400" dirty="0"/>
                  <a:t>，则称</a:t>
                </a:r>
                <a:endParaRPr lang="en-US" altLang="zh-CN" sz="2400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𝒅𝒚</m:t>
                        </m:r>
                      </m:e>
                    </m:nary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zh-CN" sz="2400" dirty="0">
                    <a:solidFill>
                      <a:srgbClr val="FF0000"/>
                    </a:solidFill>
                  </a:rPr>
                  <a:t>条件下，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Y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的条件数学期望，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它是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的函数。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𝒀</m:t>
                            </m:r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</m:e>
                    </m:d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𝑿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𝒀</m:t>
                                </m:r>
                              </m:e>
                            </m:d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e>
                            <m:r>
                              <a:rPr lang="en-US" altLang="zh-CN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nary>
                  </m:oMath>
                </a14:m>
                <a:r>
                  <a:rPr lang="en-US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zh-CN" sz="2400" dirty="0">
                    <a:solidFill>
                      <a:srgbClr val="FF0000"/>
                    </a:solidFill>
                  </a:rPr>
                  <a:t>条件下，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X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的条件数学期望，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它是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</a:rPr>
                  <a:t>的函数。</a:t>
                </a:r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FA73C355-CB0C-46EB-93CD-D420B83283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548680"/>
                <a:ext cx="8437418" cy="5400600"/>
              </a:xfrm>
              <a:blipFill>
                <a:blip r:embed="rId2"/>
                <a:stretch>
                  <a:fillRect l="-1084" t="-1242" r="-2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9995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4BAF1E0-1FB3-4C6B-B6E2-3DFB06EC035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x-none" altLang="zh-CN" sz="2400" b="0" dirty="0">
                    <a:solidFill>
                      <a:srgbClr val="FF0000"/>
                    </a:solidFill>
                  </a:rPr>
                  <a:t>3. </a:t>
                </a:r>
                <a:r>
                  <a:rPr lang="zh-CN" altLang="zh-CN" sz="2400" b="0" dirty="0">
                    <a:solidFill>
                      <a:srgbClr val="FF0000"/>
                    </a:solidFill>
                  </a:rPr>
                  <a:t>随机变量函数的条件数学期望（连续为例）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2400" b="0" dirty="0"/>
                  <a:t>设（</a:t>
                </a:r>
                <a:r>
                  <a:rPr lang="en-US" altLang="zh-CN" sz="2400" b="0" i="1" dirty="0"/>
                  <a:t>X</a:t>
                </a:r>
                <a:r>
                  <a:rPr lang="zh-CN" altLang="zh-CN" sz="2400" b="0" dirty="0"/>
                  <a:t>，</a:t>
                </a:r>
                <a:r>
                  <a:rPr lang="en-US" altLang="zh-CN" sz="2400" b="0" i="1" dirty="0"/>
                  <a:t>Y</a:t>
                </a:r>
                <a:r>
                  <a:rPr lang="zh-CN" altLang="zh-CN" sz="2400" b="0" dirty="0"/>
                  <a:t>）为二维连续随机变量，联合</a:t>
                </a:r>
                <a:r>
                  <a:rPr lang="en-US" altLang="zh-CN" sz="2400" b="0" dirty="0"/>
                  <a:t>PDF</a:t>
                </a:r>
                <a:r>
                  <a:rPr lang="zh-CN" altLang="zh-CN" sz="2400" b="0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b="0" dirty="0"/>
                  <a:t>,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sub>
                    </m:sSub>
                    <m:d>
                      <m:d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CN" sz="2400" b="0" dirty="0"/>
                  <a:t> </a:t>
                </a:r>
                <a:r>
                  <a:rPr lang="zh-CN" altLang="zh-CN" sz="2400" b="0" dirty="0"/>
                  <a:t>为在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zh-CN" sz="2400" b="0" dirty="0"/>
                  <a:t>条件下随机变量</a:t>
                </a:r>
                <a:r>
                  <a:rPr lang="en-US" altLang="zh-CN" sz="2400" b="0" i="1" dirty="0"/>
                  <a:t>Y</a:t>
                </a:r>
                <a:r>
                  <a:rPr lang="zh-CN" altLang="zh-CN" sz="2400" b="0" dirty="0"/>
                  <a:t>的条件</a:t>
                </a:r>
                <a:r>
                  <a:rPr lang="zh-CN" altLang="en-US" sz="2400" b="0" dirty="0"/>
                  <a:t>概率密度函数。</a:t>
                </a:r>
                <a:endParaRPr lang="en-US" altLang="zh-CN" sz="24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sz="24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400" b="0" dirty="0"/>
                  <a:t>1) </a:t>
                </a:r>
                <a:r>
                  <a:rPr lang="zh-CN" altLang="en-US" sz="2400" b="0" dirty="0"/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连续</a:t>
                </a:r>
                <a:r>
                  <a:rPr lang="zh-CN" altLang="zh-CN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函数，则在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条件下，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的条件学期望为</a:t>
                </a:r>
                <a:endParaRPr lang="en-US" altLang="zh-CN" sz="2400" b="0" dirty="0">
                  <a:solidFill>
                    <a:srgbClr val="000000"/>
                  </a:solidFill>
                  <a:latin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altLang="zh-CN" sz="2400" b="0" dirty="0">
                  <a:solidFill>
                    <a:srgbClr val="000000"/>
                  </a:solidFill>
                  <a:latin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的函数。</a:t>
                </a:r>
                <a:endParaRPr lang="en-US" altLang="zh-CN" sz="2400" b="0" dirty="0">
                  <a:solidFill>
                    <a:srgbClr val="000000"/>
                  </a:solidFill>
                  <a:latin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sz="2400" b="0" dirty="0">
                  <a:solidFill>
                    <a:srgbClr val="000000"/>
                  </a:solidFill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zh-CN" sz="4400" b="0" dirty="0">
                  <a:latin typeface="楷体" panose="02010609060101010101" pitchFamily="49" charset="-122"/>
                </a:endParaRPr>
              </a:p>
              <a:p>
                <a:pPr marL="0" indent="0">
                  <a:buNone/>
                </a:pPr>
                <a:endParaRPr lang="zh-CN" altLang="en-US" sz="2400" b="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4BAF1E0-1FB3-4C6B-B6E2-3DFB06EC0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08" t="-677" r="-2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5521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6E7840A-5B3B-42C0-BE04-0487AF7425D3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/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400" b="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b="0" dirty="0">
                    <a:solidFill>
                      <a:srgbClr val="000000"/>
                    </a:solidFill>
                    <a:cs typeface="Times New Roman" panose="02020603050405020304" pitchFamily="18" charset="0"/>
                  </a:rPr>
                  <a:t>）若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连续</a:t>
                </a:r>
                <a:r>
                  <a:rPr lang="zh-CN" altLang="zh-CN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函数，则在</a:t>
                </a:r>
                <a14:m>
                  <m:oMath xmlns:m="http://schemas.openxmlformats.org/officeDocument/2006/math">
                    <m:r>
                      <a:rPr lang="en-US" altLang="zh-CN" sz="2400" b="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条件下，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CN" altLang="zh-CN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的条件学期望为</a:t>
                </a:r>
                <a:endParaRPr lang="en-US" altLang="zh-CN" sz="2400" b="0" dirty="0">
                  <a:solidFill>
                    <a:srgbClr val="000000"/>
                  </a:solidFill>
                  <a:latin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altLang="zh-CN" sz="2400" b="0" dirty="0">
                  <a:solidFill>
                    <a:srgbClr val="000000"/>
                  </a:solidFill>
                  <a:latin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en-US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的函数。</a:t>
                </a:r>
                <a:endParaRPr lang="en-US" altLang="zh-CN" sz="2400" b="0" dirty="0">
                  <a:solidFill>
                    <a:srgbClr val="000000"/>
                  </a:solidFill>
                  <a:latin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特殊地，当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d>
                      <m:d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  <m:sSub>
                      <m:sSub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zh-CN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b="0" dirty="0">
                    <a:solidFill>
                      <a:srgbClr val="000000"/>
                    </a:solidFill>
                    <a:latin typeface="楷体" panose="02010609060101010101" pitchFamily="49" charset="-122"/>
                    <a:cs typeface="Times New Roman" panose="02020603050405020304" pitchFamily="18" charset="0"/>
                  </a:rPr>
                  <a:t>时，</a:t>
                </a:r>
                <a:endParaRPr lang="en-US" altLang="zh-CN" sz="2400" b="0" dirty="0">
                  <a:solidFill>
                    <a:srgbClr val="000000"/>
                  </a:solidFill>
                  <a:latin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)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nary>
                        <m:nary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𝑌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</m:sub>
                          </m:sSub>
                          <m:d>
                            <m:d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e>
                      </m:nary>
                    </m:oMath>
                  </m:oMathPara>
                </a14:m>
                <a:endParaRPr lang="en-US" altLang="zh-CN" sz="2400" b="0" dirty="0">
                  <a:solidFill>
                    <a:srgbClr val="000000"/>
                  </a:solidFill>
                  <a:latin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2400" b="0" dirty="0"/>
                  <a:t>小写为特定取值，</a:t>
                </a:r>
                <a:r>
                  <a:rPr lang="en-US" altLang="zh-CN" sz="2400" b="0" i="1" dirty="0"/>
                  <a:t>x</a:t>
                </a:r>
                <a:r>
                  <a:rPr lang="zh-CN" altLang="zh-CN" sz="2400" b="0" dirty="0"/>
                  <a:t>确定后，为一确定数值。</a:t>
                </a:r>
                <a:endParaRPr lang="en-US" altLang="zh-CN" sz="2400" b="0" dirty="0">
                  <a:solidFill>
                    <a:srgbClr val="000000"/>
                  </a:solidFill>
                  <a:latin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6E7840A-5B3B-42C0-BE04-0487AF7425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blipFill>
                <a:blip r:embed="rId2"/>
                <a:stretch>
                  <a:fillRect l="-1108" t="-677" r="-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659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92718E1-72EE-435A-8518-08A4BB38114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45473" y="332656"/>
                <a:ext cx="8790709" cy="590465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x-none" altLang="zh-CN" sz="2400" b="0" dirty="0">
                    <a:solidFill>
                      <a:srgbClr val="FF0000"/>
                    </a:solidFill>
                  </a:rPr>
                  <a:t>4</a:t>
                </a:r>
                <a:r>
                  <a:rPr lang="zh-CN" altLang="en-US" sz="2400" b="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b="0" dirty="0">
                    <a:solidFill>
                      <a:srgbClr val="FF0000"/>
                    </a:solidFill>
                  </a:rPr>
                  <a:t>条件为随机变量情况下的条件数学期望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zh-CN" sz="2400" b="0" dirty="0"/>
                  <a:t>条件为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2400" b="0" dirty="0"/>
                  <a:t>时，</a:t>
                </a:r>
                <a:r>
                  <a:rPr lang="zh-CN" altLang="zh-CN" sz="2400" b="0" dirty="0"/>
                  <a:t>相应的数学期望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b="0" dirty="0"/>
                  <a:t>、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b="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zh-CN" sz="2400" b="0" dirty="0"/>
                  <a:t>是</a:t>
                </a:r>
                <a:r>
                  <a:rPr lang="en-US" altLang="zh-CN" sz="2400" b="0" i="1" dirty="0"/>
                  <a:t>x</a:t>
                </a:r>
                <a:r>
                  <a:rPr lang="zh-CN" altLang="zh-CN" sz="2400" b="0" dirty="0"/>
                  <a:t>的函数；</a:t>
                </a: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en-US" sz="2400" b="0" dirty="0"/>
                  <a:t>若</a:t>
                </a:r>
                <a:r>
                  <a:rPr lang="zh-CN" altLang="zh-CN" sz="2400" b="0" dirty="0"/>
                  <a:t>在</a:t>
                </a:r>
                <a:r>
                  <a:rPr lang="en-US" altLang="zh-CN" sz="2400" b="0" i="1" dirty="0"/>
                  <a:t>X</a:t>
                </a:r>
                <a:r>
                  <a:rPr lang="zh-CN" altLang="zh-CN" sz="2400" b="0" dirty="0"/>
                  <a:t>条件下，则相应的数学期望为</a:t>
                </a:r>
                <a:r>
                  <a:rPr lang="en-US" altLang="zh-CN" sz="2400" b="0" i="1" dirty="0"/>
                  <a:t>X</a:t>
                </a:r>
                <a:r>
                  <a:rPr lang="zh-CN" altLang="zh-CN" sz="2400" b="0" dirty="0"/>
                  <a:t>的函数</a:t>
                </a:r>
                <a:r>
                  <a:rPr lang="zh-CN" altLang="en-US" sz="2400" b="0" dirty="0"/>
                  <a:t>，即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b="0" dirty="0"/>
                  <a:t>、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zh-CN" sz="2400" b="0" dirty="0"/>
                  <a:t>是随机变量，且是</a:t>
                </a:r>
                <a:r>
                  <a:rPr lang="en-US" altLang="zh-CN" sz="2400" b="0" i="1" dirty="0"/>
                  <a:t>X</a:t>
                </a:r>
                <a:r>
                  <a:rPr lang="zh-CN" altLang="zh-CN" sz="2400" b="0" dirty="0"/>
                  <a:t>的函数</a:t>
                </a:r>
                <a:r>
                  <a:rPr lang="zh-CN" altLang="en-US" sz="2400" b="0" dirty="0"/>
                  <a:t>。</a:t>
                </a:r>
                <a:endParaRPr lang="en-US" altLang="zh-CN" sz="2400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en-US" sz="2400" b="0" dirty="0"/>
                  <a:t>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b="0" dirty="0"/>
                  <a:t>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zh-CN" altLang="en-US" sz="2400" b="0" dirty="0"/>
                      <m:t>特定的取值</m:t>
                    </m:r>
                  </m:oMath>
                </a14:m>
                <a:r>
                  <a:rPr lang="zh-CN" altLang="en-US" sz="2400" b="0" dirty="0"/>
                  <a:t>、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b="0" dirty="0"/>
                  <a:t>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b="0" dirty="0"/>
                  <a:t>特定的取值，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 sz="2400" b="0" i="1" smtClean="0">
                        <a:latin typeface="Cambria Math" panose="02040503050406030204" pitchFamily="18" charset="0"/>
                      </a:rPr>
                      <m:t>是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  <m:r>
                      <m:rPr>
                        <m:nor/>
                      </m:rPr>
                      <a:rPr lang="zh-CN" altLang="en-US" sz="2400" b="0" dirty="0"/>
                      <m:t>特定的取值</m:t>
                    </m:r>
                  </m:oMath>
                </a14:m>
                <a:r>
                  <a:rPr lang="zh-CN" altLang="en-US" sz="2400" b="0" dirty="0"/>
                  <a:t>。</a:t>
                </a:r>
                <a:endParaRPr lang="en-US" altLang="zh-CN" sz="2400" b="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en-US" sz="2400" b="0" dirty="0"/>
                  <a:t>故可求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b="0" dirty="0"/>
                  <a:t>、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b="0" dirty="0"/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|"/>
                            <m:endChr m:val="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e>
                    </m:d>
                  </m:oMath>
                </a14:m>
                <a:r>
                  <a:rPr lang="zh-CN" altLang="en-US" sz="2400" b="0" dirty="0"/>
                  <a:t>的数学期望</a:t>
                </a:r>
                <a:endParaRPr lang="en-US" altLang="zh-CN" sz="2400" b="0" dirty="0"/>
              </a:p>
              <a:p>
                <a:pPr marL="0" indent="0"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400" b="0" dirty="0"/>
                  <a:t>,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zh-CN" altLang="en-US" b="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E92718E1-72EE-435A-8518-08A4BB3811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45473" y="332656"/>
                <a:ext cx="8790709" cy="5904656"/>
              </a:xfrm>
              <a:blipFill>
                <a:blip r:embed="rId2"/>
                <a:stretch>
                  <a:fillRect l="-1110" t="-1136" b="-15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867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CB237C5-7E75-46AA-A56A-E0DE05AFC91A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899592" y="1339453"/>
                <a:ext cx="7474024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设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、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Y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为离散随机变量，请证明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𝑬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800" i="1">
                                <a:latin typeface="Cambria Math" panose="02040503050406030204" pitchFamily="18" charset="0"/>
                              </a:rPr>
                              <m:t>𝒀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𝒀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CB237C5-7E75-46AA-A56A-E0DE05AFC9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899592" y="1339453"/>
                <a:ext cx="7474024" cy="1607344"/>
              </a:xfrm>
              <a:prstGeom prst="rect">
                <a:avLst/>
              </a:prstGeom>
              <a:blipFill>
                <a:blip r:embed="rId13"/>
                <a:stretch>
                  <a:fillRect l="-1305" r="-53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9684C359-A21E-4F06-910D-94BBE9549A0D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0C91105-FF48-4B00-B26E-656EF9360115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60C3C08-2788-4F39-BF89-4757AA4E3E34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74866062-7D8B-4D7B-B912-A41C288A7479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CF16F0CF-E64A-4674-8DE7-E43292CF8147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0A6B0C68-0470-4952-AD97-02503DBE510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7BE635B2-A127-4A9F-9F20-0E24A02195E7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FB595E4-1083-44FB-85DA-C6FCECCE4790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58025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855576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6416358"/>
              </p:ext>
            </p:extLst>
          </p:nvPr>
        </p:nvGraphicFramePr>
        <p:xfrm>
          <a:off x="1205344" y="1657349"/>
          <a:ext cx="7039063" cy="3499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51" name="Equation" r:id="rId3" imgW="3314700" imgH="1397000" progId="Equation.DSMT4">
                  <p:embed/>
                </p:oleObj>
              </mc:Choice>
              <mc:Fallback>
                <p:oleObj name="Equation" r:id="rId3" imgW="3314700" imgH="13970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344" y="1657349"/>
                        <a:ext cx="7039063" cy="34998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88251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EAF167D-F1F4-4A9E-BF41-6F082B13082E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0" y="260648"/>
                <a:ext cx="8610600" cy="561662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x-none" altLang="zh-CN" dirty="0">
                    <a:solidFill>
                      <a:srgbClr val="FF0000"/>
                    </a:solidFill>
                  </a:rPr>
                  <a:t>5. </a:t>
                </a:r>
                <a:r>
                  <a:rPr lang="zh-CN" altLang="zh-CN" dirty="0">
                    <a:solidFill>
                      <a:srgbClr val="FF0000"/>
                    </a:solidFill>
                  </a:rPr>
                  <a:t>全数学期望公式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b="0" dirty="0"/>
                  <a:t>常利用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b="0" dirty="0"/>
                  <a:t>,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d>
                              <m:dPr>
                                <m:begChr m:val="|"/>
                                <m:endChr m:val=""/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a:rPr lang="en-US" altLang="zh-CN" b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zh-CN" altLang="en-US" b="0" dirty="0"/>
                  <a:t>，</a:t>
                </a:r>
                <a:r>
                  <a:rPr lang="zh-CN" altLang="zh-CN" b="0" dirty="0"/>
                  <a:t>求</a:t>
                </a:r>
                <a:r>
                  <a:rPr lang="en-US" altLang="zh-CN" b="0" i="1" dirty="0"/>
                  <a:t>Y</a:t>
                </a:r>
                <a:r>
                  <a:rPr lang="zh-CN" altLang="zh-CN" b="0" dirty="0"/>
                  <a:t>、</a:t>
                </a:r>
                <a:r>
                  <a:rPr lang="en-US" altLang="zh-CN" b="0" dirty="0"/>
                  <a:t>g(Y)</a:t>
                </a:r>
                <a:r>
                  <a:rPr lang="zh-CN" altLang="zh-CN" b="0" dirty="0"/>
                  <a:t>的数学期望</a:t>
                </a:r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b="0" dirty="0"/>
                  <a:t>变换形式，有全数学期望公式</a:t>
                </a:r>
                <a:r>
                  <a:rPr lang="zh-CN" altLang="en-US" b="0" dirty="0"/>
                  <a:t>：</a:t>
                </a:r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2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altLang="zh-CN" sz="22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sz="2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sz="2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)]=</m:t>
                      </m:r>
                      <m:nary>
                        <m:nary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d>
                          <m:sSub>
                            <m:sSub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)]=</m:t>
                      </m:r>
                      <m:nary>
                        <m:naryPr>
                          <m:chr m:val="∑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d>
                                <m:dPr>
                                  <m:begChr m:val="|"/>
                                  <m:endChr m:val=""/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b="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BEAF167D-F1F4-4A9E-BF41-6F082B1308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0" y="260648"/>
                <a:ext cx="8610600" cy="5616624"/>
              </a:xfrm>
              <a:blipFill>
                <a:blip r:embed="rId2"/>
                <a:stretch>
                  <a:fillRect l="-849" t="-977" r="-3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7724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38AD0C3-6D39-42A1-B337-9CFF2E868F04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95537" y="260648"/>
                <a:ext cx="8519864" cy="5904656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例（习题</a:t>
                </a:r>
                <a:r>
                  <a:rPr lang="en-US" altLang="zh-CN" b="0" dirty="0"/>
                  <a:t>1.24</a:t>
                </a:r>
                <a:r>
                  <a:rPr lang="zh-CN" altLang="en-US" b="0" dirty="0"/>
                  <a:t>）：已知随机变量</a:t>
                </a:r>
                <a:r>
                  <a:rPr lang="en-US" altLang="zh-CN" b="0" i="1" dirty="0"/>
                  <a:t>X </a:t>
                </a:r>
                <a:r>
                  <a:rPr lang="zh-CN" altLang="en-US" b="0" dirty="0"/>
                  <a:t>服从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上的均匀分布，随机变量</a:t>
                </a:r>
                <a:r>
                  <a:rPr lang="en-US" altLang="zh-CN" b="0" i="1" dirty="0"/>
                  <a:t>Y </a:t>
                </a:r>
                <a:r>
                  <a:rPr lang="zh-CN" altLang="en-US" b="0" dirty="0"/>
                  <a:t>服从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dirty="0" err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b="0" dirty="0"/>
                  <a:t>上的均匀分布。试求</a:t>
                </a:r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0" dirty="0"/>
                  <a:t>（</a:t>
                </a:r>
                <a:r>
                  <a:rPr lang="en-US" altLang="zh-CN" b="0" dirty="0"/>
                  <a:t>1</a:t>
                </a:r>
                <a:r>
                  <a:rPr lang="zh-CN" altLang="en-US" b="0" dirty="0"/>
                  <a:t>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0≤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zh-CN" b="0" dirty="0"/>
                  <a:t>; </a:t>
                </a:r>
                <a:r>
                  <a:rPr lang="zh-CN" altLang="en-US" b="0" dirty="0"/>
                  <a:t>（</a:t>
                </a:r>
                <a:r>
                  <a:rPr lang="en-US" altLang="zh-CN" b="0" dirty="0"/>
                  <a:t>2</a:t>
                </a:r>
                <a:r>
                  <a:rPr lang="zh-CN" altLang="en-US" b="0" dirty="0"/>
                  <a:t>） 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zh-CN" altLang="en-US" b="0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解</a:t>
                </a:r>
                <a:r>
                  <a:rPr lang="zh-CN" altLang="en-US" dirty="0">
                    <a:sym typeface="Wingdings" panose="05000000000000000000" pitchFamily="2" charset="2"/>
                  </a:rPr>
                  <a:t>：</a:t>
                </a:r>
                <a:endParaRPr lang="en-US" altLang="zh-CN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zh-CN" altLang="en-US" b="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b="0" dirty="0">
                    <a:sym typeface="Wingdings" panose="05000000000000000000" pitchFamily="2" charset="2"/>
                  </a:rPr>
                  <a:t>1</a:t>
                </a:r>
                <a:r>
                  <a:rPr lang="zh-CN" altLang="en-US" b="0" dirty="0"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</m:oMath>
                </a14:m>
                <a:r>
                  <a:rPr lang="en-US" altLang="zh-CN" b="0" dirty="0"/>
                  <a:t>;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b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𝑌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𝑦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|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f>
                      <m:fPr>
                        <m:ctrlPr>
                          <a:rPr lang="en-US" altLang="zh-CN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en-US" altLang="zh-CN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en-US" altLang="zh-CN" b="0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𝑥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,(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f>
                            <m:f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𝑎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−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𝑑𝑦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  <m:sub>
                          <m:d>
                            <m:dPr>
                              <m:begChr m:val="|"/>
                              <m:endChr m:val="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mr>
                              </m:m>
                            </m:e>
                          </m:d>
                        </m:sub>
                      </m:sSub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𝑎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+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𝑥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sym typeface="Wingdings" panose="05000000000000000000" pitchFamily="2" charset="2"/>
                        </a:rPr>
                        <m:t>  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&lt;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altLang="zh-CN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b="0" dirty="0"/>
                  <a:t>故 </a:t>
                </a:r>
                <a:r>
                  <a:rPr lang="en-US" altLang="zh-CN" b="0" dirty="0"/>
                  <a:t> 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𝑎</m:t>
                    </m:r>
                    <m:r>
                      <a:rPr lang="en-US" altLang="zh-CN" b="0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0" dirty="0"/>
                  <a:t> </a:t>
                </a:r>
              </a:p>
              <a:p>
                <a:pPr marL="0" indent="0">
                  <a:buNone/>
                </a:pPr>
                <a:r>
                  <a:rPr lang="zh-CN" altLang="en-US" b="0" dirty="0"/>
                  <a:t>（</a:t>
                </a:r>
                <a:r>
                  <a:rPr lang="en-US" altLang="zh-CN" b="0" dirty="0"/>
                  <a:t>2</a:t>
                </a:r>
                <a:r>
                  <a:rPr lang="zh-CN" altLang="en-US" b="0" dirty="0"/>
                  <a:t>）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n-US" altLang="zh-CN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𝑎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+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𝑋</m:t>
                            </m:r>
                          </m:num>
                          <m:den>
                            <m:r>
                              <a:rPr lang="en-US" altLang="zh-CN" b="0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zh-CN" altLang="en-US" b="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F38AD0C3-6D39-42A1-B337-9CFF2E868F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95537" y="260648"/>
                <a:ext cx="8519864" cy="5904656"/>
              </a:xfrm>
              <a:blipFill>
                <a:blip r:embed="rId2"/>
                <a:stretch>
                  <a:fillRect l="-8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046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6E7840A-5B3B-42C0-BE04-0487AF7425D3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49382" y="260648"/>
                <a:ext cx="8714510" cy="6048672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  <a:tabLst>
                    <a:tab pos="342900" algn="l"/>
                  </a:tabLst>
                </a:pPr>
                <a:r>
                  <a:rPr lang="zh-CN" altLang="zh-CN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例： 设某日进入商店的顾客人数是随机变量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，平均值为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；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是的第</a:t>
                </a:r>
                <a:r>
                  <a:rPr lang="en-US" altLang="zh-CN" sz="2400" dirty="0" err="1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个顾客所花的钱数，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1, 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2,…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是统计独立同分布的随机变量，且与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统计独立，均值为</a:t>
                </a:r>
                <a:r>
                  <a:rPr lang="en-US" altLang="zh-CN" sz="2400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。试求该商店一天的营业额的均值。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  <a:tabLst>
                    <a:tab pos="342900" algn="l"/>
                  </a:tabLst>
                </a:pPr>
                <a:r>
                  <a:rPr lang="zh-CN" altLang="en-US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解：根据题意，商店的营业额表示为</a:t>
                </a:r>
                <a:endParaRPr lang="en-US" altLang="zh-CN" sz="24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  <a:tabLst>
                    <a:tab pos="342900" algn="l"/>
                  </a:tabLst>
                </a:pPr>
                <a:r>
                  <a:rPr lang="en-US" altLang="zh-CN" sz="2400" b="0" i="1" dirty="0">
                    <a:latin typeface="Cambria Math" panose="02040503050406030204" pitchFamily="18" charset="0"/>
                    <a:ea typeface="+mn-ea"/>
                  </a:rPr>
                  <a:t>         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latin typeface="Cambria Math" panose="02040503050406030204" pitchFamily="18" charset="0"/>
                        <a:ea typeface="+mn-ea"/>
                      </a:rPr>
                      <m:t>𝑌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b="0" i="1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>
                            <a:latin typeface="Cambria Math" panose="02040503050406030204" pitchFamily="18" charset="0"/>
                            <a:ea typeface="+mn-ea"/>
                          </a:rPr>
                          <m:t>𝑖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+mn-ea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+mn-ea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  <a:ea typeface="+mn-ea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  <a:ea typeface="+mn-ea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zh-CN" sz="2400" b="0" i="1" dirty="0">
                    <a:latin typeface="Cambria Math" panose="02040503050406030204" pitchFamily="18" charset="0"/>
                    <a:ea typeface="+mn-ea"/>
                  </a:rPr>
                  <a:t> ,      N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是离散随机变量，取值为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… 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  <a:tabLst>
                    <a:tab pos="342900" algn="l"/>
                  </a:tabLst>
                </a:pPr>
                <a:r>
                  <a:rPr lang="zh-CN" altLang="en-US" sz="2400" dirty="0">
                    <a:latin typeface="Arial" panose="020B0604020202020204" pitchFamily="34" charset="0"/>
                    <a:ea typeface="+mn-ea"/>
                  </a:rPr>
                  <a:t>  再根据全数学期望公式</a:t>
                </a:r>
                <a:endParaRPr lang="en-US" altLang="zh-CN" sz="2400" dirty="0">
                  <a:latin typeface="Arial" panose="020B0604020202020204" pitchFamily="34" charset="0"/>
                  <a:ea typeface="+mn-ea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800" dirty="0"/>
              </a:p>
              <a:p>
                <a:pPr>
                  <a:lnSpc>
                    <a:spcPct val="150000"/>
                  </a:lnSpc>
                </a:pPr>
                <a:endParaRPr lang="en-US" altLang="zh-CN" sz="28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86E7840A-5B3B-42C0-BE04-0487AF7425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49382" y="260648"/>
                <a:ext cx="8714510" cy="6048672"/>
              </a:xfrm>
              <a:blipFill>
                <a:blip r:embed="rId3"/>
                <a:stretch>
                  <a:fillRect l="-11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76B19C45-40EF-4A37-8AF5-E2E6795EAC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218478"/>
              </p:ext>
            </p:extLst>
          </p:nvPr>
        </p:nvGraphicFramePr>
        <p:xfrm>
          <a:off x="2043221" y="4149080"/>
          <a:ext cx="5126831" cy="1644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5" name="公式" r:id="rId4" imgW="2654300" imgH="850900" progId="Equation.3">
                  <p:embed/>
                </p:oleObj>
              </mc:Choice>
              <mc:Fallback>
                <p:oleObj name="公式" r:id="rId4" imgW="2654300" imgH="850900" progId="Equation.3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76B19C45-40EF-4A37-8AF5-E2E6795EAC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221" y="4149080"/>
                        <a:ext cx="5126831" cy="164425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83846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5583A-4299-4ACB-84EF-E7C1FA809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1.4.5 </a:t>
            </a:r>
            <a:r>
              <a:rPr lang="zh-CN" altLang="zh-CN" dirty="0"/>
              <a:t>数字期望、方差的特性和重要不等式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AD90002-FF1E-4D18-A2E4-19418647E0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8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zh-CN" sz="2800" dirty="0">
                    <a:solidFill>
                      <a:srgbClr val="FF0000"/>
                    </a:solidFill>
                  </a:rPr>
                  <a:t>、数学期望的性质</a:t>
                </a:r>
              </a:p>
              <a:p>
                <a:pPr marL="642938" lvl="1" indent="-342900">
                  <a:lnSpc>
                    <a:spcPct val="120000"/>
                  </a:lnSpc>
                  <a:buAutoNum type="arabicParenR"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C</a:t>
                </a:r>
                <a:r>
                  <a:rPr lang="zh-CN" altLang="zh-CN" sz="2400" dirty="0">
                    <a:solidFill>
                      <a:srgbClr val="000000"/>
                    </a:solidFill>
                  </a:rPr>
                  <a:t>为常数，则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zh-CN" sz="2400" dirty="0">
                    <a:solidFill>
                      <a:srgbClr val="000000"/>
                    </a:solidFill>
                  </a:rPr>
                  <a:t>；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marL="642938" lvl="1" indent="-342900">
                  <a:lnSpc>
                    <a:spcPct val="120000"/>
                  </a:lnSpc>
                  <a:buAutoNum type="arabicParenR"/>
                </a:pPr>
                <a:r>
                  <a:rPr lang="en-US" altLang="zh-CN" sz="2400" dirty="0"/>
                  <a:t>X</a:t>
                </a:r>
                <a:r>
                  <a:rPr lang="zh-CN" altLang="zh-CN" sz="2400" dirty="0"/>
                  <a:t>为随机变量，</a:t>
                </a:r>
                <a:r>
                  <a:rPr lang="en-US" altLang="zh-CN" sz="2400" i="1" dirty="0"/>
                  <a:t>a</a:t>
                </a:r>
                <a:r>
                  <a:rPr lang="zh-CN" altLang="zh-CN" sz="2400" dirty="0"/>
                  <a:t>、</a:t>
                </a:r>
                <a:r>
                  <a:rPr lang="en-US" altLang="zh-CN" sz="2400" i="1" dirty="0"/>
                  <a:t>b</a:t>
                </a:r>
                <a:r>
                  <a:rPr lang="zh-CN" altLang="zh-CN" sz="2400" dirty="0"/>
                  <a:t>为常数，则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𝑎𝑋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𝑎𝐸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zh-CN" altLang="zh-CN" sz="2400" dirty="0"/>
                  <a:t>；</a:t>
                </a:r>
                <a:endParaRPr lang="en-US" altLang="zh-CN" sz="2400" dirty="0"/>
              </a:p>
              <a:p>
                <a:pPr marL="300038" lvl="1" indent="0">
                  <a:lnSpc>
                    <a:spcPct val="120000"/>
                  </a:lnSpc>
                  <a:buNone/>
                </a:pPr>
                <a:r>
                  <a:rPr lang="en-US" altLang="zh-CN" sz="2400" dirty="0"/>
                  <a:t>3</a:t>
                </a:r>
                <a:r>
                  <a:rPr lang="zh-CN" altLang="zh-CN" sz="24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2400" dirty="0"/>
                  <a:t>；</a:t>
                </a:r>
                <a:endParaRPr lang="en-US" altLang="zh-CN" sz="2400" dirty="0"/>
              </a:p>
              <a:p>
                <a:pPr marL="300038" lvl="1" indent="0">
                  <a:lnSpc>
                    <a:spcPct val="120000"/>
                  </a:lnSpc>
                  <a:buNone/>
                </a:pPr>
                <a:r>
                  <a:rPr lang="en-US" altLang="zh-CN" sz="2400" dirty="0"/>
                  <a:t>4</a:t>
                </a:r>
                <a:r>
                  <a:rPr lang="zh-CN" altLang="zh-CN" sz="2400" dirty="0"/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2400" dirty="0"/>
                  <a:t>统计独立，则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...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]⋅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]⋅...⋅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2400" dirty="0"/>
                  <a:t>。</a:t>
                </a:r>
                <a:endParaRPr lang="en-US" altLang="zh-CN" sz="2400" dirty="0"/>
              </a:p>
              <a:p>
                <a:pPr marL="300038" lvl="1" indent="0">
                  <a:lnSpc>
                    <a:spcPct val="120000"/>
                  </a:lnSpc>
                  <a:buNone/>
                </a:pPr>
                <a:endParaRPr lang="zh-CN" altLang="zh-CN" dirty="0"/>
              </a:p>
              <a:p>
                <a:pPr marL="300038" lvl="1" indent="0">
                  <a:lnSpc>
                    <a:spcPct val="120000"/>
                  </a:lnSpc>
                  <a:buNone/>
                </a:pPr>
                <a:endParaRPr lang="en-US" altLang="zh-CN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AD90002-FF1E-4D18-A2E4-19418647E0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69" t="-10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373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AD90002-FF1E-4D18-A2E4-19418647E0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1296" y="548680"/>
                <a:ext cx="7983152" cy="5328592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8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zh-CN" sz="2800" dirty="0">
                    <a:solidFill>
                      <a:srgbClr val="FF0000"/>
                    </a:solidFill>
                  </a:rPr>
                  <a:t>、方差的性质</a:t>
                </a:r>
              </a:p>
              <a:p>
                <a:pPr marL="300038" lvl="1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1</a:t>
                </a:r>
                <a:r>
                  <a:rPr lang="zh-CN" altLang="zh-CN" sz="2400" dirty="0"/>
                  <a:t>）如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zh-CN" sz="2400" dirty="0"/>
                  <a:t>，则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2400" dirty="0"/>
                  <a:t>；</a:t>
                </a:r>
              </a:p>
              <a:p>
                <a:pPr marL="300038" lvl="1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2</a:t>
                </a:r>
                <a:r>
                  <a:rPr lang="zh-CN" altLang="zh-CN" sz="24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𝑎𝑋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2400" dirty="0"/>
                  <a:t>；</a:t>
                </a:r>
              </a:p>
              <a:p>
                <a:pPr marL="300038" lvl="1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3</a:t>
                </a:r>
                <a:r>
                  <a:rPr lang="zh-CN" altLang="zh-CN" sz="2400" dirty="0"/>
                  <a:t>）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]=0</m:t>
                    </m:r>
                  </m:oMath>
                </a14:m>
                <a:r>
                  <a:rPr lang="zh-CN" altLang="zh-CN" sz="2400" dirty="0"/>
                  <a:t>当且仅当存在常数</a:t>
                </a:r>
                <a:r>
                  <a:rPr lang="en-US" altLang="zh-CN" sz="2400" i="1" dirty="0"/>
                  <a:t>c</a:t>
                </a:r>
                <a:r>
                  <a:rPr lang="zh-CN" altLang="zh-CN" sz="2400" dirty="0"/>
                  <a:t>，使得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}=1</m:t>
                    </m:r>
                  </m:oMath>
                </a14:m>
                <a:r>
                  <a:rPr lang="zh-CN" altLang="zh-CN" sz="2400" dirty="0"/>
                  <a:t>；</a:t>
                </a:r>
              </a:p>
              <a:p>
                <a:pPr marL="300038" lvl="1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4</a:t>
                </a:r>
                <a:r>
                  <a:rPr lang="zh-CN" altLang="zh-CN" sz="2400" dirty="0"/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zh-CN" sz="2400" dirty="0"/>
                  <a:t>统计独立，则</a:t>
                </a:r>
                <a:endParaRPr lang="en-US" altLang="zh-CN" sz="2400" dirty="0"/>
              </a:p>
              <a:p>
                <a:pPr marL="300038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altLang="zh-CN" sz="2400" dirty="0"/>
                  <a:t>  </a:t>
                </a:r>
                <a:r>
                  <a:rPr lang="zh-CN" altLang="zh-CN" sz="2400" dirty="0"/>
                  <a:t>，</a:t>
                </a:r>
                <a:endParaRPr lang="en-US" altLang="zh-CN" sz="2400" dirty="0"/>
              </a:p>
              <a:p>
                <a:pPr marL="300038" lvl="1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+...+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]+...+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2400" dirty="0"/>
                  <a:t>。</a:t>
                </a:r>
                <a:endParaRPr lang="zh-CN" altLang="zh-CN" dirty="0"/>
              </a:p>
              <a:p>
                <a:pPr marL="300038" lvl="1" indent="0">
                  <a:lnSpc>
                    <a:spcPct val="120000"/>
                  </a:lnSpc>
                  <a:buNone/>
                </a:pPr>
                <a:endParaRPr lang="en-US" altLang="zh-CN" dirty="0">
                  <a:solidFill>
                    <a:srgbClr val="000000"/>
                  </a:solidFill>
                </a:endParaRPr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AD90002-FF1E-4D18-A2E4-19418647E0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1296" y="548680"/>
                <a:ext cx="7983152" cy="5328592"/>
              </a:xfrm>
              <a:blipFill>
                <a:blip r:embed="rId2"/>
                <a:stretch>
                  <a:fillRect l="-1604" t="-8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24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96FBE13-14CA-4B2F-9CBC-5F387CF92372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59327" y="332656"/>
                <a:ext cx="8839200" cy="5283631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柯西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-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施瓦茨（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Cauchy-Schwarz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）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不等式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zh-CN" sz="20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begChr m:val="|"/>
                        <m:endChr m:val="|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]&lt;∞</m:t>
                    </m:r>
                  </m:oMath>
                </a14:m>
                <a:r>
                  <a:rPr lang="zh-CN" altLang="zh-CN" sz="20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begChr m:val="|"/>
                        <m:endChr m:val="|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]&lt;∞</m:t>
                    </m:r>
                  </m:oMath>
                </a14:m>
                <a:r>
                  <a:rPr lang="zh-CN" altLang="zh-CN" sz="2000" dirty="0"/>
                  <a:t>，则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𝑋𝑌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zh-CN" sz="2000" dirty="0"/>
                  <a:t>当且仅当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𝑎𝑋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}=1</m:t>
                    </m:r>
                  </m:oMath>
                </a14:m>
                <a:r>
                  <a:rPr lang="zh-CN" altLang="zh-CN" sz="2000" dirty="0"/>
                  <a:t>时等号成立，</a:t>
                </a:r>
                <a:r>
                  <a:rPr lang="en-US" altLang="zh-CN" sz="2000" dirty="0"/>
                  <a:t>a</a:t>
                </a:r>
                <a:r>
                  <a:rPr lang="zh-CN" altLang="zh-CN" sz="2000" dirty="0"/>
                  <a:t>为常数。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zh-CN" sz="2000" dirty="0"/>
                  <a:t>证明：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       </a:t>
                </a:r>
                <a:r>
                  <a:rPr lang="zh-CN" altLang="zh-CN" sz="2000" dirty="0"/>
                  <a:t>对任意实数</a:t>
                </a:r>
                <a:r>
                  <a:rPr lang="en-US" altLang="zh-CN" sz="2000" dirty="0"/>
                  <a:t>a</a:t>
                </a:r>
                <a:r>
                  <a:rPr lang="zh-CN" altLang="zh-CN" sz="2000" dirty="0"/>
                  <a:t>，定义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𝑎𝑋</m:t>
                                </m:r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𝑎𝐸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𝑋𝑌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2000" dirty="0"/>
                  <a:t>，显然，对一切</a:t>
                </a:r>
                <a:r>
                  <a:rPr lang="en-US" altLang="zh-CN" sz="2000" dirty="0"/>
                  <a:t>a</a:t>
                </a:r>
                <a:r>
                  <a:rPr lang="zh-CN" altLang="zh-CN" sz="20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)≥0</m:t>
                    </m:r>
                  </m:oMath>
                </a14:m>
                <a:r>
                  <a:rPr lang="zh-CN" altLang="zh-CN" sz="2000" dirty="0"/>
                  <a:t>。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      </a:t>
                </a:r>
                <a:r>
                  <a:rPr lang="zh-CN" altLang="zh-CN" sz="2000" dirty="0"/>
                  <a:t>故二次方程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lang="zh-CN" altLang="zh-CN" sz="2000" dirty="0"/>
                  <a:t>或者没有实根或者只有一个重根。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zh-CN" sz="2000" dirty="0"/>
                  <a:t>因此方程的判决式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𝑋𝑌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zh-CN" altLang="zh-CN" sz="2000" dirty="0"/>
                  <a:t>，成立。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zh-CN" sz="2000" dirty="0"/>
                  <a:t>此外，方程有一个重根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zh-CN" sz="2000" dirty="0"/>
                  <a:t>存在的条件是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𝑋𝑌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zh-CN" sz="2000" dirty="0"/>
                  <a:t>，此时</a:t>
                </a:r>
                <a:endParaRPr lang="en-US" altLang="zh-CN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zh-CN" sz="2000" dirty="0"/>
                  <a:t>，即</a:t>
                </a:r>
                <a:endParaRPr lang="en-US" altLang="zh-CN" sz="2000" dirty="0"/>
              </a:p>
              <a:p>
                <a:pPr marL="0" indent="0" algn="ctr">
                  <a:buNone/>
                </a:pPr>
                <a:r>
                  <a:rPr lang="en-US" altLang="zh-CN" sz="2000" dirty="0"/>
                  <a:t>      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zh-CN" sz="2000" dirty="0"/>
                  <a:t>完毕。</a:t>
                </a: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96FBE13-14CA-4B2F-9CBC-5F387CF923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59327" y="332656"/>
                <a:ext cx="8839200" cy="5283631"/>
              </a:xfrm>
              <a:blipFill>
                <a:blip r:embed="rId2"/>
                <a:stretch>
                  <a:fillRect l="-1034" t="-12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947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F89ED11-3C75-4982-8B6F-140CA1915D08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00892" y="188640"/>
                <a:ext cx="8943108" cy="576063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4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比诺梅不等式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zh-CN" altLang="zh-CN" sz="2000" dirty="0"/>
                  <a:t>设随机变量</a:t>
                </a:r>
                <a:r>
                  <a:rPr lang="en-US" altLang="zh-CN" sz="2000" dirty="0"/>
                  <a:t>X</a:t>
                </a:r>
                <a:r>
                  <a:rPr lang="zh-CN" altLang="zh-CN" sz="2000" dirty="0"/>
                  <a:t>的</a:t>
                </a:r>
                <a:r>
                  <a:rPr lang="en-US" altLang="zh-CN" sz="2000" dirty="0"/>
                  <a:t>r</a:t>
                </a:r>
                <a:r>
                  <a:rPr lang="zh-CN" altLang="zh-CN" sz="2000" dirty="0"/>
                  <a:t>阶矩存在，则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zh-CN" altLang="zh-CN" sz="2000" dirty="0"/>
                  <a:t>，有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|"/>
                        <m:endChr m:val="|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}≤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e>
                        </m:d>
                      </m:num>
                      <m:den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000" dirty="0"/>
                  <a:t>。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zh-CN" sz="2000" dirty="0"/>
                  <a:t>证明：设</a:t>
                </a:r>
                <a:r>
                  <a:rPr lang="en-US" altLang="zh-CN" sz="2000" dirty="0"/>
                  <a:t>X</a:t>
                </a:r>
                <a:r>
                  <a:rPr lang="zh-CN" altLang="zh-CN" sz="2000" dirty="0"/>
                  <a:t>的分布函数为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000" dirty="0"/>
                  <a:t>，则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|"/>
                        <m:endChr m:val="|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}=</m:t>
                    </m:r>
                    <m:nary>
                      <m:naryPr>
                        <m:supHide m:val="on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  <m:sup/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2000"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supHide m:val="on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|"/>
                            <m:endChr m:val="|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𝜀</m:t>
                        </m:r>
                      </m:sub>
                      <m:sup/>
                      <m:e>
                        <m:f>
                          <m:f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zh-CN" sz="2000">
                        <a:latin typeface="Cambria Math" panose="02040503050406030204" pitchFamily="18" charset="0"/>
                      </a:rPr>
                      <m:t>≤</m:t>
                    </m:r>
                    <m:nary>
                      <m:nary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p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)=</m:t>
                        </m:r>
                      </m:e>
                    </m:nary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zh-CN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altLang="zh-CN" sz="200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num>
                      <m:den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altLang="zh-CN" sz="2000" dirty="0"/>
                  <a:t>    </a:t>
                </a:r>
                <a:r>
                  <a:rPr lang="zh-CN" altLang="zh-CN" sz="2000" dirty="0"/>
                  <a:t>成立。</a:t>
                </a: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lvl="0">
                  <a:buFont typeface="Wingdings" panose="05000000000000000000" pitchFamily="2" charset="2"/>
                  <a:buChar char="l"/>
                </a:pPr>
                <a:r>
                  <a:rPr lang="zh-CN" altLang="zh-CN" sz="2000" dirty="0"/>
                  <a:t>令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zh-CN" sz="2000" dirty="0"/>
                  <a:t>，将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zh-CN" altLang="zh-CN" sz="2000" dirty="0"/>
                  <a:t>，得到</a:t>
                </a:r>
                <a:r>
                  <a:rPr lang="en-US" altLang="zh-CN" sz="2000" dirty="0"/>
                  <a:t>Chebyshev</a:t>
                </a:r>
                <a:r>
                  <a:rPr lang="zh-CN" altLang="zh-CN" sz="2000" dirty="0"/>
                  <a:t>不等式</a:t>
                </a:r>
                <a:endParaRPr lang="en-US" altLang="zh-CN" sz="2000" dirty="0"/>
              </a:p>
              <a:p>
                <a:pPr marL="0" indent="0" algn="ctr">
                  <a:buNone/>
                </a:pP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zh-CN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00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d>
                      </m:num>
                      <m:den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zh-CN" sz="2000" dirty="0"/>
                  <a:t>可以确定尾部概率的上边界，</a:t>
                </a:r>
                <a:r>
                  <a:rPr lang="en-US" altLang="zh-CN" sz="2000" dirty="0"/>
                  <a:t>PDF</a:t>
                </a:r>
                <a:r>
                  <a:rPr lang="zh-CN" altLang="zh-CN" sz="2000" dirty="0"/>
                  <a:t>尾部下面的面积，称为尾部概率。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zh-CN" sz="2000" dirty="0"/>
                  <a:t>或</a:t>
                </a:r>
                <a:endParaRPr lang="en-US" altLang="zh-CN" sz="20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{|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]|&lt;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}≥1−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zh-CN" sz="2000" dirty="0"/>
                  <a:t>，</a:t>
                </a:r>
                <a:endParaRPr lang="en-US" altLang="zh-CN" sz="2000" dirty="0"/>
              </a:p>
              <a:p>
                <a:pPr marL="0" indent="0">
                  <a:buNone/>
                </a:pPr>
                <a:r>
                  <a:rPr lang="zh-CN" altLang="zh-CN" sz="2000" dirty="0"/>
                  <a:t>用于估计随机变量偏离其均值小于任意正数的概率。</a:t>
                </a:r>
              </a:p>
              <a:p>
                <a:pPr marL="0" indent="0">
                  <a:buNone/>
                </a:pPr>
                <a:r>
                  <a:rPr lang="zh-CN" altLang="zh-CN" sz="2000" dirty="0"/>
                  <a:t>利用</a:t>
                </a:r>
                <a:r>
                  <a:rPr lang="en-US" altLang="zh-CN" sz="2000" dirty="0"/>
                  <a:t>Chebyshev</a:t>
                </a:r>
                <a:r>
                  <a:rPr lang="zh-CN" altLang="zh-CN" sz="2000" dirty="0"/>
                  <a:t>不等式，可以在只知道均值和方差的条件下，推导概率的界。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F89ED11-3C75-4982-8B6F-140CA1915D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00892" y="188640"/>
                <a:ext cx="8943108" cy="5760639"/>
              </a:xfrm>
              <a:blipFill>
                <a:blip r:embed="rId3"/>
                <a:stretch>
                  <a:fillRect l="-1091" t="-11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0643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BE327629-487A-4F52-B96F-7A341C401F77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251519" y="620688"/>
            <a:ext cx="7209707" cy="525658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dirty="0">
                <a:solidFill>
                  <a:srgbClr val="000000"/>
                </a:solidFill>
              </a:rPr>
              <a:t>1.5  </a:t>
            </a:r>
            <a:r>
              <a:rPr lang="zh-CN" altLang="en-US" dirty="0">
                <a:solidFill>
                  <a:srgbClr val="000000"/>
                </a:solidFill>
              </a:rPr>
              <a:t>特征函数</a:t>
            </a:r>
            <a:endParaRPr lang="en-US" altLang="zh-CN" dirty="0">
              <a:solidFill>
                <a:srgbClr val="00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dirty="0"/>
              <a:t>他是谁？</a:t>
            </a:r>
            <a:r>
              <a:rPr lang="zh-CN" altLang="en-US" dirty="0">
                <a:solidFill>
                  <a:schemeClr val="accent2"/>
                </a:solidFill>
              </a:rPr>
              <a:t>让</a:t>
            </a:r>
            <a:r>
              <a:rPr lang="en-US" altLang="zh-CN" dirty="0">
                <a:solidFill>
                  <a:schemeClr val="accent2"/>
                </a:solidFill>
              </a:rPr>
              <a:t>·</a:t>
            </a:r>
            <a:r>
              <a:rPr lang="zh-CN" altLang="en-US" dirty="0">
                <a:solidFill>
                  <a:schemeClr val="accent2"/>
                </a:solidFill>
              </a:rPr>
              <a:t>巴普蒂斯</a:t>
            </a:r>
            <a:r>
              <a:rPr lang="en-US" altLang="zh-CN" dirty="0">
                <a:solidFill>
                  <a:schemeClr val="accent2"/>
                </a:solidFill>
              </a:rPr>
              <a:t>·</a:t>
            </a:r>
            <a:r>
              <a:rPr lang="zh-CN" altLang="en-US" dirty="0">
                <a:solidFill>
                  <a:schemeClr val="accent2"/>
                </a:solidFill>
              </a:rPr>
              <a:t>约瑟夫</a:t>
            </a:r>
            <a:r>
              <a:rPr lang="en-US" altLang="zh-CN" dirty="0">
                <a:solidFill>
                  <a:schemeClr val="accent2"/>
                </a:solidFill>
              </a:rPr>
              <a:t>·</a:t>
            </a:r>
            <a:r>
              <a:rPr lang="zh-CN" altLang="en-US" dirty="0">
                <a:solidFill>
                  <a:schemeClr val="accent2"/>
                </a:solidFill>
              </a:rPr>
              <a:t>傅里叶</a:t>
            </a:r>
            <a:r>
              <a:rPr lang="zh-CN" altLang="en-US" b="0" dirty="0"/>
              <a:t>（</a:t>
            </a:r>
            <a:r>
              <a:rPr lang="en-US" altLang="zh-CN" b="0" dirty="0"/>
              <a:t>Baron Jean Baptiste Joseph Fourier</a:t>
            </a:r>
            <a:r>
              <a:rPr lang="zh-CN" altLang="en-US" b="0" dirty="0"/>
              <a:t>，</a:t>
            </a:r>
            <a:r>
              <a:rPr lang="en-US" altLang="zh-CN" b="0" dirty="0"/>
              <a:t>1768</a:t>
            </a:r>
            <a:r>
              <a:rPr lang="zh-CN" altLang="en-US" b="0" dirty="0"/>
              <a:t>年</a:t>
            </a:r>
            <a:r>
              <a:rPr lang="en-US" altLang="zh-CN" b="0" dirty="0"/>
              <a:t>3</a:t>
            </a:r>
            <a:r>
              <a:rPr lang="zh-CN" altLang="en-US" b="0" dirty="0"/>
              <a:t>月</a:t>
            </a:r>
            <a:r>
              <a:rPr lang="en-US" altLang="zh-CN" b="0" dirty="0"/>
              <a:t>21</a:t>
            </a:r>
            <a:r>
              <a:rPr lang="zh-CN" altLang="en-US" b="0" dirty="0"/>
              <a:t>日</a:t>
            </a:r>
            <a:r>
              <a:rPr lang="en-US" altLang="zh-CN" b="0" dirty="0"/>
              <a:t>-1830</a:t>
            </a:r>
            <a:r>
              <a:rPr lang="zh-CN" altLang="en-US" b="0" dirty="0"/>
              <a:t>年</a:t>
            </a:r>
            <a:r>
              <a:rPr lang="en-US" altLang="zh-CN" b="0" dirty="0"/>
              <a:t>5</a:t>
            </a:r>
            <a:r>
              <a:rPr lang="zh-CN" altLang="en-US" b="0" dirty="0"/>
              <a:t>月</a:t>
            </a:r>
            <a:r>
              <a:rPr lang="en-US" altLang="zh-CN" b="0" dirty="0"/>
              <a:t>16</a:t>
            </a:r>
            <a:r>
              <a:rPr lang="zh-CN" altLang="en-US" b="0" dirty="0"/>
              <a:t>日），法国欧塞尔人，</a:t>
            </a:r>
            <a:r>
              <a:rPr lang="zh-CN" altLang="en-US" b="0" u="sng" dirty="0">
                <a:solidFill>
                  <a:schemeClr val="accent2"/>
                </a:solidFill>
              </a:rPr>
              <a:t>著名</a:t>
            </a:r>
            <a:r>
              <a:rPr lang="zh-CN" altLang="en-US" b="0" u="sng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数学家</a:t>
            </a:r>
            <a:r>
              <a:rPr lang="zh-CN" altLang="en-US" b="0" u="sng" dirty="0">
                <a:solidFill>
                  <a:schemeClr val="accent2"/>
                </a:solidFill>
              </a:rPr>
              <a:t>、物理学家。</a:t>
            </a:r>
            <a:endParaRPr lang="en-US" altLang="zh-CN" b="0" u="sng" dirty="0">
              <a:solidFill>
                <a:schemeClr val="accent2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0" dirty="0"/>
              <a:t>傅里叶变换</a:t>
            </a:r>
            <a:r>
              <a:rPr lang="en-US" altLang="zh-CN" b="0" dirty="0"/>
              <a:t>&amp;</a:t>
            </a:r>
            <a:r>
              <a:rPr lang="zh-CN" altLang="en-US" b="0" dirty="0"/>
              <a:t>傅里叶级数的物理意义是什么？</a:t>
            </a:r>
            <a:endParaRPr lang="en-US" altLang="zh-CN" b="0" dirty="0"/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b="0" dirty="0">
                <a:solidFill>
                  <a:srgbClr val="FF0000"/>
                </a:solidFill>
              </a:rPr>
              <a:t>(1)</a:t>
            </a:r>
            <a:r>
              <a:rPr lang="zh-CN" altLang="en-US" b="0" dirty="0">
                <a:solidFill>
                  <a:srgbClr val="FF0000"/>
                </a:solidFill>
              </a:rPr>
              <a:t>除了时域外，可以从频域分析信号的特性</a:t>
            </a:r>
            <a:r>
              <a:rPr lang="en-US" altLang="zh-CN" b="0" dirty="0">
                <a:solidFill>
                  <a:srgbClr val="FF0000"/>
                </a:solidFill>
              </a:rPr>
              <a:t>---</a:t>
            </a:r>
            <a:r>
              <a:rPr lang="zh-CN" altLang="en-US" b="0" dirty="0">
                <a:solidFill>
                  <a:srgbClr val="FF0000"/>
                </a:solidFill>
              </a:rPr>
              <a:t>提供一个新的维度来观察世界。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300038" lvl="1" indent="0">
              <a:lnSpc>
                <a:spcPct val="150000"/>
              </a:lnSpc>
              <a:buNone/>
            </a:pPr>
            <a:r>
              <a:rPr lang="en-US" altLang="zh-CN" b="0" dirty="0">
                <a:solidFill>
                  <a:srgbClr val="FF0000"/>
                </a:solidFill>
              </a:rPr>
              <a:t>(2)</a:t>
            </a:r>
            <a:r>
              <a:rPr lang="zh-CN" altLang="en-US" b="0" dirty="0">
                <a:solidFill>
                  <a:srgbClr val="FF0000"/>
                </a:solidFill>
              </a:rPr>
              <a:t>任何一个信号都可以分解为有限</a:t>
            </a:r>
            <a:r>
              <a:rPr lang="en-US" altLang="zh-CN" b="0" dirty="0">
                <a:solidFill>
                  <a:srgbClr val="FF0000"/>
                </a:solidFill>
              </a:rPr>
              <a:t>/</a:t>
            </a:r>
            <a:r>
              <a:rPr lang="zh-CN" altLang="en-US" b="0" dirty="0">
                <a:solidFill>
                  <a:srgbClr val="FF0000"/>
                </a:solidFill>
              </a:rPr>
              <a:t>无限个正弦信号</a:t>
            </a:r>
            <a:r>
              <a:rPr lang="en-US" altLang="zh-CN" b="0" dirty="0">
                <a:solidFill>
                  <a:srgbClr val="FF0000"/>
                </a:solidFill>
              </a:rPr>
              <a:t>/</a:t>
            </a:r>
            <a:r>
              <a:rPr lang="zh-CN" altLang="en-US" b="0" dirty="0">
                <a:solidFill>
                  <a:srgbClr val="FF0000"/>
                </a:solidFill>
              </a:rPr>
              <a:t>复指数信号的加权和的形式</a:t>
            </a:r>
            <a:r>
              <a:rPr lang="en-US" altLang="zh-CN" b="0" dirty="0">
                <a:solidFill>
                  <a:srgbClr val="FF0000"/>
                </a:solidFill>
              </a:rPr>
              <a:t>---</a:t>
            </a:r>
            <a:r>
              <a:rPr lang="zh-CN" altLang="en-US" b="0" dirty="0">
                <a:solidFill>
                  <a:srgbClr val="FF0000"/>
                </a:solidFill>
              </a:rPr>
              <a:t>复杂问题的分解和简化。</a:t>
            </a:r>
            <a:endParaRPr lang="en-US" altLang="zh-CN" b="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b="0" dirty="0"/>
              <a:t>随机变量概率密度函数也可以求傅里叶变换。</a:t>
            </a:r>
            <a:endParaRPr lang="zh-CN" altLang="en-US" dirty="0"/>
          </a:p>
        </p:txBody>
      </p:sp>
      <p:pic>
        <p:nvPicPr>
          <p:cNvPr id="10" name="Picture 2" descr="https://bkimg.cdn.bcebos.com/pic/eaf81a4c510fd9f95990df0c242dd42a2934a4d4?x-bce-process=image/resize,m_lfit,w_268,limit_1/format,f_auto">
            <a:extLst>
              <a:ext uri="{FF2B5EF4-FFF2-40B4-BE49-F238E27FC236}">
                <a16:creationId xmlns:a16="http://schemas.microsoft.com/office/drawing/2014/main" id="{274309D5-EF9A-48C6-90E3-E6839311096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61227" y="1083973"/>
            <a:ext cx="1600200" cy="1958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4006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0F26F-C2F8-4DF5-B0C9-8BBA54DF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</a:t>
            </a:r>
            <a:r>
              <a:rPr lang="zh-CN" altLang="zh-CN" dirty="0"/>
              <a:t>特征函数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F8B90-F4C6-4B60-B63A-63AA04CE8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628775"/>
            <a:ext cx="7772400" cy="165620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1.5.1 </a:t>
            </a:r>
            <a:r>
              <a:rPr lang="zh-CN" altLang="en-US" sz="2400" dirty="0"/>
              <a:t>一维特征函数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1.5.2 </a:t>
            </a:r>
            <a:r>
              <a:rPr lang="zh-CN" altLang="en-US" sz="2400" dirty="0"/>
              <a:t>多维联合特征函数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821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0F26F-C2F8-4DF5-B0C9-8BBA54DF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</a:t>
            </a:r>
            <a:r>
              <a:rPr lang="zh-CN" altLang="zh-CN" dirty="0"/>
              <a:t>特征函数</a:t>
            </a:r>
            <a:r>
              <a:rPr lang="en-US" altLang="zh-CN" dirty="0"/>
              <a:t>  </a:t>
            </a:r>
            <a:r>
              <a:rPr lang="zh-CN" altLang="en-US" dirty="0"/>
              <a:t>（</a:t>
            </a:r>
            <a:r>
              <a:rPr lang="en-US" altLang="zh-CN" dirty="0"/>
              <a:t> Characteristic Function 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F8B90-F4C6-4B60-B63A-63AA04CE8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918" y="1368848"/>
            <a:ext cx="8652164" cy="41203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数字特征只能描述随机变量的部分特征，并不是所有的随机变量都存在数学期望和方差，用随机变量的分布求多个随机变量的和的分布非常繁琐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zh-CN" sz="2400" dirty="0"/>
              <a:t>因此需要寻求一种表征量，一方面它能唯一地决定随机变量的分布函数或</a:t>
            </a:r>
            <a:r>
              <a:rPr lang="en-US" altLang="zh-CN" sz="2400" dirty="0"/>
              <a:t>PDF</a:t>
            </a:r>
            <a:r>
              <a:rPr lang="zh-CN" altLang="zh-CN" sz="2400" dirty="0"/>
              <a:t>，另一方面对于求独立随机变量的和的分布具有简单的</a:t>
            </a:r>
            <a:r>
              <a:rPr lang="zh-CN" altLang="en-US" sz="2400" dirty="0"/>
              <a:t>运算</a:t>
            </a:r>
            <a:r>
              <a:rPr lang="zh-CN" altLang="zh-CN" sz="2400" dirty="0"/>
              <a:t>方法。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/>
              <a:t>直接求分布函数、</a:t>
            </a:r>
            <a:r>
              <a:rPr lang="en-US" altLang="zh-CN" sz="2400" dirty="0"/>
              <a:t>PDF</a:t>
            </a:r>
            <a:r>
              <a:rPr lang="zh-CN" altLang="zh-CN" sz="2400" dirty="0"/>
              <a:t>、矩困难，可以</a:t>
            </a:r>
            <a:r>
              <a:rPr lang="zh-CN" altLang="en-US" sz="2400" dirty="0"/>
              <a:t>由</a:t>
            </a:r>
            <a:r>
              <a:rPr lang="zh-CN" altLang="zh-CN" sz="2400" dirty="0"/>
              <a:t>特征函数求各阶矩或</a:t>
            </a:r>
            <a:r>
              <a:rPr lang="en-US" altLang="zh-CN" sz="2400" dirty="0"/>
              <a:t>PDF</a:t>
            </a:r>
            <a:r>
              <a:rPr lang="zh-CN" altLang="zh-CN" sz="2400" dirty="0"/>
              <a:t>，且具有好的分析特性。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107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010811A-FCA3-412A-806D-70743A46EF12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333500"/>
                <a:ext cx="7315200" cy="195148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若函数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满足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Dirichlet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条件，请写出其傅里叶变换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𝐹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𝑗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𝜔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，以及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𝐹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𝑗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𝜔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的傅里叶逆变换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010811A-FCA3-412A-806D-70743A46E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914400" y="1333500"/>
                <a:ext cx="7315200" cy="1951484"/>
              </a:xfrm>
              <a:prstGeom prst="rect">
                <a:avLst/>
              </a:prstGeom>
              <a:blipFill>
                <a:blip r:embed="rId14"/>
                <a:stretch>
                  <a:fillRect l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: 圆角 6">
            <a:extLst>
              <a:ext uri="{FF2B5EF4-FFF2-40B4-BE49-F238E27FC236}">
                <a16:creationId xmlns:a16="http://schemas.microsoft.com/office/drawing/2014/main" id="{B8948420-A68A-4922-9722-FB4375DDC5A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B3FCBA-4411-4CFA-A597-4AA38FEE5610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AA9006D-694D-49D3-ABC6-EFB9A5D5B41B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0026E5F5-3865-4A8B-BABF-9A3CE92F65B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53F68951-DAEF-48C5-8C15-DB590772183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D83E34D6-3F98-42AA-8A5F-7F970126449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9E14311E-C2B7-40CD-B745-2ED5A62CD764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65173BE-3F6D-42BC-9169-F8522534D450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768136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6657B-392A-4602-BB44-53A76559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76672"/>
            <a:ext cx="7886700" cy="579999"/>
          </a:xfrm>
        </p:spPr>
        <p:txBody>
          <a:bodyPr>
            <a:normAutofit/>
          </a:bodyPr>
          <a:lstStyle/>
          <a:p>
            <a:r>
              <a:rPr lang="en-US" altLang="zh-CN" dirty="0"/>
              <a:t>1.5.1 </a:t>
            </a:r>
            <a:r>
              <a:rPr lang="zh-CN" altLang="en-US" dirty="0"/>
              <a:t>一维特征函数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D7DDF2-61B1-4DCF-BDD0-54DEE9EAD0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536" y="1340768"/>
                <a:ext cx="8260820" cy="42977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随机变量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X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的特征函数 </a:t>
                </a:r>
              </a:p>
              <a:p>
                <a:pPr marL="0" indent="0">
                  <a:buNone/>
                </a:pPr>
                <a:r>
                  <a:rPr lang="zh-CN" altLang="zh-CN" sz="2400" dirty="0"/>
                  <a:t>定义</a:t>
                </a:r>
                <a:r>
                  <a:rPr lang="zh-CN" altLang="en-US" sz="24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𝑗𝑣𝑋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，</a:t>
                </a:r>
                <a:r>
                  <a:rPr lang="zh-CN" altLang="zh-CN" sz="2400" dirty="0"/>
                  <a:t>是一个实随机变量的复值函数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1</a:t>
                </a:r>
                <a:r>
                  <a:rPr lang="zh-CN" altLang="en-US" sz="2400" dirty="0"/>
                  <a:t>）</a:t>
                </a:r>
                <a:r>
                  <a:rPr lang="zh-CN" altLang="zh-CN" sz="2400" dirty="0"/>
                  <a:t>连续随机变量时，</a:t>
                </a:r>
                <a:r>
                  <a:rPr lang="en-US" altLang="zh-CN" sz="2400" dirty="0"/>
                  <a:t>PDF</a:t>
                </a:r>
                <a:r>
                  <a:rPr lang="zh-CN" altLang="zh-CN" sz="2400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zh-CN" sz="2400" dirty="0"/>
                  <a:t>则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𝑗𝑣𝑋</m:t>
                            </m:r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𝑗𝑣𝑥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zh-CN" altLang="zh-CN" sz="2400" dirty="0"/>
                  <a:t>。 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与傅立叶变换类似，</a:t>
                </a:r>
                <a:r>
                  <a:rPr lang="en-US" altLang="zh-CN" sz="2400" dirty="0"/>
                  <a:t>PDF</a:t>
                </a:r>
                <a:r>
                  <a:rPr lang="zh-CN" altLang="zh-CN" sz="2400" dirty="0"/>
                  <a:t>的傅立叶变换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肯定存在</a:t>
                </a:r>
                <a:r>
                  <a:rPr lang="zh-CN" altLang="zh-CN" sz="2400" dirty="0"/>
                  <a:t>。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2</a:t>
                </a:r>
                <a:r>
                  <a:rPr lang="zh-CN" altLang="en-US" sz="2400" dirty="0"/>
                  <a:t>）</a:t>
                </a:r>
                <a:r>
                  <a:rPr lang="zh-CN" altLang="zh-CN" sz="2400" dirty="0"/>
                  <a:t>离散时，分布律为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2400" dirty="0"/>
                  <a:t>，则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𝑗𝑣𝑋</m:t>
                              </m:r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D7DDF2-61B1-4DCF-BDD0-54DEE9EAD0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340768"/>
                <a:ext cx="8260820" cy="4297796"/>
              </a:xfrm>
              <a:blipFill>
                <a:blip r:embed="rId3"/>
                <a:stretch>
                  <a:fillRect l="-1181" t="-1418" r="-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716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A805869-B7CC-4F98-8E36-3748E971D45D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0273" y="548680"/>
                <a:ext cx="8395855" cy="458962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x-none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唯一性定理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000" dirty="0"/>
                  <a:t>  </a:t>
                </a:r>
                <a:r>
                  <a:rPr lang="zh-CN" altLang="zh-CN" sz="2000" dirty="0"/>
                  <a:t>随机变量的特征函数存在，与随机变量一一对应。</a:t>
                </a:r>
                <a:endParaRPr lang="en-US" altLang="zh-CN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)|=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𝑗𝑣𝑋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𝑗𝑣𝑥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000" dirty="0"/>
                  <a:t>  </a:t>
                </a:r>
                <a:r>
                  <a:rPr lang="zh-CN" altLang="zh-CN" sz="2000" dirty="0"/>
                  <a:t>可以看出，由于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sz="2000" dirty="0"/>
                  <a:t>，特征函数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b="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000" dirty="0"/>
                  <a:t>绝对收敛</a:t>
                </a:r>
                <a:r>
                  <a:rPr lang="zh-CN" altLang="en-US" sz="2000" dirty="0"/>
                  <a:t>。</a:t>
                </a:r>
                <a:r>
                  <a:rPr lang="zh-CN" altLang="zh-CN" sz="2000" dirty="0"/>
                  <a:t>对一切实数</a:t>
                </a:r>
                <a:r>
                  <a:rPr lang="en-US" altLang="zh-CN" sz="2000" i="1" dirty="0"/>
                  <a:t>v</a:t>
                </a:r>
                <a:r>
                  <a:rPr lang="zh-CN" altLang="zh-CN" sz="2000" dirty="0"/>
                  <a:t>，特征函数总是</a:t>
                </a:r>
                <a:r>
                  <a:rPr lang="en-US" altLang="zh-CN" sz="2000" dirty="0"/>
                  <a:t> </a:t>
                </a:r>
                <a:r>
                  <a:rPr lang="zh-CN" altLang="zh-CN" sz="2000" dirty="0"/>
                  <a:t>存在的。</a:t>
                </a:r>
                <a:endParaRPr lang="en-US" altLang="zh-CN" sz="20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000" dirty="0"/>
                  <a:t> </a:t>
                </a:r>
                <a:r>
                  <a:rPr lang="zh-CN" altLang="zh-CN" sz="2000" dirty="0"/>
                  <a:t>可以唯一描述随机变量，与随机变量的概率分布</a:t>
                </a:r>
                <a:r>
                  <a:rPr lang="en-US" altLang="zh-CN" sz="2000" dirty="0"/>
                  <a:t>PDF</a:t>
                </a:r>
                <a:r>
                  <a:rPr lang="zh-CN" altLang="zh-CN" sz="2000" dirty="0"/>
                  <a:t>、</a:t>
                </a:r>
                <a:r>
                  <a:rPr lang="en-US" altLang="zh-CN" sz="2000" dirty="0"/>
                  <a:t>CDF</a:t>
                </a:r>
                <a:r>
                  <a:rPr lang="zh-CN" altLang="zh-CN" sz="2000" dirty="0"/>
                  <a:t>等一一对应。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A805869-B7CC-4F98-8E36-3748E971D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0273" y="548680"/>
                <a:ext cx="8395855" cy="4589625"/>
              </a:xfrm>
              <a:blipFill>
                <a:blip r:embed="rId2"/>
                <a:stretch>
                  <a:fillRect l="-1162" t="-13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55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A805869-B7CC-4F98-8E36-3748E971D45D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74072" y="1196752"/>
                <a:ext cx="8518408" cy="446449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逆转公式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  连续变量的</a:t>
                </a:r>
                <a:r>
                  <a:rPr lang="x-none" altLang="zh-CN" sz="2400" dirty="0">
                    <a:solidFill>
                      <a:srgbClr val="FF0000"/>
                    </a:solidFill>
                  </a:rPr>
                  <a:t>PDF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与特征函数的关系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000" dirty="0"/>
                  <a:t>       </a:t>
                </a:r>
                <a:r>
                  <a:rPr lang="zh-CN" altLang="zh-CN" sz="2000" dirty="0"/>
                  <a:t>由</a:t>
                </a:r>
                <a:r>
                  <a:rPr lang="en-US" altLang="zh-CN" sz="2000" dirty="0"/>
                  <a:t>PDF</a:t>
                </a:r>
                <a:r>
                  <a:rPr lang="zh-CN" altLang="zh-CN" sz="2000" dirty="0"/>
                  <a:t>到特征函数</a:t>
                </a:r>
                <a:r>
                  <a:rPr lang="zh-CN" altLang="en-US" sz="2000" dirty="0"/>
                  <a:t>：</a:t>
                </a:r>
                <a:r>
                  <a:rPr lang="en-US" altLang="zh-CN" sz="200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𝑗𝑣𝑋</m:t>
                            </m:r>
                          </m:sup>
                        </m:sSup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𝑗𝑣𝑥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zh-CN" sz="2000" dirty="0"/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000" dirty="0"/>
                  <a:t>       </a:t>
                </a:r>
                <a:r>
                  <a:rPr lang="zh-CN" altLang="zh-CN" sz="2000" dirty="0"/>
                  <a:t>由特征函数到</a:t>
                </a:r>
                <a:r>
                  <a:rPr lang="en-US" altLang="zh-CN" sz="2000" dirty="0"/>
                  <a:t>PDF </a:t>
                </a:r>
                <a:r>
                  <a:rPr lang="zh-CN" altLang="en-US" sz="2000" dirty="0"/>
                  <a:t>：</a:t>
                </a:r>
                <a:r>
                  <a:rPr lang="en-US" altLang="zh-CN" sz="200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𝑗𝑣𝑥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𝑑𝑣</m:t>
                    </m:r>
                  </m:oMath>
                </a14:m>
                <a:r>
                  <a:rPr lang="en-US" altLang="zh-CN" sz="2000" dirty="0"/>
                  <a:t> </a:t>
                </a:r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000" dirty="0"/>
                  <a:t>       </a:t>
                </a:r>
                <a14:m>
                  <m:oMath xmlns:m="http://schemas.openxmlformats.org/officeDocument/2006/math">
                    <m:r>
                      <a:rPr lang="en-US" altLang="zh-CN" sz="2000">
                        <a:latin typeface="Cambria Math" panose="02040503050406030204" pitchFamily="18" charset="0"/>
                      </a:rPr>
                      <m:t> ⇒</m:t>
                    </m:r>
                  </m:oMath>
                </a14:m>
                <a:r>
                  <a:rPr lang="zh-CN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000">
                        <a:latin typeface="Cambria Math" panose="02040503050406030204" pitchFamily="18" charset="0"/>
                      </a:rPr>
                      <m:t>⟷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altLang="zh-CN" sz="2000" dirty="0"/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000" dirty="0"/>
                  <a:t>      </a:t>
                </a:r>
                <a:r>
                  <a:rPr lang="zh-CN" altLang="zh-CN" sz="2000" dirty="0"/>
                  <a:t>与傅里叶变换近似，有关公式可以用，有关变量对应过来。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A805869-B7CC-4F98-8E36-3748E971D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74072" y="1196752"/>
                <a:ext cx="8518408" cy="4464495"/>
              </a:xfrm>
              <a:blipFill>
                <a:blip r:embed="rId2"/>
                <a:stretch>
                  <a:fillRect l="-1073" t="-13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9800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6109855" y="2741468"/>
            <a:ext cx="2770909" cy="133003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B5A32F9-40A2-416B-AC6B-2F1417E9AE2E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23528" y="968087"/>
                <a:ext cx="8723491" cy="47105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zh-CN" dirty="0"/>
                  <a:t>例：求高斯分布的特征函数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nor/>
                      </m:rPr>
                      <a:rPr lang="en-US" altLang="zh-CN"/>
                      <m:t>   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/>
                      <m:t>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∞&lt;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解：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𝑗𝑣𝑋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𝑗𝑣𝑥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</m:e>
                      </m:nary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𝑗𝑣𝑥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𝑗𝑣𝑥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m:rPr>
                          <m:nor/>
                        </m:rPr>
                        <a:rPr lang="en-US" altLang="zh-CN"/>
                        <m:t>                       </m:t>
                      </m:r>
                      <m:r>
                        <a:rPr lang="zh-CN" altLang="zh-CN">
                          <a:latin typeface="Cambria Math" panose="02040503050406030204" pitchFamily="18" charset="0"/>
                        </a:rPr>
                        <m:t>利用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ra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𝑗𝑣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[(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𝑗𝑣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m:rPr>
                          <m:nor/>
                        </m:rPr>
                        <a:rPr lang="en-US" altLang="zh-CN"/>
                        <m:t>                    </m:t>
                      </m:r>
                      <m:r>
                        <a:rPr lang="zh-CN" altLang="zh-CN">
                          <a:latin typeface="Cambria Math" panose="02040503050406030204" pitchFamily="18" charset="0"/>
                        </a:rPr>
                        <m:t>变量代换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𝑗𝑣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zh-CN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zh-CN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标准高斯分布</m:t>
                    </m:r>
                    <m:r>
                      <m:rPr>
                        <m:nor/>
                      </m:rPr>
                      <a:rPr lang="en-US" altLang="zh-CN">
                        <a:solidFill>
                          <a:srgbClr val="FF0000"/>
                        </a:solidFill>
                      </a:rPr>
                      <m:t>          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=0,</m:t>
                    </m:r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=1,</m:t>
                    </m:r>
                    <m:r>
                      <m:rPr>
                        <m:nor/>
                      </m:rPr>
                      <a:rPr lang="en-US" altLang="zh-CN">
                        <a:solidFill>
                          <a:srgbClr val="FF0000"/>
                        </a:solidFill>
                      </a:rPr>
                      <m:t>          </m:t>
                    </m:r>
                    <m:r>
                      <a:rPr lang="zh-CN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m:rPr>
                        <m:nor/>
                      </m:rPr>
                      <a:rPr lang="en-US" altLang="zh-CN">
                        <a:solidFill>
                          <a:srgbClr val="FF0000"/>
                        </a:solidFill>
                      </a:rPr>
                      <m:t>    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B5A32F9-40A2-416B-AC6B-2F1417E9AE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23528" y="968087"/>
                <a:ext cx="8723491" cy="4710545"/>
              </a:xfrm>
              <a:blipFill>
                <a:blip r:embed="rId2"/>
                <a:stretch>
                  <a:fillRect l="-8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21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14400" y="1333500"/>
            <a:ext cx="7315200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随机变量</a:t>
            </a:r>
            <a:r>
              <a:rPr lang="en-US" altLang="zh-CN" sz="1950" i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 </a:t>
            </a: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取值为正负</a:t>
            </a:r>
            <a:r>
              <a:rPr lang="en-US" altLang="zh-CN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的概率分别为</a:t>
            </a:r>
            <a:r>
              <a:rPr lang="en-US" altLang="zh-CN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0.5</a:t>
            </a: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，则</a:t>
            </a:r>
            <a:r>
              <a:rPr lang="en-US" altLang="zh-CN" sz="1950" i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 </a:t>
            </a:r>
            <a:r>
              <a:rPr lang="zh-CN" altLang="en-US" sz="195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的特征函数为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3541513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𝑗𝑣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𝑗𝑣</m:t>
                        </m:r>
                      </m:sup>
                    </m:sSup>
                  </m:oMath>
                </a14:m>
                <a:endParaRPr lang="zh-CN" altLang="en-US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828800" y="3541513"/>
                <a:ext cx="6400800" cy="482204"/>
              </a:xfrm>
              <a:prstGeom prst="rect">
                <a:avLst/>
              </a:prstGeom>
              <a:blipFill>
                <a:blip r:embed="rId20"/>
                <a:stretch>
                  <a:fillRect l="-190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2934890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2934890"/>
                <a:ext cx="6400800" cy="482204"/>
              </a:xfrm>
              <a:prstGeom prst="rect">
                <a:avLst/>
              </a:prstGeom>
              <a:blipFill>
                <a:blip r:embed="rId22"/>
                <a:stretch>
                  <a:fillRect l="-190" b="-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4232672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𝑐𝑜𝑠𝑣</m:t>
                    </m:r>
                  </m:oMath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4232672"/>
                <a:ext cx="6400800" cy="482204"/>
              </a:xfrm>
              <a:prstGeom prst="rect">
                <a:avLst/>
              </a:prstGeom>
              <a:blipFill>
                <a:blip r:embed="rId24"/>
                <a:stretch>
                  <a:fillRect l="-190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4875610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4875610"/>
                <a:ext cx="6400800" cy="482204"/>
              </a:xfrm>
              <a:prstGeom prst="rect">
                <a:avLst/>
              </a:prstGeom>
              <a:blipFill>
                <a:blip r:embed="rId26"/>
                <a:stretch>
                  <a:fillRect l="-190" b="-8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78719" y="2995017"/>
            <a:ext cx="385763" cy="385763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78719" y="3637954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78719" y="4280892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78719" y="4923829"/>
            <a:ext cx="385763" cy="385763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D0CD887C-0E9D-4DA0-B707-F930F9B04E5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107980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333500"/>
                <a:ext cx="7315200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随机变量</a:t>
                </a:r>
                <a:r>
                  <a:rPr lang="en-US" altLang="zh-CN" sz="195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 </a:t>
                </a:r>
                <a:r>
                  <a:rPr lang="zh-CN" altLang="en-US" sz="195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的特征函数为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1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1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1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1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21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10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1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1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10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sz="21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则</a:t>
                </a:r>
                <a:r>
                  <a:rPr lang="en-US" altLang="zh-CN" sz="210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 </a:t>
                </a:r>
                <a:r>
                  <a:rPr lang="zh-CN" altLang="en-US" sz="21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的概率分布为 </a:t>
                </a:r>
              </a:p>
              <a:p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914400" y="1333500"/>
                <a:ext cx="7315200" cy="1607344"/>
              </a:xfrm>
              <a:prstGeom prst="rect">
                <a:avLst/>
              </a:prstGeom>
              <a:blipFill>
                <a:blip r:embed="rId20"/>
                <a:stretch>
                  <a:fillRect l="-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3541513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=−2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=0.25,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=0.5</a:t>
                </a:r>
                <a:endParaRPr lang="zh-CN" altLang="en-US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3541513"/>
                <a:ext cx="6400800" cy="482204"/>
              </a:xfrm>
              <a:prstGeom prst="rect">
                <a:avLst/>
              </a:prstGeom>
              <a:blipFill>
                <a:blip r:embed="rId22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2908697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=−2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2908697"/>
                <a:ext cx="6400800" cy="48220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4232672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+0.25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+0.25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4232672"/>
                <a:ext cx="6400800" cy="482204"/>
              </a:xfrm>
              <a:prstGeom prst="rect">
                <a:avLst/>
              </a:prstGeom>
              <a:blipFill>
                <a:blip r:embed="rId26"/>
                <a:stretch>
                  <a:fillRect l="-286" b="-2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4875610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=0.25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+0.25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1828800" y="4875610"/>
                <a:ext cx="6400800" cy="482204"/>
              </a:xfrm>
              <a:prstGeom prst="rect">
                <a:avLst/>
              </a:prstGeom>
              <a:blipFill>
                <a:blip r:embed="rId28"/>
                <a:stretch>
                  <a:fillRect l="-286" b="-12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78719" y="2995017"/>
            <a:ext cx="385763" cy="385763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78719" y="3637954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78719" y="4280892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78719" y="4923829"/>
            <a:ext cx="385763" cy="385763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714531D2-09B9-423C-8703-CC7A75FC708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502796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F9FDC8B-7B1A-4AAB-8FEB-97F179F3C17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0" y="624254"/>
                <a:ext cx="8363271" cy="539554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zh-CN" sz="2400" dirty="0"/>
                  <a:t>例</a:t>
                </a:r>
                <a:r>
                  <a:rPr lang="zh-CN" altLang="en-US" sz="2400" dirty="0"/>
                  <a:t>：</a:t>
                </a:r>
                <a:r>
                  <a:rPr lang="zh-CN" altLang="zh-CN" sz="2400" dirty="0"/>
                  <a:t>  随机变量</a:t>
                </a:r>
                <a:r>
                  <a:rPr lang="en-US" altLang="zh-CN" sz="2400" i="1" dirty="0"/>
                  <a:t>X</a:t>
                </a:r>
                <a:r>
                  <a:rPr lang="zh-CN" altLang="zh-CN" sz="2400" dirty="0"/>
                  <a:t>服从泊松分布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400"/>
                      <m:t>  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=0,1,2...</m:t>
                    </m:r>
                  </m:oMath>
                </a14:m>
                <a:endParaRPr lang="zh-CN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求： 特征函数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解：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𝑗𝑣𝑋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𝑗𝑣𝑘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/>
                  <a:t>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𝑗𝑣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/>
                  <a:t>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</m:sup>
                    </m:sSup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/>
                  <a:t>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en-US" altLang="zh-CN" sz="2400" i="1" dirty="0">
                    <a:latin typeface="Cambria Math" panose="02040503050406030204" pitchFamily="18" charset="0"/>
                  </a:rPr>
                  <a:t>  </a:t>
                </a:r>
                <a:endParaRPr lang="zh-CN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F9FDC8B-7B1A-4AAB-8FEB-97F179F3C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0" y="624254"/>
                <a:ext cx="8363271" cy="5395546"/>
              </a:xfrm>
              <a:blipFill>
                <a:blip r:embed="rId3"/>
                <a:stretch>
                  <a:fillRect l="-1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0740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21673" y="1325441"/>
                <a:ext cx="8728364" cy="3039663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设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的特征函数为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i="1" dirty="0"/>
                  <a:t>a</a:t>
                </a:r>
                <a:r>
                  <a:rPr lang="zh-CN" altLang="en-US" dirty="0"/>
                  <a:t>和</a:t>
                </a:r>
                <a:r>
                  <a:rPr lang="en-US" altLang="zh-CN" i="1" dirty="0"/>
                  <a:t>b</a:t>
                </a:r>
                <a:r>
                  <a:rPr lang="zh-CN" altLang="en-US" dirty="0"/>
                  <a:t>为确定的实数，则</a:t>
                </a:r>
                <a:r>
                  <a:rPr lang="en-US" altLang="zh-CN" i="1" dirty="0"/>
                  <a:t>Y=</a:t>
                </a:r>
                <a:r>
                  <a:rPr lang="en-US" altLang="zh-CN" i="1" dirty="0" err="1"/>
                  <a:t>aX+b</a:t>
                </a:r>
                <a:r>
                  <a:rPr lang="zh-CN" altLang="en-US" dirty="0"/>
                  <a:t>的特征函数为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𝒋𝒗𝒃</m:t>
                          </m:r>
                        </m:sup>
                      </m:sSup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/>
                  <a:t>证明：</a:t>
                </a:r>
                <a:endParaRPr lang="en-US" altLang="zh-CN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𝒋𝒗</m:t>
                              </m:r>
                              <m:d>
                                <m:d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𝒂𝑿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𝒋𝒗𝒃</m:t>
                          </m:r>
                        </m:sup>
                      </m:sSup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𝒋𝒗𝒂𝑿</m:t>
                              </m:r>
                            </m:sup>
                          </m:sSup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𝒋𝒗𝒃</m:t>
                          </m:r>
                        </m:sup>
                      </m:sSup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21673" y="1325441"/>
                <a:ext cx="8728364" cy="3039663"/>
              </a:xfrm>
              <a:blipFill>
                <a:blip r:embed="rId2"/>
                <a:stretch>
                  <a:fillRect l="-8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9847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F9FDC8B-7B1A-4AAB-8FEB-97F179F3C17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23528" y="188640"/>
                <a:ext cx="7704856" cy="3331775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u"/>
                </a:pPr>
                <a:r>
                  <a:rPr lang="zh-CN" altLang="zh-CN" sz="2400" dirty="0"/>
                  <a:t>高斯分布</a:t>
                </a:r>
                <a:r>
                  <a:rPr lang="zh-CN" altLang="en-US" sz="2400" dirty="0"/>
                  <a:t>：</a:t>
                </a:r>
                <a:r>
                  <a:rPr lang="zh-CN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nor/>
                      </m:rPr>
                      <a:rPr lang="en-US" altLang="zh-CN" sz="2400"/>
                      <m:t>    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sz="2400"/>
                      <m:t>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∞&lt;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特征函数</a:t>
                </a:r>
                <a:r>
                  <a:rPr lang="zh-CN" altLang="en-US" sz="2400" dirty="0"/>
                  <a:t>：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 </m:t>
                    </m:r>
                    <m:sSup>
                      <m:sSupPr>
                        <m:ctrlPr>
                          <a:rPr lang="zh-CN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𝑗𝑣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sz="2400" dirty="0"/>
              </a:p>
              <a:p>
                <a:pPr>
                  <a:buFont typeface="Wingdings" panose="05000000000000000000" pitchFamily="2" charset="2"/>
                  <a:buChar char="u"/>
                </a:pPr>
                <a:r>
                  <a:rPr lang="zh-CN" altLang="zh-CN" sz="2400" dirty="0"/>
                  <a:t>泊松分布</a:t>
                </a:r>
                <a:r>
                  <a:rPr lang="zh-CN" altLang="en-US" sz="2400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400"/>
                      <m:t>  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=0,1,2...</m:t>
                    </m:r>
                  </m:oMath>
                </a14:m>
                <a:endParaRPr lang="zh-CN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特征函数</a:t>
                </a:r>
                <a:r>
                  <a:rPr lang="zh-CN" altLang="en-US" sz="2400" dirty="0"/>
                  <a:t>：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en-US" altLang="zh-CN" sz="2400" i="1" dirty="0">
                    <a:latin typeface="Cambria Math" panose="02040503050406030204" pitchFamily="18" charset="0"/>
                  </a:rPr>
                  <a:t>  </a:t>
                </a:r>
                <a:endParaRPr lang="zh-CN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sz="2400" u="sng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F9FDC8B-7B1A-4AAB-8FEB-97F179F3C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23528" y="188640"/>
                <a:ext cx="7704856" cy="3331775"/>
              </a:xfrm>
              <a:blipFill>
                <a:blip r:embed="rId2"/>
                <a:stretch>
                  <a:fillRect l="-1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椭圆 2"/>
          <p:cNvSpPr/>
          <p:nvPr/>
        </p:nvSpPr>
        <p:spPr bwMode="auto">
          <a:xfrm>
            <a:off x="1336964" y="4251614"/>
            <a:ext cx="1898073" cy="976745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随机变量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概率分布</a:t>
            </a:r>
          </a:p>
        </p:txBody>
      </p:sp>
      <p:sp>
        <p:nvSpPr>
          <p:cNvPr id="4" name="椭圆 3"/>
          <p:cNvSpPr/>
          <p:nvPr/>
        </p:nvSpPr>
        <p:spPr bwMode="auto">
          <a:xfrm>
            <a:off x="4263743" y="4250923"/>
            <a:ext cx="1898073" cy="976745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随机变量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特征函数</a:t>
            </a:r>
          </a:p>
        </p:txBody>
      </p:sp>
      <p:cxnSp>
        <p:nvCxnSpPr>
          <p:cNvPr id="8" name="直接箭头连接符 7"/>
          <p:cNvCxnSpPr>
            <a:stCxn id="3" idx="6"/>
            <a:endCxn id="4" idx="2"/>
          </p:cNvCxnSpPr>
          <p:nvPr/>
        </p:nvCxnSpPr>
        <p:spPr bwMode="auto">
          <a:xfrm flipV="1">
            <a:off x="3235037" y="4739295"/>
            <a:ext cx="1028706" cy="69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>
                <a:alpha val="57000"/>
              </a:schemeClr>
            </a:solidFill>
            <a:prstDash val="solid"/>
            <a:miter lim="800000"/>
            <a:headEnd type="none" w="lg" len="lg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圆角矩形 9"/>
          <p:cNvSpPr/>
          <p:nvPr/>
        </p:nvSpPr>
        <p:spPr bwMode="auto">
          <a:xfrm>
            <a:off x="6876256" y="3789040"/>
            <a:ext cx="1569720" cy="208788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一一对应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形式简化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简化运算</a:t>
            </a:r>
          </a:p>
        </p:txBody>
      </p:sp>
    </p:spTree>
    <p:extLst>
      <p:ext uri="{BB962C8B-B14F-4D97-AF65-F5344CB8AC3E}">
        <p14:creationId xmlns:p14="http://schemas.microsoft.com/office/powerpoint/2010/main" val="68116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07504" y="44624"/>
                <a:ext cx="9217024" cy="58326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4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x-none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统计独立随机变量和的特征函数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CN" sz="2400"/>
                        <m:t>          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  </a:t>
                </a:r>
                <a:r>
                  <a:rPr lang="zh-CN" altLang="zh-CN" sz="2000" dirty="0"/>
                  <a:t>特征函数分别为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),....,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/>
                  <a:t>，</a:t>
                </a:r>
                <a:r>
                  <a:rPr lang="en-US" altLang="zh-CN" sz="2000" dirty="0"/>
                  <a:t>   </a:t>
                </a:r>
                <a:r>
                  <a:rPr lang="zh-CN" altLang="zh-CN" sz="2000" dirty="0"/>
                  <a:t>则</a:t>
                </a:r>
                <a:r>
                  <a:rPr lang="en-US" altLang="zh-CN" sz="2000" dirty="0"/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𝑗𝑣𝑌</m:t>
                          </m:r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.....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]....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)....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000" dirty="0"/>
                        <m:t> 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dirty="0"/>
                      <m:t>独立随机变量和的概率密度函数是各随机变量概率密度函数</m:t>
                    </m:r>
                  </m:oMath>
                </a14:m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dirty="0"/>
                      <m:t>的卷积</m:t>
                    </m:r>
                  </m:oMath>
                </a14:m>
                <a:endParaRPr lang="en-US" altLang="zh-CN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zh-CN" sz="2400" dirty="0" smtClean="0">
                        <a:solidFill>
                          <a:srgbClr val="FF0000"/>
                        </a:solidFill>
                      </a:rPr>
                      <m:t>利用了统计独立的随机变量积的数学期望等于各变量期望的积</m:t>
                    </m:r>
                  </m:oMath>
                </a14:m>
                <a:endParaRPr lang="en-US" altLang="zh-CN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zh-CN" sz="2400" dirty="0"/>
                      <m:t>利用特征函</m:t>
                    </m:r>
                    <m:r>
                      <m:rPr>
                        <m:nor/>
                      </m:rPr>
                      <a:rPr lang="en-US" altLang="zh-CN" sz="2400" dirty="0"/>
                      <m:t> </m:t>
                    </m:r>
                    <m:r>
                      <m:rPr>
                        <m:nor/>
                      </m:rPr>
                      <a:rPr lang="zh-CN" altLang="zh-CN" sz="2400" dirty="0"/>
                      <m:t>数求独立随机变量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m:rPr>
                        <m:nor/>
                      </m:rPr>
                      <a:rPr lang="zh-CN" altLang="zh-CN" sz="2400" dirty="0"/>
                      <m:t>的概率分布，简化运算。</m:t>
                    </m:r>
                  </m:oMath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07504" y="44624"/>
                <a:ext cx="9217024" cy="5832648"/>
              </a:xfrm>
              <a:blipFill>
                <a:blip r:embed="rId3"/>
                <a:stretch>
                  <a:fillRect l="-1058" t="-1149" b="-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5273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90500" y="332656"/>
                <a:ext cx="8763000" cy="4627418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5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特征函数与矩的关系 （矩定理）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/>
                      <m:t>1</m:t>
                    </m:r>
                    <m:r>
                      <m:rPr>
                        <m:nor/>
                      </m:rPr>
                      <a:rPr lang="zh-CN" altLang="zh-CN" sz="2000" dirty="0"/>
                      <m:t>）特征函数求矩</m:t>
                    </m:r>
                  </m:oMath>
                </a14:m>
                <a:r>
                  <a:rPr lang="en-US" altLang="zh-CN" sz="2000" dirty="0"/>
                  <a:t>  </a:t>
                </a:r>
              </a:p>
              <a:p>
                <a:pPr marL="300038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𝑗𝑣𝑥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</a:rPr>
                  <a:t>  </a:t>
                </a:r>
                <a:r>
                  <a:rPr lang="zh-CN" altLang="en-US" sz="2000" i="1" dirty="0">
                    <a:latin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对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求导数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</a:rPr>
                  <a:t> </a:t>
                </a:r>
                <a:r>
                  <a:rPr lang="zh-CN" altLang="en-US" sz="2000" dirty="0">
                    <a:latin typeface="Cambria Math" panose="02040503050406030204" pitchFamily="18" charset="0"/>
                  </a:rPr>
                  <a:t>有</a:t>
                </a:r>
                <a:r>
                  <a:rPr lang="zh-CN" altLang="en-US" sz="200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𝑑𝑣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𝑗</m:t>
                    </m:r>
                    <m:nary>
                      <m:nary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𝑗𝑣𝑥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</a:rPr>
                  <a:t>     </a:t>
                </a:r>
              </a:p>
              <a:p>
                <a:pPr marL="300038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=0,</m:t>
                    </m:r>
                    <m:r>
                      <m:rPr>
                        <m:nor/>
                      </m:rPr>
                      <a:rPr lang="en-US" altLang="zh-CN" sz="2000" i="1">
                        <a:latin typeface="Cambria Math" panose="02040503050406030204" pitchFamily="18" charset="0"/>
                      </a:rPr>
                      <m:t>   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𝑑𝑣</m:t>
                        </m:r>
                      </m:den>
                    </m:f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𝑗</m:t>
                    </m:r>
                    <m:nary>
                      <m:nary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𝑗𝐸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300038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∴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期望</m:t>
                    </m:r>
                    <m:r>
                      <m:rPr>
                        <m:nor/>
                      </m:rPr>
                      <a:rPr lang="en-US" altLang="zh-CN" sz="2000" i="1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]=(−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𝑑𝑣</m:t>
                        </m:r>
                      </m:den>
                    </m:f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300038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由此类推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求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阶导数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令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=0,</m:t>
                    </m:r>
                    <m:r>
                      <m:rPr>
                        <m:nor/>
                      </m:rPr>
                      <a:rPr lang="en-US" altLang="zh-CN" sz="20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有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]=(−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𝑗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</m:oMath>
                </a14:m>
                <a:r>
                  <a:rPr lang="zh-CN" altLang="zh-CN" sz="1600" dirty="0">
                    <a:latin typeface="Cambria Math" panose="02040503050406030204" pitchFamily="18" charset="0"/>
                  </a:rPr>
                  <a:t>。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zh-CN" sz="2400" dirty="0">
                    <a:solidFill>
                      <a:srgbClr val="FF0000"/>
                    </a:solidFill>
                  </a:rPr>
                  <a:t>给出了利用通过特征函数求各阶矩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2400" dirty="0">
                    <a:solidFill>
                      <a:srgbClr val="FF0000"/>
                    </a:solidFill>
                  </a:rPr>
                  <a:t>的方法。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90500" y="332656"/>
                <a:ext cx="8763000" cy="4627418"/>
              </a:xfrm>
              <a:blipFill>
                <a:blip r:embed="rId2"/>
                <a:stretch>
                  <a:fillRect l="-1043" b="-18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3238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A8653B-5EDF-483F-818E-88F792F2FA25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04874" y="1556792"/>
                <a:ext cx="7627565" cy="2808311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利用</a:t>
                </a:r>
                <a:r>
                  <a:rPr lang="zh-CN" altLang="zh-CN" sz="2400" dirty="0"/>
                  <a:t>服从泊松分布随机变量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/>
                  <a:t>的特征函数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en-US" altLang="zh-CN" sz="2400" dirty="0"/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求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400" dirty="0"/>
                  <a:t>的均值和方差。</a:t>
                </a:r>
                <a:r>
                  <a:rPr lang="en-US" altLang="zh-CN" sz="2400" dirty="0"/>
                  <a:t>  </a:t>
                </a:r>
                <a:endParaRPr lang="zh-CN" altLang="zh-CN" sz="2400" dirty="0"/>
              </a:p>
              <a:p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A8653B-5EDF-483F-818E-88F792F2F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904874" y="1556792"/>
                <a:ext cx="7627565" cy="2808311"/>
              </a:xfrm>
              <a:prstGeom prst="rect">
                <a:avLst/>
              </a:prstGeom>
              <a:blipFill>
                <a:blip r:embed="rId13"/>
                <a:stretch>
                  <a:fillRect l="-1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0EC01759-546E-47B5-AC0E-DB2F01E5F37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35A721-A14B-439A-A3A5-2A0954A38AB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F7589F-18D5-4210-BF11-060134B454A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8CC725E8-FF8C-4288-8911-FDC4E66E4DB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6A23E383-E030-4D60-80B8-5A74ECAA62D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87384E40-6B54-4C5D-8CFC-89FA1EEF5E8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4BBD88EB-8E7A-4C14-BDC7-2AD5730AEE69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4812EB4-8F3F-4B56-9A95-9B63005DD79B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246636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67544" y="332656"/>
                <a:ext cx="8255000" cy="40793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>
                    <a:latin typeface="Cambria Math" panose="02040503050406030204" pitchFamily="18" charset="0"/>
                  </a:rPr>
                  <a:t>解：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18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𝜆</m:t>
                        </m:r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𝑗𝑣</m:t>
                                </m:r>
                              </m:sup>
                            </m:s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1800" dirty="0"/>
                  <a:t>      </a:t>
                </a:r>
              </a:p>
              <a:p>
                <a:pPr marL="0" indent="0">
                  <a:buNone/>
                </a:pPr>
                <a:r>
                  <a:rPr lang="en-US" altLang="zh-CN" sz="1800" dirty="0"/>
                  <a:t>      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𝑑𝑣</m:t>
                        </m:r>
                      </m:den>
                    </m:f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zh-CN" altLang="zh-CN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𝒋𝒗</m:t>
                            </m:r>
                          </m:sup>
                        </m:s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1800" dirty="0"/>
                  <a:t>  </a:t>
                </a:r>
              </a:p>
              <a:p>
                <a:pPr marL="0" indent="0">
                  <a:buNone/>
                </a:pPr>
                <a:r>
                  <a:rPr lang="en-US" altLang="zh-CN" sz="1800" dirty="0"/>
                  <a:t>     </a:t>
                </a:r>
                <a:endParaRPr lang="en-US" altLang="zh-CN" sz="18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=(−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𝑗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𝒋𝒗</m:t>
                            </m:r>
                          </m:sup>
                        </m:s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𝒋𝒗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</m:oMath>
                </a14:m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1800" dirty="0"/>
                  <a:t> </a:t>
                </a:r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:r>
                  <a:rPr lang="en-US" altLang="zh-CN" sz="1800" dirty="0"/>
                  <a:t>    </a:t>
                </a:r>
                <a:r>
                  <a:rPr lang="zh-CN" altLang="zh-CN" sz="1800" dirty="0"/>
                  <a:t>故</a:t>
                </a:r>
                <a:r>
                  <a:rPr lang="en-US" altLang="zh-CN" sz="180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>
                        <a:latin typeface="Cambria Math" panose="02040503050406030204" pitchFamily="18" charset="0"/>
                      </a:rPr>
                      <m:t>]−(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]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zh-CN" altLang="zh-CN" sz="1800" dirty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zh-CN" sz="16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67544" y="332656"/>
                <a:ext cx="8255000" cy="4079396"/>
              </a:xfrm>
              <a:blipFill>
                <a:blip r:embed="rId3"/>
                <a:stretch>
                  <a:fillRect l="-886" t="-1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E86A2C16-C0F2-4FC0-944F-CC3E5A15C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56" y="3645024"/>
            <a:ext cx="8388424" cy="256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37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23528" y="548680"/>
                <a:ext cx="8255000" cy="40793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/>
                  <a:t>2</a:t>
                </a:r>
                <a:r>
                  <a:rPr lang="zh-CN" altLang="zh-CN" sz="2400" dirty="0"/>
                  <a:t>）由各阶矩确定特征函数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000" dirty="0"/>
                  <a:t>      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 </a:t>
                </a:r>
                <a:r>
                  <a:rPr lang="zh-CN" altLang="zh-CN" sz="2000" dirty="0"/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000" dirty="0"/>
                  <a:t>在</a:t>
                </a:r>
                <a:r>
                  <a:rPr lang="en-US" altLang="zh-CN" sz="2000" i="1" dirty="0"/>
                  <a:t>v</a:t>
                </a:r>
                <a:r>
                  <a:rPr lang="en-US" altLang="zh-CN" sz="2000" dirty="0"/>
                  <a:t>=0</a:t>
                </a:r>
                <a:r>
                  <a:rPr lang="zh-CN" altLang="zh-CN" sz="2000" dirty="0"/>
                  <a:t>处展成马克劳林级数</a:t>
                </a: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(0)+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𝑑𝑣</m:t>
                          </m:r>
                        </m:den>
                      </m:f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+..+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+..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i="1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zh-CN" altLang="zh-CN" sz="2000" i="1">
                              <a:latin typeface="Cambria Math" panose="02040503050406030204" pitchFamily="18" charset="0"/>
                            </a:rPr>
                            <m:t>代入矩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i="1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zh-CN" sz="2800" dirty="0">
                    <a:solidFill>
                      <a:srgbClr val="FF0000"/>
                    </a:solidFill>
                  </a:rPr>
                  <a:t>因此，矩和特征函数互相确定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,</a:t>
                </a:r>
                <a:r>
                  <a:rPr lang="zh-CN" altLang="zh-CN" sz="2800" dirty="0">
                    <a:solidFill>
                      <a:srgbClr val="FF0000"/>
                    </a:solidFill>
                  </a:rPr>
                  <a:t>完整描述随机变量的统计特性。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zh-CN" sz="16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23528" y="548680"/>
                <a:ext cx="8255000" cy="4079396"/>
              </a:xfrm>
              <a:blipFill>
                <a:blip r:embed="rId3"/>
                <a:stretch>
                  <a:fillRect l="-1477" t="-1644" r="-295" b="-369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730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539552" y="260648"/>
                <a:ext cx="8255000" cy="4652149"/>
              </a:xfrm>
            </p:spPr>
            <p:txBody>
              <a:bodyPr/>
              <a:lstStyle/>
              <a:p>
                <a:pPr marL="0" indent="0" algn="ctr">
                  <a:spcBef>
                    <a:spcPct val="0"/>
                  </a:spcBef>
                  <a:buNone/>
                </a:pPr>
                <a:r>
                  <a:rPr lang="en-US" altLang="zh-CN" sz="3200" dirty="0">
                    <a:solidFill>
                      <a:srgbClr val="FF0000"/>
                    </a:solidFill>
                    <a:ea typeface="隶书" panose="02010509060101010101" pitchFamily="49" charset="-122"/>
                    <a:cs typeface="+mj-cs"/>
                  </a:rPr>
                  <a:t>1.5.2 </a:t>
                </a:r>
                <a:r>
                  <a:rPr lang="zh-CN" altLang="zh-CN" sz="3200" dirty="0">
                    <a:solidFill>
                      <a:srgbClr val="FF0000"/>
                    </a:solidFill>
                    <a:ea typeface="隶书" panose="02010509060101010101" pitchFamily="49" charset="-122"/>
                    <a:cs typeface="+mj-cs"/>
                  </a:rPr>
                  <a:t>多维联合特征函数</a:t>
                </a:r>
                <a:endParaRPr lang="en-US" altLang="zh-CN" sz="3200" dirty="0">
                  <a:solidFill>
                    <a:srgbClr val="FF0000"/>
                  </a:solidFill>
                  <a:ea typeface="隶书" panose="02010509060101010101" pitchFamily="49" charset="-122"/>
                  <a:cs typeface="+mj-cs"/>
                </a:endParaRPr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二维联合特征函数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ct val="0"/>
                  </a:spcBef>
                  <a:buNone/>
                </a:pP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zh-CN" altLang="zh-CN" sz="2400" dirty="0"/>
                  <a:t>随机变量</a:t>
                </a:r>
                <a:r>
                  <a:rPr lang="en-US" altLang="zh-CN" sz="2400" i="1" dirty="0"/>
                  <a:t>X</a:t>
                </a:r>
                <a:r>
                  <a:rPr lang="en-US" altLang="zh-CN" sz="2400" dirty="0"/>
                  <a:t>,</a:t>
                </a:r>
                <a:r>
                  <a:rPr lang="en-US" altLang="zh-CN" sz="2400" i="1" dirty="0"/>
                  <a:t>Y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𝑗𝑢𝑋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𝑗𝑣𝑌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2400" i="1" dirty="0"/>
              </a:p>
              <a:p>
                <a:pPr marL="0" indent="0">
                  <a:spcBef>
                    <a:spcPct val="0"/>
                  </a:spcBef>
                  <a:buNone/>
                </a:pPr>
                <a:endParaRPr lang="en-US" altLang="zh-CN" sz="2400" i="1" dirty="0"/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zh-CN" altLang="zh-CN" sz="2400" dirty="0"/>
                  <a:t>连续随机变量</a:t>
                </a:r>
                <a:r>
                  <a:rPr lang="en-US" altLang="zh-CN" sz="2400" dirty="0"/>
                  <a:t> </a:t>
                </a:r>
                <a:r>
                  <a:rPr lang="zh-CN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𝑗𝑢𝑋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𝑗𝑣𝑌</m:t>
                            </m:r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𝑢𝑥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𝑣𝑦</m:t>
                                    </m:r>
                                  </m:e>
                                </m:d>
                              </m:sup>
                            </m:sSup>
                          </m:e>
                        </m:nary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𝑑𝑥𝑑𝑦</m:t>
                        </m:r>
                      </m:e>
                    </m:nary>
                  </m:oMath>
                </a14:m>
                <a:endParaRPr lang="en-US" altLang="zh-CN" sz="2400" dirty="0"/>
              </a:p>
              <a:p>
                <a:pPr marL="0" indent="0">
                  <a:spcBef>
                    <a:spcPct val="0"/>
                  </a:spcBef>
                  <a:buNone/>
                </a:pPr>
                <a:endParaRPr lang="en-US" altLang="zh-CN" sz="2400" dirty="0"/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zh-CN" altLang="en-US" sz="2400" dirty="0"/>
                  <a:t>离散随机变量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d>
                                  <m:dPr>
                                    <m:ctrlP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</m:sup>
                            </m:sSup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𝑘𝑙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altLang="zh-CN" sz="2400" b="0" dirty="0"/>
              </a:p>
              <a:p>
                <a:pPr marL="0" indent="0">
                  <a:spcBef>
                    <a:spcPct val="0"/>
                  </a:spcBef>
                  <a:buNone/>
                </a:pPr>
                <a:endParaRPr lang="en-US" altLang="zh-CN" sz="2400" b="0" dirty="0"/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多维联合特征函数</a:t>
                </a:r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,...,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400" dirty="0"/>
                  <a:t>，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,...,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400" dirty="0"/>
                  <a:t>,</a:t>
                </a:r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+...,+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16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539552" y="260648"/>
                <a:ext cx="8255000" cy="4652149"/>
              </a:xfrm>
              <a:blipFill>
                <a:blip r:embed="rId2"/>
                <a:stretch>
                  <a:fillRect l="-1182" t="-2228" b="-22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8782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66255" y="1325441"/>
                <a:ext cx="8783782" cy="320326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x-none" altLang="zh-CN" sz="2800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800" dirty="0">
                    <a:solidFill>
                      <a:srgbClr val="FF0000"/>
                    </a:solidFill>
                  </a:rPr>
                  <a:t>重要性质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，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800" dirty="0"/>
                  <a:t>当且仅当</a:t>
                </a:r>
                <a:r>
                  <a:rPr lang="en-US" altLang="zh-CN" sz="2800" i="1" dirty="0"/>
                  <a:t>N</a:t>
                </a:r>
                <a:r>
                  <a:rPr lang="zh-CN" altLang="zh-CN" sz="2800" dirty="0"/>
                  <a:t>个随机变量统计独立时</a:t>
                </a:r>
                <a:r>
                  <a:rPr lang="en-US" altLang="zh-CN" sz="2800" dirty="0"/>
                  <a:t>,</a:t>
                </a:r>
                <a:r>
                  <a:rPr lang="zh-CN" altLang="zh-CN" sz="2800" dirty="0"/>
                  <a:t>其联合特征函数等于各特征函数的积。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+...+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    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...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400" dirty="0"/>
                  <a:t> </a:t>
                </a:r>
                <a:endParaRPr lang="zh-CN" altLang="zh-CN" sz="2400" dirty="0"/>
              </a:p>
              <a:p>
                <a:pPr marL="0" indent="0">
                  <a:lnSpc>
                    <a:spcPct val="140000"/>
                  </a:lnSpc>
                  <a:buNone/>
                </a:pPr>
                <a:endParaRPr lang="en-US" altLang="zh-CN" sz="16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66255" y="1325441"/>
                <a:ext cx="8783782" cy="3203265"/>
              </a:xfrm>
              <a:blipFill>
                <a:blip r:embed="rId2"/>
                <a:stretch>
                  <a:fillRect l="-1388" t="-2471" r="-1180" b="-252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367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D78C6BB-F77A-4724-9FE9-A5072D5C758C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66750" y="2130137"/>
                <a:ext cx="7865690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是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n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个独立正态随机变量，各自服从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𝑁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。求</a:t>
                </a:r>
                <a:endParaRPr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n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维联合特征函数。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D78C6BB-F77A-4724-9FE9-A5072D5C7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666750" y="2130137"/>
                <a:ext cx="7865690" cy="1607344"/>
              </a:xfrm>
              <a:prstGeom prst="rect">
                <a:avLst/>
              </a:prstGeom>
              <a:blipFill>
                <a:blip r:embed="rId13"/>
                <a:stretch>
                  <a:fillRect l="-1162" t="-7576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03B25455-230C-4931-9C19-B464CD76144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ADA047-4B31-483A-B6CF-85BB7CFC61E6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83AB0A6-5A79-49A7-B139-9A247693C2ED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1DFA8FCA-6509-4EBD-AF71-1E17923BB0C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AAC5731A-40FF-4968-A038-38A774621B1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09D7C7C7-4121-4C1B-9464-817C88AF70D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0601861C-221F-4922-BADB-45093FE4620C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9998199-CFC8-4772-998C-EAA7DCAA3EB8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402234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427018" y="1221531"/>
                <a:ext cx="6025301" cy="40793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解：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zh-CN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1800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1800" i="1"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bSup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                        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𝒆𝒙𝒑</m:t>
                      </m:r>
                      <m:d>
                        <m:dPr>
                          <m:ctrlPr>
                            <a:rPr lang="en-US" altLang="zh-CN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𝒋</m:t>
                          </m:r>
                          <m:nary>
                            <m:naryPr>
                              <m:chr m:val="∑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800" i="1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16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427018" y="1221531"/>
                <a:ext cx="6025301" cy="4079396"/>
              </a:xfrm>
              <a:blipFill>
                <a:blip r:embed="rId2"/>
                <a:stretch>
                  <a:fillRect l="-1215" t="-13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5588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4EAD9F-3766-46DF-9FDA-AF9BCAE51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3427CC-91FD-4765-AA06-39D8E832F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437" y="1785505"/>
            <a:ext cx="8485908" cy="3719945"/>
          </a:xfrm>
        </p:spPr>
        <p:txBody>
          <a:bodyPr/>
          <a:lstStyle/>
          <a:p>
            <a:r>
              <a:rPr lang="zh-CN" altLang="en-US" sz="2400" dirty="0"/>
              <a:t>随机变量函数的概率分布</a:t>
            </a:r>
            <a:r>
              <a:rPr lang="en-US" altLang="zh-CN" sz="2400" dirty="0"/>
              <a:t>——</a:t>
            </a:r>
            <a:r>
              <a:rPr lang="zh-CN" altLang="en-US" sz="2400" dirty="0"/>
              <a:t>掌握一维、二维函数；</a:t>
            </a:r>
            <a:endParaRPr lang="en-US" altLang="zh-CN" sz="2400" dirty="0"/>
          </a:p>
          <a:p>
            <a:r>
              <a:rPr lang="zh-CN" altLang="en-US" sz="2400" dirty="0"/>
              <a:t>瑞利分布和莱斯分布</a:t>
            </a:r>
            <a:r>
              <a:rPr lang="en-US" altLang="zh-CN" sz="2400" dirty="0"/>
              <a:t>——</a:t>
            </a:r>
            <a:r>
              <a:rPr lang="zh-CN" altLang="en-US" sz="2400" dirty="0"/>
              <a:t>记牢；</a:t>
            </a:r>
            <a:endParaRPr lang="en-US" altLang="zh-CN" sz="2400" dirty="0"/>
          </a:p>
          <a:p>
            <a:r>
              <a:rPr lang="zh-CN" altLang="en-US" sz="2400" dirty="0"/>
              <a:t>数学期望、方差、相关、协方差、相关系数、二阶中心矩</a:t>
            </a:r>
            <a:r>
              <a:rPr lang="en-US" altLang="zh-CN" sz="2400" dirty="0"/>
              <a:t>——</a:t>
            </a:r>
            <a:r>
              <a:rPr lang="zh-CN" altLang="en-US" sz="2400" dirty="0"/>
              <a:t>记牢；</a:t>
            </a:r>
            <a:endParaRPr lang="en-US" altLang="zh-CN" sz="2400" dirty="0"/>
          </a:p>
          <a:p>
            <a:r>
              <a:rPr lang="zh-CN" altLang="en-US" sz="2400" dirty="0"/>
              <a:t>统计独立、不相关和正交</a:t>
            </a:r>
            <a:r>
              <a:rPr lang="en-US" altLang="zh-CN" sz="2400" dirty="0"/>
              <a:t>——</a:t>
            </a:r>
            <a:r>
              <a:rPr lang="zh-CN" altLang="en-US" sz="2400" dirty="0"/>
              <a:t>能正确区分；</a:t>
            </a:r>
            <a:endParaRPr lang="en-US" altLang="zh-CN" sz="2400" dirty="0"/>
          </a:p>
          <a:p>
            <a:r>
              <a:rPr lang="zh-CN" altLang="en-US" sz="2400" dirty="0"/>
              <a:t>条件数学期望和全数学期望公式</a:t>
            </a:r>
            <a:r>
              <a:rPr lang="en-US" altLang="zh-CN" sz="2400" dirty="0"/>
              <a:t>——</a:t>
            </a:r>
            <a:r>
              <a:rPr lang="zh-CN" altLang="en-US" sz="2400" dirty="0"/>
              <a:t>会计算；</a:t>
            </a:r>
            <a:endParaRPr lang="en-US" altLang="zh-CN" sz="2400" dirty="0"/>
          </a:p>
          <a:p>
            <a:r>
              <a:rPr lang="zh-CN" altLang="en-US" sz="2400" dirty="0"/>
              <a:t>切比雪夫不等式、柯西</a:t>
            </a:r>
            <a:r>
              <a:rPr lang="en-US" altLang="zh-CN" sz="2400" dirty="0"/>
              <a:t>-</a:t>
            </a:r>
            <a:r>
              <a:rPr lang="zh-CN" altLang="en-US" sz="2400" dirty="0"/>
              <a:t>许瓦兹不等式。</a:t>
            </a:r>
            <a:endParaRPr lang="en-US" altLang="zh-CN" sz="2400" dirty="0"/>
          </a:p>
          <a:p>
            <a:r>
              <a:rPr lang="zh-CN" altLang="en-US" sz="2400"/>
              <a:t>特征函数概念和主要性质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837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837F0F-69C2-4015-BA34-3A56C387F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4CE83B-BFD2-4C55-A47B-3EA7C0ECA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总结课程有关公式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课堂练习题错题分析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习题：</a:t>
            </a:r>
            <a:r>
              <a:rPr lang="en-US" altLang="zh-CN" sz="2400" dirty="0"/>
              <a:t>1.18,  1.20</a:t>
            </a:r>
            <a:r>
              <a:rPr lang="zh-CN" altLang="en-US" sz="2400" dirty="0"/>
              <a:t>，</a:t>
            </a:r>
            <a:r>
              <a:rPr lang="en-US" altLang="zh-CN" sz="2400" dirty="0"/>
              <a:t>1.22</a:t>
            </a:r>
            <a:r>
              <a:rPr lang="zh-CN" altLang="en-US" sz="2400" dirty="0"/>
              <a:t>，</a:t>
            </a:r>
            <a:r>
              <a:rPr lang="en-US" altLang="zh-CN" sz="2400" dirty="0"/>
              <a:t>1.23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22839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4.0"/>
  <p:tag name="PROBLEMBLANK" val="[{&quot;num&quot;:1,&quot;caseSensitive&quot;:false,&quot;fuzzyMatch&quot;:false,&quot;Score&quot;:1.0,&quot;answers&quot;:[&quot;4&quot;]},{&quot;num&quot;:2,&quot;caseSensitive&quot;:false,&quot;fuzzyMatch&quot;:false,&quot;Score&quot;:1.0,&quot;answers&quot;:[&quot;-2&quot;]},{&quot;num&quot;:3,&quot;caseSensitive&quot;:false,&quot;fuzzyMatch&quot;:false,&quot;Score&quot;:1.0,&quot;answers&quot;:[&quot;7&quot;]},{&quot;num&quot;:4,&quot;caseSensitive&quot;:false,&quot;fuzzyMatch&quot;:false,&quot;Score&quot;:1.0,&quot;answers&quot;:[&quot;3&quot;]}]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mpressive Sens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Compressive Sensing</Template>
  <TotalTime>6126</TotalTime>
  <Words>5228</Words>
  <Application>Microsoft Office PowerPoint</Application>
  <PresentationFormat>全屏显示(4:3)</PresentationFormat>
  <Paragraphs>451</Paragraphs>
  <Slides>61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61</vt:i4>
      </vt:variant>
    </vt:vector>
  </HeadingPairs>
  <TitlesOfParts>
    <vt:vector size="82" baseType="lpstr">
      <vt:lpstr>-apple-system</vt:lpstr>
      <vt:lpstr>Arial Unicode MS</vt:lpstr>
      <vt:lpstr>黑体</vt:lpstr>
      <vt:lpstr>楷体</vt:lpstr>
      <vt:lpstr>宋体</vt:lpstr>
      <vt:lpstr>Microsoft Yahei</vt:lpstr>
      <vt:lpstr>Arial</vt:lpstr>
      <vt:lpstr>Arial Black</vt:lpstr>
      <vt:lpstr>Calibri</vt:lpstr>
      <vt:lpstr>Cambria Math</vt:lpstr>
      <vt:lpstr>Comic Sans MS</vt:lpstr>
      <vt:lpstr>Tahoma</vt:lpstr>
      <vt:lpstr>Times New Roman</vt:lpstr>
      <vt:lpstr>Wingdings</vt:lpstr>
      <vt:lpstr>1_自定义设计方案</vt:lpstr>
      <vt:lpstr>自定义设计方案</vt:lpstr>
      <vt:lpstr>1_Compressive Sensing</vt:lpstr>
      <vt:lpstr>1_Pres_in_sample</vt:lpstr>
      <vt:lpstr>2_Pres_in_sample</vt:lpstr>
      <vt:lpstr>Equation</vt:lpstr>
      <vt:lpstr>公式</vt:lpstr>
      <vt:lpstr>PowerPoint 演示文稿</vt:lpstr>
      <vt:lpstr>第一章 概率论基础 (续)</vt:lpstr>
      <vt:lpstr>1.4.1 数学期望（或统计平均）</vt:lpstr>
      <vt:lpstr>PowerPoint 演示文稿</vt:lpstr>
      <vt:lpstr>PowerPoint 演示文稿</vt:lpstr>
      <vt:lpstr>PowerPoint 演示文稿</vt:lpstr>
      <vt:lpstr>PowerPoint 演示文稿</vt:lpstr>
      <vt:lpstr>1.4.2 矩（Moment）与联合矩                （理解为对随机变量的函数求统计平均）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1.4.3 相关、正交及统计独立  （讨论随机变量之间的关系）</vt:lpstr>
      <vt:lpstr>PowerPoint 演示文稿</vt:lpstr>
      <vt:lpstr>1.4.4  条件数学期望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1.4.5 数字期望、方差的特性和重要不等式</vt:lpstr>
      <vt:lpstr>PowerPoint 演示文稿</vt:lpstr>
      <vt:lpstr>PowerPoint 演示文稿</vt:lpstr>
      <vt:lpstr>PowerPoint 演示文稿</vt:lpstr>
      <vt:lpstr>PowerPoint 演示文稿</vt:lpstr>
      <vt:lpstr>1.5 特征函数</vt:lpstr>
      <vt:lpstr>1.5 特征函数  （ Characteristic Function ）</vt:lpstr>
      <vt:lpstr>PowerPoint 演示文稿</vt:lpstr>
      <vt:lpstr>1.5.1 一维特征函数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</vt:lpstr>
      <vt:lpstr>作业</vt:lpstr>
    </vt:vector>
  </TitlesOfParts>
  <Company>Keio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Wensheng Zhang</dc:creator>
  <cp:lastModifiedBy>Wensheng Zhang</cp:lastModifiedBy>
  <cp:revision>733</cp:revision>
  <dcterms:created xsi:type="dcterms:W3CDTF">2012-07-10T00:46:24Z</dcterms:created>
  <dcterms:modified xsi:type="dcterms:W3CDTF">2024-09-20T08:14:37Z</dcterms:modified>
</cp:coreProperties>
</file>