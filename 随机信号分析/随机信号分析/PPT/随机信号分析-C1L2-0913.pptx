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5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2.xml" ContentType="application/vnd.openxmlformats-officedocument.presentationml.tags+xml"/>
  <Override PartName="/ppt/notesSlides/notesSlide1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210.xml" ContentType="application/vnd.openxmlformats-officedocument.presentationml.tags+xml"/>
  <Override PartName="/ppt/tags/tag310.xml" ContentType="application/vnd.openxmlformats-officedocument.presentationml.tags+xml"/>
  <Override PartName="/ppt/tags/tag410.xml" ContentType="application/vnd.openxmlformats-officedocument.presentationml.tags+xml"/>
  <Override PartName="/ppt/tags/tag510.xml" ContentType="application/vnd.openxmlformats-officedocument.presentationml.tags+xml"/>
  <Override PartName="/ppt/tags/tag610.xml" ContentType="application/vnd.openxmlformats-officedocument.presentationml.tags+xml"/>
  <Override PartName="/ppt/tags/tag19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60" r:id="rId2"/>
    <p:sldMasterId id="2147483686" r:id="rId3"/>
    <p:sldMasterId id="2147483690" r:id="rId4"/>
    <p:sldMasterId id="2147483708" r:id="rId5"/>
  </p:sldMasterIdLst>
  <p:notesMasterIdLst>
    <p:notesMasterId r:id="rId62"/>
  </p:notesMasterIdLst>
  <p:handoutMasterIdLst>
    <p:handoutMasterId r:id="rId63"/>
  </p:handoutMasterIdLst>
  <p:sldIdLst>
    <p:sldId id="360" r:id="rId6"/>
    <p:sldId id="256" r:id="rId7"/>
    <p:sldId id="325" r:id="rId8"/>
    <p:sldId id="289" r:id="rId9"/>
    <p:sldId id="368" r:id="rId10"/>
    <p:sldId id="303" r:id="rId11"/>
    <p:sldId id="369" r:id="rId12"/>
    <p:sldId id="354" r:id="rId13"/>
    <p:sldId id="355" r:id="rId14"/>
    <p:sldId id="356" r:id="rId15"/>
    <p:sldId id="341" r:id="rId16"/>
    <p:sldId id="342" r:id="rId17"/>
    <p:sldId id="364" r:id="rId18"/>
    <p:sldId id="357" r:id="rId19"/>
    <p:sldId id="287" r:id="rId20"/>
    <p:sldId id="358" r:id="rId21"/>
    <p:sldId id="359" r:id="rId22"/>
    <p:sldId id="293" r:id="rId23"/>
    <p:sldId id="374" r:id="rId24"/>
    <p:sldId id="361" r:id="rId25"/>
    <p:sldId id="371" r:id="rId26"/>
    <p:sldId id="372" r:id="rId27"/>
    <p:sldId id="337" r:id="rId28"/>
    <p:sldId id="312" r:id="rId29"/>
    <p:sldId id="320" r:id="rId30"/>
    <p:sldId id="302" r:id="rId31"/>
    <p:sldId id="376" r:id="rId32"/>
    <p:sldId id="304" r:id="rId33"/>
    <p:sldId id="305" r:id="rId34"/>
    <p:sldId id="353" r:id="rId35"/>
    <p:sldId id="307" r:id="rId36"/>
    <p:sldId id="308" r:id="rId37"/>
    <p:sldId id="309" r:id="rId38"/>
    <p:sldId id="321" r:id="rId39"/>
    <p:sldId id="322" r:id="rId40"/>
    <p:sldId id="329" r:id="rId41"/>
    <p:sldId id="313" r:id="rId42"/>
    <p:sldId id="314" r:id="rId43"/>
    <p:sldId id="379" r:id="rId44"/>
    <p:sldId id="382" r:id="rId45"/>
    <p:sldId id="365" r:id="rId46"/>
    <p:sldId id="366" r:id="rId47"/>
    <p:sldId id="367" r:id="rId48"/>
    <p:sldId id="315" r:id="rId49"/>
    <p:sldId id="316" r:id="rId50"/>
    <p:sldId id="317" r:id="rId51"/>
    <p:sldId id="405" r:id="rId52"/>
    <p:sldId id="318" r:id="rId53"/>
    <p:sldId id="396" r:id="rId54"/>
    <p:sldId id="319" r:id="rId55"/>
    <p:sldId id="330" r:id="rId56"/>
    <p:sldId id="331" r:id="rId57"/>
    <p:sldId id="383" r:id="rId58"/>
    <p:sldId id="420" r:id="rId59"/>
    <p:sldId id="419" r:id="rId60"/>
    <p:sldId id="323" r:id="rId61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 USER" initials="L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5"/>
    <a:srgbClr val="D09E00"/>
    <a:srgbClr val="FFD347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7" autoAdjust="0"/>
    <p:restoredTop sz="84525" autoAdjust="0"/>
  </p:normalViewPr>
  <p:slideViewPr>
    <p:cSldViewPr>
      <p:cViewPr varScale="1">
        <p:scale>
          <a:sx n="95" d="100"/>
          <a:sy n="95" d="100"/>
        </p:scale>
        <p:origin x="216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66" d="100"/>
          <a:sy n="66" d="100"/>
        </p:scale>
        <p:origin x="1579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15D6-64B5-4D81-A068-018BC9D15C70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2BF-B727-4E7D-871C-58E4727485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34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34918-EEE7-4DA3-9986-E691913FFCBE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4D2F-56DD-4976-9716-D18248F948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87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9%9A%8F%E6%9C%BA%E5%8F%98%E9%87%8F?fromModule=lemma_inlink" TargetMode="External"/><Relationship Id="rId3" Type="http://schemas.openxmlformats.org/officeDocument/2006/relationships/hyperlink" Target="https://baike.baidu.com/item/%E5%88%87%E6%AF%94%E9%9B%AA%E5%A4%AB?fromModule=lemma_inlink" TargetMode="External"/><Relationship Id="rId7" Type="http://schemas.openxmlformats.org/officeDocument/2006/relationships/hyperlink" Target="https://baike.baidu.com/item/%E4%B8%AD%E5%BF%83%E6%9E%81%E9%99%90%E5%AE%9A%E7%90%86?fromModule=lemma_inlink" TargetMode="External"/><Relationship Id="rId12" Type="http://schemas.openxmlformats.org/officeDocument/2006/relationships/hyperlink" Target="https://baike.baidu.com/item/%E8%B4%B9%E5%8B%92?fromModule=lemma_inlink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5%A4%A7%E6%95%B0%E5%AE%9A%E5%BE%8B?fromModule=lemma_inlink" TargetMode="External"/><Relationship Id="rId11" Type="http://schemas.openxmlformats.org/officeDocument/2006/relationships/hyperlink" Target="https://baike.baidu.com/item/%E7%BB%B4%E7%BA%B3?fromModule=lemma_inlink" TargetMode="External"/><Relationship Id="rId5" Type="http://schemas.openxmlformats.org/officeDocument/2006/relationships/hyperlink" Target="https://baike.baidu.com/item/%E6%9D%8E%E4%BA%9A%E6%99%AE%E8%AF%BA%E5%A4%AB?fromModule=lemma_inlink" TargetMode="External"/><Relationship Id="rId10" Type="http://schemas.openxmlformats.org/officeDocument/2006/relationships/hyperlink" Target="https://baike.baidu.com/item/%E6%9F%AF%E5%B0%94%E8%8E%AB%E5%93%A5%E6%B4%9B%E5%A4%AB?fromModule=lemma_inlink" TargetMode="External"/><Relationship Id="rId4" Type="http://schemas.openxmlformats.org/officeDocument/2006/relationships/hyperlink" Target="https://baike.baidu.com/item/%E9%A9%AC%E5%B0%94%E5%8F%AF%E5%A4%AB?fromModule=lemma_inlink" TargetMode="External"/><Relationship Id="rId9" Type="http://schemas.openxmlformats.org/officeDocument/2006/relationships/hyperlink" Target="https://baike.baidu.com/item/%E6%AD%A3%E6%80%81%E5%88%86%E5%B8%83?fromModule=lemma_inlink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A4%9A%E5%BE%84/3975124?fromModule=lemma_inlink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ike.baidu.com/item/%E7%91%9E%E5%88%A9%E5%88%86%E5%B8%83/10284554?fromModule=lemma_inlink" TargetMode="Externa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8%B4%9D%E5%A1%9E%E5%B0%94%E6%96%B9%E7%A8%8B/6000046?fromModule=lemma_inlink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8%B4%9D%E5%A1%9E%E5%B0%94/696605?fromModule=lemma_inlink" TargetMode="External"/><Relationship Id="rId5" Type="http://schemas.openxmlformats.org/officeDocument/2006/relationships/hyperlink" Target="https://baike.baidu.com/item/%E5%88%9D%E7%AD%89%E5%87%BD%E6%95%B0/846442?fromModule=lemma_inlink" TargetMode="External"/><Relationship Id="rId4" Type="http://schemas.openxmlformats.org/officeDocument/2006/relationships/hyperlink" Target="https://baike.baidu.com/item/%E8%B0%83%E5%92%8C%E5%87%BD%E6%95%B0/2864342?fromModule=lemma_inlink" TargetMode="Externa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2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Probability theory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世纪末，俄国数学家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切比雪夫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马尔可夫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李亚普诺夫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等人用分析方法建立了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大数定律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及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中心极限定理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的一般形式，科学地解释了为什么实际中遇到的许多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随机变量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近似服从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正态分布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世纪初受物理学的刺激，人们开始研究随机过程。这方面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/>
              </a:rPr>
              <a:t>柯尔莫哥洛夫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/>
              </a:rPr>
              <a:t>维纳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、马尔可夫、辛钦、莱维及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/>
              </a:rPr>
              <a:t>费勒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等人作了杰出的贡献。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7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004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126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843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5677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588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P11</a:t>
            </a:r>
            <a:r>
              <a:rPr lang="zh-CN" altLang="en-US" dirty="0"/>
              <a:t>，随机变量独立性定义！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3659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设</a:t>
                </a:r>
                <a:r>
                  <a:rPr lang="en-US" altLang="zh-CN" dirty="0"/>
                  <a:t>Ω</a:t>
                </a:r>
                <a:r>
                  <a:rPr lang="zh-CN" altLang="en-US" dirty="0"/>
                  <a:t>是样本空间，𝔽是</a:t>
                </a:r>
                <a:r>
                  <a:rPr lang="en-US" altLang="zh-CN" dirty="0"/>
                  <a:t>Ω</a:t>
                </a:r>
                <a:r>
                  <a:rPr lang="zh-CN" altLang="en-US" dirty="0"/>
                  <a:t>的某些子集构成的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非空集类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若𝔽满足下列条件：    </a:t>
                </a:r>
                <a:r>
                  <a:rPr lang="zh-CN" altLang="en-US" sz="1200" dirty="0"/>
                  <a:t>𝜴∈𝔽</a:t>
                </a:r>
                <a:r>
                  <a:rPr lang="en-US" altLang="zh-CN" sz="1200" dirty="0"/>
                  <a:t>; </a:t>
                </a:r>
                <a:r>
                  <a:rPr lang="zh-CN" altLang="en-US" sz="1200" dirty="0"/>
                  <a:t>若 𝑨∈𝔽</a:t>
                </a:r>
                <a:r>
                  <a:rPr lang="en-US" altLang="zh-CN" sz="1200" dirty="0"/>
                  <a:t>,</a:t>
                </a:r>
                <a:r>
                  <a:rPr lang="zh-CN" altLang="en-US" sz="1200" dirty="0"/>
                  <a:t>则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sz="1200" dirty="0"/>
                  <a:t>∈𝔽；若𝑨∈𝔽</a:t>
                </a:r>
                <a:r>
                  <a:rPr lang="en-US" altLang="zh-CN" sz="1200" dirty="0"/>
                  <a:t>, </a:t>
                </a:r>
                <a:r>
                  <a:rPr lang="zh-CN" altLang="en-US" sz="1200" dirty="0"/>
                  <a:t>𝑩∈𝔽</a:t>
                </a:r>
                <a:r>
                  <a:rPr lang="en-US" altLang="zh-CN" sz="1200" dirty="0"/>
                  <a:t>, </a:t>
                </a:r>
                <a:r>
                  <a:rPr lang="zh-CN" altLang="en-US" sz="1200" dirty="0"/>
                  <a:t>则</a:t>
                </a:r>
                <a:r>
                  <a:rPr lang="en-US" altLang="zh-CN" sz="1200" dirty="0"/>
                  <a:t>(</a:t>
                </a:r>
                <a:r>
                  <a:rPr lang="zh-CN" altLang="en-US" sz="1200" dirty="0"/>
                  <a:t>𝑨∪𝑩</a:t>
                </a:r>
                <a:r>
                  <a:rPr lang="en-US" altLang="zh-CN" sz="1200" dirty="0"/>
                  <a:t>)∈</a:t>
                </a:r>
                <a:r>
                  <a:rPr lang="zh-CN" altLang="en-US" sz="1200" dirty="0"/>
                  <a:t>𝔽</a:t>
                </a:r>
                <a:r>
                  <a:rPr lang="en-US" altLang="zh-CN" sz="1200" dirty="0"/>
                  <a:t>,</a:t>
                </a:r>
                <a:r>
                  <a:rPr lang="zh-CN" altLang="en-US" sz="1200" dirty="0"/>
                  <a:t>则称𝔽为事件</a:t>
                </a:r>
                <a:r>
                  <a:rPr lang="en-US" altLang="zh-CN" sz="1200" dirty="0"/>
                  <a:t>σ </a:t>
                </a:r>
                <a:r>
                  <a:rPr lang="zh-CN" altLang="en-US" sz="1200" dirty="0"/>
                  <a:t>域。</a:t>
                </a:r>
                <a:r>
                  <a:rPr lang="zh-CN" altLang="zh-CN" dirty="0"/>
                  <a:t>对每一个实验结果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zh-CN" dirty="0"/>
                  <a:t>，有一个实数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与之对应 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是定义在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zh-CN" dirty="0"/>
                  <a:t>上的实单值函数（定义域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zh-CN" dirty="0"/>
                  <a:t>，值域为实数）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【对每一个实验结果</a:t>
                </a:r>
                <a:r>
                  <a:rPr lang="en-US" altLang="zh-CN" i="0">
                    <a:latin typeface="Cambria Math" panose="02040503050406030204" pitchFamily="18" charset="0"/>
                  </a:rPr>
                  <a:t>𝜔∈𝛺</a:t>
                </a:r>
                <a:r>
                  <a:rPr lang="zh-CN" altLang="zh-CN" dirty="0"/>
                  <a:t>，有一个实数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𝑋(𝜔)</a:t>
                </a:r>
                <a:r>
                  <a:rPr lang="zh-CN" altLang="zh-CN" dirty="0"/>
                  <a:t>与之对应 ，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𝑋(𝜔)</a:t>
                </a:r>
                <a:r>
                  <a:rPr lang="zh-CN" altLang="zh-CN" dirty="0"/>
                  <a:t>是定义在</a:t>
                </a:r>
                <a:r>
                  <a:rPr lang="en-US" altLang="zh-CN" i="0">
                    <a:latin typeface="Cambria Math" panose="02040503050406030204" pitchFamily="18" charset="0"/>
                  </a:rPr>
                  <a:t>𝛺</a:t>
                </a:r>
                <a:r>
                  <a:rPr lang="zh-CN" altLang="zh-CN" dirty="0"/>
                  <a:t>上的实单值函数（定义域</a:t>
                </a:r>
                <a:r>
                  <a:rPr lang="en-US" altLang="zh-CN" i="0">
                    <a:latin typeface="Cambria Math" panose="02040503050406030204" pitchFamily="18" charset="0"/>
                  </a:rPr>
                  <a:t>𝛺</a:t>
                </a:r>
                <a:r>
                  <a:rPr lang="zh-CN" altLang="zh-CN" dirty="0"/>
                  <a:t>，值域为实数）】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669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710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指数分布的一个重要特征是无记忆性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(Memoryless Property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，又称遗失记忆性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。如果一个随机变量呈指数分布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X~E(A)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，当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 t ≥0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:P{x &gt;s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＋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tlX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s}= P{x &gt; t}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掷硬币， 顾客到来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751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P11</a:t>
            </a:r>
            <a:r>
              <a:rPr lang="zh-CN" altLang="en-US" dirty="0"/>
              <a:t>，相关系数</a:t>
            </a:r>
            <a:r>
              <a:rPr lang="en-US" altLang="zh-CN" dirty="0"/>
              <a:t>rho</a:t>
            </a:r>
            <a:r>
              <a:rPr lang="zh-CN" altLang="en-US" dirty="0"/>
              <a:t>。关于相关系数</a:t>
            </a:r>
            <a:r>
              <a:rPr lang="en-US" altLang="zh-CN" dirty="0"/>
              <a:t>[-1,1], 1 </a:t>
            </a:r>
            <a:r>
              <a:rPr lang="zh-CN" altLang="en-US" dirty="0"/>
              <a:t>代表完全正相关，</a:t>
            </a:r>
            <a:r>
              <a:rPr lang="en-US" altLang="zh-CN" dirty="0"/>
              <a:t>-1</a:t>
            </a:r>
            <a:r>
              <a:rPr lang="zh-CN" altLang="en-US" dirty="0"/>
              <a:t>完全负相关。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616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769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P11, N</a:t>
            </a:r>
            <a:r>
              <a:rPr lang="zh-CN" altLang="en-US" dirty="0"/>
              <a:t>个随机变量的独立定义。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562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4876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维度的概念</a:t>
            </a:r>
            <a:r>
              <a:rPr lang="en-US" altLang="zh-CN" dirty="0"/>
              <a:t>dimension, </a:t>
            </a:r>
            <a:r>
              <a:rPr lang="zh-CN" altLang="en-US" dirty="0"/>
              <a:t>多元 </a:t>
            </a:r>
            <a:r>
              <a:rPr lang="en-US" altLang="zh-CN" dirty="0" err="1"/>
              <a:t>multielment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922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倒数的意义？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9398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独立随机变量和的概率密度等于各概率密度函数的卷积。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28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瑞利分布和莱斯分布的物理意义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75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859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瑞利分布公式写到笔记本上！  与无线通信相联系！ 无线信号自由空间传播叠加！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D7A1B-A0FA-4282-B466-3A85211C7BD6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406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莱斯分布常用参数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来描述，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定义为主信号的功率与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多径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分量功率之比，即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K=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a^2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2σ^2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称作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莱斯因子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可以完全确定莱斯分布。当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A-&gt;0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时，莱斯分布转变为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瑞利分布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1232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贝塞尔函数是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贝塞尔方程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的解，它们和其他函数组合成柱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调和函数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。除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初等函数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外，在物理和工程中贝塞尔函数是最常用的函数，它们以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世纪德国天文学家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F.W.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贝塞尔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的姓氏命名，他在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1824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年第一次描述过它们。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https://baike.baidu.com/item/%E8%B4%9D%E5%A1%9E%E5%B0%94%E5%87%BD%E6%95%B0/3431101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16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用于无线信号多径传输，幅值和相位的计算。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6978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7418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1736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30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0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2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9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78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0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91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1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2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8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04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8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784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396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36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75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56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0E5B7-4980-4DCB-B895-755E41E90C37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13/09/2024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EF8F-819D-4663-82E4-C10ECE9AAC28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1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0" y="6425952"/>
            <a:ext cx="1691680" cy="432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altLang="zh-CN">
                <a:solidFill>
                  <a:prstClr val="black"/>
                </a:solidFill>
              </a:rPr>
              <a:t>Wensheng Zhang</a:t>
            </a:r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88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8173156" cy="14176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C957B-D1FD-480F-B320-0EDA5B29C51F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13/09/2024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27784" y="638132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CF0F2-C070-45F9-912E-4BD4A0D78506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746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1805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1563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20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668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797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0983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7134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617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4782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0959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6624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270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69345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5518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302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2246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0132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99126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2739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296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0635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5599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27861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0670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337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by Hailiang Xiong</a:t>
            </a:r>
            <a:r>
              <a:rPr lang="zh-CN" altLang="en-US"/>
              <a:t>山东大学</a:t>
            </a:r>
            <a:r>
              <a:rPr lang="en-US" altLang="zh-CN">
                <a:latin typeface="Arial" panose="020B0604020202020204" pitchFamily="34" charset="0"/>
              </a:rPr>
              <a:t>	                                                                </a:t>
            </a:r>
            <a:fld id="{8FBAAC0D-07A3-4AB9-A234-A9E9A2F0A6FD}" type="slidenum">
              <a:rPr lang="en-US" altLang="zh-CN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336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925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97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502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33905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52685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265801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0799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56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DD8F-1499-4C79-8BBC-577CD559A01B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9855-D108-4DFB-8CB9-5769378610FC}" type="datetimeFigureOut">
              <a:rPr lang="zh-CN" altLang="en-US" smtClean="0"/>
              <a:pPr/>
              <a:t>2024/9/13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1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60432" y="6460772"/>
            <a:ext cx="718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ownloads\SDU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80" y="3235"/>
            <a:ext cx="880064" cy="8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1124744"/>
            <a:ext cx="91430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839047"/>
            <a:ext cx="12477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3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289062" y="6415221"/>
            <a:ext cx="1066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de-DE" altLang="zh-CN" sz="900" dirty="0">
                <a:solidFill>
                  <a:srgbClr val="808080"/>
                </a:solidFill>
                <a:latin typeface="Arial" panose="020B0604020202020204" pitchFamily="34" charset="0"/>
              </a:rPr>
              <a:t>Slide </a:t>
            </a:r>
            <a:fld id="{ED94CCA2-7169-4BB5-975E-E6CC90B66E06}" type="slidenum">
              <a:rPr lang="de-DE" altLang="zh-CN" sz="9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05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612555" y="6521901"/>
            <a:ext cx="312420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2022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0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808913" y="6461125"/>
            <a:ext cx="1295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5720272" y="6461126"/>
            <a:ext cx="2546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彩云" panose="02010800040101010101" pitchFamily="2" charset="-122"/>
              </a:rPr>
              <a:t>信息科学与工程学院</a:t>
            </a:r>
            <a:endParaRPr lang="zh-CN" altLang="en-US" sz="1500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pic>
        <p:nvPicPr>
          <p:cNvPr id="1033" name="Picture 9"/>
          <p:cNvPicPr preferRelativeResize="0"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" y="58913"/>
            <a:ext cx="540000" cy="72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97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11560" y="6415220"/>
            <a:ext cx="504056" cy="3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ED94CCA2-7169-4BB5-975E-E6CC90B66E06}" type="slidenum">
              <a:rPr lang="de-DE" altLang="zh-CN" sz="18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90419" y="6422607"/>
            <a:ext cx="25884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2024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596336" y="6439619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45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5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4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4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5.tmp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notesSlide" Target="../notesSlides/notesSlide5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image" Target="../media/image6.png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3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image" Target="../media/image5.tm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tags" Target="../tags/tag57.xml"/><Relationship Id="rId18" Type="http://schemas.openxmlformats.org/officeDocument/2006/relationships/slideLayout" Target="../slideLayouts/slideLayout45.xml"/><Relationship Id="rId26" Type="http://schemas.openxmlformats.org/officeDocument/2006/relationships/image" Target="../media/image10.png"/><Relationship Id="rId3" Type="http://schemas.openxmlformats.org/officeDocument/2006/relationships/tags" Target="../tags/tag47.xml"/><Relationship Id="rId21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17" Type="http://schemas.openxmlformats.org/officeDocument/2006/relationships/tags" Target="../tags/tag61.xml"/><Relationship Id="rId25" Type="http://schemas.openxmlformats.org/officeDocument/2006/relationships/tags" Target="../tags/tag49.xml"/><Relationship Id="rId2" Type="http://schemas.openxmlformats.org/officeDocument/2006/relationships/tags" Target="../tags/tag46.xml"/><Relationship Id="rId16" Type="http://schemas.openxmlformats.org/officeDocument/2006/relationships/tags" Target="../tags/tag60.xml"/><Relationship Id="rId20" Type="http://schemas.openxmlformats.org/officeDocument/2006/relationships/image" Target="../media/image7.png"/><Relationship Id="rId29" Type="http://schemas.openxmlformats.org/officeDocument/2006/relationships/image" Target="../media/image5.tmp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24" Type="http://schemas.openxmlformats.org/officeDocument/2006/relationships/image" Target="../media/image9.png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23" Type="http://schemas.openxmlformats.org/officeDocument/2006/relationships/tags" Target="../tags/tag48.xml"/><Relationship Id="rId28" Type="http://schemas.openxmlformats.org/officeDocument/2006/relationships/image" Target="../media/image11.png"/><Relationship Id="rId10" Type="http://schemas.openxmlformats.org/officeDocument/2006/relationships/tags" Target="../tags/tag54.xml"/><Relationship Id="rId19" Type="http://schemas.openxmlformats.org/officeDocument/2006/relationships/tags" Target="../tags/tag46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Relationship Id="rId22" Type="http://schemas.openxmlformats.org/officeDocument/2006/relationships/image" Target="../media/image8.png"/><Relationship Id="rId27" Type="http://schemas.openxmlformats.org/officeDocument/2006/relationships/tags" Target="../tags/tag5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9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6.png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2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slideLayout" Target="../slideLayouts/slideLayout55.xml"/><Relationship Id="rId1" Type="http://schemas.openxmlformats.org/officeDocument/2006/relationships/tags" Target="../tags/tag6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4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slideLayout" Target="../slideLayouts/slideLayout45.xml"/><Relationship Id="rId26" Type="http://schemas.openxmlformats.org/officeDocument/2006/relationships/image" Target="../media/image320.png"/><Relationship Id="rId3" Type="http://schemas.openxmlformats.org/officeDocument/2006/relationships/tags" Target="../tags/tag65.xml"/><Relationship Id="rId21" Type="http://schemas.openxmlformats.org/officeDocument/2006/relationships/tags" Target="../tags/tag67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5" Type="http://schemas.openxmlformats.org/officeDocument/2006/relationships/tags" Target="../tags/tag6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0" Type="http://schemas.openxmlformats.org/officeDocument/2006/relationships/image" Target="../media/image290.pn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24" Type="http://schemas.openxmlformats.org/officeDocument/2006/relationships/image" Target="../media/image310.png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23" Type="http://schemas.openxmlformats.org/officeDocument/2006/relationships/tags" Target="../tags/tag68.xml"/><Relationship Id="rId10" Type="http://schemas.openxmlformats.org/officeDocument/2006/relationships/tags" Target="../tags/tag72.xml"/><Relationship Id="rId19" Type="http://schemas.openxmlformats.org/officeDocument/2006/relationships/tags" Target="../tags/tag66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image" Target="../media/image300.png"/><Relationship Id="rId27" Type="http://schemas.openxmlformats.org/officeDocument/2006/relationships/image" Target="../media/image5.tm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image" Target="../media/image330.png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81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8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image" Target="../media/image5.tm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4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5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18" Type="http://schemas.openxmlformats.org/officeDocument/2006/relationships/slideLayout" Target="../slideLayouts/slideLayout45.xml"/><Relationship Id="rId26" Type="http://schemas.openxmlformats.org/officeDocument/2006/relationships/image" Target="../media/image120.png"/><Relationship Id="rId3" Type="http://schemas.openxmlformats.org/officeDocument/2006/relationships/tags" Target="../tags/tag92.xml"/><Relationship Id="rId21" Type="http://schemas.openxmlformats.org/officeDocument/2006/relationships/tags" Target="../tags/tag310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tags" Target="../tags/tag106.xml"/><Relationship Id="rId25" Type="http://schemas.openxmlformats.org/officeDocument/2006/relationships/tags" Target="../tags/tag510.xml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20" Type="http://schemas.openxmlformats.org/officeDocument/2006/relationships/image" Target="../media/image90.png"/><Relationship Id="rId29" Type="http://schemas.openxmlformats.org/officeDocument/2006/relationships/image" Target="../media/image5.tmp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24" Type="http://schemas.openxmlformats.org/officeDocument/2006/relationships/image" Target="../media/image110.png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23" Type="http://schemas.openxmlformats.org/officeDocument/2006/relationships/tags" Target="../tags/tag410.xml"/><Relationship Id="rId28" Type="http://schemas.openxmlformats.org/officeDocument/2006/relationships/image" Target="../media/image130.png"/><Relationship Id="rId10" Type="http://schemas.openxmlformats.org/officeDocument/2006/relationships/tags" Target="../tags/tag99.xml"/><Relationship Id="rId19" Type="http://schemas.openxmlformats.org/officeDocument/2006/relationships/tags" Target="../tags/tag210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Relationship Id="rId22" Type="http://schemas.openxmlformats.org/officeDocument/2006/relationships/image" Target="../media/image100.png"/><Relationship Id="rId27" Type="http://schemas.openxmlformats.org/officeDocument/2006/relationships/tags" Target="../tags/tag6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image" Target="../media/image140.png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12" Type="http://schemas.openxmlformats.org/officeDocument/2006/relationships/tags" Target="../tags/tag190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111.xml"/><Relationship Id="rId10" Type="http://schemas.openxmlformats.org/officeDocument/2006/relationships/tags" Target="../tags/tag116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image" Target="../media/image5.tmp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5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79512" y="512180"/>
            <a:ext cx="8496944" cy="122413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/>
              </a:rPr>
              <a:t>随机信号分析</a:t>
            </a:r>
            <a:endParaRPr lang="en-US" altLang="zh-CN" b="1" dirty="0">
              <a:solidFill>
                <a:srgbClr val="C00000"/>
              </a:solidFill>
              <a:latin typeface="宋体"/>
            </a:endParaRPr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signal analysis</a:t>
            </a:r>
            <a:endParaRPr lang="es-H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3933056"/>
            <a:ext cx="74888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white"/>
                </a:solidFill>
                <a:latin typeface="宋体"/>
              </a:rPr>
              <a:t>张文胜 </a:t>
            </a:r>
            <a:endParaRPr lang="en-US" altLang="zh-CN" sz="3600" b="1" dirty="0">
              <a:solidFill>
                <a:prstClr val="white"/>
              </a:solidFill>
              <a:latin typeface="宋体"/>
            </a:endParaRPr>
          </a:p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宋体"/>
              </a:rPr>
              <a:t>微信：</a:t>
            </a:r>
            <a:r>
              <a:rPr lang="en-US" altLang="zh-CN" sz="2800" b="1" dirty="0">
                <a:solidFill>
                  <a:prstClr val="white"/>
                </a:solidFill>
                <a:latin typeface="宋体"/>
              </a:rPr>
              <a:t>15063339795  QQ:762329090</a:t>
            </a:r>
          </a:p>
          <a:p>
            <a:pPr algn="ctr"/>
            <a:r>
              <a:rPr lang="en-US" altLang="zh-CN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zhangwsh@sdu.edu.cn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zhang8181@gmail.com</a:t>
            </a:r>
          </a:p>
          <a:p>
            <a:pPr algn="ctr"/>
            <a:r>
              <a:rPr lang="en-US" altLang="zh-HK" sz="20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School of Information Science and Engineering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Shandong University</a:t>
            </a:r>
            <a:endParaRPr lang="zh-TW" altLang="zh-HK" sz="28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endParaRPr lang="zh-TW" altLang="zh-HK" sz="24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827584" y="2248402"/>
            <a:ext cx="7488832" cy="64757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课程号</a:t>
            </a:r>
            <a:r>
              <a:rPr lang="en-US" altLang="zh-CN" sz="2800" b="1" dirty="0">
                <a:cs typeface="Arial Unicode MS" pitchFamily="34" charset="-122"/>
              </a:rPr>
              <a:t>: </a:t>
            </a:r>
            <a:r>
              <a:rPr lang="en-US" altLang="zh-CN" sz="2800" b="1" dirty="0"/>
              <a:t>sd01234090    </a:t>
            </a:r>
            <a:r>
              <a:rPr lang="zh-CN" altLang="en-US" sz="2800" b="1" dirty="0"/>
              <a:t>周五 </a:t>
            </a:r>
            <a:r>
              <a:rPr lang="en-US" altLang="zh-CN" sz="2800" b="1" dirty="0"/>
              <a:t>5-6</a:t>
            </a:r>
            <a:r>
              <a:rPr lang="zh-CN" altLang="en-US" sz="2800" b="1" dirty="0"/>
              <a:t>节  </a:t>
            </a:r>
            <a:endParaRPr lang="en-US" altLang="zh-CN" sz="2800" b="1" dirty="0"/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振声苑</a:t>
            </a:r>
            <a:r>
              <a:rPr lang="en-US" altLang="zh-CN" sz="2800" b="1" dirty="0">
                <a:cs typeface="Arial Unicode MS" pitchFamily="34" charset="-122"/>
              </a:rPr>
              <a:t>W106</a:t>
            </a:r>
            <a:r>
              <a:rPr lang="zh-CN" altLang="en-US" sz="2800" b="1" dirty="0">
                <a:cs typeface="Arial Unicode MS" pitchFamily="34" charset="-122"/>
              </a:rPr>
              <a:t>，通信</a:t>
            </a:r>
            <a:r>
              <a:rPr lang="en-US" altLang="zh-CN" sz="2800" b="1" dirty="0">
                <a:cs typeface="Arial Unicode MS" pitchFamily="34" charset="-122"/>
              </a:rPr>
              <a:t>23[2-3]</a:t>
            </a:r>
            <a:r>
              <a:rPr lang="zh-CN" altLang="en-US" sz="2800" b="1" dirty="0">
                <a:cs typeface="Arial Unicode MS" pitchFamily="34" charset="-122"/>
              </a:rPr>
              <a:t>班，</a:t>
            </a:r>
            <a:r>
              <a:rPr lang="en-US" altLang="zh-CN" sz="2800" b="1" dirty="0">
                <a:cs typeface="Arial Unicode MS" pitchFamily="34" charset="-122"/>
              </a:rPr>
              <a:t>2024</a:t>
            </a:r>
            <a:r>
              <a:rPr lang="zh-CN" altLang="en-US" sz="2800" b="1" dirty="0">
                <a:cs typeface="Arial Unicode MS" pitchFamily="34" charset="-122"/>
              </a:rPr>
              <a:t>年秋</a:t>
            </a:r>
            <a:endParaRPr lang="es-HN" sz="2800" b="1" dirty="0"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10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A0A19-4259-4472-8BDE-77AEA81EF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6226" y="260648"/>
            <a:ext cx="6858000" cy="722461"/>
          </a:xfrm>
        </p:spPr>
        <p:txBody>
          <a:bodyPr/>
          <a:lstStyle/>
          <a:p>
            <a:r>
              <a:rPr lang="zh-CN" altLang="en-US" dirty="0"/>
              <a:t>第一章 概率论基础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16B0AC0-26DA-4A8E-A781-F8F13816BD16}"/>
              </a:ext>
            </a:extLst>
          </p:cNvPr>
          <p:cNvSpPr txBox="1">
            <a:spLocks/>
          </p:cNvSpPr>
          <p:nvPr/>
        </p:nvSpPr>
        <p:spPr bwMode="auto">
          <a:xfrm>
            <a:off x="549416" y="1268760"/>
            <a:ext cx="7488832" cy="3960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1pPr>
            <a:lvl2pPr marL="3429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5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2pPr>
            <a:lvl3pPr marL="685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35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3pPr>
            <a:lvl4pPr marL="10287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2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4pPr>
            <a:lvl5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概率公理与随机变量</a:t>
            </a:r>
            <a:endParaRPr lang="en-US" altLang="zh-CN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l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多维随机变量与条件随机变量</a:t>
            </a:r>
            <a:endParaRPr lang="en-US" altLang="zh-CN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l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随机变量的函数</a:t>
            </a:r>
            <a:endParaRPr lang="en-US" altLang="zh-CN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l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数字特征与条件数学期望</a:t>
            </a:r>
            <a:endParaRPr lang="en-US" altLang="zh-CN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l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特征函数</a:t>
            </a:r>
            <a:endParaRPr lang="en-US" altLang="zh-CN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l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典型分布</a:t>
            </a:r>
            <a:endParaRPr lang="zh-CN" altLang="zh-CN" sz="3600" dirty="0"/>
          </a:p>
          <a:p>
            <a:pPr>
              <a:spcBef>
                <a:spcPts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552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27DD8-C902-4C9E-A208-E5232DB08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6632"/>
            <a:ext cx="7886700" cy="648072"/>
          </a:xfrm>
        </p:spPr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258638-3E42-4FD4-B715-BFEC11DC0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836712"/>
            <a:ext cx="8531714" cy="525658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1</a:t>
            </a:r>
            <a:r>
              <a:rPr lang="zh-CN" altLang="en-US" dirty="0"/>
              <a:t>、运用</a:t>
            </a:r>
            <a:r>
              <a:rPr lang="zh-CN" altLang="zh-CN" dirty="0">
                <a:solidFill>
                  <a:srgbClr val="FF0000"/>
                </a:solidFill>
              </a:rPr>
              <a:t>概率公理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FF0000"/>
                </a:solidFill>
              </a:rPr>
              <a:t>概率基本公式</a:t>
            </a:r>
            <a:r>
              <a:rPr lang="zh-CN" altLang="en-US" dirty="0"/>
              <a:t>分析计算随机事件的</a:t>
            </a:r>
            <a:r>
              <a:rPr lang="zh-CN" altLang="zh-CN" dirty="0">
                <a:solidFill>
                  <a:srgbClr val="0070C0"/>
                </a:solidFill>
                <a:highlight>
                  <a:srgbClr val="FFFF00"/>
                </a:highlight>
              </a:rPr>
              <a:t>样本空间</a:t>
            </a:r>
            <a:r>
              <a:rPr lang="zh-CN" altLang="zh-CN" dirty="0"/>
              <a:t>、随机事件概率</a:t>
            </a:r>
            <a:r>
              <a:rPr lang="zh-CN" altLang="en-US" dirty="0"/>
              <a:t>、条件概率、</a:t>
            </a:r>
            <a:r>
              <a:rPr lang="zh-CN" altLang="en-US" dirty="0">
                <a:highlight>
                  <a:srgbClr val="FFFF00"/>
                </a:highlight>
              </a:rPr>
              <a:t>概率空间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2</a:t>
            </a:r>
            <a:r>
              <a:rPr lang="zh-CN" altLang="en-US" dirty="0"/>
              <a:t>、对比概率和条件概率的关系，灵活运用概率的</a:t>
            </a:r>
            <a:r>
              <a:rPr lang="zh-CN" altLang="zh-CN" dirty="0">
                <a:solidFill>
                  <a:srgbClr val="FF0000"/>
                </a:solidFill>
              </a:rPr>
              <a:t>乘法公式</a:t>
            </a:r>
            <a:r>
              <a:rPr lang="zh-CN" altLang="zh-CN" dirty="0"/>
              <a:t>、</a:t>
            </a:r>
            <a:r>
              <a:rPr lang="zh-CN" altLang="zh-CN" dirty="0">
                <a:solidFill>
                  <a:srgbClr val="FF0000"/>
                </a:solidFill>
              </a:rPr>
              <a:t>全概率公式</a:t>
            </a:r>
            <a:r>
              <a:rPr lang="zh-CN" altLang="en-US" dirty="0"/>
              <a:t>和</a:t>
            </a:r>
            <a:r>
              <a:rPr lang="zh-CN" altLang="zh-CN" dirty="0">
                <a:solidFill>
                  <a:srgbClr val="0070C0"/>
                </a:solidFill>
              </a:rPr>
              <a:t>贝叶斯公式</a:t>
            </a:r>
            <a:r>
              <a:rPr lang="zh-CN" altLang="en-US" dirty="0"/>
              <a:t>；</a:t>
            </a:r>
            <a:endParaRPr lang="zh-CN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zh-CN" dirty="0">
                <a:solidFill>
                  <a:srgbClr val="FF0000"/>
                </a:solidFill>
              </a:rPr>
              <a:t>事件统计独立</a:t>
            </a:r>
            <a:r>
              <a:rPr lang="zh-CN" altLang="en-US" dirty="0">
                <a:solidFill>
                  <a:srgbClr val="FF0000"/>
                </a:solidFill>
              </a:rPr>
              <a:t>性</a:t>
            </a:r>
            <a:r>
              <a:rPr lang="zh-CN" altLang="en-US" dirty="0"/>
              <a:t>的判定；</a:t>
            </a:r>
            <a:endParaRPr lang="zh-CN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4</a:t>
            </a:r>
            <a:r>
              <a:rPr lang="zh-CN" altLang="en-US" dirty="0"/>
              <a:t>、解释</a:t>
            </a:r>
            <a:r>
              <a:rPr lang="zh-CN" altLang="zh-CN" dirty="0">
                <a:solidFill>
                  <a:srgbClr val="FF0000"/>
                </a:solidFill>
              </a:rPr>
              <a:t>随机变量</a:t>
            </a:r>
            <a:r>
              <a:rPr lang="zh-CN" altLang="zh-CN" dirty="0"/>
              <a:t>定义</a:t>
            </a:r>
            <a:r>
              <a:rPr lang="zh-CN" altLang="en-US" dirty="0"/>
              <a:t>、区分连续随机变量和离散随机变量；</a:t>
            </a:r>
            <a:r>
              <a:rPr lang="zh-CN" altLang="zh-CN" dirty="0"/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5</a:t>
            </a:r>
            <a:r>
              <a:rPr lang="zh-CN" altLang="en-US" dirty="0"/>
              <a:t>、写出</a:t>
            </a:r>
            <a:r>
              <a:rPr lang="zh-CN" altLang="zh-CN" dirty="0"/>
              <a:t>一维随机变量的</a:t>
            </a:r>
            <a:r>
              <a:rPr lang="zh-CN" altLang="zh-CN" dirty="0">
                <a:solidFill>
                  <a:srgbClr val="FF0000"/>
                </a:solidFill>
              </a:rPr>
              <a:t>概率分布函数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FF0000"/>
                </a:solidFill>
              </a:rPr>
              <a:t>概率密度函数</a:t>
            </a:r>
            <a:r>
              <a:rPr lang="zh-CN" altLang="zh-CN" dirty="0"/>
              <a:t>的定义、关系和性质</a:t>
            </a:r>
            <a:r>
              <a:rPr lang="zh-CN" altLang="en-US" dirty="0"/>
              <a:t>；</a:t>
            </a:r>
            <a:endParaRPr lang="zh-CN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6</a:t>
            </a:r>
            <a:r>
              <a:rPr lang="zh-CN" altLang="en-US" dirty="0"/>
              <a:t>、写出</a:t>
            </a:r>
            <a:r>
              <a:rPr lang="zh-CN" altLang="zh-CN" dirty="0"/>
              <a:t>二维随机变量的联合分布函数和联合概率密度函数的定义、关系和性质</a:t>
            </a:r>
            <a:r>
              <a:rPr lang="zh-CN" altLang="en-US" dirty="0"/>
              <a:t>、</a:t>
            </a:r>
            <a:r>
              <a:rPr lang="zh-CN" altLang="zh-CN" dirty="0">
                <a:solidFill>
                  <a:srgbClr val="FF0000"/>
                </a:solidFill>
              </a:rPr>
              <a:t>边缘分布函数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FF0000"/>
                </a:solidFill>
              </a:rPr>
              <a:t>边缘概率密度函数</a:t>
            </a:r>
            <a:r>
              <a:rPr lang="zh-CN" altLang="en-US" dirty="0"/>
              <a:t>、</a:t>
            </a:r>
            <a:r>
              <a:rPr lang="zh-CN" altLang="zh-CN" dirty="0">
                <a:solidFill>
                  <a:srgbClr val="FF0000"/>
                </a:solidFill>
              </a:rPr>
              <a:t>条件分布函数和条件概率密度函数</a:t>
            </a:r>
            <a:r>
              <a:rPr lang="zh-CN" altLang="en-US" dirty="0"/>
              <a:t>；</a:t>
            </a:r>
            <a:endParaRPr lang="zh-CN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zh-CN" altLang="en-US" dirty="0"/>
              <a:t>根据</a:t>
            </a:r>
            <a:r>
              <a:rPr lang="zh-CN" altLang="zh-CN" dirty="0">
                <a:solidFill>
                  <a:srgbClr val="FF0000"/>
                </a:solidFill>
              </a:rPr>
              <a:t>两个随机变量统计独立的</a:t>
            </a:r>
            <a:r>
              <a:rPr lang="zh-CN" altLang="zh-CN" dirty="0"/>
              <a:t>条件</a:t>
            </a:r>
            <a:r>
              <a:rPr lang="zh-CN" altLang="en-US" dirty="0"/>
              <a:t>，判断两个随机变量的关系。</a:t>
            </a:r>
          </a:p>
        </p:txBody>
      </p:sp>
    </p:spTree>
    <p:extLst>
      <p:ext uri="{BB962C8B-B14F-4D97-AF65-F5344CB8AC3E}">
        <p14:creationId xmlns:p14="http://schemas.microsoft.com/office/powerpoint/2010/main" val="73575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EEE5F0-649A-4DDE-B51E-212331A801A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8922" y="1333500"/>
            <a:ext cx="7650678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下列选项哪些是连续随机变量？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DBBF80F-051E-4058-827C-747B794C4FB4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B3FE5C-C464-41D6-AB87-F9FA0D5FF77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946797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手机打电话的接通时间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4A1C0F-CC31-4010-82E7-6460AD6F1BA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589735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单位时间内交换机收到的呼叫次数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98C9E4-C1F5-4E08-B78F-385D20BB14E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232672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2023</a:t>
            </a: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级通信专业的学生人数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8C90F4-624D-4F9D-86A2-1596CA1DE00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8800" y="4875610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城市道路上行驶的汽车的速度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A19A1A-9EE1-4B4F-84D0-CC83B6C57B5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2995017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C73068-1940-46C2-95BD-018F230258F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78719" y="3637954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C2A1A0-72F9-46D7-8467-441FA3F783A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78719" y="4280892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A1D593A-D180-42DE-9B89-DBA49D0C9464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78719" y="4923829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F8CE404-A920-4649-9BAF-0150582CBB9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F12DB33-3AF5-47F8-81DC-FE7E4E32793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6227922-0AD7-4276-AF6A-157AECE7CD2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524B374D-C87A-41E1-A3EE-973E64AD72C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4FA3A29-4D69-4557-BBE8-6B10635DDE5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ED78210-2B67-453D-BD86-7AB952BA6EA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3637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1333500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四进制通信系统中，信源随机发送四种符号，用</a:t>
            </a:r>
            <a:r>
              <a:rPr lang="en-US" altLang="zh-CN" sz="1950" i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 </a:t>
            </a: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表示，则</a:t>
            </a:r>
            <a:r>
              <a:rPr lang="en-US" altLang="zh-CN" sz="1950" i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 </a:t>
            </a: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的可能的状态空间为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946797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S={0, 1, 2, 3}</a:t>
            </a:r>
            <a:endParaRPr lang="zh-CN" altLang="en-US" sz="19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589735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S={-1, -1, 0, 0}</a:t>
            </a:r>
            <a:endParaRPr lang="zh-CN" altLang="en-US" sz="19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232672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S={00, 01, 11, 10}</a:t>
            </a:r>
            <a:endParaRPr lang="zh-CN" altLang="en-US" sz="19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4875610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S={-3, -1, 1, 3}</a:t>
            </a:r>
            <a:endParaRPr lang="zh-CN" altLang="en-US" sz="19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78719" y="2995017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3637954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78719" y="4280892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78719" y="4923829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61A1F3CB-2938-4C57-8A95-FD85DE7C59A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291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7269A88-EF85-4104-B8F4-5422CD19C617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452919"/>
                <a:ext cx="7315200" cy="246816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已知随机变量</a:t>
                </a:r>
                <a:r>
                  <a:rPr lang="en-US" altLang="zh-CN" sz="195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的概率分布函数为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0</m:t>
                              </m:r>
                              <m: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,           </m:t>
                              </m:r>
                              <m: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𝑥</m:t>
                              </m:r>
                              <m: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≤0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𝑥</m:t>
                              </m:r>
                              <m: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,  0&lt;</m:t>
                              </m:r>
                              <m: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𝑥</m:t>
                              </m:r>
                              <m: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≤1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1,            </m:t>
                              </m:r>
                              <m: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𝑥</m:t>
                              </m:r>
                              <m:r>
                                <a:rPr lang="en-US" altLang="zh-CN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&gt;1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</m:t>
                    </m:r>
                  </m:oMath>
                </a14:m>
                <a:endParaRPr lang="en-US" altLang="zh-CN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则 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𝑃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0.5&lt;</m:t>
                        </m:r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≤0.8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195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:r>
                  <a:rPr lang="en-US" altLang="zh-CN" sz="195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[</a:t>
                </a:r>
                <a:r>
                  <a:rPr lang="zh-CN" altLang="en-US" sz="195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填空</a:t>
                </a:r>
                <a:r>
                  <a:rPr lang="en-US" altLang="zh-CN" sz="195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1]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7269A88-EF85-4104-B8F4-5422CD19C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14400" y="1452919"/>
                <a:ext cx="7315200" cy="2468165"/>
              </a:xfrm>
              <a:prstGeom prst="rect">
                <a:avLst/>
              </a:prstGeom>
              <a:blipFill>
                <a:blip r:embed="rId13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2488DD4A-17CC-4BB0-A365-29806536B57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FB736A-BCE2-405B-B20E-FE85D445128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36EFDD4-BAE3-43DB-AFF5-DEFD96D7CB3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FCC79BA-3C68-4851-8308-26EABB9E578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B8E538D7-8F14-45D4-9D2C-B4BF4B11E2A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D23FA0CB-4A13-418E-A4ED-7F3769090FF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DCCE5932-D9B4-4AC2-ACB3-3EA9401911C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532CA35-0F94-401E-BE76-1518EA8F3D30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3872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1" y="1320165"/>
                <a:ext cx="7805057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defTabSz="68580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950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指数分布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的随机变量</a:t>
                </a:r>
                <a:r>
                  <a:rPr lang="en-US" altLang="zh-CN" sz="195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的概率分布函数为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=1−</m:t>
                    </m:r>
                    <m:sSup>
                      <m:sSup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−2</m:t>
                        </m:r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sup>
                    </m:sSup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≥0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 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则 </a:t>
                </a:r>
                <a:r>
                  <a:rPr lang="en-US" altLang="zh-CN" sz="195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的概率密度函数为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14401" y="1320165"/>
                <a:ext cx="7805057" cy="1607344"/>
              </a:xfrm>
              <a:prstGeom prst="rect">
                <a:avLst/>
              </a:prstGeom>
              <a:blipFill>
                <a:blip r:embed="rId20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4237258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=2</m:t>
                      </m:r>
                      <m:sSup>
                        <m:sSupPr>
                          <m:ctrlPr>
                            <a:rPr lang="en-US" altLang="zh-CN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−2</m:t>
                          </m:r>
                          <m:r>
                            <a:rPr lang="en-US" altLang="zh-CN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4237258"/>
                <a:ext cx="6400800" cy="482204"/>
              </a:xfrm>
              <a:prstGeom prst="rect">
                <a:avLst/>
              </a:prstGeom>
              <a:blipFill>
                <a:blip r:embed="rId22"/>
                <a:stretch>
                  <a:fillRect l="-381" b="-5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4827388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=2</m:t>
                    </m:r>
                    <m:sSup>
                      <m:sSup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−2</m:t>
                        </m:r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仿宋_GB231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≥0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4827388"/>
                <a:ext cx="6400800" cy="482204"/>
              </a:xfrm>
              <a:prstGeom prst="rect">
                <a:avLst/>
              </a:prstGeom>
              <a:blipFill>
                <a:blip r:embed="rId24"/>
                <a:stretch>
                  <a:fillRect l="-381" b="-11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3620414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=0.5</m:t>
                    </m:r>
                    <m:sSup>
                      <m:sSup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−2</m:t>
                        </m:r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仿宋_GB231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≥0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3620414"/>
                <a:ext cx="6400800" cy="482204"/>
              </a:xfrm>
              <a:prstGeom prst="rect">
                <a:avLst/>
              </a:prstGeom>
              <a:blipFill>
                <a:blip r:embed="rId26"/>
                <a:stretch>
                  <a:fillRect l="-381" b="-11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2967940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=1−2</m:t>
                    </m:r>
                    <m:sSup>
                      <m:sSup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−2</m:t>
                        </m:r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仿宋_GB231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≥0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1828800" y="2967940"/>
                <a:ext cx="6400800" cy="482204"/>
              </a:xfrm>
              <a:prstGeom prst="rect">
                <a:avLst/>
              </a:prstGeom>
              <a:blipFill>
                <a:blip r:embed="rId28"/>
                <a:stretch>
                  <a:fillRect l="-381" b="-11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78719" y="2995017"/>
            <a:ext cx="385763" cy="385763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3637954"/>
            <a:ext cx="385763" cy="385763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78719" y="4280892"/>
            <a:ext cx="385763" cy="385763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78719" y="4923829"/>
            <a:ext cx="385763" cy="385763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948104EA-57B8-4698-9908-1D218B244D3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797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500" y="857251"/>
            <a:ext cx="7886700" cy="839744"/>
          </a:xfrm>
        </p:spPr>
        <p:txBody>
          <a:bodyPr/>
          <a:lstStyle/>
          <a:p>
            <a:r>
              <a:rPr lang="en-US" altLang="zh-CN" dirty="0"/>
              <a:t>1.1.1 </a:t>
            </a:r>
            <a:r>
              <a:rPr lang="zh-CN" altLang="en-US" dirty="0"/>
              <a:t>概率公理和概率基本公式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80975" y="1609725"/>
                <a:ext cx="8886825" cy="39243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二、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条件概率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lvl="1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1. 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定义：</a:t>
                </a:r>
                <a:r>
                  <a:rPr lang="zh-CN" altLang="zh-CN" dirty="0"/>
                  <a:t>在随机试验中，除考虑单个随机事件，研究随机事件之间的互相影响，由条件概率描述</a:t>
                </a:r>
                <a:r>
                  <a:rPr lang="zh-CN" altLang="en-US" dirty="0"/>
                  <a:t>。</a:t>
                </a:r>
                <a:r>
                  <a:rPr lang="zh-CN" altLang="zh-CN" dirty="0"/>
                  <a:t>设概率空间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𝔽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zh-CN" dirty="0"/>
                  <a:t>，随机试验中两个随机事件</a:t>
                </a:r>
                <a:r>
                  <a:rPr lang="en-US" altLang="zh-CN" i="1" dirty="0"/>
                  <a:t>A</a:t>
                </a:r>
                <a:r>
                  <a:rPr lang="zh-CN" altLang="zh-CN" dirty="0"/>
                  <a:t>、</a:t>
                </a:r>
                <a:r>
                  <a:rPr lang="en-US" altLang="zh-CN" i="1" dirty="0"/>
                  <a:t>B</a:t>
                </a:r>
                <a:r>
                  <a:rPr lang="en-US" altLang="zh-CN" dirty="0"/>
                  <a:t> </a:t>
                </a:r>
                <a:r>
                  <a:rPr lang="zh-CN" altLang="zh-CN" dirty="0"/>
                  <a:t>，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zh-CN" altLang="zh-CN" dirty="0"/>
                  <a:t>，则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为事件</a:t>
                </a:r>
                <a:r>
                  <a:rPr lang="en-US" altLang="zh-CN" i="1" dirty="0"/>
                  <a:t>A</a:t>
                </a:r>
                <a:r>
                  <a:rPr lang="zh-CN" altLang="zh-CN" dirty="0"/>
                  <a:t>出现条件下事件</a:t>
                </a:r>
                <a:r>
                  <a:rPr lang="en-US" altLang="zh-CN" i="1" dirty="0"/>
                  <a:t>B</a:t>
                </a:r>
                <a:r>
                  <a:rPr lang="zh-CN" altLang="zh-CN" dirty="0"/>
                  <a:t>出现的概率。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2. 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条件概率的性质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sz="1800" dirty="0"/>
                  <a:t>对特定的事件</a:t>
                </a:r>
                <a:r>
                  <a:rPr lang="en-US" altLang="zh-CN" sz="1800" dirty="0"/>
                  <a:t>A</a:t>
                </a:r>
                <a:r>
                  <a:rPr lang="zh-CN" altLang="zh-CN" sz="1800" dirty="0"/>
                  <a:t>，条件概率</a:t>
                </a:r>
                <a:r>
                  <a:rPr lang="en-US" altLang="zh-CN" sz="1800" dirty="0"/>
                  <a:t>P(. |A)</a:t>
                </a:r>
                <a:r>
                  <a:rPr lang="zh-CN" altLang="zh-CN" sz="1800" dirty="0"/>
                  <a:t>满足概率公理</a:t>
                </a:r>
                <a:r>
                  <a:rPr lang="en-US" altLang="zh-CN" sz="1800" dirty="0"/>
                  <a:t> </a:t>
                </a:r>
              </a:p>
              <a:p>
                <a:pPr marL="0" lvl="1" indent="0">
                  <a:buNone/>
                </a:pPr>
                <a:r>
                  <a:rPr lang="en-US" altLang="zh-CN" dirty="0"/>
                  <a:t>     1</a:t>
                </a:r>
                <a:r>
                  <a:rPr lang="zh-CN" altLang="en-US" dirty="0"/>
                  <a:t>）</a:t>
                </a:r>
                <a:r>
                  <a:rPr lang="zh-CN" altLang="zh-CN" dirty="0"/>
                  <a:t>非负性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)≥0</m:t>
                    </m:r>
                  </m:oMath>
                </a14:m>
                <a:r>
                  <a:rPr lang="zh-CN" altLang="zh-CN" dirty="0"/>
                  <a:t>；</a:t>
                </a:r>
              </a:p>
              <a:p>
                <a:pPr marL="0" indent="0">
                  <a:buNone/>
                </a:pPr>
                <a:r>
                  <a:rPr lang="en-US" altLang="zh-CN" sz="1800" dirty="0"/>
                  <a:t>     2</a:t>
                </a:r>
                <a:r>
                  <a:rPr lang="zh-CN" altLang="en-US" sz="1800" dirty="0"/>
                  <a:t>）</a:t>
                </a:r>
                <a:r>
                  <a:rPr lang="zh-CN" altLang="zh-CN" sz="1800" dirty="0"/>
                  <a:t>规范性</a:t>
                </a:r>
                <a:r>
                  <a:rPr lang="zh-CN" altLang="en-US" sz="1800" dirty="0"/>
                  <a:t>：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zh-CN" altLang="en-US" sz="1800" dirty="0"/>
              </a:p>
              <a:p>
                <a:pPr marL="300038" lvl="1" indent="0">
                  <a:buNone/>
                </a:pPr>
                <a:r>
                  <a:rPr lang="en-US" altLang="zh-CN" dirty="0"/>
                  <a:t>3</a:t>
                </a:r>
                <a:r>
                  <a:rPr lang="zh-CN" altLang="en-US" dirty="0"/>
                  <a:t>）</a:t>
                </a:r>
                <a:r>
                  <a:rPr lang="zh-CN" altLang="zh-CN" dirty="0"/>
                  <a:t>可列可加性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zh-CN" dirty="0"/>
                  <a:t>，且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zh-CN" dirty="0"/>
                  <a:t>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zh-CN" dirty="0"/>
                  <a:t>（</a:t>
                </a:r>
                <a:r>
                  <a:rPr lang="en-US" altLang="zh-CN" i="1" dirty="0" err="1"/>
                  <a:t>i</a:t>
                </a:r>
                <a:r>
                  <a:rPr lang="en-US" altLang="zh-CN" dirty="0"/>
                  <a:t>, </a:t>
                </a:r>
                <a:r>
                  <a:rPr lang="en-US" altLang="zh-CN" i="1" dirty="0"/>
                  <a:t>j </a:t>
                </a:r>
                <a:r>
                  <a:rPr lang="en-US" altLang="zh-CN" dirty="0"/>
                  <a:t>=1,2,…,</a:t>
                </a:r>
                <a:r>
                  <a:rPr lang="zh-CN" altLang="zh-CN" dirty="0"/>
                  <a:t>），则有</a:t>
                </a:r>
                <a:endParaRPr lang="en-US" altLang="zh-CN" dirty="0"/>
              </a:p>
              <a:p>
                <a:pPr marL="300038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⋃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975" y="1609725"/>
                <a:ext cx="8886825" cy="3924300"/>
              </a:xfrm>
              <a:blipFill>
                <a:blip r:embed="rId3"/>
                <a:stretch>
                  <a:fillRect l="-823" t="-1398" b="-6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6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80975" y="1696993"/>
                <a:ext cx="8791575" cy="3934814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三、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概率的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基本公式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800" dirty="0"/>
                  <a:t>乘法公式</a:t>
                </a:r>
                <a:endParaRPr lang="en-US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/>
                  <a:t>          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/>
                  <a:t>   </a:t>
                </a:r>
                <a:endParaRPr lang="en-US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/>
                  <a:t>        </a:t>
                </a:r>
                <a:r>
                  <a:rPr lang="zh-CN" altLang="zh-CN" sz="1800" dirty="0"/>
                  <a:t>扩展到多个事件，可得链式法则</a:t>
                </a:r>
                <a:r>
                  <a:rPr lang="en-US" altLang="zh-CN" sz="1800" dirty="0"/>
                  <a:t> chain rule</a:t>
                </a:r>
                <a:endParaRPr lang="zh-CN" altLang="en-US" sz="1800" dirty="0"/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      </a:t>
                </a:r>
                <a:r>
                  <a:rPr lang="zh-CN" altLang="zh-CN" dirty="0"/>
                  <a:t>设概率空间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𝔽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zh-CN" altLang="en-US" dirty="0"/>
                      <m:t>𝔽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=1,2,....,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/>
                  <a:t>，且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...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zh-CN" altLang="zh-CN" dirty="0"/>
                  <a:t>，则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=…=</m:t>
                    </m:r>
                  </m:oMath>
                </a14:m>
                <a:endParaRPr lang="en-US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80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975" y="1696993"/>
                <a:ext cx="8791575" cy="3934814"/>
              </a:xfrm>
              <a:blipFill>
                <a:blip r:embed="rId2"/>
                <a:stretch>
                  <a:fillRect l="-832" t="-1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A895534B-A730-4E72-984E-C1E2B1C95326}"/>
              </a:ext>
            </a:extLst>
          </p:cNvPr>
          <p:cNvSpPr txBox="1">
            <a:spLocks/>
          </p:cNvSpPr>
          <p:nvPr/>
        </p:nvSpPr>
        <p:spPr bwMode="auto">
          <a:xfrm>
            <a:off x="684213" y="857251"/>
            <a:ext cx="7886700" cy="839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defTabSz="685800"/>
            <a:r>
              <a:rPr lang="en-US" altLang="zh-CN" sz="2700" dirty="0"/>
              <a:t>1.1.1 </a:t>
            </a:r>
            <a:r>
              <a:rPr lang="zh-CN" altLang="en-US" sz="2700" dirty="0"/>
              <a:t>概率公理和概率基本公式</a:t>
            </a:r>
            <a:endParaRPr lang="zh-CN" altLang="en-US" sz="2700" dirty="0">
              <a:latin typeface="黑体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395840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80975" y="1533525"/>
                <a:ext cx="8791575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2.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全概率公式 </a:t>
                </a:r>
              </a:p>
              <a:p>
                <a:pPr marL="0" lvl="1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dirty="0"/>
                  <a:t>  </a:t>
                </a:r>
                <a:r>
                  <a:rPr lang="zh-CN" altLang="zh-CN" dirty="0"/>
                  <a:t>设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概率空间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altLang="zh-CN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𝔽</m:t>
                    </m:r>
                    <m:r>
                      <a:rPr lang="en-US" altLang="zh-CN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=1,2,...,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zh-CN" altLang="zh-CN" dirty="0"/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=∅,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=1,2,...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，</m:t>
                    </m:r>
                    <m:nary>
                      <m:naryPr>
                        <m:chr m:val="⋃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zh-CN" dirty="0"/>
                  <a:t>（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B</a:t>
                </a:r>
                <a:r>
                  <a:rPr lang="en-US" altLang="zh-CN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zh-CN" altLang="zh-CN" dirty="0">
                    <a:solidFill>
                      <a:srgbClr val="C00000"/>
                    </a:solidFill>
                  </a:rPr>
                  <a:t>，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B</a:t>
                </a:r>
                <a:r>
                  <a:rPr lang="en-US" altLang="zh-CN" baseline="-25000" dirty="0">
                    <a:solidFill>
                      <a:srgbClr val="C00000"/>
                    </a:solidFill>
                  </a:rPr>
                  <a:t>2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…</a:t>
                </a:r>
                <a:r>
                  <a:rPr lang="zh-CN" altLang="zh-CN" dirty="0">
                    <a:solidFill>
                      <a:srgbClr val="C00000"/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zh-CN" altLang="zh-CN" dirty="0">
                    <a:solidFill>
                      <a:srgbClr val="C00000"/>
                    </a:solidFill>
                  </a:rPr>
                  <a:t>的一个分割</a:t>
                </a:r>
                <a:r>
                  <a:rPr lang="zh-CN" altLang="zh-CN" dirty="0"/>
                  <a:t>），则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/>
                  <a:t>        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zh-CN" altLang="en-US" sz="18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3.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贝叶斯公式  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300038" lvl="1" indent="0">
                  <a:buNone/>
                </a:pPr>
                <a:r>
                  <a:rPr lang="zh-CN" altLang="zh-CN" dirty="0"/>
                  <a:t>概率空间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𝔽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</a:t>
                </a:r>
                <a:r>
                  <a:rPr lang="en-US" altLang="zh-CN" i="1" dirty="0"/>
                  <a:t>B</a:t>
                </a:r>
                <a:r>
                  <a:rPr lang="en-US" altLang="zh-CN" baseline="-25000" dirty="0"/>
                  <a:t>1</a:t>
                </a:r>
                <a:r>
                  <a:rPr lang="zh-CN" altLang="zh-CN" dirty="0"/>
                  <a:t>，</a:t>
                </a:r>
                <a:r>
                  <a:rPr lang="en-US" altLang="zh-CN" i="1" dirty="0"/>
                  <a:t>B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…</a:t>
                </a:r>
                <a:r>
                  <a:rPr lang="zh-CN" altLang="zh-CN" dirty="0"/>
                  <a:t>，为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zh-CN" altLang="zh-CN" dirty="0"/>
                  <a:t>的一个分割，且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，事件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dirty="0"/>
                  <a:t> ,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zh-CN" altLang="zh-CN" dirty="0"/>
                  <a:t>，有 </a:t>
                </a:r>
                <a:r>
                  <a:rPr lang="en-US" altLang="zh-CN" dirty="0"/>
                  <a:t>     </a:t>
                </a:r>
                <a:r>
                  <a:rPr lang="en-US" altLang="zh-CN" sz="21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1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zh-CN" altLang="zh-CN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zh-CN" altLang="zh-CN" sz="2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zh-CN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)⋅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altLang="zh-CN" dirty="0"/>
              </a:p>
              <a:p>
                <a:pPr lvl="1" indent="-257175">
                  <a:buFont typeface="Wingdings" panose="05000000000000000000" pitchFamily="2" charset="2"/>
                  <a:buChar char="l"/>
                </a:pPr>
                <a:r>
                  <a:rPr lang="zh-CN" altLang="en-US" u="sng" dirty="0">
                    <a:solidFill>
                      <a:srgbClr val="FF0000"/>
                    </a:solidFill>
                  </a:rPr>
                  <a:t>用于在</a:t>
                </a:r>
                <a:r>
                  <a:rPr lang="en-US" altLang="zh-CN" u="sng" dirty="0">
                    <a:solidFill>
                      <a:srgbClr val="FF0000"/>
                    </a:solidFill>
                  </a:rPr>
                  <a:t>A</a:t>
                </a:r>
                <a:r>
                  <a:rPr lang="zh-CN" altLang="en-US" u="sng" dirty="0">
                    <a:solidFill>
                      <a:srgbClr val="FF0000"/>
                    </a:solidFill>
                  </a:rPr>
                  <a:t>已经发生的条件下，求发生</a:t>
                </a:r>
                <a:r>
                  <a:rPr lang="en-US" altLang="zh-CN" u="sng" dirty="0">
                    <a:solidFill>
                      <a:srgbClr val="FF0000"/>
                    </a:solidFill>
                  </a:rPr>
                  <a:t>A</a:t>
                </a:r>
                <a:r>
                  <a:rPr lang="zh-CN" altLang="en-US" u="sng" dirty="0">
                    <a:solidFill>
                      <a:srgbClr val="FF0000"/>
                    </a:solidFill>
                  </a:rPr>
                  <a:t>的各种原因的条件概率。</a:t>
                </a:r>
              </a:p>
              <a:p>
                <a:pPr marL="300038" lvl="1" indent="0">
                  <a:buNone/>
                </a:pP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975" y="1533525"/>
                <a:ext cx="8791575" cy="4114800"/>
              </a:xfrm>
              <a:blipFill>
                <a:blip r:embed="rId3"/>
                <a:stretch>
                  <a:fillRect l="-832" t="-1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A895534B-A730-4E72-984E-C1E2B1C95326}"/>
              </a:ext>
            </a:extLst>
          </p:cNvPr>
          <p:cNvSpPr txBox="1">
            <a:spLocks/>
          </p:cNvSpPr>
          <p:nvPr/>
        </p:nvSpPr>
        <p:spPr bwMode="auto">
          <a:xfrm>
            <a:off x="684213" y="857251"/>
            <a:ext cx="7886700" cy="839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defTabSz="685800"/>
            <a:r>
              <a:rPr lang="en-US" altLang="zh-CN" sz="2700" dirty="0"/>
              <a:t>1.1.1 </a:t>
            </a:r>
            <a:r>
              <a:rPr lang="zh-CN" altLang="en-US" sz="2700" dirty="0"/>
              <a:t>概率公理和概率基本公式</a:t>
            </a:r>
            <a:endParaRPr lang="zh-CN" altLang="en-US" sz="2700" dirty="0">
              <a:latin typeface="黑体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104656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34A7335-F870-496F-9964-0E217AC5EBD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325440"/>
                <a:ext cx="8255000" cy="375138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例：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在二进制通信系统（如下图所示）中，已知发送“</a:t>
                </a:r>
                <a:r>
                  <a:rPr lang="en-US" altLang="zh-CN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0</a:t>
                </a:r>
                <a:r>
                  <a:rPr lang="zh-CN" altLang="en-US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”的概率为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𝑃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0</m:t>
                        </m:r>
                      </m:e>
                    </m:d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=0.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2</a:t>
                </a:r>
                <a:r>
                  <a:rPr lang="zh-CN" altLang="en-US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，发送“</a:t>
                </a:r>
                <a:r>
                  <a:rPr lang="en-US" altLang="zh-CN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1</a:t>
                </a:r>
                <a:r>
                  <a:rPr lang="zh-CN" altLang="en-US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”的概率为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1</m:t>
                        </m:r>
                      </m:e>
                    </m:d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=0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.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8</a:t>
                </a:r>
                <a:r>
                  <a:rPr lang="zh-CN" altLang="en-US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 ，信道转移概率</a:t>
                </a:r>
                <a:r>
                  <a:rPr lang="en-US" altLang="zh-CN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p=0.2</a:t>
                </a:r>
                <a:r>
                  <a:rPr lang="zh-CN" altLang="en-US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。现接收到信息“</a:t>
                </a:r>
                <a:r>
                  <a:rPr lang="en-US" altLang="zh-CN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1</a:t>
                </a:r>
                <a:r>
                  <a:rPr lang="zh-CN" altLang="en-US" dirty="0">
                    <a:solidFill>
                      <a:srgbClr val="000000"/>
                    </a:solidFill>
                    <a:sym typeface="Microsoft Yahei" panose="020B0503020204020204" pitchFamily="34" charset="-122"/>
                  </a:rPr>
                  <a:t>”，请判断发送端发送的是哪个信号。</a:t>
                </a:r>
              </a:p>
              <a:p>
                <a:pPr marL="0" lvl="1" indent="0">
                  <a:buNone/>
                </a:pPr>
                <a:endParaRPr lang="en-US" altLang="zh-CN" i="1" dirty="0"/>
              </a:p>
              <a:p>
                <a:pPr marL="0" lvl="1" indent="0">
                  <a:buNone/>
                </a:pP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B</a:t>
                </a:r>
                <a:r>
                  <a:rPr lang="en-US" altLang="zh-CN" baseline="-25000" dirty="0"/>
                  <a:t>i</a:t>
                </a:r>
                <a:r>
                  <a:rPr lang="en-US" altLang="zh-CN" dirty="0"/>
                  <a:t>) :      </a:t>
                </a:r>
                <a:r>
                  <a:rPr lang="zh-CN" altLang="zh-CN" dirty="0"/>
                  <a:t>先验概率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marL="0" lvl="1" indent="0">
                  <a:buNone/>
                </a:pP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 err="1"/>
                  <a:t>A</a:t>
                </a:r>
                <a:r>
                  <a:rPr lang="en-US" altLang="zh-CN" dirty="0" err="1"/>
                  <a:t>|</a:t>
                </a:r>
                <a:r>
                  <a:rPr lang="en-US" altLang="zh-CN" i="1" dirty="0" err="1"/>
                  <a:t>B</a:t>
                </a:r>
                <a:r>
                  <a:rPr lang="en-US" altLang="zh-CN" baseline="-25000" dirty="0" err="1"/>
                  <a:t>i</a:t>
                </a:r>
                <a:r>
                  <a:rPr lang="en-US" altLang="zh-CN" dirty="0"/>
                  <a:t>) :   </a:t>
                </a:r>
                <a:r>
                  <a:rPr lang="zh-CN" altLang="zh-CN" dirty="0"/>
                  <a:t>转移概率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marL="0" lvl="1" indent="0">
                  <a:buNone/>
                </a:pP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A</a:t>
                </a:r>
                <a:r>
                  <a:rPr lang="en-US" altLang="zh-CN" dirty="0"/>
                  <a:t>) :       </a:t>
                </a:r>
                <a:r>
                  <a:rPr lang="zh-CN" altLang="zh-CN" dirty="0"/>
                  <a:t>全概率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marL="0" lvl="1" indent="0">
                  <a:buNone/>
                </a:pP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 err="1"/>
                  <a:t>B</a:t>
                </a:r>
                <a:r>
                  <a:rPr lang="en-US" altLang="zh-CN" baseline="-25000" dirty="0" err="1"/>
                  <a:t>i</a:t>
                </a:r>
                <a:r>
                  <a:rPr lang="en-US" altLang="zh-CN" dirty="0" err="1"/>
                  <a:t>|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)  :  </a:t>
                </a:r>
                <a:r>
                  <a:rPr lang="zh-CN" altLang="zh-CN" dirty="0"/>
                  <a:t>后验概率</a:t>
                </a:r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34A7335-F870-496F-9964-0E217AC5E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0"/>
                <a:ext cx="8255000" cy="3751384"/>
              </a:xfrm>
              <a:blipFill>
                <a:blip r:embed="rId2"/>
                <a:stretch>
                  <a:fillRect l="-886" t="-1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384BE6C-A1A0-48AD-914E-E1424BE1A8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784"/>
          <a:stretch/>
        </p:blipFill>
        <p:spPr>
          <a:xfrm>
            <a:off x="4224055" y="3282094"/>
            <a:ext cx="3154568" cy="216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4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93CCCD4-8971-4E4F-8A61-F1D240E1DBB0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altLang="zh-CN" sz="1800" dirty="0">
                    <a:ea typeface="Cambria Math" panose="02040503050406030204" pitchFamily="18" charset="0"/>
                  </a:rPr>
                  <a:t>8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altLang="zh-CN" sz="1800" dirty="0">
                    <a:ea typeface="Cambria Math" panose="02040503050406030204" pitchFamily="18" charset="0"/>
                  </a:rPr>
                  <a:t>2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𝟔𝟖</m:t>
                          </m:r>
                        </m:den>
                      </m:f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𝟏𝟕</m:t>
                          </m:r>
                        </m:den>
                      </m:f>
                    </m:oMath>
                  </m:oMathPara>
                </a14:m>
                <a:endParaRPr lang="en-US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𝟔𝟖</m:t>
                          </m:r>
                        </m:den>
                      </m:f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𝟏𝟔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𝟏𝟕</m:t>
                          </m:r>
                        </m:den>
                      </m:f>
                    </m:oMath>
                  </m:oMathPara>
                </a14:m>
                <a:endParaRPr lang="en-US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1800" dirty="0"/>
                  <a:t>显然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1800" dirty="0"/>
                  <a:t>，故若接收到“</a:t>
                </a:r>
                <a:r>
                  <a:rPr lang="en-US" altLang="zh-CN" sz="1800" dirty="0"/>
                  <a:t>1</a:t>
                </a:r>
                <a:r>
                  <a:rPr lang="zh-CN" altLang="en-US" sz="1800" dirty="0"/>
                  <a:t>”，应该判断发送的是“</a:t>
                </a:r>
                <a:r>
                  <a:rPr lang="en-US" altLang="zh-CN" sz="1800" dirty="0"/>
                  <a:t>1</a:t>
                </a:r>
                <a:r>
                  <a:rPr lang="zh-CN" altLang="en-US" sz="1800" dirty="0"/>
                  <a:t>”。</a:t>
                </a:r>
                <a:endParaRPr lang="en-US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1800" dirty="0"/>
                  <a:t>若收到的是“</a:t>
                </a:r>
                <a:r>
                  <a:rPr lang="en-US" altLang="zh-CN" sz="1800" dirty="0"/>
                  <a:t>0</a:t>
                </a:r>
                <a:r>
                  <a:rPr lang="zh-CN" altLang="en-US" sz="1800" dirty="0"/>
                  <a:t>”呢？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93CCCD4-8971-4E4F-8A61-F1D240E1D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720" b="-1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3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FA52A75-DA7C-4CC1-A37A-56DB1A76A7A1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325440"/>
                <a:ext cx="8422574" cy="404666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𝟑𝟐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𝟑𝟐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显然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</a:t>
                </a:r>
                <a:r>
                  <a:rPr lang="zh-CN" altLang="en-US" dirty="0"/>
                  <a:t>故若接收到“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”，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应该判断发送的是？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任选一个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FA52A75-DA7C-4CC1-A37A-56DB1A76A7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0"/>
                <a:ext cx="8422574" cy="4046660"/>
              </a:xfrm>
              <a:blipFill>
                <a:blip r:embed="rId2"/>
                <a:stretch>
                  <a:fillRect l="-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61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6213" y="1474471"/>
                <a:ext cx="8791575" cy="401193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四、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统计独立</a:t>
                </a:r>
                <a:endParaRPr lang="zh-CN" alt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</a:rPr>
                  <a:t>1.  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两事件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相互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统计独立</a:t>
                </a:r>
                <a:endParaRPr lang="zh-CN" altLang="zh-CN" sz="1200" dirty="0">
                  <a:solidFill>
                    <a:srgbClr val="FF0000"/>
                  </a:solidFill>
                </a:endParaRPr>
              </a:p>
              <a:p>
                <a:pPr marL="300038" lvl="1" indent="0">
                  <a:buNone/>
                </a:pPr>
                <a:r>
                  <a:rPr lang="zh-CN" altLang="zh-CN" dirty="0"/>
                  <a:t>概率空间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0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𝔽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zh-CN" dirty="0"/>
                  <a:t>两事件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zh-CN" dirty="0"/>
                  <a:t>，满足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AB</a:t>
                </a:r>
                <a:r>
                  <a:rPr lang="en-US" altLang="zh-CN" dirty="0"/>
                  <a:t>)=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A</a:t>
                </a:r>
                <a:r>
                  <a:rPr lang="en-US" altLang="zh-CN" dirty="0"/>
                  <a:t>)*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B</a:t>
                </a:r>
                <a:r>
                  <a:rPr lang="en-US" altLang="zh-CN" dirty="0"/>
                  <a:t>)</a:t>
                </a:r>
                <a:endParaRPr lang="zh-CN" altLang="zh-CN" dirty="0"/>
              </a:p>
              <a:p>
                <a:pPr marL="300038" lvl="1" indent="0">
                  <a:buNone/>
                </a:pPr>
                <a:r>
                  <a:rPr lang="zh-CN" altLang="zh-CN" dirty="0"/>
                  <a:t>则</a:t>
                </a:r>
                <a:r>
                  <a:rPr lang="en-US" altLang="zh-CN" i="1" dirty="0"/>
                  <a:t>A</a:t>
                </a:r>
                <a:r>
                  <a:rPr lang="en-US" altLang="zh-CN" dirty="0"/>
                  <a:t>,</a:t>
                </a:r>
                <a:r>
                  <a:rPr lang="en-US" altLang="zh-CN" i="1" dirty="0"/>
                  <a:t>B</a:t>
                </a:r>
                <a:r>
                  <a:rPr lang="en-US" altLang="zh-CN" dirty="0"/>
                  <a:t> </a:t>
                </a:r>
                <a:r>
                  <a:rPr lang="zh-CN" altLang="zh-CN" dirty="0"/>
                  <a:t>统计独立，说明两事件的发生没有互相影响。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</a:rPr>
                  <a:t>2.  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多个事件的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相互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统计独立</a:t>
                </a:r>
                <a:endParaRPr lang="zh-CN" altLang="zh-CN" sz="1200" dirty="0">
                  <a:solidFill>
                    <a:srgbClr val="FF0000"/>
                  </a:solidFill>
                </a:endParaRPr>
              </a:p>
              <a:p>
                <a:pPr marL="300038" lvl="1" indent="0">
                  <a:buNone/>
                </a:pPr>
                <a:r>
                  <a:rPr lang="zh-CN" altLang="zh-CN" dirty="0"/>
                  <a:t>如果三事件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dirty="0"/>
                  <a:t>,  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AB</a:t>
                </a:r>
                <a:r>
                  <a:rPr lang="en-US" altLang="zh-CN" dirty="0"/>
                  <a:t>)=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A</a:t>
                </a:r>
                <a:r>
                  <a:rPr lang="en-US" altLang="zh-CN" dirty="0"/>
                  <a:t>)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B</a:t>
                </a:r>
                <a:r>
                  <a:rPr lang="en-US" altLang="zh-CN" dirty="0"/>
                  <a:t>) ,  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BC</a:t>
                </a:r>
                <a:r>
                  <a:rPr lang="en-US" altLang="zh-CN" dirty="0"/>
                  <a:t>)=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B</a:t>
                </a:r>
                <a:r>
                  <a:rPr lang="en-US" altLang="zh-CN" dirty="0"/>
                  <a:t>)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C</a:t>
                </a:r>
                <a:r>
                  <a:rPr lang="en-US" altLang="zh-CN" dirty="0"/>
                  <a:t>)</a:t>
                </a:r>
                <a:r>
                  <a:rPr lang="zh-CN" altLang="zh-CN" dirty="0"/>
                  <a:t>， 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AC</a:t>
                </a:r>
                <a:r>
                  <a:rPr lang="en-US" altLang="zh-CN" dirty="0"/>
                  <a:t>)=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A</a:t>
                </a:r>
                <a:r>
                  <a:rPr lang="en-US" altLang="zh-CN" dirty="0"/>
                  <a:t>)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C</a:t>
                </a:r>
                <a:r>
                  <a:rPr lang="en-US" altLang="zh-CN" dirty="0"/>
                  <a:t>)</a:t>
                </a:r>
                <a:endParaRPr lang="zh-CN" altLang="zh-CN" dirty="0"/>
              </a:p>
              <a:p>
                <a:pPr marL="300038" lvl="1" indent="0">
                  <a:buNone/>
                </a:pPr>
                <a:r>
                  <a:rPr lang="zh-CN" altLang="zh-CN" dirty="0"/>
                  <a:t>称两两统计独立。如同时满足 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ABC</a:t>
                </a:r>
                <a:r>
                  <a:rPr lang="en-US" altLang="zh-CN" dirty="0"/>
                  <a:t>)=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A</a:t>
                </a:r>
                <a:r>
                  <a:rPr lang="en-US" altLang="zh-CN" dirty="0"/>
                  <a:t>)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B</a:t>
                </a:r>
                <a:r>
                  <a:rPr lang="en-US" altLang="zh-CN" dirty="0"/>
                  <a:t>)</a:t>
                </a:r>
                <a:r>
                  <a:rPr lang="en-US" altLang="zh-CN" i="1" dirty="0"/>
                  <a:t>P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C</a:t>
                </a:r>
                <a:r>
                  <a:rPr lang="en-US" altLang="zh-CN" dirty="0"/>
                  <a:t>),  </a:t>
                </a:r>
                <a:r>
                  <a:rPr lang="zh-CN" altLang="zh-CN" dirty="0"/>
                  <a:t>称</a:t>
                </a:r>
                <a:r>
                  <a:rPr lang="en-US" altLang="zh-CN" i="1" dirty="0"/>
                  <a:t>A</a:t>
                </a:r>
                <a:r>
                  <a:rPr lang="en-US" altLang="zh-CN" dirty="0"/>
                  <a:t>,</a:t>
                </a:r>
                <a:r>
                  <a:rPr lang="en-US" altLang="zh-CN" i="1" dirty="0"/>
                  <a:t>B</a:t>
                </a:r>
                <a:r>
                  <a:rPr lang="en-US" altLang="zh-CN" dirty="0"/>
                  <a:t>,</a:t>
                </a:r>
                <a:r>
                  <a:rPr lang="en-US" altLang="zh-CN" i="1" dirty="0"/>
                  <a:t>C</a:t>
                </a:r>
                <a:r>
                  <a:rPr lang="zh-CN" altLang="zh-CN" dirty="0"/>
                  <a:t>相互统计独立。</a:t>
                </a:r>
                <a:endParaRPr lang="en-US" altLang="zh-CN" dirty="0"/>
              </a:p>
              <a:p>
                <a:pPr lvl="1" indent="-257175">
                  <a:buFont typeface="Wingdings" panose="05000000000000000000" pitchFamily="2" charset="2"/>
                  <a:buChar char="n"/>
                </a:pPr>
                <a:r>
                  <a:rPr lang="zh-CN" altLang="zh-CN" dirty="0"/>
                  <a:t>一般情况，如</a:t>
                </a:r>
                <a:r>
                  <a:rPr lang="en-US" altLang="zh-CN" i="1" dirty="0"/>
                  <a:t>n</a:t>
                </a:r>
                <a:r>
                  <a:rPr lang="zh-CN" altLang="zh-CN" dirty="0"/>
                  <a:t>个事件既两两统计独立，又满足联合事件的概率等于单个事件的</a:t>
                </a:r>
                <a:r>
                  <a:rPr lang="en-US" altLang="zh-CN" dirty="0"/>
                  <a:t>         </a:t>
                </a:r>
                <a:r>
                  <a:rPr lang="zh-CN" altLang="zh-CN" dirty="0"/>
                  <a:t>概率乘积，则此</a:t>
                </a:r>
                <a:r>
                  <a:rPr lang="en-US" altLang="zh-CN" i="1" dirty="0"/>
                  <a:t>n</a:t>
                </a:r>
                <a:r>
                  <a:rPr lang="zh-CN" altLang="zh-CN" dirty="0"/>
                  <a:t>个事件相互统计独立。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6213" y="1474471"/>
                <a:ext cx="8791575" cy="4011930"/>
              </a:xfrm>
              <a:blipFill>
                <a:blip r:embed="rId3"/>
                <a:stretch>
                  <a:fillRect l="-832"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A895534B-A730-4E72-984E-C1E2B1C95326}"/>
              </a:ext>
            </a:extLst>
          </p:cNvPr>
          <p:cNvSpPr txBox="1">
            <a:spLocks/>
          </p:cNvSpPr>
          <p:nvPr/>
        </p:nvSpPr>
        <p:spPr bwMode="auto">
          <a:xfrm>
            <a:off x="684213" y="857251"/>
            <a:ext cx="7886700" cy="839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defTabSz="685800"/>
            <a:r>
              <a:rPr lang="en-US" altLang="zh-CN" sz="2700" dirty="0"/>
              <a:t>1.1.1 </a:t>
            </a:r>
            <a:r>
              <a:rPr lang="zh-CN" altLang="en-US" sz="2700" dirty="0"/>
              <a:t>概率公理和概率基本公式</a:t>
            </a:r>
            <a:endParaRPr lang="zh-CN" altLang="en-US" sz="2700" dirty="0">
              <a:latin typeface="黑体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298328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814C2-027F-441C-9FD8-6484C589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857251"/>
            <a:ext cx="7886700" cy="819150"/>
          </a:xfrm>
        </p:spPr>
        <p:txBody>
          <a:bodyPr>
            <a:normAutofit/>
          </a:bodyPr>
          <a:lstStyle/>
          <a:p>
            <a:r>
              <a:rPr lang="en-US" altLang="zh-CN" dirty="0"/>
              <a:t>1.1.2 </a:t>
            </a:r>
            <a:r>
              <a:rPr lang="zh-CN" altLang="en-US" dirty="0"/>
              <a:t>随机变量</a:t>
            </a:r>
            <a:r>
              <a:rPr lang="zh-CN" altLang="zh-CN" dirty="0"/>
              <a:t>及其概率分布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D101D8-5F17-4D40-8003-DD9A339BEC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588" y="1676401"/>
                <a:ext cx="8886825" cy="3746831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850" dirty="0">
                    <a:latin typeface="+mj-lt"/>
                  </a:rPr>
                  <a:t>一、随机变量的定义和分类</a:t>
                </a:r>
                <a:endParaRPr lang="en-US" altLang="zh-CN" sz="285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altLang="zh-CN" sz="2475" dirty="0">
                    <a:solidFill>
                      <a:srgbClr val="FF0000"/>
                    </a:solidFill>
                  </a:rPr>
                  <a:t>1.  </a:t>
                </a:r>
                <a:r>
                  <a:rPr lang="zh-CN" altLang="zh-CN" sz="2475" dirty="0">
                    <a:solidFill>
                      <a:srgbClr val="FF0000"/>
                    </a:solidFill>
                  </a:rPr>
                  <a:t>定义</a:t>
                </a:r>
                <a:r>
                  <a:rPr lang="en-US" altLang="zh-CN" sz="2475" dirty="0">
                    <a:solidFill>
                      <a:srgbClr val="FF0000"/>
                    </a:solidFill>
                  </a:rPr>
                  <a:t>   </a:t>
                </a:r>
                <a:r>
                  <a:rPr lang="zh-CN" altLang="en-US" sz="2475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sz="2475" dirty="0">
                    <a:solidFill>
                      <a:srgbClr val="FF0000"/>
                    </a:solidFill>
                  </a:rPr>
                  <a:t>Random variable,   RV</a:t>
                </a:r>
                <a:r>
                  <a:rPr lang="zh-CN" altLang="en-US" sz="2475" dirty="0">
                    <a:solidFill>
                      <a:srgbClr val="FF0000"/>
                    </a:solidFill>
                  </a:rPr>
                  <a:t>）</a:t>
                </a:r>
                <a:endParaRPr lang="en-US" altLang="zh-CN" sz="2475" dirty="0"/>
              </a:p>
              <a:p>
                <a:pPr marL="300038" lvl="1" indent="0" algn="just">
                  <a:lnSpc>
                    <a:spcPct val="160000"/>
                  </a:lnSpc>
                  <a:buNone/>
                </a:pPr>
                <a:r>
                  <a:rPr lang="zh-CN" altLang="en-US" sz="2325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325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325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325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𝔽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325" dirty="0"/>
                  <a:t>为一</a:t>
                </a:r>
                <a:r>
                  <a:rPr lang="zh-CN" altLang="zh-CN" sz="2325" dirty="0">
                    <a:solidFill>
                      <a:srgbClr val="0070C0"/>
                    </a:solidFill>
                  </a:rPr>
                  <a:t>概率空间</a:t>
                </a:r>
                <a:r>
                  <a:rPr lang="zh-CN" altLang="zh-CN" sz="2325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325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325" dirty="0"/>
                  <a:t>是一个定义在</a:t>
                </a:r>
                <a14:m>
                  <m:oMath xmlns:m="http://schemas.openxmlformats.org/officeDocument/2006/math">
                    <m:r>
                      <a:rPr lang="en-US" altLang="zh-CN" sz="2325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zh-CN" altLang="zh-CN" sz="2325" dirty="0"/>
                  <a:t>上的</a:t>
                </a:r>
                <a:r>
                  <a:rPr lang="zh-CN" altLang="zh-CN" sz="2325" dirty="0">
                    <a:solidFill>
                      <a:srgbClr val="FF0000"/>
                    </a:solidFill>
                  </a:rPr>
                  <a:t>单值实函数</a:t>
                </a:r>
                <a:r>
                  <a:rPr lang="zh-CN" altLang="zh-CN" sz="2325" dirty="0"/>
                  <a:t>，</a:t>
                </a:r>
                <a:r>
                  <a:rPr lang="en-US" altLang="zh-CN" sz="2325" dirty="0"/>
                  <a:t>                                      </a:t>
                </a:r>
              </a:p>
              <a:p>
                <a:pPr marL="300038" lvl="1" indent="0" algn="just">
                  <a:lnSpc>
                    <a:spcPct val="160000"/>
                  </a:lnSpc>
                  <a:buNone/>
                </a:pPr>
                <a:r>
                  <a:rPr lang="zh-CN" altLang="zh-CN" sz="2325" dirty="0"/>
                  <a:t>如果</a:t>
                </a:r>
                <a14:m>
                  <m:oMath xmlns:m="http://schemas.openxmlformats.org/officeDocument/2006/math">
                    <m:r>
                      <a:rPr lang="zh-CN" altLang="en-US" sz="2325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32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32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CN" sz="232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325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325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e>
                        <m:r>
                          <a:rPr lang="en-US" altLang="zh-CN" sz="2325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325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325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r>
                          <a:rPr lang="en-US" altLang="zh-CN" sz="2325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)≤</m:t>
                        </m:r>
                        <m:r>
                          <a:rPr lang="en-US" altLang="zh-CN" sz="2325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32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zh-CN" altLang="en-US" sz="232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2325" dirty="0"/>
                  <a:t>，</a:t>
                </a:r>
                <a:r>
                  <a:rPr lang="zh-CN" altLang="zh-CN" sz="2325" dirty="0"/>
                  <a:t>则称</a:t>
                </a:r>
                <a14:m>
                  <m:oMath xmlns:m="http://schemas.openxmlformats.org/officeDocument/2006/math">
                    <m:r>
                      <a:rPr lang="en-US" altLang="zh-CN" sz="2325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sz="2325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325" dirty="0"/>
                  <a:t>为随机变量</a:t>
                </a:r>
                <a:r>
                  <a:rPr lang="zh-CN" altLang="en-US" sz="2325" dirty="0"/>
                  <a:t>。</a:t>
                </a:r>
                <a:endParaRPr lang="en-US" altLang="zh-CN" sz="2325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2325" dirty="0">
                    <a:solidFill>
                      <a:schemeClr val="accent1">
                        <a:lumMod val="50000"/>
                      </a:schemeClr>
                    </a:solidFill>
                  </a:rPr>
                  <a:t>注</a:t>
                </a:r>
                <a:r>
                  <a:rPr lang="en-US" altLang="zh-CN" sz="2325" dirty="0">
                    <a:solidFill>
                      <a:schemeClr val="accent1">
                        <a:lumMod val="50000"/>
                      </a:schemeClr>
                    </a:solidFill>
                  </a:rPr>
                  <a:t>1</a:t>
                </a:r>
                <a:r>
                  <a:rPr lang="zh-CN" altLang="zh-CN" sz="2325" dirty="0"/>
                  <a:t>： 随机变量为随机试验结果到实数值的一种</a:t>
                </a:r>
                <a:r>
                  <a:rPr lang="zh-CN" altLang="zh-CN" sz="2325" dirty="0">
                    <a:solidFill>
                      <a:srgbClr val="FF0000"/>
                    </a:solidFill>
                  </a:rPr>
                  <a:t>映射</a:t>
                </a:r>
                <a:r>
                  <a:rPr lang="zh-CN" altLang="zh-CN" sz="2325" dirty="0"/>
                  <a:t>，一般省略定义变量，用大写字母</a:t>
                </a:r>
                <a:r>
                  <a:rPr lang="en-US" altLang="zh-CN" sz="2325" dirty="0"/>
                  <a:t> </a:t>
                </a:r>
                <a:r>
                  <a:rPr lang="en-US" altLang="zh-CN" sz="2325" i="1" dirty="0">
                    <a:solidFill>
                      <a:srgbClr val="FF0000"/>
                    </a:solidFill>
                  </a:rPr>
                  <a:t>X</a:t>
                </a:r>
                <a:r>
                  <a:rPr lang="en-US" altLang="zh-CN" sz="2325" dirty="0">
                    <a:solidFill>
                      <a:srgbClr val="FF0000"/>
                    </a:solidFill>
                  </a:rPr>
                  <a:t>,  </a:t>
                </a:r>
                <a:r>
                  <a:rPr lang="en-US" altLang="zh-CN" sz="2325" i="1" dirty="0">
                    <a:solidFill>
                      <a:srgbClr val="FF0000"/>
                    </a:solidFill>
                  </a:rPr>
                  <a:t>Y</a:t>
                </a:r>
                <a:r>
                  <a:rPr lang="zh-CN" altLang="zh-CN" sz="2325" dirty="0"/>
                  <a:t>表示随机变量，小写字母</a:t>
                </a:r>
                <a:r>
                  <a:rPr lang="en-US" altLang="zh-CN" sz="2325" dirty="0"/>
                  <a:t> </a:t>
                </a:r>
                <a:r>
                  <a:rPr lang="en-US" altLang="zh-CN" sz="2325" i="1" dirty="0"/>
                  <a:t>x</a:t>
                </a:r>
                <a:r>
                  <a:rPr lang="en-US" altLang="zh-CN" sz="2325" dirty="0"/>
                  <a:t>, </a:t>
                </a:r>
                <a:r>
                  <a:rPr lang="en-US" altLang="zh-CN" sz="2325" i="1" dirty="0"/>
                  <a:t>y</a:t>
                </a:r>
                <a:r>
                  <a:rPr lang="en-US" altLang="zh-CN" sz="2325" dirty="0"/>
                  <a:t> </a:t>
                </a:r>
                <a:r>
                  <a:rPr lang="zh-CN" altLang="zh-CN" sz="2325" dirty="0"/>
                  <a:t>表示取值。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2325" dirty="0">
                    <a:solidFill>
                      <a:schemeClr val="accent1">
                        <a:lumMod val="50000"/>
                      </a:schemeClr>
                    </a:solidFill>
                  </a:rPr>
                  <a:t>注</a:t>
                </a:r>
                <a:r>
                  <a:rPr lang="en-US" altLang="zh-CN" sz="2325" dirty="0">
                    <a:solidFill>
                      <a:schemeClr val="accent1">
                        <a:lumMod val="50000"/>
                      </a:schemeClr>
                    </a:solidFill>
                  </a:rPr>
                  <a:t>2</a:t>
                </a:r>
                <a:r>
                  <a:rPr lang="zh-CN" altLang="zh-CN" sz="2325" dirty="0"/>
                  <a:t>：随机变量的所有取值的集合定义为</a:t>
                </a:r>
                <a:r>
                  <a:rPr lang="zh-CN" altLang="zh-CN" sz="2325" dirty="0">
                    <a:solidFill>
                      <a:srgbClr val="FF0000"/>
                    </a:solidFill>
                  </a:rPr>
                  <a:t>状态空间</a:t>
                </a:r>
                <a:r>
                  <a:rPr lang="zh-CN" altLang="zh-CN" sz="2325" dirty="0"/>
                  <a:t>，用</a:t>
                </a:r>
                <a:r>
                  <a:rPr lang="en-US" altLang="zh-CN" sz="2325" dirty="0">
                    <a:solidFill>
                      <a:srgbClr val="FF0000"/>
                    </a:solidFill>
                  </a:rPr>
                  <a:t>S</a:t>
                </a:r>
                <a:r>
                  <a:rPr lang="zh-CN" altLang="zh-CN" sz="2325" dirty="0"/>
                  <a:t>表示。</a:t>
                </a:r>
                <a:r>
                  <a:rPr lang="en-US" altLang="zh-CN" sz="2325" dirty="0"/>
                  <a:t>                                               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325" dirty="0"/>
                  <a:t>      </a:t>
                </a:r>
                <a:r>
                  <a:rPr lang="zh-CN" altLang="en-US" sz="2325" dirty="0"/>
                  <a:t>状态</a:t>
                </a:r>
                <a:r>
                  <a:rPr lang="zh-CN" altLang="zh-CN" sz="2325" dirty="0"/>
                  <a:t>空间中元素的个数</a:t>
                </a:r>
                <a:r>
                  <a:rPr lang="zh-CN" altLang="en-US" sz="2325" dirty="0"/>
                  <a:t>：</a:t>
                </a:r>
                <a:r>
                  <a:rPr lang="en-US" altLang="zh-CN" sz="2325" dirty="0"/>
                  <a:t>  </a:t>
                </a:r>
                <a:r>
                  <a:rPr lang="zh-CN" altLang="zh-CN" sz="2325" dirty="0"/>
                  <a:t>有限、无穷可数、无穷不可数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95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25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   </m:t>
                    </m:r>
                    <m:r>
                      <a:rPr lang="en-US" altLang="zh-CN" sz="255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r>
                      <a:rPr lang="en-US" altLang="zh-CN" sz="255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55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55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0,1</m:t>
                        </m:r>
                      </m:e>
                    </m:d>
                    <m:r>
                      <a:rPr lang="en-US" altLang="zh-CN" sz="255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     </m:t>
                    </m:r>
                    <m:r>
                      <a:rPr lang="en-US" altLang="zh-CN" sz="255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r>
                      <a:rPr lang="en-US" altLang="zh-CN" sz="255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55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55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1,2,3,…</m:t>
                        </m:r>
                      </m:e>
                    </m:d>
                    <m:r>
                      <a:rPr lang="en-US" altLang="zh-CN" sz="255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   </m:t>
                    </m:r>
                    <m:r>
                      <a:rPr lang="en-US" altLang="zh-CN" sz="255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r>
                      <a:rPr lang="en-US" altLang="zh-CN" sz="255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55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55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  <m:r>
                          <a:rPr lang="en-US" altLang="zh-CN" sz="255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∈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55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|0≤</m:t>
                        </m:r>
                        <m:r>
                          <a:rPr lang="en-US" altLang="zh-CN" sz="255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𝑥</m:t>
                        </m:r>
                        <m:r>
                          <a:rPr lang="en-US" altLang="zh-CN" sz="255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≤5</m:t>
                        </m:r>
                      </m:e>
                    </m:d>
                  </m:oMath>
                </a14:m>
                <a:endParaRPr lang="zh-CN" altLang="zh-CN" sz="195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D101D8-5F17-4D40-8003-DD9A339BEC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8" y="1676401"/>
                <a:ext cx="8886825" cy="3746831"/>
              </a:xfrm>
              <a:blipFill>
                <a:blip r:embed="rId3"/>
                <a:stretch>
                  <a:fillRect l="-686" t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496F13AC-DA1C-47BB-884E-9ADD2A0A4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837" y="1372404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350">
              <a:solidFill>
                <a:srgbClr val="000000"/>
              </a:solidFill>
              <a:latin typeface="仿宋_GB2312"/>
            </a:endParaRPr>
          </a:p>
        </p:txBody>
      </p:sp>
    </p:spTree>
    <p:extLst>
      <p:ext uri="{BB962C8B-B14F-4D97-AF65-F5344CB8AC3E}">
        <p14:creationId xmlns:p14="http://schemas.microsoft.com/office/powerpoint/2010/main" val="15069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80975" y="1696994"/>
                <a:ext cx="8791575" cy="3808456"/>
              </a:xfrm>
            </p:spPr>
            <p:txBody>
              <a:bodyPr/>
              <a:lstStyle/>
              <a:p>
                <a:pPr marL="299700" lvl="1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2.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离散随机变量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 :  </a:t>
                </a:r>
                <a:r>
                  <a:rPr lang="en-US" altLang="zh-CN" dirty="0"/>
                  <a:t>RV</a:t>
                </a:r>
                <a:r>
                  <a:rPr lang="zh-CN" altLang="zh-CN" dirty="0"/>
                  <a:t>取值有限</a:t>
                </a:r>
                <a:r>
                  <a:rPr lang="zh-CN" altLang="en-US" dirty="0"/>
                  <a:t>或无穷可数，</a:t>
                </a:r>
                <a:r>
                  <a:rPr lang="zh-CN" altLang="zh-CN" dirty="0"/>
                  <a:t>或</a:t>
                </a:r>
                <a:r>
                  <a:rPr lang="zh-CN" altLang="en-US" dirty="0"/>
                  <a:t>状态空间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元素个数有限或</a:t>
                </a:r>
                <a:r>
                  <a:rPr lang="zh-CN" altLang="zh-CN" dirty="0"/>
                  <a:t>无限可列</a:t>
                </a:r>
                <a:endParaRPr lang="en-US" altLang="zh-CN" dirty="0"/>
              </a:p>
              <a:p>
                <a:pPr marL="299700" indent="0">
                  <a:buNone/>
                </a:pPr>
                <a:r>
                  <a:rPr lang="zh-CN" altLang="en-US" sz="1800" dirty="0"/>
                  <a:t>如：</a:t>
                </a:r>
                <a:r>
                  <a:rPr lang="zh-CN" altLang="zh-CN" sz="1800" dirty="0"/>
                  <a:t>掷硬币</a:t>
                </a:r>
                <a:r>
                  <a:rPr lang="en-US" altLang="zh-CN" sz="1800" dirty="0"/>
                  <a:t>   </a:t>
                </a:r>
                <a:r>
                  <a:rPr lang="zh-CN" altLang="zh-CN" sz="1800" dirty="0"/>
                  <a:t>定义：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altLang="zh-CN" sz="1800" dirty="0"/>
                  <a:t> (</a:t>
                </a:r>
                <a:r>
                  <a:rPr lang="zh-CN" altLang="zh-CN" sz="1800" dirty="0"/>
                  <a:t>正面</a:t>
                </a:r>
                <a:r>
                  <a:rPr lang="en-US" altLang="zh-CN" sz="1800" dirty="0"/>
                  <a:t>)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)=−1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（反面） ；</a:t>
                </a:r>
                <a:r>
                  <a:rPr lang="en-US" altLang="zh-CN" sz="1800" dirty="0"/>
                  <a:t>                                                                                               </a:t>
                </a:r>
              </a:p>
              <a:p>
                <a:pPr marL="299700" indent="0">
                  <a:buNone/>
                </a:pPr>
                <a:r>
                  <a:rPr lang="en-US" altLang="zh-CN" sz="1800" dirty="0"/>
                  <a:t>                        </a:t>
                </a:r>
                <a:r>
                  <a:rPr lang="zh-CN" altLang="zh-CN" sz="1800" dirty="0"/>
                  <a:t>或 </a:t>
                </a:r>
                <a:r>
                  <a:rPr lang="en-US" altLang="zh-CN" sz="1800" dirty="0"/>
                  <a:t>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zh-CN" altLang="zh-CN" sz="1800" dirty="0"/>
                  <a:t>（正面）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altLang="zh-CN" sz="1800" dirty="0"/>
                  <a:t>  </a:t>
                </a:r>
                <a:r>
                  <a:rPr lang="zh-CN" altLang="zh-CN" sz="1800" dirty="0"/>
                  <a:t>（反面）。</a:t>
                </a:r>
                <a:endParaRPr lang="en-US" altLang="zh-CN" sz="1800" dirty="0"/>
              </a:p>
              <a:p>
                <a:pPr marL="299700" indent="0"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</a:rPr>
                  <a:t>3.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连续随机变量 </a:t>
                </a:r>
                <a:r>
                  <a:rPr lang="zh-CN" altLang="en-US" sz="1800" dirty="0"/>
                  <a:t>： </a:t>
                </a:r>
                <a:r>
                  <a:rPr lang="en-US" altLang="zh-CN" sz="1800" dirty="0"/>
                  <a:t>RV</a:t>
                </a:r>
                <a:r>
                  <a:rPr lang="zh-CN" altLang="zh-CN" sz="1800" dirty="0"/>
                  <a:t>取值无穷不可数，或</a:t>
                </a:r>
                <a:r>
                  <a:rPr lang="zh-CN" altLang="en-US" sz="1800" dirty="0"/>
                  <a:t>状态空间</a:t>
                </a:r>
                <a:r>
                  <a:rPr lang="en-US" altLang="zh-CN" sz="1800" dirty="0"/>
                  <a:t>S</a:t>
                </a:r>
                <a:r>
                  <a:rPr lang="zh-CN" altLang="en-US" sz="1800" dirty="0"/>
                  <a:t>元素个数</a:t>
                </a:r>
                <a:r>
                  <a:rPr lang="zh-CN" altLang="zh-CN" sz="1800" dirty="0"/>
                  <a:t>无穷不可数</a:t>
                </a:r>
                <a:r>
                  <a:rPr lang="en-US" altLang="zh-CN" sz="1800" dirty="0"/>
                  <a:t>                </a:t>
                </a:r>
              </a:p>
              <a:p>
                <a:pPr marL="299700" indent="0">
                  <a:buNone/>
                </a:pPr>
                <a:r>
                  <a:rPr lang="en-US" altLang="zh-CN" sz="1800" dirty="0"/>
                  <a:t>                        </a:t>
                </a:r>
                <a:r>
                  <a:rPr lang="zh-CN" altLang="en-US" sz="1800" dirty="0"/>
                  <a:t>如：</a:t>
                </a:r>
                <a:r>
                  <a:rPr lang="zh-CN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zh-CN" sz="18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zh-CN" altLang="zh-CN" sz="1800" dirty="0"/>
                  <a:t>。</a:t>
                </a:r>
                <a:endParaRPr lang="en-US" altLang="zh-CN" sz="1800" dirty="0"/>
              </a:p>
              <a:p>
                <a:pPr marL="299700" lvl="1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4.  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随机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矢量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（多维随机变量）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                                                                                        </a:t>
                </a:r>
                <a:r>
                  <a:rPr lang="zh-CN" altLang="zh-CN" dirty="0"/>
                  <a:t>一个随机试验的结果用多个随机变量描述 </a:t>
                </a:r>
                <a:r>
                  <a:rPr lang="en-US" altLang="zh-CN" dirty="0"/>
                  <a:t>  </a:t>
                </a:r>
                <a:r>
                  <a:rPr lang="zh-CN" altLang="zh-CN" dirty="0"/>
                  <a:t>或多个随机变量按一定的顺序排列起</a:t>
                </a:r>
                <a:r>
                  <a:rPr lang="zh-CN" altLang="en-US" dirty="0"/>
                  <a:t>来 </a:t>
                </a:r>
                <a:r>
                  <a:rPr lang="zh-CN" altLang="zh-CN" dirty="0"/>
                  <a:t>如电流信号的振幅、相位、角频率，三维随机变量</a:t>
                </a:r>
                <a:r>
                  <a:rPr lang="zh-CN" altLang="en-US" dirty="0"/>
                  <a:t>。</a:t>
                </a:r>
                <a:r>
                  <a:rPr lang="en-US" altLang="zh-CN" dirty="0"/>
                  <a:t>                                                      </a:t>
                </a:r>
                <a:r>
                  <a:rPr lang="zh-CN" altLang="zh-CN" dirty="0"/>
                  <a:t>一个</a:t>
                </a:r>
                <a:r>
                  <a:rPr lang="en-US" altLang="zh-CN" i="1" dirty="0"/>
                  <a:t>n</a:t>
                </a:r>
                <a:r>
                  <a:rPr lang="zh-CN" altLang="zh-CN" dirty="0"/>
                  <a:t>维矢量表示为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zh-CN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975" y="1696994"/>
                <a:ext cx="8791575" cy="3808456"/>
              </a:xfrm>
              <a:blipFill>
                <a:blip r:embed="rId2"/>
                <a:stretch>
                  <a:fillRect t="-1120" r="-555" b="-1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A895534B-A730-4E72-984E-C1E2B1C95326}"/>
              </a:ext>
            </a:extLst>
          </p:cNvPr>
          <p:cNvSpPr txBox="1">
            <a:spLocks/>
          </p:cNvSpPr>
          <p:nvPr/>
        </p:nvSpPr>
        <p:spPr bwMode="auto">
          <a:xfrm>
            <a:off x="684213" y="857251"/>
            <a:ext cx="7886700" cy="839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defTabSz="685800"/>
            <a:r>
              <a:rPr lang="en-US" altLang="zh-CN" sz="2700" dirty="0"/>
              <a:t>1.1.2 </a:t>
            </a:r>
            <a:r>
              <a:rPr lang="zh-CN" altLang="en-US" sz="2700" dirty="0"/>
              <a:t>随机变量</a:t>
            </a:r>
            <a:r>
              <a:rPr lang="zh-CN" altLang="zh-CN" sz="2700" dirty="0"/>
              <a:t>及其概率分布</a:t>
            </a:r>
            <a:endParaRPr lang="zh-CN" altLang="en-US" sz="2700" dirty="0">
              <a:latin typeface="黑体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5253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80975" y="1118938"/>
                <a:ext cx="8791575" cy="4734855"/>
              </a:xfrm>
            </p:spPr>
            <p:txBody>
              <a:bodyPr/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zh-CN" altLang="en-US" sz="2400" dirty="0">
                    <a:latin typeface="+mj-lt"/>
                  </a:rPr>
                  <a:t>    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j-lt"/>
                  </a:rPr>
                  <a:t>二、 </a:t>
                </a:r>
                <a:r>
                  <a:rPr lang="zh-CN" altLang="zh-CN" sz="2400" dirty="0">
                    <a:solidFill>
                      <a:srgbClr val="FF0000"/>
                    </a:solidFill>
                    <a:latin typeface="+mj-lt"/>
                  </a:rPr>
                  <a:t>概率分布</a:t>
                </a:r>
                <a:endParaRPr lang="en-US" altLang="zh-CN" sz="2400" dirty="0">
                  <a:solidFill>
                    <a:srgbClr val="FF0000"/>
                  </a:solidFill>
                  <a:latin typeface="+mj-lt"/>
                </a:endParaRPr>
              </a:p>
              <a:p>
                <a:pPr marL="342900" indent="-342900">
                  <a:lnSpc>
                    <a:spcPct val="100000"/>
                  </a:lnSpc>
                  <a:buAutoNum type="arabicPeriod"/>
                </a:pPr>
                <a:r>
                  <a:rPr lang="zh-CN" altLang="zh-CN" sz="1800" dirty="0">
                    <a:solidFill>
                      <a:srgbClr val="0070C0"/>
                    </a:solidFill>
                    <a:latin typeface="+mj-ea"/>
                  </a:rPr>
                  <a:t>概率分布函数</a:t>
                </a:r>
                <a:r>
                  <a:rPr lang="zh-CN" altLang="zh-CN" sz="1800" dirty="0">
                    <a:latin typeface="+mj-ea"/>
                  </a:rPr>
                  <a:t>（累积分布函数）</a:t>
                </a:r>
                <a:r>
                  <a:rPr lang="en-US" altLang="zh-CN" sz="1800" dirty="0">
                    <a:latin typeface="+mj-ea"/>
                  </a:rPr>
                  <a:t>cumulative distribution function  CDF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1650" dirty="0">
                    <a:solidFill>
                      <a:srgbClr val="FF0000"/>
                    </a:solidFill>
                  </a:rPr>
                  <a:t>定义：</a:t>
                </a:r>
                <a:r>
                  <a:rPr lang="zh-CN" altLang="en-US" sz="1650" dirty="0"/>
                  <a:t> </a:t>
                </a:r>
                <a:r>
                  <a:rPr lang="zh-CN" altLang="zh-CN" sz="165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165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1650" dirty="0"/>
                  <a:t>，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5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50" dirty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e>
                        <m:r>
                          <a:rPr lang="en-US" altLang="zh-CN" sz="1650" dirty="0"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sz="165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650" dirty="0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d>
                        <m:r>
                          <a:rPr lang="en-US" altLang="zh-CN" sz="1650" dirty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50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5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165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1650" dirty="0"/>
                  <a:t>,</a:t>
                </a:r>
                <a:r>
                  <a:rPr lang="zh-CN" altLang="zh-CN" sz="1650" dirty="0"/>
                  <a:t>则</a:t>
                </a:r>
                <a14:m>
                  <m:oMath xmlns:m="http://schemas.openxmlformats.org/officeDocument/2006/math">
                    <m:r>
                      <a:rPr lang="en-US" altLang="zh-CN" sz="165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650" dirty="0"/>
                  <a:t>为</a:t>
                </a:r>
                <a14:m>
                  <m:oMath xmlns:m="http://schemas.openxmlformats.org/officeDocument/2006/math">
                    <m:r>
                      <a:rPr lang="zh-CN" altLang="en-US" sz="1650" dirty="0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zh-CN" sz="1650" dirty="0"/>
                  <a:t>的随机变量，则</a:t>
                </a:r>
                <a14:m>
                  <m:oMath xmlns:m="http://schemas.openxmlformats.org/officeDocument/2006/math">
                    <m:r>
                      <a:rPr lang="en-US" altLang="zh-CN" sz="165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}=</m:t>
                    </m:r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650" dirty="0"/>
                  <a:t>称为概率分布函数，也称为累积分布函数。（随机变量</a:t>
                </a:r>
                <a:r>
                  <a:rPr lang="en-US" altLang="zh-CN" sz="1650" dirty="0"/>
                  <a:t>X </a:t>
                </a:r>
                <a:r>
                  <a:rPr lang="zh-CN" altLang="zh-CN" sz="1650" dirty="0"/>
                  <a:t>取值不超过</a:t>
                </a:r>
                <a:r>
                  <a:rPr lang="en-US" altLang="zh-CN" sz="1650" dirty="0"/>
                  <a:t>x</a:t>
                </a:r>
                <a:r>
                  <a:rPr lang="zh-CN" altLang="zh-CN" sz="1650" dirty="0"/>
                  <a:t>的概率）。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1650" dirty="0">
                    <a:solidFill>
                      <a:srgbClr val="FF0000"/>
                    </a:solidFill>
                  </a:rPr>
                  <a:t>性质：</a:t>
                </a:r>
                <a:r>
                  <a:rPr lang="zh-CN" altLang="en-US" sz="1650" dirty="0"/>
                  <a:t> </a:t>
                </a:r>
                <a:r>
                  <a:rPr lang="zh-CN" altLang="zh-CN" sz="1650" dirty="0"/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650" dirty="0"/>
                  <a:t>为一概率，具有性质（判断某函数为概率分布函数的</a:t>
                </a:r>
                <a:r>
                  <a:rPr lang="zh-CN" altLang="zh-CN" sz="1650" u="sng" dirty="0"/>
                  <a:t>充要条件</a:t>
                </a:r>
                <a:r>
                  <a:rPr lang="zh-CN" altLang="zh-CN" sz="1650" dirty="0"/>
                  <a:t>）：</a:t>
                </a:r>
                <a:endParaRPr lang="en-US" altLang="zh-CN" sz="1650" dirty="0"/>
              </a:p>
              <a:p>
                <a:pPr marL="942975" lvl="2" indent="-342900">
                  <a:lnSpc>
                    <a:spcPct val="100000"/>
                  </a:lnSpc>
                  <a:buFont typeface="+mj-lt"/>
                  <a:buAutoNum type="alphaLcParenR"/>
                </a:pPr>
                <a:r>
                  <a:rPr lang="zh-CN" altLang="zh-CN" sz="1650" dirty="0"/>
                  <a:t>单调不减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50" dirty="0"/>
              </a:p>
              <a:p>
                <a:pPr marL="942975" lvl="2" indent="-342900">
                  <a:lnSpc>
                    <a:spcPct val="10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altLang="zh-CN" sz="165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)≤1</m:t>
                    </m:r>
                  </m:oMath>
                </a14:m>
                <a:r>
                  <a:rPr lang="en-US" altLang="zh-CN" sz="1650" dirty="0"/>
                  <a:t> 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→−∞</m:t>
                        </m:r>
                      </m:lim>
                    </m:limLow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altLang="zh-CN" sz="1650" dirty="0"/>
                  <a:t>,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→+∞</m:t>
                        </m:r>
                      </m:lim>
                    </m:limLow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en-US" altLang="zh-CN" sz="1650" dirty="0"/>
              </a:p>
              <a:p>
                <a:pPr marL="942975" lvl="2" indent="-342900">
                  <a:lnSpc>
                    <a:spcPct val="100000"/>
                  </a:lnSpc>
                  <a:buFont typeface="+mj-lt"/>
                  <a:buAutoNum type="alphaLcParenR"/>
                </a:pPr>
                <a:r>
                  <a:rPr lang="zh-CN" altLang="zh-CN" sz="1650" dirty="0">
                    <a:solidFill>
                      <a:srgbClr val="0070C0"/>
                    </a:solidFill>
                  </a:rPr>
                  <a:t>右连续</a:t>
                </a:r>
                <a:r>
                  <a:rPr lang="zh-CN" altLang="zh-CN" sz="16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+0)=</m:t>
                    </m:r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spcBef>
                    <a:spcPts val="450"/>
                  </a:spcBef>
                  <a:buNone/>
                </a:pPr>
                <a:r>
                  <a:rPr lang="en-US" altLang="zh-CN" sz="1650" dirty="0"/>
                  <a:t> 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450"/>
                  </a:spcBef>
                  <a:buNone/>
                </a:pPr>
                <a:r>
                  <a:rPr lang="zh-CN" altLang="zh-CN" sz="1650" dirty="0">
                    <a:solidFill>
                      <a:srgbClr val="FF0000"/>
                    </a:solidFill>
                  </a:rPr>
                  <a:t>反之，</a:t>
                </a:r>
                <a:r>
                  <a:rPr lang="zh-CN" altLang="zh-CN" sz="1650" dirty="0"/>
                  <a:t>某函数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650" dirty="0"/>
                  <a:t>，</a:t>
                </a:r>
                <a:r>
                  <a:rPr lang="zh-CN" altLang="en-US" sz="1650" dirty="0"/>
                  <a:t>若</a:t>
                </a:r>
                <a:r>
                  <a:rPr lang="zh-CN" altLang="zh-CN" sz="165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5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zh-CN" sz="1650" dirty="0"/>
                  <a:t>，单调不减、右连续的函数，且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→−∞</m:t>
                        </m:r>
                      </m:lim>
                    </m:limLow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altLang="zh-CN" sz="1650" dirty="0"/>
                  <a:t>,</a:t>
                </a:r>
                <a:r>
                  <a:rPr lang="zh-CN" altLang="zh-CN" sz="1650" dirty="0"/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→+∞</m:t>
                        </m:r>
                      </m:lim>
                    </m:limLow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zh-CN" sz="1650" dirty="0"/>
                  <a:t>，则必存在概率空间</a:t>
                </a:r>
                <a14:m>
                  <m:oMath xmlns:m="http://schemas.openxmlformats.org/officeDocument/2006/math"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650" i="1">
                        <a:latin typeface="Cambria Math" panose="02040503050406030204" pitchFamily="18" charset="0"/>
                      </a:rPr>
                      <m:t>𝔽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650" dirty="0"/>
                  <a:t>及其上的随机变量</a:t>
                </a:r>
                <a:r>
                  <a:rPr lang="en-US" altLang="zh-CN" sz="1650" i="1" dirty="0"/>
                  <a:t>X</a:t>
                </a:r>
                <a:r>
                  <a:rPr lang="zh-CN" altLang="zh-CN" sz="1650" dirty="0"/>
                  <a:t>，使得</a:t>
                </a:r>
                <a:r>
                  <a:rPr lang="en-US" altLang="zh-CN" sz="1650" i="1" dirty="0"/>
                  <a:t>X</a:t>
                </a:r>
                <a:r>
                  <a:rPr lang="zh-CN" altLang="zh-CN" sz="1650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650" dirty="0"/>
                  <a:t>为概率分布函数。</a:t>
                </a:r>
                <a:endParaRPr lang="zh-CN" altLang="en-US" sz="165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975" y="1118938"/>
                <a:ext cx="8791575" cy="4734855"/>
              </a:xfrm>
              <a:blipFill>
                <a:blip r:embed="rId2"/>
                <a:stretch>
                  <a:fillRect l="-416" t="-1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4318537-C8AC-4D3F-9707-FA222A146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444" y="3176338"/>
            <a:ext cx="2012997" cy="14584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418474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884B56-A8DB-494C-B8FC-92ED070D1D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9550" y="1227222"/>
                <a:ext cx="8572500" cy="4392529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1" indent="0">
                  <a:buNone/>
                </a:pPr>
                <a:r>
                  <a:rPr lang="en-US" altLang="zh-CN" sz="1950" dirty="0">
                    <a:solidFill>
                      <a:srgbClr val="FF0000"/>
                    </a:solidFill>
                    <a:latin typeface="+mj-ea"/>
                    <a:ea typeface="+mj-ea"/>
                  </a:rPr>
                  <a:t>2.</a:t>
                </a:r>
                <a:r>
                  <a:rPr lang="zh-CN" altLang="zh-CN" sz="1950" dirty="0">
                    <a:solidFill>
                      <a:srgbClr val="FF0000"/>
                    </a:solidFill>
                    <a:latin typeface="+mj-ea"/>
                    <a:ea typeface="+mj-ea"/>
                  </a:rPr>
                  <a:t>概率密度函数</a:t>
                </a:r>
                <a:r>
                  <a:rPr lang="en-US" altLang="zh-CN" sz="195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550" dirty="0"/>
                  <a:t>probability density function  PDF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定义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 </a:t>
                </a:r>
                <a:r>
                  <a:rPr lang="zh-CN" altLang="zh-CN" sz="1950" dirty="0"/>
                  <a:t>分布函数的导数称为随机变量的概率密度函数，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nor/>
                              </m:rPr>
                              <a:rPr lang="en-US" altLang="zh-CN"/>
                              <m:t>lim</m:t>
                            </m:r>
                          </m:e>
                          <m:li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m:rPr>
                        <m:nor/>
                      </m:rPr>
                      <a:rPr lang="en-US" altLang="zh-CN"/>
                      <m:t>   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</a:t>
                </a:r>
                <a:r>
                  <a:rPr lang="zh-CN" altLang="zh-CN" dirty="0"/>
                  <a:t>或 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性质</a:t>
                </a:r>
                <a:r>
                  <a:rPr lang="zh-CN" altLang="zh-CN" dirty="0"/>
                  <a:t>：</a:t>
                </a:r>
              </a:p>
              <a:p>
                <a:pPr marL="642938" lvl="1" indent="-342900">
                  <a:buFont typeface="+mj-lt"/>
                  <a:buAutoNum type="alphaLcParenR"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)≥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; </a:t>
                </a:r>
              </a:p>
              <a:p>
                <a:pPr marL="642938" lvl="1" indent="-342900">
                  <a:buFont typeface="+mj-lt"/>
                  <a:buAutoNum type="alphaLcParenR"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;</a:t>
                </a:r>
              </a:p>
              <a:p>
                <a:pPr marL="642938" lvl="1" indent="-342900">
                  <a:buFont typeface="+mj-lt"/>
                  <a:buAutoNum type="alphaLcParenR"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}=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，（随机变量落入区间内的概率）</a:t>
                </a:r>
                <a:endParaRPr lang="en-US" altLang="zh-CN" dirty="0"/>
              </a:p>
              <a:p>
                <a:pPr marL="642938" lvl="1" indent="-342900">
                  <a:buFont typeface="+mj-lt"/>
                  <a:buAutoNum type="alphaLcParenR"/>
                </a:pPr>
                <a:r>
                  <a:rPr lang="en-US" altLang="zh-CN" dirty="0"/>
                  <a:t> </a:t>
                </a:r>
                <a:r>
                  <a:rPr lang="zh-CN" altLang="zh-CN" dirty="0"/>
                  <a:t>当</a:t>
                </a:r>
                <a:r>
                  <a:rPr lang="en-US" altLang="zh-CN" dirty="0"/>
                  <a:t>X</a:t>
                </a:r>
                <a:r>
                  <a:rPr lang="zh-CN" altLang="zh-CN" dirty="0"/>
                  <a:t>为连续随机变量，且</a:t>
                </a:r>
                <a14:m>
                  <m:oMath xmlns:m="http://schemas.openxmlformats.org/officeDocument/2006/math">
                    <m:r>
                      <a:rPr lang="en-US" altLang="zh-CN" b="1" i="0"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altLang="zh-CN" b="1" i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zh-CN" altLang="zh-CN"/>
                  <a:t>足够小时（近似</a:t>
                </a:r>
                <a:r>
                  <a:rPr lang="zh-CN" altLang="zh-CN" dirty="0"/>
                  <a:t>为矩形），有结论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或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)≈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zh-CN" altLang="zh-CN" dirty="0"/>
              </a:p>
              <a:p>
                <a:pPr marL="300038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884B56-A8DB-494C-B8FC-92ED070D1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9550" y="1227222"/>
                <a:ext cx="8572500" cy="4392529"/>
              </a:xfrm>
              <a:blipFill>
                <a:blip r:embed="rId2"/>
                <a:stretch>
                  <a:fillRect l="-569" t="-1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4852D0A6-9B89-4DDB-8AC8-942E1FA06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893" y="1427225"/>
            <a:ext cx="2104157" cy="155343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6B56C04-AD30-4304-9FAE-8C5883CB1F0D}"/>
              </a:ext>
            </a:extLst>
          </p:cNvPr>
          <p:cNvSpPr/>
          <p:nvPr/>
        </p:nvSpPr>
        <p:spPr>
          <a:xfrm>
            <a:off x="7021931" y="3180669"/>
            <a:ext cx="1659419" cy="71558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350" dirty="0">
                <a:solidFill>
                  <a:srgbClr val="000000"/>
                </a:solidFill>
                <a:latin typeface="仿宋_GB2312"/>
              </a:rPr>
              <a:t>概率分布函数是概率密度函数的积分波形下的面积</a:t>
            </a:r>
            <a:r>
              <a:rPr lang="zh-CN" altLang="en-US" sz="1350" dirty="0">
                <a:solidFill>
                  <a:srgbClr val="000000"/>
                </a:solidFill>
                <a:latin typeface="仿宋_GB2312"/>
              </a:rPr>
              <a:t>。</a:t>
            </a:r>
            <a:endParaRPr lang="zh-CN" altLang="zh-CN" sz="1350" dirty="0">
              <a:solidFill>
                <a:srgbClr val="000000"/>
              </a:solidFill>
              <a:latin typeface="仿宋_GB2312"/>
            </a:endParaRPr>
          </a:p>
        </p:txBody>
      </p:sp>
    </p:spTree>
    <p:extLst>
      <p:ext uri="{BB962C8B-B14F-4D97-AF65-F5344CB8AC3E}">
        <p14:creationId xmlns:p14="http://schemas.microsoft.com/office/powerpoint/2010/main" val="87393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5D47B-F5F0-4D09-B65B-1FFB1FAA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922564"/>
            <a:ext cx="7886700" cy="839744"/>
          </a:xfrm>
        </p:spPr>
        <p:txBody>
          <a:bodyPr/>
          <a:lstStyle/>
          <a:p>
            <a:r>
              <a:rPr lang="en-US" altLang="zh-CN" dirty="0"/>
              <a:t>1.1.2 </a:t>
            </a:r>
            <a:r>
              <a:rPr lang="zh-CN" altLang="en-US" dirty="0"/>
              <a:t>随机变量</a:t>
            </a:r>
            <a:r>
              <a:rPr lang="zh-CN" altLang="zh-CN" dirty="0"/>
              <a:t>及其概率分布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657113-288F-4342-B4FC-91C3420291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125" y="1600201"/>
                <a:ext cx="8572500" cy="366950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1650" dirty="0"/>
                  <a:t>例</a:t>
                </a:r>
                <a:r>
                  <a:rPr lang="zh-CN" altLang="zh-CN" sz="1650" dirty="0"/>
                  <a:t>如</a:t>
                </a:r>
                <a:r>
                  <a:rPr lang="en-US" altLang="zh-CN" sz="1650" dirty="0"/>
                  <a:t>:    </a:t>
                </a:r>
                <a:r>
                  <a:rPr lang="zh-CN" altLang="zh-CN" sz="1650" dirty="0"/>
                  <a:t>掷硬币</a:t>
                </a:r>
                <a:endParaRPr lang="en-US" altLang="zh-CN" sz="165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65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)=0.5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+1)+0.5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zh-CN" sz="165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5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50" i="1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16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165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5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CN" sz="1650"/>
                                <m:t>         </m:t>
                              </m:r>
                              <m:r>
                                <a:rPr lang="en-US" altLang="zh-CN" sz="16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5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16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50">
                                  <a:latin typeface="Cambria Math" panose="02040503050406030204" pitchFamily="18" charset="0"/>
                                </a:rPr>
                                <m:t>1)</m:t>
                              </m:r>
                            </m:e>
                            <m:e>
                              <m:r>
                                <a:rPr lang="en-US" altLang="zh-CN" sz="1650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m:rPr>
                                  <m:nor/>
                                </m:rPr>
                                <a:rPr lang="en-US" altLang="zh-CN" sz="1650"/>
                                <m:t>      </m:t>
                              </m:r>
                              <m:r>
                                <a:rPr lang="en-US" altLang="zh-CN" sz="16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50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altLang="zh-CN" sz="16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50">
                                  <a:latin typeface="Cambria Math" panose="02040503050406030204" pitchFamily="18" charset="0"/>
                                </a:rPr>
                                <m:t>&lt;1)</m:t>
                              </m:r>
                              <m:r>
                                <a:rPr lang="en-US" altLang="zh-CN" sz="165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16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1650"/>
                                <m:t>          </m:t>
                              </m:r>
                              <m:r>
                                <a:rPr lang="en-US" altLang="zh-CN" sz="16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50">
                                  <a:latin typeface="Cambria Math" panose="02040503050406030204" pitchFamily="18" charset="0"/>
                                </a:rPr>
                                <m:t>≥1)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650" dirty="0"/>
              </a:p>
              <a:p>
                <a:pPr marL="0" indent="0">
                  <a:buNone/>
                </a:pPr>
                <a:r>
                  <a:rPr lang="zh-CN" altLang="zh-CN" sz="1650" dirty="0"/>
                  <a:t>由此，可知</a:t>
                </a:r>
                <a:r>
                  <a:rPr lang="en-US" altLang="zh-CN" sz="165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zh-CN" altLang="zh-CN" sz="16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zh-CN" sz="16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16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1650" dirty="0"/>
                  <a:t>  </a:t>
                </a:r>
                <a:r>
                  <a:rPr lang="zh-CN" altLang="zh-CN" sz="1650" dirty="0">
                    <a:solidFill>
                      <a:srgbClr val="0070C0"/>
                    </a:solidFill>
                  </a:rPr>
                  <a:t>冲激函数</a:t>
                </a:r>
                <a:r>
                  <a:rPr lang="zh-CN" altLang="zh-CN" sz="1650" dirty="0"/>
                  <a:t>形式</a:t>
                </a:r>
              </a:p>
              <a:p>
                <a:pPr marL="0" indent="0">
                  <a:buNone/>
                </a:pPr>
                <a:r>
                  <a:rPr lang="en-US" altLang="zh-CN" sz="16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}=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zh-CN" altLang="zh-CN" sz="16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zh-CN" sz="16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650" i="1">
                        <a:latin typeface="Cambria Math" panose="02040503050406030204" pitchFamily="18" charset="0"/>
                      </a:rPr>
                      <m:t>}⋅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zh-CN" altLang="zh-CN" sz="16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zh-CN" sz="16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16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1650" dirty="0"/>
                  <a:t>  </a:t>
                </a:r>
                <a:r>
                  <a:rPr lang="en-US" altLang="zh-CN" sz="1650" dirty="0">
                    <a:solidFill>
                      <a:srgbClr val="0070C0"/>
                    </a:solidFill>
                  </a:rPr>
                  <a:t> </a:t>
                </a:r>
                <a:r>
                  <a:rPr lang="zh-CN" altLang="zh-CN" sz="1650" dirty="0">
                    <a:solidFill>
                      <a:srgbClr val="0070C0"/>
                    </a:solidFill>
                  </a:rPr>
                  <a:t>阶跃函数</a:t>
                </a:r>
                <a:r>
                  <a:rPr lang="zh-CN" altLang="zh-CN" sz="1650" dirty="0"/>
                  <a:t>形式</a:t>
                </a:r>
              </a:p>
              <a:p>
                <a:pPr marL="0" indent="0">
                  <a:buNone/>
                </a:pPr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657113-288F-4342-B4FC-91C342029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25" y="1600201"/>
                <a:ext cx="8572500" cy="3669506"/>
              </a:xfrm>
              <a:blipFill>
                <a:blip r:embed="rId3"/>
                <a:stretch>
                  <a:fillRect l="-427" t="-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9543CA96-98DD-4444-9792-5F89D85C0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602" y="4122127"/>
            <a:ext cx="5049189" cy="1400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0338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6213" y="1390002"/>
                <a:ext cx="8791575" cy="4115449"/>
              </a:xfrm>
            </p:spPr>
            <p:txBody>
              <a:bodyPr/>
              <a:lstStyle/>
              <a:p>
                <a:pPr marL="642938" lvl="1" indent="-342900">
                  <a:buAutoNum type="arabicPeriod" startAt="3"/>
                </a:pPr>
                <a:r>
                  <a:rPr lang="zh-CN" altLang="zh-CN" sz="2100" dirty="0">
                    <a:solidFill>
                      <a:srgbClr val="FF0000"/>
                    </a:solidFill>
                    <a:latin typeface="+mj-lt"/>
                  </a:rPr>
                  <a:t>离散随机变量的概率分布 </a:t>
                </a:r>
                <a:r>
                  <a:rPr lang="en-US" altLang="zh-CN" sz="2100" dirty="0">
                    <a:solidFill>
                      <a:srgbClr val="FF0000"/>
                    </a:solidFill>
                    <a:latin typeface="+mj-lt"/>
                  </a:rPr>
                  <a:t>                                   </a:t>
                </a:r>
                <a:endParaRPr lang="en-US" altLang="zh-CN" sz="2100" dirty="0">
                  <a:latin typeface="+mj-lt"/>
                </a:endParaRPr>
              </a:p>
              <a:p>
                <a:pPr marL="942975" lvl="2" indent="-342900">
                  <a:buFont typeface="+mj-lt"/>
                  <a:buAutoNum type="alphaLcParenR"/>
                </a:pPr>
                <a:r>
                  <a:rPr lang="zh-CN" altLang="zh-CN" dirty="0">
                    <a:solidFill>
                      <a:srgbClr val="0070C0"/>
                    </a:solidFill>
                  </a:rPr>
                  <a:t>概率质量函数</a:t>
                </a:r>
                <a:r>
                  <a:rPr lang="zh-CN" altLang="zh-CN" dirty="0"/>
                  <a:t>（</a:t>
                </a:r>
                <a:r>
                  <a:rPr lang="en-US" altLang="zh-CN" dirty="0"/>
                  <a:t> Probability mass function, PMF</a:t>
                </a:r>
                <a:r>
                  <a:rPr lang="zh-CN" altLang="zh-CN" dirty="0"/>
                  <a:t>）（分布列） </a:t>
                </a:r>
                <a:r>
                  <a:rPr lang="en-US" altLang="zh-CN" dirty="0"/>
                  <a:t>  </a:t>
                </a:r>
              </a:p>
              <a:p>
                <a:pPr marL="600075" lvl="2" indent="0">
                  <a:buNone/>
                </a:pPr>
                <a14:m>
                  <m:oMath xmlns:m="http://schemas.openxmlformats.org/officeDocument/2006/math"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zh-CN" sz="1650" dirty="0"/>
                  <a:t>的所有可能取值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1650"/>
                      <m:t> </m:t>
                    </m:r>
                    <m:r>
                      <a:rPr lang="zh-CN" altLang="en-US" sz="1650" i="1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sz="1650"/>
                      <m:t>  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650">
                        <a:latin typeface="Cambria Math" panose="02040503050406030204" pitchFamily="18" charset="0"/>
                      </a:rPr>
                      <m:t>=1,2...</m:t>
                    </m:r>
                  </m:oMath>
                </a14:m>
                <a:r>
                  <a:rPr lang="zh-CN" altLang="zh-CN" sz="1650" dirty="0"/>
                  <a:t>，相应的概率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50" dirty="0"/>
                  <a:t>  </a:t>
                </a:r>
                <a:r>
                  <a:rPr lang="zh-CN" altLang="en-US" sz="1650" dirty="0"/>
                  <a:t>，可</a:t>
                </a:r>
                <a:r>
                  <a:rPr lang="zh-CN" altLang="zh-CN" sz="1650" dirty="0"/>
                  <a:t>用列表</a:t>
                </a:r>
                <a:r>
                  <a:rPr lang="zh-CN" altLang="en-US" sz="1650" dirty="0"/>
                  <a:t>或</a:t>
                </a:r>
                <a:r>
                  <a:rPr lang="zh-CN" altLang="zh-CN" sz="1650" dirty="0"/>
                  <a:t>图形表示。</a:t>
                </a:r>
                <a:endParaRPr lang="en-US" altLang="zh-CN" sz="1650" dirty="0"/>
              </a:p>
              <a:p>
                <a:pPr marL="600075" lvl="2" indent="0"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/>
                      <m:t>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=1,2...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1800" dirty="0"/>
                  <a:t>          </a:t>
                </a:r>
                <a:r>
                  <a:rPr lang="en-US" altLang="zh-CN" sz="1800" dirty="0"/>
                  <a:t>b)  </a:t>
                </a:r>
                <a:r>
                  <a:rPr lang="zh-CN" altLang="zh-CN" sz="1800" dirty="0"/>
                  <a:t>分布函数或概率密度函数</a:t>
                </a:r>
                <a:r>
                  <a:rPr lang="en-US" altLang="zh-CN" sz="1800" dirty="0"/>
                  <a:t>  CDF</a:t>
                </a:r>
                <a:r>
                  <a:rPr lang="zh-CN" altLang="en-US" sz="1800" dirty="0"/>
                  <a:t> </a:t>
                </a:r>
                <a:r>
                  <a:rPr lang="en-US" altLang="zh-CN" sz="1800" dirty="0"/>
                  <a:t>  PDF</a:t>
                </a:r>
              </a:p>
              <a:p>
                <a:pPr marL="300038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altLang="zh-CN" sz="16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5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b>
                      <m:sup/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16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6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b>
                      <m:sup/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165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50" dirty="0"/>
                  <a:t>                                            </a:t>
                </a:r>
                <a:endParaRPr lang="en-US" altLang="zh-CN" sz="1650" dirty="0"/>
              </a:p>
              <a:p>
                <a:pPr marL="300038" lvl="1" indent="0">
                  <a:buNone/>
                </a:pPr>
                <a:r>
                  <a:rPr lang="en-US" altLang="zh-CN" sz="1650" dirty="0"/>
                  <a:t>       </a:t>
                </a:r>
                <a:r>
                  <a:rPr lang="zh-CN" altLang="en-US" sz="1650" dirty="0"/>
                  <a:t>相应的：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altLang="zh-CN" sz="16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5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16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US" altLang="zh-CN" sz="165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6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m:rPr>
                        <m:nor/>
                      </m:rPr>
                      <a:rPr lang="en-US" altLang="zh-CN" sz="1650" dirty="0"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sz="165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50" dirty="0"/>
              </a:p>
              <a:p>
                <a:pPr marL="300038" lvl="1" indent="0">
                  <a:buNone/>
                </a:pPr>
                <a:endParaRPr lang="en-US" altLang="zh-CN" sz="1650" dirty="0"/>
              </a:p>
              <a:p>
                <a:pPr marL="300038" lvl="1" indent="0">
                  <a:buNone/>
                </a:pPr>
                <a:r>
                  <a:rPr lang="zh-CN" altLang="en-US" sz="1650" dirty="0"/>
                  <a:t>单位冲激信号                                                    单位阶跃信号</a:t>
                </a:r>
                <a:endParaRPr lang="en-US" altLang="zh-CN" sz="165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6213" y="1390002"/>
                <a:ext cx="8791575" cy="4115449"/>
              </a:xfrm>
              <a:blipFill>
                <a:blip r:embed="rId3"/>
                <a:stretch>
                  <a:fillRect t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A895534B-A730-4E72-984E-C1E2B1C95326}"/>
              </a:ext>
            </a:extLst>
          </p:cNvPr>
          <p:cNvSpPr txBox="1">
            <a:spLocks/>
          </p:cNvSpPr>
          <p:nvPr/>
        </p:nvSpPr>
        <p:spPr bwMode="auto">
          <a:xfrm>
            <a:off x="78572" y="701280"/>
            <a:ext cx="7886700" cy="839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defTabSz="685800"/>
            <a:r>
              <a:rPr lang="en-US" altLang="zh-CN" sz="2700" dirty="0"/>
              <a:t>1.1.2 </a:t>
            </a:r>
            <a:r>
              <a:rPr lang="zh-CN" altLang="en-US" sz="2700" dirty="0"/>
              <a:t>随机变量</a:t>
            </a:r>
            <a:r>
              <a:rPr lang="zh-CN" altLang="zh-CN" sz="2700" dirty="0"/>
              <a:t>及其概率分布</a:t>
            </a:r>
            <a:endParaRPr lang="zh-CN" altLang="en-US" sz="2700" dirty="0">
              <a:latin typeface="黑体"/>
              <a:ea typeface="黑体"/>
            </a:endParaRPr>
          </a:p>
        </p:txBody>
      </p:sp>
      <p:grpSp>
        <p:nvGrpSpPr>
          <p:cNvPr id="6" name="组合 7172"/>
          <p:cNvGrpSpPr>
            <a:grpSpLocks/>
          </p:cNvGrpSpPr>
          <p:nvPr/>
        </p:nvGrpSpPr>
        <p:grpSpPr bwMode="auto">
          <a:xfrm>
            <a:off x="5308532" y="4632579"/>
            <a:ext cx="2391966" cy="1319213"/>
            <a:chOff x="3360" y="960"/>
            <a:chExt cx="2009" cy="1108"/>
          </a:xfrm>
        </p:grpSpPr>
        <p:sp>
          <p:nvSpPr>
            <p:cNvPr id="7" name="直接连接符 7173"/>
            <p:cNvSpPr>
              <a:spLocks noChangeShapeType="1"/>
            </p:cNvSpPr>
            <p:nvPr/>
          </p:nvSpPr>
          <p:spPr bwMode="auto">
            <a:xfrm>
              <a:off x="3360" y="1787"/>
              <a:ext cx="20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srgbClr val="000000"/>
                </a:solidFill>
                <a:latin typeface="仿宋_GB2312"/>
              </a:endParaRPr>
            </a:p>
          </p:txBody>
        </p:sp>
        <p:sp>
          <p:nvSpPr>
            <p:cNvPr id="8" name="直接连接符 7174"/>
            <p:cNvSpPr>
              <a:spLocks noChangeShapeType="1"/>
            </p:cNvSpPr>
            <p:nvPr/>
          </p:nvSpPr>
          <p:spPr bwMode="auto">
            <a:xfrm flipV="1">
              <a:off x="4227" y="1039"/>
              <a:ext cx="0" cy="7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srgbClr val="000000"/>
                </a:solidFill>
                <a:latin typeface="仿宋_GB2312"/>
              </a:endParaRPr>
            </a:p>
          </p:txBody>
        </p:sp>
        <p:sp>
          <p:nvSpPr>
            <p:cNvPr id="9" name="直接连接符 7175"/>
            <p:cNvSpPr>
              <a:spLocks noChangeShapeType="1"/>
            </p:cNvSpPr>
            <p:nvPr/>
          </p:nvSpPr>
          <p:spPr bwMode="auto">
            <a:xfrm>
              <a:off x="4227" y="1511"/>
              <a:ext cx="9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srgbClr val="000000"/>
                </a:solidFill>
                <a:latin typeface="仿宋_GB2312"/>
              </a:endParaRPr>
            </a:p>
          </p:txBody>
        </p:sp>
        <p:sp>
          <p:nvSpPr>
            <p:cNvPr id="10" name="文本框 7176"/>
            <p:cNvSpPr txBox="1">
              <a:spLocks noChangeArrowheads="1"/>
            </p:cNvSpPr>
            <p:nvPr/>
          </p:nvSpPr>
          <p:spPr bwMode="auto">
            <a:xfrm>
              <a:off x="4030" y="1354"/>
              <a:ext cx="26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1">
                  <a:solidFill>
                    <a:srgbClr val="000000"/>
                  </a:solidFill>
                  <a:ea typeface="楷体_GB2312" pitchFamily="49" charset="-122"/>
                </a:rPr>
                <a:t>1</a:t>
              </a:r>
            </a:p>
          </p:txBody>
        </p:sp>
        <p:sp>
          <p:nvSpPr>
            <p:cNvPr id="11" name="文本框 7177"/>
            <p:cNvSpPr txBox="1">
              <a:spLocks noChangeArrowheads="1"/>
            </p:cNvSpPr>
            <p:nvPr/>
          </p:nvSpPr>
          <p:spPr bwMode="auto">
            <a:xfrm>
              <a:off x="4097" y="1758"/>
              <a:ext cx="26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1">
                  <a:solidFill>
                    <a:srgbClr val="000000"/>
                  </a:solidFill>
                  <a:ea typeface="楷体_GB2312" pitchFamily="49" charset="-122"/>
                </a:rPr>
                <a:t>0</a:t>
              </a:r>
            </a:p>
          </p:txBody>
        </p:sp>
        <p:graphicFrame>
          <p:nvGraphicFramePr>
            <p:cNvPr id="12" name="对象 7178"/>
            <p:cNvGraphicFramePr>
              <a:graphicFrameLocks/>
            </p:cNvGraphicFramePr>
            <p:nvPr/>
          </p:nvGraphicFramePr>
          <p:xfrm>
            <a:off x="4266" y="960"/>
            <a:ext cx="353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4" r:id="rId4" imgW="279521" imgH="203288" progId="Equation.DSMT4">
                    <p:embed/>
                  </p:oleObj>
                </mc:Choice>
                <mc:Fallback>
                  <p:oleObj r:id="rId4" imgW="279521" imgH="203288" progId="Equation.DSMT4">
                    <p:embed/>
                    <p:pic>
                      <p:nvPicPr>
                        <p:cNvPr id="12" name="对象 717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6" y="960"/>
                          <a:ext cx="353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7179"/>
            <p:cNvGraphicFramePr>
              <a:graphicFrameLocks/>
            </p:cNvGraphicFramePr>
            <p:nvPr/>
          </p:nvGraphicFramePr>
          <p:xfrm>
            <a:off x="5212" y="1590"/>
            <a:ext cx="14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5" r:id="rId6" imgW="88784" imgH="152202" progId="Equation.DSMT4">
                    <p:embed/>
                  </p:oleObj>
                </mc:Choice>
                <mc:Fallback>
                  <p:oleObj r:id="rId6" imgW="88784" imgH="152202" progId="Equation.DSMT4">
                    <p:embed/>
                    <p:pic>
                      <p:nvPicPr>
                        <p:cNvPr id="13" name="对象 717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2" y="1590"/>
                          <a:ext cx="14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9222"/>
          <p:cNvGrpSpPr>
            <a:grpSpLocks/>
          </p:cNvGrpSpPr>
          <p:nvPr/>
        </p:nvGrpSpPr>
        <p:grpSpPr bwMode="auto">
          <a:xfrm>
            <a:off x="1428210" y="4679043"/>
            <a:ext cx="1782366" cy="1233488"/>
            <a:chOff x="1944" y="714"/>
            <a:chExt cx="1497" cy="1036"/>
          </a:xfrm>
        </p:grpSpPr>
        <p:sp>
          <p:nvSpPr>
            <p:cNvPr id="15" name="直接连接符 9223"/>
            <p:cNvSpPr>
              <a:spLocks noChangeShapeType="1"/>
            </p:cNvSpPr>
            <p:nvPr/>
          </p:nvSpPr>
          <p:spPr bwMode="auto">
            <a:xfrm>
              <a:off x="1944" y="1485"/>
              <a:ext cx="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srgbClr val="000000"/>
                </a:solidFill>
                <a:latin typeface="仿宋_GB2312"/>
              </a:endParaRPr>
            </a:p>
          </p:txBody>
        </p:sp>
        <p:sp>
          <p:nvSpPr>
            <p:cNvPr id="16" name="直接连接符 9224"/>
            <p:cNvSpPr>
              <a:spLocks noChangeShapeType="1"/>
            </p:cNvSpPr>
            <p:nvPr/>
          </p:nvSpPr>
          <p:spPr bwMode="auto">
            <a:xfrm flipV="1">
              <a:off x="2625" y="759"/>
              <a:ext cx="0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srgbClr val="000000"/>
                </a:solidFill>
                <a:latin typeface="仿宋_GB2312"/>
              </a:endParaRPr>
            </a:p>
          </p:txBody>
        </p:sp>
        <p:sp>
          <p:nvSpPr>
            <p:cNvPr id="17" name="直接连接符 9225"/>
            <p:cNvSpPr>
              <a:spLocks noChangeShapeType="1"/>
            </p:cNvSpPr>
            <p:nvPr/>
          </p:nvSpPr>
          <p:spPr bwMode="auto">
            <a:xfrm flipV="1">
              <a:off x="2625" y="1032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srgbClr val="000000"/>
                </a:solidFill>
                <a:latin typeface="仿宋_GB2312"/>
              </a:endParaRPr>
            </a:p>
          </p:txBody>
        </p:sp>
        <p:sp>
          <p:nvSpPr>
            <p:cNvPr id="18" name="文本框 9226"/>
            <p:cNvSpPr txBox="1">
              <a:spLocks noChangeArrowheads="1"/>
            </p:cNvSpPr>
            <p:nvPr/>
          </p:nvSpPr>
          <p:spPr bwMode="auto">
            <a:xfrm>
              <a:off x="2693" y="980"/>
              <a:ext cx="353" cy="271"/>
            </a:xfrm>
            <a:prstGeom prst="rect">
              <a:avLst/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500">
                  <a:solidFill>
                    <a:srgbClr val="000000"/>
                  </a:solidFill>
                  <a:ea typeface="楷体_GB2312" pitchFamily="49" charset="-122"/>
                </a:rPr>
                <a:t>(1</a:t>
              </a:r>
              <a:r>
                <a:rPr lang="en-US" altLang="zh-CN" sz="1500" dirty="0">
                  <a:solidFill>
                    <a:srgbClr val="000000"/>
                  </a:solidFill>
                  <a:ea typeface="楷体_GB2312" pitchFamily="49" charset="-122"/>
                </a:rPr>
                <a:t>)</a:t>
              </a:r>
            </a:p>
          </p:txBody>
        </p:sp>
        <p:sp>
          <p:nvSpPr>
            <p:cNvPr id="19" name="文本框 9227"/>
            <p:cNvSpPr txBox="1">
              <a:spLocks noChangeArrowheads="1"/>
            </p:cNvSpPr>
            <p:nvPr/>
          </p:nvSpPr>
          <p:spPr bwMode="auto">
            <a:xfrm>
              <a:off x="2443" y="1440"/>
              <a:ext cx="26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000000"/>
                  </a:solidFill>
                  <a:ea typeface="楷体_GB2312" pitchFamily="49" charset="-122"/>
                </a:rPr>
                <a:t>0</a:t>
              </a:r>
            </a:p>
          </p:txBody>
        </p:sp>
        <p:graphicFrame>
          <p:nvGraphicFramePr>
            <p:cNvPr id="20" name="对象 9228"/>
            <p:cNvGraphicFramePr>
              <a:graphicFrameLocks/>
            </p:cNvGraphicFramePr>
            <p:nvPr/>
          </p:nvGraphicFramePr>
          <p:xfrm>
            <a:off x="2670" y="714"/>
            <a:ext cx="40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6" r:id="rId8" imgW="292227" imgH="203288" progId="Equation.DSMT4">
                    <p:embed/>
                  </p:oleObj>
                </mc:Choice>
                <mc:Fallback>
                  <p:oleObj r:id="rId8" imgW="292227" imgH="203288" progId="Equation.DSMT4">
                    <p:embed/>
                    <p:pic>
                      <p:nvPicPr>
                        <p:cNvPr id="20" name="对象 92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0" y="714"/>
                          <a:ext cx="40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9229"/>
            <p:cNvGraphicFramePr>
              <a:graphicFrameLocks/>
            </p:cNvGraphicFramePr>
            <p:nvPr/>
          </p:nvGraphicFramePr>
          <p:xfrm>
            <a:off x="3214" y="1258"/>
            <a:ext cx="134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7" r:id="rId10" imgW="88784" imgH="152202" progId="Equation.DSMT4">
                    <p:embed/>
                  </p:oleObj>
                </mc:Choice>
                <mc:Fallback>
                  <p:oleObj r:id="rId10" imgW="88784" imgH="152202" progId="Equation.DSMT4">
                    <p:embed/>
                    <p:pic>
                      <p:nvPicPr>
                        <p:cNvPr id="21" name="对象 922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4" y="1258"/>
                          <a:ext cx="134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2997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285008" y="1920240"/>
                <a:ext cx="8559139" cy="25888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defTabSz="685800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400" dirty="0">
                    <a:solidFill>
                      <a:srgbClr val="0070C0"/>
                    </a:solidFill>
                    <a:highlight>
                      <a:srgbClr val="FFFF00"/>
                    </a:highlight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指数分布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的随机变量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的概率分布函数为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=1−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𝑎𝑥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≥0,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𝑎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&gt;0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试计算：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&gt;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和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&gt;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𝑡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𝑠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|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𝑋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&gt;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𝑠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&gt;0,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&gt;0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，为常数。</m:t>
                    </m:r>
                  </m:oMath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defTabSz="685800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85008" y="1920240"/>
                <a:ext cx="8559139" cy="2588880"/>
              </a:xfrm>
              <a:prstGeom prst="rect">
                <a:avLst/>
              </a:prstGeom>
              <a:blipFill>
                <a:blip r:embed="rId4"/>
                <a:stretch>
                  <a:fillRect l="-1140" r="-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982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93CCCD4-8971-4E4F-8A61-F1D240E1DBB0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0" y="836712"/>
                <a:ext cx="8507287" cy="479441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解：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 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𝑿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&gt;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𝟏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−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𝑿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≤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𝟏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𝒂𝒕</m:t>
                        </m:r>
                      </m:sup>
                    </m:sSup>
                  </m:oMath>
                </a14:m>
                <a:r>
                  <a:rPr lang="en-US" altLang="zh-CN" sz="24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𝑿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&gt;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𝒕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|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𝑿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&gt;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𝑿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𝒕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𝒔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𝑿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𝑿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</m:den>
                      </m:f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𝑿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𝒕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𝒔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𝑿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Microsoft Yahei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ea typeface="Cambria Math" panose="02040503050406030204" pitchFamily="18" charset="0"/>
                    <a:sym typeface="Microsoft Yahei" panose="020B0503020204020204" pitchFamily="34" charset="-122"/>
                  </a:rPr>
                  <a:t>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𝒂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𝒕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𝒔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)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𝒂𝒕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ea typeface="Cambria Math" panose="02040503050406030204" pitchFamily="18" charset="0"/>
                    <a:sym typeface="Microsoft Yahei" panose="020B0503020204020204" pitchFamily="34" charset="-122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𝒂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s</m:t>
                        </m:r>
                      </m:sup>
                    </m:sSup>
                  </m:oMath>
                </a14:m>
                <a:endParaRPr lang="en-US" altLang="zh-CN" sz="2400" dirty="0">
                  <a:solidFill>
                    <a:srgbClr val="000000"/>
                  </a:solidFill>
                  <a:ea typeface="Cambria Math" panose="02040503050406030204" pitchFamily="18" charset="0"/>
                  <a:sym typeface="Microsoft Yahei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highlight>
                      <a:srgbClr val="FFFF00"/>
                    </a:highlight>
                  </a:rPr>
                  <a:t>*  </a:t>
                </a:r>
                <a:r>
                  <a:rPr lang="zh-CN" altLang="en-US" sz="2400" dirty="0">
                    <a:highlight>
                      <a:srgbClr val="FFFF00"/>
                    </a:highlight>
                  </a:rPr>
                  <a:t>指数分布的无记忆性。</a:t>
                </a:r>
                <a:endParaRPr lang="en-US" altLang="zh-CN" sz="24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93CCCD4-8971-4E4F-8A61-F1D240E1D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836712"/>
                <a:ext cx="8507287" cy="4794419"/>
              </a:xfrm>
              <a:blipFill>
                <a:blip r:embed="rId3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123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A0A19-4259-4472-8BDE-77AEA81EF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271" y="1271588"/>
            <a:ext cx="7339124" cy="631207"/>
          </a:xfrm>
        </p:spPr>
        <p:txBody>
          <a:bodyPr/>
          <a:lstStyle/>
          <a:p>
            <a:pPr algn="l"/>
            <a:r>
              <a:rPr lang="en-US" altLang="zh-CN" dirty="0"/>
              <a:t>1.2 </a:t>
            </a:r>
            <a:r>
              <a:rPr lang="zh-CN" altLang="en-US" dirty="0"/>
              <a:t>多维随机变量及其分布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A2BE0B-83B2-45DB-AD4F-54EAEA511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271" y="2030948"/>
            <a:ext cx="7633169" cy="341427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+mj-ea"/>
                <a:ea typeface="+mj-ea"/>
              </a:rPr>
              <a:t>1.2.1 </a:t>
            </a:r>
            <a:r>
              <a:rPr lang="zh-CN" altLang="zh-CN" sz="2400" dirty="0">
                <a:latin typeface="+mj-ea"/>
                <a:ea typeface="+mj-ea"/>
              </a:rPr>
              <a:t>二维联合分布函数和联合</a:t>
            </a:r>
            <a:r>
              <a:rPr lang="en-US" altLang="zh-CN" sz="2400" dirty="0">
                <a:latin typeface="+mj-ea"/>
                <a:ea typeface="+mj-ea"/>
              </a:rPr>
              <a:t>PDF</a:t>
            </a: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+mj-ea"/>
                <a:ea typeface="+mj-ea"/>
              </a:rPr>
              <a:t>1.2.2 </a:t>
            </a:r>
            <a:r>
              <a:rPr lang="zh-CN" altLang="zh-CN" sz="2400" dirty="0">
                <a:latin typeface="+mj-ea"/>
                <a:ea typeface="+mj-ea"/>
              </a:rPr>
              <a:t>边缘分布函数和边缘概率密度</a:t>
            </a:r>
            <a:r>
              <a:rPr lang="en-US" altLang="zh-CN" sz="2400" dirty="0">
                <a:latin typeface="+mj-ea"/>
                <a:ea typeface="+mj-ea"/>
              </a:rPr>
              <a:t> marginal  PDF</a:t>
            </a: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+mj-ea"/>
                <a:ea typeface="+mj-ea"/>
              </a:rPr>
              <a:t>1.2.3 </a:t>
            </a:r>
            <a:r>
              <a:rPr lang="zh-CN" altLang="zh-CN" sz="2400" dirty="0">
                <a:latin typeface="+mj-ea"/>
                <a:ea typeface="+mj-ea"/>
              </a:rPr>
              <a:t>条件分布函数和条件</a:t>
            </a:r>
            <a:r>
              <a:rPr lang="en-US" altLang="zh-CN" sz="2400" dirty="0">
                <a:latin typeface="+mj-ea"/>
                <a:ea typeface="+mj-ea"/>
              </a:rPr>
              <a:t>PDF</a:t>
            </a: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+mj-ea"/>
                <a:ea typeface="+mj-ea"/>
              </a:rPr>
              <a:t>1.2.4 </a:t>
            </a:r>
            <a:r>
              <a:rPr lang="zh-CN" altLang="zh-CN" sz="2400" dirty="0">
                <a:latin typeface="+mj-ea"/>
                <a:ea typeface="+mj-ea"/>
              </a:rPr>
              <a:t>多维随机变量的概率分布</a:t>
            </a:r>
            <a:endParaRPr lang="en-US" altLang="zh-CN" sz="2400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+mj-ea"/>
                <a:ea typeface="+mj-ea"/>
              </a:rPr>
              <a:t>1.2.5 </a:t>
            </a:r>
            <a:r>
              <a:rPr lang="zh-CN" altLang="zh-CN" sz="2400" dirty="0">
                <a:latin typeface="+mj-ea"/>
                <a:ea typeface="+mj-ea"/>
              </a:rPr>
              <a:t>随机变量统计独立的条件</a:t>
            </a:r>
            <a:endParaRPr lang="en-US" altLang="zh-CN" sz="2400" dirty="0">
              <a:latin typeface="+mj-ea"/>
              <a:ea typeface="+mj-ea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0150"/>
            <a:ext cx="76200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94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D812994-7EDD-4272-B897-94009DB0AB49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BC237D-DFD5-46A2-9D4E-11808A952C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1320165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关于多维随机变量，下列说法正确的是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1744F62-BB47-4A9F-8721-3FCC9A47B0A4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2804796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𝑙𝑖𝑚</m:t>
                          </m:r>
                        </m:e>
                        <m:lim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→−∞</m:t>
                          </m:r>
                        </m:lim>
                      </m:limLow>
                      <m:sSub>
                        <m:sSubPr>
                          <m:ctrlPr>
                            <a:rPr lang="zh-CN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zh-CN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𝑙𝑖𝑚</m:t>
                          </m:r>
                        </m:e>
                        <m:lim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→−∞</m:t>
                          </m:r>
                        </m:lim>
                      </m:limLow>
                      <m:sSub>
                        <m:sSubPr>
                          <m:ctrlPr>
                            <a:rPr lang="zh-CN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1744F62-BB47-4A9F-8721-3FCC9A47B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800" y="2804796"/>
                <a:ext cx="6400800" cy="482204"/>
              </a:xfrm>
              <a:prstGeom prst="rect">
                <a:avLst/>
              </a:prstGeom>
              <a:blipFill>
                <a:blip r:embed="rId20"/>
                <a:stretch>
                  <a:fillRect b="-12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322D38A-EB0A-48BC-8B64-BBDD340C1855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3495955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𝑙𝑖𝑚</m:t>
                          </m:r>
                        </m:e>
                        <m:lim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→∞,</m:t>
                          </m:r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sSub>
                        <m:sSubPr>
                          <m:ctrlPr>
                            <a:rPr lang="zh-CN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lang="zh-CN" altLang="zh-CN" sz="2100" dirty="0">
                  <a:solidFill>
                    <a:srgbClr val="000000"/>
                  </a:solidFill>
                  <a:latin typeface="仿宋_GB231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322D38A-EB0A-48BC-8B64-BBDD340C1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3495955"/>
                <a:ext cx="6400800" cy="482204"/>
              </a:xfrm>
              <a:prstGeom prst="rect">
                <a:avLst/>
              </a:prstGeom>
              <a:blipFill>
                <a:blip r:embed="rId22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E37FCA7-8B19-449C-AC2E-18C147D36339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35201" y="4090671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100" dirty="0">
                    <a:solidFill>
                      <a:srgbClr val="000000"/>
                    </a:solidFill>
                    <a:latin typeface="仿宋_GB2312"/>
                  </a:rPr>
                  <a:t>分别对</a:t>
                </a:r>
                <a:r>
                  <a:rPr lang="en-US" altLang="zh-CN" sz="2100" i="1" dirty="0">
                    <a:solidFill>
                      <a:srgbClr val="000000"/>
                    </a:solidFill>
                    <a:latin typeface="仿宋_GB2312"/>
                  </a:rPr>
                  <a:t>x</a:t>
                </a:r>
                <a:r>
                  <a:rPr lang="en-US" altLang="zh-CN" sz="2100" dirty="0">
                    <a:solidFill>
                      <a:srgbClr val="000000"/>
                    </a:solidFill>
                    <a:latin typeface="仿宋_GB2312"/>
                  </a:rPr>
                  <a:t>, </a:t>
                </a:r>
                <a:r>
                  <a:rPr lang="en-US" altLang="zh-CN" sz="2100" i="1" dirty="0">
                    <a:solidFill>
                      <a:srgbClr val="000000"/>
                    </a:solidFill>
                    <a:latin typeface="仿宋_GB2312"/>
                  </a:rPr>
                  <a:t>y</a:t>
                </a:r>
                <a:r>
                  <a:rPr lang="en-US" altLang="zh-CN" sz="2100" dirty="0">
                    <a:solidFill>
                      <a:srgbClr val="000000"/>
                    </a:solidFill>
                    <a:latin typeface="仿宋_GB2312"/>
                  </a:rPr>
                  <a:t> </a:t>
                </a:r>
                <a:r>
                  <a:rPr lang="zh-CN" altLang="zh-CN" sz="2100" dirty="0">
                    <a:solidFill>
                      <a:srgbClr val="000000"/>
                    </a:solidFill>
                    <a:latin typeface="仿宋_GB2312"/>
                  </a:rPr>
                  <a:t>单调不减</a:t>
                </a:r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E37FCA7-8B19-449C-AC2E-18C147D36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35201" y="4090671"/>
                <a:ext cx="6400800" cy="482204"/>
              </a:xfrm>
              <a:prstGeom prst="rect">
                <a:avLst/>
              </a:prstGeom>
              <a:blipFill>
                <a:blip r:embed="rId24"/>
                <a:stretch>
                  <a:fillRect t="-1266" b="-17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7DD3ACD-B533-47D7-B121-DBA2FC65C8B4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828800" y="4781830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nary>
                            <m:naryPr>
                              <m:ctrlPr>
                                <a:rPr lang="zh-CN" altLang="zh-CN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altLang="zh-CN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𝑋𝑌</m:t>
                                  </m:r>
                                </m:sub>
                              </m:sSub>
                              <m:r>
                                <a:rPr lang="en-US" altLang="zh-CN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  <m:r>
                                <a:rPr lang="en-US" altLang="zh-CN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7DD3ACD-B533-47D7-B121-DBA2FC65C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4781830"/>
                <a:ext cx="6400800" cy="482204"/>
              </a:xfrm>
              <a:prstGeom prst="rect">
                <a:avLst/>
              </a:prstGeom>
              <a:blipFill>
                <a:blip r:embed="rId26"/>
                <a:stretch>
                  <a:fillRect t="-15000" b="-2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A6BA40B5-D307-4615-A564-8EC6D57A094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2901237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061B14-95A9-427A-9A42-990BE386869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78719" y="3544174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D25EC4-52F9-473A-BBB1-A55E0B95338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78719" y="4187112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5D27D1-632B-40DD-925A-F2C667970195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78719" y="4830049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3198503-D6F4-41B5-8D08-3123DA7DA43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3981B11-8A9C-4A87-A3ED-524B59C16F8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EDB03B8D-A893-491F-BCCC-19444B88597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93C51966-6E63-479F-A156-3BA6292E391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92BBECC-62FB-422E-A383-FAB8104E97D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28F830E3-BA53-4BB6-AACE-E2801B41373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9662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4E1A18F-8099-4D95-BD8A-CC211474A077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701" y="1786223"/>
                <a:ext cx="8083757" cy="331894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zh-CN" b="1" dirty="0">
                    <a:solidFill>
                      <a:srgbClr val="000000"/>
                    </a:solidFill>
                    <a:latin typeface="仿宋_GB2312"/>
                  </a:rPr>
                  <a:t>随机变量</a:t>
                </a:r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joint PDF</a:t>
                </a:r>
              </a:p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𝑿𝒀</m:t>
                          </m:r>
                        </m:sub>
                      </m:sSub>
                      <m:r>
                        <a:rPr lang="en-US" altLang="zh-CN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sSup>
                                  <m:sSupPr>
                                    <m:ctrlPr>
                                      <a:rPr lang="zh-CN" altLang="zh-CN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altLang="zh-CN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p>
                                </m:sSup>
                                <m:r>
                                  <a:rPr lang="zh-CN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,</m:t>
                                </m:r>
                                <m:r>
                                  <a:rPr lang="en-US" altLang="zh-CN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(</m:t>
                                </m:r>
                                <m:r>
                                  <a:rPr lang="en-US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∞&lt;</m:t>
                                </m:r>
                                <m:r>
                                  <a:rPr lang="en-US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&lt;∞,</m:t>
                                </m:r>
                                <m:r>
                                  <a:rPr lang="en-US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altLang="zh-CN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1">
                                    <a:solidFill>
                                      <a:srgbClr val="000000"/>
                                    </a:solidFill>
                                    <a:latin typeface="仿宋_GB2312"/>
                                  </a:rPr>
                                  <m:t>                 </m:t>
                                </m:r>
                                <m:r>
                                  <a:rPr lang="zh-CN" altLang="zh-CN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b="1" dirty="0">
                    <a:solidFill>
                      <a:srgbClr val="000000"/>
                    </a:solidFill>
                    <a:latin typeface="仿宋_GB2312"/>
                    <a:sym typeface="Microsoft Yahei" panose="020B0503020204020204" pitchFamily="34" charset="-122"/>
                  </a:rPr>
                  <a:t>求</a:t>
                </a:r>
                <a:r>
                  <a:rPr lang="zh-CN" altLang="en-US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：</a:t>
                </a:r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defTabSz="685800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zh-CN" b="1" dirty="0">
                    <a:solidFill>
                      <a:srgbClr val="000000"/>
                    </a:solidFill>
                    <a:latin typeface="仿宋_GB2312"/>
                  </a:rPr>
                  <a:t>常数</a:t>
                </a:r>
                <a:r>
                  <a:rPr lang="en-US" altLang="zh-CN" b="1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zh-CN" altLang="zh-CN" b="1" dirty="0">
                    <a:solidFill>
                      <a:srgbClr val="000000"/>
                    </a:solidFill>
                    <a:latin typeface="仿宋_GB2312"/>
                  </a:rPr>
                  <a:t>、 </a:t>
                </a:r>
                <a:r>
                  <a:rPr lang="zh-CN" altLang="en-US" b="1" dirty="0">
                    <a:solidFill>
                      <a:srgbClr val="000000"/>
                    </a:solidFill>
                    <a:latin typeface="仿宋_GB2312"/>
                  </a:rPr>
                  <a:t>随机变量</a:t>
                </a:r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en-US" b="1" dirty="0">
                    <a:solidFill>
                      <a:srgbClr val="000000"/>
                    </a:solidFill>
                    <a:latin typeface="仿宋_GB2312"/>
                  </a:rPr>
                  <a:t>的</a:t>
                </a:r>
                <a:r>
                  <a:rPr lang="zh-CN" altLang="zh-CN" b="1" dirty="0">
                    <a:solidFill>
                      <a:srgbClr val="000000"/>
                    </a:solidFill>
                    <a:latin typeface="仿宋_GB2312"/>
                  </a:rPr>
                  <a:t>边缘概率密度函数和条件概率密度函数，判断是否统计独立</a:t>
                </a:r>
                <a:r>
                  <a:rPr lang="zh-CN" altLang="en-US" b="1" dirty="0">
                    <a:solidFill>
                      <a:srgbClr val="000000"/>
                    </a:solidFill>
                    <a:latin typeface="仿宋_GB2312"/>
                  </a:rPr>
                  <a:t>。</a:t>
                </a:r>
                <a:endParaRPr lang="en-US" altLang="zh-CN" b="1" dirty="0">
                  <a:solidFill>
                    <a:srgbClr val="000000"/>
                  </a:solidFill>
                  <a:latin typeface="仿宋_GB2312"/>
                </a:endParaRPr>
              </a:p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4E1A18F-8099-4D95-BD8A-CC211474A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635701" y="1786223"/>
                <a:ext cx="8083757" cy="3318940"/>
              </a:xfrm>
              <a:prstGeom prst="rect">
                <a:avLst/>
              </a:prstGeom>
              <a:blipFill>
                <a:blip r:embed="rId13"/>
                <a:stretch>
                  <a:fillRect l="-603" t="-2941" r="-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D1191B7C-B2E8-489E-BA18-1CEB223164A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3BD9E4-9EE6-4C4E-A711-3E0456237698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56406DD-C561-4455-85E6-2737E9593B1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0FE2FB62-BC4D-46B5-8E70-44DA7E7CBC2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602201B-6783-475E-9B53-1DC5A2A4656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A667FCAB-D462-480A-91D9-71DF64DD768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C3E6576F-0771-47A3-ADCB-6A74A7F1DD3D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5CB5F9F-56AE-4584-BF88-1D6411D66A1F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259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E7E13CA-520D-43FC-8748-F650DC16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857251"/>
            <a:ext cx="7886700" cy="839744"/>
          </a:xfrm>
        </p:spPr>
        <p:txBody>
          <a:bodyPr>
            <a:normAutofit/>
          </a:bodyPr>
          <a:lstStyle/>
          <a:p>
            <a:r>
              <a:rPr lang="en-US" altLang="zh-CN" dirty="0"/>
              <a:t>1.2 .1 </a:t>
            </a:r>
            <a:r>
              <a:rPr lang="zh-CN" altLang="zh-CN" dirty="0">
                <a:latin typeface="+mj-ea"/>
              </a:rPr>
              <a:t>二维联合分布函数和联合</a:t>
            </a:r>
            <a:r>
              <a:rPr lang="en-US" altLang="zh-CN" dirty="0">
                <a:latin typeface="+mj-ea"/>
              </a:rPr>
              <a:t>PDF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0C17C6F-B344-4101-A4BA-0A43C316B3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687" y="1696994"/>
                <a:ext cx="8590547" cy="3861596"/>
              </a:xfrm>
            </p:spPr>
            <p:txBody>
              <a:bodyPr>
                <a:normAutofit fontScale="85000" lnSpcReduction="20000"/>
              </a:bodyPr>
              <a:lstStyle/>
              <a:p>
                <a:pPr marL="385763" indent="-385763">
                  <a:buFont typeface="+mj-lt"/>
                  <a:buAutoNum type="arabicPeriod"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定义：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   </a:t>
                </a:r>
                <a:r>
                  <a:rPr lang="zh-CN" altLang="zh-CN" dirty="0"/>
                  <a:t>二维随机变量（</a:t>
                </a:r>
                <a:r>
                  <a:rPr lang="en-US" altLang="zh-CN" i="1" dirty="0"/>
                  <a:t>X</a:t>
                </a:r>
                <a:r>
                  <a:rPr lang="zh-CN" altLang="zh-CN" dirty="0"/>
                  <a:t>，</a:t>
                </a:r>
                <a:r>
                  <a:rPr lang="en-US" altLang="zh-CN" i="1" dirty="0"/>
                  <a:t>Y</a:t>
                </a:r>
                <a:r>
                  <a:rPr lang="zh-CN" altLang="zh-CN" dirty="0"/>
                  <a:t>）</a:t>
                </a:r>
                <a:r>
                  <a:rPr lang="en-US" altLang="zh-CN" dirty="0"/>
                  <a:t>, </a:t>
                </a:r>
                <a:r>
                  <a:rPr lang="zh-CN" altLang="zh-CN" dirty="0"/>
                  <a:t>任意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,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 </a:t>
                </a:r>
                <a:r>
                  <a:rPr lang="zh-CN" altLang="zh-CN" dirty="0"/>
                  <a:t>事件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}∈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zh-CN" dirty="0"/>
                  <a:t>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}∈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zh-CN" dirty="0"/>
                  <a:t>同时发生的概率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为（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,</a:t>
                </a:r>
                <a:r>
                  <a:rPr lang="en-US" altLang="zh-CN" i="1" dirty="0"/>
                  <a:t>Y</a:t>
                </a:r>
                <a:r>
                  <a:rPr lang="zh-CN" altLang="zh-CN" dirty="0"/>
                  <a:t>）的联合分布函数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zh-CN" dirty="0"/>
                  <a:t>其导数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为联合</a:t>
                </a:r>
                <a:r>
                  <a:rPr lang="en-US" altLang="zh-CN" dirty="0"/>
                  <a:t>PDF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 CDF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PDF</a:t>
                </a:r>
                <a:r>
                  <a:rPr lang="zh-CN" altLang="en-US" dirty="0"/>
                  <a:t>的</a:t>
                </a:r>
                <a:r>
                  <a:rPr lang="zh-CN" altLang="zh-CN" dirty="0"/>
                  <a:t>关系</a:t>
                </a:r>
                <a:r>
                  <a:rPr lang="zh-CN" altLang="en-US" dirty="0"/>
                  <a:t>： 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𝑑𝑢𝑑𝑣</m:t>
                            </m:r>
                          </m:e>
                        </m:nary>
                      </m:e>
                    </m:nary>
                  </m:oMath>
                </a14:m>
                <a:endParaRPr lang="zh-CN" altLang="zh-CN" dirty="0"/>
              </a:p>
              <a:p>
                <a:pPr marL="385763" indent="-385763">
                  <a:buFont typeface="+mj-lt"/>
                  <a:buAutoNum type="arabicPeriod" startAt="2"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性质</a:t>
                </a:r>
                <a:r>
                  <a:rPr lang="en-US" altLang="zh-CN" dirty="0"/>
                  <a:t>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zh-CN" dirty="0"/>
                  <a:t>〈</a:t>
                </a:r>
                <a:r>
                  <a:rPr lang="en-US" altLang="zh-CN" dirty="0"/>
                  <a:t>1</a:t>
                </a:r>
                <a:r>
                  <a:rPr lang="zh-CN" altLang="zh-CN" dirty="0"/>
                  <a:t>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分别对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,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 </a:t>
                </a:r>
                <a:r>
                  <a:rPr lang="zh-CN" altLang="zh-CN" dirty="0"/>
                  <a:t>单调不减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zh-CN" dirty="0"/>
                  <a:t>〈</a:t>
                </a:r>
                <a:r>
                  <a:rPr lang="en-US" altLang="zh-CN" dirty="0"/>
                  <a:t>2</a:t>
                </a:r>
                <a:r>
                  <a:rPr lang="zh-CN" altLang="zh-CN" dirty="0"/>
                  <a:t>〉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→−∞</m:t>
                        </m:r>
                      </m:lim>
                    </m:limLow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→−∞</m:t>
                        </m:r>
                      </m:lim>
                    </m:limLow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altLang="zh-CN" dirty="0"/>
                  <a:t> ,   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zh-CN" dirty="0"/>
                  <a:t>〈</a:t>
                </a:r>
                <a:r>
                  <a:rPr lang="en-US" altLang="zh-CN" dirty="0"/>
                  <a:t>3</a:t>
                </a:r>
                <a:r>
                  <a:rPr lang="zh-CN" altLang="zh-CN" dirty="0"/>
                  <a:t>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)≤1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𝑑𝑥𝑑𝑦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nary>
                      </m:e>
                    </m:nary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0C17C6F-B344-4101-A4BA-0A43C316B3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687" y="1696994"/>
                <a:ext cx="8590547" cy="3861596"/>
              </a:xfrm>
              <a:blipFill>
                <a:blip r:embed="rId2"/>
                <a:stretch>
                  <a:fillRect l="-497" t="-1893" b="-153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58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E7E13CA-520D-43FC-8748-F650DC16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4624"/>
            <a:ext cx="7886700" cy="839744"/>
          </a:xfrm>
        </p:spPr>
        <p:txBody>
          <a:bodyPr>
            <a:normAutofit/>
          </a:bodyPr>
          <a:lstStyle/>
          <a:p>
            <a:r>
              <a:rPr lang="zh-CN" altLang="zh-CN" dirty="0">
                <a:latin typeface="+mj-ea"/>
              </a:rPr>
              <a:t>二维</a:t>
            </a:r>
            <a:r>
              <a:rPr lang="zh-CN" altLang="en-US" dirty="0">
                <a:latin typeface="+mj-ea"/>
              </a:rPr>
              <a:t>正态分布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442EB9D-25F6-4EE4-B242-F12BFE084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836712"/>
            <a:ext cx="84201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00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A0503-1F94-4E4D-A44B-E006F8A9F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45" y="488652"/>
            <a:ext cx="7886700" cy="839744"/>
          </a:xfrm>
        </p:spPr>
        <p:txBody>
          <a:bodyPr>
            <a:normAutofit/>
          </a:bodyPr>
          <a:lstStyle/>
          <a:p>
            <a:r>
              <a:rPr lang="en-US" altLang="zh-CN" dirty="0"/>
              <a:t>1.2.2  </a:t>
            </a:r>
            <a:r>
              <a:rPr lang="zh-CN" altLang="zh-CN" dirty="0"/>
              <a:t>边缘分布函数和边缘概率密度</a:t>
            </a:r>
            <a:r>
              <a:rPr lang="en-US" altLang="zh-CN" dirty="0"/>
              <a:t> marginal  PDF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622FCE-66E2-4981-A5E5-F1AAF2501B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8759" y="1484784"/>
                <a:ext cx="8603721" cy="4063338"/>
              </a:xfrm>
            </p:spPr>
            <p:txBody>
              <a:bodyPr>
                <a:normAutofit/>
              </a:bodyPr>
              <a:lstStyle/>
              <a:p>
                <a:pPr marL="42863" indent="0">
                  <a:buClr>
                    <a:schemeClr val="accent1">
                      <a:lumMod val="50000"/>
                    </a:schemeClr>
                  </a:buClr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1.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连续变量：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关于</a:t>
                </a:r>
                <a:r>
                  <a:rPr lang="en-US" altLang="zh-CN" i="1" dirty="0"/>
                  <a:t>X</a:t>
                </a:r>
                <a:r>
                  <a:rPr lang="zh-CN" altLang="zh-CN" dirty="0"/>
                  <a:t>的边缘分布函数和边缘</a:t>
                </a:r>
                <a:r>
                  <a:rPr lang="en-US" altLang="zh-CN" dirty="0"/>
                  <a:t>PDF </a:t>
                </a:r>
                <a:endParaRPr lang="zh-CN" altLang="zh-CN" dirty="0"/>
              </a:p>
              <a:p>
                <a:pPr marL="300038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,∞)=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𝑑𝑢</m:t>
                        </m:r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关于</a:t>
                </a:r>
                <a:r>
                  <a:rPr lang="en-US" altLang="zh-CN" i="1" dirty="0"/>
                  <a:t>Y</a:t>
                </a:r>
                <a:r>
                  <a:rPr lang="zh-CN" altLang="zh-CN" dirty="0"/>
                  <a:t>的边缘分布函数和边缘</a:t>
                </a:r>
                <a:r>
                  <a:rPr lang="en-US" altLang="zh-CN" dirty="0"/>
                  <a:t>PDF  </a:t>
                </a:r>
                <a:endParaRPr lang="zh-CN" altLang="zh-CN" dirty="0"/>
              </a:p>
              <a:p>
                <a:pPr marL="300038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∞,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𝑑𝑣</m:t>
                        </m:r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pPr marL="42863" indent="0">
                  <a:buClr>
                    <a:schemeClr val="accent1">
                      <a:lumMod val="50000"/>
                    </a:schemeClr>
                  </a:buClr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2. 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离散变量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:</a:t>
                </a:r>
                <a:endParaRPr lang="zh-CN" altLang="zh-CN" dirty="0">
                  <a:solidFill>
                    <a:srgbClr val="FF0000"/>
                  </a:solidFill>
                </a:endParaRPr>
              </a:p>
              <a:p>
                <a:pPr marL="300038" lvl="1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}=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dirty="0"/>
                  <a:t> ,   </a:t>
                </a:r>
                <a:r>
                  <a:rPr lang="zh-CN" altLang="zh-CN" dirty="0"/>
                  <a:t>则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⋅</m:t>
                        </m:r>
                      </m:sub>
                    </m:sSub>
                    <m:r>
                      <m:rPr>
                        <m:nor/>
                      </m:rPr>
                      <a:rPr lang="en-US" altLang="zh-CN"/>
                      <m:t>  </m:t>
                    </m:r>
                    <m:r>
                      <m:rPr>
                        <m:nor/>
                      </m:rPr>
                      <a:rPr lang="en-US" altLang="zh-CN" b="1" i="0" smtClean="0"/>
                      <m:t>,</m:t>
                    </m:r>
                    <m:r>
                      <m:rPr>
                        <m:nor/>
                      </m:rPr>
                      <a:rPr lang="en-US" altLang="zh-CN"/>
                      <m:t>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300038" lvl="1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=1,2,…</m:t>
                    </m:r>
                  </m:oMath>
                </a14:m>
                <a:endParaRPr lang="zh-CN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622FCE-66E2-4981-A5E5-F1AAF2501B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8759" y="1484784"/>
                <a:ext cx="8603721" cy="4063338"/>
              </a:xfrm>
              <a:blipFill>
                <a:blip r:embed="rId2"/>
                <a:stretch>
                  <a:fillRect l="-850" t="-1502" b="-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896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CDEA8-CECE-4FAA-BDBC-B7943F155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4664"/>
            <a:ext cx="7886700" cy="839744"/>
          </a:xfrm>
        </p:spPr>
        <p:txBody>
          <a:bodyPr/>
          <a:lstStyle/>
          <a:p>
            <a:r>
              <a:rPr lang="en-US" altLang="zh-CN" dirty="0"/>
              <a:t>1.2.3 </a:t>
            </a:r>
            <a:r>
              <a:rPr lang="zh-CN" altLang="zh-CN" dirty="0"/>
              <a:t>条件分布函数和条件</a:t>
            </a:r>
            <a:r>
              <a:rPr lang="en-US" altLang="zh-CN" dirty="0"/>
              <a:t>PDF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3A0C5A-BD27-49DA-922D-4E1FDA3361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037" y="1534144"/>
                <a:ext cx="8772896" cy="4212770"/>
              </a:xfrm>
            </p:spPr>
            <p:txBody>
              <a:bodyPr>
                <a:normAutofit fontScale="92500" lnSpcReduction="10000"/>
              </a:bodyPr>
              <a:lstStyle/>
              <a:p>
                <a:pPr marL="385763" indent="-385763">
                  <a:buFont typeface="+mj-lt"/>
                  <a:buAutoNum type="arabicPeriod"/>
                </a:pPr>
                <a:r>
                  <a:rPr lang="zh-CN" altLang="en-US" sz="2625" dirty="0">
                    <a:solidFill>
                      <a:srgbClr val="FF0000"/>
                    </a:solidFill>
                  </a:rPr>
                  <a:t>连续随机变量</a:t>
                </a:r>
                <a:endParaRPr lang="en-US" altLang="zh-CN" sz="2625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zh-CN" dirty="0"/>
                  <a:t>条件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zh-CN" dirty="0"/>
                  <a:t>的条件分布函数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}=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}=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}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zh-CN" dirty="0"/>
                  <a:t>条件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zh-CN" dirty="0"/>
                  <a:t>的条件分布函数和条件</a:t>
                </a:r>
                <a:r>
                  <a:rPr lang="en-US" altLang="zh-CN" dirty="0"/>
                  <a:t>PDF</a:t>
                </a:r>
                <a:endParaRPr lang="zh-CN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}=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𝑑𝑣</m:t>
                            </m:r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dirty="0"/>
                  <a:t>  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m:rPr>
                        <m:nor/>
                      </m:rPr>
                      <a:rPr lang="en-US" altLang="zh-CN"/>
                      <m:t>   </m:t>
                    </m:r>
                    <m:r>
                      <m:rPr>
                        <m:nor/>
                      </m:rPr>
                      <a:rPr lang="en-US" altLang="zh-CN" b="1" i="0" smtClean="0"/>
                      <m:t>,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其中</m:t>
                    </m:r>
                    <m:r>
                      <m:rPr>
                        <m:nor/>
                      </m:rPr>
                      <a:rPr lang="en-US" altLang="zh-CN"/>
                      <m:t>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故</a:t>
                </a:r>
                <a:r>
                  <a:rPr lang="en-US" altLang="zh-CN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)⋅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  <a:r>
                  <a:rPr lang="zh-CN" altLang="zh-CN" dirty="0"/>
                  <a:t>与两事件的条件概率对应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</a:t>
                </a: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|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)⋅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3A0C5A-BD27-49DA-922D-4E1FDA3361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037" y="1534144"/>
                <a:ext cx="8772896" cy="4212770"/>
              </a:xfrm>
              <a:blipFill>
                <a:blip r:embed="rId3"/>
                <a:stretch>
                  <a:fillRect l="-973" t="-1592" b="-12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74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70F78-42CD-44C8-85AC-FD81271C5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953934"/>
            <a:ext cx="7886700" cy="839744"/>
          </a:xfrm>
        </p:spPr>
        <p:txBody>
          <a:bodyPr/>
          <a:lstStyle/>
          <a:p>
            <a:r>
              <a:rPr lang="en-US" altLang="zh-CN" dirty="0"/>
              <a:t>1.2.3 </a:t>
            </a:r>
            <a:r>
              <a:rPr lang="zh-CN" altLang="zh-CN" dirty="0"/>
              <a:t>条件分布函数和条件</a:t>
            </a:r>
            <a:r>
              <a:rPr lang="en-US" altLang="zh-CN" dirty="0"/>
              <a:t>PDF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DB1647-7603-46E5-ACBF-95440591D6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899310"/>
                <a:ext cx="7772400" cy="3744824"/>
              </a:xfrm>
            </p:spPr>
            <p:txBody>
              <a:bodyPr>
                <a:normAutofit fontScale="85000" lnSpcReduction="20000"/>
              </a:bodyPr>
              <a:lstStyle/>
              <a:p>
                <a:pPr marL="385763" indent="-385763">
                  <a:buFont typeface="+mj-lt"/>
                  <a:buAutoNum type="arabicPeriod" startAt="2"/>
                </a:pPr>
                <a:r>
                  <a:rPr lang="zh-CN" altLang="en-US" sz="2550" b="0" dirty="0">
                    <a:solidFill>
                      <a:srgbClr val="FF0000"/>
                    </a:solidFill>
                  </a:rPr>
                  <a:t>离散随机变量</a:t>
                </a:r>
                <a:endParaRPr lang="en-US" altLang="zh-CN" sz="2550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       </a:t>
                </a:r>
                <a:r>
                  <a:rPr lang="zh-CN" altLang="zh-CN" dirty="0"/>
                  <a:t>为条件分布律</a:t>
                </a:r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sz="2550" b="0" dirty="0">
                    <a:solidFill>
                      <a:srgbClr val="FF0000"/>
                    </a:solidFill>
                  </a:rPr>
                  <a:t>3.     </a:t>
                </a:r>
                <a:r>
                  <a:rPr lang="zh-CN" altLang="en-US" sz="2550" b="0" dirty="0">
                    <a:solidFill>
                      <a:srgbClr val="FF0000"/>
                    </a:solidFill>
                  </a:rPr>
                  <a:t>随机变量的全概率公式</a:t>
                </a:r>
                <a:endParaRPr lang="en-US" altLang="zh-CN" sz="2550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sz="2550" b="0" dirty="0">
                    <a:solidFill>
                      <a:srgbClr val="FF0000"/>
                    </a:solidFill>
                  </a:rPr>
                  <a:t>4.     </a:t>
                </a:r>
                <a:r>
                  <a:rPr lang="zh-CN" altLang="en-US" sz="2550" b="0" dirty="0">
                    <a:solidFill>
                      <a:srgbClr val="FF0000"/>
                    </a:solidFill>
                  </a:rPr>
                  <a:t>随机变量的贝叶斯公式</a:t>
                </a:r>
                <a:endParaRPr lang="en-US" altLang="zh-CN" sz="2550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DB1647-7603-46E5-ACBF-95440591D6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899310"/>
                <a:ext cx="7772400" cy="3744824"/>
              </a:xfrm>
              <a:blipFill>
                <a:blip r:embed="rId2"/>
                <a:stretch>
                  <a:fillRect l="-1020" t="-2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7289DFBC-CDBD-4607-A0CB-7ED940BA3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1" y="2389290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350">
              <a:solidFill>
                <a:srgbClr val="000000"/>
              </a:solidFill>
              <a:latin typeface="仿宋_GB2312"/>
            </a:endParaRPr>
          </a:p>
        </p:txBody>
      </p:sp>
    </p:spTree>
    <p:extLst>
      <p:ext uri="{BB962C8B-B14F-4D97-AF65-F5344CB8AC3E}">
        <p14:creationId xmlns:p14="http://schemas.microsoft.com/office/powerpoint/2010/main" val="376136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93AA2-CDA7-42D7-8340-FC5D28B3F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1.2.4 </a:t>
            </a:r>
            <a:r>
              <a:rPr lang="zh-CN" altLang="zh-CN" dirty="0"/>
              <a:t>多维随机变量的概率分布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3B3DED-88BE-4AF4-90AE-1E5AFC936C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56792"/>
                <a:ext cx="7992243" cy="432650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dirty="0"/>
                  <a:t>多维随机变量的概率分布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,...,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x-none" altLang="zh-CN" dirty="0">
                    <a:solidFill>
                      <a:srgbClr val="FF0000"/>
                    </a:solidFill>
                  </a:rPr>
                  <a:t>1.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联合概率分布函数 与联合概率密度函数的关系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CDF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：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....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,...,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/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nary>
                          <m:nary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sSub>
                              <m:sSub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...</m:t>
                            </m:r>
                            <m:nary>
                              <m:nary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p>
                              <m:e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,...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.....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PDF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：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....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....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...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3B3DED-88BE-4AF4-90AE-1E5AFC936C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56792"/>
                <a:ext cx="7992243" cy="4326508"/>
              </a:xfrm>
              <a:blipFill>
                <a:blip r:embed="rId2"/>
                <a:stretch>
                  <a:fillRect l="-915" t="-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88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ED6AB-EDF7-4D4B-BD86-3B0947DC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1.2.4 </a:t>
            </a:r>
            <a:r>
              <a:rPr lang="zh-CN" altLang="zh-CN" dirty="0"/>
              <a:t>多维随机变量的概率分布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56C8C3-BE90-46BC-A44D-F1627AE98E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1752" y="2078831"/>
                <a:ext cx="8469630" cy="373850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FF0000"/>
                    </a:solidFill>
                  </a:rPr>
                  <a:t>2.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边缘分布和条件分布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x-none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,...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.,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,....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,....,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...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,...,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FF0000"/>
                    </a:solidFill>
                  </a:rPr>
                  <a:t>3.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链式法则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...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)⋅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)⋅⋅⋅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                                    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...,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...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56C8C3-BE90-46BC-A44D-F1627AE98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752" y="2078831"/>
                <a:ext cx="8469630" cy="3738507"/>
              </a:xfrm>
              <a:blipFill>
                <a:blip r:embed="rId2"/>
                <a:stretch>
                  <a:fillRect l="-864" t="-1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29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347B8-80FE-4E0F-8772-6A75D4FA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1.2.5 </a:t>
            </a:r>
            <a:r>
              <a:rPr lang="zh-CN" altLang="zh-CN" dirty="0"/>
              <a:t>随机变量统计独立的条件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D4D9417-F737-4E8A-8C50-B8A24AFEB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6119" y="1628800"/>
                <a:ext cx="8251761" cy="3816424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dirty="0"/>
                  <a:t>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/>
                  <a:t>，</a:t>
                </a:r>
                <a:r>
                  <a:rPr lang="en-US" altLang="zh-CN" sz="18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；</a:t>
                </a:r>
                <a:r>
                  <a:rPr lang="en-US" altLang="zh-CN" sz="1800" dirty="0"/>
                  <a:t> </a:t>
                </a:r>
                <a:endParaRPr lang="zh-CN" altLang="zh-CN" sz="18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,...,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)⋅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)⋅⋅⋅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...,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dirty="0">
                    <a:highlight>
                      <a:srgbClr val="FFFF00"/>
                    </a:highlight>
                  </a:rPr>
                  <a:t>相互统计独立。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D4D9417-F737-4E8A-8C50-B8A24AFEB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6119" y="1628800"/>
                <a:ext cx="8251761" cy="3816424"/>
              </a:xfrm>
              <a:blipFill>
                <a:blip r:embed="rId3"/>
                <a:stretch>
                  <a:fillRect l="-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12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1D93F-CDF9-4B4B-A7DB-503B7352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857251"/>
            <a:ext cx="7886700" cy="839744"/>
          </a:xfrm>
        </p:spPr>
        <p:txBody>
          <a:bodyPr/>
          <a:lstStyle/>
          <a:p>
            <a:r>
              <a:rPr lang="en-US" altLang="zh-CN" dirty="0"/>
              <a:t>1.2   </a:t>
            </a:r>
            <a:r>
              <a:rPr lang="zh-CN" altLang="en-US" dirty="0"/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20D6154-E394-4C6C-AA7D-72ECAAC105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288" y="1611630"/>
                <a:ext cx="8612579" cy="404622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zh-CN" altLang="zh-CN" dirty="0"/>
                  <a:t>随机变量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,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,  joint PDF,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  <m:r>
                                <a:rPr lang="zh-CN" altLang="zh-CN" i="1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&gt;|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US" altLang="zh-CN"/>
                                <m:t>    </m:t>
                              </m:r>
                              <m:r>
                                <a:rPr lang="en-US" altLang="zh-CN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∞&lt;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&lt;∞,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&gt;0)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en-US" altLang="zh-CN"/>
                                <m:t>                                    </m:t>
                              </m:r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其它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</a:t>
                </a:r>
                <a:endParaRPr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lang="zh-CN" altLang="en-US" b="0" dirty="0">
                    <a:solidFill>
                      <a:srgbClr val="000000"/>
                    </a:solidFill>
                    <a:latin typeface="楷体" panose="02010609060101010101" pitchFamily="49" charset="-122"/>
                    <a:sym typeface="Microsoft Yahei" panose="020B0503020204020204" pitchFamily="34" charset="-122"/>
                  </a:rPr>
                  <a:t>求：</a:t>
                </a:r>
                <a:r>
                  <a:rPr lang="zh-CN" altLang="zh-CN" dirty="0"/>
                  <a:t>常数</a:t>
                </a:r>
                <a:r>
                  <a:rPr lang="en-US" altLang="zh-CN" i="1" dirty="0"/>
                  <a:t>A</a:t>
                </a:r>
                <a:r>
                  <a:rPr lang="zh-CN" altLang="zh-CN" dirty="0"/>
                  <a:t>、 边缘概率密度函数和条件概率密度函数，判断是否统计独立</a:t>
                </a:r>
                <a:r>
                  <a:rPr lang="zh-CN" altLang="en-US" dirty="0"/>
                  <a:t>。</a:t>
                </a:r>
                <a:endParaRPr lang="zh-CN" altLang="en-US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r>
                  <a:rPr lang="en-US" altLang="zh-CN" dirty="0"/>
                  <a:t>1</a:t>
                </a:r>
                <a:r>
                  <a:rPr lang="zh-CN" altLang="zh-CN" dirty="0"/>
                  <a:t>）求</a:t>
                </a:r>
                <a:r>
                  <a:rPr lang="en-US" altLang="zh-CN" i="1" dirty="0"/>
                  <a:t>A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zh-CN" dirty="0"/>
                  <a:t>利用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𝑑𝑥𝑑𝑦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nary>
                      </m:e>
                    </m:nary>
                  </m:oMath>
                </a14:m>
                <a:r>
                  <a:rPr lang="zh-CN" altLang="zh-CN" dirty="0"/>
                  <a:t>，有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𝑑𝑦</m:t>
                        </m:r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⋅</m:t>
                        </m:r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𝐴𝑦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                         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d>
                          <m:dPr>
                            <m:begChr m:val="|"/>
                            <m:endChr m:val="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  <m:sup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nary>
                              <m:nary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e>
                            </m:nary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zh-CN" dirty="0"/>
                  <a:t>故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20D6154-E394-4C6C-AA7D-72ECAAC105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288" y="1611630"/>
                <a:ext cx="8612579" cy="4046220"/>
              </a:xfrm>
              <a:blipFill>
                <a:blip r:embed="rId2"/>
                <a:stretch>
                  <a:fillRect l="-849" t="-1054" b="-17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52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205017-414F-4172-8208-B2C1A2451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972" y="1026474"/>
                <a:ext cx="8927156" cy="4711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2</a:t>
                </a:r>
                <a:r>
                  <a:rPr lang="zh-CN" altLang="zh-CN" dirty="0"/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9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9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95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sz="195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sz="19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9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zh-CN" altLang="zh-CN" sz="19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195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nary>
                                    <m:naryPr>
                                      <m:ctrlPr>
                                        <a:rPr lang="zh-CN" altLang="zh-CN" sz="19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zh-CN" altLang="zh-CN" sz="19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zh-CN" altLang="zh-CN" sz="19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p>
                                      </m:sSup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𝑑𝑦</m:t>
                                      </m:r>
                                    </m:e>
                                  </m:nary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>
                                    <m:fPr>
                                      <m:ctrlPr>
                                        <a:rPr lang="zh-CN" altLang="zh-CN" sz="19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zh-CN" altLang="zh-CN" sz="19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&gt;0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nary>
                                    <m:naryPr>
                                      <m:ctrlPr>
                                        <a:rPr lang="zh-CN" altLang="zh-CN" sz="19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zh-CN" altLang="zh-CN" sz="19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zh-CN" altLang="zh-CN" sz="19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p>
                                      </m:sSup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𝑑𝑦</m:t>
                                      </m:r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f>
                                        <m:fPr>
                                          <m:ctrlPr>
                                            <a:rPr lang="zh-CN" altLang="zh-CN" sz="19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zh-CN" altLang="zh-CN" sz="19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p>
                                      </m:sSup>
                                      <m:r>
                                        <a:rPr lang="en-US" altLang="zh-CN" sz="195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begChr m:val="（"/>
                                          <m:endChr m:val="）"/>
                                          <m:ctrlPr>
                                            <a:rPr lang="zh-CN" altLang="zh-CN" sz="19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1950" i="1">
                                              <a:latin typeface="Cambria Math" panose="02040503050406030204" pitchFamily="18" charset="0"/>
                                            </a:rPr>
                                            <m:t>&lt;0</m:t>
                                          </m:r>
                                        </m:e>
                                      </m:d>
                                    </m:e>
                                  </m:nary>
                                </m:e>
                              </m:mr>
                            </m:m>
                          </m:e>
                        </m:d>
                      </m:e>
                    </m:nary>
                    <m:r>
                      <a:rPr lang="zh-CN" altLang="zh-CN" sz="1950" i="1">
                        <a:latin typeface="Cambria Math" panose="02040503050406030204" pitchFamily="18" charset="0"/>
                      </a:rPr>
                      <m:t>＝</m:t>
                    </m:r>
                    <m:f>
                      <m:fPr>
                        <m:ctrlPr>
                          <a:rPr lang="zh-CN" altLang="zh-CN" sz="19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zh-CN" sz="19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19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p>
                    </m:sSup>
                    <m:r>
                      <m:rPr>
                        <m:nor/>
                      </m:rPr>
                      <a:rPr lang="en-US" altLang="zh-CN" sz="1950"/>
                      <m:t>  </m:t>
                    </m:r>
                  </m:oMath>
                </a14:m>
                <a:endParaRPr lang="en-US" altLang="zh-CN" sz="1950" dirty="0"/>
              </a:p>
              <a:p>
                <a:pPr marL="0" indent="0">
                  <a:buNone/>
                </a:pPr>
                <a:r>
                  <a:rPr lang="en-US" altLang="zh-CN" sz="1950" dirty="0"/>
                  <a:t>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950"/>
                      <m:t> </m:t>
                    </m:r>
                    <m:r>
                      <a:rPr lang="en-US" altLang="zh-CN" sz="19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−∞&lt;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&lt;∞)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或</a:t>
                </a: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0.5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=0.5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p>
                        </m:sSup>
                      </m:e>
                    </m:nary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3</a:t>
                </a:r>
                <a:r>
                  <a:rPr lang="zh-CN" altLang="zh-CN" dirty="0"/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</m:e>
                    </m:nary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nary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nor/>
                      </m:rPr>
                      <a:rPr lang="en-US" altLang="zh-CN"/>
                      <m:t>        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可见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zh-CN" altLang="zh-CN" dirty="0"/>
                  <a:t>故</a:t>
                </a:r>
                <a:r>
                  <a:rPr lang="en-US" altLang="zh-CN" i="1" dirty="0"/>
                  <a:t>X</a:t>
                </a:r>
                <a:r>
                  <a:rPr lang="zh-CN" altLang="zh-CN" dirty="0"/>
                  <a:t>、</a:t>
                </a:r>
                <a:r>
                  <a:rPr lang="en-US" altLang="zh-CN" i="1" dirty="0"/>
                  <a:t>Y</a:t>
                </a:r>
                <a:r>
                  <a:rPr lang="zh-CN" altLang="zh-CN" dirty="0"/>
                  <a:t>并不是统计独立的。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4</a:t>
                </a:r>
                <a:r>
                  <a:rPr lang="zh-CN" altLang="zh-CN" dirty="0"/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）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nor/>
                      </m:rPr>
                      <a:rPr lang="en-US" altLang="zh-CN"/>
                      <m:t>     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/>
                      <m:t>    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）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 =0.5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altLang="zh-CN"/>
                      <m:t>     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/>
                      <m:t>    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205017-414F-4172-8208-B2C1A2451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972" y="1026474"/>
                <a:ext cx="8927156" cy="4711535"/>
              </a:xfrm>
              <a:blipFill>
                <a:blip r:embed="rId2"/>
                <a:stretch>
                  <a:fillRect l="-8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89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969ED-D217-4CA9-AA72-5DB2BAE8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 </a:t>
            </a:r>
            <a:r>
              <a:rPr lang="zh-CN" altLang="zh-CN" dirty="0"/>
              <a:t>随机变量的函数</a:t>
            </a:r>
            <a:r>
              <a:rPr lang="zh-CN" altLang="en-US" dirty="0"/>
              <a:t>的概率分布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A7C20D-F758-4BEA-A607-0C9985CD3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484785"/>
            <a:ext cx="6912122" cy="431413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1.3.1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随机变量的一元函数的概率分布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385763">
              <a:buAutoNum type="arabicPeriod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随机变量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的单输入函数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385763">
              <a:buAutoNum type="arabicPeriod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随机变量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的多输入函数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385763">
              <a:buAutoNum type="arabicPeriod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特例：离散随机变量的函数的分布表示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1.3.2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随机变量的多元函数的概率分布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385763">
              <a:buAutoNum type="arabicPeriod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维随机变量函数概率分布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385763">
              <a:buAutoNum type="arabicPeriod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二维随机变量函数的概率分布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1.3.3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瑞利与莱斯分布</a:t>
            </a:r>
          </a:p>
        </p:txBody>
      </p:sp>
    </p:spTree>
    <p:extLst>
      <p:ext uri="{BB962C8B-B14F-4D97-AF65-F5344CB8AC3E}">
        <p14:creationId xmlns:p14="http://schemas.microsoft.com/office/powerpoint/2010/main" val="411761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CB779-3104-4898-97B5-0959F3D99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1.3.1  </a:t>
            </a:r>
            <a:r>
              <a:rPr lang="zh-CN" altLang="en-US" dirty="0"/>
              <a:t>一维</a:t>
            </a:r>
            <a:r>
              <a:rPr lang="zh-CN" altLang="zh-CN" dirty="0"/>
              <a:t>随机变量的函数</a:t>
            </a:r>
            <a:r>
              <a:rPr lang="zh-CN" altLang="en-US" dirty="0"/>
              <a:t>的分布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23DC33-5A30-4C73-B518-1590E24D47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3236" y="1570758"/>
                <a:ext cx="8193377" cy="39000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已知：随机变量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 PDF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</a:t>
                </a:r>
                <a:r>
                  <a:rPr lang="zh-CN" altLang="en-US" dirty="0"/>
                  <a:t>求其</a:t>
                </a:r>
                <a:r>
                  <a:rPr lang="zh-CN" altLang="zh-CN" dirty="0"/>
                  <a:t>函数 </a:t>
                </a:r>
                <a:r>
                  <a:rPr lang="en-US" altLang="zh-CN" i="1" dirty="0"/>
                  <a:t>Y </a:t>
                </a:r>
                <a:r>
                  <a:rPr lang="en-US" altLang="zh-CN" dirty="0"/>
                  <a:t>= </a:t>
                </a:r>
                <a:r>
                  <a:rPr lang="en-US" altLang="zh-CN" i="1" dirty="0"/>
                  <a:t>g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) 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PDF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</a:rPr>
                  <a:t>1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．</a:t>
                </a:r>
                <a:r>
                  <a:rPr lang="en-US" altLang="zh-CN" i="1" dirty="0">
                    <a:solidFill>
                      <a:schemeClr val="accent2"/>
                    </a:solidFill>
                  </a:rPr>
                  <a:t>X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, </a:t>
                </a:r>
                <a:r>
                  <a:rPr lang="en-US" altLang="zh-CN" i="1" dirty="0">
                    <a:solidFill>
                      <a:schemeClr val="accent2"/>
                    </a:solidFill>
                  </a:rPr>
                  <a:t>Y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一一对应</a:t>
                </a:r>
                <a:r>
                  <a:rPr lang="zh-CN" altLang="en-US" dirty="0">
                    <a:solidFill>
                      <a:schemeClr val="accent2"/>
                    </a:solidFill>
                  </a:rPr>
                  <a:t>，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  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反函数</a:t>
                </a:r>
                <a:r>
                  <a:rPr lang="en-US" altLang="zh-CN" i="1" dirty="0">
                    <a:solidFill>
                      <a:schemeClr val="accent2"/>
                    </a:solidFill>
                  </a:rPr>
                  <a:t>X 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= </a:t>
                </a:r>
                <a:r>
                  <a:rPr lang="en-US" altLang="zh-CN" i="1" dirty="0">
                    <a:solidFill>
                      <a:schemeClr val="accent2"/>
                    </a:solidFill>
                  </a:rPr>
                  <a:t>h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(</a:t>
                </a:r>
                <a:r>
                  <a:rPr lang="en-US" altLang="zh-CN" i="1" dirty="0">
                    <a:solidFill>
                      <a:schemeClr val="accent2"/>
                    </a:solidFill>
                  </a:rPr>
                  <a:t>Y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)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或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 </a:t>
                </a:r>
                <a:r>
                  <a:rPr lang="en-US" altLang="zh-CN" i="1" dirty="0">
                    <a:solidFill>
                      <a:schemeClr val="accent2"/>
                    </a:solidFill>
                  </a:rPr>
                  <a:t>x 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= </a:t>
                </a:r>
                <a:r>
                  <a:rPr lang="en-US" altLang="zh-CN" i="1" dirty="0">
                    <a:solidFill>
                      <a:schemeClr val="accent2"/>
                    </a:solidFill>
                  </a:rPr>
                  <a:t>h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(</a:t>
                </a:r>
                <a:r>
                  <a:rPr lang="en-US" altLang="zh-CN" i="1" dirty="0">
                    <a:solidFill>
                      <a:schemeClr val="accent2"/>
                    </a:solidFill>
                  </a:rPr>
                  <a:t>y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)</a:t>
                </a:r>
                <a:endParaRPr lang="zh-CN" altLang="zh-CN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i="1" dirty="0"/>
                  <a:t>    </a:t>
                </a:r>
                <a:r>
                  <a:rPr lang="en-US" altLang="zh-CN" i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 </a:t>
                </a:r>
                <a:r>
                  <a:rPr lang="zh-CN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位于（</a:t>
                </a:r>
                <a:r>
                  <a:rPr lang="en-US" altLang="zh-CN" i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US" altLang="zh-CN" u="sng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</a:t>
                </a:r>
                <a:r>
                  <a:rPr lang="en-US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, </a:t>
                </a:r>
                <a:r>
                  <a:rPr lang="en-US" altLang="zh-CN" i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US" altLang="zh-CN" u="sng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</a:t>
                </a:r>
                <a:r>
                  <a:rPr lang="en-US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</a:t>
                </a:r>
                <a:r>
                  <a:rPr lang="en-US" altLang="zh-CN" i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dx</a:t>
                </a:r>
                <a:r>
                  <a:rPr lang="zh-CN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）与</a:t>
                </a:r>
                <a:r>
                  <a:rPr lang="en-US" altLang="zh-CN" i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 </a:t>
                </a:r>
                <a:r>
                  <a:rPr lang="zh-CN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位于（</a:t>
                </a:r>
                <a:r>
                  <a:rPr lang="en-US" altLang="zh-CN" i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</a:t>
                </a:r>
                <a:r>
                  <a:rPr lang="en-US" altLang="zh-CN" u="sng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</a:t>
                </a:r>
                <a:r>
                  <a:rPr lang="en-US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, </a:t>
                </a:r>
                <a:r>
                  <a:rPr lang="en-US" altLang="zh-CN" i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</a:t>
                </a:r>
                <a:r>
                  <a:rPr lang="en-US" altLang="zh-CN" u="sng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</a:t>
                </a:r>
                <a:r>
                  <a:rPr lang="en-US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</a:t>
                </a:r>
                <a:r>
                  <a:rPr lang="en-US" altLang="zh-CN" i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dy</a:t>
                </a:r>
                <a:r>
                  <a:rPr lang="zh-CN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）的概率相等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</a:t>
                </a:r>
                <a:r>
                  <a:rPr lang="en-US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zh-CN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几何意义 ，面积相等</a:t>
                </a:r>
                <a:r>
                  <a:rPr lang="zh-CN" altLang="en-US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，</a:t>
                </a:r>
                <a:r>
                  <a:rPr lang="en-US" altLang="zh-CN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u="sng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u="sng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 u="sng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)⋅|</m:t>
                    </m:r>
                    <m:r>
                      <a:rPr lang="en-US" altLang="zh-CN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|=</m:t>
                    </m:r>
                    <m:sSub>
                      <m:sSubPr>
                        <m:ctrlPr>
                          <a:rPr lang="zh-CN" altLang="zh-CN" i="1" u="sng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u="sng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 u="sng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)⋅|</m:t>
                    </m:r>
                    <m:r>
                      <a:rPr lang="en-US" altLang="zh-CN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𝑑𝑦</m:t>
                    </m:r>
                    <m:r>
                      <a:rPr lang="en-US" altLang="zh-CN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zh-CN" altLang="zh-CN" u="sng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:r>
                  <a:rPr lang="zh-CN" altLang="zh-CN" dirty="0"/>
                  <a:t>所以</a:t>
                </a:r>
                <a:endParaRPr lang="en-US" altLang="zh-CN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dirty="0"/>
                  <a:t>        </a:t>
                </a: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𝑑h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dirty="0"/>
                  <a:t>=</a:t>
                </a: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zh-CN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23DC33-5A30-4C73-B518-1590E24D47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236" y="1570758"/>
                <a:ext cx="8193377" cy="3900055"/>
              </a:xfrm>
              <a:blipFill>
                <a:blip r:embed="rId2"/>
                <a:stretch>
                  <a:fillRect l="-893" t="-1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77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69BF24-D6A0-43EC-9D8D-6C2BE61D9C9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325440"/>
                <a:ext cx="8506691" cy="428391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10000"/>
                  </a:lnSpc>
                  <a:buAutoNum type="arabicPeriod" startAt="2"/>
                </a:pPr>
                <a:r>
                  <a:rPr lang="zh-CN" altLang="en-US" dirty="0">
                    <a:solidFill>
                      <a:schemeClr val="accent2"/>
                    </a:solidFill>
                  </a:rPr>
                  <a:t>多个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X</a:t>
                </a:r>
                <a:r>
                  <a:rPr lang="zh-CN" altLang="en-US" dirty="0">
                    <a:solidFill>
                      <a:schemeClr val="accent2"/>
                    </a:solidFill>
                  </a:rPr>
                  <a:t>对应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Y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i="1" dirty="0">
                    <a:solidFill>
                      <a:schemeClr val="accent2"/>
                    </a:solidFill>
                  </a:rPr>
                  <a:t> </a:t>
                </a:r>
                <a:r>
                  <a:rPr lang="zh-CN" altLang="zh-CN" dirty="0"/>
                  <a:t>函数</a:t>
                </a:r>
                <a:r>
                  <a:rPr lang="en-US" altLang="zh-CN" dirty="0"/>
                  <a:t>  </a:t>
                </a:r>
                <a:r>
                  <a:rPr lang="en-US" altLang="zh-CN" i="1" dirty="0"/>
                  <a:t>Y </a:t>
                </a:r>
                <a:r>
                  <a:rPr lang="en-US" altLang="zh-CN" dirty="0"/>
                  <a:t>= </a:t>
                </a:r>
                <a:r>
                  <a:rPr lang="en-US" altLang="zh-CN" i="1" dirty="0"/>
                  <a:t>g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X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) = </a:t>
                </a:r>
                <a:r>
                  <a:rPr lang="en-US" altLang="zh-CN" i="1" dirty="0"/>
                  <a:t>g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X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) , </a:t>
                </a:r>
                <a:r>
                  <a:rPr lang="zh-CN" altLang="zh-CN" dirty="0"/>
                  <a:t>反函数</a:t>
                </a:r>
                <a:r>
                  <a:rPr lang="en-US" altLang="zh-CN" dirty="0"/>
                  <a:t>  </a:t>
                </a:r>
                <a:r>
                  <a:rPr lang="en-US" altLang="zh-CN" i="1" dirty="0"/>
                  <a:t>X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=</a:t>
                </a:r>
                <a:r>
                  <a:rPr lang="en-US" altLang="zh-CN" i="1" dirty="0"/>
                  <a:t> h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 (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) ,  </a:t>
                </a:r>
                <a:r>
                  <a:rPr lang="en-US" altLang="zh-CN" i="1" dirty="0"/>
                  <a:t>X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=</a:t>
                </a:r>
                <a:r>
                  <a:rPr lang="en-US" altLang="zh-CN" i="1" dirty="0"/>
                  <a:t> h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)</a:t>
                </a:r>
                <a:endParaRPr lang="zh-CN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eqArr>
                          <m:eqArr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eqAr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}=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}=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dirty="0"/>
                  <a:t> ,      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)⋅|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)⋅|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dirty="0"/>
                  <a:t> </a:t>
                </a:r>
                <a:r>
                  <a:rPr lang="zh-CN" altLang="zh-CN" dirty="0"/>
                  <a:t>上式推广，每个</a:t>
                </a:r>
                <a:r>
                  <a:rPr lang="en-US" altLang="zh-CN" i="1" dirty="0"/>
                  <a:t>Y</a:t>
                </a:r>
                <a:r>
                  <a:rPr lang="zh-CN" altLang="zh-CN" dirty="0"/>
                  <a:t>值对应多个</a:t>
                </a:r>
                <a:r>
                  <a:rPr lang="en-US" altLang="zh-CN" i="1" dirty="0"/>
                  <a:t>X</a:t>
                </a:r>
                <a:r>
                  <a:rPr lang="zh-CN" altLang="zh-CN" dirty="0"/>
                  <a:t>值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,....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CN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zh-CN" dirty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)⋅|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|+...+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)⋅|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zh-CN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69BF24-D6A0-43EC-9D8D-6C2BE61D9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0"/>
                <a:ext cx="8506691" cy="4283918"/>
              </a:xfrm>
              <a:blipFill>
                <a:blip r:embed="rId3"/>
                <a:stretch>
                  <a:fillRect l="-860" t="-1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71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69BF24-D6A0-43EC-9D8D-6C2BE61D9C9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3.  </a:t>
                </a:r>
                <a:r>
                  <a:rPr lang="zh-CN" altLang="en-US" dirty="0">
                    <a:solidFill>
                      <a:schemeClr val="accent2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离散变量情况</a:t>
                </a:r>
                <a:endParaRPr lang="en-US" altLang="zh-CN" dirty="0">
                  <a:solidFill>
                    <a:schemeClr val="accent2"/>
                  </a:solidFill>
                  <a:latin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=1,2,…</m:t>
                      </m:r>
                    </m:oMath>
                  </m:oMathPara>
                </a14:m>
                <a:endParaRPr lang="en-US" altLang="zh-CN" b="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CN" b="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CN" b="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=1,2,…</m:t>
                      </m:r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69BF24-D6A0-43EC-9D8D-6C2BE61D9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7" t="-1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226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61109" y="1367790"/>
                <a:ext cx="8097983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随机变量</a:t>
                </a:r>
                <a:r>
                  <a:rPr lang="en-US" altLang="zh-CN" sz="195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取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0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、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1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的概率分别为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0.5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，则有关随机变量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−1,</m:t>
                    </m:r>
                  </m:oMath>
                </a14:m>
                <a:endParaRPr lang="en-US" altLang="zh-CN" sz="21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的概率分布表述正确的有：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561109" y="1367790"/>
                <a:ext cx="8097983" cy="1607344"/>
              </a:xfrm>
              <a:prstGeom prst="rect">
                <a:avLst/>
              </a:prstGeom>
              <a:blipFill>
                <a:blip r:embed="rId20"/>
                <a:stretch>
                  <a:fillRect l="-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2946797"/>
                <a:ext cx="7219951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随机变量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取值为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的概率相等，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取值为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的概率为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zh-CN" altLang="en-US" sz="21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2946797"/>
                <a:ext cx="7219951" cy="482204"/>
              </a:xfrm>
              <a:prstGeom prst="rect">
                <a:avLst/>
              </a:prstGeom>
              <a:blipFill>
                <a:blip r:embed="rId22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3589735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3589735"/>
                <a:ext cx="6400800" cy="48220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232672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4232672"/>
                <a:ext cx="6400800" cy="48220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4875610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1828800" y="4875610"/>
                <a:ext cx="6400800" cy="48220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78719" y="2995017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3637954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78719" y="4280892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78719" y="4923829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D8D2F031-28D7-4307-B9D8-6980EB9ABA6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4217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5017070-C9BD-45B8-B464-358D62B672B8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例：已知</a:t>
                </a:r>
                <a:r>
                  <a:rPr lang="en-US" altLang="zh-CN" i="1" dirty="0"/>
                  <a:t>X 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PDF</a:t>
                </a:r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dirty="0"/>
                  <a:t>,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</a:t>
                </a:r>
                <a:r>
                  <a:rPr lang="zh-CN" altLang="en-US" dirty="0"/>
                  <a:t>求：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 dirty="0"/>
                  <a:t>的概率密度函数</a:t>
                </a:r>
                <a:r>
                  <a:rPr lang="zh-CN" altLang="en-US" dirty="0"/>
                  <a:t>。</a:t>
                </a:r>
                <a:endParaRPr lang="en-US" altLang="zh-CN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/>
                  <a:t>解：</a:t>
                </a:r>
                <a:endParaRPr lang="en-US" altLang="zh-CN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𝒂𝑿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dirty="0"/>
                  <a:t>满足单调性，反函数为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故 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5017070-C9BD-45B8-B464-358D62B672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52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DE25246-AF1E-406A-BD71-1971445BD5E8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33500"/>
                <a:ext cx="7315200" cy="2072987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zh-CN" altLang="en-US" sz="2100" dirty="0"/>
                  <a:t>已知随机变量</a:t>
                </a:r>
                <a:r>
                  <a:rPr lang="en-US" altLang="zh-CN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altLang="zh-CN" sz="21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100" dirty="0"/>
                  <a:t>的概率密度函数为</a:t>
                </a:r>
                <a:endParaRPr lang="en-US" altLang="zh-CN" sz="2100" i="1" dirty="0">
                  <a:latin typeface="Cambria Math" panose="02040503050406030204" pitchFamily="18" charset="0"/>
                </a:endParaRPr>
              </a:p>
              <a:p>
                <a:pPr lvl="1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21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21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sSup>
                              <m:sSup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1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  <m:r>
                              <m:rPr>
                                <m:nor/>
                              </m:rPr>
                              <a:rPr lang="en-US" altLang="zh-CN" sz="2100" dirty="0"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0,          </m:t>
                            </m:r>
                            <m:r>
                              <a:rPr lang="en-US" altLang="zh-CN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  <m:r>
                      <a:rPr lang="en-US" altLang="zh-CN" sz="21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1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1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sz="2100" b="1" dirty="0">
                    <a:ea typeface="Cambria Math" panose="02040503050406030204" pitchFamily="18" charset="0"/>
                  </a:rPr>
                  <a:t>,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100" dirty="0"/>
                  <a:t>求： 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𝑎𝑋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100" dirty="0"/>
                  <a:t>的概率密度函数。</a:t>
                </a:r>
                <a:endParaRPr lang="en-US" altLang="zh-CN" sz="21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DE25246-AF1E-406A-BD71-1971445BD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14400" y="1333500"/>
                <a:ext cx="7315200" cy="2072987"/>
              </a:xfrm>
              <a:prstGeom prst="rect">
                <a:avLst/>
              </a:prstGeom>
              <a:blipFill>
                <a:blip r:embed="rId13"/>
                <a:stretch>
                  <a:fillRect b="-5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AB3CD261-1F22-4561-A142-EF11033E22C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8D794C-D7DC-4274-A8F8-BB46839B33E0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99CF5E5-C119-485A-BBED-7E11BE85308A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8FF88BE7-58F1-4B05-9D76-5562F4F6311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C8B40A0F-8AA9-495E-9E8B-C31CAE74468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501421D3-F3D1-4223-8302-ECE980421E4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4BF0926A-AF1E-4E34-A1A7-3C6BEA35BD57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09E87E9-36C3-493C-84FC-ECABB45D449F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3194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4C1BD2F-8314-41A2-BBC5-E19742117E4D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  <m:r>
                              <m:rPr>
                                <m:nor/>
                              </m:rPr>
                              <a:rPr lang="en-US" altLang="zh-CN" dirty="0"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0,           </m:t>
                            </m:r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  <m:r>
                      <a:rPr lang="en-US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d>
                                </m:den>
                              </m:f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b="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den>
                              </m:f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        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den>
                              </m:f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4C1BD2F-8314-41A2-BBC5-E19742117E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7" t="-14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734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DA217F-4259-46FC-BC1B-CD34A8B10A4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45474" y="1268760"/>
                <a:ext cx="8832272" cy="460851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x-none" altLang="zh-CN" sz="2250" dirty="0">
                    <a:solidFill>
                      <a:schemeClr val="accent2"/>
                    </a:solidFill>
                    <a:latin typeface="+mj-ea"/>
                    <a:ea typeface="+mj-ea"/>
                  </a:rPr>
                  <a:t>1</a:t>
                </a:r>
                <a:r>
                  <a:rPr lang="en-US" altLang="zh-CN" sz="2250" dirty="0">
                    <a:solidFill>
                      <a:schemeClr val="accent2"/>
                    </a:solidFill>
                    <a:latin typeface="+mj-ea"/>
                    <a:ea typeface="+mj-ea"/>
                  </a:rPr>
                  <a:t>. </a:t>
                </a:r>
                <a:r>
                  <a:rPr lang="x-none" altLang="zh-CN" sz="2250" i="1" dirty="0">
                    <a:solidFill>
                      <a:schemeClr val="accent2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n</a:t>
                </a:r>
                <a:r>
                  <a:rPr lang="en-US" altLang="zh-CN" sz="2250" i="1" dirty="0">
                    <a:solidFill>
                      <a:schemeClr val="accent2"/>
                    </a:solidFill>
                    <a:latin typeface="+mj-ea"/>
                    <a:ea typeface="+mj-ea"/>
                  </a:rPr>
                  <a:t> </a:t>
                </a:r>
                <a:r>
                  <a:rPr lang="zh-CN" altLang="zh-CN" sz="2250" dirty="0">
                    <a:solidFill>
                      <a:schemeClr val="accent2"/>
                    </a:solidFill>
                    <a:latin typeface="+mj-ea"/>
                    <a:ea typeface="+mj-ea"/>
                  </a:rPr>
                  <a:t>维随机变量的函数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dirty="0"/>
                  <a:t>已知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 </a:t>
                </a:r>
                <a:r>
                  <a:rPr lang="en-US" altLang="zh-CN" b="0" i="1" dirty="0"/>
                  <a:t>X</a:t>
                </a:r>
                <a:r>
                  <a:rPr lang="en-US" altLang="zh-CN" b="0" baseline="-25000" dirty="0"/>
                  <a:t>1</a:t>
                </a:r>
                <a:r>
                  <a:rPr lang="en-US" altLang="zh-CN" b="0" dirty="0"/>
                  <a:t>, </a:t>
                </a:r>
                <a:r>
                  <a:rPr lang="en-US" altLang="zh-CN" b="0" i="1" dirty="0"/>
                  <a:t>X</a:t>
                </a:r>
                <a:r>
                  <a:rPr lang="en-US" altLang="zh-CN" b="0" baseline="-25000" dirty="0"/>
                  <a:t>2 </a:t>
                </a:r>
                <a:r>
                  <a:rPr lang="en-US" altLang="zh-CN" b="0" dirty="0"/>
                  <a:t>,…, </a:t>
                </a:r>
                <a:r>
                  <a:rPr lang="en-US" altLang="zh-CN" b="0" i="1" dirty="0" err="1"/>
                  <a:t>X</a:t>
                </a:r>
                <a:r>
                  <a:rPr lang="en-US" altLang="zh-CN" b="0" i="1" baseline="-25000" dirty="0" err="1"/>
                  <a:t>n</a:t>
                </a:r>
                <a:r>
                  <a:rPr lang="en-US" altLang="zh-CN" b="0" dirty="0"/>
                  <a:t>   PDF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...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；</a:t>
                </a:r>
                <a:endParaRPr lang="en-US" altLang="zh-CN" b="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b="0" i="1" dirty="0"/>
                  <a:t>   Y</a:t>
                </a:r>
                <a:r>
                  <a:rPr lang="en-US" altLang="zh-CN" b="0" baseline="-25000" dirty="0"/>
                  <a:t>1</a:t>
                </a:r>
                <a:r>
                  <a:rPr lang="en-US" altLang="zh-CN" b="0" dirty="0"/>
                  <a:t>,</a:t>
                </a:r>
                <a:r>
                  <a:rPr lang="en-US" altLang="zh-CN" b="0" i="1" dirty="0"/>
                  <a:t>Y</a:t>
                </a:r>
                <a:r>
                  <a:rPr lang="en-US" altLang="zh-CN" b="0" baseline="-25000" dirty="0"/>
                  <a:t>2</a:t>
                </a:r>
                <a:r>
                  <a:rPr lang="en-US" altLang="zh-CN" b="0" dirty="0"/>
                  <a:t> , … ,</a:t>
                </a:r>
                <a:r>
                  <a:rPr lang="en-US" altLang="zh-CN" b="0" i="1" dirty="0" err="1"/>
                  <a:t>Y</a:t>
                </a:r>
                <a:r>
                  <a:rPr lang="en-US" altLang="zh-CN" b="0" i="1" baseline="-25000" dirty="0" err="1"/>
                  <a:t>n</a:t>
                </a:r>
                <a:r>
                  <a:rPr lang="en-US" altLang="zh-CN" b="0" dirty="0"/>
                  <a:t> ,   </a:t>
                </a:r>
                <a:r>
                  <a:rPr lang="en-US" altLang="zh-CN" b="0" i="1" dirty="0">
                    <a:solidFill>
                      <a:srgbClr val="FF0000"/>
                    </a:solidFill>
                  </a:rPr>
                  <a:t>Y</a:t>
                </a:r>
                <a:r>
                  <a:rPr lang="en-US" altLang="zh-CN" b="0" i="1" baseline="-25000" dirty="0">
                    <a:solidFill>
                      <a:srgbClr val="FF0000"/>
                    </a:solidFill>
                  </a:rPr>
                  <a:t>i </a:t>
                </a:r>
                <a:r>
                  <a:rPr lang="en-US" altLang="zh-CN" b="0" i="1" dirty="0">
                    <a:solidFill>
                      <a:srgbClr val="FF0000"/>
                    </a:solidFill>
                  </a:rPr>
                  <a:t>= </a:t>
                </a:r>
                <a:r>
                  <a:rPr lang="en-US" altLang="zh-CN" b="0" i="1" dirty="0" err="1">
                    <a:solidFill>
                      <a:srgbClr val="FF0000"/>
                    </a:solidFill>
                  </a:rPr>
                  <a:t>g</a:t>
                </a:r>
                <a:r>
                  <a:rPr lang="en-US" altLang="zh-CN" b="0" i="1" baseline="-25000" dirty="0" err="1">
                    <a:solidFill>
                      <a:srgbClr val="FF0000"/>
                    </a:solidFill>
                  </a:rPr>
                  <a:t>i</a:t>
                </a:r>
                <a:r>
                  <a:rPr lang="en-US" altLang="zh-CN" b="0" i="1" baseline="-25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zh-CN" b="0" i="1" dirty="0">
                    <a:solidFill>
                      <a:srgbClr val="FF0000"/>
                    </a:solidFill>
                  </a:rPr>
                  <a:t>X</a:t>
                </a:r>
                <a:r>
                  <a:rPr lang="en-US" altLang="zh-CN" b="0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CN" b="0" i="1" dirty="0">
                    <a:solidFill>
                      <a:srgbClr val="FF0000"/>
                    </a:solidFill>
                  </a:rPr>
                  <a:t>X</a:t>
                </a:r>
                <a:r>
                  <a:rPr lang="en-US" altLang="zh-CN" b="0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 , </a:t>
                </a:r>
                <a:r>
                  <a:rPr lang="en-US" altLang="zh-CN" b="0" i="1" dirty="0">
                    <a:solidFill>
                      <a:srgbClr val="FF0000"/>
                    </a:solidFill>
                  </a:rPr>
                  <a:t>…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 , </a:t>
                </a:r>
                <a:r>
                  <a:rPr lang="en-US" altLang="zh-CN" b="0" i="1" dirty="0" err="1">
                    <a:solidFill>
                      <a:srgbClr val="FF0000"/>
                    </a:solidFill>
                  </a:rPr>
                  <a:t>X</a:t>
                </a:r>
                <a:r>
                  <a:rPr lang="en-US" altLang="zh-CN" b="0" i="1" baseline="-25000" dirty="0" err="1">
                    <a:solidFill>
                      <a:srgbClr val="FF0000"/>
                    </a:solidFill>
                  </a:rPr>
                  <a:t>n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) </a:t>
                </a:r>
                <a:r>
                  <a:rPr lang="en-US" altLang="zh-CN" b="0" dirty="0"/>
                  <a:t>,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b="0" dirty="0"/>
                  <a:t>   </a:t>
                </a:r>
                <a:r>
                  <a:rPr lang="zh-CN" altLang="zh-CN" b="0" dirty="0"/>
                  <a:t>具有</a:t>
                </a:r>
                <a:r>
                  <a:rPr lang="zh-CN" altLang="zh-CN" b="0" dirty="0">
                    <a:solidFill>
                      <a:srgbClr val="FF0000"/>
                    </a:solidFill>
                  </a:rPr>
                  <a:t>连续偏导数</a:t>
                </a:r>
                <a:r>
                  <a:rPr lang="zh-CN" altLang="zh-CN" b="0" dirty="0"/>
                  <a:t>且</a:t>
                </a:r>
                <a:r>
                  <a:rPr lang="zh-CN" altLang="zh-CN" b="0" dirty="0">
                    <a:solidFill>
                      <a:srgbClr val="FF0000"/>
                    </a:solidFill>
                  </a:rPr>
                  <a:t>可逆</a:t>
                </a:r>
                <a:r>
                  <a:rPr lang="zh-CN" altLang="zh-CN" b="0" dirty="0"/>
                  <a:t>的</a:t>
                </a:r>
                <a:r>
                  <a:rPr lang="zh-CN" altLang="zh-CN" b="0" dirty="0">
                    <a:solidFill>
                      <a:srgbClr val="FF0000"/>
                    </a:solidFill>
                  </a:rPr>
                  <a:t>单值</a:t>
                </a:r>
                <a:r>
                  <a:rPr lang="zh-CN" altLang="zh-CN" b="0" dirty="0"/>
                  <a:t>函数，</a:t>
                </a:r>
                <a:r>
                  <a:rPr lang="en-US" altLang="zh-CN" b="0" i="1" dirty="0"/>
                  <a:t> X</a:t>
                </a:r>
                <a:r>
                  <a:rPr lang="en-US" altLang="zh-CN" b="0" i="1" baseline="-25000" dirty="0"/>
                  <a:t>i</a:t>
                </a:r>
                <a:r>
                  <a:rPr lang="zh-CN" altLang="zh-CN" b="0" dirty="0"/>
                  <a:t>可表示为 </a:t>
                </a:r>
                <a:endParaRPr lang="en-US" altLang="zh-CN" b="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b="0" i="1" dirty="0"/>
                  <a:t>                             </a:t>
                </a:r>
                <a:r>
                  <a:rPr lang="en-US" altLang="zh-CN" b="0" i="1" dirty="0">
                    <a:solidFill>
                      <a:srgbClr val="FF0000"/>
                    </a:solidFill>
                  </a:rPr>
                  <a:t>X</a:t>
                </a:r>
                <a:r>
                  <a:rPr lang="en-US" altLang="zh-CN" b="0" i="1" baseline="-25000" dirty="0">
                    <a:solidFill>
                      <a:srgbClr val="FF0000"/>
                    </a:solidFill>
                  </a:rPr>
                  <a:t>i </a:t>
                </a:r>
                <a:r>
                  <a:rPr lang="en-US" altLang="zh-CN" b="0" i="1" dirty="0">
                    <a:solidFill>
                      <a:srgbClr val="FF0000"/>
                    </a:solidFill>
                  </a:rPr>
                  <a:t>= h</a:t>
                </a:r>
                <a:r>
                  <a:rPr lang="en-US" altLang="zh-CN" b="0" i="1" baseline="-25000" dirty="0">
                    <a:solidFill>
                      <a:srgbClr val="FF0000"/>
                    </a:solidFill>
                  </a:rPr>
                  <a:t>i 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zh-CN" b="0" i="1" dirty="0">
                    <a:solidFill>
                      <a:srgbClr val="FF0000"/>
                    </a:solidFill>
                  </a:rPr>
                  <a:t>Y</a:t>
                </a:r>
                <a:r>
                  <a:rPr lang="en-US" altLang="zh-CN" b="0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,</a:t>
                </a:r>
                <a:r>
                  <a:rPr lang="en-US" altLang="zh-CN" b="0" i="1" dirty="0">
                    <a:solidFill>
                      <a:srgbClr val="FF0000"/>
                    </a:solidFill>
                  </a:rPr>
                  <a:t>Y</a:t>
                </a:r>
                <a:r>
                  <a:rPr lang="en-US" altLang="zh-CN" b="0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 , </a:t>
                </a:r>
                <a:r>
                  <a:rPr lang="en-US" altLang="zh-CN" b="0" i="1" dirty="0">
                    <a:solidFill>
                      <a:srgbClr val="FF0000"/>
                    </a:solidFill>
                  </a:rPr>
                  <a:t>…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 , </a:t>
                </a:r>
                <a:r>
                  <a:rPr lang="en-US" altLang="zh-CN" b="0" i="1" dirty="0" err="1">
                    <a:solidFill>
                      <a:srgbClr val="FF0000"/>
                    </a:solidFill>
                  </a:rPr>
                  <a:t>Y</a:t>
                </a:r>
                <a:r>
                  <a:rPr lang="en-US" altLang="zh-CN" b="0" i="1" baseline="-25000" dirty="0" err="1">
                    <a:solidFill>
                      <a:srgbClr val="FF0000"/>
                    </a:solidFill>
                  </a:rPr>
                  <a:t>n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)</a:t>
                </a:r>
                <a:r>
                  <a:rPr lang="zh-CN" altLang="zh-CN" b="0" dirty="0"/>
                  <a:t>。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zh-CN" b="0" dirty="0"/>
                  <a:t>求</a:t>
                </a:r>
                <a:r>
                  <a:rPr lang="en-US" altLang="zh-CN" b="0" dirty="0"/>
                  <a:t>:   PDF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...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（几何意义）</a:t>
                </a:r>
                <a:endParaRPr lang="zh-CN" altLang="zh-CN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b="0" dirty="0">
                    <a:solidFill>
                      <a:srgbClr val="C00000"/>
                    </a:solidFill>
                  </a:rPr>
                  <a:t>思路：</a:t>
                </a:r>
                <a:endParaRPr lang="en-US" altLang="zh-CN" b="0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b="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en-US" b="0" dirty="0"/>
                  <a:t>： </a:t>
                </a:r>
                <a:r>
                  <a:rPr lang="zh-CN" altLang="zh-CN" b="0" dirty="0"/>
                  <a:t>随机变量（</a:t>
                </a:r>
                <a:r>
                  <a:rPr lang="en-US" altLang="zh-CN" b="0" i="1" dirty="0"/>
                  <a:t>X</a:t>
                </a:r>
                <a:r>
                  <a:rPr lang="en-US" altLang="zh-CN" b="0" baseline="-25000" dirty="0"/>
                  <a:t>1</a:t>
                </a:r>
                <a:r>
                  <a:rPr lang="en-US" altLang="zh-CN" b="0" dirty="0"/>
                  <a:t>, </a:t>
                </a:r>
                <a:r>
                  <a:rPr lang="en-US" altLang="zh-CN" b="0" i="1" dirty="0"/>
                  <a:t>X</a:t>
                </a:r>
                <a:r>
                  <a:rPr lang="en-US" altLang="zh-CN" b="0" baseline="-25000" dirty="0"/>
                  <a:t>2 </a:t>
                </a:r>
                <a:r>
                  <a:rPr lang="en-US" altLang="zh-CN" b="0" dirty="0"/>
                  <a:t>,…, </a:t>
                </a:r>
                <a:r>
                  <a:rPr lang="en-US" altLang="zh-CN" b="0" i="1" dirty="0" err="1"/>
                  <a:t>X</a:t>
                </a:r>
                <a:r>
                  <a:rPr lang="en-US" altLang="zh-CN" b="0" i="1" baseline="-25000" dirty="0" err="1"/>
                  <a:t>n</a:t>
                </a:r>
                <a:r>
                  <a:rPr lang="en-US" altLang="zh-CN" b="0" dirty="0"/>
                  <a:t> </a:t>
                </a:r>
                <a:r>
                  <a:rPr lang="zh-CN" altLang="zh-CN" b="0" dirty="0"/>
                  <a:t>）的</a:t>
                </a:r>
                <a:r>
                  <a:rPr lang="en-US" altLang="zh-CN" b="0" i="1" dirty="0"/>
                  <a:t>n</a:t>
                </a:r>
                <a:r>
                  <a:rPr lang="zh-CN" altLang="zh-CN" b="0" dirty="0"/>
                  <a:t>维空间的取值区域</a:t>
                </a:r>
                <a:r>
                  <a:rPr lang="en-US" altLang="zh-CN" b="0" dirty="0"/>
                  <a:t>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b="0" dirty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：</a:t>
                </a:r>
                <a:r>
                  <a:rPr lang="zh-CN" altLang="zh-CN" b="0" dirty="0"/>
                  <a:t>随机变量（</a:t>
                </a:r>
                <a:r>
                  <a:rPr lang="en-US" altLang="zh-CN" b="0" i="1" dirty="0"/>
                  <a:t> Y</a:t>
                </a:r>
                <a:r>
                  <a:rPr lang="en-US" altLang="zh-CN" b="0" baseline="-25000" dirty="0"/>
                  <a:t>1</a:t>
                </a:r>
                <a:r>
                  <a:rPr lang="en-US" altLang="zh-CN" b="0" dirty="0"/>
                  <a:t>,</a:t>
                </a:r>
                <a:r>
                  <a:rPr lang="en-US" altLang="zh-CN" b="0" i="1" dirty="0"/>
                  <a:t>Y</a:t>
                </a:r>
                <a:r>
                  <a:rPr lang="en-US" altLang="zh-CN" b="0" baseline="-25000" dirty="0"/>
                  <a:t>2</a:t>
                </a:r>
                <a:r>
                  <a:rPr lang="en-US" altLang="zh-CN" b="0" dirty="0"/>
                  <a:t> , </a:t>
                </a:r>
                <a:r>
                  <a:rPr lang="en-US" altLang="zh-CN" b="0" i="1" dirty="0"/>
                  <a:t>…</a:t>
                </a:r>
                <a:r>
                  <a:rPr lang="en-US" altLang="zh-CN" b="0" dirty="0"/>
                  <a:t> , </a:t>
                </a:r>
                <a:r>
                  <a:rPr lang="en-US" altLang="zh-CN" b="0" i="1" dirty="0" err="1"/>
                  <a:t>Y</a:t>
                </a:r>
                <a:r>
                  <a:rPr lang="en-US" altLang="zh-CN" b="0" i="1" baseline="-25000" dirty="0" err="1"/>
                  <a:t>n</a:t>
                </a:r>
                <a:r>
                  <a:rPr lang="en-US" altLang="zh-CN" b="0" i="1" baseline="-25000" dirty="0"/>
                  <a:t> </a:t>
                </a:r>
                <a:r>
                  <a:rPr lang="zh-CN" altLang="zh-CN" b="0" dirty="0"/>
                  <a:t>）的</a:t>
                </a:r>
                <a:r>
                  <a:rPr lang="en-US" altLang="zh-CN" b="0" i="1" dirty="0"/>
                  <a:t>n</a:t>
                </a:r>
                <a:r>
                  <a:rPr lang="zh-CN" altLang="zh-CN" b="0" dirty="0"/>
                  <a:t>维空间的取值区域</a:t>
                </a:r>
                <a:r>
                  <a:rPr lang="en-US" altLang="zh-CN" b="0" dirty="0"/>
                  <a:t>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                     </m:t>
                    </m:r>
                    <m:sSub>
                      <m:sSubPr>
                        <m:ctrlPr>
                          <a:rPr lang="en-US" altLang="zh-CN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是</m:t>
                        </m:r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zh-CN" b="0" dirty="0"/>
                  <a:t>的一一映射，由函数关系</a:t>
                </a:r>
                <a:r>
                  <a:rPr lang="en-US" altLang="zh-CN" b="0" i="1" dirty="0"/>
                  <a:t>Y</a:t>
                </a:r>
                <a:r>
                  <a:rPr lang="en-US" altLang="zh-CN" b="0" i="1" baseline="-25000" dirty="0"/>
                  <a:t>i </a:t>
                </a:r>
                <a:r>
                  <a:rPr lang="en-US" altLang="zh-CN" b="0" i="1" dirty="0"/>
                  <a:t>= </a:t>
                </a:r>
                <a:r>
                  <a:rPr lang="en-US" altLang="zh-CN" b="0" i="1" dirty="0" err="1"/>
                  <a:t>g</a:t>
                </a:r>
                <a:r>
                  <a:rPr lang="en-US" altLang="zh-CN" b="0" i="1" baseline="-25000" dirty="0" err="1"/>
                  <a:t>i</a:t>
                </a:r>
                <a:r>
                  <a:rPr lang="en-US" altLang="zh-CN" b="0" i="1" baseline="-25000" dirty="0"/>
                  <a:t> </a:t>
                </a:r>
                <a:r>
                  <a:rPr lang="en-US" altLang="zh-CN" b="0" dirty="0"/>
                  <a:t>(</a:t>
                </a:r>
                <a:r>
                  <a:rPr lang="en-US" altLang="zh-CN" b="0" i="1" dirty="0"/>
                  <a:t>X</a:t>
                </a:r>
                <a:r>
                  <a:rPr lang="en-US" altLang="zh-CN" b="0" i="1" baseline="-25000" dirty="0"/>
                  <a:t>1</a:t>
                </a:r>
                <a:r>
                  <a:rPr lang="en-US" altLang="zh-CN" b="0" i="1" dirty="0"/>
                  <a:t>,X</a:t>
                </a:r>
                <a:r>
                  <a:rPr lang="en-US" altLang="zh-CN" b="0" i="1" baseline="-25000" dirty="0"/>
                  <a:t>2</a:t>
                </a:r>
                <a:r>
                  <a:rPr lang="en-US" altLang="zh-CN" b="0" i="1" dirty="0"/>
                  <a:t>…</a:t>
                </a:r>
                <a:r>
                  <a:rPr lang="en-US" altLang="zh-CN" b="0" i="1" dirty="0" err="1"/>
                  <a:t>X</a:t>
                </a:r>
                <a:r>
                  <a:rPr lang="en-US" altLang="zh-CN" b="0" i="1" baseline="-25000" dirty="0" err="1"/>
                  <a:t>n</a:t>
                </a:r>
                <a:r>
                  <a:rPr lang="en-US" altLang="zh-CN" b="0" dirty="0"/>
                  <a:t>)</a:t>
                </a:r>
                <a:r>
                  <a:rPr lang="zh-CN" altLang="zh-CN" b="0" dirty="0"/>
                  <a:t>决定。</a:t>
                </a:r>
                <a:endParaRPr lang="en-US" altLang="zh-CN" b="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zh-CN" b="0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b="0" dirty="0">
                    <a:solidFill>
                      <a:srgbClr val="C00000"/>
                    </a:solidFill>
                  </a:rPr>
                  <a:t>结论： </a:t>
                </a:r>
                <a:r>
                  <a:rPr lang="en-US" altLang="zh-CN" b="0" dirty="0"/>
                  <a:t>(</a:t>
                </a:r>
                <a:r>
                  <a:rPr lang="en-US" altLang="zh-CN" b="0" i="1" dirty="0"/>
                  <a:t>X</a:t>
                </a:r>
                <a:r>
                  <a:rPr lang="en-US" altLang="zh-CN" b="0" baseline="-25000" dirty="0"/>
                  <a:t>1</a:t>
                </a:r>
                <a:r>
                  <a:rPr lang="en-US" altLang="zh-CN" b="0" dirty="0"/>
                  <a:t>, </a:t>
                </a:r>
                <a:r>
                  <a:rPr lang="en-US" altLang="zh-CN" b="0" i="1" dirty="0"/>
                  <a:t>X</a:t>
                </a:r>
                <a:r>
                  <a:rPr lang="en-US" altLang="zh-CN" b="0" baseline="-25000" dirty="0"/>
                  <a:t>2 </a:t>
                </a:r>
                <a:r>
                  <a:rPr lang="en-US" altLang="zh-CN" b="0" dirty="0"/>
                  <a:t>,…, </a:t>
                </a:r>
                <a:r>
                  <a:rPr lang="en-US" altLang="zh-CN" b="0" i="1" dirty="0" err="1"/>
                  <a:t>X</a:t>
                </a:r>
                <a:r>
                  <a:rPr lang="en-US" altLang="zh-CN" b="0" i="1" baseline="-25000" dirty="0" err="1"/>
                  <a:t>n</a:t>
                </a:r>
                <a:r>
                  <a:rPr lang="en-US" altLang="zh-CN" b="0" dirty="0"/>
                  <a:t> )</a:t>
                </a:r>
                <a:r>
                  <a:rPr lang="zh-CN" altLang="zh-CN" b="0" dirty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zh-CN" b="0" dirty="0"/>
                  <a:t>中的概率等于（</a:t>
                </a:r>
                <a:r>
                  <a:rPr lang="en-US" altLang="zh-CN" b="0" i="1" dirty="0"/>
                  <a:t>Y</a:t>
                </a:r>
                <a:r>
                  <a:rPr lang="en-US" altLang="zh-CN" b="0" baseline="-25000" dirty="0"/>
                  <a:t>1</a:t>
                </a:r>
                <a:r>
                  <a:rPr lang="en-US" altLang="zh-CN" b="0" dirty="0"/>
                  <a:t>,</a:t>
                </a:r>
                <a:r>
                  <a:rPr lang="en-US" altLang="zh-CN" b="0" i="1" dirty="0"/>
                  <a:t>Y</a:t>
                </a:r>
                <a:r>
                  <a:rPr lang="en-US" altLang="zh-CN" b="0" baseline="-25000" dirty="0"/>
                  <a:t>2</a:t>
                </a:r>
                <a:r>
                  <a:rPr lang="en-US" altLang="zh-CN" b="0" dirty="0"/>
                  <a:t> , </a:t>
                </a:r>
                <a:r>
                  <a:rPr lang="en-US" altLang="zh-CN" b="0" i="1" dirty="0"/>
                  <a:t>…</a:t>
                </a:r>
                <a:r>
                  <a:rPr lang="en-US" altLang="zh-CN" b="0" dirty="0"/>
                  <a:t> , </a:t>
                </a:r>
                <a:r>
                  <a:rPr lang="en-US" altLang="zh-CN" b="0" i="1" dirty="0" err="1"/>
                  <a:t>Y</a:t>
                </a:r>
                <a:r>
                  <a:rPr lang="en-US" altLang="zh-CN" b="0" i="1" baseline="-25000" dirty="0" err="1"/>
                  <a:t>n</a:t>
                </a:r>
                <a:r>
                  <a:rPr lang="en-US" altLang="zh-CN" b="0" i="1" baseline="-25000" dirty="0"/>
                  <a:t> </a:t>
                </a:r>
                <a:r>
                  <a:rPr lang="zh-CN" altLang="zh-CN" b="0" dirty="0"/>
                  <a:t>）在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zh-CN" altLang="zh-CN" b="0" dirty="0"/>
                  <a:t>中的概率。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zh-CN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DA217F-4259-46FC-BC1B-CD34A8B10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45474" y="1268760"/>
                <a:ext cx="8832272" cy="4608511"/>
              </a:xfrm>
              <a:blipFill>
                <a:blip r:embed="rId3"/>
                <a:stretch>
                  <a:fillRect l="-828" t="-661" b="-1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1475656" y="404664"/>
            <a:ext cx="63107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1.3.2 </a:t>
            </a:r>
            <a:r>
              <a:rPr lang="zh-CN" altLang="zh-CN" sz="2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多维随机变量函数的联合分布</a:t>
            </a:r>
            <a:endParaRPr lang="en-US" altLang="zh-CN" sz="24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634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379972-8116-49CC-A304-7A54B184131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0" y="1196752"/>
                <a:ext cx="8963891" cy="428391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zh-CN" b="0" dirty="0"/>
                  <a:t>则根据积分变换可以得到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...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...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zh-CN" b="0" dirty="0"/>
                  <a:t>即</a:t>
                </a:r>
                <a:endParaRPr lang="en-US" altLang="zh-CN" b="0" dirty="0"/>
              </a:p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altLang="zh-CN" b="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...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)=|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|⋅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...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  </a:t>
                </a:r>
                <a:endParaRPr lang="zh-CN" altLang="en-US" b="0" dirty="0"/>
              </a:p>
              <a:p>
                <a:pPr marL="0" indent="0">
                  <a:buNone/>
                </a:pPr>
                <a:endParaRPr lang="en-US" altLang="zh-CN" b="0" i="1" dirty="0"/>
              </a:p>
              <a:p>
                <a:pPr marL="0" indent="0">
                  <a:buNone/>
                </a:pPr>
                <a:r>
                  <a:rPr lang="en-US" altLang="zh-CN" b="0" i="1" dirty="0"/>
                  <a:t>J</a:t>
                </a:r>
                <a:r>
                  <a:rPr lang="zh-CN" altLang="zh-CN" b="0" dirty="0"/>
                  <a:t>表示雅可比</a:t>
                </a:r>
                <a:r>
                  <a:rPr lang="zh-CN" altLang="en-US" b="0" dirty="0"/>
                  <a:t>行列式</a:t>
                </a:r>
                <a:r>
                  <a:rPr lang="en-US" altLang="zh-CN" b="0" dirty="0"/>
                  <a:t> </a:t>
                </a:r>
                <a:r>
                  <a:rPr lang="zh-CN" altLang="en-US" b="0" dirty="0"/>
                  <a:t>（</a:t>
                </a:r>
                <a:r>
                  <a:rPr lang="en-US" altLang="zh-CN" b="0" dirty="0"/>
                  <a:t>Jacobian determinant</a:t>
                </a:r>
                <a:r>
                  <a:rPr lang="zh-CN" altLang="en-US" b="0" dirty="0"/>
                  <a:t>）</a:t>
                </a:r>
                <a:endParaRPr lang="en-US" altLang="zh-CN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,...,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,...,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altLang="zh-CN" b="0"/>
                                <m:t>  </m:t>
                              </m:r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altLang="zh-CN" b="0"/>
                                <m:t>  ...  </m:t>
                              </m:r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  <m:r>
                                <m:rPr>
                                  <m:nor/>
                                </m:rPr>
                                <a:rPr lang="en-US" altLang="zh-CN" b="0"/>
                                <m:t>    ...      ...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altLang="zh-CN" b="0"/>
                                <m:t>  </m:t>
                              </m:r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altLang="zh-CN" b="0"/>
                                <m:t>  ...  </m:t>
                              </m:r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lang="en-US" altLang="zh-CN" b="0"/>
                                    <m:t>  </m:t>
                                  </m:r>
                                  <m:f>
                                    <m:f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lang="en-US" altLang="zh-CN" b="0"/>
                                    <m:t>  ...  </m:t>
                                  </m:r>
                                  <m:f>
                                    <m:f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b="0"/>
                                    <m:t>    ...      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lang="en-US" altLang="zh-CN" b="0"/>
                                    <m:t>  </m:t>
                                  </m:r>
                                  <m:f>
                                    <m:f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lang="en-US" altLang="zh-CN" b="0"/>
                                    <m:t>  ...  </m:t>
                                  </m:r>
                                  <m:f>
                                    <m:f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eqArr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注：</a:t>
                </a:r>
                <a:r>
                  <a:rPr lang="zh-CN" altLang="zh-CN" b="0" dirty="0"/>
                  <a:t>如果是多值函数，将概率求和</a:t>
                </a:r>
                <a:r>
                  <a:rPr lang="zh-CN" altLang="en-US" b="0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379972-8116-49CC-A304-7A54B18413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0" y="1196752"/>
                <a:ext cx="8963891" cy="4283918"/>
              </a:xfrm>
              <a:blipFill>
                <a:blip r:embed="rId3"/>
                <a:stretch>
                  <a:fillRect l="-612" t="-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60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4BB0C9-C0B6-4258-A1B9-949BE35EA56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009650"/>
                <a:ext cx="8255000" cy="468976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2</a:t>
                </a:r>
                <a:r>
                  <a:rPr lang="en-US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.</a:t>
                </a:r>
                <a:r>
                  <a:rPr lang="x-none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二维随机变量的函数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:r>
                  <a:rPr lang="zh-CN" altLang="zh-CN" sz="1800" dirty="0"/>
                  <a:t>二维</a:t>
                </a:r>
                <a:r>
                  <a:rPr lang="en-US" altLang="zh-CN" sz="18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,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单值函数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/>
                            </m:mr>
                          </m:m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1800" dirty="0"/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zh-CN" altLang="zh-CN" sz="18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800" b="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sz="1800" b="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zh-CN" altLang="zh-CN" sz="18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800" b="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sz="1800" b="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zh-CN" altLang="zh-CN" sz="18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800" b="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sz="1800" b="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zh-CN" altLang="zh-CN" sz="18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800" b="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sz="1800" b="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b="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altLang="zh-CN" sz="1800" dirty="0"/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:r>
                  <a:rPr lang="zh-CN" altLang="en-US" sz="1800" dirty="0"/>
                  <a:t>则：</a:t>
                </a:r>
                <a:endParaRPr lang="en-US" altLang="zh-CN" sz="1800" dirty="0"/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)=|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|⋅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)=|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|⋅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sz="1800" dirty="0"/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</a:pPr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4BB0C9-C0B6-4258-A1B9-949BE35EA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009650"/>
                <a:ext cx="8255000" cy="4689764"/>
              </a:xfrm>
              <a:blipFill>
                <a:blip r:embed="rId2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04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59D903D-C436-4468-9887-617019452C5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95536" y="836712"/>
                <a:ext cx="8506691" cy="482879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zh-CN" altLang="en-US" b="0" dirty="0"/>
                  <a:t>例：求</a:t>
                </a:r>
                <a:r>
                  <a:rPr lang="en-US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 </a:t>
                </a:r>
                <a:r>
                  <a:rPr lang="en-US" altLang="zh-CN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altLang="zh-CN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 </a:t>
                </a:r>
                <a:r>
                  <a:rPr lang="zh-CN" altLang="en-US" b="0" dirty="0"/>
                  <a:t>的概率密度函数。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解：定义辅助变量</a:t>
                </a:r>
                <a:r>
                  <a:rPr lang="en-US" altLang="zh-CN" b="0" dirty="0"/>
                  <a:t>U=Y</a:t>
                </a:r>
                <a:r>
                  <a:rPr lang="zh-CN" altLang="en-US" b="0" dirty="0"/>
                  <a:t>，有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CN" b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US" altLang="zh-CN" b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b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b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CN" b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CN" b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CN" b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b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 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𝑍𝑈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b="0" dirty="0"/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b="0" dirty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 dirty="0"/>
                  <a:t>统计独立，有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b="0" dirty="0"/>
                  <a:t>=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b="0" dirty="0"/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b="0" dirty="0"/>
                  <a:t>=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b="0" dirty="0"/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)⋇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0" u="sng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独立随机变量和的概率密度等于各概率密度函数的卷积。</a:t>
                </a:r>
                <a:endParaRPr lang="en-US" altLang="zh-CN" b="0" u="sng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59D903D-C436-4468-9887-617019452C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95536" y="836712"/>
                <a:ext cx="8506691" cy="4828794"/>
              </a:xfrm>
              <a:blipFill>
                <a:blip r:embed="rId3"/>
                <a:stretch>
                  <a:fillRect l="-717" t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55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CBD6A3-7F19-460A-AE6C-965E69D6977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0" y="1325440"/>
                <a:ext cx="8610600" cy="438090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</a:rPr>
                  <a:t>1.  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瑞利分布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/>
                  <a:t> </a:t>
                </a:r>
                <a:r>
                  <a:rPr lang="zh-CN" altLang="zh-CN" dirty="0"/>
                  <a:t>设（</a:t>
                </a:r>
                <a:r>
                  <a:rPr lang="en-US" altLang="zh-CN" i="1" dirty="0"/>
                  <a:t>X</a:t>
                </a:r>
                <a:r>
                  <a:rPr lang="zh-CN" altLang="zh-CN" dirty="0"/>
                  <a:t>，</a:t>
                </a:r>
                <a:r>
                  <a:rPr lang="en-US" altLang="zh-CN" i="1" dirty="0"/>
                  <a:t>Y</a:t>
                </a:r>
                <a:r>
                  <a:rPr lang="zh-CN" altLang="zh-CN" dirty="0"/>
                  <a:t>）为相互统计独立的正态随机变量，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</a:t>
                </a:r>
                <a:r>
                  <a:rPr lang="en-US" altLang="zh-CN" i="1" dirty="0"/>
                  <a:t>R</a:t>
                </a:r>
                <a:r>
                  <a:rPr lang="zh-CN" altLang="zh-CN" dirty="0"/>
                  <a:t>为（</a:t>
                </a:r>
                <a:r>
                  <a:rPr lang="en-US" altLang="zh-CN" i="1" dirty="0"/>
                  <a:t>X</a:t>
                </a:r>
                <a:r>
                  <a:rPr lang="zh-CN" altLang="zh-CN" dirty="0"/>
                  <a:t>，</a:t>
                </a:r>
                <a:r>
                  <a:rPr lang="en-US" altLang="zh-CN" i="1" dirty="0"/>
                  <a:t>Y</a:t>
                </a:r>
                <a:r>
                  <a:rPr lang="zh-CN" altLang="zh-CN" dirty="0"/>
                  <a:t>）的模，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为相角，求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的联合概率密度函数和边缘概率密度函数。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联合密度</a:t>
                </a:r>
                <a:r>
                  <a:rPr lang="zh-CN" altLang="en-US" dirty="0"/>
                  <a:t>函数</a:t>
                </a:r>
                <a:r>
                  <a:rPr lang="zh-CN" altLang="zh-CN" dirty="0"/>
                  <a:t>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nor/>
                      </m:rPr>
                      <a:rPr lang="en-US" altLang="zh-CN"/>
                      <m:t> 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（</m:t>
                    </m:r>
                    <m:r>
                      <m:rPr>
                        <m:nor/>
                      </m:rPr>
                      <a:rPr lang="en-US" altLang="zh-CN" i="1"/>
                      <m:t>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nor/>
                      </m:rPr>
                      <a:rPr lang="en-US" altLang="zh-CN"/>
                      <m:t>&lt;</m:t>
                    </m:r>
                    <m:r>
                      <m:rPr>
                        <m:nor/>
                      </m:rPr>
                      <a:rPr lang="en-US" altLang="zh-CN" b="0" i="1" smtClean="0"/>
                      <m:t> </m:t>
                    </m:r>
                    <m:r>
                      <m:rPr>
                        <m:nor/>
                      </m:rPr>
                      <a:rPr lang="en-US" altLang="zh-CN" b="0" i="1"/>
                      <m:t>x</m:t>
                    </m:r>
                    <m:r>
                      <m:rPr>
                        <m:nor/>
                      </m:rPr>
                      <a:rPr lang="en-US" altLang="zh-CN" b="0" i="1"/>
                      <m:t>, </m:t>
                    </m:r>
                    <m:r>
                      <m:rPr>
                        <m:nor/>
                      </m:rPr>
                      <a:rPr lang="en-US" altLang="zh-CN" b="0" i="1"/>
                      <m:t>y</m:t>
                    </m:r>
                    <m:r>
                      <m:rPr>
                        <m:nor/>
                      </m:rPr>
                      <a:rPr lang="en-US" altLang="zh-CN" b="1" i="0" smtClean="0"/>
                      <m:t> </m:t>
                    </m:r>
                    <m:r>
                      <m:rPr>
                        <m:nor/>
                      </m:rPr>
                      <a:rPr lang="en-US" altLang="zh-CN"/>
                      <m:t>&lt;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∞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而模</a:t>
                </a:r>
                <a:r>
                  <a:rPr lang="zh-CN" altLang="en-US" dirty="0"/>
                  <a:t>和</a:t>
                </a:r>
                <a:r>
                  <a:rPr lang="zh-CN" altLang="zh-CN" dirty="0"/>
                  <a:t>相角</a:t>
                </a:r>
                <a:r>
                  <a:rPr lang="zh-CN" altLang="en-US" dirty="0"/>
                  <a:t>分别</a:t>
                </a:r>
                <a:r>
                  <a:rPr lang="zh-CN" altLang="zh-CN" dirty="0"/>
                  <a:t>为</a:t>
                </a:r>
                <a:r>
                  <a:rPr lang="en-US" altLang="zh-CN" dirty="0"/>
                  <a:t>        </a:t>
                </a: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nor/>
                              </m:rPr>
                              <a:rPr lang="en-US" altLang="zh-CN"/>
                              <m:t>     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存在唯一反函数</a:t>
                </a:r>
                <a:r>
                  <a:rPr lang="en-US" altLang="zh-CN" dirty="0"/>
                  <a:t> 		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fNam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fNam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eqArr>
                      </m:e>
                    </m:d>
                    <m:r>
                      <m:rPr>
                        <m:nor/>
                      </m:rPr>
                      <a:rPr lang="en-US" altLang="zh-CN"/>
                      <m:t>   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nor/>
                      </m:rPr>
                      <a:rPr lang="en-US" altLang="zh-CN"/>
                      <m:t>0,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CBD6A3-7F19-460A-AE6C-965E69D697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1325440"/>
                <a:ext cx="8610600" cy="4380901"/>
              </a:xfrm>
              <a:blipFill>
                <a:blip r:embed="rId3"/>
                <a:stretch>
                  <a:fillRect l="-849" t="-1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907704" y="597661"/>
            <a:ext cx="63107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1.3.3 </a:t>
            </a:r>
            <a:r>
              <a:rPr lang="zh-CN" altLang="zh-CN" sz="2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瑞利分布</a:t>
            </a:r>
            <a:r>
              <a:rPr lang="zh-CN" altLang="en-US" sz="2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和莱斯分布</a:t>
            </a:r>
            <a:endParaRPr lang="en-US" altLang="zh-CN" sz="24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lang="en-US" altLang="zh-CN" sz="24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017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CBD6A3-7F19-460A-AE6C-965E69D6977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325440"/>
                <a:ext cx="8255000" cy="43809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雅克比行列式为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		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𝜕𝜃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𝜕𝜃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func>
                                <m:func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func>
                                <m:func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故</a:t>
                </a:r>
                <a:r>
                  <a:rPr lang="zh-CN" altLang="en-US" dirty="0"/>
                  <a:t>联合概率密度函数为</a:t>
                </a:r>
                <a:r>
                  <a:rPr lang="en-US" altLang="zh-CN" dirty="0"/>
                  <a:t>	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</a:t>
                </a: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                                                  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                                                             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&gt;0,|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|≤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）</a:t>
                </a:r>
                <a:endParaRPr lang="zh-CN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CBD6A3-7F19-460A-AE6C-965E69D697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0"/>
                <a:ext cx="8255000" cy="4380901"/>
              </a:xfrm>
              <a:blipFill>
                <a:blip r:embed="rId3"/>
                <a:stretch>
                  <a:fillRect l="-886" t="-12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640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FA5CD8B-606C-40CA-99C6-E31D1046559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0" y="1009650"/>
                <a:ext cx="8478982" cy="45373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sup>
                              </m:sSup>
                            </m:e>
                          </m:nary>
                          <m:r>
                            <m:rPr>
                              <m:nor/>
                            </m:rPr>
                            <a:rPr lang="en-US" altLang="zh-CN"/>
                            <m:t>   </m:t>
                          </m:r>
                          <m:r>
                            <m:rPr>
                              <m:nor/>
                            </m:rPr>
                            <a:rPr lang="en-US" altLang="zh-CN" smtClean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&gt;0)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zh-CN" altLang="zh-CN" dirty="0"/>
                  <a:t>为瑞利分布</a:t>
                </a:r>
                <a:r>
                  <a:rPr lang="zh-CN" altLang="en-US" dirty="0"/>
                  <a:t>，参数为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 algn="ctr"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𝑑𝑧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𝑑𝑟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nor/>
                          </m:rPr>
                          <a:rPr lang="en-US" altLang="zh-CN"/>
                          <m:t>   </m:t>
                        </m:r>
                        <m:r>
                          <m:rPr>
                            <m:nor/>
                          </m:rPr>
                          <a:rPr lang="en-US" altLang="zh-CN" smtClean="0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(|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|≤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zh-CN" altLang="zh-CN" dirty="0"/>
                  <a:t>为均匀分布</a:t>
                </a:r>
                <a:r>
                  <a:rPr lang="zh-CN" altLang="en-US" dirty="0"/>
                  <a:t>，取值 </a:t>
                </a:r>
                <a:r>
                  <a:rPr lang="en-US" altLang="zh-CN" dirty="0"/>
                  <a:t>[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dirty="0"/>
                  <a:t>]</a:t>
                </a:r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且</a:t>
                </a:r>
                <a:r>
                  <a:rPr lang="zh-CN" altLang="en-US" dirty="0"/>
                  <a:t>有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二者统计独立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结论：以均值为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0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、方差为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的统计独立的高斯随机变量为横坐标和纵坐标，其模和相位分别为瑞利分布和均匀分布，且统计独立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FA5CD8B-606C-40CA-99C6-E31D104655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1009650"/>
                <a:ext cx="8478982" cy="4537364"/>
              </a:xfrm>
              <a:blipFill>
                <a:blip r:embed="rId3"/>
                <a:stretch>
                  <a:fillRect l="-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50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EB8DCD-DE0D-4274-974F-0750BE2E3BF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31619" y="1141268"/>
                <a:ext cx="8901545" cy="448887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2. 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莱斯分布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</a:t>
                </a:r>
                <a:r>
                  <a:rPr lang="zh-CN" altLang="en-US" b="0" dirty="0"/>
                  <a:t>（</a:t>
                </a:r>
                <a:r>
                  <a:rPr lang="en-US" altLang="zh-CN" b="0" i="1" dirty="0"/>
                  <a:t>X</a:t>
                </a:r>
                <a:r>
                  <a:rPr lang="zh-CN" altLang="zh-CN" b="0" dirty="0"/>
                  <a:t>，</a:t>
                </a:r>
                <a:r>
                  <a:rPr lang="en-US" altLang="zh-CN" b="0" i="1" dirty="0"/>
                  <a:t>Y</a:t>
                </a:r>
                <a:r>
                  <a:rPr lang="zh-CN" altLang="zh-CN" b="0" dirty="0"/>
                  <a:t>）为相互统计独立的正态随机变量，</a:t>
                </a:r>
                <a:r>
                  <a:rPr lang="en-US" altLang="zh-CN" b="0" i="1" dirty="0"/>
                  <a:t> X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、</m:t>
                    </m:r>
                    <m:r>
                      <m:rPr>
                        <m:nor/>
                      </m:rPr>
                      <a:rPr lang="en-US" altLang="zh-CN" b="0" i="1" dirty="0"/>
                      <m:t>Y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0" dirty="0"/>
                  <a:t>，</a:t>
                </a:r>
                <a:r>
                  <a:rPr lang="en-US" altLang="zh-CN" b="0" i="1" dirty="0"/>
                  <a:t>R</a:t>
                </a:r>
                <a:r>
                  <a:rPr lang="zh-CN" altLang="zh-CN" b="0" dirty="0"/>
                  <a:t>为（</a:t>
                </a:r>
                <a:r>
                  <a:rPr lang="en-US" altLang="zh-CN" b="0" i="1" dirty="0"/>
                  <a:t>X</a:t>
                </a:r>
                <a:r>
                  <a:rPr lang="zh-CN" altLang="zh-CN" b="0" dirty="0"/>
                  <a:t>，</a:t>
                </a:r>
                <a:r>
                  <a:rPr lang="en-US" altLang="zh-CN" b="0" i="1" dirty="0"/>
                  <a:t>Y</a:t>
                </a:r>
                <a:r>
                  <a:rPr lang="zh-CN" altLang="zh-CN" b="0" dirty="0"/>
                  <a:t>）的模，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b="0" dirty="0"/>
                  <a:t>为相角，求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0" dirty="0"/>
                  <a:t>的联合概率密度函数和边缘概率密度函数。</a:t>
                </a:r>
              </a:p>
              <a:p>
                <a:pPr marL="0" indent="0">
                  <a:buNone/>
                </a:pPr>
                <a:r>
                  <a:rPr lang="zh-CN" altLang="en-US" b="0" dirty="0"/>
                  <a:t>解：已知</a:t>
                </a:r>
                <a:r>
                  <a:rPr lang="en-US" altLang="zh-CN" b="0" i="1" dirty="0"/>
                  <a:t>X</a:t>
                </a:r>
                <a:r>
                  <a:rPr lang="zh-CN" altLang="en-US" b="0" dirty="0"/>
                  <a:t>、</a:t>
                </a:r>
                <a:r>
                  <a:rPr lang="en-US" altLang="zh-CN" b="0" i="1" dirty="0"/>
                  <a:t>Y</a:t>
                </a:r>
                <a:r>
                  <a:rPr lang="zh-CN" altLang="en-US" b="0" dirty="0"/>
                  <a:t>的联合概率密度函数为</a:t>
                </a:r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b="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b="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m:rPr>
                          <m:nor/>
                        </m:rPr>
                        <a:rPr lang="en-US" altLang="zh-CN"/>
                        <m:t>   </m:t>
                      </m:r>
                      <m:r>
                        <m:rPr>
                          <m:nor/>
                        </m:rPr>
                        <a:rPr lang="en-US" altLang="zh-CN" i="1"/>
                        <m:t>−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∞</m:t>
                      </m:r>
                      <m:r>
                        <m:rPr>
                          <m:nor/>
                        </m:rPr>
                        <a:rPr lang="en-US" altLang="zh-CN"/>
                        <m:t>&lt;</m:t>
                      </m:r>
                      <m:r>
                        <m:rPr>
                          <m:nor/>
                        </m:rPr>
                        <a:rPr lang="en-US" altLang="zh-CN" b="0" i="1"/>
                        <m:t>x</m:t>
                      </m:r>
                      <m:r>
                        <m:rPr>
                          <m:nor/>
                        </m:rPr>
                        <a:rPr lang="en-US" altLang="zh-CN" b="0" i="1"/>
                        <m:t>,</m:t>
                      </m:r>
                      <m:r>
                        <m:rPr>
                          <m:nor/>
                        </m:rPr>
                        <a:rPr lang="en-US" altLang="zh-CN" b="0" i="1"/>
                        <m:t>y</m:t>
                      </m:r>
                      <m:r>
                        <m:rPr>
                          <m:nor/>
                        </m:rPr>
                        <a:rPr lang="en-US" altLang="zh-CN"/>
                        <m:t>&lt;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令  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rad>
                          </m:e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𝑎𝑟𝑐𝑡𝑎𝑛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en-US" altLang="zh-CN" b="0" dirty="0"/>
                  <a:t> , 		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𝑎𝑐𝑜𝑠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𝑎𝑠𝑖𝑛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b="0" dirty="0"/>
                  <a:t>   ,    </a:t>
                </a:r>
              </a:p>
              <a:p>
                <a:pPr marL="0" indent="0">
                  <a:buNone/>
                </a:pPr>
                <a:r>
                  <a:rPr lang="zh-CN" altLang="en-US" b="0" dirty="0"/>
                  <a:t>则</a:t>
                </a:r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𝑟𝑎𝑐𝑜𝑠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EB8DCD-DE0D-4274-974F-0750BE2E3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31619" y="1141268"/>
                <a:ext cx="8901545" cy="4488873"/>
              </a:xfrm>
              <a:blipFill>
                <a:blip r:embed="rId3"/>
                <a:stretch>
                  <a:fillRect l="-822" t="-19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44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B023A3-1507-4B1D-8F8B-DD0DC0ADD330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168977"/>
                <a:ext cx="8255000" cy="42031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𝑟𝑎𝑐𝑜𝑠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故</a:t>
                </a:r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zh-CN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𝑟𝑎𝑐𝑜𝑠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b="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zh-CN" altLang="en-US" b="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zh-CN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sup>
                              </m:s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US" altLang="zh-CN" b="0"/>
                            <m:t> 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𝑟𝑎𝑐𝑜𝑠</m:t>
                                  </m:r>
                                  <m:d>
                                    <m:d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b="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b="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𝑥𝑐𝑜𝑠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为修正零阶贝塞尔函数。</a:t>
                </a:r>
                <a:endParaRPr lang="en-US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zh-CN" altLang="en-US" b="0" dirty="0"/>
                  <a:t>称为</a:t>
                </a:r>
                <a:r>
                  <a:rPr lang="zh-CN" altLang="en-US" b="0" dirty="0">
                    <a:solidFill>
                      <a:srgbClr val="FF0000"/>
                    </a:solidFill>
                  </a:rPr>
                  <a:t>广义瑞利分布或称为莱斯分布</a:t>
                </a:r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B023A3-1507-4B1D-8F8B-DD0DC0ADD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168977"/>
                <a:ext cx="8255000" cy="4203123"/>
              </a:xfrm>
              <a:blipFill>
                <a:blip r:embed="rId3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88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CBD6A3-7F19-460A-AE6C-965E69D6977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90946" y="1325440"/>
                <a:ext cx="8589818" cy="43809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</a:rPr>
                  <a:t>3.  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瑞利</a:t>
                </a:r>
                <a:r>
                  <a:rPr lang="en-US" altLang="zh-CN" dirty="0">
                    <a:solidFill>
                      <a:schemeClr val="accent2"/>
                    </a:solidFill>
                  </a:rPr>
                  <a:t>/</a:t>
                </a:r>
                <a:r>
                  <a:rPr lang="zh-CN" altLang="en-US" dirty="0">
                    <a:solidFill>
                      <a:schemeClr val="accent2"/>
                    </a:solidFill>
                  </a:rPr>
                  <a:t>莱斯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分布</a:t>
                </a:r>
                <a:r>
                  <a:rPr lang="zh-CN" altLang="en-US" dirty="0">
                    <a:solidFill>
                      <a:schemeClr val="accent2"/>
                    </a:solidFill>
                  </a:rPr>
                  <a:t>的随机变量与高斯随机变量的关系</a:t>
                </a:r>
                <a:endParaRPr lang="zh-CN" altLang="zh-CN" dirty="0">
                  <a:solidFill>
                    <a:schemeClr val="accent2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   直角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坐标系：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𝑗𝑌</m:t>
                    </m:r>
                  </m:oMath>
                </a14:m>
                <a:r>
                  <a:rPr lang="zh-CN" altLang="en-US" b="0" dirty="0"/>
                  <a:t>， </a:t>
                </a:r>
                <a:r>
                  <a:rPr lang="en-US" altLang="zh-CN" b="0" dirty="0"/>
                  <a:t>   </a:t>
                </a:r>
                <a:r>
                  <a:rPr lang="zh-CN" altLang="en-US" b="0" dirty="0"/>
                  <a:t>极坐标系：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𝛩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b="0" dirty="0"/>
                  <a:t>1) </a:t>
                </a:r>
                <a14:m>
                  <m:oMath xmlns:m="http://schemas.openxmlformats.org/officeDocument/2006/math">
                    <m:r>
                      <a:rPr lang="en-US" altLang="zh-CN" b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为统计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独立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b="0" dirty="0"/>
                  <a:t>标准正态分布（均值为</a:t>
                </a:r>
                <a:r>
                  <a:rPr lang="en-US" altLang="zh-CN" b="0" dirty="0"/>
                  <a:t>0</a:t>
                </a:r>
                <a:r>
                  <a:rPr lang="zh-CN" altLang="en-US" b="0" dirty="0"/>
                  <a:t>，方差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）时，幅度或模服从参数为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b="0" dirty="0"/>
                  <a:t>的瑞利分布，相位服从</a:t>
                </a:r>
                <a:r>
                  <a:rPr lang="en-US" altLang="zh-CN" dirty="0"/>
                  <a:t>[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]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或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zh-CN" altLang="en-US" b="0" dirty="0"/>
                  <a:t>的均匀分布。</a:t>
                </a:r>
                <a:endParaRPr lang="en-US" altLang="zh-CN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b="0" dirty="0"/>
                  <a:t>2)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为统计独立的</m:t>
                    </m:r>
                  </m:oMath>
                </a14:m>
                <a:r>
                  <a:rPr lang="zh-CN" altLang="en-US" b="0" dirty="0"/>
                  <a:t>正态分布（均值不同，方差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 dirty="0"/>
                  <a:t>）时，幅度或模服从莱斯瑞利分布。</a:t>
                </a:r>
                <a:endParaRPr lang="en-US" altLang="zh-CN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b="0" dirty="0"/>
                  <a:t>      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b="0" dirty="0"/>
                  <a:t> 3) </a:t>
                </a:r>
                <a:r>
                  <a:rPr lang="zh-CN" altLang="en-US" b="0" dirty="0"/>
                  <a:t>瑞利分布是莱斯分布的特例。</a:t>
                </a:r>
                <a:r>
                  <a:rPr lang="en-US" altLang="zh-CN" b="0" dirty="0"/>
                  <a:t> 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CBD6A3-7F19-460A-AE6C-965E69D697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90946" y="1325440"/>
                <a:ext cx="8589818" cy="4380901"/>
              </a:xfrm>
              <a:blipFill>
                <a:blip r:embed="rId3"/>
                <a:stretch>
                  <a:fillRect l="-852" t="-12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09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CBD6A3-7F19-460A-AE6C-965E69D6977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79512" y="548680"/>
            <a:ext cx="2768886" cy="591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瑞利分布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74B423-C640-4984-ACD1-765396B5A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340768"/>
            <a:ext cx="7560840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4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CBD6A3-7F19-460A-AE6C-965E69D6977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79512" y="548680"/>
            <a:ext cx="6264696" cy="591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莱斯分布（莱斯因子</a:t>
            </a:r>
            <a:r>
              <a:rPr lang="en-US" altLang="zh-CN" dirty="0">
                <a:solidFill>
                  <a:srgbClr val="FF0000"/>
                </a:solidFill>
              </a:rPr>
              <a:t>K=beta^2/(2sigma^2)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692A8AD-1EE6-49A2-BAE1-7AC8EA754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196752"/>
            <a:ext cx="7344816" cy="472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285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6E84C-6718-4B6E-A38A-D4799CD9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  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06415E-6C52-42BE-AF92-FB7BECCB1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07" y="2078831"/>
            <a:ext cx="8674925" cy="3561206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总结课程知识点和有关重要公式。</a:t>
            </a:r>
            <a:endParaRPr lang="en-US" altLang="zh-CN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整理课堂练习题、错题分析，课堂中没有提交的作业本上给出详细的解答。</a:t>
            </a:r>
            <a:endParaRPr lang="en-US" altLang="zh-CN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课本习题：</a:t>
            </a:r>
            <a:r>
              <a:rPr lang="en-US" altLang="zh-CN" dirty="0"/>
              <a:t>1.6</a:t>
            </a:r>
            <a:r>
              <a:rPr lang="zh-CN" altLang="en-US" dirty="0"/>
              <a:t>、</a:t>
            </a:r>
            <a:r>
              <a:rPr lang="en-US" altLang="zh-CN" dirty="0"/>
              <a:t>1.8</a:t>
            </a:r>
            <a:r>
              <a:rPr lang="zh-CN" altLang="en-US" dirty="0"/>
              <a:t>、</a:t>
            </a:r>
            <a:r>
              <a:rPr lang="en-US" altLang="zh-CN" dirty="0"/>
              <a:t>1.9</a:t>
            </a:r>
            <a:r>
              <a:rPr lang="zh-CN" altLang="en-US" dirty="0"/>
              <a:t>、</a:t>
            </a:r>
            <a:r>
              <a:rPr lang="en-US" altLang="zh-CN" dirty="0"/>
              <a:t>1.10</a:t>
            </a:r>
            <a:r>
              <a:rPr lang="zh-CN" altLang="en-US" dirty="0"/>
              <a:t>、</a:t>
            </a:r>
            <a:r>
              <a:rPr lang="en-US" altLang="zh-CN" dirty="0"/>
              <a:t>1.11</a:t>
            </a:r>
            <a:r>
              <a:rPr lang="zh-CN" altLang="en-US" dirty="0"/>
              <a:t>、</a:t>
            </a:r>
            <a:r>
              <a:rPr lang="en-US" altLang="zh-CN" dirty="0"/>
              <a:t>1.15</a:t>
            </a:r>
            <a:r>
              <a:rPr lang="zh-CN" altLang="en-US" dirty="0"/>
              <a:t>、</a:t>
            </a:r>
            <a:r>
              <a:rPr lang="en-US" altLang="zh-CN" dirty="0"/>
              <a:t>1.16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62346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true,&quot;Score&quot;:1.0,&quot;answers&quot;:[&quot;0.3&quot;]}]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Correc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Correc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Correc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Correc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mpressive Sens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Compressive Sensing</Template>
  <TotalTime>5396</TotalTime>
  <Words>5282</Words>
  <Application>Microsoft Office PowerPoint</Application>
  <PresentationFormat>全屏显示(4:3)</PresentationFormat>
  <Paragraphs>463</Paragraphs>
  <Slides>56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8" baseType="lpstr">
      <vt:lpstr>Arial Unicode MS</vt:lpstr>
      <vt:lpstr>等线</vt:lpstr>
      <vt:lpstr>仿宋_GB2312</vt:lpstr>
      <vt:lpstr>黑体</vt:lpstr>
      <vt:lpstr>楷体</vt:lpstr>
      <vt:lpstr>隶书</vt:lpstr>
      <vt:lpstr>宋体</vt:lpstr>
      <vt:lpstr>Microsoft Yahei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1_自定义设计方案</vt:lpstr>
      <vt:lpstr>自定义设计方案</vt:lpstr>
      <vt:lpstr>1_Compressive Sensing</vt:lpstr>
      <vt:lpstr>1_Pres_in_sample</vt:lpstr>
      <vt:lpstr>2_Pres_in_sample</vt:lpstr>
      <vt:lpstr>MathType 6.0 Equation</vt:lpstr>
      <vt:lpstr>PowerPoint 演示文稿</vt:lpstr>
      <vt:lpstr>第一章 概率论基础</vt:lpstr>
      <vt:lpstr>学习目标</vt:lpstr>
      <vt:lpstr>PowerPoint 演示文稿</vt:lpstr>
      <vt:lpstr>PowerPoint 演示文稿</vt:lpstr>
      <vt:lpstr>PowerPoint 演示文稿</vt:lpstr>
      <vt:lpstr>PowerPoint 演示文稿</vt:lpstr>
      <vt:lpstr>1.1.1 概率公理和概率基本公式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1.1.2 随机变量及其概率分布</vt:lpstr>
      <vt:lpstr>PowerPoint 演示文稿</vt:lpstr>
      <vt:lpstr>PowerPoint 演示文稿</vt:lpstr>
      <vt:lpstr>PowerPoint 演示文稿</vt:lpstr>
      <vt:lpstr>1.1.2 随机变量及其概率分布</vt:lpstr>
      <vt:lpstr>PowerPoint 演示文稿</vt:lpstr>
      <vt:lpstr>PowerPoint 演示文稿</vt:lpstr>
      <vt:lpstr>PowerPoint 演示文稿</vt:lpstr>
      <vt:lpstr>1.2 多维随机变量及其分布</vt:lpstr>
      <vt:lpstr>PowerPoint 演示文稿</vt:lpstr>
      <vt:lpstr>PowerPoint 演示文稿</vt:lpstr>
      <vt:lpstr>1.2 .1 二维联合分布函数和联合PDF</vt:lpstr>
      <vt:lpstr>二维正态分布</vt:lpstr>
      <vt:lpstr>1.2.2  边缘分布函数和边缘概率密度 marginal  PDF</vt:lpstr>
      <vt:lpstr>1.2.3 条件分布函数和条件PDF</vt:lpstr>
      <vt:lpstr>1.2.3 条件分布函数和条件PDF</vt:lpstr>
      <vt:lpstr>1.2.4 多维随机变量的概率分布</vt:lpstr>
      <vt:lpstr>1.2.4 多维随机变量的概率分布</vt:lpstr>
      <vt:lpstr>1.2.5 随机变量统计独立的条件</vt:lpstr>
      <vt:lpstr>1.2   例题</vt:lpstr>
      <vt:lpstr>PowerPoint 演示文稿</vt:lpstr>
      <vt:lpstr>1.3  随机变量的函数的概率分布</vt:lpstr>
      <vt:lpstr>1.3.1  一维随机变量的函数的分布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  业</vt:lpstr>
    </vt:vector>
  </TitlesOfParts>
  <Company>Keio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Wensheng Zhang</dc:creator>
  <cp:lastModifiedBy>Wensheng Zhang</cp:lastModifiedBy>
  <cp:revision>634</cp:revision>
  <dcterms:created xsi:type="dcterms:W3CDTF">2012-07-10T00:46:24Z</dcterms:created>
  <dcterms:modified xsi:type="dcterms:W3CDTF">2024-09-13T01:52:07Z</dcterms:modified>
</cp:coreProperties>
</file>