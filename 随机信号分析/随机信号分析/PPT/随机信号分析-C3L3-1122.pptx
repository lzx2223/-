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45"/>
  </p:notesMasterIdLst>
  <p:handoutMasterIdLst>
    <p:handoutMasterId r:id="rId46"/>
  </p:handoutMasterIdLst>
  <p:sldIdLst>
    <p:sldId id="360" r:id="rId6"/>
    <p:sldId id="256" r:id="rId7"/>
    <p:sldId id="275" r:id="rId8"/>
    <p:sldId id="284" r:id="rId9"/>
    <p:sldId id="257" r:id="rId10"/>
    <p:sldId id="258" r:id="rId11"/>
    <p:sldId id="259" r:id="rId12"/>
    <p:sldId id="288" r:id="rId13"/>
    <p:sldId id="260" r:id="rId14"/>
    <p:sldId id="261" r:id="rId15"/>
    <p:sldId id="262" r:id="rId16"/>
    <p:sldId id="289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90" r:id="rId25"/>
    <p:sldId id="270" r:id="rId26"/>
    <p:sldId id="271" r:id="rId27"/>
    <p:sldId id="272" r:id="rId28"/>
    <p:sldId id="361" r:id="rId29"/>
    <p:sldId id="362" r:id="rId30"/>
    <p:sldId id="363" r:id="rId31"/>
    <p:sldId id="276" r:id="rId32"/>
    <p:sldId id="311" r:id="rId33"/>
    <p:sldId id="278" r:id="rId34"/>
    <p:sldId id="279" r:id="rId35"/>
    <p:sldId id="280" r:id="rId36"/>
    <p:sldId id="281" r:id="rId37"/>
    <p:sldId id="364" r:id="rId38"/>
    <p:sldId id="283" r:id="rId39"/>
    <p:sldId id="365" r:id="rId40"/>
    <p:sldId id="314" r:id="rId41"/>
    <p:sldId id="287" r:id="rId42"/>
    <p:sldId id="285" r:id="rId43"/>
    <p:sldId id="286" r:id="rId4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0047" autoAdjust="0"/>
  </p:normalViewPr>
  <p:slideViewPr>
    <p:cSldViewPr>
      <p:cViewPr varScale="1">
        <p:scale>
          <a:sx n="61" d="100"/>
          <a:sy n="61" d="100"/>
        </p:scale>
        <p:origin x="140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8A%9F%E7%8E%87%E8%B0%B1?fromModule=lemma_inlink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读书</a:t>
            </a:r>
            <a:r>
              <a:rPr lang="en-US" altLang="zh-CN" dirty="0"/>
              <a:t>3.42</a:t>
            </a:r>
            <a:r>
              <a:rPr lang="zh-CN" altLang="en-US" dirty="0"/>
              <a:t>， 关于功率谱的物理意义。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038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于白光是由各种频率（颜色）的单色光混合而成，因而此信号的这种具有平坦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功率谱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的性质被称作是“白色的”，此信号也因此被称作白噪声。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AWGN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，加性高斯白噪声。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100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平稳信号相关函数性质</a:t>
            </a:r>
            <a:r>
              <a:rPr lang="en-US" altLang="zh-CN" dirty="0"/>
              <a:t>R(0)=EX^2 , R(inf)=(EX)^2, DX=R(0)-R(inf)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044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理想信道传输模型中的噪声。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126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Thermal noise </a:t>
            </a:r>
            <a:r>
              <a:rPr lang="zh-CN" altLang="en-US" dirty="0"/>
              <a:t>热噪声高斯白噪声的一种！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134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p65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8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什么叫码元？ 最小物理信号实体，“元”不可分割的最小单位。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52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20/11/2024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20/11/2024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Visio_Drawing1.vsdx"/><Relationship Id="rId13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6.emf"/><Relationship Id="rId12" Type="http://schemas.openxmlformats.org/officeDocument/2006/relationships/image" Target="../media/image23.png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Visio_Drawing.vsdx"/><Relationship Id="rId11" Type="http://schemas.openxmlformats.org/officeDocument/2006/relationships/image" Target="../media/image7.emf"/><Relationship Id="rId5" Type="http://schemas.openxmlformats.org/officeDocument/2006/relationships/image" Target="../media/image6.emf"/><Relationship Id="rId10" Type="http://schemas.openxmlformats.org/officeDocument/2006/relationships/package" Target="../embeddings/Microsoft_Visio_Drawing1.vsdx"/><Relationship Id="rId4" Type="http://schemas.openxmlformats.org/officeDocument/2006/relationships/package" Target="../embeddings/Microsoft_Visio_Drawing.vsd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Visio_Drawing2.vsd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Visio_Drawing3.vsdx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Visio_Drawing4.vsdx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9.png"/><Relationship Id="rId5" Type="http://schemas.openxmlformats.org/officeDocument/2006/relationships/image" Target="../media/image28.emf"/><Relationship Id="rId4" Type="http://schemas.openxmlformats.org/officeDocument/2006/relationships/package" Target="../embeddings/Microsoft_Visio_Drawing5.vsdx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sd01234090-1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632848" cy="792088"/>
          </a:xfrm>
        </p:spPr>
        <p:txBody>
          <a:bodyPr/>
          <a:lstStyle/>
          <a:p>
            <a:r>
              <a:rPr lang="zh-CN" altLang="zh-CN" sz="4000" dirty="0"/>
              <a:t>第三章</a:t>
            </a:r>
            <a:r>
              <a:rPr lang="en-US" altLang="zh-CN" sz="4000" dirty="0"/>
              <a:t>  </a:t>
            </a:r>
            <a:r>
              <a:rPr lang="zh-CN" altLang="zh-CN" sz="4000" dirty="0"/>
              <a:t>平稳性与功率谱密度</a:t>
            </a:r>
            <a:endParaRPr lang="zh-CN" altLang="en-US" sz="4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1475656" y="1844824"/>
            <a:ext cx="6408712" cy="3869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3.1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平稳性与联合平稳性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3.2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循环平稳性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3.3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平稳信号的相关函数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3.4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功率谱密度与互相关函数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3.5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白噪声与热噪声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3.6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应用举例</a:t>
            </a:r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023397-5E04-4911-8DE0-8C1A8321F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319" y="1259498"/>
                <a:ext cx="8369224" cy="435034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highlight>
                      <a:srgbClr val="FFFF00"/>
                    </a:highlight>
                  </a:rPr>
                  <a:t>平稳随机过程的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维纳</a:t>
                </a:r>
                <a:r>
                  <a:rPr lang="en-US" altLang="zh-CN" dirty="0">
                    <a:highlight>
                      <a:srgbClr val="FFFF00"/>
                    </a:highlight>
                  </a:rPr>
                  <a:t>—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辛钦定理</a:t>
                </a:r>
                <a:endParaRPr lang="en-US" altLang="zh-CN" i="1" dirty="0">
                  <a:solidFill>
                    <a:srgbClr val="FF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𝝎𝝉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nary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zh-CN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zh-CN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）＝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𝝎𝝉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平稳随机过程的自相关函数和功率谱密度是一对傅里叶变换对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该定理</a:t>
                </a:r>
                <a:r>
                  <a:rPr lang="zh-CN" altLang="zh-CN" dirty="0"/>
                  <a:t>又称平稳随机过程的相关函数的谱分解，指出自相关与功率谱的关系：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          </a:t>
                </a:r>
                <a:r>
                  <a:rPr lang="zh-CN" altLang="en-US" dirty="0">
                    <a:highlight>
                      <a:srgbClr val="00FFFF"/>
                    </a:highlight>
                  </a:rPr>
                  <a:t>自相关函数</a:t>
                </a:r>
                <a:r>
                  <a:rPr lang="zh-CN" altLang="zh-CN" dirty="0">
                    <a:highlight>
                      <a:srgbClr val="00FFFF"/>
                    </a:highlight>
                  </a:rPr>
                  <a:t>是时域描述的统计特性，</a:t>
                </a:r>
                <a:endParaRPr lang="en-US" altLang="zh-CN" dirty="0">
                  <a:highlight>
                    <a:srgbClr val="00FFFF"/>
                  </a:highlight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          </a:t>
                </a:r>
                <a:r>
                  <a:rPr lang="zh-CN" altLang="en-US" dirty="0">
                    <a:highlight>
                      <a:srgbClr val="00FFFF"/>
                    </a:highlight>
                  </a:rPr>
                  <a:t>功率谱密度</a:t>
                </a:r>
                <a:r>
                  <a:rPr lang="zh-CN" altLang="zh-CN" dirty="0">
                    <a:highlight>
                      <a:srgbClr val="00FFFF"/>
                    </a:highlight>
                  </a:rPr>
                  <a:t>是频域描述的统计特性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023397-5E04-4911-8DE0-8C1A8321F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319" y="1259498"/>
                <a:ext cx="8369224" cy="4350346"/>
              </a:xfrm>
              <a:blipFill>
                <a:blip r:embed="rId3"/>
                <a:stretch>
                  <a:fillRect l="-728" t="-5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01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73481-E22A-4CF1-AD24-0684048E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3.5  </a:t>
            </a:r>
            <a:r>
              <a:rPr lang="zh-CN" altLang="zh-CN" sz="2800" dirty="0"/>
              <a:t>白噪声和白噪声序列</a:t>
            </a:r>
            <a:r>
              <a:rPr lang="en-US" altLang="zh-CN" sz="2800" dirty="0"/>
              <a:t>   </a:t>
            </a:r>
            <a:r>
              <a:rPr lang="zh-CN" altLang="en-US" sz="2800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9FD733-5702-4489-B1BF-62953F2E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写出白噪声自相关函数和功率谱密度的解析表达式，并解释它们的物理含义。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理解广义平稳信号的各种应用。</a:t>
            </a:r>
          </a:p>
        </p:txBody>
      </p:sp>
    </p:spTree>
    <p:extLst>
      <p:ext uri="{BB962C8B-B14F-4D97-AF65-F5344CB8AC3E}">
        <p14:creationId xmlns:p14="http://schemas.microsoft.com/office/powerpoint/2010/main" val="19380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7285C-DF39-4E71-8B3E-BD31342D1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97802"/>
            <a:ext cx="7886700" cy="839744"/>
          </a:xfrm>
        </p:spPr>
        <p:txBody>
          <a:bodyPr>
            <a:normAutofit/>
          </a:bodyPr>
          <a:lstStyle/>
          <a:p>
            <a:r>
              <a:rPr lang="en-US" altLang="zh-CN" dirty="0"/>
              <a:t>3.5  </a:t>
            </a:r>
            <a:r>
              <a:rPr lang="zh-CN" altLang="zh-CN" dirty="0"/>
              <a:t>白噪声和白噪声序列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8A73DC-8B0F-49F7-B989-1448D8DC8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7456" y="1576227"/>
                <a:ext cx="8689086" cy="376930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450"/>
                  </a:spcBef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3.5.1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白噪声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信号</a:t>
                </a:r>
                <a:endParaRPr lang="zh-CN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450"/>
                  </a:spcBef>
                  <a:buFont typeface="Wingdings" panose="05000000000000000000" pitchFamily="2" charset="2"/>
                  <a:buChar char="l"/>
                </a:pPr>
                <a:r>
                  <a:rPr lang="zh-CN" altLang="zh-CN" sz="1800" dirty="0"/>
                  <a:t>定义：均值为</a:t>
                </a:r>
                <a:r>
                  <a:rPr lang="en-US" altLang="zh-CN" sz="1800" dirty="0"/>
                  <a:t>0</a:t>
                </a:r>
                <a:r>
                  <a:rPr lang="zh-CN" altLang="zh-CN" sz="1800" dirty="0"/>
                  <a:t>，功率密度谱在整个频率轴上为非零常数的平稳过程</a:t>
                </a:r>
                <a:r>
                  <a:rPr lang="zh-CN" altLang="en-US" sz="1800" dirty="0"/>
                  <a:t>。</a:t>
                </a:r>
                <a:endParaRPr lang="zh-CN" altLang="zh-CN" sz="1800" dirty="0"/>
              </a:p>
              <a:p>
                <a:pPr>
                  <a:lnSpc>
                    <a:spcPct val="150000"/>
                  </a:lnSpc>
                  <a:spcBef>
                    <a:spcPts val="45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1800"/>
                      <m:t> </m:t>
                    </m:r>
                  </m:oMath>
                </a14:m>
                <a:endParaRPr lang="en-US" altLang="zh-CN" sz="1800" dirty="0"/>
              </a:p>
              <a:p>
                <a:pPr>
                  <a:lnSpc>
                    <a:spcPct val="150000"/>
                  </a:lnSpc>
                  <a:spcBef>
                    <a:spcPts val="45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1800"/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瓦特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/(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1800" b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1800" b="0"/>
                      <m:t> </m:t>
                    </m:r>
                    <m:r>
                      <m:rPr>
                        <m:nor/>
                      </m:rPr>
                      <a:rPr lang="en-US" altLang="zh-CN" sz="1800"/>
                      <m:t>  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&lt;∞)</m:t>
                    </m:r>
                  </m:oMath>
                </a14:m>
                <a:r>
                  <a:rPr lang="zh-CN" altLang="zh-CN" sz="1800" dirty="0"/>
                  <a:t>（双边功率谱）</a:t>
                </a:r>
              </a:p>
              <a:p>
                <a:pPr>
                  <a:lnSpc>
                    <a:spcPct val="150000"/>
                  </a:lnSpc>
                  <a:spcBef>
                    <a:spcPts val="450"/>
                  </a:spcBef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450"/>
                  </a:spcBef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方差无穷大，平均功率无穷大，理想模型。</a:t>
                </a:r>
                <a:r>
                  <a:rPr lang="en-US" altLang="zh-CN" sz="1800" dirty="0"/>
                  <a:t>  </a:t>
                </a:r>
                <a:endParaRPr lang="zh-CN" altLang="zh-CN" sz="180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8A73DC-8B0F-49F7-B989-1448D8DC8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7456" y="1576227"/>
                <a:ext cx="8689086" cy="3769307"/>
              </a:xfrm>
              <a:blipFill>
                <a:blip r:embed="rId3"/>
                <a:stretch>
                  <a:fillRect l="-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D216366-F9D2-4425-98B1-819F9CB94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101" y="4072232"/>
            <a:ext cx="3970139" cy="11292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035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E3D3FDE-C72F-4AE6-AD91-814A080C7D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8610" y="957745"/>
                <a:ext cx="8695944" cy="4713821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相关系数</a:t>
                </a: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故白噪声每时刻的随机变量只与本身相关，与其他时刻都不相关，变化剧烈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这是</a:t>
                </a:r>
                <a:r>
                  <a:rPr lang="zh-CN" altLang="zh-CN" dirty="0"/>
                  <a:t>一种理想模型，物理上不能实现，</a:t>
                </a:r>
                <a:r>
                  <a:rPr lang="zh-CN" altLang="en-US" dirty="0"/>
                  <a:t>实际信号</a:t>
                </a:r>
                <a:r>
                  <a:rPr lang="zh-CN" altLang="zh-CN" dirty="0"/>
                  <a:t>总有一定程度上</a:t>
                </a:r>
                <a:r>
                  <a:rPr lang="zh-CN" altLang="en-US" dirty="0"/>
                  <a:t>的</a:t>
                </a:r>
                <a:r>
                  <a:rPr lang="zh-CN" altLang="zh-CN" dirty="0"/>
                  <a:t>相关性，且功率谱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带限</a:t>
                </a:r>
                <a:r>
                  <a:rPr lang="zh-CN" altLang="zh-CN" dirty="0"/>
                  <a:t>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由于数学上简单，作为许多物理现象</a:t>
                </a:r>
                <a:r>
                  <a:rPr lang="zh-CN" altLang="en-US" dirty="0"/>
                  <a:t>的</a:t>
                </a:r>
                <a:r>
                  <a:rPr lang="zh-CN" altLang="zh-CN" dirty="0"/>
                  <a:t>近似模型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实际中近似符合条件，比有效频带宽得多的范围内，功率谱为常数，作为白噪声处理，如电阻热噪声是一种高斯分布的白噪声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E3D3FDE-C72F-4AE6-AD91-814A080C7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610" y="957745"/>
                <a:ext cx="8695944" cy="4713821"/>
              </a:xfrm>
              <a:blipFill>
                <a:blip r:embed="rId3"/>
                <a:stretch>
                  <a:fillRect l="-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84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6DF6EC8-100A-4D9B-8EBE-820C64BD86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332" y="1067473"/>
                <a:ext cx="8593074" cy="462466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3.5.2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高斯白噪声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信号</a:t>
                </a:r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白噪声</a:t>
                </a:r>
                <a:r>
                  <a:rPr lang="zh-CN" altLang="en-US" dirty="0"/>
                  <a:t>信号</a:t>
                </a:r>
                <a:r>
                  <a:rPr lang="zh-CN" altLang="zh-CN" dirty="0"/>
                  <a:t>的</a:t>
                </a:r>
                <a:r>
                  <a:rPr lang="zh-CN" altLang="en-US" dirty="0"/>
                  <a:t>概率</a:t>
                </a:r>
                <a:r>
                  <a:rPr lang="zh-CN" altLang="zh-CN" dirty="0"/>
                  <a:t>分布</a:t>
                </a:r>
                <a:r>
                  <a:rPr lang="zh-CN" altLang="en-US" dirty="0"/>
                  <a:t>函数</a:t>
                </a:r>
                <a:r>
                  <a:rPr lang="zh-CN" altLang="zh-CN" dirty="0"/>
                  <a:t>为高斯分布</a:t>
                </a:r>
                <a:r>
                  <a:rPr lang="zh-CN" altLang="en-US" dirty="0"/>
                  <a:t>。无法表示概率密度函数。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3.5.3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白噪声序列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定义：均值为</a:t>
                </a:r>
                <a:r>
                  <a:rPr lang="en-US" altLang="zh-CN" dirty="0"/>
                  <a:t>0</a:t>
                </a:r>
                <a:r>
                  <a:rPr lang="zh-CN" altLang="zh-CN" dirty="0"/>
                  <a:t>，功率密度谱在整个频率轴上为非零常数的平稳随机序列。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 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瓦特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&lt;∞)</m:t>
                    </m:r>
                  </m:oMath>
                </a14:m>
                <a:r>
                  <a:rPr lang="zh-CN" altLang="zh-CN" sz="1650" dirty="0"/>
                  <a:t>（双边功率谱）</a:t>
                </a:r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方差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相关系数</a:t>
                </a: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6DF6EC8-100A-4D9B-8EBE-820C64BD8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332" y="1067473"/>
                <a:ext cx="8593074" cy="4624667"/>
              </a:xfrm>
              <a:blipFill>
                <a:blip r:embed="rId2"/>
                <a:stretch>
                  <a:fillRect l="-852" r="-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56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7DF8507-8B4B-440C-A982-CC4997B14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053" y="1053758"/>
                <a:ext cx="7772400" cy="4844122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3.5.4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高斯白噪声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序列</a:t>
                </a:r>
                <a:endParaRPr lang="zh-CN" altLang="zh-CN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定义：</a:t>
                </a:r>
                <a:r>
                  <a:rPr lang="zh-CN" altLang="zh-CN" dirty="0"/>
                  <a:t>白噪声</a:t>
                </a:r>
                <a:r>
                  <a:rPr lang="zh-CN" altLang="en-US" dirty="0"/>
                  <a:t>序列</a:t>
                </a:r>
                <a:r>
                  <a:rPr lang="zh-CN" altLang="zh-CN" dirty="0"/>
                  <a:t>的</a:t>
                </a:r>
                <a:r>
                  <a:rPr lang="zh-CN" altLang="en-US" dirty="0"/>
                  <a:t>概率</a:t>
                </a:r>
                <a:r>
                  <a:rPr lang="zh-CN" altLang="zh-CN" dirty="0"/>
                  <a:t>分布</a:t>
                </a:r>
                <a:r>
                  <a:rPr lang="zh-CN" altLang="en-US" dirty="0"/>
                  <a:t>函数</a:t>
                </a:r>
                <a:r>
                  <a:rPr lang="zh-CN" altLang="zh-CN" dirty="0"/>
                  <a:t>为高斯分布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均值为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方差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故不同时刻的随机变量之间不相关、统计独立，为独立过程。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dirty="0"/>
                  <a:t>的高斯白噪声序列的</a:t>
                </a:r>
                <a:r>
                  <a:rPr lang="en-US" altLang="zh-CN" i="1" dirty="0"/>
                  <a:t>n</a:t>
                </a:r>
                <a:r>
                  <a:rPr lang="zh-CN" altLang="en-US" dirty="0"/>
                  <a:t>维概率密度函数为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zh-CN" altLang="en-US" b="1" i="1" smtClean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𝒆𝒙𝒑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7DF8507-8B4B-440C-A982-CC4997B14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053" y="1053758"/>
                <a:ext cx="7772400" cy="4844122"/>
              </a:xfrm>
              <a:blipFill>
                <a:blip r:embed="rId2"/>
                <a:stretch>
                  <a:fillRect l="-941" b="-13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21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FA451C-6E4A-498A-B1A5-3EFCE303C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770" y="987552"/>
                <a:ext cx="8455914" cy="464286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补充：高斯过程的一些结论</a:t>
                </a:r>
                <a:endParaRPr lang="en-US" altLang="zh-CN" dirty="0"/>
              </a:p>
              <a:p>
                <a:pPr marL="385763" indent="-385763">
                  <a:lnSpc>
                    <a:spcPct val="150000"/>
                  </a:lnSpc>
                  <a:buAutoNum type="arabicPeriod"/>
                </a:pPr>
                <a:r>
                  <a:rPr lang="zh-CN" altLang="en-US" dirty="0"/>
                  <a:t>如果对于所有的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以及所有的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baseline="-25000" dirty="0" err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), </a:t>
                </a:r>
                <a:r>
                  <a:rPr lang="zh-CN" altLang="en-US" dirty="0"/>
                  <a:t>随机变量</a:t>
                </a:r>
                <a:r>
                  <a:rPr lang="zh-CN" altLang="en-US" i="1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bSup>
                  </m:oMath>
                </a14:m>
                <a:r>
                  <a:rPr lang="zh-CN" altLang="en-US" i="1" dirty="0"/>
                  <a:t>  </a:t>
                </a:r>
                <a:r>
                  <a:rPr lang="zh-CN" altLang="en-US" dirty="0"/>
                  <a:t>具有联     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合高斯密度函数，则随机过程</a:t>
                </a:r>
                <a: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zh-CN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altLang="zh-CN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是高斯过程。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dirty="0"/>
                  <a:t>2. </a:t>
                </a:r>
                <a:r>
                  <a:rPr lang="zh-CN" altLang="en-US" dirty="0"/>
                  <a:t>对于高斯过程，均值与自相关，即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baseline="-25000" dirty="0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，给出了过程的完全统计描述。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dirty="0"/>
                  <a:t>3. </a:t>
                </a:r>
                <a:r>
                  <a:rPr lang="zh-CN" altLang="en-US" dirty="0"/>
                  <a:t>对于高斯过程，宽平稳与严平稳是等价的</a:t>
                </a:r>
                <a:r>
                  <a:rPr lang="en-US" altLang="zh-CN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altLang="zh-CN" dirty="0"/>
                  <a:t>4. </a:t>
                </a:r>
                <a:r>
                  <a:rPr lang="zh-CN" altLang="en-US" dirty="0"/>
                  <a:t>随机过程 </a:t>
                </a:r>
                <a:r>
                  <a:rPr lang="en-US" altLang="zh-CN" dirty="0"/>
                  <a:t>X(t)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Y(t) </a:t>
                </a:r>
                <a:r>
                  <a:rPr lang="zh-CN" altLang="en-US" dirty="0"/>
                  <a:t>是联合高斯随机过程，如果对所有的 </a:t>
                </a:r>
                <a:r>
                  <a:rPr lang="en-US" altLang="zh-CN" dirty="0"/>
                  <a:t>n, m </a:t>
                </a:r>
                <a:r>
                  <a:rPr lang="zh-CN" altLang="en-US" dirty="0"/>
                  <a:t>和所有的 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dirty="0"/>
                  <a:t>),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dirty="0"/>
                  <a:t>), </a:t>
                </a:r>
                <a:r>
                  <a:rPr lang="zh-CN" altLang="en-US" dirty="0"/>
                  <a:t>随机矢量 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) </a:t>
                </a:r>
                <a:r>
                  <a:rPr lang="zh-CN" altLang="en-US" dirty="0"/>
                  <a:t>服从</a:t>
                </a:r>
                <a:r>
                  <a:rPr lang="en-US" altLang="zh-CN" dirty="0" err="1"/>
                  <a:t>n+m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维联合高斯分布。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altLang="zh-CN" dirty="0"/>
                  <a:t>5. </a:t>
                </a:r>
                <a:r>
                  <a:rPr lang="zh-CN" altLang="en-US" dirty="0"/>
                  <a:t>对于高斯随机过程，不相关与相互独立是等价的</a:t>
                </a:r>
                <a:r>
                  <a:rPr lang="en-US" altLang="zh-CN" dirty="0"/>
                  <a:t>.</a:t>
                </a:r>
                <a:endParaRPr lang="zh-CN" altLang="en-US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FA451C-6E4A-498A-B1A5-3EFCE303C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770" y="987552"/>
                <a:ext cx="8455914" cy="4642866"/>
              </a:xfrm>
              <a:blipFill>
                <a:blip r:embed="rId3"/>
                <a:stretch>
                  <a:fillRect l="-649" t="-1575" r="-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03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829376-3A66-4B97-837D-1FA41DBA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932213"/>
            <a:ext cx="7886700" cy="839744"/>
          </a:xfrm>
        </p:spPr>
        <p:txBody>
          <a:bodyPr>
            <a:normAutofit/>
          </a:bodyPr>
          <a:lstStyle/>
          <a:p>
            <a:r>
              <a:rPr lang="en-US" altLang="zh-CN" dirty="0"/>
              <a:t>3.6   </a:t>
            </a:r>
            <a:r>
              <a:rPr lang="zh-CN" altLang="zh-CN" dirty="0"/>
              <a:t>应用举例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FE208B2-398D-4CD3-9EBC-D0A641208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6042" y="1708499"/>
                <a:ext cx="8510778" cy="345127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3.13  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讨论随机相位正弦信号的广义平稳条件。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正弦随机信号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zh-CN" dirty="0"/>
                  <a:t>其中，随机变量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dirty="0"/>
                  <a:t>的均值为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zh-CN" dirty="0"/>
                  <a:t>方差为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服从特征函数为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的某种分布，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dirty="0"/>
                  <a:t>统计独立。讨论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的广义平稳性。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注： 随机变量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dirty="0"/>
                  <a:t>的特征函数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FE208B2-398D-4CD3-9EBC-D0A641208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6042" y="1708499"/>
                <a:ext cx="8510778" cy="3451272"/>
              </a:xfrm>
              <a:blipFill>
                <a:blip r:embed="rId2"/>
                <a:stretch>
                  <a:fillRect l="-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05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F2D22FA-13EA-4C3C-9127-F8641FAD2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zh-CN" altLang="zh-CN" dirty="0"/>
                  <a:t>解：为了分析平稳性，需要计算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的均值与自相关函数。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b="1" i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）均值</m:t>
                      </m:r>
                    </m:oMath>
                  </m:oMathPara>
                </a14:m>
                <a:endParaRPr lang="en-US" altLang="zh-CN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𝐴𝑐𝑜𝑠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zh-CN" altLang="zh-CN" dirty="0"/>
                  <a:t>利用欧拉公式：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, </a:t>
                </a:r>
                <a:r>
                  <a:rPr lang="zh-CN" altLang="zh-CN" dirty="0"/>
                  <a:t>有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𝛩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𝛩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𝛩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𝛩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  </a:t>
                </a:r>
              </a:p>
              <a:p>
                <a:pPr marL="0" indent="0" algn="r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en-US" altLang="zh-CN" dirty="0"/>
                  <a:t>      			   (3.32)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F2D22FA-13EA-4C3C-9127-F8641FAD2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r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56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830C6D1-CC3B-4A12-B991-91F3EF70D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又根据特征函数的定义</a:t>
                </a:r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i="1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en-US" dirty="0"/>
                  <a:t>有：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𝛩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因此，当且仅当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(1)=0</m:t>
                    </m:r>
                  </m:oMath>
                </a14:m>
                <a:r>
                  <a:rPr lang="zh-CN" altLang="zh-CN" dirty="0"/>
                  <a:t>时，</a:t>
                </a:r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)]=0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（常数）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830C6D1-CC3B-4A12-B991-91F3EF70D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48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F3BB9E2-2B5B-4E29-982F-3478C190C5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545" y="1063656"/>
                <a:ext cx="8316158" cy="460791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75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a:t>2</a:t>
                </a:r>
                <a:r>
                  <a:rPr lang="zh-CN" altLang="en-US" sz="2475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a:t>）自相关函数</a:t>
                </a:r>
                <a:endParaRPr lang="en-US" altLang="zh-CN" sz="2475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/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)+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7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对于上式中的</a:t>
                </a:r>
                <a:r>
                  <a:rPr lang="zh-CN" altLang="en-US" dirty="0"/>
                  <a:t>右边</a:t>
                </a:r>
                <a:r>
                  <a:rPr lang="zh-CN" altLang="zh-CN" dirty="0"/>
                  <a:t>第二项，</a:t>
                </a:r>
                <a:r>
                  <a:rPr lang="zh-CN" altLang="en-US" dirty="0"/>
                  <a:t>同样</a:t>
                </a:r>
                <a:r>
                  <a:rPr lang="zh-CN" altLang="zh-CN" dirty="0"/>
                  <a:t>利用欧拉公式，并参照式（</a:t>
                </a:r>
                <a:r>
                  <a:rPr lang="en-US" altLang="zh-CN" dirty="0"/>
                  <a:t>3.32</a:t>
                </a:r>
                <a:r>
                  <a:rPr lang="zh-CN" altLang="zh-CN" dirty="0"/>
                  <a:t>）的结果，得到</a:t>
                </a:r>
              </a:p>
              <a:p>
                <a:pPr marL="0" indent="0">
                  <a:lnSpc>
                    <a:spcPct val="17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因此，当且仅当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(2)=0</m:t>
                    </m:r>
                  </m:oMath>
                </a14:m>
                <a:r>
                  <a:rPr lang="zh-CN" altLang="zh-CN" dirty="0"/>
                  <a:t>时，上式为零，使得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F3BB9E2-2B5B-4E29-982F-3478C190C5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545" y="1063656"/>
                <a:ext cx="8316158" cy="4607910"/>
              </a:xfrm>
              <a:blipFill>
                <a:blip r:embed="rId2"/>
                <a:stretch>
                  <a:fillRect l="-953" t="-2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64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0A6653D-2382-449A-85F0-A00973602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80367"/>
                <a:ext cx="7772400" cy="445005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450"/>
                  </a:spcBef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可见，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随机相位正弦信号广义平稳条件的</a:t>
                </a:r>
                <a:r>
                  <a:rPr lang="zh-CN" altLang="zh-CN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充要条件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是</a:t>
                </a:r>
                <a:endParaRPr lang="en-US" altLang="zh-CN" dirty="0">
                  <a:highlight>
                    <a:srgbClr val="FFFF00"/>
                  </a:highlight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4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(2)=0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此时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)]=0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例如，当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服从均匀分布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时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func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dirty="0"/>
                  <a:t>，符合上述条件，因而是广义平稳的。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0A6653D-2382-449A-85F0-A00973602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80367"/>
                <a:ext cx="7772400" cy="4450051"/>
              </a:xfrm>
              <a:blipFill>
                <a:blip r:embed="rId2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A0048C-C3F0-4948-B501-29871FC23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1180367"/>
                <a:ext cx="7935405" cy="4089339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3.14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讨论乘法调制输出信号的功率谱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。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乘法调制输出信号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，其中，相位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服从均匀分布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为实广义平稳随机信号，其功率谱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如图</a:t>
                </a:r>
                <a:r>
                  <a:rPr lang="en-US" altLang="zh-CN" dirty="0"/>
                  <a:t>3.13(a)</a:t>
                </a:r>
                <a:r>
                  <a:rPr lang="zh-CN" altLang="zh-CN" dirty="0"/>
                  <a:t>所示，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统计独立。</a:t>
                </a:r>
              </a:p>
              <a:p>
                <a:pPr marL="0" indent="0">
                  <a:buNone/>
                </a:pP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A0048C-C3F0-4948-B501-29871FC23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180367"/>
                <a:ext cx="7935405" cy="4089339"/>
              </a:xfrm>
              <a:blipFill>
                <a:blip r:embed="rId3"/>
                <a:stretch>
                  <a:fillRect l="-922" r="-3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7">
            <a:extLst>
              <a:ext uri="{FF2B5EF4-FFF2-40B4-BE49-F238E27FC236}">
                <a16:creationId xmlns:a16="http://schemas.microsoft.com/office/drawing/2014/main" id="{3EAFBD19-BACB-49B2-95A6-C950FEF15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412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E565E1B-8273-4102-A87D-493619C9C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709" y="325587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E90C0BE-3F06-4F2C-821E-BB21C14F1B8D}"/>
              </a:ext>
            </a:extLst>
          </p:cNvPr>
          <p:cNvGrpSpPr/>
          <p:nvPr/>
        </p:nvGrpSpPr>
        <p:grpSpPr>
          <a:xfrm>
            <a:off x="1856232" y="3380994"/>
            <a:ext cx="4889981" cy="1830509"/>
            <a:chOff x="2474976" y="3364991"/>
            <a:chExt cx="6519974" cy="244067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对象 9">
                  <a:extLst>
                    <a:ext uri="{FF2B5EF4-FFF2-40B4-BE49-F238E27FC236}">
                      <a16:creationId xmlns:a16="http://schemas.microsoft.com/office/drawing/2014/main" id="{A037834E-9C2F-4175-8C8A-7652BDFF59E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74976" y="3364991"/>
                <a:ext cx="2677637" cy="168858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14" name="Visio" r:id="rId4" imgW="5989488" imgH="3794884" progId="Visio.Drawing.15">
                        <p:embed/>
                      </p:oleObj>
                    </mc:Choice>
                    <mc:Fallback>
                      <p:oleObj name="Visio" r:id="rId4" imgW="5989488" imgH="3794884" progId="Visio.Drawing.15">
                        <p:embed/>
                        <p:pic>
                          <p:nvPicPr>
                            <p:cNvPr id="10" name="对象 9">
                              <a:extLst>
                                <a:ext uri="{FF2B5EF4-FFF2-40B4-BE49-F238E27FC236}">
                                  <a16:creationId xmlns:a16="http://schemas.microsoft.com/office/drawing/2014/main" id="{A037834E-9C2F-4175-8C8A-7652BDFF59E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4976" y="3364991"/>
                              <a:ext cx="2677637" cy="168858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对象 9">
                  <a:extLst>
                    <a:ext uri="{FF2B5EF4-FFF2-40B4-BE49-F238E27FC236}">
                      <a16:creationId xmlns:a16="http://schemas.microsoft.com/office/drawing/2014/main" id="{A037834E-9C2F-4175-8C8A-7652BDFF59E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10942850"/>
                    </p:ext>
                  </p:extLst>
                </p:nvPr>
              </p:nvGraphicFramePr>
              <p:xfrm>
                <a:off x="2474976" y="3364991"/>
                <a:ext cx="2677637" cy="168858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56" name="Visio" r:id="rId6" imgW="5989488" imgH="3794884" progId="Visio.Drawing.15">
                        <p:embed/>
                      </p:oleObj>
                    </mc:Choice>
                    <mc:Fallback>
                      <p:oleObj name="Visio" r:id="rId6" imgW="5989488" imgH="3794884" progId="Visio.Drawing.15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4976" y="3364991"/>
                              <a:ext cx="2677637" cy="168858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对象 11">
                  <a:extLst>
                    <a:ext uri="{FF2B5EF4-FFF2-40B4-BE49-F238E27FC236}">
                      <a16:creationId xmlns:a16="http://schemas.microsoft.com/office/drawing/2014/main" id="{0CBE35AD-C9A9-485A-A7B5-3D5057C3633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051329" y="3429000"/>
                <a:ext cx="2943621" cy="156362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15" name="Visio" r:id="rId8" imgW="7337965" imgH="3863464" progId="Visio.Drawing.15">
                        <p:embed/>
                      </p:oleObj>
                    </mc:Choice>
                    <mc:Fallback>
                      <p:oleObj name="Visio" r:id="rId8" imgW="7337965" imgH="3863464" progId="Visio.Drawing.15">
                        <p:embed/>
                        <p:pic>
                          <p:nvPicPr>
                            <p:cNvPr id="12" name="对象 11">
                              <a:extLst>
                                <a:ext uri="{FF2B5EF4-FFF2-40B4-BE49-F238E27FC236}">
                                  <a16:creationId xmlns:a16="http://schemas.microsoft.com/office/drawing/2014/main" id="{0CBE35AD-C9A9-485A-A7B5-3D5057C3633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51329" y="3429000"/>
                              <a:ext cx="2943621" cy="15636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2" name="对象 11">
                  <a:extLst>
                    <a:ext uri="{FF2B5EF4-FFF2-40B4-BE49-F238E27FC236}">
                      <a16:creationId xmlns:a16="http://schemas.microsoft.com/office/drawing/2014/main" id="{0CBE35AD-C9A9-485A-A7B5-3D5057C3633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9870927"/>
                    </p:ext>
                  </p:extLst>
                </p:nvPr>
              </p:nvGraphicFramePr>
              <p:xfrm>
                <a:off x="6051329" y="3429000"/>
                <a:ext cx="2943621" cy="156362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57" name="Visio" r:id="rId10" imgW="7337965" imgH="3863464" progId="Visio.Drawing.15">
                        <p:embed/>
                      </p:oleObj>
                    </mc:Choice>
                    <mc:Fallback>
                      <p:oleObj name="Visio" r:id="rId10" imgW="7337965" imgH="3863464" progId="Visio.Drawing.15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51329" y="3429000"/>
                              <a:ext cx="2943621" cy="15636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781D552-83C9-45F1-8169-4B3D2DD63D94}"/>
                </a:ext>
              </a:extLst>
            </p:cNvPr>
            <p:cNvSpPr/>
            <p:nvPr/>
          </p:nvSpPr>
          <p:spPr>
            <a:xfrm>
              <a:off x="3643053" y="5184816"/>
              <a:ext cx="4540132" cy="6208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00025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3.13 </a:t>
              </a:r>
              <a:r>
                <a:rPr lang="zh-CN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乘法调制信号的功率谱</a:t>
              </a:r>
              <a:endParaRPr lang="zh-CN" altLang="zh-CN" sz="105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1375AFB-CF91-4E0D-B76E-E20F94D9EEDC}"/>
                    </a:ext>
                  </a:extLst>
                </p:cNvPr>
                <p:cNvSpPr txBox="1"/>
                <p:nvPr/>
              </p:nvSpPr>
              <p:spPr>
                <a:xfrm>
                  <a:off x="8043170" y="4656247"/>
                  <a:ext cx="5497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1375AFB-CF91-4E0D-B76E-E20F94D9EE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170" y="4656247"/>
                  <a:ext cx="54972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D1304B2-B087-4975-A65A-CDB687FD4ED2}"/>
                    </a:ext>
                  </a:extLst>
                </p:cNvPr>
                <p:cNvSpPr txBox="1"/>
                <p:nvPr/>
              </p:nvSpPr>
              <p:spPr>
                <a:xfrm>
                  <a:off x="6477644" y="4656247"/>
                  <a:ext cx="703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D1304B2-B087-4975-A65A-CDB687FD4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644" y="4656247"/>
                  <a:ext cx="70361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162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027A0E4-E81C-4C43-8892-BC9B0E4FD8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80367"/>
                <a:ext cx="8121459" cy="446376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解：例</a:t>
                </a:r>
                <a:r>
                  <a:rPr lang="en-US" altLang="zh-CN" dirty="0"/>
                  <a:t>3.3</a:t>
                </a:r>
                <a:r>
                  <a:rPr lang="zh-CN" altLang="zh-CN" dirty="0"/>
                  <a:t>中已说明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是广义平稳的，且自相关函数为 </a:t>
                </a:r>
                <a:r>
                  <a:rPr lang="en-US" altLang="zh-CN" dirty="0"/>
                  <a:t>                  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因此 </a:t>
                </a:r>
                <a:r>
                  <a:rPr lang="en-US" altLang="zh-CN" b="0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zh-CN" b="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zh-CN" b="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)∗</m:t>
                    </m:r>
                    <m:d>
                      <m:dPr>
                        <m:begChr m:val="{"/>
                        <m:endChr m:val="}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)+ 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d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           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如图</a:t>
                </a:r>
                <a:r>
                  <a:rPr lang="en-US" altLang="zh-CN" dirty="0"/>
                  <a:t>3.13(b)</a:t>
                </a:r>
                <a:r>
                  <a:rPr lang="zh-CN" altLang="zh-CN" dirty="0"/>
                  <a:t>所示。调制使得信号的功率谱平移到±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dirty="0"/>
                  <a:t>处，其基本原理与信号与系统等课程中所介绍的类似。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027A0E4-E81C-4C43-8892-BC9B0E4FD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80367"/>
                <a:ext cx="8121459" cy="4463767"/>
              </a:xfrm>
              <a:blipFill>
                <a:blip r:embed="rId3"/>
                <a:stretch>
                  <a:fillRect l="-900" r="-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45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547B295-CA4C-42A0-9F4B-B28A314472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024" y="1180367"/>
                <a:ext cx="8654796" cy="45460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3.15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讨论随机二元（二进制）传输信号的平稳性与功率谱。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1800" dirty="0"/>
                  <a:t>前面</a:t>
                </a:r>
                <a:r>
                  <a:rPr lang="en-US" altLang="zh-CN" sz="1800" dirty="0"/>
                  <a:t>2.2</a:t>
                </a:r>
                <a:r>
                  <a:rPr lang="zh-CN" altLang="zh-CN" sz="1800" dirty="0"/>
                  <a:t>节中介绍了半随机二元</a:t>
                </a:r>
                <a:r>
                  <a:rPr lang="en-US" altLang="zh-CN" sz="1800" dirty="0"/>
                  <a:t>(</a:t>
                </a:r>
                <a:r>
                  <a:rPr lang="zh-CN" altLang="zh-CN" sz="1800" dirty="0"/>
                  <a:t>二进制</a:t>
                </a:r>
                <a:r>
                  <a:rPr lang="en-US" altLang="zh-CN" sz="1800" dirty="0"/>
                  <a:t>)</a:t>
                </a:r>
                <a:r>
                  <a:rPr lang="zh-CN" altLang="zh-CN" sz="1800" dirty="0"/>
                  <a:t>传输信号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, </a:t>
                </a:r>
                <a:r>
                  <a:rPr lang="zh-CN" altLang="zh-CN" sz="1800" dirty="0"/>
                  <a:t>这种信号常用于传输二进制数据信息，如图</a:t>
                </a:r>
                <a:r>
                  <a:rPr lang="en-US" altLang="zh-CN" sz="1800" dirty="0"/>
                  <a:t>3.14</a:t>
                </a:r>
                <a:r>
                  <a:rPr lang="zh-CN" altLang="zh-CN" sz="1800" dirty="0"/>
                  <a:t>所示。在实际通信中，由于收、发两端分离造成信号传递的时延，接收器无法确切知道其信号准确的开始时刻。</a:t>
                </a:r>
                <a:endParaRPr lang="en-US" altLang="zh-CN" sz="18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1800" dirty="0"/>
                  <a:t>于是，接收器获得的信号为初始时刻</a:t>
                </a:r>
                <a:r>
                  <a:rPr lang="en-US" altLang="zh-CN" sz="1800" dirty="0"/>
                  <a:t>“</a:t>
                </a:r>
                <a:r>
                  <a:rPr lang="zh-CN" altLang="zh-CN" sz="1800" dirty="0"/>
                  <a:t>随机滑动</a:t>
                </a:r>
                <a:r>
                  <a:rPr lang="en-US" altLang="zh-CN" sz="1800" dirty="0"/>
                  <a:t>”</a:t>
                </a:r>
                <a:r>
                  <a:rPr lang="zh-CN" altLang="zh-CN" sz="1800" dirty="0"/>
                  <a:t>的二元传输信号，记为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，其中随机变量</a:t>
                </a:r>
                <a:r>
                  <a:rPr lang="en-US" altLang="zh-CN" sz="1800" dirty="0"/>
                  <a:t>D</a:t>
                </a:r>
                <a:r>
                  <a:rPr lang="zh-CN" altLang="zh-CN" sz="1800" dirty="0"/>
                  <a:t>用以表示这种不确定的时延滑动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1800" dirty="0"/>
                  <a:t>一般可认为，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zh-CN" sz="18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统计独立，并服从均匀分布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。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称为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随机二元传输信号</a:t>
                </a:r>
                <a:r>
                  <a:rPr lang="zh-CN" altLang="zh-CN" sz="1800" dirty="0"/>
                  <a:t>，是一种极重要的信号形式。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547B295-CA4C-42A0-9F4B-B28A31447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024" y="1180367"/>
                <a:ext cx="8654796" cy="4546063"/>
              </a:xfrm>
              <a:blipFill>
                <a:blip r:embed="rId3"/>
                <a:stretch>
                  <a:fillRect l="-846" t="-1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DF4A0A0-7D3D-4A48-8CD1-36DC5926C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073" y="4484601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F115C7E-D888-4D87-977D-7717AF995D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0066" y="4657725"/>
          <a:ext cx="7198712" cy="848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Visio" r:id="rId4" imgW="9890831" imgH="1120329" progId="Visio.Drawing.15">
                  <p:embed/>
                </p:oleObj>
              </mc:Choice>
              <mc:Fallback>
                <p:oleObj name="Visio" r:id="rId4" imgW="9890831" imgH="1120329" progId="Visio.Drawing.15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F115C7E-D888-4D87-977D-7717AF995D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066" y="4657725"/>
                        <a:ext cx="7198712" cy="8485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66B15104-5385-4F52-A371-A502485B52F7}"/>
              </a:ext>
            </a:extLst>
          </p:cNvPr>
          <p:cNvSpPr/>
          <p:nvPr/>
        </p:nvSpPr>
        <p:spPr>
          <a:xfrm>
            <a:off x="4955727" y="5331619"/>
            <a:ext cx="3467617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0002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3.14  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信号的传输与随机时延</a:t>
            </a:r>
            <a:endParaRPr lang="zh-CN" altLang="zh-CN" sz="105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03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5BC0FE7-6001-4F3A-B46F-1BD86BBB7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028701"/>
                <a:ext cx="8087169" cy="424100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sz="1800" dirty="0"/>
                  <a:t>一般形式</a:t>
                </a:r>
                <a:r>
                  <a:rPr lang="zh-CN" altLang="en-US" sz="1800" dirty="0"/>
                  <a:t>的</a:t>
                </a:r>
                <a:r>
                  <a:rPr lang="zh-CN" altLang="zh-CN" sz="1800" dirty="0"/>
                  <a:t>数字传输信号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𝑛𝑇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18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1800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/>
                  <a:t>} </a:t>
                </a:r>
                <a:r>
                  <a:rPr lang="zh-CN" altLang="zh-CN" sz="1800" dirty="0"/>
                  <a:t>为数字随机序列，是要传输的数据序列</a:t>
                </a:r>
                <a:r>
                  <a:rPr lang="zh-CN" altLang="en-US" sz="1800" dirty="0"/>
                  <a:t>。</a:t>
                </a:r>
                <a:r>
                  <a:rPr lang="en-US" altLang="zh-CN" sz="1800" dirty="0"/>
                  <a:t> </a:t>
                </a: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为某个确知的短时连续信号</a:t>
                </a:r>
                <a:r>
                  <a:rPr lang="en-US" altLang="zh-CN" sz="1800" dirty="0"/>
                  <a:t>-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码元波形或脉冲波形</a:t>
                </a:r>
                <a:r>
                  <a:rPr lang="zh-CN" altLang="zh-CN" sz="1800" dirty="0"/>
                  <a:t>，</a:t>
                </a:r>
                <a:r>
                  <a:rPr lang="en-US" altLang="zh-CN" sz="1800" dirty="0"/>
                  <a:t>T</a:t>
                </a:r>
                <a:r>
                  <a:rPr lang="zh-CN" altLang="zh-CN" sz="1800" dirty="0"/>
                  <a:t>为每个数据占用的时隙宽度</a:t>
                </a:r>
                <a:r>
                  <a:rPr lang="zh-CN" altLang="en-US" sz="1800" dirty="0"/>
                  <a:t>，称为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码元周期</a:t>
                </a:r>
                <a:r>
                  <a:rPr lang="zh-CN" altLang="zh-CN" sz="1800" dirty="0"/>
                  <a:t>。</a:t>
                </a:r>
                <a:endParaRPr lang="en-US" altLang="zh-CN" sz="18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是经随机滑动后的信号，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的一个典型例子如图</a:t>
                </a:r>
                <a:r>
                  <a:rPr lang="en-US" altLang="zh-CN" sz="1800" dirty="0"/>
                  <a:t>3.15 </a:t>
                </a:r>
                <a:r>
                  <a:rPr lang="zh-CN" altLang="zh-CN" sz="1800" dirty="0"/>
                  <a:t>所示。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5BC0FE7-6001-4F3A-B46F-1BD86BBB7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028701"/>
                <a:ext cx="8087169" cy="4241006"/>
              </a:xfrm>
              <a:blipFill>
                <a:blip r:embed="rId4"/>
                <a:stretch>
                  <a:fillRect l="-452" t="-1151" r="-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FBCEE6A-E7CA-4E4A-B137-F2B6B804A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4615" y="346161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54E7A19-57DE-4E6E-A977-FA0290E53A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1386" y="3953766"/>
          <a:ext cx="5363519" cy="158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Visio" r:id="rId5" imgW="9266062" imgH="2735706" progId="Visio.Drawing.15">
                  <p:embed/>
                </p:oleObj>
              </mc:Choice>
              <mc:Fallback>
                <p:oleObj name="Visio" r:id="rId5" imgW="9266062" imgH="2735706" progId="Visio.Drawing.15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54E7A19-57DE-4E6E-A977-FA0290E53A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386" y="3953766"/>
                        <a:ext cx="5363519" cy="1580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E285807-D145-4B6F-9077-FD5E27482F0C}"/>
              </a:ext>
            </a:extLst>
          </p:cNvPr>
          <p:cNvSpPr/>
          <p:nvPr/>
        </p:nvSpPr>
        <p:spPr>
          <a:xfrm>
            <a:off x="5202897" y="5349689"/>
            <a:ext cx="3929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3.15 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随机数字传输信号与传输脉冲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443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EC78774-94F4-4E7E-86A7-5038DFE34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014984"/>
                <a:ext cx="8100885" cy="4732020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700" dirty="0"/>
                  <a:t>一种典型的随机二进制传输信号</a:t>
                </a:r>
                <a:endParaRPr lang="en-US" altLang="zh-CN" sz="2700" dirty="0"/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700" dirty="0"/>
                  <a:t>考虑｛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700" dirty="0"/>
                  <a:t>｝为二进制</a:t>
                </a:r>
                <a:r>
                  <a:rPr lang="zh-CN" altLang="en-US" sz="2700" dirty="0"/>
                  <a:t>不相关</a:t>
                </a:r>
                <a:r>
                  <a:rPr lang="zh-CN" altLang="zh-CN" sz="2700" dirty="0"/>
                  <a:t>序列，等概地取值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zh-CN" sz="2700" dirty="0"/>
                  <a:t>与</a:t>
                </a:r>
                <a14:m>
                  <m:oMath xmlns:m="http://schemas.openxmlformats.org/officeDocument/2006/math">
                    <m:r>
                      <a:rPr lang="zh-CN" altLang="en-US" sz="27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700" i="1">
                        <a:latin typeface="Cambria Math" panose="02040503050406030204" pitchFamily="18" charset="0"/>
                      </a:rPr>
                      <m:t>1,</m:t>
                    </m:r>
                    <m:r>
                      <a:rPr lang="zh-CN" altLang="en-US" sz="2700" i="1">
                        <a:latin typeface="Cambria Math" panose="02040503050406030204" pitchFamily="18" charset="0"/>
                      </a:rPr>
                      <m:t>平稳</m:t>
                    </m:r>
                  </m:oMath>
                </a14:m>
                <a:r>
                  <a:rPr lang="zh-CN" altLang="en-US" sz="2700" dirty="0"/>
                  <a:t>随机序列</a:t>
                </a:r>
                <a:r>
                  <a:rPr lang="zh-CN" altLang="zh-CN" sz="2700" dirty="0"/>
                  <a:t>；</a:t>
                </a:r>
                <a:endParaRPr lang="en-US" altLang="zh-CN" sz="27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700" dirty="0"/>
                  <a:t>为中心在原点、宽度为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sz="2700" dirty="0"/>
                  <a:t>、高度为</a:t>
                </a:r>
                <a:r>
                  <a:rPr lang="en-US" altLang="zh-CN" sz="2700" dirty="0"/>
                  <a:t>1</a:t>
                </a:r>
                <a:r>
                  <a:rPr lang="zh-CN" altLang="zh-CN" sz="2700" dirty="0"/>
                  <a:t>的方波脉冲。</a:t>
                </a:r>
                <a:endParaRPr lang="en-US" altLang="zh-CN" sz="2700" dirty="0"/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zh-CN" altLang="en-US" sz="2700" b="0" i="1">
                            <a:latin typeface="Cambria Math" panose="02040503050406030204" pitchFamily="18" charset="0"/>
                          </a:rPr>
                          <m:t>符号序列的均值</m:t>
                        </m:r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700" b="0" i="1" dirty="0">
                    <a:latin typeface="Cambria Math" panose="02040503050406030204" pitchFamily="18" charset="0"/>
                  </a:rPr>
                  <a:t>，</a:t>
                </a:r>
                <a:endParaRPr lang="en-US" altLang="zh-CN" sz="27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700" b="0" i="1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sz="2700" b="0" dirty="0">
                    <a:latin typeface="Cambria Math" panose="02040503050406030204" pitchFamily="18" charset="0"/>
                  </a:rPr>
                  <a:t>符号序列的自相关函数</a:t>
                </a:r>
                <a:r>
                  <a:rPr lang="en-US" altLang="zh-CN" sz="2700" b="0" dirty="0">
                    <a:latin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700" b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7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7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7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70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700" b="0" i="1" dirty="0"/>
                  <a:t>，</a:t>
                </a:r>
                <a:endParaRPr lang="en-US" altLang="zh-CN" sz="2700" b="0" i="1" dirty="0"/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700" b="0" dirty="0">
                    <a:latin typeface="Cambria Math" panose="02040503050406030204" pitchFamily="18" charset="0"/>
                  </a:rPr>
                  <a:t>矩形脉冲是频谱</a:t>
                </a:r>
                <a:r>
                  <a:rPr lang="zh-CN" altLang="zh-CN" sz="2700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700" b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7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2700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700" b="0" i="1">
                        <a:latin typeface="Cambria Math" panose="02040503050406030204" pitchFamily="18" charset="0"/>
                      </a:rPr>
                      <m:t>)]=</m:t>
                    </m:r>
                    <m:f>
                      <m:fPr>
                        <m:ctrlPr>
                          <a:rPr lang="zh-CN" altLang="zh-CN" sz="27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700" b="0" i="1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zh-CN" altLang="en-US" sz="2700" b="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700" b="0" i="1">
                            <a:latin typeface="Cambria Math" panose="02040503050406030204" pitchFamily="18" charset="0"/>
                          </a:rPr>
                          <m:t>/2)</m:t>
                        </m:r>
                      </m:num>
                      <m:den>
                        <m:r>
                          <a:rPr lang="zh-CN" altLang="en-US" sz="2700" b="0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altLang="zh-CN" sz="27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700" dirty="0"/>
                  <a:t>于是，随机二进制传输信号的特性为：</a:t>
                </a:r>
                <a:endParaRPr lang="en-US" altLang="zh-CN" sz="2700" dirty="0"/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700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7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𝑛𝑇</m:t>
                                  </m:r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27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zh-CN" sz="2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𝑛𝑇</m:t>
                              </m:r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  <m:r>
                            <a:rPr lang="en-US" altLang="zh-CN" sz="27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7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70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EC78774-94F4-4E7E-86A7-5038DFE34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014984"/>
                <a:ext cx="8100885" cy="4732020"/>
              </a:xfrm>
              <a:blipFill>
                <a:blip r:embed="rId2"/>
                <a:stretch>
                  <a:fillRect l="-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45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C06BC58-0112-4C62-A8E5-459EABE2B5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80367"/>
                <a:ext cx="8197896" cy="442261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dirty="0"/>
                  <a:t>由</a:t>
                </a:r>
                <a:r>
                  <a:rPr lang="zh-CN" altLang="en-US" dirty="0"/>
                  <a:t>后续</a:t>
                </a:r>
                <a:r>
                  <a:rPr lang="zh-CN" altLang="zh-CN" dirty="0"/>
                  <a:t>的定理</a:t>
                </a:r>
                <a:r>
                  <a:rPr lang="en-US" altLang="zh-CN" dirty="0"/>
                  <a:t>3.5</a:t>
                </a:r>
                <a:r>
                  <a:rPr lang="zh-CN" altLang="zh-CN" dirty="0"/>
                  <a:t>可得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相关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函数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, 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    0 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  	      </a:t>
                </a:r>
              </a:p>
              <a:p>
                <a:pPr marL="0" indent="0">
                  <a:buNone/>
                </a:pPr>
                <a:r>
                  <a:rPr lang="zh-CN" altLang="en-US" b="0" dirty="0"/>
                  <a:t>功率谱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密度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函数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zh-CN" altLang="zh-CN" b="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/2)</m:t>
                        </m:r>
                      </m:num>
                      <m:den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zh-CN" altLang="zh-CN" b="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/2)</m:t>
                        </m:r>
                      </m:num>
                      <m:den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/2)</m:t>
                        </m:r>
                      </m:num>
                      <m:den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b="0" dirty="0"/>
                  <a:t>                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C06BC58-0112-4C62-A8E5-459EABE2B5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80367"/>
                <a:ext cx="8197896" cy="4422619"/>
              </a:xfrm>
              <a:blipFill>
                <a:blip r:embed="rId2"/>
                <a:stretch>
                  <a:fillRect l="-892" t="-1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46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0E0623-2F38-4C04-AF49-962C417E5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6207" y="1180367"/>
                <a:ext cx="8231187" cy="408933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可见，信号的主要部分集中在主瓣上，可粗略认为其带宽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zh-CN" altLang="zh-CN" dirty="0"/>
                  <a:t>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zh-CN" dirty="0"/>
                  <a:t>是</a:t>
                </a:r>
                <a:r>
                  <a:rPr lang="zh-CN" altLang="en-US" dirty="0"/>
                  <a:t>码元周期</a:t>
                </a:r>
                <a:r>
                  <a:rPr lang="zh-CN" altLang="zh-CN" dirty="0"/>
                  <a:t>宽度的倒数，通常称为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码元速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率</a:t>
                </a:r>
                <a:r>
                  <a:rPr lang="zh-CN" altLang="zh-CN" dirty="0"/>
                  <a:t>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注：课本所述的数据率不准确。一般数据率（信息传输速率）的单位为</a:t>
                </a:r>
                <a:r>
                  <a:rPr lang="en-US" altLang="zh-CN" dirty="0"/>
                  <a:t>bit/s, </a:t>
                </a:r>
                <a:r>
                  <a:rPr lang="zh-CN" altLang="en-US" dirty="0"/>
                  <a:t>而这里的码元速率的单位为波特（符号数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秒）。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0E0623-2F38-4C04-AF49-962C417E5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6207" y="1180367"/>
                <a:ext cx="8231187" cy="4089339"/>
              </a:xfrm>
              <a:blipFill>
                <a:blip r:embed="rId3"/>
                <a:stretch>
                  <a:fillRect l="-740" r="-6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FB93BC0-20E3-4A72-9FF3-D5C734F19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8870" y="247863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7A1EE50-6E73-4470-860F-C966C0DB1A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8871" y="3435657"/>
          <a:ext cx="4784864" cy="1565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Visio" r:id="rId4" imgW="9525071" imgH="3116643" progId="Visio.Drawing.15">
                  <p:embed/>
                </p:oleObj>
              </mc:Choice>
              <mc:Fallback>
                <p:oleObj name="Visio" r:id="rId4" imgW="9525071" imgH="3116643" progId="Visio.Drawing.15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7A1EE50-6E73-4470-860F-C966C0DB1A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8871" y="3435657"/>
                        <a:ext cx="4784864" cy="15651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124A4D1-4CF4-4BD2-8BAF-F54AF679FB3A}"/>
              </a:ext>
            </a:extLst>
          </p:cNvPr>
          <p:cNvSpPr/>
          <p:nvPr/>
        </p:nvSpPr>
        <p:spPr>
          <a:xfrm>
            <a:off x="2586914" y="5000800"/>
            <a:ext cx="4641014" cy="8811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）自相关函数 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）功率谱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3.16 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自相关函数与功率谱密度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72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9DDEF47-63FD-475B-908A-A01BF41A44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8036" y="1180367"/>
                <a:ext cx="8716518" cy="452548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数字电路中也常常遇到二进制传输信号。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比如同步电路中，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zh-CN" dirty="0"/>
                  <a:t>型触发器的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zh-CN" dirty="0"/>
                  <a:t>输出端上的信号在时钟控制下逐时隙</a:t>
                </a:r>
                <a:r>
                  <a:rPr lang="en-US" altLang="zh-CN" dirty="0"/>
                  <a:t>(</a:t>
                </a:r>
                <a:r>
                  <a:rPr lang="zh-CN" altLang="zh-CN" dirty="0"/>
                  <a:t>时钟周期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地送出。当触发器的输入信号无法预知时，我们常用随机二进制传输信号来描述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zh-CN" dirty="0"/>
                  <a:t>端的输出信号，并借助图</a:t>
                </a:r>
                <a:r>
                  <a:rPr lang="en-US" altLang="zh-CN" dirty="0"/>
                  <a:t>3.16 (b)</a:t>
                </a:r>
                <a:r>
                  <a:rPr lang="zh-CN" altLang="zh-CN" dirty="0"/>
                  <a:t>分析信号的功率谱与带宽。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功率谱中只考虑主瓣一般是不够的，还需要考虑几个</a:t>
                </a:r>
                <a:r>
                  <a:rPr lang="zh-CN" altLang="en-US" dirty="0"/>
                  <a:t>幅度较大的</a:t>
                </a:r>
                <a:r>
                  <a:rPr lang="zh-CN" altLang="zh-CN" dirty="0"/>
                  <a:t>旁瓣。</a:t>
                </a:r>
                <a:r>
                  <a:rPr lang="zh-CN" altLang="en-US" dirty="0"/>
                  <a:t>（主瓣、第一旁瓣、第二旁瓣等等）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假设时钟频率为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zh-CN" dirty="0"/>
                  <a:t>为了保持信号波形基本完整，实际工程中通常需要至少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3~5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倍</a:t>
                </a:r>
                <a:r>
                  <a:rPr lang="zh-CN" altLang="zh-CN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</m:oMath>
                </a14:m>
                <a:r>
                  <a:rPr lang="zh-CN" altLang="zh-CN" dirty="0"/>
                  <a:t>的带宽。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9DDEF47-63FD-475B-908A-A01BF41A4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8036" y="1180367"/>
                <a:ext cx="8716518" cy="4525489"/>
              </a:xfrm>
              <a:blipFill>
                <a:blip r:embed="rId2"/>
                <a:stretch>
                  <a:fillRect l="-699" r="-699" b="-3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71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AB088F4-6A07-43EE-B028-38A0BCF758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785" y="1085850"/>
                <a:ext cx="7890828" cy="458571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定理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3.5  </a:t>
                </a:r>
                <a:r>
                  <a:rPr lang="zh-CN" altLang="zh-CN" dirty="0"/>
                  <a:t>假定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}</a:t>
                </a:r>
                <a:r>
                  <a:rPr lang="zh-CN" altLang="zh-CN" dirty="0"/>
                  <a:t>为平稳序列，均值为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zh-CN" dirty="0"/>
                  <a:t>，自相关函数为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dirty="0"/>
                  <a:t>。记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的傅里叶变换为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是平稳信号，并且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1) </a:t>
                </a:r>
                <a:r>
                  <a:rPr lang="zh-CN" altLang="zh-CN" dirty="0"/>
                  <a:t>均值 </a:t>
                </a:r>
                <a:r>
                  <a:rPr lang="en-US" altLang="zh-CN" dirty="0"/>
                  <a:t>            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          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  <m:d>
                      <m:dPr>
                        <m:begChr m:val="|"/>
                        <m:endChr m:val=""/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lang="en-US" altLang="zh-CN" sz="2400" b="0" dirty="0">
                    <a:solidFill>
                      <a:srgbClr val="FF0000"/>
                    </a:solidFill>
                  </a:rPr>
                  <a:t>        </a:t>
                </a:r>
                <a:r>
                  <a:rPr lang="en-US" altLang="zh-CN" b="0" dirty="0"/>
                  <a:t>		          </a:t>
                </a:r>
                <a:endParaRPr lang="zh-CN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2) </a:t>
                </a:r>
                <a:r>
                  <a:rPr lang="zh-CN" altLang="zh-CN" dirty="0"/>
                  <a:t>自相关函数  </a:t>
                </a:r>
                <a:br>
                  <a:rPr lang="en-US" altLang="zh-CN" dirty="0"/>
                </a:br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𝑘𝑇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/>
                  <a:t>			</a:t>
                </a:r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3) </a:t>
                </a:r>
                <a:r>
                  <a:rPr lang="zh-CN" altLang="zh-CN" dirty="0"/>
                  <a:t>功率谱</a:t>
                </a:r>
                <a:br>
                  <a:rPr lang="en-US" altLang="zh-CN" dirty="0"/>
                </a:br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zh-CN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zh-CN" alt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𝑗𝑘</m:t>
                            </m:r>
                            <m:r>
                              <a:rPr lang="zh-CN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dirty="0"/>
                  <a:t> 		 </a:t>
                </a:r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AB088F4-6A07-43EE-B028-38A0BCF75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785" y="1085850"/>
                <a:ext cx="7890828" cy="4585716"/>
              </a:xfrm>
              <a:blipFill>
                <a:blip r:embed="rId2"/>
                <a:stretch>
                  <a:fillRect l="-927" b="-30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17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1393EB8-BE6D-4CA4-AC83-8FD80BA7B3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4048" y="260648"/>
                <a:ext cx="8072565" cy="583264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证明： </a:t>
                </a:r>
                <a:r>
                  <a:rPr lang="zh-CN" altLang="zh-CN" sz="1950" dirty="0"/>
                  <a:t>（</a:t>
                </a:r>
                <a:r>
                  <a:rPr lang="en-US" altLang="zh-CN" sz="1950" dirty="0"/>
                  <a:t>1</a:t>
                </a:r>
                <a:r>
                  <a:rPr lang="zh-CN" altLang="zh-CN" sz="1950" dirty="0"/>
                  <a:t>）由于</a:t>
                </a:r>
                <a14:m>
                  <m:oMath xmlns:m="http://schemas.openxmlformats.org/officeDocument/2006/math"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950" dirty="0"/>
                  <a:t>由随机序列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9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950" dirty="0"/>
                  <a:t>与随机变量</a:t>
                </a:r>
                <a:r>
                  <a:rPr lang="en-US" altLang="zh-CN" sz="1950" dirty="0"/>
                  <a:t>D</a:t>
                </a:r>
                <a:r>
                  <a:rPr lang="zh-CN" altLang="zh-CN" sz="1950" dirty="0"/>
                  <a:t>复合构成，直接计算其均值不容易。下面借助</a:t>
                </a:r>
                <a:r>
                  <a:rPr lang="zh-CN" altLang="en-US" sz="1950" dirty="0">
                    <a:solidFill>
                      <a:srgbClr val="FF0000"/>
                    </a:solidFill>
                  </a:rPr>
                  <a:t>全数学期望公式</a:t>
                </a:r>
                <a:r>
                  <a:rPr lang="zh-CN" altLang="zh-CN" sz="1950" dirty="0"/>
                  <a:t>，先考虑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9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9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zh-CN" altLang="zh-CN" sz="195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𝑛𝑇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9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zh-CN" altLang="zh-CN" sz="19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𝑛𝑇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950" dirty="0"/>
              </a:p>
              <a:p>
                <a:pPr marL="0" indent="0">
                  <a:buNone/>
                </a:pPr>
                <a:br>
                  <a:rPr lang="en-US" altLang="zh-CN" sz="195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9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9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zh-CN" altLang="zh-CN" sz="19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𝑛𝑇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95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95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50" b="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sz="195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95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95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95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9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95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950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zh-CN" altLang="zh-CN" sz="19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19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95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zh-CN" altLang="zh-CN" sz="19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zh-CN" sz="195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zh-CN" altLang="zh-CN" sz="19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𝑛𝑇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9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sz="1950" b="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zh-CN" altLang="zh-CN" sz="1950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zh-CN" dirty="0"/>
                  <a:t>               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zh-CN" altLang="zh-CN" dirty="0"/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buNone/>
                </a:pPr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∗∗∗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令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，有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nary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nary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1393EB8-BE6D-4CA4-AC83-8FD80BA7B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048" y="260648"/>
                <a:ext cx="8072565" cy="5832648"/>
              </a:xfrm>
              <a:blipFill>
                <a:blip r:embed="rId2"/>
                <a:stretch>
                  <a:fillRect l="-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24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6B0A7AD-6B09-4A46-9AEE-8BFC33CA96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40714"/>
                <a:ext cx="7772400" cy="456514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(2) </a:t>
                </a:r>
                <a:r>
                  <a:rPr lang="zh-CN" altLang="en-US" dirty="0"/>
                  <a:t>同样，条件自相关函数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zh-CN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zh-CN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  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𝑘𝑇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) </m:t>
                                  </m:r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6B0A7AD-6B09-4A46-9AEE-8BFC33CA9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40714"/>
                <a:ext cx="7772400" cy="4565142"/>
              </a:xfrm>
              <a:blipFill>
                <a:blip r:embed="rId2"/>
                <a:stretch>
                  <a:fillRect l="-941" t="-1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/>
              <p:cNvSpPr/>
              <p:nvPr/>
            </p:nvSpPr>
            <p:spPr bwMode="auto">
              <a:xfrm>
                <a:off x="5246370" y="4423410"/>
                <a:ext cx="2036826" cy="452628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椭圆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6370" y="4423410"/>
                <a:ext cx="2036826" cy="45262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13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D2DBE0A-BD6B-4B5A-9B78-3B62AF690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404664"/>
                <a:ext cx="8348472" cy="534919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于是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zh-CN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=−∞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+∞</m:t>
                                          </m:r>
                                        </m:sup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𝑚𝑇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𝑚𝑇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𝑘𝑇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nary>
                                    </m:e>
                                  </m:d>
                                </m:e>
                              </m:nary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+∞</m:t>
                                  </m:r>
                                </m:sup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limLoc m:val="subSup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𝑚𝑇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𝑚𝑇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𝑘𝑇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  <m:r>
                                            <a:rPr lang="en-US" altLang="zh-CN" sz="1800" b="0" i="1"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</m:e>
                                      </m:nary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zh-CN" altLang="zh-CN" dirty="0"/>
                  <a:t>对于上式中的和式部分，令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，有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𝑚𝑇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𝑚𝑇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𝑘𝑇</m:t>
                                  </m:r>
                                </m:e>
                              </m:d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8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18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D2DBE0A-BD6B-4B5A-9B78-3B62AF690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404664"/>
                <a:ext cx="8348472" cy="5349198"/>
              </a:xfrm>
              <a:blipFill>
                <a:blip r:embed="rId2"/>
                <a:stretch>
                  <a:fillRect l="-730" t="-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65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BFA03BE-6E22-43DF-A19B-CCEB0FE05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260648"/>
                <a:ext cx="8121459" cy="590465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zh-CN" b="1" dirty="0"/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于是 </a:t>
                </a:r>
                <a:r>
                  <a:rPr lang="en-US" altLang="zh-CN" dirty="0"/>
                  <a:t>   </a:t>
                </a:r>
                <a:br>
                  <a:rPr lang="en-US" altLang="zh-CN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又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可见，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是平稳信号。</a:t>
                </a:r>
              </a:p>
              <a:p>
                <a:pPr marL="0" indent="0">
                  <a:buNone/>
                </a:pPr>
                <a:endParaRPr lang="zh-CN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BFA03BE-6E22-43DF-A19B-CCEB0FE05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260648"/>
                <a:ext cx="8121459" cy="5904656"/>
              </a:xfrm>
              <a:blipFill>
                <a:blip r:embed="rId2"/>
                <a:stretch>
                  <a:fillRect l="-675" t="-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34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BFA03BE-6E22-43DF-A19B-CCEB0FE05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80367"/>
                <a:ext cx="7772400" cy="462150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( 3 ) </a:t>
                </a:r>
                <a:r>
                  <a:rPr lang="zh-CN" altLang="zh-CN" dirty="0"/>
                  <a:t>下面计算功率谱。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         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根据傅里叶变换的基本性质易知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⟷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𝛚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dirty="0"/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𝑗𝑘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BFA03BE-6E22-43DF-A19B-CCEB0FE05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80367"/>
                <a:ext cx="7772400" cy="4621501"/>
              </a:xfrm>
              <a:blipFill>
                <a:blip r:embed="rId2"/>
                <a:stretch>
                  <a:fillRect l="-706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/>
              <p:cNvSpPr/>
              <p:nvPr/>
            </p:nvSpPr>
            <p:spPr bwMode="auto">
              <a:xfrm>
                <a:off x="6343650" y="2215134"/>
                <a:ext cx="1707642" cy="528066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实数</a:t>
                </a:r>
              </a:p>
            </p:txBody>
          </p:sp>
        </mc:Choice>
        <mc:Fallback xmlns="">
          <p:sp>
            <p:nvSpPr>
              <p:cNvPr id="3" name="椭圆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43650" y="2215134"/>
                <a:ext cx="1707642" cy="52806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椭圆 3"/>
              <p:cNvSpPr/>
              <p:nvPr/>
            </p:nvSpPr>
            <p:spPr bwMode="auto">
              <a:xfrm>
                <a:off x="6041898" y="1495044"/>
                <a:ext cx="2311146" cy="569214"/>
              </a:xfrm>
              <a:prstGeom prst="ellips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𝛚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𝛚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椭圆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1898" y="1495044"/>
                <a:ext cx="2311146" cy="569214"/>
              </a:xfrm>
              <a:prstGeom prst="ellipse">
                <a:avLst/>
              </a:prstGeom>
              <a:blipFill>
                <a:blip r:embed="rId4"/>
                <a:stretch>
                  <a:fillRect r="-288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18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40E5E8E-E4F4-4A07-A90C-0E2D5F693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592" y="1180367"/>
                <a:ext cx="8915400" cy="40893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例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3.16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讨论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(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取值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± 1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的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)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随机电报信号的平稳性与功率谱。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1800" dirty="0"/>
                  <a:t>随机电报信号</a:t>
                </a:r>
                <a:r>
                  <a:rPr lang="en-US" altLang="zh-CN" sz="1800" dirty="0"/>
                  <a:t> ( Random Telegraph Signal 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(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是一种随机的两电平信号</a:t>
                </a:r>
                <a:r>
                  <a:rPr lang="en-US" altLang="zh-CN" sz="1800" dirty="0"/>
                  <a:t> , </a:t>
                </a:r>
                <a:r>
                  <a:rPr lang="zh-CN" altLang="zh-CN" sz="1800" dirty="0"/>
                  <a:t>定义如下</a:t>
                </a:r>
                <a:r>
                  <a:rPr lang="en-US" altLang="zh-CN" sz="1800" dirty="0"/>
                  <a:t> 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①</a:t>
                </a:r>
                <a:r>
                  <a:rPr lang="zh-CN" altLang="zh-CN" sz="1800" dirty="0"/>
                  <a:t>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的初始时刻</a:t>
                </a:r>
                <a:r>
                  <a:rPr lang="en-US" altLang="zh-CN" sz="1800" dirty="0"/>
                  <a:t> 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( 0 )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取值可为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800" dirty="0"/>
                  <a:t> , </a:t>
                </a:r>
                <a:r>
                  <a:rPr lang="zh-CN" altLang="zh-CN" sz="1800" dirty="0"/>
                  <a:t>概率分别为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1/2</m:t>
                    </m:r>
                  </m:oMath>
                </a14:m>
                <a:r>
                  <a:rPr lang="en-US" altLang="zh-CN" sz="1800" dirty="0"/>
                  <a:t> ;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②</a:t>
                </a:r>
                <a:r>
                  <a:rPr lang="zh-CN" altLang="zh-CN" sz="1800" dirty="0"/>
                  <a:t>而后</a:t>
                </a:r>
                <a:r>
                  <a:rPr lang="en-US" altLang="zh-CN" sz="1800" dirty="0"/>
                  <a:t> , </a:t>
                </a:r>
                <a:r>
                  <a:rPr lang="zh-CN" altLang="zh-CN" sz="1800" dirty="0"/>
                  <a:t>在任何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[ 0 ,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上</a:t>
                </a:r>
                <a:r>
                  <a:rPr lang="en-US" altLang="zh-CN" sz="1800" dirty="0"/>
                  <a:t> 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(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之间以</a:t>
                </a:r>
                <a:r>
                  <a:rPr lang="en-US" altLang="zh-CN" sz="1800" dirty="0"/>
                  <a:t> " </a:t>
                </a:r>
                <a:r>
                  <a:rPr lang="zh-CN" altLang="zh-CN" sz="1800" dirty="0"/>
                  <a:t>泊松特性</a:t>
                </a:r>
                <a:r>
                  <a:rPr lang="en-US" altLang="zh-CN" sz="1800" dirty="0"/>
                  <a:t> " </a:t>
                </a:r>
                <a:r>
                  <a:rPr lang="zh-CN" altLang="zh-CN" sz="1800" dirty="0"/>
                  <a:t>发生随机翻转 ，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翻转与初值独立</a:t>
                </a:r>
                <a:r>
                  <a:rPr lang="en-US" altLang="zh-CN" sz="1800" dirty="0"/>
                  <a:t> , </a:t>
                </a:r>
                <a:r>
                  <a:rPr lang="zh-CN" altLang="zh-CN" sz="1800" dirty="0"/>
                  <a:t>翻转次数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(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zh-CN" altLang="zh-CN" sz="1800" dirty="0"/>
                  <a:t>服从泊松分布</a:t>
                </a:r>
                <a14:m>
                  <m:oMath xmlns:m="http://schemas.openxmlformats.org/officeDocument/2006/math">
                    <m:r>
                      <a:rPr lang="zh-CN" altLang="zh-CN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(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en-US" altLang="zh-CN" sz="1800" dirty="0"/>
                  <a:t>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/>
                  <a:t>   </a:t>
                </a:r>
                <a:r>
                  <a:rPr lang="zh-CN" altLang="zh-CN" sz="1800" dirty="0"/>
                  <a:t>典型样本如图</a:t>
                </a:r>
                <a:r>
                  <a:rPr lang="en-US" altLang="zh-CN" sz="1800" dirty="0"/>
                  <a:t> 3 . 17 </a:t>
                </a:r>
                <a:r>
                  <a:rPr lang="zh-CN" altLang="zh-CN" sz="1800" dirty="0"/>
                  <a:t>所示 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40E5E8E-E4F4-4A07-A90C-0E2D5F693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592" y="1180367"/>
                <a:ext cx="8915400" cy="4089339"/>
              </a:xfrm>
              <a:blipFill>
                <a:blip r:embed="rId3"/>
                <a:stretch>
                  <a:fillRect l="-820" t="-1493" r="-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BF4B42B-2DB3-4F15-B802-3B5DB0165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836" y="325587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7354F29-D0A5-4EAE-857E-938C658A17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1734" y="3573019"/>
          <a:ext cx="5150274" cy="169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Visio" r:id="rId4" imgW="9121034" imgH="3025014" progId="Visio.Drawing.15">
                  <p:embed/>
                </p:oleObj>
              </mc:Choice>
              <mc:Fallback>
                <p:oleObj name="Visio" r:id="rId4" imgW="9121034" imgH="3025014" progId="Visio.Drawing.15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7354F29-D0A5-4EAE-857E-938C658A1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734" y="3573019"/>
                        <a:ext cx="5150274" cy="1696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9BD4DFB-786A-4B89-9EDB-45642EDAB76A}"/>
                  </a:ext>
                </a:extLst>
              </p:cNvPr>
              <p:cNvSpPr/>
              <p:nvPr/>
            </p:nvSpPr>
            <p:spPr>
              <a:xfrm>
                <a:off x="3635896" y="5373216"/>
                <a:ext cx="56870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zh-CN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3.17 </a:t>
                </a:r>
                <a:r>
                  <a:rPr lang="zh-CN" altLang="zh-CN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随机电报信号样本函数示例（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zh-CN" altLang="zh-CN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的情形）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9BD4DFB-786A-4B89-9EDB-45642EDAB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373216"/>
                <a:ext cx="5687006" cy="369332"/>
              </a:xfrm>
              <a:prstGeom prst="rect">
                <a:avLst/>
              </a:prstGeom>
              <a:blipFill>
                <a:blip r:embed="rId6"/>
                <a:stretch>
                  <a:fillRect l="-857" t="-9836" r="-322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372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B7C446C-115D-4BC3-8789-AA79ABFED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6616" y="1180366"/>
                <a:ext cx="8620506" cy="440890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考虑在±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（伏特）的电平间进行随机选择的实验：初始时刻的电平是随机的，而后又发生随机翻转，每单位时间平均翻转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zh-CN" dirty="0"/>
                  <a:t>次，位置不变，但服从泊松信号的特性。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  </a:t>
                </a:r>
                <a:r>
                  <a:rPr lang="zh-CN" altLang="zh-CN" dirty="0"/>
                  <a:t>显然有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    </m:t>
                            </m:r>
                            <m:r>
                              <a:rPr lang="zh-CN" altLang="zh-CN">
                                <a:latin typeface="Cambria Math" panose="02040503050406030204" pitchFamily="18" charset="0"/>
                              </a:rPr>
                              <m:t>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altLang="zh-CN">
                                <a:latin typeface="Cambria Math" panose="02040503050406030204" pitchFamily="18" charset="0"/>
                              </a:rPr>
                              <m:t>为偶数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     </m:t>
                            </m:r>
                            <m:r>
                              <a:rPr lang="zh-CN" altLang="zh-CN">
                                <a:latin typeface="Cambria Math" panose="02040503050406030204" pitchFamily="18" charset="0"/>
                              </a:rPr>
                              <m:t>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a:rPr lang="zh-CN" altLang="zh-CN">
                                <a:latin typeface="Cambria Math" panose="02040503050406030204" pitchFamily="18" charset="0"/>
                              </a:rPr>
                              <m:t>为奇数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                     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有时，随机电报信号也可以表示为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(−1)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en-US" altLang="zh-CN" dirty="0"/>
                  <a:t>,  </a:t>
                </a:r>
                <a:r>
                  <a:rPr lang="zh-CN" altLang="zh-CN" dirty="0"/>
                  <a:t>其中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zh-CN" altLang="zh-CN" dirty="0"/>
                  <a:t>是常数为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zh-CN" dirty="0"/>
                  <a:t>的泊松计数信号，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dirty="0"/>
                  <a:t>为等概的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二元随机变量。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B7C446C-115D-4BC3-8789-AA79ABFED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6616" y="1180366"/>
                <a:ext cx="8620506" cy="4408904"/>
              </a:xfrm>
              <a:blipFill>
                <a:blip r:embed="rId2"/>
                <a:stretch>
                  <a:fillRect l="-707" r="-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246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8330DAC-F537-4E2F-9623-4DA41DB68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476673"/>
                <a:ext cx="8828472" cy="52429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1)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均值 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dirty="0"/>
                  <a:t>利用全概率公式</a:t>
                </a:r>
                <a:r>
                  <a:rPr lang="en-US" altLang="zh-CN" dirty="0"/>
                  <a:t>, </a:t>
                </a:r>
                <a:r>
                  <a:rPr lang="zh-CN" altLang="zh-CN" dirty="0"/>
                  <a:t>可计算出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=−1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=</a:t>
                </a:r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为偶数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zh-CN" i="1">
                            <a:latin typeface="Cambria Math" panose="02040503050406030204" pitchFamily="18" charset="0"/>
                          </a:rPr>
                          <m:t>为奇数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=−1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=</a:t>
                </a:r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zh-CN">
                            <a:latin typeface="Cambria Math" panose="02040503050406030204" pitchFamily="18" charset="0"/>
                          </a:rPr>
                          <m:t>为偶数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zh-CN">
                            <a:latin typeface="Cambria Math" panose="02040503050406030204" pitchFamily="18" charset="0"/>
                          </a:rPr>
                          <m:t>为奇数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     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可见，该信号在任何时刻的取值都是二元等概的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8330DAC-F537-4E2F-9623-4DA41DB68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476673"/>
                <a:ext cx="8828472" cy="5242900"/>
              </a:xfrm>
              <a:blipFill>
                <a:blip r:embed="rId2"/>
                <a:stretch>
                  <a:fillRect l="-828" t="-1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39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C16E59-D464-4B7C-A0CD-E2A31FC94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404664"/>
                <a:ext cx="7772400" cy="523947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7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700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zh-CN" sz="2700" dirty="0">
                    <a:solidFill>
                      <a:srgbClr val="FF0000"/>
                    </a:solidFill>
                  </a:rPr>
                  <a:t>自相关函数</a:t>
                </a:r>
                <a:endParaRPr lang="en-US" altLang="zh-CN" sz="27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不妨先考虑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zh-CN" dirty="0"/>
                  <a:t>有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zh-CN">
                              <a:latin typeface="Cambria Math" panose="02040503050406030204" pitchFamily="18" charset="0"/>
                            </a:rPr>
                            <m:t>同号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+(−1)×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zh-CN">
                              <a:latin typeface="Cambria Math" panose="02040503050406030204" pitchFamily="18" charset="0"/>
                            </a:rPr>
                            <m:t>反号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altLang="zh-CN">
                            <a:latin typeface="Cambria Math" panose="02040503050406030204" pitchFamily="18" charset="0"/>
                          </a:rPr>
                          <m:t>为偶数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altLang="zh-CN">
                            <a:latin typeface="Cambria Math" panose="02040503050406030204" pitchFamily="18" charset="0"/>
                          </a:rPr>
                          <m:t>为奇数</m:t>
                        </m:r>
                      </m:e>
                    </m:d>
                  </m:oMath>
                </a14:m>
                <a:endParaRPr lang="zh-CN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 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altLang="zh-CN">
                            <a:latin typeface="Cambria Math" panose="02040503050406030204" pitchFamily="18" charset="0"/>
                          </a:rPr>
                          <m:t>为偶数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zh-CN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式中，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dirty="0"/>
                  <a:t>是在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/>
                  <a:t>期间发生的翻转次数。</a:t>
                </a:r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于是，令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，有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zh-CN" altLang="zh-CN">
                              <a:latin typeface="Cambria Math" panose="02040503050406030204" pitchFamily="18" charset="0"/>
                            </a:rPr>
                            <m:t>为偶数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为偶数</m:t>
                              </m:r>
                            </m:e>
                          </m:eqAr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𝜆𝜏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𝜆𝜏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𝜆𝜏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(−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𝜆𝜏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𝜆𝜏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𝜆𝜏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𝜆𝜏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𝜆𝜏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=(1+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𝜆𝜏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)/2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  <a:r>
                  <a:rPr lang="zh-CN" altLang="en-US" dirty="0"/>
                  <a:t>故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=2×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𝜆𝜏</m:t>
                            </m:r>
                          </m:sup>
                        </m:sSup>
                      </m:num>
                      <m:den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1=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𝜆𝜏</m:t>
                        </m:r>
                      </m:sup>
                    </m:sSup>
                  </m:oMath>
                </a14:m>
                <a:r>
                  <a:rPr lang="en-US" altLang="zh-CN" dirty="0"/>
                  <a:t>         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C16E59-D464-4B7C-A0CD-E2A31FC94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404664"/>
                <a:ext cx="7772400" cy="5239470"/>
              </a:xfrm>
              <a:blipFill>
                <a:blip r:embed="rId2"/>
                <a:stretch>
                  <a:fillRect l="-1098" t="-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418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206EAD9-A2ED-46BD-B984-595F95D93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548680"/>
                <a:ext cx="8134287" cy="497468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考虑到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的一般情况，利用对称性，有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可见，随机电报信号是广义平稳的。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利用傅里叶变换对：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⟷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, </a:t>
                </a:r>
                <a:r>
                  <a:rPr lang="zh-CN" altLang="zh-CN" dirty="0"/>
                  <a:t>得到功率谱为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b="0" dirty="0"/>
                  <a:t> 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该信号主要由低频成分构成</a:t>
                </a:r>
                <a:r>
                  <a:rPr lang="zh-CN" altLang="en-US" dirty="0"/>
                  <a:t>，为低通信号，最大值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𝑑𝐵</m:t>
                    </m:r>
                  </m:oMath>
                </a14:m>
                <a:r>
                  <a:rPr lang="zh-CN" altLang="zh-CN" dirty="0"/>
                  <a:t>带宽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半功率点带宽</a:t>
                </a:r>
                <a:r>
                  <a:rPr lang="en-US" altLang="zh-CN" dirty="0"/>
                  <a:t>)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dirty="0"/>
                  <a:t>，计算得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𝒓𝒂𝒅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zh-CN" dirty="0"/>
                  <a:t>  (Hz)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206EAD9-A2ED-46BD-B984-595F95D93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548680"/>
                <a:ext cx="8134287" cy="4974681"/>
              </a:xfrm>
              <a:blipFill>
                <a:blip r:embed="rId2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4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CCCD44-C828-4B89-85B1-582D39C928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3202" y="476673"/>
                <a:ext cx="8407908" cy="511259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随机电报信号在异步数字电路中可能遇到。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比如，某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dirty="0"/>
                  <a:t>型触发器的输出信号受触发电平控制，在高低电平之间来回翻转。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我们无法预知下一次触发何时到来，认为触发边沿之间的间距是随机的，并常常简单地认为这种间距服从均值为某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zh-CN" dirty="0"/>
                  <a:t>的指数分布。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可以证明，这时的翻转特性正是参数为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zh-CN" dirty="0"/>
                  <a:t>的泊松分布，因此，触发器的输出信号就可以用随机电报信号来描述。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CCCD44-C828-4B89-85B1-582D39C92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3202" y="476673"/>
                <a:ext cx="8407908" cy="5112598"/>
              </a:xfrm>
              <a:blipFill>
                <a:blip r:embed="rId2"/>
                <a:stretch>
                  <a:fillRect l="-870" r="-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779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20C24D-559B-4511-B037-CE652050A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260648"/>
            <a:ext cx="7886700" cy="839744"/>
          </a:xfrm>
        </p:spPr>
        <p:txBody>
          <a:bodyPr/>
          <a:lstStyle/>
          <a:p>
            <a:r>
              <a:rPr lang="zh-CN" altLang="en-US" dirty="0"/>
              <a:t>作  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63" y="1100392"/>
            <a:ext cx="7720188" cy="499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58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20C24D-559B-4511-B037-CE652050A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640"/>
            <a:ext cx="7886700" cy="839744"/>
          </a:xfrm>
        </p:spPr>
        <p:txBody>
          <a:bodyPr/>
          <a:lstStyle/>
          <a:p>
            <a:r>
              <a:rPr lang="zh-CN" altLang="en-US" dirty="0"/>
              <a:t>作  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84" y="1028384"/>
            <a:ext cx="7894002" cy="477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558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20C24D-559B-4511-B037-CE652050A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CDFDC5-57C8-4875-8336-35D008617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总结课程有关公式</a:t>
            </a:r>
            <a:endParaRPr lang="en-US" altLang="zh-CN" dirty="0"/>
          </a:p>
          <a:p>
            <a:r>
              <a:rPr lang="zh-CN" altLang="en-US" dirty="0"/>
              <a:t>课本习题 </a:t>
            </a:r>
            <a:r>
              <a:rPr lang="en-US" altLang="zh-CN" dirty="0"/>
              <a:t>3.24  3.31</a:t>
            </a:r>
            <a:r>
              <a:rPr lang="zh-CN" altLang="en-US" dirty="0"/>
              <a:t>  </a:t>
            </a:r>
            <a:r>
              <a:rPr lang="en-US" altLang="zh-CN" dirty="0"/>
              <a:t>3.33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2293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D42DB17-BBD1-460F-B3A2-D9569713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7556A7-4264-4E7B-AB5B-7499A391C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白噪声</a:t>
            </a:r>
            <a:endParaRPr lang="en-US" altLang="zh-CN" dirty="0"/>
          </a:p>
          <a:p>
            <a:r>
              <a:rPr lang="zh-CN" altLang="en-US" dirty="0"/>
              <a:t>随机相位正弦信号</a:t>
            </a:r>
            <a:endParaRPr lang="en-US" altLang="zh-CN" dirty="0"/>
          </a:p>
          <a:p>
            <a:r>
              <a:rPr lang="zh-CN" altLang="en-US" dirty="0"/>
              <a:t>调制信号功率谱</a:t>
            </a:r>
            <a:endParaRPr lang="en-US" altLang="zh-CN" dirty="0"/>
          </a:p>
          <a:p>
            <a:r>
              <a:rPr lang="zh-CN" altLang="en-US" dirty="0"/>
              <a:t>随机二元传输信号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208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44F33-1C98-4E41-9575-CF790DE49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7094"/>
            <a:ext cx="7886700" cy="831626"/>
          </a:xfrm>
        </p:spPr>
        <p:txBody>
          <a:bodyPr/>
          <a:lstStyle/>
          <a:p>
            <a:r>
              <a:rPr lang="zh-CN" altLang="en-US" dirty="0"/>
              <a:t>第三章总结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B3A41A6-47E1-4A49-8393-2354F5493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908720"/>
            <a:ext cx="788670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1377"/>
      </p:ext>
    </p:extLst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8093</TotalTime>
  <Words>3110</Words>
  <Application>Microsoft Office PowerPoint</Application>
  <PresentationFormat>全屏显示(4:3)</PresentationFormat>
  <Paragraphs>246</Paragraphs>
  <Slides>39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8" baseType="lpstr">
      <vt:lpstr>Arial Unicode MS</vt:lpstr>
      <vt:lpstr>等线</vt:lpstr>
      <vt:lpstr>黑体</vt:lpstr>
      <vt:lpstr>楷体</vt:lpstr>
      <vt:lpstr>宋体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Visio</vt:lpstr>
      <vt:lpstr>PowerPoint 演示文稿</vt:lpstr>
      <vt:lpstr>第三章  平稳性与功率谱密度</vt:lpstr>
      <vt:lpstr>PowerPoint 演示文稿</vt:lpstr>
      <vt:lpstr>3.5  白噪声和白噪声序列   学习目标</vt:lpstr>
      <vt:lpstr>3.5  白噪声和白噪声序列</vt:lpstr>
      <vt:lpstr>PowerPoint 演示文稿</vt:lpstr>
      <vt:lpstr>PowerPoint 演示文稿</vt:lpstr>
      <vt:lpstr>PowerPoint 演示文稿</vt:lpstr>
      <vt:lpstr>PowerPoint 演示文稿</vt:lpstr>
      <vt:lpstr>3.6   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  业</vt:lpstr>
      <vt:lpstr>作  业</vt:lpstr>
      <vt:lpstr>作业</vt:lpstr>
      <vt:lpstr>总结</vt:lpstr>
      <vt:lpstr>第三章总结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871</cp:revision>
  <dcterms:created xsi:type="dcterms:W3CDTF">2012-07-10T00:46:24Z</dcterms:created>
  <dcterms:modified xsi:type="dcterms:W3CDTF">2024-11-20T02:30:35Z</dcterms:modified>
</cp:coreProperties>
</file>