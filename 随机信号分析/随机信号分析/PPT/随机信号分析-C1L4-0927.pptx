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66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42.xml" ContentType="application/vnd.openxmlformats-officedocument.presentationml.tags+xml"/>
  <Override PartName="/ppt/tags/tag130.xml" ContentType="application/vnd.openxmlformats-officedocument.presentationml.tags+xml"/>
  <Override PartName="/ppt/tags/tag140.xml" ContentType="application/vnd.openxmlformats-officedocument.presentationml.tags+xml"/>
  <Override PartName="/ppt/tags/tag150.xml" ContentType="application/vnd.openxmlformats-officedocument.presentationml.tags+xml"/>
  <Override PartName="/ppt/tags/tag160.xml" ContentType="application/vnd.openxmlformats-officedocument.presentationml.tags+xml"/>
  <Override PartName="/ppt/tags/tag300.xml" ContentType="application/vnd.openxmlformats-officedocument.presentationml.tags+xml"/>
  <Override PartName="/ppt/tags/tag310.xml" ContentType="application/vnd.openxmlformats-officedocument.presentationml.tags+xml"/>
  <Override PartName="/ppt/tags/tag320.xml" ContentType="application/vnd.openxmlformats-officedocument.presentationml.tags+xml"/>
  <Override PartName="/ppt/tags/tag330.xml" ContentType="application/vnd.openxmlformats-officedocument.presentationml.tags+xml"/>
  <Override PartName="/ppt/tags/tag86.xml" ContentType="application/vnd.openxmlformats-officedocument.presentationml.tags+xml"/>
  <Override PartName="/ppt/tags/tag96.xml" ContentType="application/vnd.openxmlformats-officedocument.presentationml.tags+xml"/>
  <Override PartName="/ppt/tags/tag62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60" r:id="rId2"/>
    <p:sldMasterId id="2147483686" r:id="rId3"/>
    <p:sldMasterId id="2147483690" r:id="rId4"/>
    <p:sldMasterId id="2147483708" r:id="rId5"/>
  </p:sldMasterIdLst>
  <p:notesMasterIdLst>
    <p:notesMasterId r:id="rId50"/>
  </p:notesMasterIdLst>
  <p:handoutMasterIdLst>
    <p:handoutMasterId r:id="rId51"/>
  </p:handoutMasterIdLst>
  <p:sldIdLst>
    <p:sldId id="360" r:id="rId6"/>
    <p:sldId id="256" r:id="rId7"/>
    <p:sldId id="405" r:id="rId8"/>
    <p:sldId id="406" r:id="rId9"/>
    <p:sldId id="450" r:id="rId10"/>
    <p:sldId id="451" r:id="rId11"/>
    <p:sldId id="452" r:id="rId12"/>
    <p:sldId id="453" r:id="rId13"/>
    <p:sldId id="454" r:id="rId14"/>
    <p:sldId id="455" r:id="rId15"/>
    <p:sldId id="427" r:id="rId16"/>
    <p:sldId id="456" r:id="rId17"/>
    <p:sldId id="429" r:id="rId18"/>
    <p:sldId id="457" r:id="rId19"/>
    <p:sldId id="458" r:id="rId20"/>
    <p:sldId id="459" r:id="rId21"/>
    <p:sldId id="460" r:id="rId22"/>
    <p:sldId id="461" r:id="rId23"/>
    <p:sldId id="462" r:id="rId24"/>
    <p:sldId id="463" r:id="rId25"/>
    <p:sldId id="464" r:id="rId26"/>
    <p:sldId id="465" r:id="rId27"/>
    <p:sldId id="439" r:id="rId28"/>
    <p:sldId id="466" r:id="rId29"/>
    <p:sldId id="430" r:id="rId30"/>
    <p:sldId id="431" r:id="rId31"/>
    <p:sldId id="432" r:id="rId32"/>
    <p:sldId id="433" r:id="rId33"/>
    <p:sldId id="434" r:id="rId34"/>
    <p:sldId id="435" r:id="rId35"/>
    <p:sldId id="436" r:id="rId36"/>
    <p:sldId id="371" r:id="rId37"/>
    <p:sldId id="372" r:id="rId38"/>
    <p:sldId id="437" r:id="rId39"/>
    <p:sldId id="438" r:id="rId40"/>
    <p:sldId id="443" r:id="rId41"/>
    <p:sldId id="440" r:id="rId42"/>
    <p:sldId id="444" r:id="rId43"/>
    <p:sldId id="448" r:id="rId44"/>
    <p:sldId id="445" r:id="rId45"/>
    <p:sldId id="446" r:id="rId46"/>
    <p:sldId id="447" r:id="rId47"/>
    <p:sldId id="449" r:id="rId48"/>
    <p:sldId id="426" r:id="rId49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ENOVO USER" initials="L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305"/>
    <a:srgbClr val="D09E00"/>
    <a:srgbClr val="FFD347"/>
    <a:srgbClr val="B88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99" autoAdjust="0"/>
    <p:restoredTop sz="75884" autoAdjust="0"/>
  </p:normalViewPr>
  <p:slideViewPr>
    <p:cSldViewPr>
      <p:cViewPr varScale="1">
        <p:scale>
          <a:sx n="58" d="100"/>
          <a:sy n="58" d="100"/>
        </p:scale>
        <p:origin x="1491" y="3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1302"/>
    </p:cViewPr>
  </p:sorterViewPr>
  <p:notesViewPr>
    <p:cSldViewPr>
      <p:cViewPr varScale="1">
        <p:scale>
          <a:sx n="66" d="100"/>
          <a:sy n="66" d="100"/>
        </p:scale>
        <p:origin x="1579" y="5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notesMaster" Target="notesMasters/notesMaster1.xml"/><Relationship Id="rId55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commentAuthors" Target="commentAuthor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tableStyles" Target="tableStyles.xml"/><Relationship Id="rId8" Type="http://schemas.openxmlformats.org/officeDocument/2006/relationships/slide" Target="slides/slide3.xml"/><Relationship Id="rId51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7215D6-64B5-4D81-A068-018BC9D15C70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B1B2BF-B727-4E7D-871C-58E4727485F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034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634918-EEE7-4DA3-9986-E691913FFCBE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44D2F-56DD-4976-9716-D18248F9480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873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7%AC%AC%E4%B8%80%E7%B1%BB%E9%97%B4%E6%96%AD%E7%82%B9/5014967?fromModule=lemma_inlink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225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637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）在一周期内，连续或只有有限个</a:t>
            </a:r>
            <a:r>
              <a:rPr lang="zh-CN" alt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第一类间断点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；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）在一周期内，极大值和极小值的数目是有限个；</a:t>
            </a: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）在一周期内，信号是绝对可积的。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45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写下来，与傅里叶变换比较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156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描述在固定时间或空间内随机事件发生的次数。</a:t>
            </a:r>
            <a:r>
              <a:rPr lang="zh-CN" altLang="en-US" b="1" i="0" dirty="0">
                <a:solidFill>
                  <a:srgbClr val="05073B"/>
                </a:solidFill>
                <a:effectLst/>
                <a:latin typeface="-apple-system"/>
              </a:rPr>
              <a:t>通信领域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：用于描述电话交换机接到的电话呼叫次数、网络中的数据包到达次数等。 </a:t>
            </a:r>
            <a:r>
              <a:rPr lang="zh-CN" altLang="en-US" dirty="0"/>
              <a:t>指数函数泰勒级数展开！</a:t>
            </a:r>
            <a:r>
              <a:rPr lang="en-US" altLang="zh-CN" dirty="0" err="1"/>
              <a:t>e^x</a:t>
            </a:r>
            <a:r>
              <a:rPr lang="en-US" altLang="zh-CN" dirty="0"/>
              <a:t>=1+x+x^2/2!+…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217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lang="zh-CN" altLang="en-US" dirty="0"/>
                  <a:t>时域卷积，频域乘积。</a:t>
                </a:r>
                <a:endParaRPr lang="en-US" altLang="zh-CN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lang="zh-CN" altLang="en-US" b="0" dirty="0"/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zh-CN" alt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𝑌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b="0" dirty="0"/>
                  <a:t>统计独立，有</a:t>
                </a:r>
                <a:endParaRPr lang="en-US" altLang="zh-CN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   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</m:sub>
                    </m:sSub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altLang="zh-CN" b="0" dirty="0"/>
                  <a:t>=</a:t>
                </a:r>
                <a:r>
                  <a:rPr lang="en-US" altLang="zh-CN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𝑋𝑌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altLang="zh-CN" b="0" dirty="0"/>
                          <m:t>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𝑑𝑢</m:t>
                        </m:r>
                      </m:e>
                    </m:nary>
                  </m:oMath>
                </a14:m>
                <a:r>
                  <a:rPr lang="en-US" altLang="zh-CN" b="0" dirty="0"/>
                  <a:t>=</a:t>
                </a:r>
                <a:r>
                  <a:rPr lang="en-US" altLang="zh-CN" b="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zh-CN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altLang="zh-CN" b="0" dirty="0"/>
                          <m:t> 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𝑑𝑢</m:t>
                        </m:r>
                      </m:e>
                    </m:nary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)⋇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dirty="0"/>
                  <a:t>。</a:t>
                </a:r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lang="zh-CN" altLang="en-US" dirty="0"/>
                  <a:t>时域卷积，频域乘积。</a:t>
                </a:r>
                <a:endParaRPr lang="en-US" altLang="zh-CN" sz="1200" dirty="0"/>
              </a:p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None/>
                  <a:tabLst/>
                  <a:defRPr/>
                </a:pPr>
                <a:r>
                  <a:rPr lang="zh-CN" altLang="en-US" b="0" dirty="0"/>
                  <a:t>若</a:t>
                </a:r>
                <a:r>
                  <a:rPr lang="en-US" altLang="zh-CN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𝑓_𝑋𝑌 (𝑥,𝑦)=𝑓_𝑋 (𝑥) 𝑓_𝑌 (𝑦),   𝑋 </a:t>
                </a:r>
                <a:r>
                  <a:rPr lang="zh-CN" alt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、</a:t>
                </a:r>
                <a:r>
                  <a:rPr lang="en-US" altLang="zh-CN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𝑌 </a:t>
                </a:r>
                <a:r>
                  <a:rPr lang="zh-CN" altLang="en-US" b="0" dirty="0"/>
                  <a:t>统计独立，有</a:t>
                </a:r>
                <a:endParaRPr lang="en-US" altLang="zh-CN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〖     𝑓〗_𝑍 (𝑧)</a:t>
                </a:r>
                <a:r>
                  <a:rPr lang="en-US" altLang="zh-CN" b="0" dirty="0"/>
                  <a:t>=</a:t>
                </a:r>
                <a:r>
                  <a:rPr lang="en-US" altLang="zh-CN" b="0" dirty="0">
                    <a:ea typeface="Cambria Math" panose="02040503050406030204" pitchFamily="18" charset="0"/>
                  </a:rPr>
                  <a:t> </a:t>
                </a:r>
                <a:r>
                  <a:rPr lang="en-US" altLang="zh-CN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∫_(−∞)^∞</a:t>
                </a:r>
                <a:r>
                  <a:rPr lang="en-US" altLang="zh-CN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▒</a:t>
                </a:r>
                <a:r>
                  <a:rPr lang="en-US" altLang="zh-CN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〖𝑓_𝑋𝑌 (𝑧−𝑢,𝑢)</a:t>
                </a:r>
                <a:r>
                  <a:rPr lang="en-US" altLang="zh-CN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"</a:t>
                </a:r>
                <a:r>
                  <a:rPr lang="en-US" altLang="zh-CN" b="0" i="0" dirty="0"/>
                  <a:t> </a:t>
                </a:r>
                <a:r>
                  <a:rPr lang="en-US" altLang="zh-CN" b="0" i="0" dirty="0">
                    <a:latin typeface="Cambria Math" panose="02040503050406030204" pitchFamily="18" charset="0"/>
                  </a:rPr>
                  <a:t>" 𝑑𝑢</a:t>
                </a:r>
                <a:r>
                  <a:rPr lang="en-US" altLang="zh-CN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〗</a:t>
                </a:r>
                <a:r>
                  <a:rPr lang="en-US" altLang="zh-CN" b="0" dirty="0"/>
                  <a:t>=</a:t>
                </a:r>
                <a:r>
                  <a:rPr lang="en-US" altLang="zh-CN" b="0" dirty="0">
                    <a:ea typeface="Cambria Math" panose="02040503050406030204" pitchFamily="18" charset="0"/>
                  </a:rPr>
                  <a:t> </a:t>
                </a:r>
                <a:r>
                  <a:rPr lang="en-US" altLang="zh-CN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∫_(−∞)^∞</a:t>
                </a:r>
                <a:r>
                  <a:rPr lang="en-US" altLang="zh-CN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▒</a:t>
                </a:r>
                <a:r>
                  <a:rPr lang="en-US" altLang="zh-CN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〖𝑓_𝑋 (𝑧−𝑢)𝑓_𝑌 (𝑢)</a:t>
                </a:r>
                <a:r>
                  <a:rPr lang="en-US" altLang="zh-CN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"</a:t>
                </a:r>
                <a:r>
                  <a:rPr lang="en-US" altLang="zh-CN" b="0" i="0" dirty="0"/>
                  <a:t> </a:t>
                </a:r>
                <a:r>
                  <a:rPr lang="en-US" altLang="zh-CN" b="0" i="0" dirty="0">
                    <a:latin typeface="Cambria Math" panose="02040503050406030204" pitchFamily="18" charset="0"/>
                  </a:rPr>
                  <a:t>" 𝑑𝑢</a:t>
                </a:r>
                <a:r>
                  <a:rPr lang="en-US" altLang="zh-CN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〗</a:t>
                </a:r>
                <a:r>
                  <a:rPr lang="en-US" altLang="zh-CN" b="0" i="0" dirty="0">
                    <a:latin typeface="Cambria Math" panose="02040503050406030204" pitchFamily="18" charset="0"/>
                  </a:rPr>
                  <a:t>=𝑓_𝑋 (𝑧)⋇</a:t>
                </a:r>
                <a:r>
                  <a:rPr lang="en-US" altLang="zh-CN" b="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𝑓_𝑌 (𝑧)</a:t>
                </a:r>
                <a:r>
                  <a:rPr lang="zh-CN" altLang="en-US" b="0" dirty="0"/>
                  <a:t>。</a:t>
                </a:r>
                <a:endParaRPr lang="en-US" altLang="zh-CN" b="0" dirty="0"/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6509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d</a:t>
            </a:r>
            <a:r>
              <a:rPr lang="zh-CN" altLang="en-US" dirty="0"/>
              <a:t>（</a:t>
            </a:r>
            <a:r>
              <a:rPr lang="en-US" altLang="zh-CN" dirty="0"/>
              <a:t>e^(</a:t>
            </a:r>
            <a:r>
              <a:rPr lang="en-US" altLang="zh-CN" dirty="0" err="1"/>
              <a:t>e^x</a:t>
            </a:r>
            <a:r>
              <a:rPr lang="en-US" altLang="zh-CN" dirty="0"/>
              <a:t>)</a:t>
            </a:r>
            <a:r>
              <a:rPr lang="zh-CN" altLang="en-US" dirty="0"/>
              <a:t>）</a:t>
            </a:r>
            <a:r>
              <a:rPr lang="en-US" altLang="zh-CN" dirty="0"/>
              <a:t>/dx=e(</a:t>
            </a:r>
            <a:r>
              <a:rPr lang="en-US" altLang="zh-CN" dirty="0" err="1"/>
              <a:t>x+e^x</a:t>
            </a:r>
            <a:r>
              <a:rPr lang="en-US" altLang="zh-CN" dirty="0"/>
              <a:t>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6153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麦克劳林公式是泰勒公式的特殊情况，泰勒公式的意义就是把复杂的函数简单化，也即是化成多项式函数，泰勒公式是在任何点的展开形式，而麦克劳林公式是在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点，对函数进行泰勒展开。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23143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先看书，</a:t>
            </a:r>
            <a:r>
              <a:rPr lang="en-US" altLang="zh-CN" dirty="0"/>
              <a:t>P26-30</a:t>
            </a:r>
            <a:r>
              <a:rPr lang="zh-CN" altLang="en-US" dirty="0"/>
              <a:t>，了解各种分布！主要结论写下来！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599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复合泊松分布：在保险业中，假设某保险公司承保的保单索赔额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-apple-system"/>
              </a:rPr>
              <a:t>X1, X2, ...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是相互独立的，且同分布，而索赔次数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-apple-system"/>
              </a:rPr>
              <a:t>N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服从泊松分布。那么，该保险公司一段时间内的总索赔额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-apple-system"/>
              </a:rPr>
              <a:t>S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就可以看作是一个复合泊松分布，通过该分布可以评估保险公司的总风险暴露。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骰子有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6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个值，正常情况掷一次出现其中一个值的概率都是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1/6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，这也叫均匀分布。现在假设庄家在骰子上做了手脚，使得每次都只能出现同一个值（如每次只能出现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），则出现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的概率变为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，我们就说均匀分布“退化”了，这种只有一个事件发生的分布就称为退化分布。超几何分布是统计学上一种离散概率分布。它描述了从有限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个物件（其中包含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个指定种类的物件）中抽出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个物件，成功抽出该指定种类的物件的次数（不放回）。称为超几何分布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041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指数分布的无记忆性。 电子元器件可以，普通机械器件不可以，主要看故障是否由器件老化造成与否！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6961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指数分布的一个重要特征是无记忆性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(Memoryless Property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，又称遗失记忆性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。如果一个随机变量呈指数分布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X~E(A)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，当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s, t ≥0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时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:P{x &gt;s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＋</a:t>
            </a:r>
            <a:r>
              <a:rPr lang="en-US" altLang="zh-CN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tlX</a:t>
            </a:r>
            <a:r>
              <a:rPr lang="en-US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 s}= P{x &gt; t}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3D7A1B-A0FA-4282-B466-3A85211C7BD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307519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重点关注高斯分布！关注图</a:t>
            </a:r>
            <a:r>
              <a:rPr lang="en-US" altLang="zh-CN" dirty="0"/>
              <a:t>1.22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7125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伽马函数。正整数伽马函数</a:t>
            </a:r>
            <a:r>
              <a:rPr lang="en-US" altLang="zh-CN" dirty="0"/>
              <a:t>G(n)=(n-1)!  </a:t>
            </a:r>
            <a:r>
              <a:rPr lang="zh-CN" altLang="en-US" dirty="0"/>
              <a:t> 非中心卡方分布，需要自学！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544D2F-56DD-4976-9716-D18248F9480C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958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100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645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325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5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227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707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0190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785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102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355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FDD8F-1499-4C79-8BBC-577CD559A01B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87917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51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4900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8297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8879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15047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58882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7844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03969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636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1754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39855-D108-4DFB-8CB9-5769378610FC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1565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306488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00E5B7-4980-4DCB-B895-755E41E90C37}" type="datetime1">
              <a:rPr lang="es-ES" altLang="zh-CN" smtClean="0">
                <a:solidFill>
                  <a:prstClr val="black"/>
                </a:solidFill>
              </a:rPr>
              <a:pPr>
                <a:defRPr/>
              </a:pPr>
              <a:t>27/09/2024</a:t>
            </a:fld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>
              <a:solidFill>
                <a:prstClr val="black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9EF8F-819D-4663-82E4-C10ECE9AAC28}" type="slidenum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90180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>
          <a:xfrm>
            <a:off x="0" y="6425952"/>
            <a:ext cx="1691680" cy="43204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s-ES" altLang="zh-CN">
                <a:solidFill>
                  <a:prstClr val="black"/>
                </a:solidFill>
              </a:rPr>
              <a:t>Wensheng Zhang</a:t>
            </a:r>
            <a:endParaRPr lang="es-E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5885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0" y="0"/>
            <a:ext cx="8173156" cy="14176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s-ES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1306488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9C957B-D1FD-480F-B320-0EDA5B29C51F}" type="datetime1">
              <a:rPr lang="es-ES" altLang="zh-CN" smtClean="0">
                <a:solidFill>
                  <a:prstClr val="black"/>
                </a:solidFill>
              </a:rPr>
              <a:pPr>
                <a:defRPr/>
              </a:pPr>
              <a:t>27/09/2024</a:t>
            </a:fld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2627784" y="6381328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>
              <a:solidFill>
                <a:prstClr val="black"/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ECF0F2-C070-45F9-912E-4BD4A0D78506}" type="slidenum">
              <a:rPr lang="es-E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7464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9918050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19659"/>
          </a:xfrm>
        </p:spPr>
        <p:txBody>
          <a:bodyPr>
            <a:normAutofit/>
          </a:bodyPr>
          <a:lstStyle>
            <a:lvl1pPr algn="ctr">
              <a:defRPr sz="2700" b="1" baseline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900"/>
              </a:spcBef>
              <a:defRPr sz="21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1515631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5204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0743" y="234841"/>
            <a:ext cx="8229600" cy="67432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876686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00114" y="1484313"/>
            <a:ext cx="3775075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27588" y="1484313"/>
            <a:ext cx="3776662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1189" y="6381750"/>
            <a:ext cx="2447925" cy="4000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Copyrights Zhu, Weihong</a:t>
            </a:r>
            <a:r>
              <a:rPr lang="en-US" altLang="zh-CN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697970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404815"/>
            <a:ext cx="8134350" cy="8286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49073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209834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40"/>
            <a:ext cx="8229600" cy="8143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6725" y="1196977"/>
            <a:ext cx="4046538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65664" y="1196977"/>
            <a:ext cx="4046537" cy="2335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65664" y="3684588"/>
            <a:ext cx="4046537" cy="23352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	                                                                </a:t>
            </a:r>
            <a:fld id="{2ABEFC1A-4DB4-4CD2-A93A-BB13247C28F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1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57134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7201"/>
            <a:ext cx="7772400" cy="712546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BF47E86D-3368-47CB-907D-8EA39BDBA8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66170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1" y="624254"/>
            <a:ext cx="8255000" cy="539554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647829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76264" y="1368427"/>
            <a:ext cx="8351837" cy="53006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8D6CB5DB-820B-4257-AA8E-6DE44A77694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009594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5ED79246-7E55-4F6D-9798-0975818FCC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466624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76264" y="1368425"/>
            <a:ext cx="4098925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27588" y="1368425"/>
            <a:ext cx="4100512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76264" y="4094165"/>
            <a:ext cx="4098925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827588" y="4094165"/>
            <a:ext cx="4100512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448E00CF-70E6-4210-B23A-8272C8897EC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6627023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36331"/>
            <a:ext cx="7772400" cy="53469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569345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386863"/>
            <a:ext cx="7772400" cy="5496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15518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57201"/>
            <a:ext cx="7772400" cy="54260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6533028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30823"/>
            <a:ext cx="7772400" cy="5452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9224631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80293"/>
            <a:ext cx="7772400" cy="53029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53013288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>
                <a:solidFill>
                  <a:srgbClr val="FF0000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92991268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19659"/>
          </a:xfrm>
        </p:spPr>
        <p:txBody>
          <a:bodyPr>
            <a:normAutofit/>
          </a:bodyPr>
          <a:lstStyle>
            <a:lvl1pPr algn="ctr">
              <a:defRPr sz="2700" b="1" baseline="0">
                <a:solidFill>
                  <a:srgbClr val="FF0000"/>
                </a:solidFill>
                <a:latin typeface="Times New Roman" panose="02020603050405020304" pitchFamily="18" charset="0"/>
                <a:ea typeface="隶书" panose="020105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10000"/>
              </a:lnSpc>
              <a:spcBef>
                <a:spcPts val="900"/>
              </a:spcBef>
              <a:defRPr sz="21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>
              <a:lnSpc>
                <a:spcPct val="110000"/>
              </a:lnSpc>
              <a:spcBef>
                <a:spcPts val="900"/>
              </a:spcBef>
              <a:defRPr sz="1800" b="1" baseline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0273999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029615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0743" y="234841"/>
            <a:ext cx="8229600" cy="67432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306357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00114" y="1484313"/>
            <a:ext cx="3775075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27588" y="1484313"/>
            <a:ext cx="3776662" cy="50403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11189" y="6381750"/>
            <a:ext cx="2447925" cy="40005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/>
              <a:t>Copyrights Zhu, Weihong</a:t>
            </a:r>
            <a:r>
              <a:rPr lang="en-US" altLang="zh-CN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655991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4213" y="404815"/>
            <a:ext cx="8134350" cy="8286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412877"/>
            <a:ext cx="3771900" cy="49688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3716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49073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6278610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40"/>
            <a:ext cx="8229600" cy="8143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66725" y="1196977"/>
            <a:ext cx="4046538" cy="48228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65664" y="1196977"/>
            <a:ext cx="4046537" cy="23352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65664" y="3684588"/>
            <a:ext cx="4046537" cy="23352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1" fontAlgn="base" hangingPunct="1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r>
              <a:rPr lang="en-US" altLang="zh-CN" dirty="0"/>
              <a:t>	                                                               </a:t>
            </a:r>
            <a:fld id="{2ABEFC1A-4DB4-4CD2-A93A-BB13247C28F4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dt" sz="half" idx="11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106709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77201"/>
            <a:ext cx="7772400" cy="712546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BF47E86D-3368-47CB-907D-8EA39BDBA8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33370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1" y="624254"/>
            <a:ext cx="8255000" cy="539554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0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by Hailiang Xiong</a:t>
            </a:r>
            <a:r>
              <a:rPr lang="zh-CN" altLang="en-US"/>
              <a:t>山东大学</a:t>
            </a:r>
            <a:r>
              <a:rPr lang="en-US" altLang="zh-CN">
                <a:latin typeface="Arial" panose="020B0604020202020204" pitchFamily="34" charset="0"/>
              </a:rPr>
              <a:t>	                                                                </a:t>
            </a:r>
            <a:fld id="{8FBAAC0D-07A3-4AB9-A234-A9E9A2F0A6FD}" type="slidenum">
              <a:rPr lang="en-US" altLang="zh-CN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13360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1_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76264" y="1368427"/>
            <a:ext cx="8351837" cy="5300663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8D6CB5DB-820B-4257-AA8E-6DE44A77694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792535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6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5ED79246-7E55-4F6D-9798-0975818FCCC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47978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881063" y="214313"/>
            <a:ext cx="8062912" cy="9191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76264" y="1368425"/>
            <a:ext cx="4098925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27588" y="1368425"/>
            <a:ext cx="4100512" cy="2573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76264" y="4094165"/>
            <a:ext cx="4098925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827588" y="4094165"/>
            <a:ext cx="4100512" cy="25749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/>
          <p:cNvSpPr>
            <a:spLocks noGrp="1" noChangeArrowheads="1"/>
          </p:cNvSpPr>
          <p:nvPr>
            <p:ph type="ftr" sz="quarter" idx="11"/>
          </p:nvPr>
        </p:nvSpPr>
        <p:spPr>
          <a:xfrm>
            <a:off x="3671888" y="64008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r>
              <a:rPr lang="en-US" altLang="zh-CN"/>
              <a:t>copyright  </a:t>
            </a:r>
            <a:r>
              <a:rPr lang="zh-CN" altLang="en-US"/>
              <a:t>朱维红</a:t>
            </a:r>
            <a:endParaRPr lang="en-US" altLang="zh-CN"/>
          </a:p>
        </p:txBody>
      </p:sp>
      <p:sp>
        <p:nvSpPr>
          <p:cNvPr id="9" name="Rectangle 1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448E00CF-70E6-4210-B23A-8272C8897EC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45021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36331"/>
            <a:ext cx="7772400" cy="53469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3339054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386863"/>
            <a:ext cx="7772400" cy="54964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952685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57201"/>
            <a:ext cx="7772400" cy="54260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265801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430823"/>
            <a:ext cx="7772400" cy="5452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0079967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84213" y="580293"/>
            <a:ext cx="7772400" cy="53029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9568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35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FDD8F-1499-4C79-8BBC-577CD559A01B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A5207-5CB9-460F-BBB4-8E3511E5430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463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39855-D108-4DFB-8CB9-5769378610FC}" type="datetimeFigureOut">
              <a:rPr lang="zh-CN" altLang="en-US" smtClean="0"/>
              <a:pPr/>
              <a:t>2024/9/27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5CB5F-3147-4421-AB17-7961083DEE83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910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460432" y="6460772"/>
            <a:ext cx="7183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E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2" descr="C:\Users\Administrator\Downloads\SDU.jpg"/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0080" y="3235"/>
            <a:ext cx="880064" cy="836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直接连接符 7"/>
          <p:cNvCxnSpPr/>
          <p:nvPr userDrawn="1"/>
        </p:nvCxnSpPr>
        <p:spPr>
          <a:xfrm>
            <a:off x="0" y="1124744"/>
            <a:ext cx="9143022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2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6225" y="839047"/>
            <a:ext cx="124777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6329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628775"/>
            <a:ext cx="7772400" cy="425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die Formate des Vorlagentextes zu bearbeiten</a:t>
            </a:r>
          </a:p>
          <a:p>
            <a:pPr lvl="1"/>
            <a:r>
              <a:rPr lang="de-DE" altLang="zh-CN" dirty="0"/>
              <a:t>Zweite Ebene</a:t>
            </a:r>
          </a:p>
          <a:p>
            <a:pPr lvl="2"/>
            <a:r>
              <a:rPr lang="de-DE" altLang="zh-CN" dirty="0"/>
              <a:t>Dritte Ebene</a:t>
            </a:r>
          </a:p>
          <a:p>
            <a:pPr lvl="3"/>
            <a:r>
              <a:rPr lang="de-DE" altLang="zh-CN" dirty="0"/>
              <a:t>Vierte Ebene</a:t>
            </a:r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 flipV="1">
            <a:off x="591247" y="6389505"/>
            <a:ext cx="80645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289062" y="6415221"/>
            <a:ext cx="10668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r>
              <a:rPr lang="de-DE" altLang="zh-CN" sz="900" dirty="0">
                <a:solidFill>
                  <a:srgbClr val="808080"/>
                </a:solidFill>
                <a:latin typeface="Arial" panose="020B0604020202020204" pitchFamily="34" charset="0"/>
              </a:rPr>
              <a:t>Slide </a:t>
            </a:r>
            <a:fld id="{ED94CCA2-7169-4BB5-975E-E6CC90B66E06}" type="slidenum">
              <a:rPr lang="de-DE" altLang="zh-CN" sz="900" smtClean="0">
                <a:solidFill>
                  <a:srgbClr val="808080"/>
                </a:solidFill>
                <a:latin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de-DE" altLang="zh-CN" sz="1050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2612555" y="6521901"/>
            <a:ext cx="3124200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050" b="1" kern="1200" dirty="0">
                <a:solidFill>
                  <a:schemeClr val="accent1">
                    <a:lumMod val="75000"/>
                  </a:schemeClr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随机信号分析   </a:t>
            </a:r>
            <a:r>
              <a:rPr lang="de-DE" altLang="zh-CN" sz="10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2022 </a:t>
            </a:r>
            <a:r>
              <a:rPr lang="en-US" altLang="zh-CN" sz="105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Fall</a:t>
            </a:r>
            <a:endParaRPr lang="zh-CN" altLang="de-DE" sz="105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08903" name="Text Box 7"/>
          <p:cNvSpPr txBox="1">
            <a:spLocks noChangeArrowheads="1"/>
          </p:cNvSpPr>
          <p:nvPr/>
        </p:nvSpPr>
        <p:spPr bwMode="auto">
          <a:xfrm>
            <a:off x="7808913" y="6461125"/>
            <a:ext cx="129540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s-ES" sz="15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幼圆" panose="02010509060101010101" pitchFamily="49" charset="-122"/>
              </a:rPr>
              <a:t>山东大学</a:t>
            </a:r>
            <a:endParaRPr lang="zh-CN" altLang="en-US" sz="15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  <p:sp>
        <p:nvSpPr>
          <p:cNvPr id="208904" name="Text Box 8"/>
          <p:cNvSpPr txBox="1">
            <a:spLocks noChangeArrowheads="1"/>
          </p:cNvSpPr>
          <p:nvPr/>
        </p:nvSpPr>
        <p:spPr bwMode="auto">
          <a:xfrm>
            <a:off x="5720272" y="6461126"/>
            <a:ext cx="2546350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s-ES" sz="1500" i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彩云" panose="02010800040101010101" pitchFamily="2" charset="-122"/>
              </a:rPr>
              <a:t>信息科学与工程学院</a:t>
            </a:r>
            <a:endParaRPr lang="zh-CN" altLang="en-US" sz="1500" i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华文彩云" panose="02010800040101010101" pitchFamily="2" charset="-122"/>
            </a:endParaRPr>
          </a:p>
        </p:txBody>
      </p:sp>
      <p:pic>
        <p:nvPicPr>
          <p:cNvPr id="1033" name="Picture 9"/>
          <p:cNvPicPr preferRelativeResize="0">
            <a:picLocks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6" y="58913"/>
            <a:ext cx="540000" cy="720000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1979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 kern="1200" baseline="0">
          <a:solidFill>
            <a:srgbClr val="FF0000"/>
          </a:solidFill>
          <a:latin typeface="Times New Roman" panose="02020603050405020304" pitchFamily="18" charset="0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1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18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das Titelformat zu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628775"/>
            <a:ext cx="7772400" cy="425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zh-CN" dirty="0"/>
              <a:t>Klicken Sie, um die Formate des Vorlagentextes zu bearbeiten</a:t>
            </a:r>
          </a:p>
          <a:p>
            <a:pPr lvl="1"/>
            <a:r>
              <a:rPr lang="de-DE" altLang="zh-CN" dirty="0"/>
              <a:t>Zweite Ebene</a:t>
            </a:r>
          </a:p>
          <a:p>
            <a:pPr lvl="2"/>
            <a:r>
              <a:rPr lang="de-DE" altLang="zh-CN" dirty="0"/>
              <a:t>Dritte Ebene</a:t>
            </a:r>
          </a:p>
          <a:p>
            <a:pPr lvl="3"/>
            <a:r>
              <a:rPr lang="de-DE" altLang="zh-CN" dirty="0"/>
              <a:t>Vierte Ebene</a:t>
            </a:r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 flipV="1">
            <a:off x="591247" y="6389505"/>
            <a:ext cx="8064500" cy="0"/>
          </a:xfrm>
          <a:prstGeom prst="line">
            <a:avLst/>
          </a:prstGeom>
          <a:noFill/>
          <a:ln w="28575">
            <a:solidFill>
              <a:schemeClr val="bg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611560" y="6415220"/>
            <a:ext cx="504056" cy="307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ED94CCA2-7169-4BB5-975E-E6CC90B66E06}" type="slidenum">
              <a:rPr lang="de-DE" altLang="zh-CN" sz="1800" smtClean="0">
                <a:solidFill>
                  <a:srgbClr val="808080"/>
                </a:solidFill>
                <a:latin typeface="Arial" panose="020B0604020202020204" pitchFamily="34" charset="0"/>
              </a:rPr>
              <a:pPr algn="r" eaLnBrk="1" hangingPunct="1">
                <a:defRPr/>
              </a:pPr>
              <a:t>‹#›</a:t>
            </a:fld>
            <a:endParaRPr lang="de-DE" altLang="zh-CN" sz="1800" dirty="0">
              <a:solidFill>
                <a:srgbClr val="000000"/>
              </a:solidFill>
              <a:latin typeface="Arial Black" panose="020B0A04020102020204" pitchFamily="34" charset="0"/>
            </a:endParaRPr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3190419" y="6422607"/>
            <a:ext cx="258843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600" b="1" kern="1200" dirty="0">
                <a:solidFill>
                  <a:schemeClr val="accent1">
                    <a:lumMod val="75000"/>
                  </a:schemeClr>
                </a:solidFill>
                <a:effectLst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随机信号分析   </a:t>
            </a:r>
            <a:r>
              <a:rPr lang="de-DE" altLang="zh-CN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2024 </a:t>
            </a:r>
            <a:r>
              <a:rPr lang="en-US" altLang="zh-CN" sz="1600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Fall</a:t>
            </a:r>
            <a:endParaRPr lang="zh-CN" altLang="de-DE" sz="1600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08903" name="Text Box 7"/>
          <p:cNvSpPr txBox="1">
            <a:spLocks noChangeArrowheads="1"/>
          </p:cNvSpPr>
          <p:nvPr/>
        </p:nvSpPr>
        <p:spPr bwMode="auto">
          <a:xfrm>
            <a:off x="7596336" y="6439619"/>
            <a:ext cx="12954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s-ES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幼圆" panose="02010509060101010101" pitchFamily="49" charset="-122"/>
              </a:rPr>
              <a:t>山东大学</a:t>
            </a:r>
            <a:endParaRPr lang="zh-CN" altLang="en-US" sz="16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panose="020B0604020202020204" pitchFamily="34" charset="0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48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400" b="1" kern="1200" baseline="0">
          <a:solidFill>
            <a:srgbClr val="FF0000"/>
          </a:solidFill>
          <a:latin typeface="Times New Roman" panose="02020603050405020304" pitchFamily="18" charset="0"/>
          <a:ea typeface="隶书" panose="020105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1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18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 b="1" kern="1200" baseline="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42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notesSlide" Target="../notesSlides/notesSlide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Layout" Target="../slideLayouts/slideLayout45.xml"/><Relationship Id="rId5" Type="http://schemas.openxmlformats.org/officeDocument/2006/relationships/tags" Target="../tags/tag5.xml"/><Relationship Id="rId15" Type="http://schemas.openxmlformats.org/officeDocument/2006/relationships/image" Target="../media/image5.tmp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slideLayout" Target="../slideLayouts/slideLayout45.xml"/><Relationship Id="rId26" Type="http://schemas.openxmlformats.org/officeDocument/2006/relationships/image" Target="../media/image150.png"/><Relationship Id="rId3" Type="http://schemas.openxmlformats.org/officeDocument/2006/relationships/tags" Target="../tags/tag13.xml"/><Relationship Id="rId21" Type="http://schemas.openxmlformats.org/officeDocument/2006/relationships/tags" Target="../tags/tag140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5" Type="http://schemas.openxmlformats.org/officeDocument/2006/relationships/tags" Target="../tags/tag160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image" Target="../media/image120.png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24" Type="http://schemas.openxmlformats.org/officeDocument/2006/relationships/image" Target="../media/image140.png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23" Type="http://schemas.openxmlformats.org/officeDocument/2006/relationships/tags" Target="../tags/tag150.xml"/><Relationship Id="rId10" Type="http://schemas.openxmlformats.org/officeDocument/2006/relationships/tags" Target="../tags/tag20.xml"/><Relationship Id="rId19" Type="http://schemas.openxmlformats.org/officeDocument/2006/relationships/tags" Target="../tags/tag130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image" Target="../media/image130.png"/><Relationship Id="rId27" Type="http://schemas.openxmlformats.org/officeDocument/2006/relationships/image" Target="../media/image5.tm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tags" Target="../tags/tag40.xml"/><Relationship Id="rId18" Type="http://schemas.openxmlformats.org/officeDocument/2006/relationships/slideLayout" Target="../slideLayouts/slideLayout45.xml"/><Relationship Id="rId26" Type="http://schemas.openxmlformats.org/officeDocument/2006/relationships/image" Target="../media/image190.png"/><Relationship Id="rId3" Type="http://schemas.openxmlformats.org/officeDocument/2006/relationships/tags" Target="../tags/tag30.xml"/><Relationship Id="rId21" Type="http://schemas.openxmlformats.org/officeDocument/2006/relationships/tags" Target="../tags/tag300.xml"/><Relationship Id="rId7" Type="http://schemas.openxmlformats.org/officeDocument/2006/relationships/tags" Target="../tags/tag34.xml"/><Relationship Id="rId12" Type="http://schemas.openxmlformats.org/officeDocument/2006/relationships/tags" Target="../tags/tag39.xml"/><Relationship Id="rId17" Type="http://schemas.openxmlformats.org/officeDocument/2006/relationships/tags" Target="../tags/tag45.xml"/><Relationship Id="rId25" Type="http://schemas.openxmlformats.org/officeDocument/2006/relationships/tags" Target="../tags/tag320.xml"/><Relationship Id="rId2" Type="http://schemas.openxmlformats.org/officeDocument/2006/relationships/tags" Target="../tags/tag29.xml"/><Relationship Id="rId16" Type="http://schemas.openxmlformats.org/officeDocument/2006/relationships/tags" Target="../tags/tag44.xml"/><Relationship Id="rId20" Type="http://schemas.openxmlformats.org/officeDocument/2006/relationships/image" Target="../media/image9.png"/><Relationship Id="rId29" Type="http://schemas.openxmlformats.org/officeDocument/2006/relationships/image" Target="../media/image5.tmp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24" Type="http://schemas.openxmlformats.org/officeDocument/2006/relationships/image" Target="../media/image180.png"/><Relationship Id="rId5" Type="http://schemas.openxmlformats.org/officeDocument/2006/relationships/tags" Target="../tags/tag32.xml"/><Relationship Id="rId15" Type="http://schemas.openxmlformats.org/officeDocument/2006/relationships/tags" Target="../tags/tag43.xml"/><Relationship Id="rId23" Type="http://schemas.openxmlformats.org/officeDocument/2006/relationships/tags" Target="../tags/tag310.xml"/><Relationship Id="rId28" Type="http://schemas.openxmlformats.org/officeDocument/2006/relationships/image" Target="../media/image200.png"/><Relationship Id="rId10" Type="http://schemas.openxmlformats.org/officeDocument/2006/relationships/tags" Target="../tags/tag37.xml"/><Relationship Id="rId19" Type="http://schemas.openxmlformats.org/officeDocument/2006/relationships/tags" Target="../tags/tag29.xml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tags" Target="../tags/tag41.xml"/><Relationship Id="rId22" Type="http://schemas.openxmlformats.org/officeDocument/2006/relationships/image" Target="../media/image170.png"/><Relationship Id="rId27" Type="http://schemas.openxmlformats.org/officeDocument/2006/relationships/tags" Target="../tags/tag33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5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5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13" Type="http://schemas.openxmlformats.org/officeDocument/2006/relationships/image" Target="../media/image52.png"/><Relationship Id="rId3" Type="http://schemas.openxmlformats.org/officeDocument/2006/relationships/tags" Target="../tags/tag48.xml"/><Relationship Id="rId7" Type="http://schemas.openxmlformats.org/officeDocument/2006/relationships/tags" Target="../tags/tag52.xml"/><Relationship Id="rId12" Type="http://schemas.openxmlformats.org/officeDocument/2006/relationships/tags" Target="../tags/tag86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11" Type="http://schemas.openxmlformats.org/officeDocument/2006/relationships/slideLayout" Target="../slideLayouts/slideLayout45.xml"/><Relationship Id="rId5" Type="http://schemas.openxmlformats.org/officeDocument/2006/relationships/tags" Target="../tags/tag50.xml"/><Relationship Id="rId10" Type="http://schemas.openxmlformats.org/officeDocument/2006/relationships/tags" Target="../tags/tag55.xml"/><Relationship Id="rId4" Type="http://schemas.openxmlformats.org/officeDocument/2006/relationships/tags" Target="../tags/tag49.xml"/><Relationship Id="rId9" Type="http://schemas.openxmlformats.org/officeDocument/2006/relationships/tags" Target="../tags/tag54.xml"/><Relationship Id="rId14" Type="http://schemas.openxmlformats.org/officeDocument/2006/relationships/image" Target="../media/image5.tm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5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5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63.xml"/><Relationship Id="rId13" Type="http://schemas.openxmlformats.org/officeDocument/2006/relationships/image" Target="../media/image57.png"/><Relationship Id="rId3" Type="http://schemas.openxmlformats.org/officeDocument/2006/relationships/tags" Target="../tags/tag58.xml"/><Relationship Id="rId7" Type="http://schemas.openxmlformats.org/officeDocument/2006/relationships/tags" Target="../tags/tag62.xml"/><Relationship Id="rId12" Type="http://schemas.openxmlformats.org/officeDocument/2006/relationships/tags" Target="../tags/tag96.xml"/><Relationship Id="rId2" Type="http://schemas.openxmlformats.org/officeDocument/2006/relationships/tags" Target="../tags/tag57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11" Type="http://schemas.openxmlformats.org/officeDocument/2006/relationships/slideLayout" Target="../slideLayouts/slideLayout45.xml"/><Relationship Id="rId5" Type="http://schemas.openxmlformats.org/officeDocument/2006/relationships/tags" Target="../tags/tag60.xml"/><Relationship Id="rId10" Type="http://schemas.openxmlformats.org/officeDocument/2006/relationships/tags" Target="../tags/tag65.xml"/><Relationship Id="rId4" Type="http://schemas.openxmlformats.org/officeDocument/2006/relationships/tags" Target="../tags/tag59.xml"/><Relationship Id="rId9" Type="http://schemas.openxmlformats.org/officeDocument/2006/relationships/tags" Target="../tags/tag64.xml"/><Relationship Id="rId14" Type="http://schemas.openxmlformats.org/officeDocument/2006/relationships/image" Target="../media/image5.tmp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tags" Target="../tags/tag620.xml"/><Relationship Id="rId2" Type="http://schemas.openxmlformats.org/officeDocument/2006/relationships/slideLayout" Target="../slideLayouts/slideLayout55.xml"/><Relationship Id="rId1" Type="http://schemas.openxmlformats.org/officeDocument/2006/relationships/tags" Target="../tags/tag66.xml"/><Relationship Id="rId4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notesSlide" Target="../notesSlides/notesSlide14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5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8.png"/><Relationship Id="rId9" Type="http://schemas.openxmlformats.org/officeDocument/2006/relationships/image" Target="../media/image2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7.wmf"/><Relationship Id="rId4" Type="http://schemas.openxmlformats.org/officeDocument/2006/relationships/oleObject" Target="../embeddings/oleObject3.bin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470.png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28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4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30.wmf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 txBox="1">
            <a:spLocks/>
          </p:cNvSpPr>
          <p:nvPr/>
        </p:nvSpPr>
        <p:spPr>
          <a:xfrm>
            <a:off x="179512" y="512180"/>
            <a:ext cx="8496944" cy="1224136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dirty="0">
                <a:solidFill>
                  <a:srgbClr val="C00000"/>
                </a:solidFill>
                <a:latin typeface="宋体"/>
              </a:rPr>
              <a:t>随机信号分析</a:t>
            </a:r>
            <a:endParaRPr lang="en-US" altLang="zh-CN" b="1" dirty="0">
              <a:solidFill>
                <a:srgbClr val="C00000"/>
              </a:solidFill>
              <a:latin typeface="宋体"/>
            </a:endParaRPr>
          </a:p>
          <a:p>
            <a:pPr fontAlgn="auto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 signal analysis</a:t>
            </a:r>
            <a:endParaRPr lang="es-HN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15616" y="3933056"/>
            <a:ext cx="748883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600" b="1" dirty="0">
                <a:solidFill>
                  <a:prstClr val="white"/>
                </a:solidFill>
                <a:latin typeface="宋体"/>
              </a:rPr>
              <a:t>张文胜 </a:t>
            </a:r>
            <a:endParaRPr lang="en-US" altLang="zh-CN" sz="3600" b="1" dirty="0">
              <a:solidFill>
                <a:prstClr val="white"/>
              </a:solidFill>
              <a:latin typeface="宋体"/>
            </a:endParaRPr>
          </a:p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宋体"/>
              </a:rPr>
              <a:t>微信：</a:t>
            </a:r>
            <a:r>
              <a:rPr lang="en-US" altLang="zh-CN" sz="2800" b="1" dirty="0">
                <a:solidFill>
                  <a:prstClr val="white"/>
                </a:solidFill>
                <a:latin typeface="宋体"/>
              </a:rPr>
              <a:t>15063339795  QQ:762329090</a:t>
            </a:r>
          </a:p>
          <a:p>
            <a:pPr algn="ctr"/>
            <a:r>
              <a:rPr lang="en-US" altLang="zh-CN" sz="24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zhangwsh@sdu.edu.cn</a:t>
            </a:r>
          </a:p>
          <a:p>
            <a:pPr algn="ctr"/>
            <a:r>
              <a:rPr lang="en-US" altLang="zh-HK" sz="24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zhang8181@gmail.com</a:t>
            </a:r>
          </a:p>
          <a:p>
            <a:pPr algn="ctr"/>
            <a:r>
              <a:rPr lang="en-US" altLang="zh-HK" sz="20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School of Information Science and Engineering</a:t>
            </a:r>
          </a:p>
          <a:p>
            <a:pPr algn="ctr"/>
            <a:r>
              <a:rPr lang="en-US" altLang="zh-HK" sz="2400" b="1" dirty="0">
                <a:solidFill>
                  <a:prstClr val="white"/>
                </a:solidFill>
                <a:latin typeface="Arial Unicode MS" pitchFamily="34" charset="-122"/>
                <a:ea typeface="Arial Unicode MS" pitchFamily="34" charset="-122"/>
                <a:cs typeface="Arial Unicode MS" pitchFamily="34" charset="-122"/>
              </a:rPr>
              <a:t>Shandong University</a:t>
            </a:r>
            <a:endParaRPr lang="zh-TW" altLang="zh-HK" sz="2800" dirty="0">
              <a:solidFill>
                <a:prstClr val="white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  <a:p>
            <a:endParaRPr lang="zh-TW" altLang="zh-HK" sz="2400" dirty="0">
              <a:solidFill>
                <a:prstClr val="white"/>
              </a:solidFill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CDEFC68-6F5C-475A-A524-E0FC0F94C3F3}"/>
              </a:ext>
            </a:extLst>
          </p:cNvPr>
          <p:cNvSpPr txBox="1"/>
          <p:nvPr/>
        </p:nvSpPr>
        <p:spPr>
          <a:xfrm>
            <a:off x="1187624" y="1988840"/>
            <a:ext cx="7416824" cy="1471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Arial Unicode MS" pitchFamily="34" charset="-122"/>
              </a:rPr>
              <a:t>课程号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Arial Unicode MS" pitchFamily="34" charset="-122"/>
              </a:rPr>
              <a:t>: 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sd01234090   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周五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5-6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+mn-cs"/>
              </a:rPr>
              <a:t>节  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ts val="57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Arial Unicode MS" pitchFamily="34" charset="-122"/>
              </a:rPr>
              <a:t>振声苑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Arial Unicode MS" pitchFamily="34" charset="-122"/>
              </a:rPr>
              <a:t>W106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Arial Unicode MS" pitchFamily="34" charset="-122"/>
              </a:rPr>
              <a:t>，通信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Arial Unicode MS" pitchFamily="34" charset="-122"/>
              </a:rPr>
              <a:t>23[2-3]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Arial Unicode MS" pitchFamily="34" charset="-122"/>
              </a:rPr>
              <a:t>班，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Arial Unicode MS" pitchFamily="34" charset="-122"/>
              </a:rPr>
              <a:t>2024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宋体" panose="02010600030101010101" pitchFamily="2" charset="-122"/>
                <a:cs typeface="Arial Unicode MS" pitchFamily="34" charset="-122"/>
              </a:rPr>
              <a:t>年秋</a:t>
            </a:r>
            <a:endParaRPr kumimoji="0" lang="es-HN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Arial Unicode MS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0101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6A0A19-4259-4472-8BDE-77AEA81EF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620688"/>
            <a:ext cx="6858000" cy="752183"/>
          </a:xfrm>
        </p:spPr>
        <p:txBody>
          <a:bodyPr/>
          <a:lstStyle/>
          <a:p>
            <a:r>
              <a:rPr lang="zh-CN" altLang="en-US" dirty="0"/>
              <a:t>第一章 概率论基础 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599183F-3E70-4025-B65F-948574A4436A}"/>
              </a:ext>
            </a:extLst>
          </p:cNvPr>
          <p:cNvSpPr/>
          <p:nvPr/>
        </p:nvSpPr>
        <p:spPr>
          <a:xfrm>
            <a:off x="1348880" y="1772816"/>
            <a:ext cx="6264696" cy="3073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1.5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特征函数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0" eaLnBrk="0" hangingPunct="0">
              <a:lnSpc>
                <a:spcPct val="110000"/>
              </a:lnSpc>
              <a:spcBef>
                <a:spcPts val="900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1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、特征函数的定义及相关概念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	</a:t>
            </a:r>
          </a:p>
          <a:p>
            <a:pPr lvl="0" eaLnBrk="0" hangingPunct="0">
              <a:lnSpc>
                <a:spcPct val="110000"/>
              </a:lnSpc>
              <a:spcBef>
                <a:spcPts val="900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2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、</a:t>
            </a:r>
            <a:r>
              <a:rPr lang="zh-CN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统计独立随机变量和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的特征函数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</a:t>
            </a:r>
          </a:p>
          <a:p>
            <a:pPr lvl="0" eaLnBrk="0" hangingPunct="0">
              <a:lnSpc>
                <a:spcPct val="110000"/>
              </a:lnSpc>
              <a:spcBef>
                <a:spcPts val="900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         3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、特征函数与矩的关系</a:t>
            </a: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		</a:t>
            </a:r>
          </a:p>
          <a:p>
            <a:pPr lvl="0" eaLnBrk="0" hangingPunct="0">
              <a:lnSpc>
                <a:spcPct val="110000"/>
              </a:lnSpc>
              <a:spcBef>
                <a:spcPts val="900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1.6 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典型分布</a:t>
            </a: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lvl="0" eaLnBrk="0" hangingPunct="0">
              <a:lnSpc>
                <a:spcPct val="110000"/>
              </a:lnSpc>
              <a:spcBef>
                <a:spcPts val="900"/>
              </a:spcBef>
            </a:pPr>
            <a:r>
              <a:rPr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1.7* </a:t>
            </a: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相关蒙特卡洛仿真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85527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F9FDC8B-7B1A-4AAB-8FEB-97F179F3C17B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251520" y="1318782"/>
            <a:ext cx="8691589" cy="4046660"/>
          </a:xfrm>
        </p:spPr>
        <p:txBody>
          <a:bodyPr/>
          <a:lstStyle/>
          <a:p>
            <a:pPr marL="0" indent="0" algn="ctr">
              <a:lnSpc>
                <a:spcPct val="110000"/>
              </a:lnSpc>
              <a:spcBef>
                <a:spcPct val="0"/>
              </a:spcBef>
              <a:buNone/>
            </a:pPr>
            <a:r>
              <a:rPr lang="zh-CN" altLang="en-US" sz="2700" dirty="0">
                <a:solidFill>
                  <a:srgbClr val="FF0000"/>
                </a:solidFill>
                <a:ea typeface="隶书" panose="02010509060101010101" pitchFamily="49" charset="-122"/>
                <a:cs typeface="+mj-cs"/>
              </a:rPr>
              <a:t>学习目标</a:t>
            </a:r>
            <a:endParaRPr lang="en-US" altLang="zh-CN" sz="2700" dirty="0">
              <a:solidFill>
                <a:srgbClr val="FF0000"/>
              </a:solidFill>
              <a:ea typeface="隶书" panose="02010509060101010101" pitchFamily="49" charset="-122"/>
              <a:cs typeface="+mj-cs"/>
            </a:endParaRPr>
          </a:p>
          <a:p>
            <a:pPr>
              <a:lnSpc>
                <a:spcPct val="150000"/>
              </a:lnSpc>
              <a:spcBef>
                <a:spcPts val="900"/>
              </a:spcBef>
            </a:pPr>
            <a:r>
              <a:rPr lang="zh-CN" altLang="en-US" sz="2400" dirty="0"/>
              <a:t> 用特征函数公式求随机变量的特征函数。</a:t>
            </a:r>
            <a:endParaRPr lang="en-US" altLang="zh-CN" sz="2400" dirty="0"/>
          </a:p>
          <a:p>
            <a:pPr>
              <a:lnSpc>
                <a:spcPct val="150000"/>
              </a:lnSpc>
              <a:spcBef>
                <a:spcPts val="900"/>
              </a:spcBef>
            </a:pPr>
            <a:r>
              <a:rPr lang="zh-CN" altLang="en-US" sz="2400" dirty="0"/>
              <a:t> 用特征函数求随机变量的原点矩，特别要求：必须会求均值和方差。</a:t>
            </a:r>
            <a:endParaRPr lang="en-US" altLang="zh-CN" sz="2400" dirty="0"/>
          </a:p>
          <a:p>
            <a:pPr>
              <a:lnSpc>
                <a:spcPct val="150000"/>
              </a:lnSpc>
              <a:spcBef>
                <a:spcPts val="900"/>
              </a:spcBef>
            </a:pPr>
            <a:r>
              <a:rPr lang="zh-CN" altLang="en-US" sz="2400" dirty="0"/>
              <a:t> 熟悉随机变量的各种典型分布。</a:t>
            </a:r>
            <a:endParaRPr lang="en-US" altLang="zh-CN" sz="2400" dirty="0"/>
          </a:p>
          <a:p>
            <a:pPr>
              <a:lnSpc>
                <a:spcPct val="150000"/>
              </a:lnSpc>
              <a:spcBef>
                <a:spcPts val="900"/>
              </a:spcBef>
            </a:pPr>
            <a:r>
              <a:rPr lang="zh-CN" altLang="en-US" sz="2400" dirty="0"/>
              <a:t>会用</a:t>
            </a:r>
            <a:r>
              <a:rPr lang="en-US" altLang="zh-CN" sz="2400" dirty="0" err="1"/>
              <a:t>Matlab</a:t>
            </a:r>
            <a:r>
              <a:rPr lang="en-US" altLang="zh-CN" sz="2400" dirty="0"/>
              <a:t>*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72610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60F26F-C2F8-4DF5-B0C9-8BBA54DFA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1.5 </a:t>
            </a:r>
            <a:r>
              <a:rPr lang="zh-CN" altLang="zh-CN" dirty="0"/>
              <a:t>特征函数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2F8B90-F4C6-4B60-B63A-63AA04CE8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1628775"/>
            <a:ext cx="7772400" cy="165620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dirty="0"/>
              <a:t>1.5.1 </a:t>
            </a:r>
            <a:r>
              <a:rPr lang="zh-CN" altLang="en-US" sz="2400" dirty="0"/>
              <a:t>一维特征函数</a:t>
            </a:r>
            <a:endParaRPr lang="en-US" altLang="zh-CN" sz="2400" dirty="0"/>
          </a:p>
          <a:p>
            <a:pPr marL="0" indent="0">
              <a:buNone/>
            </a:pPr>
            <a:r>
              <a:rPr lang="en-US" altLang="zh-CN" sz="2400" dirty="0"/>
              <a:t>1.5.2 </a:t>
            </a:r>
            <a:r>
              <a:rPr lang="zh-CN" altLang="en-US" sz="2400" dirty="0"/>
              <a:t>多维联合特征函数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8218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60F26F-C2F8-4DF5-B0C9-8BBA54DFA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1.5 </a:t>
            </a:r>
            <a:r>
              <a:rPr lang="zh-CN" altLang="zh-CN" dirty="0"/>
              <a:t>特征函数</a:t>
            </a:r>
            <a:r>
              <a:rPr lang="en-US" altLang="zh-CN" dirty="0"/>
              <a:t>  </a:t>
            </a:r>
            <a:r>
              <a:rPr lang="zh-CN" altLang="en-US" dirty="0"/>
              <a:t>（</a:t>
            </a:r>
            <a:r>
              <a:rPr lang="en-US" altLang="zh-CN" dirty="0"/>
              <a:t> Characteristic Function 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2F8B90-F4C6-4B60-B63A-63AA04CE83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918" y="1368848"/>
            <a:ext cx="8652164" cy="412030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zh-CN" sz="2400" dirty="0"/>
              <a:t>数字特征只能描述随机变量的部分特征，并不是所有的随机变量都存在数学期望和方差，用随机变量的分布求多个随机变量的和的分布非常繁琐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zh-CN" sz="2400" dirty="0"/>
              <a:t>因此需要寻求一种表征量，一方面它能唯一地决定随机变量的分布函数或</a:t>
            </a:r>
            <a:r>
              <a:rPr lang="en-US" altLang="zh-CN" sz="2400" dirty="0"/>
              <a:t>PDF</a:t>
            </a:r>
            <a:r>
              <a:rPr lang="zh-CN" altLang="zh-CN" sz="2400" dirty="0"/>
              <a:t>，另一方面对于求独立随机变量的和的分布具有简单的</a:t>
            </a:r>
            <a:r>
              <a:rPr lang="zh-CN" altLang="en-US" sz="2400" dirty="0"/>
              <a:t>运算</a:t>
            </a:r>
            <a:r>
              <a:rPr lang="zh-CN" altLang="zh-CN" sz="2400" dirty="0"/>
              <a:t>方法。</a:t>
            </a:r>
          </a:p>
          <a:p>
            <a:pPr>
              <a:lnSpc>
                <a:spcPct val="150000"/>
              </a:lnSpc>
            </a:pPr>
            <a:r>
              <a:rPr lang="zh-CN" altLang="zh-CN" sz="2400" dirty="0"/>
              <a:t>直接求分布函数、</a:t>
            </a:r>
            <a:r>
              <a:rPr lang="en-US" altLang="zh-CN" sz="2400" dirty="0"/>
              <a:t>PDF</a:t>
            </a:r>
            <a:r>
              <a:rPr lang="zh-CN" altLang="zh-CN" sz="2400" dirty="0"/>
              <a:t>、矩困难，可以</a:t>
            </a:r>
            <a:r>
              <a:rPr lang="zh-CN" altLang="en-US" sz="2400" dirty="0"/>
              <a:t>由</a:t>
            </a:r>
            <a:r>
              <a:rPr lang="zh-CN" altLang="zh-CN" sz="2400" dirty="0"/>
              <a:t>特征函数求各阶矩或</a:t>
            </a:r>
            <a:r>
              <a:rPr lang="en-US" altLang="zh-CN" sz="2400" dirty="0"/>
              <a:t>PDF</a:t>
            </a:r>
            <a:r>
              <a:rPr lang="zh-CN" altLang="zh-CN" sz="2400" dirty="0"/>
              <a:t>，且具有好的分析特性。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1855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010811A-FCA3-412A-806D-70743A46EF12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14400" y="1333500"/>
                <a:ext cx="7315200" cy="1951484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若函数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𝑓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(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𝑡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满足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Dirichlet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条件，请写出其傅里叶变换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𝐹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𝑗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𝜔</m:t>
                        </m:r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 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，以及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𝐹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𝑗</m:t>
                        </m:r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𝜔</m:t>
                        </m:r>
                      </m:e>
                    </m:d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的傅里叶逆变换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𝑓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(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𝑡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F010811A-FCA3-412A-806D-70743A46EF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3"/>
                </p:custDataLst>
              </p:nvPr>
            </p:nvSpPr>
            <p:spPr>
              <a:xfrm>
                <a:off x="914400" y="1333500"/>
                <a:ext cx="7315200" cy="1951484"/>
              </a:xfrm>
              <a:prstGeom prst="rect">
                <a:avLst/>
              </a:prstGeom>
              <a:blipFill>
                <a:blip r:embed="rId14"/>
                <a:stretch>
                  <a:fillRect l="-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: 圆角 6">
            <a:extLst>
              <a:ext uri="{FF2B5EF4-FFF2-40B4-BE49-F238E27FC236}">
                <a16:creationId xmlns:a16="http://schemas.microsoft.com/office/drawing/2014/main" id="{B8948420-A68A-4922-9722-FB4375DDC5A6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5B3FCBA-4411-4CFA-A597-4AA38FEE5610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0" y="5152787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AA9006D-694D-49D3-ABC6-EFB9A5D5B41B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8" name="TitleBackground">
              <a:extLst>
                <a:ext uri="{FF2B5EF4-FFF2-40B4-BE49-F238E27FC236}">
                  <a16:creationId xmlns:a16="http://schemas.microsoft.com/office/drawing/2014/main" id="{0026E5F5-3865-4A8B-BABF-9A3CE92F65BF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ColorBlock">
              <a:extLst>
                <a:ext uri="{FF2B5EF4-FFF2-40B4-BE49-F238E27FC236}">
                  <a16:creationId xmlns:a16="http://schemas.microsoft.com/office/drawing/2014/main" id="{53F68951-DAEF-48C5-8C15-DB590772183E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TypeText">
              <a:extLst>
                <a:ext uri="{FF2B5EF4-FFF2-40B4-BE49-F238E27FC236}">
                  <a16:creationId xmlns:a16="http://schemas.microsoft.com/office/drawing/2014/main" id="{D83E34D6-3F98-42AA-8A5F-7F9701264494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1" name="TipText">
              <a:extLst>
                <a:ext uri="{FF2B5EF4-FFF2-40B4-BE49-F238E27FC236}">
                  <a16:creationId xmlns:a16="http://schemas.microsoft.com/office/drawing/2014/main" id="{9E14311E-C2B7-40CD-B745-2ED5A62CD764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65173BE-3F6D-42BC-9169-F8522534D450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056845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86657B-392A-4602-BB44-53A76559E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76672"/>
            <a:ext cx="7886700" cy="579999"/>
          </a:xfrm>
        </p:spPr>
        <p:txBody>
          <a:bodyPr>
            <a:normAutofit/>
          </a:bodyPr>
          <a:lstStyle/>
          <a:p>
            <a:r>
              <a:rPr lang="en-US" altLang="zh-CN" dirty="0"/>
              <a:t>1.5.1 </a:t>
            </a:r>
            <a:r>
              <a:rPr lang="zh-CN" altLang="en-US" dirty="0"/>
              <a:t>一维特征函数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D7DDF2-61B1-4DCF-BDD0-54DEE9EAD0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5536" y="1340768"/>
                <a:ext cx="8260820" cy="429779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1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、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随机变量</a:t>
                </a:r>
                <a:r>
                  <a:rPr lang="en-US" altLang="zh-CN" sz="2400" i="1" dirty="0">
                    <a:solidFill>
                      <a:srgbClr val="FF0000"/>
                    </a:solidFill>
                  </a:rPr>
                  <a:t>X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的特征函数 </a:t>
                </a:r>
              </a:p>
              <a:p>
                <a:pPr marL="0" indent="0">
                  <a:buNone/>
                </a:pPr>
                <a:r>
                  <a:rPr lang="zh-CN" altLang="zh-CN" sz="2400" dirty="0"/>
                  <a:t>定义</a:t>
                </a:r>
                <a:r>
                  <a:rPr lang="zh-CN" altLang="en-US" sz="2400" dirty="0"/>
                  <a:t>：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𝑗𝑣𝑋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2400" dirty="0"/>
                  <a:t> </a:t>
                </a:r>
                <a:r>
                  <a:rPr lang="zh-CN" altLang="en-US" sz="2400" dirty="0"/>
                  <a:t>，</a:t>
                </a:r>
                <a:r>
                  <a:rPr lang="zh-CN" altLang="zh-CN" sz="2400" dirty="0"/>
                  <a:t>是一个实随机变量的复值函数</a:t>
                </a:r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en-US" altLang="zh-CN" sz="2400" dirty="0"/>
                  <a:t>1</a:t>
                </a:r>
                <a:r>
                  <a:rPr lang="zh-CN" altLang="en-US" sz="2400" dirty="0"/>
                  <a:t>）</a:t>
                </a:r>
                <a:r>
                  <a:rPr lang="zh-CN" altLang="zh-CN" sz="2400" dirty="0"/>
                  <a:t>连续随机变量时，</a:t>
                </a:r>
                <a:r>
                  <a:rPr lang="en-US" altLang="zh-CN" sz="2400" dirty="0"/>
                  <a:t>PDF</a:t>
                </a:r>
                <a:r>
                  <a:rPr lang="zh-CN" altLang="zh-CN" sz="2400" dirty="0"/>
                  <a:t>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sub>
                    </m:sSub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, </a:t>
                </a:r>
                <a:r>
                  <a:rPr lang="zh-CN" altLang="zh-CN" sz="2400" dirty="0"/>
                  <a:t>则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𝑗𝑣𝑋</m:t>
                            </m:r>
                          </m:sup>
                        </m:sSup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𝑗𝑣𝑥</m:t>
                            </m:r>
                          </m:sup>
                        </m:sSup>
                      </m:e>
                    </m:nary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zh-CN" altLang="zh-CN" sz="2400" dirty="0"/>
                  <a:t>。 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zh-CN" altLang="zh-CN" sz="2400" dirty="0"/>
                  <a:t>与傅立叶变换类似，</a:t>
                </a:r>
                <a:r>
                  <a:rPr lang="en-US" altLang="zh-CN" sz="2400" dirty="0"/>
                  <a:t>PDF</a:t>
                </a:r>
                <a:r>
                  <a:rPr lang="zh-CN" altLang="zh-CN" sz="2400" dirty="0"/>
                  <a:t>的傅立叶变换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肯定存在</a:t>
                </a:r>
                <a:r>
                  <a:rPr lang="zh-CN" altLang="zh-CN" sz="2400" dirty="0"/>
                  <a:t>。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en-US" altLang="zh-CN" sz="2400" dirty="0"/>
                  <a:t>2</a:t>
                </a:r>
                <a:r>
                  <a:rPr lang="zh-CN" altLang="en-US" sz="2400" dirty="0"/>
                  <a:t>）</a:t>
                </a:r>
                <a:r>
                  <a:rPr lang="zh-CN" altLang="zh-CN" sz="2400" dirty="0"/>
                  <a:t>离散时，分布律为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zh-CN" sz="2400" dirty="0"/>
                  <a:t>，则</a:t>
                </a:r>
                <a:endParaRPr lang="en-US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𝑗𝑣𝑋</m:t>
                              </m:r>
                            </m:sup>
                          </m:sSup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𝑗𝑣</m:t>
                              </m:r>
                              <m:sSub>
                                <m:sSub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e>
                      </m:nary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zh-CN" dirty="0"/>
              </a:p>
              <a:p>
                <a:pPr marL="0" indent="0">
                  <a:buNone/>
                </a:pPr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6D7DDF2-61B1-4DCF-BDD0-54DEE9EAD0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5536" y="1340768"/>
                <a:ext cx="8260820" cy="4297796"/>
              </a:xfrm>
              <a:blipFill>
                <a:blip r:embed="rId3"/>
                <a:stretch>
                  <a:fillRect l="-1181" t="-1418" r="-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8457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0A805869-B7CC-4F98-8E36-3748E971D45D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0273" y="548680"/>
                <a:ext cx="8395855" cy="540060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x-none" altLang="zh-CN" sz="2400" dirty="0">
                    <a:solidFill>
                      <a:srgbClr val="FF0000"/>
                    </a:solidFill>
                  </a:rPr>
                  <a:t>2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、</a:t>
                </a:r>
                <a:r>
                  <a:rPr lang="x-none" altLang="zh-CN" sz="2400" dirty="0">
                    <a:solidFill>
                      <a:srgbClr val="FF0000"/>
                    </a:solidFill>
                  </a:rPr>
                  <a:t>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唯一性定理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en-US" altLang="zh-CN" sz="2400" dirty="0"/>
                  <a:t>  </a:t>
                </a:r>
                <a:r>
                  <a:rPr lang="zh-CN" altLang="zh-CN" sz="2400" dirty="0"/>
                  <a:t>随机变量的特征函数存在，与随机变量一一对应。</a:t>
                </a:r>
                <a:endParaRPr lang="en-US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)|=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400">
                                      <a:latin typeface="Cambria Math" panose="02040503050406030204" pitchFamily="18" charset="0"/>
                                    </a:rPr>
                                    <m:t>𝑗𝑣𝑋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−∞</m:t>
                              </m:r>
                            </m:sub>
                            <m:sup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400">
                                      <a:latin typeface="Cambria Math" panose="02040503050406030204" pitchFamily="18" charset="0"/>
                                    </a:rPr>
                                    <m:t>𝑗𝑣𝑥</m:t>
                                  </m:r>
                                </m:sup>
                              </m:sSup>
                            </m:e>
                          </m:nary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altLang="zh-CN" sz="240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≤</m:t>
                      </m:r>
                      <m:nary>
                        <m:nary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sz="240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CN" sz="2400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  <m:r>
                                    <a:rPr lang="en-US" altLang="zh-CN" sz="240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40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en-US" altLang="zh-CN" sz="2400" dirty="0"/>
                  <a:t>  </a:t>
                </a:r>
                <a:r>
                  <a:rPr lang="zh-CN" altLang="zh-CN" sz="2400" dirty="0"/>
                  <a:t>可以看出，由于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zh-CN" sz="2400" dirty="0"/>
                  <a:t>，特征函数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dirty="0"/>
                  <a:t>绝对收敛</a:t>
                </a:r>
                <a:r>
                  <a:rPr lang="zh-CN" altLang="en-US" sz="2400" dirty="0"/>
                  <a:t>。</a:t>
                </a:r>
                <a:r>
                  <a:rPr lang="zh-CN" altLang="zh-CN" sz="2400" dirty="0"/>
                  <a:t>对一切实数</a:t>
                </a:r>
                <a:r>
                  <a:rPr lang="en-US" altLang="zh-CN" sz="2400" i="1" dirty="0"/>
                  <a:t>v</a:t>
                </a:r>
                <a:r>
                  <a:rPr lang="zh-CN" altLang="zh-CN" sz="2400" dirty="0"/>
                  <a:t>，特征函数总是</a:t>
                </a:r>
                <a:r>
                  <a:rPr lang="en-US" altLang="zh-CN" sz="2400" dirty="0"/>
                  <a:t> </a:t>
                </a:r>
                <a:r>
                  <a:rPr lang="zh-CN" altLang="zh-CN" sz="2400" dirty="0"/>
                  <a:t>存在的。</a:t>
                </a:r>
                <a:endParaRPr lang="en-US" altLang="zh-CN" sz="24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en-US" altLang="zh-CN" sz="2400" dirty="0"/>
                  <a:t> </a:t>
                </a:r>
                <a:r>
                  <a:rPr lang="zh-CN" altLang="zh-CN" sz="2400" dirty="0"/>
                  <a:t>可以唯一描述随机变量，与随机变量的概率分布</a:t>
                </a:r>
                <a:r>
                  <a:rPr lang="en-US" altLang="zh-CN" sz="2400" dirty="0"/>
                  <a:t>PDF</a:t>
                </a:r>
                <a:r>
                  <a:rPr lang="zh-CN" altLang="zh-CN" sz="2400" dirty="0"/>
                  <a:t>、</a:t>
                </a:r>
                <a:r>
                  <a:rPr lang="en-US" altLang="zh-CN" sz="2400" dirty="0"/>
                  <a:t>CDF</a:t>
                </a:r>
                <a:r>
                  <a:rPr lang="zh-CN" altLang="zh-CN" sz="2400" dirty="0"/>
                  <a:t>等一一对应。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0A805869-B7CC-4F98-8E36-3748E971D4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0273" y="548680"/>
                <a:ext cx="8395855" cy="5400600"/>
              </a:xfrm>
              <a:blipFill>
                <a:blip r:embed="rId2"/>
                <a:stretch>
                  <a:fillRect l="-1162" t="-11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395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0A805869-B7CC-4F98-8E36-3748E971D45D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395536" y="332656"/>
                <a:ext cx="8496944" cy="540060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x-none" altLang="zh-CN" sz="2400" dirty="0">
                    <a:solidFill>
                      <a:srgbClr val="FF0000"/>
                    </a:solidFill>
                  </a:rPr>
                  <a:t>3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、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逆转公式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：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  连续变量的</a:t>
                </a:r>
                <a:r>
                  <a:rPr lang="x-none" altLang="zh-CN" sz="2400" dirty="0">
                    <a:solidFill>
                      <a:srgbClr val="FF0000"/>
                    </a:solidFill>
                  </a:rPr>
                  <a:t>PDF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与特征函数的关系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200000"/>
                  </a:lnSpc>
                  <a:buFont typeface="Wingdings" panose="05000000000000000000" pitchFamily="2" charset="2"/>
                  <a:buChar char="u"/>
                </a:pPr>
                <a:r>
                  <a:rPr lang="en-US" altLang="zh-CN" sz="2400" dirty="0"/>
                  <a:t>       </a:t>
                </a:r>
                <a:r>
                  <a:rPr lang="zh-CN" altLang="zh-CN" sz="2400" dirty="0"/>
                  <a:t>由</a:t>
                </a:r>
                <a:r>
                  <a:rPr lang="en-US" altLang="zh-CN" sz="2400" dirty="0"/>
                  <a:t>PDF</a:t>
                </a:r>
                <a:r>
                  <a:rPr lang="zh-CN" altLang="zh-CN" sz="2400" dirty="0"/>
                  <a:t>到特征函数</a:t>
                </a:r>
                <a:r>
                  <a:rPr lang="zh-CN" altLang="en-US" sz="2400" dirty="0"/>
                  <a:t>：</a:t>
                </a:r>
                <a:r>
                  <a:rPr lang="en-US" altLang="zh-CN" sz="2400" dirty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𝑗𝑣𝑋</m:t>
                            </m:r>
                          </m:sup>
                        </m:sSup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𝑗𝑣𝑥</m:t>
                            </m:r>
                          </m:sup>
                        </m:sSup>
                      </m:e>
                    </m:nary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altLang="zh-CN" sz="2400" dirty="0"/>
              </a:p>
              <a:p>
                <a:pPr>
                  <a:lnSpc>
                    <a:spcPct val="200000"/>
                  </a:lnSpc>
                  <a:buFont typeface="Wingdings" panose="05000000000000000000" pitchFamily="2" charset="2"/>
                  <a:buChar char="u"/>
                </a:pPr>
                <a:r>
                  <a:rPr lang="en-US" altLang="zh-CN" sz="2400" dirty="0"/>
                  <a:t>       </a:t>
                </a:r>
                <a:r>
                  <a:rPr lang="zh-CN" altLang="zh-CN" sz="2400" dirty="0"/>
                  <a:t>由特征函数到</a:t>
                </a:r>
                <a:r>
                  <a:rPr lang="en-US" altLang="zh-CN" sz="2400" dirty="0"/>
                  <a:t>PDF </a:t>
                </a:r>
                <a:r>
                  <a:rPr lang="zh-CN" altLang="en-US" sz="2400" dirty="0"/>
                  <a:t>：</a:t>
                </a:r>
                <a:r>
                  <a:rPr lang="en-US" altLang="zh-CN" sz="2400" dirty="0"/>
                  <a:t>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𝑗𝑣𝑥</m:t>
                            </m:r>
                          </m:sup>
                        </m:sSup>
                      </m:e>
                    </m:nary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𝑑𝑣</m:t>
                    </m:r>
                  </m:oMath>
                </a14:m>
                <a:r>
                  <a:rPr lang="en-US" altLang="zh-CN" sz="2400" dirty="0"/>
                  <a:t> </a:t>
                </a:r>
              </a:p>
              <a:p>
                <a:pPr>
                  <a:lnSpc>
                    <a:spcPct val="200000"/>
                  </a:lnSpc>
                  <a:buFont typeface="Wingdings" panose="05000000000000000000" pitchFamily="2" charset="2"/>
                  <a:buChar char="u"/>
                </a:pPr>
                <a:r>
                  <a:rPr lang="en-US" altLang="zh-CN" sz="2400" dirty="0"/>
                  <a:t>       </a:t>
                </a:r>
                <a14:m>
                  <m:oMath xmlns:m="http://schemas.openxmlformats.org/officeDocument/2006/math">
                    <m:r>
                      <a:rPr lang="en-US" altLang="zh-CN" sz="2400">
                        <a:latin typeface="Cambria Math" panose="02040503050406030204" pitchFamily="18" charset="0"/>
                      </a:rPr>
                      <m:t> ⇒</m:t>
                    </m:r>
                  </m:oMath>
                </a14:m>
                <a:r>
                  <a:rPr lang="zh-CN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</a:rPr>
                      <m:t>⟷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endParaRPr lang="en-US" altLang="zh-CN" sz="2400" dirty="0"/>
              </a:p>
              <a:p>
                <a:pPr>
                  <a:lnSpc>
                    <a:spcPct val="200000"/>
                  </a:lnSpc>
                  <a:buFont typeface="Wingdings" panose="05000000000000000000" pitchFamily="2" charset="2"/>
                  <a:buChar char="u"/>
                </a:pPr>
                <a:r>
                  <a:rPr lang="en-US" altLang="zh-CN" sz="2400" dirty="0"/>
                  <a:t>      </a:t>
                </a:r>
                <a:r>
                  <a:rPr lang="zh-CN" altLang="zh-CN" sz="2400" dirty="0"/>
                  <a:t>与傅里叶变换近似，有关公式可以用，有关变量对应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0A805869-B7CC-4F98-8E36-3748E971D4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395536" y="332656"/>
                <a:ext cx="8496944" cy="5400600"/>
              </a:xfrm>
              <a:blipFill>
                <a:blip r:embed="rId2"/>
                <a:stretch>
                  <a:fillRect l="-1148" t="-11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3154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 bwMode="auto">
          <a:xfrm>
            <a:off x="6109855" y="2741468"/>
            <a:ext cx="2770909" cy="1330037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defTabSz="685800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B5A32F9-40A2-416B-AC6B-2F1417E9AE2E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10254" y="185184"/>
                <a:ext cx="8933746" cy="583610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zh-CN" dirty="0"/>
                  <a:t>例：求高斯分布的特征函数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𝜎</m:t>
                        </m:r>
                        <m:rad>
                          <m:radPr>
                            <m:degHide m:val="on"/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zh-CN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m:rPr>
                        <m:nor/>
                      </m:rPr>
                      <a:rPr lang="en-US" altLang="zh-CN"/>
                      <m:t>   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m:rPr>
                        <m:nor/>
                      </m:rPr>
                      <a:rPr lang="en-US" altLang="zh-CN"/>
                      <m:t> 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∞&lt;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zh-CN" altLang="zh-CN" dirty="0"/>
                  <a:t>。</a:t>
                </a:r>
              </a:p>
              <a:p>
                <a:pPr marL="0" indent="0">
                  <a:buNone/>
                </a:pPr>
                <a:r>
                  <a:rPr lang="zh-CN" altLang="zh-CN" dirty="0"/>
                  <a:t>解：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𝑗𝑣𝑋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]=</m:t>
                      </m:r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𝑗𝑣𝑥</m:t>
                              </m:r>
                            </m:sup>
                          </m:sSup>
                          <m:sSub>
                            <m:sSub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  <m:rad>
                                <m:radPr>
                                  <m:degHide m:val="on"/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rad>
                            </m:den>
                          </m:f>
                        </m:e>
                      </m:nary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𝑗𝑣𝑥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𝑗𝑣𝑥</m:t>
                                  </m:r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m:rPr>
                          <m:nor/>
                        </m:rPr>
                        <a:rPr lang="en-US" altLang="zh-CN"/>
                        <m:t>                       </m:t>
                      </m:r>
                      <m:r>
                        <a:rPr lang="zh-CN" altLang="zh-CN">
                          <a:latin typeface="Cambria Math" panose="02040503050406030204" pitchFamily="18" charset="0"/>
                        </a:rPr>
                        <m:t>利用</m:t>
                      </m:r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𝑑𝑡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ra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𝑗𝑣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f>
                        <m:f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𝜎</m:t>
                          </m:r>
                          <m:rad>
                            <m:radPr>
                              <m:degHide m:val="on"/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</m:den>
                      </m:f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[(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𝑗𝑣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]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zh-CN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sup>
                          </m:sSup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m:rPr>
                          <m:nor/>
                        </m:rPr>
                        <a:rPr lang="en-US" altLang="zh-CN"/>
                        <m:t>                    </m:t>
                      </m:r>
                      <m:r>
                        <a:rPr lang="zh-CN" altLang="zh-CN">
                          <a:latin typeface="Cambria Math" panose="02040503050406030204" pitchFamily="18" charset="0"/>
                        </a:rPr>
                        <m:t>变量代换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𝑗𝑣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nary>
                        <m:nary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rad>
                            </m:den>
                          </m:f>
                          <m:sSup>
                            <m:sSupPr>
                              <m:ctrlPr>
                                <a:rPr lang="zh-CN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/2</m:t>
                              </m:r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zh-CN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𝑗𝑣</m:t>
                              </m:r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zh-CN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p>
                                      <m:r>
                                        <a:rPr lang="en-US" altLang="zh-CN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a:rPr lang="zh-CN" altLang="zh-CN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标准高斯分布</m:t>
                    </m:r>
                    <m:r>
                      <m:rPr>
                        <m:nor/>
                      </m:rPr>
                      <a:rPr lang="en-US" altLang="zh-CN">
                        <a:solidFill>
                          <a:srgbClr val="FF0000"/>
                        </a:solidFill>
                      </a:rPr>
                      <m:t>          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=0,</m:t>
                    </m:r>
                    <m:sSup>
                      <m:sSup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=1,</m:t>
                    </m:r>
                    <m:r>
                      <m:rPr>
                        <m:nor/>
                      </m:rPr>
                      <a:rPr lang="en-US" altLang="zh-CN">
                        <a:solidFill>
                          <a:srgbClr val="FF0000"/>
                        </a:solidFill>
                      </a:rPr>
                      <m:t>          </m:t>
                    </m:r>
                    <m:r>
                      <a:rPr lang="zh-CN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∴</m:t>
                    </m:r>
                    <m:r>
                      <m:rPr>
                        <m:nor/>
                      </m:rPr>
                      <a:rPr lang="en-US" altLang="zh-CN">
                        <a:solidFill>
                          <a:srgbClr val="FF0000"/>
                        </a:solidFill>
                      </a:rPr>
                      <m:t>    </m:t>
                    </m:r>
                    <m:sSub>
                      <m:sSub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zh-CN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zh-CN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/2</m:t>
                        </m:r>
                      </m:sup>
                    </m:sSup>
                  </m:oMath>
                </a14:m>
                <a:endParaRPr lang="zh-CN" altLang="zh-CN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B5A32F9-40A2-416B-AC6B-2F1417E9AE2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10254" y="185184"/>
                <a:ext cx="8933746" cy="5836104"/>
              </a:xfrm>
              <a:blipFill>
                <a:blip r:embed="rId2"/>
                <a:stretch>
                  <a:fillRect l="-8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1263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914400" y="1333500"/>
            <a:ext cx="7315200" cy="1607344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随机变量</a:t>
            </a:r>
            <a:r>
              <a:rPr lang="en-US" altLang="zh-CN" sz="2400" i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 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取值为正负</a:t>
            </a:r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的概率分别为</a:t>
            </a:r>
            <a:r>
              <a:rPr lang="en-US" altLang="zh-CN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0.5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，则</a:t>
            </a:r>
            <a:r>
              <a:rPr lang="en-US" altLang="zh-CN" sz="2400" i="1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X </a:t>
            </a:r>
            <a:r>
              <a:rPr lang="zh-CN" altLang="en-US" sz="2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的特征函数为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828800" y="3541513"/>
                <a:ext cx="6400800" cy="482204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0.5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𝑗𝑣</m:t>
                        </m:r>
                      </m:sup>
                    </m:sSup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0.5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𝑗𝑣</m:t>
                        </m:r>
                      </m:sup>
                    </m:sSup>
                  </m:oMath>
                </a14:m>
                <a:endParaRPr lang="zh-CN" altLang="en-US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1828800" y="3541513"/>
                <a:ext cx="6400800" cy="482204"/>
              </a:xfrm>
              <a:prstGeom prst="rect">
                <a:avLst/>
              </a:prstGeom>
              <a:blipFill>
                <a:blip r:embed="rId20"/>
                <a:stretch>
                  <a:fillRect l="-190" b="-10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828800" y="2934890"/>
                <a:ext cx="6400800" cy="482204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=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sin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zh-CN" altLang="en-US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1828800" y="2934890"/>
                <a:ext cx="6400800" cy="482204"/>
              </a:xfrm>
              <a:prstGeom prst="rect">
                <a:avLst/>
              </a:prstGeom>
              <a:blipFill>
                <a:blip r:embed="rId22"/>
                <a:stretch>
                  <a:fillRect l="-190" b="-8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828800" y="4232672"/>
                <a:ext cx="6400800" cy="482204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𝑐𝑜𝑠𝑣</m:t>
                    </m:r>
                  </m:oMath>
                </a14:m>
                <a:endParaRPr lang="zh-CN" altLang="en-US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1828800" y="4232672"/>
                <a:ext cx="6400800" cy="482204"/>
              </a:xfrm>
              <a:prstGeom prst="rect">
                <a:avLst/>
              </a:prstGeom>
              <a:blipFill>
                <a:blip r:embed="rId24"/>
                <a:stretch>
                  <a:fillRect l="-190" b="-10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828800" y="4875610"/>
                <a:ext cx="6400800" cy="482204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zh-CN" altLang="en-US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1828800" y="4875610"/>
                <a:ext cx="6400800" cy="482204"/>
              </a:xfrm>
              <a:prstGeom prst="rect">
                <a:avLst/>
              </a:prstGeom>
              <a:blipFill>
                <a:blip r:embed="rId26"/>
                <a:stretch>
                  <a:fillRect l="-190" b="-88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78719" y="2995017"/>
            <a:ext cx="385763" cy="385763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78719" y="3637954"/>
            <a:ext cx="385763" cy="385763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78719" y="4280892"/>
            <a:ext cx="385763" cy="385763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78719" y="4923829"/>
            <a:ext cx="385763" cy="385763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11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14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7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D0CD887C-0E9D-4DA0-B707-F930F9B04E57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76717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14400" y="1301353"/>
                <a:ext cx="7315200" cy="1607344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随机变量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X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的特征函数为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zh-CN" sz="240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则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X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的概率分布为 </a:t>
                </a:r>
              </a:p>
              <a:p>
                <a:endParaRPr lang="zh-CN" altLang="en-US" sz="24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914400" y="1301353"/>
                <a:ext cx="7315200" cy="1607344"/>
              </a:xfrm>
              <a:prstGeom prst="rect">
                <a:avLst/>
              </a:prstGeom>
              <a:blipFill>
                <a:blip r:embed="rId20"/>
                <a:stretch>
                  <a:fillRect l="-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828800" y="3541513"/>
                <a:ext cx="6400800" cy="482204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=2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=−2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=0.25, </m:t>
                    </m:r>
                    <m:r>
                      <a:rPr lang="en-US" altLang="zh-CN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>
                        <a:latin typeface="Cambria Math" panose="02040503050406030204" pitchFamily="18" charset="0"/>
                      </a:rPr>
                      <m:t>P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</m:oMath>
                </a14:m>
                <a:r>
                  <a:rPr lang="en-US" altLang="zh-CN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=0.5</a:t>
                </a:r>
                <a:endParaRPr lang="zh-CN" altLang="en-US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1828800" y="3541513"/>
                <a:ext cx="6400800" cy="482204"/>
              </a:xfrm>
              <a:prstGeom prst="rect">
                <a:avLst/>
              </a:prstGeom>
              <a:blipFill>
                <a:blip r:embed="rId22"/>
                <a:stretch>
                  <a:fillRect b="-88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828800" y="2908697"/>
                <a:ext cx="6400800" cy="482204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=2</m:t>
                          </m:r>
                        </m:e>
                      </m:d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P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X</m:t>
                          </m:r>
                          <m:r>
                            <a:rPr lang="en-US" altLang="zh-CN">
                              <a:latin typeface="Cambria Math" panose="02040503050406030204" pitchFamily="18" charset="0"/>
                            </a:rPr>
                            <m:t>=−2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zh-CN" altLang="en-US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1828800" y="2908697"/>
                <a:ext cx="6400800" cy="482204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828800" y="4232672"/>
                <a:ext cx="6400800" cy="482204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=0.5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+0.25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+0.25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</m:oMath>
                  </m:oMathPara>
                </a14:m>
                <a:endParaRPr lang="zh-CN" altLang="en-US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1828800" y="4232672"/>
                <a:ext cx="6400800" cy="482204"/>
              </a:xfrm>
              <a:prstGeom prst="rect">
                <a:avLst/>
              </a:prstGeom>
              <a:blipFill>
                <a:blip r:embed="rId26"/>
                <a:stretch>
                  <a:fillRect l="-286" b="-25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828800" y="4875610"/>
                <a:ext cx="6400800" cy="482204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=0.25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+0.25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+0.5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+2</m:t>
                          </m:r>
                        </m:e>
                      </m:d>
                    </m:oMath>
                  </m:oMathPara>
                </a14:m>
                <a:endParaRPr lang="zh-CN" altLang="en-US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7"/>
                </p:custDataLst>
              </p:nvPr>
            </p:nvSpPr>
            <p:spPr>
              <a:xfrm>
                <a:off x="1828800" y="4875610"/>
                <a:ext cx="6400800" cy="482204"/>
              </a:xfrm>
              <a:prstGeom prst="rect">
                <a:avLst/>
              </a:prstGeom>
              <a:blipFill>
                <a:blip r:embed="rId28"/>
                <a:stretch>
                  <a:fillRect l="-286" b="-12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/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78719" y="2995017"/>
            <a:ext cx="385763" cy="385763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78719" y="3637954"/>
            <a:ext cx="385763" cy="385763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78719" y="4280892"/>
            <a:ext cx="385763" cy="385763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78719" y="4923829"/>
            <a:ext cx="385763" cy="385763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en-US" altLang="zh-CN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2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11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14" name="TitleBackground"/>
            <p:cNvSpPr/>
            <p:nvPr>
              <p:custDataLst>
                <p:tags r:id="rId14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ColorBlock"/>
            <p:cNvSpPr/>
            <p:nvPr>
              <p:custDataLst>
                <p:tags r:id="rId15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17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9" name="图片 18">
            <a:extLst>
              <a:ext uri="{FF2B5EF4-FFF2-40B4-BE49-F238E27FC236}">
                <a16:creationId xmlns:a16="http://schemas.microsoft.com/office/drawing/2014/main" id="{714531D2-09B9-423C-8703-CC7A75FC708E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71961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F9FDC8B-7B1A-4AAB-8FEB-97F179F3C17B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7200" y="624254"/>
                <a:ext cx="8363271" cy="539554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zh-CN" sz="2400" dirty="0"/>
                  <a:t>例</a:t>
                </a:r>
                <a:r>
                  <a:rPr lang="zh-CN" altLang="en-US" sz="2400" dirty="0"/>
                  <a:t>：</a:t>
                </a:r>
                <a:r>
                  <a:rPr lang="zh-CN" altLang="zh-CN" sz="2400" dirty="0"/>
                  <a:t>  随机变量</a:t>
                </a:r>
                <a:r>
                  <a:rPr lang="en-US" altLang="zh-CN" sz="2400" i="1" dirty="0"/>
                  <a:t>X</a:t>
                </a:r>
                <a:r>
                  <a:rPr lang="zh-CN" altLang="zh-CN" sz="2400" dirty="0"/>
                  <a:t>服从泊松分布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zh-CN" sz="2400"/>
                      <m:t>   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=0,1,2...</m:t>
                    </m:r>
                  </m:oMath>
                </a14:m>
                <a:endParaRPr lang="zh-CN" altLang="zh-CN" sz="2400" dirty="0"/>
              </a:p>
              <a:p>
                <a:pPr marL="0" indent="0">
                  <a:buNone/>
                </a:pPr>
                <a:r>
                  <a:rPr lang="zh-CN" altLang="zh-CN" sz="2400" dirty="0"/>
                  <a:t>求： 特征函数</a:t>
                </a:r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pPr marL="0" indent="0">
                  <a:buNone/>
                </a:pPr>
                <a:endParaRPr lang="en-US" altLang="zh-CN" sz="2400" dirty="0"/>
              </a:p>
              <a:p>
                <a:pPr marL="0" indent="0">
                  <a:buNone/>
                </a:pPr>
                <a:r>
                  <a:rPr lang="zh-CN" altLang="zh-CN" sz="2400" dirty="0"/>
                  <a:t>解：</a:t>
                </a:r>
                <a:endParaRPr lang="en-US" altLang="zh-CN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     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𝑗𝑣𝑋</m:t>
                              </m:r>
                            </m:sup>
                          </m:sSup>
                        </m:e>
                      </m:d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𝑗𝑣𝑘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p>
                          </m:sSup>
                          <m:f>
                            <m:f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000" dirty="0"/>
                  <a:t>                                                   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nary>
                      <m:naryPr>
                        <m:chr m:val="∑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𝑗𝑣</m:t>
                                </m:r>
                              </m:sup>
                            </m:s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sSup>
                              <m:sSup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/>
                  <a:t>                                           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𝜆</m:t>
                        </m:r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𝑗𝑣</m:t>
                            </m:r>
                          </m:sup>
                        </m:sSup>
                      </m:sup>
                    </m:sSup>
                  </m:oMath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2400" dirty="0"/>
                  <a:t>                                           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𝑗𝑣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−1)</m:t>
                        </m:r>
                      </m:sup>
                    </m:sSup>
                  </m:oMath>
                </a14:m>
                <a:r>
                  <a:rPr lang="en-US" altLang="zh-CN" sz="2400" i="1" dirty="0">
                    <a:latin typeface="Cambria Math" panose="02040503050406030204" pitchFamily="18" charset="0"/>
                  </a:rPr>
                  <a:t>  </a:t>
                </a:r>
                <a:endParaRPr lang="zh-CN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F9FDC8B-7B1A-4AAB-8FEB-97F179F3C1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0" y="624254"/>
                <a:ext cx="8363271" cy="5395546"/>
              </a:xfrm>
              <a:blipFill>
                <a:blip r:embed="rId3"/>
                <a:stretch>
                  <a:fillRect l="-10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047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21673" y="836713"/>
                <a:ext cx="8728364" cy="3528392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400" dirty="0"/>
                  <a:t>设</a:t>
                </a:r>
                <a:r>
                  <a:rPr lang="en-US" altLang="zh-CN" sz="2400" dirty="0"/>
                  <a:t>X</a:t>
                </a:r>
                <a:r>
                  <a:rPr lang="zh-CN" altLang="en-US" sz="2400" dirty="0"/>
                  <a:t>的特征函数为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，</a:t>
                </a:r>
                <a:r>
                  <a:rPr lang="en-US" altLang="zh-CN" sz="2400" i="1" dirty="0"/>
                  <a:t>a</a:t>
                </a:r>
                <a:r>
                  <a:rPr lang="zh-CN" altLang="en-US" sz="2400" dirty="0"/>
                  <a:t>和</a:t>
                </a:r>
                <a:r>
                  <a:rPr lang="en-US" altLang="zh-CN" sz="2400" i="1" dirty="0"/>
                  <a:t>b</a:t>
                </a:r>
                <a:r>
                  <a:rPr lang="zh-CN" altLang="en-US" sz="2400" dirty="0"/>
                  <a:t>为确定的实数，则</a:t>
                </a:r>
                <a:r>
                  <a:rPr lang="en-US" altLang="zh-CN" sz="2400" i="1" dirty="0"/>
                  <a:t>Y=</a:t>
                </a:r>
                <a:r>
                  <a:rPr lang="en-US" altLang="zh-CN" sz="2400" i="1" dirty="0" err="1"/>
                  <a:t>aX+b</a:t>
                </a:r>
                <a:r>
                  <a:rPr lang="zh-CN" altLang="en-US" sz="2400" dirty="0"/>
                  <a:t>的特征函数为</a:t>
                </a:r>
                <a:endParaRPr lang="en-US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𝒋𝒗𝒃</m:t>
                          </m:r>
                        </m:sup>
                      </m:sSup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400" dirty="0"/>
                  <a:t>证明：</a:t>
                </a:r>
                <a:endParaRPr lang="en-US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Y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𝒋𝒗</m:t>
                              </m:r>
                              <m:d>
                                <m:dPr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𝒂𝑿</m:t>
                                  </m:r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𝒃</m:t>
                                  </m:r>
                                </m:e>
                              </m:d>
                            </m:sup>
                          </m:sSup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𝒋𝒗𝒃</m:t>
                          </m:r>
                        </m:sup>
                      </m:sSup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𝒋𝒗𝒂𝑿</m:t>
                              </m:r>
                            </m:sup>
                          </m:sSup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𝒋𝒗𝒃</m:t>
                          </m:r>
                        </m:sup>
                      </m:sSup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21673" y="836713"/>
                <a:ext cx="8728364" cy="3528392"/>
              </a:xfrm>
              <a:blipFill>
                <a:blip r:embed="rId2"/>
                <a:stretch>
                  <a:fillRect l="-1047" r="-6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653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F9FDC8B-7B1A-4AAB-8FEB-97F179F3C17B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323528" y="188640"/>
                <a:ext cx="7704856" cy="3331775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u"/>
                </a:pPr>
                <a:r>
                  <a:rPr lang="zh-CN" altLang="zh-CN" sz="2400" dirty="0"/>
                  <a:t>高斯分布</a:t>
                </a:r>
                <a:r>
                  <a:rPr lang="zh-CN" altLang="en-US" sz="2400" dirty="0"/>
                  <a:t>：</a:t>
                </a:r>
                <a:r>
                  <a:rPr lang="zh-CN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𝜎</m:t>
                        </m:r>
                        <m:rad>
                          <m:radPr>
                            <m:degHide m:val="on"/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sSup>
                              <m:sSup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r>
                      <m:rPr>
                        <m:nor/>
                      </m:rPr>
                      <a:rPr lang="en-US" altLang="zh-CN" sz="2400"/>
                      <m:t>    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，</m:t>
                    </m:r>
                    <m:r>
                      <m:rPr>
                        <m:nor/>
                      </m:rPr>
                      <a:rPr lang="en-US" altLang="zh-CN" sz="2400"/>
                      <m:t> 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∞&lt;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endParaRPr lang="en-US" altLang="zh-CN" sz="2400" dirty="0"/>
              </a:p>
              <a:p>
                <a:pPr marL="0" indent="0">
                  <a:buNone/>
                </a:pPr>
                <a:r>
                  <a:rPr lang="zh-CN" altLang="zh-CN" sz="2400" dirty="0"/>
                  <a:t>特征函数</a:t>
                </a:r>
                <a:r>
                  <a:rPr lang="zh-CN" altLang="en-US" sz="2400" dirty="0"/>
                  <a:t>：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Y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 </m:t>
                    </m:r>
                    <m:sSup>
                      <m:sSupPr>
                        <m:ctrlPr>
                          <a:rPr lang="zh-CN" altLang="zh-CN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𝑗𝑣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zh-CN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US" altLang="zh-CN" sz="2400" dirty="0"/>
              </a:p>
              <a:p>
                <a:pPr>
                  <a:buFont typeface="Wingdings" panose="05000000000000000000" pitchFamily="2" charset="2"/>
                  <a:buChar char="u"/>
                </a:pPr>
                <a:r>
                  <a:rPr lang="zh-CN" altLang="zh-CN" sz="2400" dirty="0"/>
                  <a:t>泊松分布</a:t>
                </a:r>
                <a:r>
                  <a:rPr lang="zh-CN" altLang="en-US" sz="2400" dirty="0"/>
                  <a:t>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𝑷</m:t>
                    </m:r>
                    <m:d>
                      <m:dPr>
                        <m:begChr m:val="{"/>
                        <m:endChr m:val="}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zh-CN" sz="2400"/>
                      <m:t>   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=0,1,2...</m:t>
                    </m:r>
                  </m:oMath>
                </a14:m>
                <a:endParaRPr lang="zh-CN" altLang="zh-CN" sz="2400" dirty="0"/>
              </a:p>
              <a:p>
                <a:pPr marL="0" indent="0">
                  <a:buNone/>
                </a:pPr>
                <a:r>
                  <a:rPr lang="zh-CN" altLang="zh-CN" sz="2400" dirty="0"/>
                  <a:t>特征函数</a:t>
                </a:r>
                <a:r>
                  <a:rPr lang="zh-CN" altLang="en-US" sz="2400" dirty="0"/>
                  <a:t>：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Y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𝑗𝑣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−1)</m:t>
                        </m:r>
                      </m:sup>
                    </m:sSup>
                  </m:oMath>
                </a14:m>
                <a:r>
                  <a:rPr lang="en-US" altLang="zh-CN" sz="2400" i="1" dirty="0">
                    <a:latin typeface="Cambria Math" panose="02040503050406030204" pitchFamily="18" charset="0"/>
                  </a:rPr>
                  <a:t>  </a:t>
                </a:r>
                <a:endParaRPr lang="zh-CN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zh-CN" altLang="en-US" sz="2400" u="sng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6F9FDC8B-7B1A-4AAB-8FEB-97F179F3C1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323528" y="188640"/>
                <a:ext cx="7704856" cy="3331775"/>
              </a:xfrm>
              <a:blipFill>
                <a:blip r:embed="rId2"/>
                <a:stretch>
                  <a:fillRect l="-11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椭圆 2"/>
          <p:cNvSpPr/>
          <p:nvPr/>
        </p:nvSpPr>
        <p:spPr bwMode="auto">
          <a:xfrm>
            <a:off x="1336964" y="4251614"/>
            <a:ext cx="1898073" cy="976745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随机变量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概率分布</a:t>
            </a:r>
          </a:p>
        </p:txBody>
      </p:sp>
      <p:sp>
        <p:nvSpPr>
          <p:cNvPr id="4" name="椭圆 3"/>
          <p:cNvSpPr/>
          <p:nvPr/>
        </p:nvSpPr>
        <p:spPr bwMode="auto">
          <a:xfrm>
            <a:off x="4263743" y="4250923"/>
            <a:ext cx="1898073" cy="976745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随机变量</a:t>
            </a:r>
            <a:endParaRPr lang="en-US" altLang="zh-CN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特征函数</a:t>
            </a:r>
          </a:p>
        </p:txBody>
      </p:sp>
      <p:cxnSp>
        <p:nvCxnSpPr>
          <p:cNvPr id="8" name="直接箭头连接符 7"/>
          <p:cNvCxnSpPr>
            <a:stCxn id="3" idx="6"/>
            <a:endCxn id="4" idx="2"/>
          </p:cNvCxnSpPr>
          <p:nvPr/>
        </p:nvCxnSpPr>
        <p:spPr bwMode="auto">
          <a:xfrm flipV="1">
            <a:off x="3235037" y="4739295"/>
            <a:ext cx="1028706" cy="69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2">
                <a:alpha val="57000"/>
              </a:schemeClr>
            </a:solidFill>
            <a:prstDash val="solid"/>
            <a:miter lim="800000"/>
            <a:headEnd type="none" w="lg" len="lg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圆角矩形 9"/>
          <p:cNvSpPr/>
          <p:nvPr/>
        </p:nvSpPr>
        <p:spPr bwMode="auto">
          <a:xfrm>
            <a:off x="6876256" y="3789040"/>
            <a:ext cx="1569720" cy="208788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pPr marL="257175" indent="-257175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一一对应</a:t>
            </a:r>
            <a:endParaRPr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pPr marL="257175" indent="-257175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形式简化</a:t>
            </a:r>
            <a:endParaRPr lang="en-US" altLang="zh-C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ea"/>
              <a:ea typeface="+mj-ea"/>
            </a:endParaRPr>
          </a:p>
          <a:p>
            <a:pPr marL="257175" indent="-257175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rPr>
              <a:t>简化运算</a:t>
            </a:r>
          </a:p>
        </p:txBody>
      </p:sp>
    </p:spTree>
    <p:extLst>
      <p:ext uri="{BB962C8B-B14F-4D97-AF65-F5344CB8AC3E}">
        <p14:creationId xmlns:p14="http://schemas.microsoft.com/office/powerpoint/2010/main" val="2450007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07504" y="44624"/>
                <a:ext cx="9217024" cy="583264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x-none" altLang="zh-CN" sz="2400" dirty="0">
                    <a:solidFill>
                      <a:srgbClr val="FF0000"/>
                    </a:solidFill>
                  </a:rPr>
                  <a:t>4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、</a:t>
                </a:r>
                <a:r>
                  <a:rPr lang="x-none" altLang="zh-CN" sz="2400" dirty="0">
                    <a:solidFill>
                      <a:srgbClr val="FF0000"/>
                    </a:solidFill>
                  </a:rPr>
                  <a:t> 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统计独立随机变量和的特征函数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,...,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altLang="zh-CN" sz="2400"/>
                        <m:t>           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4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+...+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000" dirty="0"/>
                  <a:t>  </a:t>
                </a:r>
                <a:r>
                  <a:rPr lang="zh-CN" altLang="zh-CN" sz="2000" dirty="0"/>
                  <a:t>特征函数分别为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altLang="zh-CN" sz="20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),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altLang="zh-CN" sz="20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),....,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sub>
                    </m:sSub>
                    <m:r>
                      <a:rPr lang="en-US" altLang="zh-CN" sz="20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000" dirty="0"/>
                  <a:t>，</a:t>
                </a:r>
                <a:r>
                  <a:rPr lang="en-US" altLang="zh-CN" sz="2000" dirty="0"/>
                  <a:t>   </a:t>
                </a:r>
                <a:r>
                  <a:rPr lang="zh-CN" altLang="zh-CN" sz="2000" dirty="0"/>
                  <a:t>则</a:t>
                </a:r>
                <a:r>
                  <a:rPr lang="en-US" altLang="zh-CN" sz="2000" dirty="0"/>
                  <a:t>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𝑗𝑣𝑌</m:t>
                          </m:r>
                        </m:sup>
                      </m:sSup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𝑗𝑣</m:t>
                          </m:r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𝑗𝑣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𝑗𝑣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.....</m:t>
                      </m:r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𝑗𝑣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p>
                      </m:sSup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𝑗𝑣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p>
                      </m:sSup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𝑗𝑣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</m:sSup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]....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𝑗𝑣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p>
                      </m:sSup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]=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)....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∏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00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00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</m:sSub>
                        </m:e>
                      </m:nary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zh-CN" sz="2000" dirty="0"/>
                        <m:t> </m:t>
                      </m:r>
                    </m:oMath>
                  </m:oMathPara>
                </a14:m>
                <a:endParaRPr lang="en-US" altLang="zh-CN" sz="20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400" dirty="0"/>
                      <m:t>独立随机变量和的概率密度函数是各随机变量概率密度函数</m:t>
                    </m:r>
                  </m:oMath>
                </a14:m>
                <a:endParaRPr lang="en-US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400" dirty="0"/>
                  <a:t>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400" dirty="0"/>
                      <m:t>的卷积</m:t>
                    </m:r>
                  </m:oMath>
                </a14:m>
                <a:endParaRPr lang="en-US" altLang="zh-CN" sz="24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zh-CN" sz="2400" dirty="0" smtClean="0">
                        <a:solidFill>
                          <a:srgbClr val="FF0000"/>
                        </a:solidFill>
                      </a:rPr>
                      <m:t>利用了统计独立的随机变量积的数学期望等于各变量期望的积</m:t>
                    </m:r>
                  </m:oMath>
                </a14:m>
                <a:endParaRPr lang="en-US" altLang="zh-CN" sz="2400" dirty="0"/>
              </a:p>
              <a:p>
                <a:pPr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zh-CN" sz="2400" dirty="0"/>
                      <m:t>利用特征函数求独立随机变量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和</m:t>
                    </m:r>
                    <m:r>
                      <m:rPr>
                        <m:nor/>
                      </m:rPr>
                      <a:rPr lang="zh-CN" altLang="zh-CN" sz="2400" dirty="0"/>
                      <m:t>的概率分布，简化运算。</m:t>
                    </m:r>
                  </m:oMath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07504" y="44624"/>
                <a:ext cx="9217024" cy="5832648"/>
              </a:xfrm>
              <a:blipFill>
                <a:blip r:embed="rId3"/>
                <a:stretch>
                  <a:fillRect l="-1058" t="-1149" b="-3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5216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90500" y="332656"/>
                <a:ext cx="8763000" cy="4627418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x-none" altLang="zh-CN" sz="2400" dirty="0">
                    <a:solidFill>
                      <a:srgbClr val="FF0000"/>
                    </a:solidFill>
                  </a:rPr>
                  <a:t>5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、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特征函数与矩的关系 （矩定理）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000" dirty="0"/>
                      <m:t>1</m:t>
                    </m:r>
                    <m:r>
                      <m:rPr>
                        <m:nor/>
                      </m:rPr>
                      <a:rPr lang="zh-CN" altLang="zh-CN" sz="2000" dirty="0"/>
                      <m:t>）特征函数求矩</m:t>
                    </m:r>
                  </m:oMath>
                </a14:m>
                <a:r>
                  <a:rPr lang="en-US" altLang="zh-CN" sz="2000" dirty="0"/>
                  <a:t>  </a:t>
                </a:r>
              </a:p>
              <a:p>
                <a:pPr marL="300038" lvl="1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)=</m:t>
                    </m:r>
                    <m:nary>
                      <m:nary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𝑗𝑣𝑥</m:t>
                            </m:r>
                          </m:sup>
                        </m:sSup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2000" i="1" dirty="0">
                    <a:latin typeface="Cambria Math" panose="02040503050406030204" pitchFamily="18" charset="0"/>
                  </a:rPr>
                  <a:t>  </a:t>
                </a:r>
                <a:r>
                  <a:rPr lang="zh-CN" altLang="en-US" sz="2000" i="1" dirty="0">
                    <a:latin typeface="Cambria Math" panose="020405030504060302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zh-CN" sz="2000" i="1">
                        <a:latin typeface="Cambria Math" panose="02040503050406030204" pitchFamily="18" charset="0"/>
                      </a:rPr>
                      <m:t>对</m:t>
                    </m:r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zh-CN" sz="2000" i="1">
                        <a:latin typeface="Cambria Math" panose="02040503050406030204" pitchFamily="18" charset="0"/>
                      </a:rPr>
                      <m:t>求导数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000" i="1" dirty="0">
                    <a:latin typeface="Cambria Math" panose="02040503050406030204" pitchFamily="18" charset="0"/>
                  </a:rPr>
                  <a:t> </a:t>
                </a:r>
                <a:r>
                  <a:rPr lang="zh-CN" altLang="en-US" sz="2000" dirty="0">
                    <a:latin typeface="Cambria Math" panose="02040503050406030204" pitchFamily="18" charset="0"/>
                  </a:rPr>
                  <a:t>有</a:t>
                </a:r>
                <a:r>
                  <a:rPr lang="zh-CN" altLang="en-US" sz="2000" i="1" dirty="0">
                    <a:latin typeface="Cambria Math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𝑑𝑣</m:t>
                        </m:r>
                      </m:den>
                    </m:f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𝑗</m:t>
                    </m:r>
                    <m:nary>
                      <m:nary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sSup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𝑗𝑣𝑥</m:t>
                            </m:r>
                          </m:sup>
                        </m:sSup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US" altLang="zh-CN" sz="2000" i="1" dirty="0">
                    <a:latin typeface="Cambria Math" panose="02040503050406030204" pitchFamily="18" charset="0"/>
                  </a:rPr>
                  <a:t>     </a:t>
                </a:r>
              </a:p>
              <a:p>
                <a:pPr marL="300038" lvl="1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=0,</m:t>
                    </m:r>
                    <m:r>
                      <m:rPr>
                        <m:nor/>
                      </m:rPr>
                      <a:rPr lang="en-US" altLang="zh-CN" sz="2400" i="1">
                        <a:latin typeface="Cambria Math" panose="02040503050406030204" pitchFamily="18" charset="0"/>
                      </a:rPr>
                      <m:t>   </m:t>
                    </m:r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𝑑𝑣</m:t>
                        </m:r>
                      </m:den>
                    </m:f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𝑗</m:t>
                    </m:r>
                    <m:nary>
                      <m:nary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𝑗𝐸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2000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300038" lvl="1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zh-CN" altLang="zh-CN" sz="2000" i="1">
                        <a:latin typeface="Cambria Math" panose="02040503050406030204" pitchFamily="18" charset="0"/>
                      </a:rPr>
                      <m:t>∴</m:t>
                    </m:r>
                    <m:r>
                      <a:rPr lang="zh-CN" altLang="zh-CN" sz="2000" i="1">
                        <a:latin typeface="Cambria Math" panose="02040503050406030204" pitchFamily="18" charset="0"/>
                      </a:rPr>
                      <m:t>期望</m:t>
                    </m:r>
                    <m:r>
                      <m:rPr>
                        <m:nor/>
                      </m:rPr>
                      <a:rPr lang="en-US" altLang="zh-CN" sz="2000" i="1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]=(−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𝑑𝑣</m:t>
                        </m:r>
                      </m:den>
                    </m:f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</m:oMath>
                </a14:m>
                <a:r>
                  <a:rPr lang="en-US" altLang="zh-CN" sz="2000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300038" lvl="1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zh-CN" sz="2000" i="1">
                        <a:latin typeface="Cambria Math" panose="02040503050406030204" pitchFamily="18" charset="0"/>
                      </a:rPr>
                      <m:t>由此类推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zh-CN" sz="2000" i="1">
                        <a:latin typeface="Cambria Math" panose="02040503050406030204" pitchFamily="18" charset="0"/>
                      </a:rPr>
                      <m:t>求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zh-CN" altLang="zh-CN" sz="2000" i="1">
                        <a:latin typeface="Cambria Math" panose="02040503050406030204" pitchFamily="18" charset="0"/>
                      </a:rPr>
                      <m:t>阶导数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zh-CN" sz="2000" i="1">
                        <a:latin typeface="Cambria Math" panose="02040503050406030204" pitchFamily="18" charset="0"/>
                      </a:rPr>
                      <m:t>令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=0,</m:t>
                    </m:r>
                    <m:r>
                      <m:rPr>
                        <m:nor/>
                      </m:rPr>
                      <a:rPr lang="en-US" altLang="zh-CN" sz="2000" i="1">
                        <a:latin typeface="Cambria Math" panose="02040503050406030204" pitchFamily="18" charset="0"/>
                      </a:rPr>
                      <m:t>  </m:t>
                    </m:r>
                    <m:r>
                      <a:rPr lang="zh-CN" altLang="zh-CN" sz="2000" i="1">
                        <a:latin typeface="Cambria Math" panose="02040503050406030204" pitchFamily="18" charset="0"/>
                      </a:rPr>
                      <m:t>有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]=(−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𝑗</m:t>
                    </m:r>
                    <m:sSup>
                      <m:sSup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f>
                      <m:f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p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  <m:sSub>
                          <m:sSubPr>
                            <m:ctrlPr>
                              <a:rPr lang="zh-CN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</m:oMath>
                </a14:m>
                <a:r>
                  <a:rPr lang="zh-CN" altLang="zh-CN" sz="1600" dirty="0">
                    <a:latin typeface="Cambria Math" panose="02040503050406030204" pitchFamily="18" charset="0"/>
                  </a:rPr>
                  <a:t>。</a:t>
                </a:r>
              </a:p>
              <a:p>
                <a:pPr lvl="1">
                  <a:lnSpc>
                    <a:spcPct val="150000"/>
                  </a:lnSpc>
                  <a:buFont typeface="Wingdings" panose="05000000000000000000" pitchFamily="2" charset="2"/>
                  <a:buChar char="u"/>
                </a:pPr>
                <a:r>
                  <a:rPr lang="zh-CN" altLang="zh-CN" sz="2400" dirty="0">
                    <a:solidFill>
                      <a:srgbClr val="FF0000"/>
                    </a:solidFill>
                  </a:rPr>
                  <a:t>给出了利用通过特征函数求各阶矩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)→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zh-CN" sz="2400" dirty="0">
                    <a:solidFill>
                      <a:srgbClr val="FF0000"/>
                    </a:solidFill>
                  </a:rPr>
                  <a:t>的方法。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90500" y="332656"/>
                <a:ext cx="8763000" cy="4627418"/>
              </a:xfrm>
              <a:blipFill>
                <a:blip r:embed="rId2"/>
                <a:stretch>
                  <a:fillRect l="-1043" b="-216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1033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5A8653B-5EDF-483F-818E-88F792F2FA25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904874" y="1556792"/>
                <a:ext cx="7627565" cy="2808311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利用</a:t>
                </a:r>
                <a:r>
                  <a:rPr lang="zh-CN" altLang="zh-CN" sz="2400" dirty="0"/>
                  <a:t>服从泊松分布随机变量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400" dirty="0"/>
                  <a:t>的特征函数</a:t>
                </a:r>
                <a:endParaRPr lang="en-US" altLang="zh-CN" sz="2400" dirty="0"/>
              </a:p>
              <a:p>
                <a:pPr>
                  <a:lnSpc>
                    <a:spcPct val="150000"/>
                  </a:lnSpc>
                </a:pPr>
                <a:r>
                  <a:rPr lang="en-US" altLang="zh-CN" sz="2400" dirty="0"/>
                  <a:t>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𝑗𝑣</m:t>
                            </m:r>
                          </m:sup>
                        </m:s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−1)</m:t>
                        </m:r>
                      </m:sup>
                    </m:sSup>
                  </m:oMath>
                </a14:m>
                <a:r>
                  <a:rPr lang="en-US" altLang="zh-CN" sz="2400" dirty="0"/>
                  <a:t>,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/>
                  <a:t>求</a:t>
                </a:r>
                <a:r>
                  <a:rPr lang="en-US" altLang="zh-CN" sz="24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en-US" sz="2400" dirty="0"/>
                  <a:t>的均值和方差。</a:t>
                </a:r>
                <a:r>
                  <a:rPr lang="en-US" altLang="zh-CN" sz="2400" dirty="0"/>
                  <a:t>  </a:t>
                </a:r>
                <a:endParaRPr lang="zh-CN" altLang="zh-CN" sz="2400" dirty="0"/>
              </a:p>
              <a:p>
                <a:endParaRPr lang="zh-CN" altLang="en-US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5A8653B-5EDF-483F-818E-88F792F2F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904874" y="1556792"/>
                <a:ext cx="7627565" cy="2808311"/>
              </a:xfrm>
              <a:prstGeom prst="rect">
                <a:avLst/>
              </a:prstGeom>
              <a:blipFill>
                <a:blip r:embed="rId13"/>
                <a:stretch>
                  <a:fillRect l="-11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0EC01759-546E-47B5-AC0E-DB2F01E5F378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035A721-A14B-439A-A3A5-2A0954A38AB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0" y="5152787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2F7589F-18D5-4210-BF11-060134B454A5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8CC725E8-FF8C-4288-8911-FDC4E66E4DB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6A23E383-E030-4D60-80B8-5A74ECAA62DD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87384E40-6B54-4C5D-8CFC-89FA1EEF5E84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4BBD88EB-8E7A-4C14-BDC7-2AD5730AEE69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34812EB4-8F3F-4B56-9A95-9B63005DD79B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725550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334120" y="332656"/>
                <a:ext cx="8630368" cy="407939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>
                    <a:latin typeface="Cambria Math" panose="02040503050406030204" pitchFamily="18" charset="0"/>
                  </a:rPr>
                  <a:t>解：</a:t>
                </a:r>
                <a:endParaRPr lang="en-US" altLang="zh-CN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1800" dirty="0"/>
                  <a:t>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𝜆</m:t>
                        </m:r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zh-CN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𝑗𝑣</m:t>
                                </m:r>
                              </m:sup>
                            </m:sSup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p>
                    </m:sSup>
                  </m:oMath>
                </a14:m>
                <a:endParaRPr lang="en-US" altLang="zh-CN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1800" dirty="0"/>
                  <a:t>      </a:t>
                </a:r>
              </a:p>
              <a:p>
                <a:pPr marL="0" indent="0">
                  <a:buNone/>
                </a:pPr>
                <a:r>
                  <a:rPr lang="en-US" altLang="zh-CN" sz="1800" dirty="0"/>
                  <a:t>      </a:t>
                </a:r>
                <a14:m>
                  <m:oMath xmlns:m="http://schemas.openxmlformats.org/officeDocument/2006/math">
                    <m:r>
                      <a:rPr lang="en-US" altLang="zh-CN" sz="180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18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f>
                      <m:f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𝑑𝑣</m:t>
                        </m:r>
                      </m:den>
                    </m:f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  <m:r>
                      <a:rPr lang="zh-CN" altLang="zh-CN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𝒋𝒗</m:t>
                            </m:r>
                          </m:sup>
                        </m:sSup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800">
                                <a:latin typeface="Cambria Math" panose="02040503050406030204" pitchFamily="18" charset="0"/>
                              </a:rPr>
                              <m:t>𝑗𝑣</m:t>
                            </m:r>
                          </m:sup>
                        </m:sSup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−1)</m:t>
                        </m:r>
                      </m:sup>
                    </m:sSup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  <m:r>
                      <a:rPr lang="en-US" altLang="zh-CN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sz="1800" dirty="0"/>
                  <a:t>  </a:t>
                </a:r>
              </a:p>
              <a:p>
                <a:pPr marL="0" indent="0">
                  <a:buNone/>
                </a:pPr>
                <a:r>
                  <a:rPr lang="en-US" altLang="zh-CN" sz="1800" dirty="0"/>
                  <a:t>     </a:t>
                </a:r>
                <a:endParaRPr lang="en-US" altLang="zh-CN" sz="18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1800">
                        <a:latin typeface="Cambria Math" panose="02040503050406030204" pitchFamily="18" charset="0"/>
                      </a:rPr>
                      <m:t>       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80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=(−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𝑗</m:t>
                    </m:r>
                    <m:sSup>
                      <m:sSup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f>
                      <m:f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p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sSub>
                          <m:sSub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</m:num>
                      <m:den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den>
                    </m:f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𝒋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𝒋𝒗</m:t>
                            </m:r>
                          </m:sup>
                        </m:s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p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𝜆</m:t>
                        </m:r>
                        <m:sSup>
                          <m:sSupPr>
                            <m:ctrlPr>
                              <a:rPr lang="zh-CN" altLang="zh-CN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80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1800">
                                <a:latin typeface="Cambria Math" panose="02040503050406030204" pitchFamily="18" charset="0"/>
                              </a:rPr>
                              <m:t>𝑗𝑣</m:t>
                            </m:r>
                          </m:sup>
                        </m:sSup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𝒋𝒗</m:t>
                        </m:r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sSub>
                      <m:sSub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</m:oMath>
                </a14:m>
                <a:r>
                  <a:rPr lang="en-US" altLang="zh-CN" sz="1800" dirty="0"/>
                  <a:t> </a:t>
                </a:r>
                <a14:m>
                  <m:oMath xmlns:m="http://schemas.openxmlformats.org/officeDocument/2006/math">
                    <m:r>
                      <a:rPr lang="en-US" altLang="zh-CN" sz="18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zh-CN" sz="180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sz="1800" dirty="0"/>
                  <a:t> </a:t>
                </a:r>
              </a:p>
              <a:p>
                <a:pPr marL="0" indent="0">
                  <a:buNone/>
                </a:pPr>
                <a:endParaRPr lang="en-US" altLang="zh-CN" sz="1800" dirty="0"/>
              </a:p>
              <a:p>
                <a:pPr marL="0" indent="0">
                  <a:buNone/>
                </a:pPr>
                <a:r>
                  <a:rPr lang="en-US" altLang="zh-CN" sz="1800" dirty="0"/>
                  <a:t>    </a:t>
                </a:r>
                <a:r>
                  <a:rPr lang="zh-CN" altLang="zh-CN" sz="1800" dirty="0"/>
                  <a:t>故</a:t>
                </a:r>
                <a:r>
                  <a:rPr lang="en-US" altLang="zh-CN" sz="1800" dirty="0"/>
                  <a:t>   </a:t>
                </a:r>
                <a14:m>
                  <m:oMath xmlns:m="http://schemas.openxmlformats.org/officeDocument/2006/math">
                    <m:r>
                      <a:rPr lang="en-US" altLang="zh-CN" sz="180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800">
                        <a:latin typeface="Cambria Math" panose="02040503050406030204" pitchFamily="18" charset="0"/>
                      </a:rPr>
                      <m:t>]−(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]</m:t>
                    </m:r>
                    <m:sSup>
                      <m:sSupPr>
                        <m:ctrlPr>
                          <a:rPr lang="zh-CN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180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180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zh-CN" altLang="zh-CN" sz="1800" dirty="0"/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altLang="zh-CN" sz="165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334120" y="332656"/>
                <a:ext cx="8630368" cy="4079396"/>
              </a:xfrm>
              <a:blipFill>
                <a:blip r:embed="rId3"/>
                <a:stretch>
                  <a:fillRect l="-847" t="-14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E86A2C16-C0F2-4FC0-944F-CC3E5A15C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56" y="3645024"/>
            <a:ext cx="8388424" cy="256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025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323528" y="548680"/>
                <a:ext cx="8255000" cy="407939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400" dirty="0"/>
                  <a:t>2</a:t>
                </a:r>
                <a:r>
                  <a:rPr lang="zh-CN" altLang="zh-CN" sz="2400" dirty="0"/>
                  <a:t>）由各阶矩确定特征函数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en-US" altLang="zh-CN" sz="2000" dirty="0"/>
                  <a:t>      </a:t>
                </a:r>
              </a:p>
              <a:p>
                <a:pPr marL="0" indent="0">
                  <a:buNone/>
                </a:pPr>
                <a:r>
                  <a:rPr lang="en-US" altLang="zh-CN" sz="2000" dirty="0"/>
                  <a:t> </a:t>
                </a:r>
                <a:r>
                  <a:rPr lang="zh-CN" altLang="zh-CN" sz="2000" dirty="0"/>
                  <a:t>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00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00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000" dirty="0"/>
                  <a:t>在</a:t>
                </a:r>
                <a:r>
                  <a:rPr lang="en-US" altLang="zh-CN" sz="2000" i="1" dirty="0"/>
                  <a:t>v</a:t>
                </a:r>
                <a:r>
                  <a:rPr lang="en-US" altLang="zh-CN" sz="2000" dirty="0"/>
                  <a:t>=0</a:t>
                </a:r>
                <a:r>
                  <a:rPr lang="zh-CN" altLang="zh-CN" sz="2000" dirty="0"/>
                  <a:t>处展成马克劳林级数</a:t>
                </a:r>
                <a:endParaRPr lang="en-US" altLang="zh-CN" sz="2000" dirty="0"/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(0)+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𝑣</m:t>
                      </m:r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𝑑𝑣</m:t>
                          </m:r>
                        </m:den>
                      </m:f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2!</m:t>
                          </m:r>
                        </m:den>
                      </m:f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+..+</m:t>
                      </m:r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!</m:t>
                          </m:r>
                        </m:den>
                      </m:f>
                      <m:f>
                        <m:f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den>
                      </m:f>
                      <m:sSub>
                        <m:sSub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+..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000" i="1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f>
                            <m:f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  <m:sSub>
                            <m:sSub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b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altLang="zh-CN" sz="2000" i="1">
                              <a:latin typeface="Cambria Math" panose="02040503050406030204" pitchFamily="18" charset="0"/>
                            </a:rPr>
                            <m:t>           </m:t>
                          </m:r>
                          <m:r>
                            <a:rPr lang="zh-CN" altLang="zh-CN" sz="2000" i="1">
                              <a:latin typeface="Cambria Math" panose="02040503050406030204" pitchFamily="18" charset="0"/>
                            </a:rPr>
                            <m:t>代入矩</m:t>
                          </m:r>
                        </m:e>
                      </m:nary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000" i="1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  <m:sup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]=</m:t>
                      </m:r>
                      <m:nary>
                        <m:naryPr>
                          <m:chr m:val="∑"/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zh-C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𝑗𝑣</m:t>
                              </m:r>
                              <m:sSup>
                                <m:sSupPr>
                                  <m:ctrlPr>
                                    <a:rPr lang="zh-CN" altLang="zh-C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altLang="zh-CN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zh-CN" altLang="zh-CN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zh-CN" sz="2800" dirty="0">
                    <a:solidFill>
                      <a:srgbClr val="FF0000"/>
                    </a:solidFill>
                  </a:rPr>
                  <a:t>因此，矩和特征函数互相确定</a:t>
                </a:r>
                <a:r>
                  <a:rPr lang="en-US" altLang="zh-CN" sz="2800" dirty="0">
                    <a:solidFill>
                      <a:srgbClr val="FF0000"/>
                    </a:solidFill>
                  </a:rPr>
                  <a:t>,</a:t>
                </a:r>
                <a:r>
                  <a:rPr lang="zh-CN" altLang="zh-CN" sz="2800" dirty="0">
                    <a:solidFill>
                      <a:srgbClr val="FF0000"/>
                    </a:solidFill>
                  </a:rPr>
                  <a:t>完整描述随机变量的统计特性。</a:t>
                </a:r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altLang="zh-CN" sz="165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323528" y="548680"/>
                <a:ext cx="8255000" cy="4079396"/>
              </a:xfrm>
              <a:blipFill>
                <a:blip r:embed="rId3"/>
                <a:stretch>
                  <a:fillRect l="-1477" t="-1644" r="-295" b="-369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5358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539552" y="260648"/>
                <a:ext cx="8255000" cy="4652149"/>
              </a:xfrm>
            </p:spPr>
            <p:txBody>
              <a:bodyPr/>
              <a:lstStyle/>
              <a:p>
                <a:pPr marL="0" indent="0" algn="ctr">
                  <a:spcBef>
                    <a:spcPct val="0"/>
                  </a:spcBef>
                  <a:buNone/>
                </a:pPr>
                <a:r>
                  <a:rPr lang="en-US" altLang="zh-CN" sz="3200" dirty="0">
                    <a:solidFill>
                      <a:srgbClr val="FF0000"/>
                    </a:solidFill>
                    <a:ea typeface="隶书" panose="02010509060101010101" pitchFamily="49" charset="-122"/>
                    <a:cs typeface="+mj-cs"/>
                  </a:rPr>
                  <a:t>1.5.2 </a:t>
                </a:r>
                <a:r>
                  <a:rPr lang="zh-CN" altLang="zh-CN" sz="3200" dirty="0">
                    <a:solidFill>
                      <a:srgbClr val="FF0000"/>
                    </a:solidFill>
                    <a:ea typeface="隶书" panose="02010509060101010101" pitchFamily="49" charset="-122"/>
                    <a:cs typeface="+mj-cs"/>
                  </a:rPr>
                  <a:t>多维联合特征函数</a:t>
                </a:r>
                <a:endParaRPr lang="en-US" altLang="zh-CN" sz="3200" dirty="0">
                  <a:solidFill>
                    <a:srgbClr val="FF0000"/>
                  </a:solidFill>
                  <a:ea typeface="隶书" panose="02010509060101010101" pitchFamily="49" charset="-122"/>
                  <a:cs typeface="+mj-cs"/>
                </a:endParaRPr>
              </a:p>
              <a:p>
                <a:pPr marL="0" indent="0">
                  <a:spcBef>
                    <a:spcPct val="0"/>
                  </a:spcBef>
                  <a:buNone/>
                </a:pPr>
                <a:r>
                  <a:rPr lang="x-none" altLang="zh-CN" sz="2400" dirty="0">
                    <a:solidFill>
                      <a:srgbClr val="FF0000"/>
                    </a:solidFill>
                  </a:rPr>
                  <a:t>1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、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二维联合特征函数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spcBef>
                    <a:spcPct val="0"/>
                  </a:spcBef>
                  <a:buNone/>
                </a:pP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spcBef>
                    <a:spcPct val="0"/>
                  </a:spcBef>
                  <a:buNone/>
                </a:pPr>
                <a:r>
                  <a:rPr lang="zh-CN" altLang="zh-CN" sz="2400" dirty="0"/>
                  <a:t>随机变量</a:t>
                </a:r>
                <a:r>
                  <a:rPr lang="en-US" altLang="zh-CN" sz="2400" i="1" dirty="0"/>
                  <a:t>X</a:t>
                </a:r>
                <a:r>
                  <a:rPr lang="en-US" altLang="zh-CN" sz="2400" dirty="0"/>
                  <a:t>,</a:t>
                </a:r>
                <a:r>
                  <a:rPr lang="en-US" altLang="zh-CN" sz="2400" i="1" dirty="0"/>
                  <a:t>Y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𝑗𝑢𝑋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𝑗𝑣𝑌</m:t>
                            </m:r>
                          </m:sup>
                        </m:sSup>
                      </m:e>
                    </m:d>
                  </m:oMath>
                </a14:m>
                <a:endParaRPr lang="en-US" altLang="zh-CN" sz="2400" i="1" dirty="0"/>
              </a:p>
              <a:p>
                <a:pPr marL="0" indent="0">
                  <a:spcBef>
                    <a:spcPct val="0"/>
                  </a:spcBef>
                  <a:buNone/>
                </a:pPr>
                <a:endParaRPr lang="en-US" altLang="zh-CN" sz="2400" i="1" dirty="0"/>
              </a:p>
              <a:p>
                <a:pPr marL="0" indent="0">
                  <a:spcBef>
                    <a:spcPct val="0"/>
                  </a:spcBef>
                  <a:buNone/>
                </a:pPr>
                <a:r>
                  <a:rPr lang="zh-CN" altLang="zh-CN" sz="2400" dirty="0"/>
                  <a:t>连续随机变量</a:t>
                </a:r>
                <a:r>
                  <a:rPr lang="en-US" altLang="zh-CN" sz="2400" dirty="0"/>
                  <a:t> </a:t>
                </a:r>
                <a:r>
                  <a:rPr lang="zh-CN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𝑗𝑢𝑋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𝑗𝑣𝑌</m:t>
                            </m:r>
                          </m:sup>
                        </m:sSup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4"/>
                          </m:rP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nary>
                          <m:nary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−∞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d>
                                  <m:d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𝑢𝑥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𝑣𝑦</m:t>
                                    </m:r>
                                  </m:e>
                                </m:d>
                              </m:sup>
                            </m:sSup>
                          </m:e>
                        </m:nary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𝑋𝑌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𝑑𝑥𝑑𝑦</m:t>
                        </m:r>
                      </m:e>
                    </m:nary>
                  </m:oMath>
                </a14:m>
                <a:endParaRPr lang="en-US" altLang="zh-CN" sz="2400" dirty="0"/>
              </a:p>
              <a:p>
                <a:pPr marL="0" indent="0">
                  <a:spcBef>
                    <a:spcPct val="0"/>
                  </a:spcBef>
                  <a:buNone/>
                </a:pPr>
                <a:endParaRPr lang="en-US" altLang="zh-CN" sz="2400" dirty="0"/>
              </a:p>
              <a:p>
                <a:pPr marL="0" indent="0">
                  <a:spcBef>
                    <a:spcPct val="0"/>
                  </a:spcBef>
                  <a:buNone/>
                </a:pPr>
                <a:r>
                  <a:rPr lang="zh-CN" altLang="en-US" sz="2400" dirty="0"/>
                  <a:t>离散随机变量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4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d>
                                  <m:dPr>
                                    <m:ctrlP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sSub>
                                      <m:sSubPr>
                                        <m:ctrlP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  <m: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zh-CN" sz="2400" b="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  <m:sSub>
                                      <m:sSubPr>
                                        <m:ctrlP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0" i="1">
                                            <a:latin typeface="Cambria Math" panose="02040503050406030204" pitchFamily="18" charset="0"/>
                                          </a:rPr>
                                          <m:t>𝑙</m:t>
                                        </m:r>
                                      </m:sub>
                                    </m:sSub>
                                  </m:e>
                                </m:d>
                              </m:sup>
                            </m:sSup>
                            <m:sSub>
                              <m:sSubPr>
                                <m:ctrlP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𝑘𝑙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endParaRPr lang="en-US" altLang="zh-CN" sz="2400" b="0" dirty="0"/>
              </a:p>
              <a:p>
                <a:pPr marL="0" indent="0">
                  <a:spcBef>
                    <a:spcPct val="0"/>
                  </a:spcBef>
                  <a:buNone/>
                </a:pPr>
                <a:endParaRPr lang="en-US" altLang="zh-CN" sz="2400" b="0" dirty="0"/>
              </a:p>
              <a:p>
                <a:pPr marL="0" indent="0">
                  <a:spcBef>
                    <a:spcPct val="0"/>
                  </a:spcBef>
                  <a:buNone/>
                </a:pPr>
                <a:r>
                  <a:rPr lang="x-none" altLang="zh-CN" sz="2400" dirty="0">
                    <a:solidFill>
                      <a:srgbClr val="FF0000"/>
                    </a:solidFill>
                  </a:rPr>
                  <a:t>2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、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多维联合特征函数</a:t>
                </a:r>
              </a:p>
              <a:p>
                <a:pPr marL="0" indent="0">
                  <a:lnSpc>
                    <a:spcPct val="14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,...,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zh-CN" sz="2400" dirty="0"/>
                  <a:t>，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,...,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altLang="zh-CN" sz="2400" dirty="0"/>
                  <a:t>,</a:t>
                </a:r>
              </a:p>
              <a:p>
                <a:pPr marL="0" indent="0">
                  <a:lnSpc>
                    <a:spcPct val="14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sSup>
                                <m:sSup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sup>
                          </m:sSup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  <m:sSup>
                                <m:sSup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sup>
                          </m:sSup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d>
                                <m:d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+...,+</m:t>
                                  </m:r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sz="165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539552" y="260648"/>
                <a:ext cx="8255000" cy="4652149"/>
              </a:xfrm>
              <a:blipFill>
                <a:blip r:embed="rId2"/>
                <a:stretch>
                  <a:fillRect l="-1182" t="-2228" b="-225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2019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80109" y="620688"/>
                <a:ext cx="8783782" cy="320326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x-none" altLang="zh-CN" sz="2800" dirty="0">
                    <a:solidFill>
                      <a:srgbClr val="FF0000"/>
                    </a:solidFill>
                  </a:rPr>
                  <a:t>3</a:t>
                </a:r>
                <a:r>
                  <a:rPr lang="zh-CN" altLang="en-US" sz="2800" dirty="0">
                    <a:solidFill>
                      <a:srgbClr val="FF0000"/>
                    </a:solidFill>
                  </a:rPr>
                  <a:t>、</a:t>
                </a:r>
                <a:r>
                  <a:rPr lang="zh-CN" altLang="zh-CN" sz="2800" dirty="0">
                    <a:solidFill>
                      <a:srgbClr val="FF0000"/>
                    </a:solidFill>
                  </a:rPr>
                  <a:t>重要性质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x-none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400" dirty="0"/>
                  <a:t> </a:t>
                </a:r>
                <a:r>
                  <a:rPr lang="zh-CN" altLang="zh-CN" sz="2400" dirty="0"/>
                  <a:t>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dirty="0"/>
                  <a:t>，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sz="2800" dirty="0"/>
                  <a:t>当且仅当</a:t>
                </a:r>
                <a:r>
                  <a:rPr lang="en-US" altLang="zh-CN" sz="2800" i="1" dirty="0"/>
                  <a:t>N</a:t>
                </a:r>
                <a:r>
                  <a:rPr lang="zh-CN" altLang="zh-CN" sz="2800" dirty="0"/>
                  <a:t>个随机变量统计独立时</a:t>
                </a:r>
                <a:r>
                  <a:rPr lang="en-US" altLang="zh-CN" sz="2800" dirty="0"/>
                  <a:t>,</a:t>
                </a:r>
                <a:r>
                  <a:rPr lang="zh-CN" altLang="zh-CN" sz="2800" dirty="0"/>
                  <a:t>其联合特征函数等于各特征函数的积。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sSup>
                                <m:sSup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sup>
                          </m:sSup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  <m:sSup>
                                <m:sSup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sup>
                          </m:sSup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d>
                                <m:d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+...+</m:t>
                                  </m:r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zh-CN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    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sup>
                        </m:sSup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p>
                        </m:sSup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...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sup>
                        </m:sSup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sSub>
                              <m:sSub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zh-CN" sz="2400" dirty="0"/>
                  <a:t> </a:t>
                </a:r>
                <a:endParaRPr lang="zh-CN" altLang="zh-CN" sz="2400" dirty="0"/>
              </a:p>
              <a:p>
                <a:pPr marL="0" indent="0">
                  <a:lnSpc>
                    <a:spcPct val="140000"/>
                  </a:lnSpc>
                  <a:buNone/>
                </a:pPr>
                <a:endParaRPr lang="en-US" altLang="zh-CN" sz="165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80109" y="620688"/>
                <a:ext cx="8783782" cy="3203265"/>
              </a:xfrm>
              <a:blipFill>
                <a:blip r:embed="rId2"/>
                <a:stretch>
                  <a:fillRect l="-1458" t="-2667" r="-1181" b="-25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159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D78C6BB-F77A-4724-9FE9-A5072D5C758C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666750" y="2130137"/>
                <a:ext cx="7865690" cy="1607344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𝑋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是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n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个独立正态随机变量，各自服从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𝑁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,</m:t>
                        </m:r>
                        <m:sSubSup>
                          <m:sSub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sSubSup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𝑖</m:t>
                            </m:r>
                          </m:sub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。求</a:t>
                </a:r>
                <a:endParaRPr lang="en-US" altLang="zh-CN" sz="24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𝑋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Microsoft Yahei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Microsoft Yahei" panose="020B0503020204020204" pitchFamily="34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Microsoft Yahei" panose="020B0503020204020204" pitchFamily="34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Microsoft Yahei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Microsoft Yahei" panose="020B0503020204020204" pitchFamily="34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Microsoft Yahei" panose="020B0503020204020204" pitchFamily="34" charset="-12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Microsoft Yahei" panose="020B0503020204020204" pitchFamily="34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Microsoft Yahei" panose="020B0503020204020204" pitchFamily="34" charset="-122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Microsoft Yahei" panose="020B0503020204020204" pitchFamily="34" charset="-122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n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维联合特征函数。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1D78C6BB-F77A-4724-9FE9-A5072D5C7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666750" y="2130137"/>
                <a:ext cx="7865690" cy="1607344"/>
              </a:xfrm>
              <a:prstGeom prst="rect">
                <a:avLst/>
              </a:prstGeom>
              <a:blipFill>
                <a:blip r:embed="rId13"/>
                <a:stretch>
                  <a:fillRect l="-1162" t="-7576" b="-291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03B25455-230C-4931-9C19-B464CD761448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6686550" y="5518547"/>
            <a:ext cx="1157288" cy="30861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defTabSz="685800"/>
            <a:r>
              <a:rPr lang="zh-CN" altLang="en-US" sz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ADA047-4B31-483A-B6CF-85BB7CFC61E6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0" y="5152787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1" compatLnSpc="1">
            <a:prstTxWarp prst="textNoShape">
              <a:avLst/>
            </a:prstTxWarp>
            <a:no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983AB0A6-5A79-49A7-B139-9A247693C2ED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0" y="0"/>
            <a:ext cx="9144000" cy="490220"/>
            <a:chOff x="0" y="-1143000"/>
            <a:chExt cx="12192000" cy="653627"/>
          </a:xfrm>
        </p:grpSpPr>
        <p:sp>
          <p:nvSpPr>
            <p:cNvPr id="7" name="TitleBackground">
              <a:extLst>
                <a:ext uri="{FF2B5EF4-FFF2-40B4-BE49-F238E27FC236}">
                  <a16:creationId xmlns:a16="http://schemas.microsoft.com/office/drawing/2014/main" id="{1DFA8FCA-6509-4EBD-AF71-1E17923BB0CE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0" y="-1143000"/>
              <a:ext cx="12192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ColorBlock">
              <a:extLst>
                <a:ext uri="{FF2B5EF4-FFF2-40B4-BE49-F238E27FC236}">
                  <a16:creationId xmlns:a16="http://schemas.microsoft.com/office/drawing/2014/main" id="{AAC5731A-40FF-4968-A038-38A774621B1B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0" y="-11430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none" lIns="68580" tIns="34290" rIns="68580" bIns="34290" numCol="1" rtlCol="0" anchor="t" anchorCtr="0" compatLnSpc="1">
              <a:prstTxWarp prst="textNoShape">
                <a:avLst/>
              </a:prstTxWarp>
            </a:bodyPr>
            <a:lstStyle/>
            <a:p>
              <a:pPr defTabSz="685800"/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TypeText">
              <a:extLst>
                <a:ext uri="{FF2B5EF4-FFF2-40B4-BE49-F238E27FC236}">
                  <a16:creationId xmlns:a16="http://schemas.microsoft.com/office/drawing/2014/main" id="{09D7C7C7-4121-4C1B-9464-817C88AF70D2}"/>
                </a:ext>
              </a:extLst>
            </p:cNvPr>
            <p:cNvSpPr txBox="1"/>
            <p:nvPr>
              <p:custDataLst>
                <p:tags r:id="rId9"/>
              </p:custDataLst>
            </p:nvPr>
          </p:nvSpPr>
          <p:spPr>
            <a:xfrm>
              <a:off x="338667" y="-114300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95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10" name="TipText">
              <a:extLst>
                <a:ext uri="{FF2B5EF4-FFF2-40B4-BE49-F238E27FC236}">
                  <a16:creationId xmlns:a16="http://schemas.microsoft.com/office/drawing/2014/main" id="{0601861C-221F-4922-BADB-45093FE4620C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1670473" y="-997373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10</a:t>
              </a:r>
              <a:r>
                <a:rPr lang="zh-CN" altLang="en-US" sz="15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29998199-CFC8-4772-998C-EAA7DCAA3EB8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892133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403648" y="620688"/>
                <a:ext cx="6025301" cy="4079396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3200" dirty="0"/>
                  <a:t>解：</a:t>
                </a:r>
                <a:endParaRPr lang="en-US" altLang="zh-CN" sz="3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𝑿</m:t>
                          </m:r>
                        </m:sub>
                      </m:sSub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d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CN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ctrlPr>
                            <a:rPr lang="zh-CN" altLang="zh-CN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i="1">
                                          <a:latin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num>
                                    <m:den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den>
                                  </m:f>
                                  <m:sSubSup>
                                    <m:sSubSup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zh-CN" altLang="en-US" sz="2800" i="1">
                                          <a:latin typeface="Cambria Math" panose="02040503050406030204" pitchFamily="18" charset="0"/>
                                        </a:rPr>
                                        <m:t>𝝈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  <m:sup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bSup>
                                  <m:sSubSup>
                                    <m:sSubSupPr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𝒗</m:t>
                                      </m:r>
                                    </m:e>
                                    <m:sub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  <m:sup>
                                      <m: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bSup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2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                        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𝒆𝒙𝒑</m:t>
                      </m:r>
                      <m:d>
                        <m:d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𝒋</m:t>
                          </m:r>
                          <m:nary>
                            <m:naryPr>
                              <m:chr m:val="∑"/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  <m:e>
                              <m:sSubSup>
                                <m:sSub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2800" i="1">
                                      <a:latin typeface="Cambria Math" panose="02040503050406030204" pitchFamily="18" charset="0"/>
                                    </a:rPr>
                                    <m:t>𝝈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  <m:sSubSup>
                                <m:sSub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bSup>
                            </m:e>
                          </m:nary>
                        </m:e>
                      </m:d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403648" y="620688"/>
                <a:ext cx="6025301" cy="4079396"/>
              </a:xfrm>
              <a:blipFill>
                <a:blip r:embed="rId2"/>
                <a:stretch>
                  <a:fillRect l="-2528" t="-2541" b="-140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2379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6F86069-F3E1-41BA-96F1-A6A5A97FC60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57201" y="1325440"/>
            <a:ext cx="8255000" cy="4079396"/>
          </a:xfrm>
        </p:spPr>
        <p:txBody>
          <a:bodyPr/>
          <a:lstStyle/>
          <a:p>
            <a:pPr marL="0" indent="0" algn="ctr">
              <a:spcBef>
                <a:spcPct val="0"/>
              </a:spcBef>
              <a:buNone/>
            </a:pPr>
            <a:r>
              <a:rPr lang="en-US" altLang="zh-CN" sz="2800" dirty="0">
                <a:solidFill>
                  <a:srgbClr val="FF0000"/>
                </a:solidFill>
                <a:ea typeface="隶书" panose="02010509060101010101" pitchFamily="49" charset="-122"/>
                <a:cs typeface="+mj-cs"/>
              </a:rPr>
              <a:t>1.6 </a:t>
            </a:r>
            <a:r>
              <a:rPr lang="zh-CN" altLang="zh-CN" sz="2800" dirty="0">
                <a:solidFill>
                  <a:srgbClr val="FF0000"/>
                </a:solidFill>
                <a:ea typeface="隶书" panose="02010509060101010101" pitchFamily="49" charset="-122"/>
                <a:cs typeface="+mj-cs"/>
              </a:rPr>
              <a:t>常用的概率分布</a:t>
            </a:r>
            <a:endParaRPr lang="en-US" altLang="zh-CN" sz="2800" dirty="0">
              <a:solidFill>
                <a:srgbClr val="FF0000"/>
              </a:solidFill>
              <a:ea typeface="隶书" panose="02010509060101010101" pitchFamily="49" charset="-122"/>
              <a:cs typeface="+mj-cs"/>
            </a:endParaRPr>
          </a:p>
          <a:p>
            <a:pPr marL="0" indent="0">
              <a:lnSpc>
                <a:spcPct val="150000"/>
              </a:lnSpc>
              <a:spcBef>
                <a:spcPts val="900"/>
              </a:spcBef>
              <a:buNone/>
            </a:pPr>
            <a:endParaRPr lang="en-US" altLang="zh-CN" sz="2400" dirty="0"/>
          </a:p>
          <a:p>
            <a:pPr marL="0" indent="0">
              <a:lnSpc>
                <a:spcPct val="150000"/>
              </a:lnSpc>
              <a:spcBef>
                <a:spcPts val="900"/>
              </a:spcBef>
              <a:buNone/>
            </a:pPr>
            <a:r>
              <a:rPr lang="en-US" altLang="zh-CN" sz="2400" dirty="0"/>
              <a:t>       1.6.1 </a:t>
            </a:r>
            <a:r>
              <a:rPr lang="zh-CN" altLang="zh-CN" sz="2400" dirty="0"/>
              <a:t>离散随机变量的分布</a:t>
            </a:r>
            <a:endParaRPr lang="en-US" altLang="zh-CN" sz="2400" dirty="0"/>
          </a:p>
          <a:p>
            <a:pPr marL="0" indent="0">
              <a:lnSpc>
                <a:spcPct val="150000"/>
              </a:lnSpc>
              <a:spcBef>
                <a:spcPts val="900"/>
              </a:spcBef>
              <a:buNone/>
            </a:pPr>
            <a:r>
              <a:rPr lang="en-US" altLang="zh-CN" sz="2400" dirty="0"/>
              <a:t>       1.6.2 </a:t>
            </a:r>
            <a:r>
              <a:rPr lang="zh-CN" altLang="zh-CN" sz="2400" dirty="0"/>
              <a:t>连续随机变量的分布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156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79512" y="764704"/>
                <a:ext cx="8856984" cy="5472608"/>
              </a:xfrm>
            </p:spPr>
            <p:txBody>
              <a:bodyPr/>
              <a:lstStyle/>
              <a:p>
                <a:pPr marL="0" indent="0" algn="ctr">
                  <a:spcBef>
                    <a:spcPct val="0"/>
                  </a:spcBef>
                  <a:buNone/>
                </a:pPr>
                <a:r>
                  <a:rPr lang="en-US" altLang="zh-CN" sz="2700" dirty="0">
                    <a:solidFill>
                      <a:srgbClr val="FF0000"/>
                    </a:solidFill>
                    <a:ea typeface="隶书" panose="02010509060101010101" pitchFamily="49" charset="-122"/>
                    <a:cs typeface="+mj-cs"/>
                  </a:rPr>
                  <a:t>1.6.1 </a:t>
                </a:r>
                <a:r>
                  <a:rPr lang="zh-CN" altLang="zh-CN" sz="2700" dirty="0">
                    <a:solidFill>
                      <a:srgbClr val="FF0000"/>
                    </a:solidFill>
                    <a:ea typeface="隶书" panose="02010509060101010101" pitchFamily="49" charset="-122"/>
                    <a:cs typeface="+mj-cs"/>
                  </a:rPr>
                  <a:t>离散随机变量的分布</a:t>
                </a:r>
                <a:endParaRPr lang="en-US" altLang="zh-CN" sz="2700" dirty="0">
                  <a:solidFill>
                    <a:srgbClr val="FF0000"/>
                  </a:solidFill>
                  <a:ea typeface="隶书" panose="02010509060101010101" pitchFamily="49" charset="-122"/>
                  <a:cs typeface="+mj-cs"/>
                </a:endParaRPr>
              </a:p>
              <a:p>
                <a:pPr marL="0" indent="0" algn="ctr">
                  <a:spcBef>
                    <a:spcPct val="0"/>
                  </a:spcBef>
                  <a:buNone/>
                </a:pPr>
                <a:endParaRPr lang="en-US" altLang="zh-CN" sz="2700" dirty="0">
                  <a:solidFill>
                    <a:srgbClr val="FF0000"/>
                  </a:solidFill>
                  <a:ea typeface="隶书" panose="02010509060101010101" pitchFamily="49" charset="-122"/>
                  <a:cs typeface="+mj-cs"/>
                </a:endParaRPr>
              </a:p>
              <a:p>
                <a:pPr marL="0" indent="0">
                  <a:spcBef>
                    <a:spcPct val="0"/>
                  </a:spcBef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1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、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0-1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分布 （贝努利分布）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zh-CN" altLang="zh-CN" sz="2400" dirty="0"/>
                  <a:t>随机试验只有两种结果</a:t>
                </a:r>
                <a:r>
                  <a:rPr lang="zh-CN" altLang="en-US" sz="2400" dirty="0"/>
                  <a:t>：</a:t>
                </a:r>
                <a:r>
                  <a:rPr lang="en-US" altLang="zh-CN" sz="2400" dirty="0"/>
                  <a:t>A</a:t>
                </a:r>
                <a:r>
                  <a:rPr lang="zh-CN" altLang="zh-CN" sz="2400" dirty="0"/>
                  <a:t>出现</a:t>
                </a:r>
                <a:r>
                  <a:rPr lang="zh-CN" altLang="en-US" sz="2400" dirty="0"/>
                  <a:t>或</a:t>
                </a:r>
                <a:r>
                  <a:rPr lang="zh-CN" altLang="zh-CN" sz="2400" dirty="0"/>
                  <a:t>不出现</a:t>
                </a:r>
                <a:r>
                  <a:rPr lang="en-US" altLang="zh-CN" sz="2400" dirty="0"/>
                  <a:t> (</a:t>
                </a:r>
                <a:r>
                  <a:rPr lang="zh-CN" altLang="zh-CN" sz="2400" dirty="0"/>
                  <a:t>贝努利试验</a:t>
                </a:r>
                <a:r>
                  <a:rPr lang="en-US" altLang="zh-CN" sz="2400" dirty="0" err="1"/>
                  <a:t>Berroulli</a:t>
                </a:r>
                <a:r>
                  <a:rPr lang="en-US" altLang="zh-CN" sz="2400" dirty="0"/>
                  <a:t>)</a:t>
                </a:r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zh-CN" altLang="en-US" sz="2400" dirty="0"/>
                  <a:t>即</a:t>
                </a:r>
                <a14:m>
                  <m:oMath xmlns:m="http://schemas.openxmlformats.org/officeDocument/2006/math">
                    <m:r>
                      <a:rPr lang="en-US" altLang="zh-CN" sz="2400" b="1" i="0" dirty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=1}=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, 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=0}=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=1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sz="2400" dirty="0"/>
              </a:p>
              <a:p>
                <a:pPr marL="0" indent="0">
                  <a:spcBef>
                    <a:spcPct val="0"/>
                  </a:spcBef>
                  <a:buNone/>
                </a:pPr>
                <a:r>
                  <a:rPr lang="zh-CN" altLang="zh-CN" sz="2400" dirty="0"/>
                  <a:t>则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zh-CN" sz="2400" dirty="0"/>
                  <a:t>为</a:t>
                </a:r>
                <a:r>
                  <a:rPr lang="en-US" altLang="zh-CN" sz="2400" dirty="0"/>
                  <a:t>0-1</a:t>
                </a:r>
                <a:r>
                  <a:rPr lang="zh-CN" altLang="zh-CN" sz="2400" dirty="0"/>
                  <a:t>分布。</a:t>
                </a:r>
                <a:endParaRPr lang="en-US" altLang="zh-CN" sz="2400" dirty="0"/>
              </a:p>
              <a:p>
                <a:pPr marL="0" indent="0">
                  <a:spcBef>
                    <a:spcPct val="0"/>
                  </a:spcBef>
                  <a:buNone/>
                </a:pPr>
                <a:endParaRPr lang="en-US" altLang="zh-CN" sz="2400" dirty="0"/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en-US" altLang="zh-CN" sz="2400" b="0" dirty="0"/>
                  <a:t>PDF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：</m:t>
                    </m:r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𝛿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zh-CN" altLang="en-US" sz="24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zh-CN" altLang="en-US" sz="2400" dirty="0">
                    <a:latin typeface="Cambria Math" panose="02040503050406030204" pitchFamily="18" charset="0"/>
                  </a:rPr>
                  <a:t>特征函数：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400"/>
                      <m:t>  </m:t>
                    </m:r>
                    <m:sSub>
                      <m:sSub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𝑝</m:t>
                    </m:r>
                    <m:sSup>
                      <m:sSup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𝑗𝑣</m:t>
                        </m:r>
                      </m:sup>
                    </m:sSup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zh-CN" altLang="zh-CN" sz="2400" b="0" dirty="0"/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]=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2400" dirty="0"/>
                  <a:t>,   </a:t>
                </a:r>
                <a14:m>
                  <m:oMath xmlns:m="http://schemas.openxmlformats.org/officeDocument/2006/math"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𝑝𝑞</m:t>
                    </m:r>
                    <m:r>
                      <m:rPr>
                        <m:nor/>
                      </m:rPr>
                      <a:rPr lang="en-US" altLang="zh-CN" sz="2400"/>
                      <m:t>   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79512" y="764704"/>
                <a:ext cx="8856984" cy="5472608"/>
              </a:xfrm>
              <a:blipFill>
                <a:blip r:embed="rId2"/>
                <a:stretch>
                  <a:fillRect l="-1032" t="-12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579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67544" y="836712"/>
                <a:ext cx="8568952" cy="504056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2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、二项分布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altLang="zh-CN" sz="2400" dirty="0"/>
                  <a:t> </a:t>
                </a:r>
                <a:r>
                  <a:rPr lang="zh-CN" altLang="zh-CN" sz="2400" dirty="0"/>
                  <a:t>贝努利试验独立的重复</a:t>
                </a:r>
                <a:r>
                  <a:rPr lang="en-US" altLang="zh-CN" sz="2400" dirty="0"/>
                  <a:t>n</a:t>
                </a:r>
                <a:r>
                  <a:rPr lang="zh-CN" altLang="zh-CN" sz="2400" dirty="0"/>
                  <a:t>次</a:t>
                </a:r>
                <a:r>
                  <a:rPr lang="en-US" altLang="zh-CN" sz="2400" dirty="0"/>
                  <a:t>, </a:t>
                </a:r>
                <a:r>
                  <a:rPr lang="zh-CN" altLang="zh-CN" sz="2400" dirty="0"/>
                  <a:t>事件</a:t>
                </a:r>
                <a:r>
                  <a:rPr lang="en-US" altLang="zh-CN" sz="2400" dirty="0"/>
                  <a:t>A</a:t>
                </a:r>
                <a:r>
                  <a:rPr lang="zh-CN" altLang="zh-CN" sz="2400" dirty="0"/>
                  <a:t>发生</a:t>
                </a:r>
                <a:r>
                  <a:rPr lang="en-US" altLang="zh-CN" sz="2400" dirty="0"/>
                  <a:t>m</a:t>
                </a:r>
                <a:r>
                  <a:rPr lang="zh-CN" altLang="zh-CN" sz="2400" dirty="0"/>
                  <a:t>次的概率</a:t>
                </a:r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pPr marL="0" indent="0">
                  <a:buNone/>
                </a:pPr>
                <a:r>
                  <a:rPr lang="en-US" altLang="zh-CN" sz="2400" dirty="0"/>
                  <a:t> </a:t>
                </a:r>
                <a:r>
                  <a:rPr lang="zh-CN" altLang="en-US" sz="2400" dirty="0"/>
                  <a:t>表示为</a:t>
                </a:r>
                <a:r>
                  <a:rPr lang="en-US" altLang="zh-CN" sz="2400" dirty="0"/>
                  <a:t>n</a:t>
                </a:r>
                <a:r>
                  <a:rPr lang="zh-CN" altLang="en-US" sz="2400" dirty="0"/>
                  <a:t>个统计独立的</a:t>
                </a:r>
                <a:r>
                  <a:rPr lang="en-US" altLang="zh-CN" sz="2400" dirty="0"/>
                  <a:t>0-1</a:t>
                </a:r>
                <a:r>
                  <a:rPr lang="zh-CN" altLang="en-US" sz="2400" dirty="0"/>
                  <a:t>分布的随机变量的和。</a:t>
                </a:r>
                <a:endParaRPr lang="en-US" altLang="zh-CN" sz="2400" dirty="0"/>
              </a:p>
              <a:p>
                <a:pPr marL="0" indent="0">
                  <a:spcBef>
                    <a:spcPts val="45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     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</m:d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nary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45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sSup>
                        <m:sSup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sSup>
                        <m:sSup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ts val="450"/>
                  </a:spcBef>
                  <a:spcAft>
                    <a:spcPts val="45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zh-CN" altLang="zh-CN" sz="2400" i="1">
                        <a:latin typeface="Cambria Math" panose="02040503050406030204" pitchFamily="18" charset="0"/>
                      </a:rPr>
                      <m:t>为二项分布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，记为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𝑩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Cambria Math" panose="02040503050406030204" pitchFamily="18" charset="0"/>
                  </a:rPr>
                  <a:t>。</a:t>
                </a:r>
                <a:endParaRPr lang="en-US" altLang="zh-CN" sz="2400" dirty="0"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𝑛𝑝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𝑛𝑝𝑞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lang="en-US" altLang="zh-CN" sz="2400"/>
                        <m:t>    </m:t>
                      </m:r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)=(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𝑝</m:t>
                      </m:r>
                      <m:sSup>
                        <m:sSupPr>
                          <m:ctrlPr>
                            <a:rPr lang="zh-CN" altLang="zh-CN" sz="24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𝑗𝑣</m:t>
                          </m:r>
                        </m:sup>
                      </m:sSup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𝑞</m:t>
                      </m:r>
                      <m:sSup>
                        <m:sSupPr>
                          <m:ctrlPr>
                            <a:rPr lang="zh-CN" altLang="zh-CN" sz="24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altLang="zh-CN" sz="2400" b="0" i="1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400" dirty="0"/>
                  <a:t>注</a:t>
                </a:r>
                <a14:m>
                  <m:oMath xmlns:m="http://schemas.openxmlformats.org/officeDocument/2006/math"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Sup>
                          <m:sSub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bSup>
                      </m:fName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func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!(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)!</m:t>
                        </m:r>
                      </m:den>
                    </m:f>
                  </m:oMath>
                </a14:m>
                <a:endParaRPr lang="zh-CN" altLang="zh-CN" sz="240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67544" y="836712"/>
                <a:ext cx="8568952" cy="5040560"/>
              </a:xfrm>
              <a:blipFill>
                <a:blip r:embed="rId2"/>
                <a:stretch>
                  <a:fillRect l="-1139" t="-1330" b="-35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0027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44500" y="188640"/>
                <a:ext cx="8591996" cy="4079396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3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、泊松分布 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zh-CN" sz="2400" dirty="0"/>
                  <a:t>描述计数性的事件，统计随机事件发生的次数</a:t>
                </a:r>
                <a:r>
                  <a:rPr lang="zh-CN" altLang="en-US" sz="2400" dirty="0"/>
                  <a:t>。</a:t>
                </a:r>
                <a:endParaRPr lang="en-US" altLang="zh-CN" sz="24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zh-CN" sz="2400" dirty="0"/>
                  <a:t>单位时间内到达服务台的人数</a:t>
                </a:r>
                <a:r>
                  <a:rPr lang="en-US" altLang="zh-CN" sz="2400" dirty="0"/>
                  <a:t>,  </a:t>
                </a:r>
                <a:r>
                  <a:rPr lang="zh-CN" altLang="zh-CN" sz="2400" dirty="0"/>
                  <a:t>放射物质放射出的粒子数</a:t>
                </a:r>
                <a:r>
                  <a:rPr lang="zh-CN" altLang="en-US" sz="2400" dirty="0"/>
                  <a:t>等。</a:t>
                </a:r>
                <a:endParaRPr lang="en-US" altLang="zh-CN" sz="24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zh-CN" sz="2400" dirty="0"/>
                  <a:t>非负整数值的随机变量</a:t>
                </a:r>
                <a:r>
                  <a:rPr lang="en-US" altLang="zh-CN" sz="2400" dirty="0"/>
                  <a:t>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}=</m:t>
                    </m:r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</m:oMath>
                </a14:m>
                <a:r>
                  <a:rPr lang="en-US" altLang="zh-CN" sz="2400" dirty="0"/>
                  <a:t> ,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&gt;0,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,…,+∞</m:t>
                    </m:r>
                  </m:oMath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p>
                          </m:s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nary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zh-CN" sz="24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sz="2400" i="1" dirty="0"/>
                  <a:t>X </a:t>
                </a:r>
                <a:r>
                  <a:rPr lang="zh-CN" altLang="zh-CN" sz="2400" dirty="0"/>
                  <a:t>服从参数为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zh-CN" sz="2400" dirty="0"/>
                  <a:t>的泊松分布</a:t>
                </a:r>
                <a:r>
                  <a:rPr lang="en-US" altLang="zh-CN" sz="2400" dirty="0"/>
                  <a:t>.</a:t>
                </a:r>
                <a:endParaRPr lang="zh-CN" altLang="zh-CN" sz="24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400" dirty="0"/>
                  <a:t>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sz="2400" dirty="0"/>
                  <a:t> 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(1−</m:t>
                        </m:r>
                        <m:sSup>
                          <m:sSupPr>
                            <m:ctrlPr>
                              <a:rPr lang="zh-CN" altLang="zh-CN" sz="24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𝑗𝑣</m:t>
                            </m:r>
                          </m:sup>
                        </m:sSup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zh-CN" altLang="zh-CN" sz="2400" b="0" dirty="0"/>
                  <a:t>。</a:t>
                </a:r>
                <a:endParaRPr lang="en-US" altLang="zh-CN" sz="2400" b="0" dirty="0"/>
              </a:p>
              <a:p>
                <a:pPr marL="0" indent="0">
                  <a:buNone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44500" y="188640"/>
                <a:ext cx="8591996" cy="4079396"/>
              </a:xfrm>
              <a:blipFill>
                <a:blip r:embed="rId2"/>
                <a:stretch>
                  <a:fillRect l="-1136" t="-897" b="-279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807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82352" y="764704"/>
                <a:ext cx="8579296" cy="4270065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4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、离散均匀分布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zh-CN" sz="2400" dirty="0"/>
                  <a:t>如果随机变量</a:t>
                </a:r>
                <a:r>
                  <a:rPr lang="en-US" altLang="zh-CN" sz="2400" dirty="0"/>
                  <a:t>X </a:t>
                </a:r>
                <a:r>
                  <a:rPr lang="zh-CN" altLang="zh-CN" sz="2400" dirty="0"/>
                  <a:t>的概率满足</a:t>
                </a:r>
                <a:endParaRPr lang="en-US" altLang="zh-CN" sz="24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}=1/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zh-CN" altLang="zh-CN" sz="2400" dirty="0"/>
                  <a:t>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=1,2,...,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sz="2400" dirty="0"/>
                  <a:t>   </a:t>
                </a:r>
                <a:r>
                  <a:rPr lang="zh-CN" altLang="zh-CN" sz="2400" dirty="0"/>
                  <a:t>称为离散均匀分布。</a:t>
                </a:r>
                <a:endParaRPr lang="en-US" altLang="zh-CN" sz="24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   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hr m:val="∑"/>
                          <m:ctrlPr>
                            <a:rPr lang="zh-CN" altLang="zh-CN" sz="24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zh-CN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⋅</m:t>
                          </m:r>
                        </m:e>
                      </m:nary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4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,  </m:t>
                      </m:r>
                      <m:sSubSup>
                        <m:sSubSup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sz="2400" b="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  <m:sup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2400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p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altLang="zh-CN" sz="2400" b="0" i="1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en-US" altLang="zh-CN" sz="24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zh-CN" sz="2400" dirty="0"/>
                  <a:t>另外，离散变量的分布还有复合泊松分布、退化分布、超几何分布等。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82352" y="764704"/>
                <a:ext cx="8579296" cy="4270065"/>
              </a:xfrm>
              <a:blipFill>
                <a:blip r:embed="rId3"/>
                <a:stretch>
                  <a:fillRect l="-1065" t="-856" b="-99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6289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247072" y="620688"/>
                <a:ext cx="8649855" cy="4079396"/>
              </a:xfrm>
            </p:spPr>
            <p:txBody>
              <a:bodyPr/>
              <a:lstStyle/>
              <a:p>
                <a:pPr marL="0" indent="0" algn="ctr">
                  <a:spcBef>
                    <a:spcPct val="0"/>
                  </a:spcBef>
                  <a:buNone/>
                </a:pPr>
                <a:r>
                  <a:rPr lang="en-US" altLang="zh-CN" sz="2800" dirty="0">
                    <a:solidFill>
                      <a:srgbClr val="FF0000"/>
                    </a:solidFill>
                    <a:ea typeface="隶书" panose="02010509060101010101" pitchFamily="49" charset="-122"/>
                    <a:cs typeface="+mj-cs"/>
                  </a:rPr>
                  <a:t>1.6.2   </a:t>
                </a:r>
                <a:r>
                  <a:rPr lang="zh-CN" altLang="zh-CN" sz="2800" dirty="0">
                    <a:solidFill>
                      <a:srgbClr val="FF0000"/>
                    </a:solidFill>
                    <a:ea typeface="隶书" panose="02010509060101010101" pitchFamily="49" charset="-122"/>
                    <a:cs typeface="+mj-cs"/>
                  </a:rPr>
                  <a:t>连续随机变量的分布</a:t>
                </a:r>
                <a:endParaRPr lang="en-US" altLang="zh-CN" sz="2800" dirty="0">
                  <a:solidFill>
                    <a:srgbClr val="FF0000"/>
                  </a:solidFill>
                  <a:ea typeface="隶书" panose="02010509060101010101" pitchFamily="49" charset="-122"/>
                  <a:cs typeface="+mj-cs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900"/>
                  </a:spcBef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1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、均匀分布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spcBef>
                    <a:spcPct val="0"/>
                  </a:spcBef>
                  <a:buNone/>
                </a:pPr>
                <a:r>
                  <a:rPr lang="en-US" altLang="zh-CN" sz="2400" dirty="0"/>
                  <a:t>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nor/>
                      </m:rPr>
                      <a:rPr lang="en-US" altLang="zh-CN" sz="2400"/>
                      <m:t> </m:t>
                    </m:r>
                    <m:r>
                      <m:rPr>
                        <m:nor/>
                      </m:rPr>
                      <a:rPr lang="en-US" altLang="zh-CN" sz="2400" b="1" i="0" smtClean="0"/>
                      <m:t>,</m:t>
                    </m:r>
                    <m:r>
                      <m:rPr>
                        <m:nor/>
                      </m:rPr>
                      <a:rPr lang="en-US" altLang="zh-CN" sz="2400"/>
                      <m:t>   </m:t>
                    </m:r>
                    <m:r>
                      <m:rPr>
                        <m:nor/>
                      </m:rPr>
                      <a:rPr lang="en-US" altLang="zh-CN" sz="2400" b="0" i="1"/>
                      <m:t>a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altLang="zh-CN" sz="2400" dirty="0"/>
                  <a:t>    </a:t>
                </a:r>
              </a:p>
              <a:p>
                <a:pPr marL="0" indent="0" algn="ctr">
                  <a:spcBef>
                    <a:spcPct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𝒖</m:t>
                              </m:r>
                            </m:e>
                          </m:d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nary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zh-CN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/>
                                  <m:t>        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zh-CN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num>
                                  <m:den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  <m:r>
                                  <m:rPr>
                                    <m:nor/>
                                  </m:rPr>
                                  <a:rPr lang="en-US" altLang="zh-CN" sz="2400"/>
                                  <m:t>        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400"/>
                                  <m:t>          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>
                                    <a:latin typeface="Cambria Math" panose="02040503050406030204" pitchFamily="18" charset="0"/>
                                  </a:rPr>
                                  <m:t>&gt;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spcBef>
                    <a:spcPct val="0"/>
                  </a:spcBef>
                  <a:buNone/>
                </a:pP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400" b="0" dirty="0"/>
                  <a:t>，</a:t>
                </a:r>
                <a:r>
                  <a:rPr lang="en-US" altLang="zh-CN" sz="24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zh-CN" altLang="zh-CN" sz="24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𝑗𝑣𝑏</m:t>
                            </m:r>
                          </m:sup>
                        </m:sSup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zh-CN" altLang="zh-CN" sz="24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𝑗𝑣𝑎</m:t>
                            </m:r>
                          </m:sup>
                        </m:sSup>
                      </m:num>
                      <m:den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𝑗𝑣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en-US" altLang="zh-CN" sz="2400" b="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zh-CN" sz="2400" dirty="0"/>
                  <a:t>如</a:t>
                </a:r>
                <a:r>
                  <a:rPr lang="zh-CN" altLang="en-US" sz="2400" dirty="0"/>
                  <a:t>正弦</a:t>
                </a:r>
                <a:r>
                  <a:rPr lang="zh-CN" altLang="zh-CN" sz="2400" dirty="0"/>
                  <a:t>信号的相位一般服从均匀分布</a:t>
                </a:r>
                <a:r>
                  <a:rPr lang="zh-CN" altLang="en-US" sz="2400" dirty="0"/>
                  <a:t>。</a:t>
                </a:r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247072" y="620688"/>
                <a:ext cx="8649855" cy="4079396"/>
              </a:xfrm>
              <a:blipFill>
                <a:blip r:embed="rId2"/>
                <a:stretch>
                  <a:fillRect l="-1128" t="-2093" b="-301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3108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395536" y="620688"/>
                <a:ext cx="8437418" cy="424971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2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、指数分布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  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（无记忆性）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nor/>
                      </m:rPr>
                      <a:rPr lang="en-US" altLang="zh-CN" sz="2400"/>
                      <m:t>  </m:t>
                    </m:r>
                    <m:r>
                      <m:rPr>
                        <m:nor/>
                      </m:rPr>
                      <a:rPr lang="en-US" altLang="zh-CN" sz="2400" b="1" i="0" smtClean="0"/>
                      <m:t>,</m:t>
                    </m:r>
                    <m:r>
                      <m:rPr>
                        <m:nor/>
                      </m:rPr>
                      <a:rPr lang="en-US" altLang="zh-CN" sz="2400"/>
                      <m:t> 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altLang="zh-CN" sz="2400" dirty="0"/>
                  <a:t> ,   (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&gt;0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zh-CN" sz="2400" i="1">
                        <a:latin typeface="Cambria Math" panose="02040503050406030204" pitchFamily="18" charset="0"/>
                      </a:rPr>
                      <m:t>常数）</m:t>
                    </m:r>
                  </m:oMath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}=</m:t>
                    </m:r>
                    <m:d>
                      <m:dPr>
                        <m:begChr m:val="{"/>
                        <m:endChr m:val=""/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2400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nor/>
                              </m:rPr>
                              <a:rPr lang="en-US" altLang="zh-CN" sz="240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CN" sz="2400" b="1" i="0" smtClean="0"/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altLang="zh-CN" sz="2400"/>
                              <m:t>             </m:t>
                            </m:r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&lt;0</m:t>
                            </m:r>
                            <m:r>
                              <a:rPr lang="en-US" altLang="zh-CN" sz="2400" b="1" i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zh-CN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nor/>
                              </m:rPr>
                              <a:rPr lang="en-US" altLang="zh-CN" sz="240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CN" sz="2400" b="1" i="0" smtClean="0"/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altLang="zh-CN" sz="2400"/>
                              <m:t>   </m:t>
                            </m:r>
                            <m:r>
                              <a:rPr lang="en-US" altLang="zh-CN" sz="2400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>
                                <a:latin typeface="Cambria Math" panose="02040503050406030204" pitchFamily="18" charset="0"/>
                              </a:rPr>
                              <m:t>≥0</m:t>
                            </m:r>
                            <m:r>
                              <a:rPr lang="en-US" altLang="zh-CN" sz="2400" b="1" i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sz="2400" dirty="0"/>
                  <a:t> </a:t>
                </a:r>
                <a:r>
                  <a:rPr lang="zh-CN" altLang="zh-CN" sz="2400" dirty="0"/>
                  <a:t>，</a:t>
                </a:r>
                <a:endParaRPr lang="en-US" altLang="zh-CN" sz="2400" dirty="0"/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}=1−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}=</m:t>
                    </m:r>
                    <m:sSup>
                      <m:sSup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latin typeface="Cambria Math" panose="02040503050406030204" pitchFamily="18" charset="0"/>
                      </a:rPr>
                      <m:t>,(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≥0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zh-CN" sz="2400" dirty="0"/>
              </a:p>
              <a:p>
                <a:pPr marL="0" indent="0">
                  <a:spcBef>
                    <a:spcPts val="900"/>
                  </a:spcBef>
                  <a:spcAft>
                    <a:spcPts val="450"/>
                  </a:spcAft>
                  <a:buNone/>
                </a:pPr>
                <a14:m>
                  <m:oMath xmlns:m="http://schemas.openxmlformats.org/officeDocument/2006/math"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r>
                  <a:rPr lang="en-US" altLang="zh-CN" sz="2400" b="0" dirty="0"/>
                  <a:t> </a:t>
                </a:r>
                <a:r>
                  <a:rPr lang="zh-CN" altLang="en-US" sz="2400" b="0" dirty="0"/>
                  <a:t>，</a:t>
                </a:r>
                <a:r>
                  <a:rPr lang="en-US" altLang="zh-CN" sz="2400" b="0" dirty="0"/>
                  <a:t>        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b="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2400" b="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]=</m:t>
                    </m:r>
                  </m:oMath>
                </a14:m>
                <a:r>
                  <a:rPr lang="en-US" altLang="zh-CN" sz="2400" b="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zh-CN" altLang="zh-CN" sz="2400" b="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2400" b="0" dirty="0"/>
                  <a:t>，     </a:t>
                </a:r>
                <a:r>
                  <a:rPr lang="zh-CN" altLang="zh-CN" sz="24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b="0" i="1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24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zh-CN" altLang="zh-CN" sz="2400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𝑗𝑣</m:t>
                            </m:r>
                          </m:num>
                          <m:den>
                            <m:r>
                              <a:rPr lang="en-US" altLang="zh-CN" sz="2400" b="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den>
                        </m:f>
                      </m:den>
                    </m:f>
                  </m:oMath>
                </a14:m>
                <a:endParaRPr lang="zh-CN" altLang="zh-CN" sz="2400" b="0" dirty="0"/>
              </a:p>
              <a:p>
                <a:pPr marL="0" indent="0">
                  <a:buNone/>
                </a:pPr>
                <a:r>
                  <a:rPr lang="zh-CN" altLang="zh-CN" sz="2400" dirty="0"/>
                  <a:t>指数分布常用作寿命的分布，元器件的寿命，服务台的服务时间等。</a:t>
                </a:r>
              </a:p>
              <a:p>
                <a:pPr marL="0" indent="0">
                  <a:buNone/>
                </a:pPr>
                <a:r>
                  <a:rPr lang="zh-CN" altLang="zh-CN" sz="2400" dirty="0"/>
                  <a:t>指数分布具有无记忆性。</a:t>
                </a:r>
                <a:r>
                  <a:rPr lang="en-US" altLang="zh-CN" sz="2400" dirty="0"/>
                  <a:t>  </a:t>
                </a:r>
                <a:endParaRPr lang="zh-CN" altLang="zh-CN" sz="240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395536" y="620688"/>
                <a:ext cx="8437418" cy="4249713"/>
              </a:xfrm>
              <a:blipFill>
                <a:blip r:embed="rId3"/>
                <a:stretch>
                  <a:fillRect l="-1156" t="-1578" b="-101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4955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>
                <p:custDataLst>
                  <p:tags r:id="rId1"/>
                </p:custDataLst>
              </p:nvPr>
            </p:nvSpPr>
            <p:spPr>
              <a:xfrm>
                <a:off x="285008" y="1920240"/>
                <a:ext cx="8559139" cy="258888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pPr defTabSz="685800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2400" dirty="0">
                    <a:solidFill>
                      <a:srgbClr val="0070C0"/>
                    </a:solidFill>
                    <a:highlight>
                      <a:srgbClr val="FFFF00"/>
                    </a:highlight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指数分布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的随机变量</a:t>
                </a:r>
                <a:r>
                  <a:rPr lang="en-US" altLang="zh-CN" sz="2400" i="1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X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的概率分布函数为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𝐹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𝑥</m:t>
                        </m:r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=1−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−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𝑎𝑥</m:t>
                        </m:r>
                      </m:sup>
                    </m:sSup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(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𝑥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≥0,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𝑎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&gt;0</m:t>
                    </m:r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)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,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试计算：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𝑋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  <m:t>&gt;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  <m:t>𝑡</m:t>
                        </m:r>
                      </m:e>
                    </m:d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和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𝑋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&gt;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  <m:t>𝑡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  <m:t>+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  <m:t>𝑠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  <m:t>|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  <m:t>𝑋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  <m:t>&gt;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  <m:t>𝑠</m:t>
                        </m:r>
                      </m:e>
                    </m:d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,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𝑠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&gt;0,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𝑡</m:t>
                    </m:r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&gt;0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，为常数。</m:t>
                    </m:r>
                  </m:oMath>
                </a14:m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pPr defTabSz="685800" fontAlgn="auto">
                  <a:lnSpc>
                    <a:spcPct val="20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zh-CN" altLang="en-US" sz="195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"/>
                </p:custDataLst>
              </p:nvPr>
            </p:nvSpPr>
            <p:spPr>
              <a:xfrm>
                <a:off x="285008" y="1920240"/>
                <a:ext cx="8559139" cy="2588880"/>
              </a:xfrm>
              <a:prstGeom prst="rect">
                <a:avLst/>
              </a:prstGeom>
              <a:blipFill>
                <a:blip r:embed="rId4"/>
                <a:stretch>
                  <a:fillRect l="-1140" r="-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29825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493CCCD4-8971-4E4F-8A61-F1D240E1DBB0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7200" y="836712"/>
                <a:ext cx="8507287" cy="4794419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解：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 </m:t>
                      </m:r>
                    </m:oMath>
                  </m:oMathPara>
                </a14:m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𝑷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𝑿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  <m:t>&gt;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  <m:t>𝒕</m:t>
                        </m:r>
                      </m:e>
                    </m:d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𝟏</m:t>
                    </m:r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−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𝑷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𝑿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  <m:t>≤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  <m:t>𝒕</m:t>
                        </m:r>
                      </m:e>
                    </m:d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=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𝟏</m:t>
                    </m:r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−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𝑭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𝑿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𝒕</m:t>
                        </m:r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𝒆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−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𝒂𝒕</m:t>
                        </m:r>
                      </m:sup>
                    </m:sSup>
                  </m:oMath>
                </a14:m>
                <a:r>
                  <a:rPr lang="en-US" altLang="zh-CN" sz="2400" i="1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𝑷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𝑿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&gt;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𝒕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+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𝒔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|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𝑿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&gt;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  <m:t>𝒕</m:t>
                          </m:r>
                        </m:e>
                      </m:d>
                      <m:r>
                        <a:rPr lang="en-US" altLang="zh-CN" sz="24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𝑷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𝑿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&gt;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𝒕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𝒔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,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𝑿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&gt;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𝒕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𝑷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𝑿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&gt;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𝒕</m:t>
                              </m:r>
                            </m:e>
                          </m:d>
                        </m:den>
                      </m:f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Microsoft Yahei" panose="020B0503020204020204" pitchFamily="34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Microsoft Yahei" panose="020B0503020204020204" pitchFamily="34" charset="-122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𝑷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𝑿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&gt;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𝒕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𝒔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sym typeface="Microsoft Yahei" panose="020B0503020204020204" pitchFamily="34" charset="-122"/>
                            </a:rPr>
                            <m:t>𝑷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sym typeface="Microsoft Yahei" panose="020B0503020204020204" pitchFamily="34" charset="-122"/>
                                </a:rPr>
                                <m:t>𝑿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&gt;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sym typeface="Microsoft Yahei" panose="020B0503020204020204" pitchFamily="34" charset="-122"/>
                                </a:rPr>
                                <m:t>𝒕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  <a:sym typeface="Microsoft Yahei" panose="020B0503020204020204" pitchFamily="34" charset="-12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>
                    <a:solidFill>
                      <a:srgbClr val="000000"/>
                    </a:solidFill>
                    <a:ea typeface="Cambria Math" panose="02040503050406030204" pitchFamily="18" charset="0"/>
                    <a:sym typeface="Microsoft Yahei" panose="020B0503020204020204" pitchFamily="34" charset="-122"/>
                  </a:rPr>
                  <a:t>                               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=</m:t>
                    </m:r>
                    <m:f>
                      <m:f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Microsoft Yahei" panose="020B0503020204020204" pitchFamily="34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𝒂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(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𝒕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+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𝒔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)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𝒆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−</m:t>
                            </m:r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Microsoft Yahei" panose="020B0503020204020204" pitchFamily="34" charset="-122"/>
                              </a:rPr>
                              <m:t>𝒂𝒕</m:t>
                            </m:r>
                          </m:sup>
                        </m:sSup>
                      </m:den>
                    </m:f>
                  </m:oMath>
                </a14:m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>
                    <a:solidFill>
                      <a:srgbClr val="000000"/>
                    </a:solidFill>
                    <a:ea typeface="Cambria Math" panose="02040503050406030204" pitchFamily="18" charset="0"/>
                    <a:sym typeface="Microsoft Yahei" panose="020B0503020204020204" pitchFamily="34" charset="-122"/>
                  </a:rPr>
                  <a:t>                          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Microsoft Yahei" panose="020B0503020204020204" pitchFamily="34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𝒆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−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𝒂</m:t>
                        </m:r>
                        <m:r>
                          <m:rPr>
                            <m:sty m:val="p"/>
                          </m:r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Microsoft Yahei" panose="020B0503020204020204" pitchFamily="34" charset="-122"/>
                          </a:rPr>
                          <m:t>s</m:t>
                        </m:r>
                      </m:sup>
                    </m:sSup>
                  </m:oMath>
                </a14:m>
                <a:endParaRPr lang="en-US" altLang="zh-CN" sz="2400" dirty="0">
                  <a:solidFill>
                    <a:srgbClr val="000000"/>
                  </a:solidFill>
                  <a:ea typeface="Cambria Math" panose="02040503050406030204" pitchFamily="18" charset="0"/>
                  <a:sym typeface="Microsoft Yahei" panose="020B0503020204020204" pitchFamily="34" charset="-122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>
                    <a:highlight>
                      <a:srgbClr val="FFFF00"/>
                    </a:highlight>
                  </a:rPr>
                  <a:t>*  </a:t>
                </a:r>
                <a:r>
                  <a:rPr lang="zh-CN" altLang="en-US" sz="2400" dirty="0">
                    <a:highlight>
                      <a:srgbClr val="FFFF00"/>
                    </a:highlight>
                  </a:rPr>
                  <a:t>指数分布的无记忆性。</a:t>
                </a:r>
                <a:endParaRPr lang="en-US" altLang="zh-CN" sz="2400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493CCCD4-8971-4E4F-8A61-F1D240E1DB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0" y="836712"/>
                <a:ext cx="8507287" cy="4794419"/>
              </a:xfrm>
              <a:blipFill>
                <a:blip r:embed="rId3"/>
                <a:stretch>
                  <a:fillRect l="-10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5123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179512" y="-99392"/>
                <a:ext cx="8462819" cy="429457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x-none" altLang="zh-CN" sz="2800" dirty="0">
                    <a:solidFill>
                      <a:srgbClr val="FF0000"/>
                    </a:solidFill>
                  </a:rPr>
                  <a:t>3</a:t>
                </a:r>
                <a:r>
                  <a:rPr lang="zh-CN" altLang="zh-CN" sz="2800" dirty="0">
                    <a:solidFill>
                      <a:srgbClr val="FF0000"/>
                    </a:solidFill>
                  </a:rPr>
                  <a:t>．高斯</a:t>
                </a:r>
                <a:r>
                  <a:rPr lang="x-none" altLang="zh-CN" sz="2800" dirty="0">
                    <a:solidFill>
                      <a:srgbClr val="FF0000"/>
                    </a:solidFill>
                  </a:rPr>
                  <a:t>(</a:t>
                </a:r>
                <a:r>
                  <a:rPr lang="zh-CN" altLang="zh-CN" sz="2800" dirty="0">
                    <a:solidFill>
                      <a:srgbClr val="FF0000"/>
                    </a:solidFill>
                  </a:rPr>
                  <a:t>正态</a:t>
                </a:r>
                <a:r>
                  <a:rPr lang="x-none" altLang="zh-CN" sz="2800" dirty="0">
                    <a:solidFill>
                      <a:srgbClr val="FF0000"/>
                    </a:solidFill>
                  </a:rPr>
                  <a:t>)</a:t>
                </a:r>
                <a:r>
                  <a:rPr lang="zh-CN" altLang="zh-CN" sz="2800" dirty="0">
                    <a:solidFill>
                      <a:srgbClr val="FF0000"/>
                    </a:solidFill>
                  </a:rPr>
                  <a:t>分布</a:t>
                </a:r>
                <a14:m>
                  <m:oMath xmlns:m="http://schemas.openxmlformats.org/officeDocument/2006/math">
                    <m:r>
                      <a:rPr lang="en-US" altLang="zh-CN" sz="2800" b="1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endParaRPr lang="en-US" altLang="zh-CN" sz="2800" b="1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zh-CN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  <m:sSub>
                          <m:sSubPr>
                            <m:ctrlPr>
                              <a:rPr lang="zh-CN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zh-CN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zh-CN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</m:sSub>
                            <m:sSup>
                              <m:sSupPr>
                                <m:ctrlPr>
                                  <a:rPr lang="zh-CN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zh-CN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  <m:sup>
                                <m:r>
                                  <a:rPr lang="en-US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sup>
                    </m:sSup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,−∞&lt;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&lt;∞</m:t>
                    </m:r>
                  </m:oMath>
                </a14:m>
                <a:r>
                  <a:rPr lang="zh-CN" altLang="zh-CN" sz="2400" b="0" dirty="0">
                    <a:solidFill>
                      <a:srgbClr val="000000"/>
                    </a:solidFill>
                  </a:rPr>
                  <a:t>，表示为</a:t>
                </a:r>
                <a14:m>
                  <m:oMath xmlns:m="http://schemas.openxmlformats.org/officeDocument/2006/math"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zh-CN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zh-CN" sz="2400" b="0" dirty="0">
                    <a:solidFill>
                      <a:srgbClr val="000000"/>
                    </a:solidFill>
                  </a:rPr>
                  <a:t>。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b="0" dirty="0">
                    <a:solidFill>
                      <a:srgbClr val="FF0000"/>
                    </a:solidFill>
                  </a:rPr>
                  <a:t>1</a:t>
                </a:r>
                <a:r>
                  <a:rPr lang="zh-CN" altLang="zh-CN" sz="2400" b="0" dirty="0">
                    <a:solidFill>
                      <a:srgbClr val="FF0000"/>
                    </a:solidFill>
                  </a:rPr>
                  <a:t>）概率分布函数的表示</a:t>
                </a:r>
                <a:endParaRPr lang="en-US" altLang="zh-CN" sz="2400" b="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US" altLang="zh-CN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ctrlPr>
                            <a:rPr lang="zh-CN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−∞</m:t>
                          </m:r>
                        </m:sub>
                        <m:sup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𝑑𝑢</m:t>
                          </m:r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zh-CN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altLang="zh-CN" sz="2400" b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erf</m:t>
                          </m:r>
                          <m:r>
                            <a:rPr lang="en-US" altLang="zh-CN" sz="2400" b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⁡</m:t>
                          </m:r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zh-CN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zh-CN" altLang="zh-CN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CN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</m:rad>
                              <m:sSub>
                                <m:sSubPr>
                                  <m:ctrlPr>
                                    <a:rPr lang="zh-CN" altLang="zh-CN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lang="en-US" altLang="zh-CN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altLang="zh-CN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𝛷</m:t>
                      </m:r>
                      <m:d>
                        <m:dPr>
                          <m:ctrlPr>
                            <a:rPr lang="zh-CN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zh-CN" altLang="zh-CN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altLang="zh-CN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zh-CN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𝑒𝑟𝑓𝑐</m:t>
                      </m:r>
                      <m:r>
                        <a:rPr lang="en-US" altLang="zh-CN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zh-CN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</m:rad>
                          <m:sSub>
                            <m:sSubPr>
                              <m:ctrlPr>
                                <a:rPr lang="zh-CN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den>
                      </m:f>
                      <m:r>
                        <a:rPr lang="en-US" altLang="zh-CN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en-US" altLang="zh-CN" sz="2400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lvl="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a:rPr lang="zh-CN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误差函数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             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𝑒𝑟𝑓</m:t>
                    </m:r>
                    <m:d>
                      <m:dPr>
                        <m:ctrlP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zh-CN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nary>
                      <m:naryPr>
                        <m:ctrlPr>
                          <a:rPr lang="zh-CN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sSupPr>
                            <m:ctrlPr>
                              <a:rPr lang="zh-CN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zh-CN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US" altLang="zh-CN" sz="2400" b="0" i="1" dirty="0">
                  <a:solidFill>
                    <a:srgbClr val="000000"/>
                  </a:solidFill>
                </a:endParaRPr>
              </a:p>
              <a:p>
                <a:pPr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2400" b="0" dirty="0">
                        <a:solidFill>
                          <a:srgbClr val="000000"/>
                        </a:solidFill>
                      </a:rPr>
                      <m:t>互补误差函数</m:t>
                    </m:r>
                    <m:r>
                      <a:rPr lang="en-US" altLang="zh-CN" sz="24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    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𝑒𝑟𝑓𝑐</m:t>
                    </m:r>
                    <m:r>
                      <a:rPr lang="en-US" altLang="zh-CN" sz="2400" b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zh-CN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nary>
                      <m:naryPr>
                        <m:ctrlPr>
                          <a:rPr lang="zh-CN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zh-CN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zh-CN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US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sup>
                        </m:sSup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r>
                      <m:rPr>
                        <m:nor/>
                      </m:rPr>
                      <a:rPr lang="en-US" altLang="zh-CN" sz="2400" b="0">
                        <a:solidFill>
                          <a:srgbClr val="000000"/>
                        </a:solidFill>
                      </a:rPr>
                      <m:t>erf</m:t>
                    </m:r>
                    <m:r>
                      <a:rPr lang="en-US" altLang="zh-CN" sz="2400" b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b="0" dirty="0">
                    <a:solidFill>
                      <a:srgbClr val="000000"/>
                    </a:solidFill>
                  </a:rPr>
                  <a:t> </a:t>
                </a:r>
                <a:endParaRPr lang="zh-CN" altLang="zh-CN" sz="2400" b="0" dirty="0">
                  <a:solidFill>
                    <a:srgbClr val="000000"/>
                  </a:solidFill>
                </a:endParaRPr>
              </a:p>
              <a:p>
                <a:pPr lvl="0">
                  <a:buFont typeface="Wingdings" panose="05000000000000000000" pitchFamily="2" charset="2"/>
                  <a:buChar char="u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400" b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Q</m:t>
                    </m:r>
                    <m:r>
                      <m:rPr>
                        <m:nor/>
                      </m:rPr>
                      <a:rPr lang="en-US" altLang="zh-CN" sz="24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US" altLang="zh-CN" sz="24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US" altLang="zh-CN" sz="2400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zh-CN" altLang="en-US" sz="2400" b="0" dirty="0" smtClean="0">
                        <a:solidFill>
                          <a:srgbClr val="FF0000"/>
                        </a:solidFill>
                      </a:rPr>
                      <m:t>函数</m:t>
                    </m:r>
                    <m:r>
                      <a:rPr lang="en-US" altLang="zh-CN" sz="24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     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𝛷</m:t>
                    </m:r>
                    <m:d>
                      <m:dPr>
                        <m:ctrlP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zh-CN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nary>
                      <m:naryPr>
                        <m:ctrlPr>
                          <a:rPr lang="zh-CN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sSupPr>
                            <m:ctrlPr>
                              <a:rPr lang="zh-CN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zh-CN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zh-CN" altLang="zh-CN" sz="24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4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US" altLang="zh-CN" sz="24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n-US" altLang="zh-CN" sz="2400" b="0" dirty="0">
                    <a:solidFill>
                      <a:srgbClr val="00000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endParaRPr lang="zh-CN" altLang="en-US" sz="240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179512" y="-99392"/>
                <a:ext cx="8462819" cy="4294573"/>
              </a:xfrm>
              <a:blipFill>
                <a:blip r:embed="rId3"/>
                <a:stretch>
                  <a:fillRect l="-1440" t="-1989" b="-43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7508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827584" y="548680"/>
                <a:ext cx="6636326" cy="4038600"/>
              </a:xfrm>
            </p:spPr>
            <p:txBody>
              <a:bodyPr/>
              <a:lstStyle/>
              <a:p>
                <a:pPr marL="0" indent="0">
                  <a:lnSpc>
                    <a:spcPct val="80000"/>
                  </a:lnSpc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2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）特征函数和矩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marL="0" indent="0">
                  <a:lnSpc>
                    <a:spcPct val="80000"/>
                  </a:lnSpc>
                  <a:buNone/>
                </a:pP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80000"/>
                  </a:lnSpc>
                  <a:spcBef>
                    <a:spcPts val="900"/>
                  </a:spcBef>
                  <a:spcAft>
                    <a:spcPts val="450"/>
                  </a:spcAft>
                  <a:buFont typeface="Wingdings" panose="05000000000000000000" pitchFamily="2" charset="2"/>
                  <a:buChar char="p"/>
                </a:pPr>
                <a:r>
                  <a:rPr lang="zh-CN" altLang="zh-CN" sz="2400" b="0" dirty="0">
                    <a:solidFill>
                      <a:srgbClr val="000000"/>
                    </a:solidFill>
                  </a:rPr>
                  <a:t>对标准正态分布变量，其特征函数为</a:t>
                </a:r>
                <a:endParaRPr lang="en-US" altLang="zh-CN" sz="2400" b="0" dirty="0">
                  <a:solidFill>
                    <a:srgbClr val="000000"/>
                  </a:solidFill>
                </a:endParaRPr>
              </a:p>
              <a:p>
                <a:pPr marL="0" indent="0">
                  <a:lnSpc>
                    <a:spcPct val="80000"/>
                  </a:lnSpc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en-US" altLang="zh-CN" sz="2400" b="0" dirty="0">
                    <a:solidFill>
                      <a:srgbClr val="000000"/>
                    </a:solidFill>
                  </a:rPr>
                  <a:t>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zh-CN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zh-CN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lang="zh-CN" altLang="zh-CN" sz="2400" b="0" dirty="0">
                    <a:solidFill>
                      <a:srgbClr val="000000"/>
                    </a:solidFill>
                  </a:rPr>
                  <a:t>，</a:t>
                </a:r>
                <a:endParaRPr lang="en-US" altLang="zh-CN" sz="2400" b="0" dirty="0">
                  <a:solidFill>
                    <a:srgbClr val="000000"/>
                  </a:solidFill>
                </a:endParaRPr>
              </a:p>
              <a:p>
                <a:pPr marL="0" indent="0">
                  <a:lnSpc>
                    <a:spcPct val="80000"/>
                  </a:lnSpc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en-US" altLang="zh-CN" sz="2400" b="0" i="1" dirty="0">
                    <a:solidFill>
                      <a:srgbClr val="000000"/>
                    </a:solidFill>
                  </a:rPr>
                  <a:t>n</a:t>
                </a:r>
                <a:r>
                  <a:rPr lang="zh-CN" altLang="zh-CN" sz="2400" b="0" dirty="0">
                    <a:solidFill>
                      <a:srgbClr val="000000"/>
                    </a:solidFill>
                  </a:rPr>
                  <a:t>阶原点矩</a:t>
                </a:r>
                <a:r>
                  <a:rPr lang="en-US" altLang="zh-CN" sz="2400" b="0" dirty="0">
                    <a:solidFill>
                      <a:srgbClr val="000000"/>
                    </a:solidFill>
                  </a:rPr>
                  <a:t> </a:t>
                </a:r>
              </a:p>
              <a:p>
                <a:pPr marL="0" indent="0">
                  <a:lnSpc>
                    <a:spcPct val="80000"/>
                  </a:lnSpc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en-US" altLang="zh-CN" sz="2400" b="0" dirty="0">
                    <a:solidFill>
                      <a:srgbClr val="000000"/>
                    </a:solidFill>
                  </a:rPr>
                  <a:t>               </a:t>
                </a:r>
                <a14:m>
                  <m:oMath xmlns:m="http://schemas.openxmlformats.org/officeDocument/2006/math"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zh-CN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zh-CN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nary>
                      <m:naryPr>
                        <m:ctrlPr>
                          <a:rPr lang="zh-CN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zh-CN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sSup>
                      <m:sSupPr>
                        <m:ctrlPr>
                          <a:rPr lang="zh-CN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zh-CN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endParaRPr lang="en-US" altLang="zh-CN" sz="2400" b="0" dirty="0">
                  <a:solidFill>
                    <a:srgbClr val="000000"/>
                  </a:solidFill>
                </a:endParaRPr>
              </a:p>
              <a:p>
                <a:pPr marL="0" indent="0">
                  <a:lnSpc>
                    <a:spcPct val="80000"/>
                  </a:lnSpc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zh-CN" altLang="zh-CN" sz="2400" b="0" dirty="0">
                    <a:solidFill>
                      <a:srgbClr val="000000"/>
                    </a:solidFill>
                  </a:rPr>
                  <a:t>当</a:t>
                </a:r>
                <a:r>
                  <a:rPr lang="en-US" altLang="zh-CN" sz="2400" b="0" i="1" dirty="0">
                    <a:solidFill>
                      <a:srgbClr val="000000"/>
                    </a:solidFill>
                  </a:rPr>
                  <a:t>n</a:t>
                </a:r>
                <a:r>
                  <a:rPr lang="zh-CN" altLang="zh-CN" sz="2400" b="0" dirty="0">
                    <a:solidFill>
                      <a:srgbClr val="000000"/>
                    </a:solidFill>
                  </a:rPr>
                  <a:t>为奇数时，被积函数为奇函数，积分为</a:t>
                </a:r>
                <a:r>
                  <a:rPr lang="en-US" altLang="zh-CN" sz="2400" b="0" dirty="0">
                    <a:solidFill>
                      <a:srgbClr val="000000"/>
                    </a:solidFill>
                  </a:rPr>
                  <a:t>0</a:t>
                </a:r>
                <a:r>
                  <a:rPr lang="zh-CN" altLang="zh-CN" sz="2400" b="0" dirty="0">
                    <a:solidFill>
                      <a:srgbClr val="000000"/>
                    </a:solidFill>
                  </a:rPr>
                  <a:t>，矩为</a:t>
                </a:r>
                <a:r>
                  <a:rPr lang="en-US" altLang="zh-CN" sz="2400" b="0" dirty="0">
                    <a:solidFill>
                      <a:srgbClr val="000000"/>
                    </a:solidFill>
                  </a:rPr>
                  <a:t>0</a:t>
                </a:r>
                <a:r>
                  <a:rPr lang="zh-CN" altLang="zh-CN" sz="2400" b="0" dirty="0">
                    <a:solidFill>
                      <a:srgbClr val="000000"/>
                    </a:solidFill>
                  </a:rPr>
                  <a:t>；</a:t>
                </a:r>
                <a:endParaRPr lang="en-US" altLang="zh-CN" sz="2400" b="0" dirty="0">
                  <a:solidFill>
                    <a:srgbClr val="000000"/>
                  </a:solidFill>
                </a:endParaRPr>
              </a:p>
              <a:p>
                <a:pPr marL="0" indent="0">
                  <a:lnSpc>
                    <a:spcPct val="80000"/>
                  </a:lnSpc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zh-CN" altLang="zh-CN" sz="2400" b="0" dirty="0">
                    <a:solidFill>
                      <a:srgbClr val="000000"/>
                    </a:solidFill>
                  </a:rPr>
                  <a:t>当</a:t>
                </a:r>
                <a:r>
                  <a:rPr lang="en-US" altLang="zh-CN" sz="2400" b="0" dirty="0">
                    <a:solidFill>
                      <a:srgbClr val="000000"/>
                    </a:solidFill>
                  </a:rPr>
                  <a:t>n</a:t>
                </a:r>
                <a:r>
                  <a:rPr lang="zh-CN" altLang="zh-CN" sz="2400" b="0" dirty="0">
                    <a:solidFill>
                      <a:srgbClr val="000000"/>
                    </a:solidFill>
                  </a:rPr>
                  <a:t>为大于等于</a:t>
                </a:r>
                <a:r>
                  <a:rPr lang="en-US" altLang="zh-CN" sz="2400" b="0" dirty="0">
                    <a:solidFill>
                      <a:srgbClr val="000000"/>
                    </a:solidFill>
                  </a:rPr>
                  <a:t>2</a:t>
                </a:r>
                <a:r>
                  <a:rPr lang="zh-CN" altLang="zh-CN" sz="2400" b="0" dirty="0">
                    <a:solidFill>
                      <a:srgbClr val="000000"/>
                    </a:solidFill>
                  </a:rPr>
                  <a:t>的偶数时，有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en-US" altLang="zh-CN" sz="2400" b="0" dirty="0">
                    <a:solidFill>
                      <a:srgbClr val="000000"/>
                    </a:solidFill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sSupPr>
                        <m:ctrlPr>
                          <a:rPr lang="zh-CN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]=1⋅3⋅5⋅⋅⋅(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endParaRPr lang="zh-CN" altLang="zh-CN" sz="2400" b="0" dirty="0">
                  <a:solidFill>
                    <a:srgbClr val="000000"/>
                  </a:solidFill>
                </a:endParaRPr>
              </a:p>
              <a:p>
                <a:pPr>
                  <a:lnSpc>
                    <a:spcPct val="120000"/>
                  </a:lnSpc>
                  <a:spcBef>
                    <a:spcPts val="900"/>
                  </a:spcBef>
                  <a:spcAft>
                    <a:spcPts val="450"/>
                  </a:spcAft>
                  <a:buFont typeface="Wingdings" panose="05000000000000000000" pitchFamily="2" charset="2"/>
                  <a:buChar char="p"/>
                </a:pPr>
                <a:endParaRPr lang="zh-CN" altLang="zh-CN" sz="1650" b="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827584" y="548680"/>
                <a:ext cx="6636326" cy="4038600"/>
              </a:xfrm>
              <a:blipFill>
                <a:blip r:embed="rId2"/>
                <a:stretch>
                  <a:fillRect l="-1471" t="-3469" r="-643" b="-194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9153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323528" y="44624"/>
                <a:ext cx="8631381" cy="4038600"/>
              </a:xfrm>
            </p:spPr>
            <p:txBody>
              <a:bodyPr/>
              <a:lstStyle/>
              <a:p>
                <a:pPr marL="0" indent="0">
                  <a:lnSpc>
                    <a:spcPct val="80000"/>
                  </a:lnSpc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2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）特征函数和矩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20000"/>
                  </a:lnSpc>
                  <a:spcBef>
                    <a:spcPts val="900"/>
                  </a:spcBef>
                  <a:spcAft>
                    <a:spcPts val="450"/>
                  </a:spcAft>
                  <a:buFont typeface="Wingdings" panose="05000000000000000000" pitchFamily="2" charset="2"/>
                  <a:buChar char="p"/>
                </a:pPr>
                <a:r>
                  <a:rPr lang="zh-CN" altLang="zh-CN" sz="2400" b="0" dirty="0">
                    <a:solidFill>
                      <a:srgbClr val="000000"/>
                    </a:solidFill>
                  </a:rPr>
                  <a:t>当</a:t>
                </a:r>
                <a:r>
                  <a:rPr lang="en-US" altLang="zh-CN" sz="2400" b="0" i="1" dirty="0">
                    <a:solidFill>
                      <a:srgbClr val="000000"/>
                    </a:solidFill>
                  </a:rPr>
                  <a:t>Y</a:t>
                </a:r>
                <a:r>
                  <a:rPr lang="zh-CN" altLang="zh-CN" sz="2400" b="0" dirty="0">
                    <a:solidFill>
                      <a:srgbClr val="000000"/>
                    </a:solidFill>
                  </a:rPr>
                  <a:t>为均值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lang="zh-CN" altLang="zh-CN" sz="2400" b="0" dirty="0">
                    <a:solidFill>
                      <a:srgbClr val="000000"/>
                    </a:solidFill>
                  </a:rPr>
                  <a:t>、方差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  <m:sup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zh-CN" sz="2400" b="0" dirty="0">
                    <a:solidFill>
                      <a:srgbClr val="000000"/>
                    </a:solidFill>
                  </a:rPr>
                  <a:t>的高斯变量时，特征函数为</a:t>
                </a:r>
                <a:endParaRPr lang="en-US" altLang="zh-CN" sz="2400" b="0" dirty="0">
                  <a:solidFill>
                    <a:srgbClr val="000000"/>
                  </a:solidFill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en-US" altLang="zh-CN" sz="2400" b="0" dirty="0">
                    <a:solidFill>
                      <a:srgbClr val="000000"/>
                    </a:solidFill>
                  </a:rPr>
                  <a:t>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zh-CN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𝑗𝑣</m:t>
                        </m:r>
                        <m:sSub>
                          <m:sSubPr>
                            <m:ctrlPr>
                              <a:rPr lang="zh-CN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bSup>
                          <m:sSubSupPr>
                            <m:ctrlPr>
                              <a:rPr lang="zh-CN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  <m:sup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sSup>
                          <m:sSupPr>
                            <m:ctrlPr>
                              <a:rPr lang="zh-CN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lang="zh-CN" altLang="zh-CN" sz="2400" b="0" dirty="0">
                    <a:solidFill>
                      <a:srgbClr val="000000"/>
                    </a:solidFill>
                  </a:rPr>
                  <a:t>，</a:t>
                </a:r>
                <a:endParaRPr lang="en-US" altLang="zh-CN" sz="2400" b="0" dirty="0">
                  <a:solidFill>
                    <a:srgbClr val="000000"/>
                  </a:solidFill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zh-CN" altLang="zh-CN" sz="2400" b="0" dirty="0">
                    <a:solidFill>
                      <a:srgbClr val="000000"/>
                    </a:solidFill>
                  </a:rPr>
                  <a:t>将</a:t>
                </a:r>
                <a14:m>
                  <m:oMath xmlns:m="http://schemas.openxmlformats.org/officeDocument/2006/math"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zh-CN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zh-CN" sz="2400" b="0" dirty="0">
                    <a:solidFill>
                      <a:srgbClr val="000000"/>
                    </a:solidFill>
                  </a:rPr>
                  <a:t>代入，有</a:t>
                </a:r>
                <a:endParaRPr lang="en-US" altLang="zh-CN" sz="2400" b="0" dirty="0">
                  <a:solidFill>
                    <a:srgbClr val="000000"/>
                  </a:solidFill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90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</m:t>
                      </m:r>
                      <m:sSup>
                        <m:sSupPr>
                          <m:ctrlPr>
                            <a:rPr lang="zh-CN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r>
                        <a:rPr lang="en-US" altLang="zh-CN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zh-CN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CN" altLang="zh-CN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zh-CN" altLang="zh-CN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24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sub>
                              </m:sSub>
                            </m:den>
                          </m:f>
                          <m:sSup>
                            <m:sSupPr>
                              <m:ctrlPr>
                                <a:rPr lang="zh-CN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d>
                      <m:r>
                        <a:rPr lang="en-US" altLang="zh-CN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Sup>
                            <m:sSubSupPr>
                              <m:ctrlPr>
                                <a:rPr lang="zh-CN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  <m:sup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bSup>
                        </m:den>
                      </m:f>
                      <m:r>
                        <a:rPr lang="en-US" altLang="zh-CN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[(</m:t>
                      </m:r>
                      <m:r>
                        <a:rPr lang="en-US" altLang="zh-CN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sSup>
                        <m:sSupPr>
                          <m:ctrlPr>
                            <a:rPr lang="zh-CN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24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]=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zh-CN" sz="24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1⋅3⋅5⋅⋅⋅(</m:t>
                              </m:r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>
                                  <a:solidFill>
                                    <a:srgbClr val="000000"/>
                                  </a:solidFill>
                                </a:rPr>
                                <m:t>     </m:t>
                              </m:r>
                              <m:r>
                                <a:rPr lang="en-US" altLang="zh-CN" sz="24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2400" b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≥2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>
                                  <a:solidFill>
                                    <a:srgbClr val="000000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>
                                  <a:solidFill>
                                    <a:srgbClr val="000000"/>
                                  </a:solidFill>
                                </a:rPr>
                                <m:t>is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>
                                  <a:solidFill>
                                    <a:srgbClr val="000000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>
                                  <a:solidFill>
                                    <a:srgbClr val="000000"/>
                                  </a:solidFill>
                                </a:rPr>
                                <m:t>even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400" b="0">
                                  <a:solidFill>
                                    <a:srgbClr val="000000"/>
                                  </a:solidFill>
                                </a:rPr>
                                <m:t>0           ,                    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>
                                  <a:solidFill>
                                    <a:srgbClr val="000000"/>
                                  </a:solidFill>
                                </a:rPr>
                                <m:t>is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>
                                  <a:solidFill>
                                    <a:srgbClr val="000000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>
                                  <a:solidFill>
                                    <a:srgbClr val="000000"/>
                                  </a:solidFill>
                                </a:rPr>
                                <m:t>odd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zh-CN" sz="2400" b="0" dirty="0">
                  <a:solidFill>
                    <a:srgbClr val="000000"/>
                  </a:solidFill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zh-CN" altLang="zh-CN" sz="2400" b="0" dirty="0">
                    <a:solidFill>
                      <a:srgbClr val="000000"/>
                    </a:solidFill>
                  </a:rPr>
                  <a:t>故</a:t>
                </a:r>
                <a:r>
                  <a:rPr lang="en-US" altLang="zh-CN" sz="2400" b="0" i="1" dirty="0">
                    <a:solidFill>
                      <a:srgbClr val="000000"/>
                    </a:solidFill>
                  </a:rPr>
                  <a:t>Y</a:t>
                </a:r>
                <a:r>
                  <a:rPr lang="zh-CN" altLang="zh-CN" sz="2400" b="0" dirty="0">
                    <a:solidFill>
                      <a:srgbClr val="000000"/>
                    </a:solidFill>
                  </a:rPr>
                  <a:t>的</a:t>
                </a:r>
                <a:r>
                  <a:rPr lang="en-US" altLang="zh-CN" sz="2400" b="0" i="1" dirty="0">
                    <a:solidFill>
                      <a:srgbClr val="000000"/>
                    </a:solidFill>
                  </a:rPr>
                  <a:t>n</a:t>
                </a:r>
                <a:r>
                  <a:rPr lang="zh-CN" altLang="zh-CN" sz="2400" b="0" dirty="0">
                    <a:solidFill>
                      <a:srgbClr val="000000"/>
                    </a:solidFill>
                  </a:rPr>
                  <a:t>阶中心矩为</a:t>
                </a:r>
                <a14:m>
                  <m:oMath xmlns:m="http://schemas.openxmlformats.org/officeDocument/2006/math">
                    <m:r>
                      <a:rPr lang="en-US" altLang="zh-CN" sz="2400" b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altLang="zh-CN" sz="2400" b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en-US" altLang="zh-CN" sz="2400" b="0" dirty="0">
                    <a:solidFill>
                      <a:srgbClr val="000000"/>
                    </a:solidFill>
                  </a:rPr>
                  <a:t>              </a:t>
                </a:r>
                <a14:m>
                  <m:oMath xmlns:m="http://schemas.openxmlformats.org/officeDocument/2006/math">
                    <m:r>
                      <a:rPr lang="en-US" altLang="zh-CN" sz="2400" b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[(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zh-CN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sSup>
                      <m:sSupPr>
                        <m:ctrlPr>
                          <a:rPr lang="zh-CN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]=</m:t>
                    </m:r>
                    <m:d>
                      <m:dPr>
                        <m:begChr m:val="{"/>
                        <m:endChr m:val=""/>
                        <m:ctrlPr>
                          <a:rPr lang="zh-CN" altLang="zh-CN" sz="24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1⋅3⋅5⋅⋅⋅</m:t>
                            </m:r>
                            <m:d>
                              <m:dPr>
                                <m:ctrlPr>
                                  <a:rPr lang="en-US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sSubSup>
                              <m:sSubSupPr>
                                <m:ctrlPr>
                                  <a:rPr lang="zh-CN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sub>
                              <m:sup>
                                <m:r>
                                  <a:rPr lang="en-US" altLang="zh-CN" sz="2400" b="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bSup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    </m:t>
                            </m:r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400" b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≥2</m:t>
                            </m:r>
                            <m:r>
                              <m:rPr>
                                <m:nor/>
                              </m:rPr>
                              <a:rPr lang="en-US" altLang="zh-CN" sz="2400" b="0">
                                <a:solidFill>
                                  <a:srgbClr val="000000"/>
                                </a:solidFill>
                              </a:rPr>
                              <m:t>  </m:t>
                            </m:r>
                            <m:r>
                              <m:rPr>
                                <m:nor/>
                              </m:rPr>
                              <a:rPr lang="en-US" altLang="zh-CN" sz="2400" b="0">
                                <a:solidFill>
                                  <a:srgbClr val="000000"/>
                                </a:solidFill>
                              </a:rPr>
                              <m:t>is</m:t>
                            </m:r>
                            <m:r>
                              <m:rPr>
                                <m:nor/>
                              </m:rPr>
                              <a:rPr lang="en-US" altLang="zh-CN" sz="2400" b="0">
                                <a:solidFill>
                                  <a:srgbClr val="000000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CN" sz="2400" b="0">
                                <a:solidFill>
                                  <a:srgbClr val="000000"/>
                                </a:solidFill>
                              </a:rPr>
                              <m:t>even</m:t>
                            </m:r>
                            <m:r>
                              <m:rPr>
                                <m:nor/>
                              </m:rPr>
                              <a:rPr lang="en-US" altLang="zh-CN" sz="2400" b="0">
                                <a:solidFill>
                                  <a:srgbClr val="000000"/>
                                </a:solidFill>
                              </a:rPr>
                              <m:t> </m:t>
                            </m:r>
                          </m:e>
                          <m:e>
                            <m:r>
                              <m:rPr>
                                <m:nor/>
                              </m:rPr>
                              <a:rPr lang="en-US" altLang="zh-CN" sz="2400" b="0">
                                <a:solidFill>
                                  <a:srgbClr val="000000"/>
                                </a:solidFill>
                              </a:rPr>
                              <m:t>0                                 </m:t>
                            </m:r>
                            <m:r>
                              <a:rPr lang="en-US" altLang="zh-CN" sz="24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nor/>
                              </m:rPr>
                              <a:rPr lang="en-US" altLang="zh-CN" sz="2400" b="0">
                                <a:solidFill>
                                  <a:srgbClr val="000000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CN" sz="2400" b="0">
                                <a:solidFill>
                                  <a:srgbClr val="000000"/>
                                </a:solidFill>
                              </a:rPr>
                              <m:t>is</m:t>
                            </m:r>
                            <m:r>
                              <m:rPr>
                                <m:nor/>
                              </m:rPr>
                              <a:rPr lang="en-US" altLang="zh-CN" sz="2400" b="0">
                                <a:solidFill>
                                  <a:srgbClr val="000000"/>
                                </a:solidFill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altLang="zh-CN" sz="2400" b="0">
                                <a:solidFill>
                                  <a:srgbClr val="000000"/>
                                </a:solidFill>
                              </a:rPr>
                              <m:t>odd</m:t>
                            </m:r>
                            <m:r>
                              <m:rPr>
                                <m:nor/>
                              </m:rPr>
                              <a:rPr lang="en-US" altLang="zh-CN" sz="2400" b="0">
                                <a:solidFill>
                                  <a:srgbClr val="000000"/>
                                </a:solidFill>
                              </a:rPr>
                              <m:t> </m:t>
                            </m:r>
                          </m:e>
                        </m:eqArr>
                      </m:e>
                    </m:d>
                  </m:oMath>
                </a14:m>
                <a:endParaRPr lang="zh-CN" altLang="zh-CN" sz="2400" b="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323528" y="44624"/>
                <a:ext cx="8631381" cy="4038600"/>
              </a:xfrm>
              <a:blipFill>
                <a:blip r:embed="rId2"/>
                <a:stretch>
                  <a:fillRect l="-1059" t="-3469" b="-564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734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323528" y="260648"/>
                <a:ext cx="8255000" cy="4079396"/>
              </a:xfrm>
            </p:spPr>
            <p:txBody>
              <a:bodyPr/>
              <a:lstStyle/>
              <a:p>
                <a:pPr marL="0" indent="0">
                  <a:lnSpc>
                    <a:spcPct val="80000"/>
                  </a:lnSpc>
                  <a:buNone/>
                </a:pPr>
                <a:r>
                  <a:rPr lang="x-none" altLang="zh-CN" sz="2400" dirty="0">
                    <a:solidFill>
                      <a:srgbClr val="FF0000"/>
                    </a:solidFill>
                  </a:rPr>
                  <a:t>4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．瑞利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(Rayleigh)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分布</a:t>
                </a:r>
                <a:r>
                  <a:rPr lang="x-none" altLang="zh-CN" sz="2400" dirty="0">
                    <a:solidFill>
                      <a:srgbClr val="FF0000"/>
                    </a:solidFill>
                  </a:rPr>
                  <a:t>   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marL="0" indent="540000">
                  <a:lnSpc>
                    <a:spcPct val="150000"/>
                  </a:lnSpc>
                  <a:buNone/>
                </a:pPr>
                <a:r>
                  <a:rPr lang="zh-CN" altLang="zh-CN" sz="2400" dirty="0">
                    <a:solidFill>
                      <a:srgbClr val="000000"/>
                    </a:solidFill>
                  </a:rPr>
                  <a:t>无线信道上传输信号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包络</a:t>
                </a:r>
                <a:r>
                  <a:rPr lang="zh-CN" altLang="zh-CN" sz="2400" dirty="0">
                    <a:solidFill>
                      <a:srgbClr val="000000"/>
                    </a:solidFill>
                  </a:rPr>
                  <a:t>的统计特性</a:t>
                </a:r>
                <a:r>
                  <a:rPr lang="zh-CN" altLang="en-US" sz="2400" dirty="0">
                    <a:solidFill>
                      <a:srgbClr val="000000"/>
                    </a:solidFill>
                  </a:rPr>
                  <a:t>。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  <a:p>
                <a:pPr marL="0" indent="540000">
                  <a:lnSpc>
                    <a:spcPct val="150000"/>
                  </a:lnSpc>
                  <a:buNone/>
                </a:pPr>
                <a:r>
                  <a:rPr lang="en-US" altLang="zh-CN" sz="2400" i="1" dirty="0">
                    <a:solidFill>
                      <a:srgbClr val="000000"/>
                    </a:solidFill>
                  </a:rPr>
                  <a:t>X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</a:rPr>
                  <a:t>1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CN" sz="2400" i="1" dirty="0">
                    <a:solidFill>
                      <a:srgbClr val="000000"/>
                    </a:solidFill>
                  </a:rPr>
                  <a:t>X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</a:rPr>
                  <a:t>2   </a:t>
                </a:r>
                <a:r>
                  <a:rPr lang="zh-CN" altLang="zh-CN" sz="2400" dirty="0">
                    <a:solidFill>
                      <a:srgbClr val="000000"/>
                    </a:solidFill>
                  </a:rPr>
                  <a:t>零均值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, </a:t>
                </a:r>
                <a:r>
                  <a:rPr lang="zh-CN" altLang="zh-CN" sz="2400" dirty="0">
                    <a:solidFill>
                      <a:srgbClr val="000000"/>
                    </a:solidFill>
                  </a:rPr>
                  <a:t>统计独立的高斯随机变量</a:t>
                </a:r>
                <a:r>
                  <a:rPr lang="zh-CN" altLang="en-US" sz="2400" dirty="0">
                    <a:solidFill>
                      <a:srgbClr val="000000"/>
                    </a:solidFill>
                  </a:rPr>
                  <a:t>，则</a:t>
                </a:r>
                <a:endParaRPr lang="en-US" altLang="zh-CN" sz="2400" i="1" dirty="0">
                  <a:solidFill>
                    <a:srgbClr val="000000"/>
                  </a:solidFill>
                </a:endParaRPr>
              </a:p>
              <a:p>
                <a:pPr marL="0" indent="540000">
                  <a:lnSpc>
                    <a:spcPct val="150000"/>
                  </a:lnSpc>
                  <a:buNone/>
                </a:pPr>
                <a:r>
                  <a:rPr lang="en-US" altLang="zh-CN" sz="2400" dirty="0">
                    <a:solidFill>
                      <a:srgbClr val="000000"/>
                    </a:solidFill>
                  </a:rPr>
                  <a:t>     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zh-CN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zh-CN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zh-CN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</a:rPr>
                  <a:t> 为瑞利分布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  <a:p>
                <a:pPr marL="0" indent="54000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400">
                          <a:solidFill>
                            <a:srgbClr val="000000"/>
                          </a:solidFill>
                        </a:rPr>
                        <m:t>            </m:t>
                      </m:r>
                      <m:r>
                        <m:rPr>
                          <m:nor/>
                        </m:rPr>
                        <a:rPr lang="en-US" altLang="zh-CN" sz="2400">
                          <a:solidFill>
                            <a:srgbClr val="000000"/>
                          </a:solidFill>
                        </a:rPr>
                        <m:t>PDF</m:t>
                      </m:r>
                      <m:func>
                        <m:funcPr>
                          <m:ctrlPr>
                            <a:rPr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</m:fName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r>
                        <m:rPr>
                          <m:nor/>
                        </m:rPr>
                        <a:rPr lang="en-US" altLang="zh-CN" sz="2400">
                          <a:solidFill>
                            <a:srgbClr val="000000"/>
                          </a:solidFill>
                        </a:rPr>
                        <m:t>    </m:t>
                      </m:r>
                      <m:sSub>
                        <m:sSubPr>
                          <m:ctrlPr>
                            <a:rPr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sSup>
                        <m:sSupPr>
                          <m:ctrlPr>
                            <a:rPr lang="zh-CN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CN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lang="zh-CN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p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≥0, </m:t>
                      </m:r>
                    </m:oMath>
                  </m:oMathPara>
                </a14:m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     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]=</m:t>
                    </m:r>
                    <m:rad>
                      <m:radPr>
                        <m:degHide m:val="on"/>
                        <m:ctrlPr>
                          <a:rPr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zh-CN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num>
                          <m:den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        </m:t>
                    </m:r>
                    <m:r>
                      <a:rPr lang="en-US" altLang="zh-CN" sz="24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]= </m:t>
                    </m:r>
                    <m:sSup>
                      <m:sSupPr>
                        <m:ctrlPr>
                          <a:rPr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zh-CN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=(2−</m:t>
                    </m:r>
                    <m:f>
                      <m:fPr>
                        <m:ctrlPr>
                          <a:rPr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</a:rPr>
                  <a:t>      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>
                    <a:solidFill>
                      <a:srgbClr val="000000"/>
                    </a:solidFill>
                  </a:rPr>
                  <a:t>            </a:t>
                </a:r>
                <a:r>
                  <a:rPr lang="zh-CN" altLang="zh-CN" sz="2400" dirty="0">
                    <a:solidFill>
                      <a:srgbClr val="000000"/>
                    </a:solidFill>
                  </a:rPr>
                  <a:t>特征函数无简单形式</a:t>
                </a:r>
                <a:r>
                  <a:rPr lang="zh-CN" altLang="en-US" sz="2400" dirty="0">
                    <a:solidFill>
                      <a:srgbClr val="000000"/>
                    </a:solidFill>
                  </a:rPr>
                  <a:t>。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  <a:p>
                <a:pPr marL="0" indent="0">
                  <a:lnSpc>
                    <a:spcPct val="80000"/>
                  </a:lnSpc>
                  <a:buNone/>
                </a:pPr>
                <a:b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 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323528" y="260648"/>
                <a:ext cx="8255000" cy="4079396"/>
              </a:xfrm>
              <a:blipFill>
                <a:blip r:embed="rId2"/>
                <a:stretch>
                  <a:fillRect l="-1108" t="-3438" b="-45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003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457201" y="1325440"/>
                <a:ext cx="8255000" cy="4079396"/>
              </a:xfrm>
            </p:spPr>
            <p:txBody>
              <a:bodyPr/>
              <a:lstStyle/>
              <a:p>
                <a:pPr marL="0" indent="0">
                  <a:lnSpc>
                    <a:spcPct val="80000"/>
                  </a:lnSpc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5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、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 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莱斯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(</a:t>
                </a:r>
                <a:r>
                  <a:rPr lang="en-US" altLang="zh-CN" sz="2400" dirty="0" err="1">
                    <a:solidFill>
                      <a:srgbClr val="FF0000"/>
                    </a:solidFill>
                  </a:rPr>
                  <a:t>Ricean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)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分布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marL="0" indent="54000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en-US" altLang="zh-CN" sz="2400" i="1" dirty="0">
                    <a:solidFill>
                      <a:srgbClr val="000000"/>
                    </a:solidFill>
                  </a:rPr>
                  <a:t>X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</a:rPr>
                  <a:t>1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CN" sz="2400" i="1" dirty="0">
                    <a:solidFill>
                      <a:srgbClr val="000000"/>
                    </a:solidFill>
                  </a:rPr>
                  <a:t>X</a:t>
                </a:r>
                <a:r>
                  <a:rPr lang="en-US" altLang="zh-CN" sz="2400" baseline="-25000" dirty="0">
                    <a:solidFill>
                      <a:srgbClr val="000000"/>
                    </a:solidFill>
                  </a:rPr>
                  <a:t>2   </a:t>
                </a:r>
                <a:r>
                  <a:rPr lang="zh-CN" altLang="zh-CN" sz="2400" dirty="0">
                    <a:solidFill>
                      <a:srgbClr val="000000"/>
                    </a:solidFill>
                  </a:rPr>
                  <a:t>非零均值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</a:rPr>
                  <a:t>, </a:t>
                </a:r>
                <a:r>
                  <a:rPr lang="zh-CN" altLang="zh-CN" sz="2400" dirty="0">
                    <a:solidFill>
                      <a:srgbClr val="000000"/>
                    </a:solidFill>
                  </a:rPr>
                  <a:t>方差为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zh-CN" sz="2400" dirty="0">
                    <a:solidFill>
                      <a:srgbClr val="000000"/>
                    </a:solidFill>
                  </a:rPr>
                  <a:t>的高斯随机变量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  <a:p>
                <a:pPr marL="0" indent="540000">
                  <a:spcBef>
                    <a:spcPts val="900"/>
                  </a:spcBef>
                  <a:spcAft>
                    <a:spcPts val="450"/>
                  </a:spcAft>
                  <a:buNone/>
                </a:pPr>
                <a14:m>
                  <m:oMath xmlns:m="http://schemas.openxmlformats.org/officeDocument/2006/math">
                    <m:r>
                      <a:rPr lang="zh-CN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则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zh-CN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zh-CN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zh-CN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zh-CN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</a:rPr>
                  <a:t>  为 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Ricean</a:t>
                </a:r>
                <a:r>
                  <a:rPr lang="zh-CN" altLang="en-US" sz="2400" dirty="0">
                    <a:solidFill>
                      <a:srgbClr val="000000"/>
                    </a:solidFill>
                  </a:rPr>
                  <a:t>分布的随机变量</a:t>
                </a:r>
                <a:endParaRPr lang="en-US" altLang="zh-CN" sz="2400" dirty="0">
                  <a:solidFill>
                    <a:srgbClr val="000000"/>
                  </a:solidFill>
                </a:endParaRPr>
              </a:p>
              <a:p>
                <a:pPr marL="0" indent="540000">
                  <a:spcBef>
                    <a:spcPts val="900"/>
                  </a:spcBef>
                  <a:spcAft>
                    <a:spcPts val="450"/>
                  </a:spcAft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400">
                        <a:solidFill>
                          <a:srgbClr val="000000"/>
                        </a:solidFill>
                      </a:rPr>
                      <m:t>PDF</m:t>
                    </m:r>
                    <m:func>
                      <m:funcPr>
                        <m:ctrlPr>
                          <a:rPr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</m:fName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  <m:r>
                      <m:rPr>
                        <m:nor/>
                      </m:rPr>
                      <a:rPr lang="en-US" altLang="zh-CN" sz="2400">
                        <a:solidFill>
                          <a:srgbClr val="000000"/>
                        </a:solidFill>
                      </a:rPr>
                      <m:t>   </m:t>
                    </m:r>
                    <m:sSub>
                      <m:sSubPr>
                        <m:ctrlPr>
                          <a:rPr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sSupPr>
                            <m:ctrlPr>
                              <a:rPr lang="zh-CN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zh-CN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zh-CN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zh-CN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sup>
                    </m:sSup>
                    <m:sSub>
                      <m:sSubPr>
                        <m:ctrlPr>
                          <a:rPr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ad>
                          <m:radPr>
                            <m:degHide m:val="on"/>
                            <m:ctrlPr>
                              <a:rPr lang="zh-CN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Sup>
                              <m:sSubSup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b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sSubSup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bSup>
                          </m:e>
                        </m:rad>
                      </m:num>
                      <m:den>
                        <m:sSup>
                          <m:sSupPr>
                            <m:ctrlPr>
                              <a:rPr lang="zh-CN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),</m:t>
                    </m:r>
                    <m:r>
                      <m:rPr>
                        <m:nor/>
                      </m:rPr>
                      <a:rPr lang="en-US" altLang="zh-CN" sz="2400">
                        <a:solidFill>
                          <a:srgbClr val="000000"/>
                        </a:solidFill>
                      </a:rPr>
                      <m:t>     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zh-CN" altLang="zh-CN" sz="2400" dirty="0"/>
                  <a:t> </a:t>
                </a:r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540000">
                  <a:spcBef>
                    <a:spcPts val="900"/>
                  </a:spcBef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             </m:t>
                      </m:r>
                    </m:oMath>
                  </m:oMathPara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  <a:p>
                <a:pPr marL="0" indent="54000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r>
                  <a:rPr lang="en-US" altLang="zh-CN" sz="24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)</m:t>
                    </m:r>
                    <m:func>
                      <m:funcPr>
                        <m:ctrlPr>
                          <a:rPr lang="zh-CN" altLang="zh-CN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:</m:t>
                        </m:r>
                      </m:fName>
                      <m:e>
                        <m:r>
                          <a:rPr lang="zh-CN" altLang="zh-CN" sz="2400" i="1">
                            <a:latin typeface="Cambria Math" panose="02040503050406030204" pitchFamily="18" charset="0"/>
                          </a:rPr>
                          <m:t>第</m:t>
                        </m:r>
                      </m:e>
                    </m:func>
                    <m:r>
                      <a:rPr lang="zh-CN" altLang="zh-CN" sz="2400" i="1">
                        <a:latin typeface="Cambria Math" panose="02040503050406030204" pitchFamily="18" charset="0"/>
                      </a:rPr>
                      <m:t>一类零阶修正贝赛尔函数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。</a:t>
                </a:r>
                <a:br>
                  <a:rPr lang="en-US" altLang="zh-CN" sz="24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zh-CN" altLang="en-US" sz="2400" dirty="0"/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457201" y="1325440"/>
                <a:ext cx="8255000" cy="4079396"/>
              </a:xfrm>
              <a:blipFill>
                <a:blip r:embed="rId2"/>
                <a:stretch>
                  <a:fillRect l="-1108" t="-34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621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/>
              </p:cNvSpPr>
              <p:nvPr>
                <p:ph/>
              </p:nvPr>
            </p:nvSpPr>
            <p:spPr>
              <a:xfrm>
                <a:off x="611560" y="476672"/>
                <a:ext cx="8255000" cy="4439436"/>
              </a:xfrm>
            </p:spPr>
            <p:txBody>
              <a:bodyPr/>
              <a:lstStyle/>
              <a:p>
                <a:pPr marL="0" indent="0">
                  <a:lnSpc>
                    <a:spcPct val="80000"/>
                  </a:lnSpc>
                  <a:buNone/>
                </a:pPr>
                <a:r>
                  <a:rPr lang="en-US" altLang="zh-CN" sz="2400" dirty="0">
                    <a:solidFill>
                      <a:srgbClr val="FF0000"/>
                    </a:solidFill>
                  </a:rPr>
                  <a:t>6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、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 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卡方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(Chi-square )</a:t>
                </a:r>
                <a:r>
                  <a:rPr lang="zh-CN" altLang="zh-CN" sz="2400" dirty="0">
                    <a:solidFill>
                      <a:srgbClr val="FF0000"/>
                    </a:solidFill>
                  </a:rPr>
                  <a:t>分布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*</a:t>
                </a:r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en-US" altLang="zh-CN" sz="2400" b="0" dirty="0">
                    <a:solidFill>
                      <a:srgbClr val="000000"/>
                    </a:solidFill>
                  </a:rPr>
                  <a:t>n</a:t>
                </a:r>
                <a:r>
                  <a:rPr lang="zh-CN" altLang="en-US" sz="2400" b="0" dirty="0">
                    <a:solidFill>
                      <a:srgbClr val="000000"/>
                    </a:solidFill>
                  </a:rPr>
                  <a:t>个独立、零均值、同方差</a:t>
                </a:r>
                <a:r>
                  <a:rPr lang="en-US" altLang="zh-CN" sz="2400" i="1" dirty="0" err="1">
                    <a:solidFill>
                      <a:srgbClr val="000000"/>
                    </a:solidFill>
                  </a:rPr>
                  <a:t>X</a:t>
                </a:r>
                <a:r>
                  <a:rPr lang="en-US" altLang="zh-CN" sz="2400" baseline="-25000" dirty="0" err="1">
                    <a:solidFill>
                      <a:srgbClr val="000000"/>
                    </a:solidFill>
                  </a:rPr>
                  <a:t>i</a:t>
                </a:r>
                <a:r>
                  <a:rPr lang="en-US" altLang="zh-CN" sz="2400" dirty="0" err="1">
                    <a:solidFill>
                      <a:srgbClr val="000000"/>
                    </a:solidFill>
                  </a:rPr>
                  <a:t>~N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(0,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</a:rPr>
                  <a:t>) ,                         </a:t>
                </a:r>
                <a:r>
                  <a:rPr lang="zh-CN" altLang="en-US" sz="2400" dirty="0">
                    <a:solidFill>
                      <a:srgbClr val="000000"/>
                    </a:solidFill>
                  </a:rPr>
                  <a:t>服从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n</a:t>
                </a:r>
              </a:p>
              <a:p>
                <a:pPr marL="0" indent="0">
                  <a:lnSpc>
                    <a:spcPct val="80000"/>
                  </a:lnSpc>
                  <a:buNone/>
                </a:pPr>
                <a:endParaRPr lang="en-US" altLang="zh-CN" sz="2400" dirty="0">
                  <a:solidFill>
                    <a:srgbClr val="000000"/>
                  </a:solidFill>
                </a:endParaRPr>
              </a:p>
              <a:p>
                <a:pPr marL="0" indent="0">
                  <a:lnSpc>
                    <a:spcPct val="80000"/>
                  </a:lnSpc>
                  <a:buNone/>
                </a:pPr>
                <a:r>
                  <a:rPr lang="zh-CN" altLang="en-US" sz="2400" dirty="0">
                    <a:solidFill>
                      <a:srgbClr val="000000"/>
                    </a:solidFill>
                  </a:rPr>
                  <a:t>自由度（</a:t>
                </a:r>
                <a:r>
                  <a:rPr lang="en-US" altLang="zh-CN" sz="2400" dirty="0" err="1">
                    <a:solidFill>
                      <a:srgbClr val="000000"/>
                    </a:solidFill>
                  </a:rPr>
                  <a:t>DoF</a:t>
                </a:r>
                <a:r>
                  <a:rPr lang="zh-CN" altLang="en-US" sz="2400" dirty="0">
                    <a:solidFill>
                      <a:srgbClr val="000000"/>
                    </a:solidFill>
                  </a:rPr>
                  <a:t>）的中心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                   </a:t>
                </a:r>
                <a:r>
                  <a:rPr lang="zh-CN" altLang="en-US" sz="2400" dirty="0">
                    <a:solidFill>
                      <a:srgbClr val="000000"/>
                    </a:solidFill>
                  </a:rPr>
                  <a:t>分布。 </a:t>
                </a:r>
                <a:r>
                  <a:rPr lang="en-US" altLang="zh-CN" sz="2400" dirty="0">
                    <a:solidFill>
                      <a:srgbClr val="000000"/>
                    </a:solidFill>
                  </a:rPr>
                  <a:t>Degree of freedom</a:t>
                </a:r>
              </a:p>
              <a:p>
                <a:pPr marL="0" indent="54000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endParaRPr lang="en-US" altLang="zh-CN" sz="1800" dirty="0">
                  <a:solidFill>
                    <a:srgbClr val="000000"/>
                  </a:solidFill>
                </a:endParaRPr>
              </a:p>
              <a:p>
                <a:pPr marL="0" indent="540000">
                  <a:spcBef>
                    <a:spcPts val="900"/>
                  </a:spcBef>
                  <a:spcAft>
                    <a:spcPts val="450"/>
                  </a:spcAft>
                  <a:buNone/>
                </a:pPr>
                <a:endParaRPr lang="en-US" altLang="zh-CN" sz="18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" name="内容占位符 1">
                <a:extLst>
                  <a:ext uri="{FF2B5EF4-FFF2-40B4-BE49-F238E27FC236}">
                    <a16:creationId xmlns:a16="http://schemas.microsoft.com/office/drawing/2014/main" id="{36F86069-F3E1-41BA-96F1-A6A5A97FC6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/>
              </p:nvPr>
            </p:nvSpPr>
            <p:spPr>
              <a:xfrm>
                <a:off x="611560" y="476672"/>
                <a:ext cx="8255000" cy="4439436"/>
              </a:xfrm>
              <a:blipFill>
                <a:blip r:embed="rId4"/>
                <a:stretch>
                  <a:fillRect l="-1108" t="-3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D8417B6-5998-448E-A627-C267167832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5471492"/>
              </p:ext>
            </p:extLst>
          </p:nvPr>
        </p:nvGraphicFramePr>
        <p:xfrm>
          <a:off x="6372200" y="645748"/>
          <a:ext cx="1296144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0" name="Equation" r:id="rId5" imgW="685800" imgH="444240" progId="Equation.DSMT4">
                  <p:embed/>
                </p:oleObj>
              </mc:Choice>
              <mc:Fallback>
                <p:oleObj name="Equation" r:id="rId5" imgW="685800" imgH="444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372200" y="645748"/>
                        <a:ext cx="1296144" cy="7200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75A36F0B-38D8-41F9-BA44-3D0D6FC3F0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7323184"/>
              </p:ext>
            </p:extLst>
          </p:nvPr>
        </p:nvGraphicFramePr>
        <p:xfrm>
          <a:off x="4056062" y="1486619"/>
          <a:ext cx="103187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1" name="Equation" r:id="rId7" imgW="545760" imgH="266400" progId="Equation.DSMT4">
                  <p:embed/>
                </p:oleObj>
              </mc:Choice>
              <mc:Fallback>
                <p:oleObj name="Equation" r:id="rId7" imgW="545760" imgH="26640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2D8417B6-5998-448E-A627-C267167832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56062" y="1486619"/>
                        <a:ext cx="1031875" cy="430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269" name="Picture 5" descr="https://bkimg.cdn.bcebos.com/pic/6159252dd42a283470500ef259b5c9ea14cebf50?x-bce-process=image/watermark,image_d2F0ZXIvYmFpa2UxMTY=,g_7,xp_5,yp_5/format,f_auto">
            <a:extLst>
              <a:ext uri="{FF2B5EF4-FFF2-40B4-BE49-F238E27FC236}">
                <a16:creationId xmlns:a16="http://schemas.microsoft.com/office/drawing/2014/main" id="{90931CC7-68E7-45A3-8896-C01D58CD17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2564904"/>
            <a:ext cx="5184576" cy="32873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2829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688FE7-703C-435D-A4F6-B73D6BF54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例 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FBD805E-C3CF-44A8-85F5-B83841FD42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7063" y="1494559"/>
                <a:ext cx="7772400" cy="1094510"/>
              </a:xfrm>
            </p:spPr>
            <p:txBody>
              <a:bodyPr/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400" dirty="0"/>
                  <a:t>设随机变量</a:t>
                </a:r>
                <a:r>
                  <a:rPr lang="en-US" altLang="zh-CN" sz="2400" i="1" dirty="0"/>
                  <a:t>X</a:t>
                </a:r>
                <a:r>
                  <a:rPr lang="zh-CN" altLang="en-US" sz="2400" dirty="0"/>
                  <a:t>、</a:t>
                </a:r>
                <a:r>
                  <a:rPr lang="en-US" altLang="zh-CN" sz="2400" i="1" dirty="0"/>
                  <a:t>Y</a:t>
                </a:r>
                <a:r>
                  <a:rPr lang="zh-CN" altLang="en-US" sz="2400" dirty="0"/>
                  <a:t>是统计独立的泊松分布的随机变量，参数分别为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400" dirty="0"/>
                      <m:t> </m:t>
                    </m:r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zh-CN" altLang="en-US" sz="2400" i="1">
                        <a:latin typeface="Cambria Math" panose="02040503050406030204" pitchFamily="18" charset="0"/>
                      </a:rPr>
                      <m:t>、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zh-CN" altLang="en-US" sz="2400" dirty="0"/>
                  <a:t>计算条件数学期望</a:t>
                </a:r>
                <a14:m>
                  <m:oMath xmlns:m="http://schemas.openxmlformats.org/officeDocument/2006/math">
                    <m:r>
                      <a:rPr lang="en-US" altLang="zh-CN" sz="24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d>
                    <m:r>
                      <a:rPr lang="zh-CN" altLang="en-US" sz="240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FBD805E-C3CF-44A8-85F5-B83841FD42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7063" y="1494559"/>
                <a:ext cx="7772400" cy="1094510"/>
              </a:xfrm>
              <a:blipFill>
                <a:blip r:embed="rId3"/>
                <a:stretch>
                  <a:fillRect l="-1255" b="-1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879764" y="2688432"/>
            <a:ext cx="138564" cy="43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 sz="240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2100823"/>
              </p:ext>
            </p:extLst>
          </p:nvPr>
        </p:nvGraphicFramePr>
        <p:xfrm>
          <a:off x="1045834" y="3108612"/>
          <a:ext cx="6768605" cy="22098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4" name="Equation" r:id="rId4" imgW="4940300" imgH="1612900" progId="Equation.DSMT4">
                  <p:embed/>
                </p:oleObj>
              </mc:Choice>
              <mc:Fallback>
                <p:oleObj name="Equation" r:id="rId4" imgW="4940300" imgH="1612900" progId="Equation.DSMT4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834" y="3108612"/>
                        <a:ext cx="6768605" cy="22098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484909" y="2880130"/>
            <a:ext cx="789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latin typeface="+mj-lt"/>
              </a:rPr>
              <a:t>1)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581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879764" y="2734598"/>
            <a:ext cx="138564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762000" y="1345506"/>
            <a:ext cx="11545232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810867" y="1664005"/>
          <a:ext cx="7558600" cy="148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8" name="Equation" r:id="rId3" imgW="5245100" imgH="1028700" progId="Equation.DSMT4">
                  <p:embed/>
                </p:oleObj>
              </mc:Choice>
              <mc:Fallback>
                <p:oleObj name="Equation" r:id="rId3" imgW="5245100" imgH="1028700" progId="Equation.DSMT4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867" y="1664005"/>
                        <a:ext cx="7558600" cy="14824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945682" y="3433122"/>
            <a:ext cx="13244420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879764" y="3484754"/>
          <a:ext cx="4529941" cy="1589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19" name="Equation" r:id="rId5" imgW="2641600" imgH="927100" progId="Equation.DSMT4">
                  <p:embed/>
                </p:oleObj>
              </mc:Choice>
              <mc:Fallback>
                <p:oleObj name="Equation" r:id="rId5" imgW="2641600" imgH="927100" progId="Equation.DSMT4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764" y="3484754"/>
                        <a:ext cx="4529941" cy="15898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5298707" y="3780924"/>
                <a:ext cx="2880360" cy="369397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参数为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zh-CN" altLang="en-US" b="1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dirty="0"/>
                  <a:t>泊松分布</a:t>
                </a:r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8707" y="3780924"/>
                <a:ext cx="2880360" cy="369397"/>
              </a:xfrm>
              <a:prstGeom prst="rect">
                <a:avLst/>
              </a:prstGeom>
              <a:blipFill>
                <a:blip r:embed="rId7"/>
                <a:stretch>
                  <a:fillRect l="-1688" t="-9677" b="-209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367146" y="1531806"/>
            <a:ext cx="789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+mj-lt"/>
              </a:rPr>
              <a:t>2)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5209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879764" y="2734598"/>
            <a:ext cx="138564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3" name="Rectangle 8"/>
          <p:cNvSpPr>
            <a:spLocks noChangeArrowheads="1"/>
          </p:cNvSpPr>
          <p:nvPr/>
        </p:nvSpPr>
        <p:spPr bwMode="auto">
          <a:xfrm>
            <a:off x="762000" y="1345506"/>
            <a:ext cx="11545232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945682" y="3433122"/>
            <a:ext cx="13244420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879764" y="1434896"/>
            <a:ext cx="138564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505552" y="1165827"/>
          <a:ext cx="6353623" cy="25508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2" name="Equation" r:id="rId3" imgW="5156200" imgH="2070100" progId="Equation.DSMT4">
                  <p:embed/>
                </p:oleObj>
              </mc:Choice>
              <mc:Fallback>
                <p:oleObj name="Equation" r:id="rId3" imgW="5156200" imgH="2070100" progId="Equation.DSMT4">
                  <p:embed/>
                  <p:pic>
                    <p:nvPicPr>
                      <p:cNvPr id="4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5552" y="1165827"/>
                        <a:ext cx="6353623" cy="25508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945682" y="3649206"/>
            <a:ext cx="13051014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559292" y="3756897"/>
          <a:ext cx="2291690" cy="719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3" name="Equation" r:id="rId5" imgW="1739900" imgH="546100" progId="Equation.DSMT4">
                  <p:embed/>
                </p:oleObj>
              </mc:Choice>
              <mc:Fallback>
                <p:oleObj name="Equation" r:id="rId5" imgW="1739900" imgH="546100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9292" y="3756897"/>
                        <a:ext cx="2291690" cy="7192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715843" y="1077308"/>
            <a:ext cx="789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+mj-lt"/>
              </a:rPr>
              <a:t>3)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15842" y="4302670"/>
            <a:ext cx="7897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+mj-lt"/>
              </a:rPr>
              <a:t>4)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1140594" y="4697441"/>
            <a:ext cx="10661829" cy="34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1140594" y="4853421"/>
          <a:ext cx="5035774" cy="64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4" name="Equation" r:id="rId7" imgW="3962400" imgH="508000" progId="Equation.DSMT4">
                  <p:embed/>
                </p:oleObj>
              </mc:Choice>
              <mc:Fallback>
                <p:oleObj name="Equation" r:id="rId7" imgW="3962400" imgH="508000" progId="Equation.DSMT4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0594" y="4853421"/>
                        <a:ext cx="5035774" cy="6456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75180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6F86069-F3E1-41BA-96F1-A6A5A97FC60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444500" y="1052736"/>
            <a:ext cx="8255000" cy="4079396"/>
          </a:xfrm>
        </p:spPr>
        <p:txBody>
          <a:bodyPr/>
          <a:lstStyle/>
          <a:p>
            <a:pPr marL="0" indent="0" algn="ctr">
              <a:spcBef>
                <a:spcPct val="0"/>
              </a:spcBef>
              <a:buNone/>
            </a:pPr>
            <a:r>
              <a:rPr lang="en-US" altLang="zh-CN" sz="2700" dirty="0">
                <a:solidFill>
                  <a:srgbClr val="FF0000"/>
                </a:solidFill>
                <a:ea typeface="隶书" panose="02010509060101010101" pitchFamily="49" charset="-122"/>
                <a:cs typeface="+mj-cs"/>
              </a:rPr>
              <a:t>1.7* </a:t>
            </a:r>
            <a:r>
              <a:rPr lang="zh-CN" altLang="en-US" sz="2700" dirty="0">
                <a:solidFill>
                  <a:srgbClr val="FF0000"/>
                </a:solidFill>
                <a:ea typeface="隶书" panose="02010509060101010101" pitchFamily="49" charset="-122"/>
                <a:cs typeface="+mj-cs"/>
              </a:rPr>
              <a:t>蒙特卡洛仿真与实验</a:t>
            </a:r>
            <a:endParaRPr lang="en-US" altLang="zh-CN" sz="2700" dirty="0">
              <a:solidFill>
                <a:srgbClr val="FF0000"/>
              </a:solidFill>
              <a:ea typeface="隶书" panose="02010509060101010101" pitchFamily="49" charset="-122"/>
              <a:cs typeface="+mj-cs"/>
            </a:endParaRPr>
          </a:p>
          <a:p>
            <a:pPr marL="0" indent="0" algn="ctr">
              <a:spcBef>
                <a:spcPct val="0"/>
              </a:spcBef>
              <a:buNone/>
            </a:pPr>
            <a:endParaRPr lang="en-US" altLang="zh-CN" sz="2700" dirty="0">
              <a:solidFill>
                <a:srgbClr val="FF0000"/>
              </a:solidFill>
              <a:ea typeface="隶书" panose="02010509060101010101" pitchFamily="49" charset="-122"/>
              <a:cs typeface="+mj-cs"/>
            </a:endParaRPr>
          </a:p>
          <a:p>
            <a:pPr marL="0" indent="0">
              <a:lnSpc>
                <a:spcPct val="150000"/>
              </a:lnSpc>
              <a:spcBef>
                <a:spcPts val="900"/>
              </a:spcBef>
              <a:buNone/>
            </a:pPr>
            <a:r>
              <a:rPr lang="en-US" altLang="zh-CN" sz="2000" dirty="0"/>
              <a:t>1.7.1 </a:t>
            </a:r>
            <a:r>
              <a:rPr lang="en-US" altLang="zh-CN" sz="2000" dirty="0" err="1"/>
              <a:t>Matlab</a:t>
            </a:r>
            <a:r>
              <a:rPr lang="zh-CN" altLang="en-US" sz="2000" dirty="0"/>
              <a:t>相关函数</a:t>
            </a:r>
            <a:endParaRPr lang="en-US" altLang="zh-CN" sz="2000" dirty="0"/>
          </a:p>
          <a:p>
            <a:pPr marL="0" indent="0">
              <a:lnSpc>
                <a:spcPct val="150000"/>
              </a:lnSpc>
              <a:spcBef>
                <a:spcPts val="900"/>
              </a:spcBef>
              <a:buNone/>
            </a:pPr>
            <a:r>
              <a:rPr lang="en-US" altLang="zh-CN" sz="2000" dirty="0"/>
              <a:t>     </a:t>
            </a:r>
            <a:r>
              <a:rPr lang="en-US" altLang="zh-CN" sz="2000" dirty="0" err="1"/>
              <a:t>binornd</a:t>
            </a:r>
            <a:r>
              <a:rPr lang="en-US" altLang="zh-CN" sz="2000" dirty="0"/>
              <a:t>(</a:t>
            </a:r>
            <a:r>
              <a:rPr lang="en-US" altLang="zh-CN" sz="2000" dirty="0" err="1"/>
              <a:t>n,p</a:t>
            </a:r>
            <a:r>
              <a:rPr lang="en-US" altLang="zh-CN" sz="2000" dirty="0"/>
              <a:t>)</a:t>
            </a:r>
          </a:p>
          <a:p>
            <a:pPr marL="0" indent="0">
              <a:lnSpc>
                <a:spcPct val="150000"/>
              </a:lnSpc>
              <a:spcBef>
                <a:spcPts val="900"/>
              </a:spcBef>
              <a:buNone/>
            </a:pPr>
            <a:r>
              <a:rPr lang="en-US" altLang="zh-CN" sz="2000" dirty="0"/>
              <a:t>     help chi2pdf</a:t>
            </a:r>
          </a:p>
          <a:p>
            <a:pPr marL="0" indent="0">
              <a:lnSpc>
                <a:spcPct val="150000"/>
              </a:lnSpc>
              <a:spcBef>
                <a:spcPts val="900"/>
              </a:spcBef>
              <a:buNone/>
            </a:pPr>
            <a:r>
              <a:rPr lang="en-US" altLang="zh-CN" sz="2000" dirty="0"/>
              <a:t>1.7.2 </a:t>
            </a:r>
            <a:r>
              <a:rPr lang="zh-CN" altLang="en-US" sz="2000" dirty="0"/>
              <a:t>检测和观察概率分布和统计量</a:t>
            </a:r>
            <a:endParaRPr lang="en-US" altLang="zh-CN" sz="2000" dirty="0">
              <a:solidFill>
                <a:srgbClr val="FF0000"/>
              </a:solidFill>
              <a:ea typeface="隶书" panose="02010509060101010101" pitchFamily="49" charset="-122"/>
              <a:cs typeface="+mj-cs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5590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7837F0F-69C2-4015-BA34-3A56C387F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4CE83B-BFD2-4C55-A47B-3EA7C0ECA2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/>
              <a:t>总结课程有关公式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课堂练习题错题分析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习题：</a:t>
            </a:r>
            <a:r>
              <a:rPr lang="en-US" altLang="zh-CN" sz="2400" dirty="0"/>
              <a:t>1.27</a:t>
            </a:r>
            <a:r>
              <a:rPr lang="zh-CN" altLang="en-US" sz="2400" dirty="0"/>
              <a:t>，</a:t>
            </a:r>
            <a:r>
              <a:rPr lang="en-US" altLang="zh-CN" sz="2400" dirty="0"/>
              <a:t>1.29</a:t>
            </a:r>
            <a:r>
              <a:rPr lang="zh-CN" altLang="en-US" sz="2400" dirty="0"/>
              <a:t>，</a:t>
            </a:r>
            <a:r>
              <a:rPr lang="en-US" altLang="zh-CN" sz="2400" dirty="0"/>
              <a:t>1.31</a:t>
            </a:r>
            <a:r>
              <a:rPr lang="zh-CN" altLang="en-US" sz="2400" dirty="0"/>
              <a:t>，</a:t>
            </a:r>
            <a:r>
              <a:rPr lang="en-US" altLang="zh-CN" sz="2400" dirty="0"/>
              <a:t>1.33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8319865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.0"/>
  <p:tag name="PROBLEMSCORE_HALF" val="0.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10.0"/>
  <p:tag name="PROBLEMVOICEALLOWED" val="Fals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Compressive Sens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Pres_in_sample">
  <a:themeElements>
    <a:clrScheme name="1_Pres_in_samp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_in_sample">
      <a:majorFont>
        <a:latin typeface="黑体"/>
        <a:ea typeface="黑体"/>
        <a:cs typeface=""/>
      </a:majorFont>
      <a:minorFont>
        <a:latin typeface="仿宋_GB2312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Pres_in_samp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_in_samp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Pres_in_sample">
  <a:themeElements>
    <a:clrScheme name="1_Pres_in_samp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Pres_in_sample">
      <a:majorFont>
        <a:latin typeface="黑体"/>
        <a:ea typeface="黑体"/>
        <a:cs typeface=""/>
      </a:majorFont>
      <a:minorFont>
        <a:latin typeface="仿宋_GB2312"/>
        <a:ea typeface="仿宋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Pres_in_samp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_in_samp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_in_samp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Compressive Sensing</Template>
  <TotalTime>6021</TotalTime>
  <Words>3063</Words>
  <Application>Microsoft Office PowerPoint</Application>
  <PresentationFormat>全屏显示(4:3)</PresentationFormat>
  <Paragraphs>312</Paragraphs>
  <Slides>44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65" baseType="lpstr">
      <vt:lpstr>-apple-system</vt:lpstr>
      <vt:lpstr>Arial Unicode MS</vt:lpstr>
      <vt:lpstr>等线</vt:lpstr>
      <vt:lpstr>仿宋_GB2312</vt:lpstr>
      <vt:lpstr>黑体</vt:lpstr>
      <vt:lpstr>宋体</vt:lpstr>
      <vt:lpstr>Microsoft Yahei</vt:lpstr>
      <vt:lpstr>Arial</vt:lpstr>
      <vt:lpstr>Arial Black</vt:lpstr>
      <vt:lpstr>Calibri</vt:lpstr>
      <vt:lpstr>Cambria Math</vt:lpstr>
      <vt:lpstr>Comic Sans MS</vt:lpstr>
      <vt:lpstr>Tahoma</vt:lpstr>
      <vt:lpstr>Times New Roman</vt:lpstr>
      <vt:lpstr>Wingdings</vt:lpstr>
      <vt:lpstr>1_自定义设计方案</vt:lpstr>
      <vt:lpstr>自定义设计方案</vt:lpstr>
      <vt:lpstr>1_Compressive Sensing</vt:lpstr>
      <vt:lpstr>1_Pres_in_sample</vt:lpstr>
      <vt:lpstr>2_Pres_in_sample</vt:lpstr>
      <vt:lpstr>Equation</vt:lpstr>
      <vt:lpstr>PowerPoint 演示文稿</vt:lpstr>
      <vt:lpstr>第一章 概率论基础 (续)</vt:lpstr>
      <vt:lpstr>PowerPoint 演示文稿</vt:lpstr>
      <vt:lpstr>1.5 特征函数</vt:lpstr>
      <vt:lpstr>1.5 特征函数  （ Characteristic Function ）</vt:lpstr>
      <vt:lpstr>PowerPoint 演示文稿</vt:lpstr>
      <vt:lpstr>1.5.1 一维特征函数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 题</vt:lpstr>
      <vt:lpstr>PowerPoint 演示文稿</vt:lpstr>
      <vt:lpstr>PowerPoint 演示文稿</vt:lpstr>
      <vt:lpstr>PowerPoint 演示文稿</vt:lpstr>
      <vt:lpstr>作业</vt:lpstr>
    </vt:vector>
  </TitlesOfParts>
  <Company>Keio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Wensheng Zhang</dc:creator>
  <cp:lastModifiedBy>Wensheng Zhang</cp:lastModifiedBy>
  <cp:revision>748</cp:revision>
  <dcterms:created xsi:type="dcterms:W3CDTF">2012-07-10T00:46:24Z</dcterms:created>
  <dcterms:modified xsi:type="dcterms:W3CDTF">2024-09-27T01:06:02Z</dcterms:modified>
</cp:coreProperties>
</file>