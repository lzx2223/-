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tmp" ContentType="image/png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3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4.xml" ContentType="application/vnd.openxmlformats-officedocument.theme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  <p:sldMasterId id="2147483660" r:id="rId2"/>
    <p:sldMasterId id="2147483686" r:id="rId3"/>
    <p:sldMasterId id="2147483690" r:id="rId4"/>
    <p:sldMasterId id="2147483708" r:id="rId5"/>
  </p:sldMasterIdLst>
  <p:notesMasterIdLst>
    <p:notesMasterId r:id="rId49"/>
  </p:notesMasterIdLst>
  <p:handoutMasterIdLst>
    <p:handoutMasterId r:id="rId50"/>
  </p:handoutMasterIdLst>
  <p:sldIdLst>
    <p:sldId id="360" r:id="rId6"/>
    <p:sldId id="256" r:id="rId7"/>
    <p:sldId id="259" r:id="rId8"/>
    <p:sldId id="258" r:id="rId9"/>
    <p:sldId id="261" r:id="rId10"/>
    <p:sldId id="262" r:id="rId11"/>
    <p:sldId id="263" r:id="rId12"/>
    <p:sldId id="292" r:id="rId13"/>
    <p:sldId id="294" r:id="rId14"/>
    <p:sldId id="293" r:id="rId15"/>
    <p:sldId id="296" r:id="rId16"/>
    <p:sldId id="264" r:id="rId17"/>
    <p:sldId id="295" r:id="rId18"/>
    <p:sldId id="265" r:id="rId19"/>
    <p:sldId id="266" r:id="rId20"/>
    <p:sldId id="269" r:id="rId21"/>
    <p:sldId id="268" r:id="rId22"/>
    <p:sldId id="301" r:id="rId23"/>
    <p:sldId id="302" r:id="rId24"/>
    <p:sldId id="303" r:id="rId25"/>
    <p:sldId id="304" r:id="rId26"/>
    <p:sldId id="306" r:id="rId27"/>
    <p:sldId id="308" r:id="rId28"/>
    <p:sldId id="270" r:id="rId29"/>
    <p:sldId id="271" r:id="rId30"/>
    <p:sldId id="272" r:id="rId31"/>
    <p:sldId id="273" r:id="rId32"/>
    <p:sldId id="277" r:id="rId33"/>
    <p:sldId id="278" r:id="rId34"/>
    <p:sldId id="279" r:id="rId35"/>
    <p:sldId id="280" r:id="rId36"/>
    <p:sldId id="307" r:id="rId37"/>
    <p:sldId id="281" r:id="rId38"/>
    <p:sldId id="282" r:id="rId39"/>
    <p:sldId id="283" r:id="rId40"/>
    <p:sldId id="284" r:id="rId41"/>
    <p:sldId id="309" r:id="rId42"/>
    <p:sldId id="285" r:id="rId43"/>
    <p:sldId id="286" r:id="rId44"/>
    <p:sldId id="287" r:id="rId45"/>
    <p:sldId id="288" r:id="rId46"/>
    <p:sldId id="289" r:id="rId47"/>
    <p:sldId id="290" r:id="rId48"/>
  </p:sldIdLst>
  <p:sldSz cx="9144000" cy="6858000" type="screen4x3"/>
  <p:notesSz cx="6858000" cy="9144000"/>
  <p:defaultTextStyle>
    <a:defPPr>
      <a:defRPr lang="es-E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ENOVO USER" initials="LU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305"/>
    <a:srgbClr val="D09E00"/>
    <a:srgbClr val="FFD347"/>
    <a:srgbClr val="B88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5" autoAdjust="0"/>
    <p:restoredTop sz="88102" autoAdjust="0"/>
  </p:normalViewPr>
  <p:slideViewPr>
    <p:cSldViewPr>
      <p:cViewPr varScale="1">
        <p:scale>
          <a:sx n="68" d="100"/>
          <a:sy n="68" d="100"/>
        </p:scale>
        <p:origin x="1253" y="3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00" d="100"/>
        <a:sy n="100" d="100"/>
      </p:scale>
      <p:origin x="0" y="1302"/>
    </p:cViewPr>
  </p:sorterViewPr>
  <p:notesViewPr>
    <p:cSldViewPr>
      <p:cViewPr varScale="1">
        <p:scale>
          <a:sx n="66" d="100"/>
          <a:sy n="66" d="100"/>
        </p:scale>
        <p:origin x="1579" y="53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handoutMaster" Target="handoutMasters/handoutMaster1.xml"/><Relationship Id="rId55" Type="http://schemas.openxmlformats.org/officeDocument/2006/relationships/tableStyles" Target="tableStyles.xml"/><Relationship Id="rId7" Type="http://schemas.openxmlformats.org/officeDocument/2006/relationships/slide" Target="slides/slide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8" Type="http://schemas.openxmlformats.org/officeDocument/2006/relationships/slide" Target="slides/slide3.xml"/><Relationship Id="rId51" Type="http://schemas.openxmlformats.org/officeDocument/2006/relationships/commentAuthors" Target="commentAuthor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7215D6-64B5-4D81-A068-018BC9D15C70}" type="datetimeFigureOut">
              <a:rPr lang="zh-CN" altLang="en-US" smtClean="0"/>
              <a:pPr/>
              <a:t>2024/10/11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B1B2BF-B727-4E7D-871C-58E4727485F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6034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634918-EEE7-4DA3-9986-E691913FFCBE}" type="datetimeFigureOut">
              <a:rPr lang="zh-CN" altLang="en-US" smtClean="0"/>
              <a:pPr/>
              <a:t>2024/10/11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544D2F-56DD-4976-9716-D18248F9480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5873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>
                <a:solidFill>
                  <a:prstClr val="black"/>
                </a:solidFill>
              </a:rPr>
              <a:pPr/>
              <a:t>1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42257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66373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从确定性变量和随机变量说起！ 气温同样的道理！先画一个掷筛子的时间图！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51186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先读书，重点看定义</a:t>
            </a:r>
            <a:r>
              <a:rPr lang="en-US" altLang="zh-CN" dirty="0"/>
              <a:t>2.1 </a:t>
            </a:r>
            <a:r>
              <a:rPr lang="zh-CN" altLang="en-US" dirty="0"/>
              <a:t>和定义</a:t>
            </a:r>
            <a:r>
              <a:rPr lang="en-US" altLang="zh-CN" dirty="0"/>
              <a:t>2.2</a:t>
            </a:r>
            <a:r>
              <a:rPr lang="zh-CN" altLang="en-US" dirty="0"/>
              <a:t>。 两个定义，四种理解！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01762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针对随机过程，样本空间其实是样本函数空间，所有样本函数的集合！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79347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此处暂停，让学生记录，理解，消化！ 随机过程定义！很重要！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68972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53217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不同时刻，可能具有不同的分布！</a:t>
            </a:r>
            <a:r>
              <a:rPr lang="en-US" altLang="zh-CN" dirty="0"/>
              <a:t>P41</a:t>
            </a:r>
            <a:r>
              <a:rPr lang="zh-CN" altLang="en-US" dirty="0"/>
              <a:t>，图</a:t>
            </a:r>
            <a:r>
              <a:rPr lang="en-US" altLang="zh-CN" dirty="0"/>
              <a:t>2.5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76087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P26</a:t>
            </a:r>
            <a:r>
              <a:rPr lang="zh-CN" altLang="en-US" dirty="0"/>
              <a:t>。傅里叶变化和特征函数生成！ 特征函数生成过程中，指数为正值，不影响特征函数性质！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24183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Head tail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84944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从二阶角度考察！不同时间随机变量的关系，扩展到所有！ </a:t>
            </a:r>
            <a:r>
              <a:rPr lang="en-US" altLang="zh-CN" dirty="0"/>
              <a:t>P41</a:t>
            </a:r>
            <a:r>
              <a:rPr lang="zh-CN" altLang="en-US" dirty="0"/>
              <a:t>，对基本数字特征是确定性函数。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85128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例题讲解。注意相关函数的计算。内涵逻辑！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32145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为什么是随机正弦信号？载波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804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A^2 </a:t>
            </a:r>
            <a:r>
              <a:rPr lang="zh-CN" altLang="en-US" dirty="0"/>
              <a:t>均值如何求得？ 瑞利分布 莱斯分布 短波通信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35881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雅可比行列式，分子分母搞清楚！详细计算过程要清楚！</a:t>
            </a:r>
            <a:r>
              <a:rPr lang="en-US" altLang="zh-CN" dirty="0"/>
              <a:t>P43 </a:t>
            </a:r>
            <a:r>
              <a:rPr lang="zh-CN" altLang="en-US" dirty="0"/>
              <a:t>过程要清楚。</a:t>
            </a:r>
            <a:r>
              <a:rPr lang="en-US" altLang="zh-CN" dirty="0"/>
              <a:t>P44</a:t>
            </a:r>
            <a:r>
              <a:rPr lang="zh-CN" altLang="en-US" dirty="0"/>
              <a:t>结论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427788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半随机时隙位置准确地从</a:t>
            </a:r>
            <a:r>
              <a:rPr lang="en-US" altLang="zh-CN" dirty="0"/>
              <a:t>0</a:t>
            </a:r>
            <a:r>
              <a:rPr lang="zh-CN" altLang="en-US" dirty="0"/>
              <a:t>开始。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872017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如果有时间，提问检查学生对随机过程定义的理解！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83291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FDD8F-1499-4C79-8BBC-577CD559A01B}" type="datetimeFigureOut">
              <a:rPr lang="zh-CN" altLang="en-US" smtClean="0"/>
              <a:pPr/>
              <a:t>2024/10/11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5207-5CB9-460F-BBB4-8E3511E543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8100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FDD8F-1499-4C79-8BBC-577CD559A01B}" type="datetimeFigureOut">
              <a:rPr lang="zh-CN" altLang="en-US" smtClean="0"/>
              <a:pPr/>
              <a:t>2024/10/11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5207-5CB9-460F-BBB4-8E3511E543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0645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FDD8F-1499-4C79-8BBC-577CD559A01B}" type="datetimeFigureOut">
              <a:rPr lang="zh-CN" altLang="en-US" smtClean="0"/>
              <a:pPr/>
              <a:t>2024/10/11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5207-5CB9-460F-BBB4-8E3511E543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7325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FDD8F-1499-4C79-8BBC-577CD559A01B}" type="datetimeFigureOut">
              <a:rPr lang="zh-CN" altLang="en-US" smtClean="0"/>
              <a:pPr/>
              <a:t>2024/10/11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5207-5CB9-460F-BBB4-8E3511E543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9563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FDD8F-1499-4C79-8BBC-577CD559A01B}" type="datetimeFigureOut">
              <a:rPr lang="zh-CN" altLang="en-US" smtClean="0"/>
              <a:pPr/>
              <a:t>2024/10/11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5207-5CB9-460F-BBB4-8E3511E543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5227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FDD8F-1499-4C79-8BBC-577CD559A01B}" type="datetimeFigureOut">
              <a:rPr lang="zh-CN" altLang="en-US" smtClean="0"/>
              <a:pPr/>
              <a:t>2024/10/11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5207-5CB9-460F-BBB4-8E3511E543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9707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FDD8F-1499-4C79-8BBC-577CD559A01B}" type="datetimeFigureOut">
              <a:rPr lang="zh-CN" altLang="en-US" smtClean="0"/>
              <a:pPr/>
              <a:t>2024/10/11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5207-5CB9-460F-BBB4-8E3511E543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0190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FDD8F-1499-4C79-8BBC-577CD559A01B}" type="datetimeFigureOut">
              <a:rPr lang="zh-CN" altLang="en-US" smtClean="0"/>
              <a:pPr/>
              <a:t>2024/10/11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5207-5CB9-460F-BBB4-8E3511E543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0785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FDD8F-1499-4C79-8BBC-577CD559A01B}" type="datetimeFigureOut">
              <a:rPr lang="zh-CN" altLang="en-US" smtClean="0"/>
              <a:pPr/>
              <a:t>2024/10/11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5207-5CB9-460F-BBB4-8E3511E543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11027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FDD8F-1499-4C79-8BBC-577CD559A01B}" type="datetimeFigureOut">
              <a:rPr lang="zh-CN" altLang="en-US" smtClean="0"/>
              <a:pPr/>
              <a:t>2024/10/11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5207-5CB9-460F-BBB4-8E3511E543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8355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FDD8F-1499-4C79-8BBC-577CD559A01B}" type="datetimeFigureOut">
              <a:rPr lang="zh-CN" altLang="en-US" smtClean="0"/>
              <a:pPr/>
              <a:t>2024/10/11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5207-5CB9-460F-BBB4-8E3511E543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87917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39855-D108-4DFB-8CB9-5769378610FC}" type="datetimeFigureOut">
              <a:rPr lang="zh-CN" altLang="en-US" smtClean="0"/>
              <a:pPr/>
              <a:t>2024/10/11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5CB5F-3147-4421-AB17-7961083DEE8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2518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39855-D108-4DFB-8CB9-5769378610FC}" type="datetimeFigureOut">
              <a:rPr lang="zh-CN" altLang="en-US" smtClean="0"/>
              <a:pPr/>
              <a:t>2024/10/11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5CB5F-3147-4421-AB17-7961083DEE8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14900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39855-D108-4DFB-8CB9-5769378610FC}" type="datetimeFigureOut">
              <a:rPr lang="zh-CN" altLang="en-US" smtClean="0"/>
              <a:pPr/>
              <a:t>2024/10/11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5CB5F-3147-4421-AB17-7961083DEE8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28297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39855-D108-4DFB-8CB9-5769378610FC}" type="datetimeFigureOut">
              <a:rPr lang="zh-CN" altLang="en-US" smtClean="0"/>
              <a:pPr/>
              <a:t>2024/10/11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5CB5F-3147-4421-AB17-7961083DEE8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88879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39855-D108-4DFB-8CB9-5769378610FC}" type="datetimeFigureOut">
              <a:rPr lang="zh-CN" altLang="en-US" smtClean="0"/>
              <a:pPr/>
              <a:t>2024/10/11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5CB5F-3147-4421-AB17-7961083DEE8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15047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39855-D108-4DFB-8CB9-5769378610FC}" type="datetimeFigureOut">
              <a:rPr lang="zh-CN" altLang="en-US" smtClean="0"/>
              <a:pPr/>
              <a:t>2024/10/11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5CB5F-3147-4421-AB17-7961083DEE8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588827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39855-D108-4DFB-8CB9-5769378610FC}" type="datetimeFigureOut">
              <a:rPr lang="zh-CN" altLang="en-US" smtClean="0"/>
              <a:pPr/>
              <a:t>2024/10/11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5CB5F-3147-4421-AB17-7961083DEE8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47844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39855-D108-4DFB-8CB9-5769378610FC}" type="datetimeFigureOut">
              <a:rPr lang="zh-CN" altLang="en-US" smtClean="0"/>
              <a:pPr/>
              <a:t>2024/10/11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5CB5F-3147-4421-AB17-7961083DEE8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03969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39855-D108-4DFB-8CB9-5769378610FC}" type="datetimeFigureOut">
              <a:rPr lang="zh-CN" altLang="en-US" smtClean="0"/>
              <a:pPr/>
              <a:t>2024/10/11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5CB5F-3147-4421-AB17-7961083DEE8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963648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39855-D108-4DFB-8CB9-5769378610FC}" type="datetimeFigureOut">
              <a:rPr lang="zh-CN" altLang="en-US" smtClean="0"/>
              <a:pPr/>
              <a:t>2024/10/11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5CB5F-3147-4421-AB17-7961083DEE8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017549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39855-D108-4DFB-8CB9-5769378610FC}" type="datetimeFigureOut">
              <a:rPr lang="zh-CN" altLang="en-US" smtClean="0"/>
              <a:pPr/>
              <a:t>2024/10/11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5CB5F-3147-4421-AB17-7961083DEE8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215650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s-E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1306488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00E5B7-4980-4DCB-B895-755E41E90C37}" type="datetime1">
              <a:rPr lang="es-ES" altLang="zh-CN" smtClean="0">
                <a:solidFill>
                  <a:prstClr val="black"/>
                </a:solidFill>
              </a:rPr>
              <a:pPr>
                <a:defRPr/>
              </a:pPr>
              <a:t>11/10/2024</a:t>
            </a:fld>
            <a:endParaRPr lang="es-ES" dirty="0">
              <a:solidFill>
                <a:prstClr val="black"/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prstClr val="black"/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89EF8F-819D-4663-82E4-C10ECE9AAC28}" type="slidenum">
              <a:rPr lang="es-E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901803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1"/>
          </p:nvPr>
        </p:nvSpPr>
        <p:spPr>
          <a:xfrm>
            <a:off x="0" y="6425952"/>
            <a:ext cx="1691680" cy="43204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s-ES" altLang="zh-CN">
                <a:solidFill>
                  <a:prstClr val="black"/>
                </a:solidFill>
              </a:rPr>
              <a:t>Wensheng Zhang</a:t>
            </a:r>
            <a:endParaRPr lang="es-E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358856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0" y="0"/>
            <a:ext cx="8173156" cy="1417638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s-ES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1306488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9C957B-D1FD-480F-B320-0EDA5B29C51F}" type="datetime1">
              <a:rPr lang="es-ES" altLang="zh-CN" smtClean="0">
                <a:solidFill>
                  <a:prstClr val="black"/>
                </a:solidFill>
              </a:rPr>
              <a:pPr>
                <a:defRPr/>
              </a:pPr>
              <a:t>11/10/2024</a:t>
            </a:fld>
            <a:endParaRPr lang="es-ES" dirty="0">
              <a:solidFill>
                <a:prstClr val="black"/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2627784" y="6381328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dirty="0">
              <a:solidFill>
                <a:prstClr val="black"/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ECF0F2-C070-45F9-912E-4BD4A0D78506}" type="slidenum">
              <a:rPr lang="es-E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27464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>
                <a:solidFill>
                  <a:srgbClr val="FF000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199180506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19659"/>
          </a:xfrm>
        </p:spPr>
        <p:txBody>
          <a:bodyPr>
            <a:normAutofit/>
          </a:bodyPr>
          <a:lstStyle>
            <a:lvl1pPr algn="ctr">
              <a:defRPr sz="2700" b="1" baseline="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10000"/>
              </a:lnSpc>
              <a:spcBef>
                <a:spcPts val="900"/>
              </a:spcBef>
              <a:defRPr sz="2100" b="1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  <a:lvl2pPr>
              <a:lnSpc>
                <a:spcPct val="110000"/>
              </a:lnSpc>
              <a:spcBef>
                <a:spcPts val="900"/>
              </a:spcBef>
              <a:defRPr sz="1800" b="1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2pPr>
            <a:lvl3pPr>
              <a:lnSpc>
                <a:spcPct val="110000"/>
              </a:lnSpc>
              <a:spcBef>
                <a:spcPts val="900"/>
              </a:spcBef>
              <a:defRPr sz="1800" b="1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3pPr>
            <a:lvl4pPr>
              <a:lnSpc>
                <a:spcPct val="110000"/>
              </a:lnSpc>
              <a:spcBef>
                <a:spcPts val="900"/>
              </a:spcBef>
              <a:defRPr sz="1800" b="1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4pPr>
            <a:lvl5pPr>
              <a:lnSpc>
                <a:spcPct val="110000"/>
              </a:lnSpc>
              <a:spcBef>
                <a:spcPts val="900"/>
              </a:spcBef>
              <a:defRPr sz="1800" b="1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15156317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752041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0743" y="234841"/>
            <a:ext cx="8229600" cy="67432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98766862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00114" y="1484313"/>
            <a:ext cx="3775075" cy="50403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827588" y="1484313"/>
            <a:ext cx="3776662" cy="50403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11189" y="6381750"/>
            <a:ext cx="2447925" cy="40005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r>
              <a:rPr lang="en-US" altLang="zh-CN"/>
              <a:t>Copyrights Zhu, Weihong</a:t>
            </a:r>
            <a:r>
              <a:rPr lang="en-US" altLang="zh-CN">
                <a:latin typeface="Tahoma" panose="020B0604030504040204" pitchFamily="34" charset="0"/>
              </a:rPr>
              <a:t> 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352800" y="6324600"/>
            <a:ext cx="2895600" cy="45720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56979703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4213" y="404815"/>
            <a:ext cx="8134350" cy="8286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412877"/>
            <a:ext cx="3771900" cy="49688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10100" y="1412877"/>
            <a:ext cx="3771900" cy="49688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1371600" y="6248400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549073" y="6400800"/>
            <a:ext cx="2895600" cy="45720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92098347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40"/>
            <a:ext cx="8229600" cy="81438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66725" y="1196977"/>
            <a:ext cx="4046538" cy="48228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65664" y="1196977"/>
            <a:ext cx="4046537" cy="23352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65664" y="3684588"/>
            <a:ext cx="4046537" cy="23352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0"/>
          </p:nvPr>
        </p:nvSpPr>
        <p:spPr>
          <a:xfrm>
            <a:off x="3028950" y="6356352"/>
            <a:ext cx="3086100" cy="365125"/>
          </a:xfrm>
          <a:prstGeom prst="rect">
            <a:avLst/>
          </a:prstGeom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1" fontAlgn="base" hangingPunct="1">
              <a:spcBef>
                <a:spcPct val="0"/>
              </a:spcBef>
              <a:spcAft>
                <a:spcPct val="0"/>
              </a:spcAft>
              <a:defRPr>
                <a:solidFill>
                  <a:srgbClr val="898989"/>
                </a:solidFill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r>
              <a:rPr lang="en-US" altLang="zh-CN"/>
              <a:t>	                                                                </a:t>
            </a:r>
            <a:fld id="{2ABEFC1A-4DB4-4CD2-A93A-BB13247C28F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dt" sz="half" idx="11"/>
          </p:nvPr>
        </p:nvSpPr>
        <p:spPr>
          <a:xfrm>
            <a:off x="628650" y="6356352"/>
            <a:ext cx="20574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4571343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277201"/>
            <a:ext cx="7772400" cy="712546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6356352"/>
            <a:ext cx="2057400" cy="365125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6356352"/>
            <a:ext cx="3086100" cy="365125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6356352"/>
            <a:ext cx="2057400" cy="365125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fld id="{BF47E86D-3368-47CB-907D-8EA39BDBA84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1661702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1" y="624254"/>
            <a:ext cx="8255000" cy="5395546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26478290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1_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81063" y="214313"/>
            <a:ext cx="8062912" cy="91916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576264" y="1368427"/>
            <a:ext cx="8351837" cy="5300663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dt" sz="half" idx="10"/>
          </p:nvPr>
        </p:nvSpPr>
        <p:spPr>
          <a:xfrm>
            <a:off x="1162050" y="6243638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ftr" sz="quarter" idx="11"/>
          </p:nvPr>
        </p:nvSpPr>
        <p:spPr>
          <a:xfrm>
            <a:off x="3671888" y="6400800"/>
            <a:ext cx="28956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r>
              <a:rPr lang="en-US" altLang="zh-CN"/>
              <a:t>copyright  </a:t>
            </a:r>
            <a:r>
              <a:rPr lang="zh-CN" altLang="en-US"/>
              <a:t>朱维红</a:t>
            </a:r>
            <a:endParaRPr lang="en-US" altLang="zh-CN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fld id="{8D6CB5DB-820B-4257-AA8E-6DE44A77694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5009594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dt" sz="half" idx="10"/>
          </p:nvPr>
        </p:nvSpPr>
        <p:spPr>
          <a:xfrm>
            <a:off x="1162050" y="6243638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ftr" sz="quarter" idx="11"/>
          </p:nvPr>
        </p:nvSpPr>
        <p:spPr>
          <a:xfrm>
            <a:off x="3671888" y="6400800"/>
            <a:ext cx="28956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r>
              <a:rPr lang="en-US" altLang="zh-CN"/>
              <a:t>copyright  </a:t>
            </a:r>
            <a:r>
              <a:rPr lang="zh-CN" altLang="en-US"/>
              <a:t>朱维红</a:t>
            </a:r>
            <a:endParaRPr lang="en-US" altLang="zh-CN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fld id="{5ED79246-7E55-4F6D-9798-0975818FCCC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4666244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881063" y="214313"/>
            <a:ext cx="8062912" cy="91916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576264" y="1368425"/>
            <a:ext cx="4098925" cy="2573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827588" y="1368425"/>
            <a:ext cx="4100512" cy="2573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76264" y="4094165"/>
            <a:ext cx="4098925" cy="25749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827588" y="4094165"/>
            <a:ext cx="4100512" cy="25749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dt" sz="half" idx="10"/>
          </p:nvPr>
        </p:nvSpPr>
        <p:spPr>
          <a:xfrm>
            <a:off x="1162050" y="6243638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3"/>
          <p:cNvSpPr>
            <a:spLocks noGrp="1" noChangeArrowheads="1"/>
          </p:cNvSpPr>
          <p:nvPr>
            <p:ph type="ftr" sz="quarter" idx="11"/>
          </p:nvPr>
        </p:nvSpPr>
        <p:spPr>
          <a:xfrm>
            <a:off x="3671888" y="6400800"/>
            <a:ext cx="28956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r>
              <a:rPr lang="en-US" altLang="zh-CN"/>
              <a:t>copyright  </a:t>
            </a:r>
            <a:r>
              <a:rPr lang="zh-CN" altLang="en-US"/>
              <a:t>朱维红</a:t>
            </a:r>
            <a:endParaRPr lang="en-US" altLang="zh-CN"/>
          </a:p>
        </p:txBody>
      </p:sp>
      <p:sp>
        <p:nvSpPr>
          <p:cNvPr id="9" name="Rectangle 1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fld id="{448E00CF-70E6-4210-B23A-8272C8897EC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6627023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4213" y="536331"/>
            <a:ext cx="7772400" cy="534694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45693450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4213" y="386863"/>
            <a:ext cx="7772400" cy="54964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0155184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4213" y="457201"/>
            <a:ext cx="7772400" cy="5426075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86533028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4213" y="430823"/>
            <a:ext cx="7772400" cy="545245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89224631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4213" y="580293"/>
            <a:ext cx="7772400" cy="530298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53013288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>
                <a:solidFill>
                  <a:srgbClr val="FF000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292991268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19659"/>
          </a:xfrm>
        </p:spPr>
        <p:txBody>
          <a:bodyPr>
            <a:normAutofit/>
          </a:bodyPr>
          <a:lstStyle>
            <a:lvl1pPr algn="ctr">
              <a:defRPr sz="2700" b="1" baseline="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10000"/>
              </a:lnSpc>
              <a:spcBef>
                <a:spcPts val="900"/>
              </a:spcBef>
              <a:defRPr sz="2100" b="1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  <a:lvl2pPr>
              <a:lnSpc>
                <a:spcPct val="110000"/>
              </a:lnSpc>
              <a:spcBef>
                <a:spcPts val="900"/>
              </a:spcBef>
              <a:defRPr sz="1800" b="1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2pPr>
            <a:lvl3pPr>
              <a:lnSpc>
                <a:spcPct val="110000"/>
              </a:lnSpc>
              <a:spcBef>
                <a:spcPts val="900"/>
              </a:spcBef>
              <a:defRPr sz="1800" b="1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3pPr>
            <a:lvl4pPr>
              <a:lnSpc>
                <a:spcPct val="110000"/>
              </a:lnSpc>
              <a:spcBef>
                <a:spcPts val="900"/>
              </a:spcBef>
              <a:defRPr sz="1800" b="1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4pPr>
            <a:lvl5pPr>
              <a:lnSpc>
                <a:spcPct val="110000"/>
              </a:lnSpc>
              <a:spcBef>
                <a:spcPts val="900"/>
              </a:spcBef>
              <a:defRPr sz="1800" b="1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30273999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029615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0743" y="234841"/>
            <a:ext cx="8229600" cy="67432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33063572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00114" y="1484313"/>
            <a:ext cx="3775075" cy="50403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827588" y="1484313"/>
            <a:ext cx="3776662" cy="50403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11189" y="6381750"/>
            <a:ext cx="2447925" cy="40005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r>
              <a:rPr lang="en-US" altLang="zh-CN"/>
              <a:t>Copyrights Zhu, Weihong</a:t>
            </a:r>
            <a:r>
              <a:rPr lang="en-US" altLang="zh-CN">
                <a:latin typeface="Tahoma" panose="020B0604030504040204" pitchFamily="34" charset="0"/>
              </a:rPr>
              <a:t> 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352800" y="6324600"/>
            <a:ext cx="2895600" cy="45720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5655991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4213" y="404815"/>
            <a:ext cx="8134350" cy="8286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412877"/>
            <a:ext cx="3771900" cy="49688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10100" y="1412877"/>
            <a:ext cx="3771900" cy="49688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1371600" y="6248400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549073" y="6400800"/>
            <a:ext cx="2895600" cy="45720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56278610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40"/>
            <a:ext cx="8229600" cy="81438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66725" y="1196977"/>
            <a:ext cx="4046538" cy="48228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65664" y="1196977"/>
            <a:ext cx="4046537" cy="23352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65664" y="3684588"/>
            <a:ext cx="4046537" cy="23352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0"/>
          </p:nvPr>
        </p:nvSpPr>
        <p:spPr>
          <a:xfrm>
            <a:off x="3028950" y="6356352"/>
            <a:ext cx="3086100" cy="365125"/>
          </a:xfrm>
          <a:prstGeom prst="rect">
            <a:avLst/>
          </a:prstGeom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1" fontAlgn="base" hangingPunct="1">
              <a:spcBef>
                <a:spcPct val="0"/>
              </a:spcBef>
              <a:spcAft>
                <a:spcPct val="0"/>
              </a:spcAft>
              <a:defRPr>
                <a:solidFill>
                  <a:srgbClr val="898989"/>
                </a:solidFill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r>
              <a:rPr lang="en-US" altLang="zh-CN"/>
              <a:t>	                                                                </a:t>
            </a:r>
            <a:fld id="{2ABEFC1A-4DB4-4CD2-A93A-BB13247C28F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dt" sz="half" idx="11"/>
          </p:nvPr>
        </p:nvSpPr>
        <p:spPr>
          <a:xfrm>
            <a:off x="628650" y="6356352"/>
            <a:ext cx="20574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1106709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277201"/>
            <a:ext cx="7772400" cy="712546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6356352"/>
            <a:ext cx="2057400" cy="365125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6356352"/>
            <a:ext cx="3086100" cy="365125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6356352"/>
            <a:ext cx="2057400" cy="365125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fld id="{BF47E86D-3368-47CB-907D-8EA39BDBA84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733370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1" y="624254"/>
            <a:ext cx="8255000" cy="5395546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Rectangle 3"/>
          <p:cNvSpPr>
            <a:spLocks noGrp="1" noChangeArrowheads="1"/>
          </p:cNvSpPr>
          <p:nvPr>
            <p:ph type="ftr" sz="quarter" idx="10"/>
          </p:nvPr>
        </p:nvSpPr>
        <p:spPr>
          <a:xfrm>
            <a:off x="3028950" y="6356352"/>
            <a:ext cx="3086100" cy="365125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r>
              <a:rPr lang="en-US" altLang="zh-CN"/>
              <a:t>Copyright by Hailiang Xiong</a:t>
            </a:r>
            <a:r>
              <a:rPr lang="zh-CN" altLang="en-US"/>
              <a:t>山东大学</a:t>
            </a:r>
            <a:r>
              <a:rPr lang="en-US" altLang="zh-CN">
                <a:latin typeface="Arial" panose="020B0604020202020204" pitchFamily="34" charset="0"/>
              </a:rPr>
              <a:t>	                                                                </a:t>
            </a:r>
            <a:fld id="{8FBAAC0D-07A3-4AB9-A234-A9E9A2F0A6FD}" type="slidenum">
              <a:rPr lang="en-US" altLang="zh-CN">
                <a:latin typeface="Arial" panose="020B0604020202020204" pitchFamily="34" charset="0"/>
              </a:rPr>
              <a:pPr>
                <a:defRPr/>
              </a:pPr>
              <a:t>‹#›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813360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1_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81063" y="214313"/>
            <a:ext cx="8062912" cy="91916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576264" y="1368427"/>
            <a:ext cx="8351837" cy="5300663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dt" sz="half" idx="10"/>
          </p:nvPr>
        </p:nvSpPr>
        <p:spPr>
          <a:xfrm>
            <a:off x="1162050" y="6243638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ftr" sz="quarter" idx="11"/>
          </p:nvPr>
        </p:nvSpPr>
        <p:spPr>
          <a:xfrm>
            <a:off x="3671888" y="6400800"/>
            <a:ext cx="28956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r>
              <a:rPr lang="en-US" altLang="zh-CN"/>
              <a:t>copyright  </a:t>
            </a:r>
            <a:r>
              <a:rPr lang="zh-CN" altLang="en-US"/>
              <a:t>朱维红</a:t>
            </a:r>
            <a:endParaRPr lang="en-US" altLang="zh-CN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fld id="{8D6CB5DB-820B-4257-AA8E-6DE44A77694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6792535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dt" sz="half" idx="10"/>
          </p:nvPr>
        </p:nvSpPr>
        <p:spPr>
          <a:xfrm>
            <a:off x="1162050" y="6243638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ftr" sz="quarter" idx="11"/>
          </p:nvPr>
        </p:nvSpPr>
        <p:spPr>
          <a:xfrm>
            <a:off x="3671888" y="6400800"/>
            <a:ext cx="28956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r>
              <a:rPr lang="en-US" altLang="zh-CN"/>
              <a:t>copyright  </a:t>
            </a:r>
            <a:r>
              <a:rPr lang="zh-CN" altLang="en-US"/>
              <a:t>朱维红</a:t>
            </a:r>
            <a:endParaRPr lang="en-US" altLang="zh-CN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fld id="{5ED79246-7E55-4F6D-9798-0975818FCCC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4479782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881063" y="214313"/>
            <a:ext cx="8062912" cy="91916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576264" y="1368425"/>
            <a:ext cx="4098925" cy="2573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827588" y="1368425"/>
            <a:ext cx="4100512" cy="2573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76264" y="4094165"/>
            <a:ext cx="4098925" cy="25749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827588" y="4094165"/>
            <a:ext cx="4100512" cy="25749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dt" sz="half" idx="10"/>
          </p:nvPr>
        </p:nvSpPr>
        <p:spPr>
          <a:xfrm>
            <a:off x="1162050" y="6243638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3"/>
          <p:cNvSpPr>
            <a:spLocks noGrp="1" noChangeArrowheads="1"/>
          </p:cNvSpPr>
          <p:nvPr>
            <p:ph type="ftr" sz="quarter" idx="11"/>
          </p:nvPr>
        </p:nvSpPr>
        <p:spPr>
          <a:xfrm>
            <a:off x="3671888" y="6400800"/>
            <a:ext cx="28956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r>
              <a:rPr lang="en-US" altLang="zh-CN"/>
              <a:t>copyright  </a:t>
            </a:r>
            <a:r>
              <a:rPr lang="zh-CN" altLang="en-US"/>
              <a:t>朱维红</a:t>
            </a:r>
            <a:endParaRPr lang="en-US" altLang="zh-CN"/>
          </a:p>
        </p:txBody>
      </p:sp>
      <p:sp>
        <p:nvSpPr>
          <p:cNvPr id="9" name="Rectangle 1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fld id="{448E00CF-70E6-4210-B23A-8272C8897EC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9450212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4213" y="536331"/>
            <a:ext cx="7772400" cy="534694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13339054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4213" y="386863"/>
            <a:ext cx="7772400" cy="54964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19526853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4213" y="457201"/>
            <a:ext cx="7772400" cy="5426075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32658019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4213" y="430823"/>
            <a:ext cx="7772400" cy="545245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000799677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4213" y="580293"/>
            <a:ext cx="7772400" cy="530298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095687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2.png"/><Relationship Id="rId5" Type="http://schemas.openxmlformats.org/officeDocument/2006/relationships/image" Target="../media/image1.jpeg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18" Type="http://schemas.openxmlformats.org/officeDocument/2006/relationships/theme" Target="../theme/theme4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17" Type="http://schemas.openxmlformats.org/officeDocument/2006/relationships/slideLayout" Target="../slideLayouts/slideLayout42.xml"/><Relationship Id="rId2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41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35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9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0.xml"/><Relationship Id="rId13" Type="http://schemas.openxmlformats.org/officeDocument/2006/relationships/slideLayout" Target="../slideLayouts/slideLayout55.xml"/><Relationship Id="rId18" Type="http://schemas.openxmlformats.org/officeDocument/2006/relationships/theme" Target="../theme/theme5.xml"/><Relationship Id="rId3" Type="http://schemas.openxmlformats.org/officeDocument/2006/relationships/slideLayout" Target="../slideLayouts/slideLayout45.xml"/><Relationship Id="rId7" Type="http://schemas.openxmlformats.org/officeDocument/2006/relationships/slideLayout" Target="../slideLayouts/slideLayout49.xml"/><Relationship Id="rId12" Type="http://schemas.openxmlformats.org/officeDocument/2006/relationships/slideLayout" Target="../slideLayouts/slideLayout54.xml"/><Relationship Id="rId17" Type="http://schemas.openxmlformats.org/officeDocument/2006/relationships/slideLayout" Target="../slideLayouts/slideLayout59.xml"/><Relationship Id="rId2" Type="http://schemas.openxmlformats.org/officeDocument/2006/relationships/slideLayout" Target="../slideLayouts/slideLayout44.xml"/><Relationship Id="rId16" Type="http://schemas.openxmlformats.org/officeDocument/2006/relationships/slideLayout" Target="../slideLayouts/slideLayout58.xml"/><Relationship Id="rId1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8.xml"/><Relationship Id="rId11" Type="http://schemas.openxmlformats.org/officeDocument/2006/relationships/slideLayout" Target="../slideLayouts/slideLayout53.xml"/><Relationship Id="rId5" Type="http://schemas.openxmlformats.org/officeDocument/2006/relationships/slideLayout" Target="../slideLayouts/slideLayout47.xml"/><Relationship Id="rId15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6.xml"/><Relationship Id="rId9" Type="http://schemas.openxmlformats.org/officeDocument/2006/relationships/slideLayout" Target="../slideLayouts/slideLayout51.xml"/><Relationship Id="rId14" Type="http://schemas.openxmlformats.org/officeDocument/2006/relationships/slideLayout" Target="../slideLayouts/slideLayout5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9FDD8F-1499-4C79-8BBC-577CD559A01B}" type="datetimeFigureOut">
              <a:rPr lang="zh-CN" altLang="en-US" smtClean="0"/>
              <a:pPr/>
              <a:t>2024/10/11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6A5207-5CB9-460F-BBB4-8E3511E543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4636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139855-D108-4DFB-8CB9-5769378610FC}" type="datetimeFigureOut">
              <a:rPr lang="zh-CN" altLang="en-US" smtClean="0"/>
              <a:pPr/>
              <a:t>2024/10/11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15CB5F-3147-4421-AB17-7961083DEE8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7910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460432" y="6460772"/>
            <a:ext cx="7183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2" descr="C:\Users\Administrator\Downloads\SDU.jpg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0080" y="3235"/>
            <a:ext cx="880064" cy="836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直接连接符 7"/>
          <p:cNvCxnSpPr/>
          <p:nvPr userDrawn="1"/>
        </p:nvCxnSpPr>
        <p:spPr>
          <a:xfrm>
            <a:off x="0" y="1124744"/>
            <a:ext cx="9143022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2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6225" y="839047"/>
            <a:ext cx="1247775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86329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048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zh-CN" dirty="0"/>
              <a:t>Klicken Sie, um das Titelformat zu bearbeiten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4213" y="1628775"/>
            <a:ext cx="7772400" cy="425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zh-CN" dirty="0"/>
              <a:t>Klicken Sie, um die Formate des Vorlagentextes zu bearbeiten</a:t>
            </a:r>
          </a:p>
          <a:p>
            <a:pPr lvl="1"/>
            <a:r>
              <a:rPr lang="de-DE" altLang="zh-CN" dirty="0"/>
              <a:t>Zweite Ebene</a:t>
            </a:r>
          </a:p>
          <a:p>
            <a:pPr lvl="2"/>
            <a:r>
              <a:rPr lang="de-DE" altLang="zh-CN" dirty="0"/>
              <a:t>Dritte Ebene</a:t>
            </a:r>
          </a:p>
          <a:p>
            <a:pPr lvl="3"/>
            <a:r>
              <a:rPr lang="de-DE" altLang="zh-CN" dirty="0"/>
              <a:t>Vierte Ebene</a:t>
            </a:r>
          </a:p>
        </p:txBody>
      </p:sp>
      <p:sp>
        <p:nvSpPr>
          <p:cNvPr id="1028" name="Line 4"/>
          <p:cNvSpPr>
            <a:spLocks noChangeShapeType="1"/>
          </p:cNvSpPr>
          <p:nvPr/>
        </p:nvSpPr>
        <p:spPr bwMode="auto">
          <a:xfrm flipV="1">
            <a:off x="591247" y="6389505"/>
            <a:ext cx="8064500" cy="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289062" y="6415221"/>
            <a:ext cx="10668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defRPr/>
            </a:pPr>
            <a:r>
              <a:rPr lang="de-DE" altLang="zh-CN" sz="900" dirty="0">
                <a:solidFill>
                  <a:srgbClr val="808080"/>
                </a:solidFill>
                <a:latin typeface="Arial" panose="020B0604020202020204" pitchFamily="34" charset="0"/>
              </a:rPr>
              <a:t>Slide </a:t>
            </a:r>
            <a:fld id="{ED94CCA2-7169-4BB5-975E-E6CC90B66E06}" type="slidenum">
              <a:rPr lang="de-DE" altLang="zh-CN" sz="900" smtClean="0">
                <a:solidFill>
                  <a:srgbClr val="808080"/>
                </a:solidFill>
                <a:latin typeface="Arial" panose="020B0604020202020204" pitchFamily="34" charset="0"/>
              </a:rPr>
              <a:pPr algn="r" eaLnBrk="1" hangingPunct="1">
                <a:defRPr/>
              </a:pPr>
              <a:t>‹#›</a:t>
            </a:fld>
            <a:endParaRPr lang="de-DE" altLang="zh-CN" sz="1050" dirty="0">
              <a:solidFill>
                <a:srgbClr val="000000"/>
              </a:solidFill>
              <a:latin typeface="Arial Black" panose="020B0A04020102020204" pitchFamily="34" charset="0"/>
            </a:endParaRPr>
          </a:p>
        </p:txBody>
      </p:sp>
      <p:sp>
        <p:nvSpPr>
          <p:cNvPr id="1030" name="Text Box 6"/>
          <p:cNvSpPr txBox="1">
            <a:spLocks noChangeArrowheads="1"/>
          </p:cNvSpPr>
          <p:nvPr/>
        </p:nvSpPr>
        <p:spPr bwMode="auto">
          <a:xfrm>
            <a:off x="2612555" y="6521901"/>
            <a:ext cx="3124200" cy="2539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50" b="1" kern="1200" dirty="0">
                <a:solidFill>
                  <a:schemeClr val="accent1">
                    <a:lumMod val="75000"/>
                  </a:schemeClr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随机信号分析   </a:t>
            </a:r>
            <a:r>
              <a:rPr lang="de-DE" altLang="zh-CN" sz="105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2022 </a:t>
            </a:r>
            <a:r>
              <a:rPr lang="en-US" altLang="zh-CN" sz="105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Fall</a:t>
            </a:r>
            <a:endParaRPr lang="zh-CN" altLang="de-DE" sz="105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208903" name="Text Box 7"/>
          <p:cNvSpPr txBox="1">
            <a:spLocks noChangeArrowheads="1"/>
          </p:cNvSpPr>
          <p:nvPr/>
        </p:nvSpPr>
        <p:spPr bwMode="auto">
          <a:xfrm>
            <a:off x="7808913" y="6461125"/>
            <a:ext cx="1295400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s-ES" sz="15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幼圆" panose="02010509060101010101" pitchFamily="49" charset="-122"/>
              </a:rPr>
              <a:t>山东大学</a:t>
            </a:r>
            <a:endParaRPr lang="zh-CN" altLang="en-US" sz="1500" b="1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  <p:sp>
        <p:nvSpPr>
          <p:cNvPr id="208904" name="Text Box 8"/>
          <p:cNvSpPr txBox="1">
            <a:spLocks noChangeArrowheads="1"/>
          </p:cNvSpPr>
          <p:nvPr/>
        </p:nvSpPr>
        <p:spPr bwMode="auto">
          <a:xfrm>
            <a:off x="5720272" y="6461126"/>
            <a:ext cx="2546350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s-ES" sz="1500" i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彩云" panose="02010800040101010101" pitchFamily="2" charset="-122"/>
              </a:rPr>
              <a:t>信息科学与工程学院</a:t>
            </a:r>
            <a:endParaRPr lang="zh-CN" altLang="en-US" sz="1500" i="1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  <a:ea typeface="华文彩云" panose="02010800040101010101" pitchFamily="2" charset="-122"/>
            </a:endParaRPr>
          </a:p>
        </p:txBody>
      </p:sp>
      <p:pic>
        <p:nvPicPr>
          <p:cNvPr id="1033" name="Picture 9"/>
          <p:cNvPicPr preferRelativeResize="0">
            <a:picLocks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46" y="58913"/>
            <a:ext cx="540000" cy="720000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01979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2400" b="1" kern="1200" baseline="0">
          <a:solidFill>
            <a:srgbClr val="FF0000"/>
          </a:solidFill>
          <a:latin typeface="Times New Roman" panose="02020603050405020304" pitchFamily="18" charset="0"/>
          <a:ea typeface="隶书" panose="020105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342900" algn="ctr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Char char="•"/>
        <a:defRPr sz="2100" b="1" kern="1200" baseline="0">
          <a:solidFill>
            <a:schemeClr val="tx1"/>
          </a:solidFill>
          <a:latin typeface="Times New Roman" panose="02020603050405020304" pitchFamily="18" charset="0"/>
          <a:ea typeface="楷体" panose="02010609060101010101" pitchFamily="49" charset="-122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Char char="–"/>
        <a:defRPr sz="1800" b="1" kern="1200" baseline="0">
          <a:solidFill>
            <a:schemeClr val="tx1"/>
          </a:solidFill>
          <a:latin typeface="Times New Roman" panose="02020603050405020304" pitchFamily="18" charset="0"/>
          <a:ea typeface="楷体" panose="02010609060101010101" pitchFamily="49" charset="-122"/>
          <a:cs typeface="+mn-cs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Char char="•"/>
        <a:defRPr sz="1500" b="1" kern="1200" baseline="0">
          <a:solidFill>
            <a:schemeClr val="tx1"/>
          </a:solidFill>
          <a:latin typeface="Times New Roman" panose="02020603050405020304" pitchFamily="18" charset="0"/>
          <a:ea typeface="楷体" panose="02010609060101010101" pitchFamily="49" charset="-122"/>
          <a:cs typeface="+mn-cs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Char char="–"/>
        <a:defRPr sz="1500" b="1" kern="1200" baseline="0">
          <a:solidFill>
            <a:schemeClr val="tx1"/>
          </a:solidFill>
          <a:latin typeface="Times New Roman" panose="02020603050405020304" pitchFamily="18" charset="0"/>
          <a:ea typeface="楷体" panose="02010609060101010101" pitchFamily="49" charset="-122"/>
          <a:cs typeface="+mn-cs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Char char="»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048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zh-CN" dirty="0"/>
              <a:t>Klicken Sie, um das Titelformat zu bearbeiten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4213" y="1628775"/>
            <a:ext cx="7772400" cy="425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zh-CN" dirty="0"/>
              <a:t>Klicken Sie, um die Formate des Vorlagentextes zu bearbeiten</a:t>
            </a:r>
          </a:p>
          <a:p>
            <a:pPr lvl="1"/>
            <a:r>
              <a:rPr lang="de-DE" altLang="zh-CN" dirty="0"/>
              <a:t>Zweite Ebene</a:t>
            </a:r>
          </a:p>
          <a:p>
            <a:pPr lvl="2"/>
            <a:r>
              <a:rPr lang="de-DE" altLang="zh-CN" dirty="0"/>
              <a:t>Dritte Ebene</a:t>
            </a:r>
          </a:p>
          <a:p>
            <a:pPr lvl="3"/>
            <a:r>
              <a:rPr lang="de-DE" altLang="zh-CN" dirty="0"/>
              <a:t>Vierte Ebene</a:t>
            </a:r>
          </a:p>
        </p:txBody>
      </p:sp>
      <p:sp>
        <p:nvSpPr>
          <p:cNvPr id="1028" name="Line 4"/>
          <p:cNvSpPr>
            <a:spLocks noChangeShapeType="1"/>
          </p:cNvSpPr>
          <p:nvPr/>
        </p:nvSpPr>
        <p:spPr bwMode="auto">
          <a:xfrm flipV="1">
            <a:off x="591247" y="6389505"/>
            <a:ext cx="8064500" cy="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611560" y="6415220"/>
            <a:ext cx="504056" cy="307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defRPr/>
            </a:pPr>
            <a:fld id="{ED94CCA2-7169-4BB5-975E-E6CC90B66E06}" type="slidenum">
              <a:rPr lang="de-DE" altLang="zh-CN" sz="1800" smtClean="0">
                <a:solidFill>
                  <a:srgbClr val="808080"/>
                </a:solidFill>
                <a:latin typeface="Arial" panose="020B0604020202020204" pitchFamily="34" charset="0"/>
              </a:rPr>
              <a:pPr algn="r" eaLnBrk="1" hangingPunct="1">
                <a:defRPr/>
              </a:pPr>
              <a:t>‹#›</a:t>
            </a:fld>
            <a:endParaRPr lang="de-DE" altLang="zh-CN" sz="1800" dirty="0">
              <a:solidFill>
                <a:srgbClr val="000000"/>
              </a:solidFill>
              <a:latin typeface="Arial Black" panose="020B0A04020102020204" pitchFamily="34" charset="0"/>
            </a:endParaRPr>
          </a:p>
        </p:txBody>
      </p:sp>
      <p:sp>
        <p:nvSpPr>
          <p:cNvPr id="1030" name="Text Box 6"/>
          <p:cNvSpPr txBox="1">
            <a:spLocks noChangeArrowheads="1"/>
          </p:cNvSpPr>
          <p:nvPr/>
        </p:nvSpPr>
        <p:spPr bwMode="auto">
          <a:xfrm>
            <a:off x="3190419" y="6422607"/>
            <a:ext cx="2588432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1" kern="1200" dirty="0">
                <a:solidFill>
                  <a:schemeClr val="accent1">
                    <a:lumMod val="75000"/>
                  </a:schemeClr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随机信号分析   </a:t>
            </a:r>
            <a:r>
              <a:rPr lang="de-DE" altLang="zh-CN" sz="16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2024 </a:t>
            </a:r>
            <a:r>
              <a:rPr lang="en-US" altLang="zh-CN" sz="16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Fall</a:t>
            </a:r>
            <a:endParaRPr lang="zh-CN" altLang="de-DE" sz="16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208903" name="Text Box 7"/>
          <p:cNvSpPr txBox="1">
            <a:spLocks noChangeArrowheads="1"/>
          </p:cNvSpPr>
          <p:nvPr/>
        </p:nvSpPr>
        <p:spPr bwMode="auto">
          <a:xfrm>
            <a:off x="7596336" y="6439619"/>
            <a:ext cx="129540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s-ES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幼圆" panose="02010509060101010101" pitchFamily="49" charset="-122"/>
              </a:rPr>
              <a:t>山东大学</a:t>
            </a:r>
            <a:endParaRPr lang="zh-CN" altLang="en-US" sz="1600" b="1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648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2400" b="1" kern="1200" baseline="0">
          <a:solidFill>
            <a:srgbClr val="FF0000"/>
          </a:solidFill>
          <a:latin typeface="Times New Roman" panose="02020603050405020304" pitchFamily="18" charset="0"/>
          <a:ea typeface="隶书" panose="020105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342900" algn="ctr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Char char="•"/>
        <a:defRPr sz="2100" b="1" kern="1200" baseline="0">
          <a:solidFill>
            <a:schemeClr val="tx1"/>
          </a:solidFill>
          <a:latin typeface="Times New Roman" panose="02020603050405020304" pitchFamily="18" charset="0"/>
          <a:ea typeface="楷体" panose="02010609060101010101" pitchFamily="49" charset="-122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Char char="–"/>
        <a:defRPr sz="1800" b="1" kern="1200" baseline="0">
          <a:solidFill>
            <a:schemeClr val="tx1"/>
          </a:solidFill>
          <a:latin typeface="Times New Roman" panose="02020603050405020304" pitchFamily="18" charset="0"/>
          <a:ea typeface="楷体" panose="02010609060101010101" pitchFamily="49" charset="-122"/>
          <a:cs typeface="+mn-cs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Char char="•"/>
        <a:defRPr sz="1500" b="1" kern="1200" baseline="0">
          <a:solidFill>
            <a:schemeClr val="tx1"/>
          </a:solidFill>
          <a:latin typeface="Times New Roman" panose="02020603050405020304" pitchFamily="18" charset="0"/>
          <a:ea typeface="楷体" panose="02010609060101010101" pitchFamily="49" charset="-122"/>
          <a:cs typeface="+mn-cs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Char char="–"/>
        <a:defRPr sz="1500" b="1" kern="1200" baseline="0">
          <a:solidFill>
            <a:schemeClr val="tx1"/>
          </a:solidFill>
          <a:latin typeface="Times New Roman" panose="02020603050405020304" pitchFamily="18" charset="0"/>
          <a:ea typeface="楷体" panose="02010609060101010101" pitchFamily="49" charset="-122"/>
          <a:cs typeface="+mn-cs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Char char="»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4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5.png"/><Relationship Id="rId4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51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8.png"/><Relationship Id="rId4" Type="http://schemas.openxmlformats.org/officeDocument/2006/relationships/oleObject" Target="../embeddings/oleObject1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1.xml"/><Relationship Id="rId4" Type="http://schemas.openxmlformats.org/officeDocument/2006/relationships/image" Target="../media/image12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1.xml"/><Relationship Id="rId6" Type="http://schemas.openxmlformats.org/officeDocument/2006/relationships/image" Target="../media/image22.png"/><Relationship Id="rId5" Type="http://schemas.openxmlformats.org/officeDocument/2006/relationships/image" Target="../media/image11.png"/><Relationship Id="rId4" Type="http://schemas.openxmlformats.org/officeDocument/2006/relationships/image" Target="../media/image13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28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image" Target="../media/image30.png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slideLayout" Target="../slideLayouts/slideLayout45.xml"/><Relationship Id="rId5" Type="http://schemas.openxmlformats.org/officeDocument/2006/relationships/tags" Target="../tags/tag5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image" Target="../media/image14.tmp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1.xml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5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5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1.xml"/><Relationship Id="rId4" Type="http://schemas.openxmlformats.org/officeDocument/2006/relationships/image" Target="../media/image4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5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0.png"/><Relationship Id="rId1" Type="http://schemas.openxmlformats.org/officeDocument/2006/relationships/slideLayout" Target="../slideLayouts/slideLayout5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5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1.xml"/><Relationship Id="rId4" Type="http://schemas.openxmlformats.org/officeDocument/2006/relationships/image" Target="../media/image44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5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5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5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0.png"/><Relationship Id="rId1" Type="http://schemas.openxmlformats.org/officeDocument/2006/relationships/slideLayout" Target="../slideLayouts/slideLayout5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emf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51.xml"/><Relationship Id="rId4" Type="http://schemas.openxmlformats.org/officeDocument/2006/relationships/image" Target="../media/image46.emf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5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5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5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 txBox="1">
            <a:spLocks/>
          </p:cNvSpPr>
          <p:nvPr/>
        </p:nvSpPr>
        <p:spPr>
          <a:xfrm>
            <a:off x="179512" y="512180"/>
            <a:ext cx="8496944" cy="1224136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lnSpc>
                <a:spcPts val="576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dirty="0">
                <a:solidFill>
                  <a:srgbClr val="C00000"/>
                </a:solidFill>
                <a:latin typeface="宋体"/>
              </a:rPr>
              <a:t>随机信号分析</a:t>
            </a:r>
            <a:endParaRPr lang="en-US" altLang="zh-CN" b="1" dirty="0">
              <a:solidFill>
                <a:srgbClr val="C00000"/>
              </a:solidFill>
              <a:latin typeface="宋体"/>
            </a:endParaRPr>
          </a:p>
          <a:p>
            <a:pPr fontAlgn="auto">
              <a:lnSpc>
                <a:spcPts val="576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Random signal analysis</a:t>
            </a:r>
            <a:endParaRPr lang="es-HN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115616" y="3933056"/>
            <a:ext cx="7488832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3600" b="1" dirty="0">
                <a:solidFill>
                  <a:prstClr val="white"/>
                </a:solidFill>
                <a:latin typeface="宋体"/>
              </a:rPr>
              <a:t>张文胜 </a:t>
            </a:r>
            <a:endParaRPr lang="en-US" altLang="zh-CN" sz="3600" b="1" dirty="0">
              <a:solidFill>
                <a:prstClr val="white"/>
              </a:solidFill>
              <a:latin typeface="宋体"/>
            </a:endParaRPr>
          </a:p>
          <a:p>
            <a:pPr algn="ctr"/>
            <a:r>
              <a:rPr lang="zh-CN" altLang="en-US" sz="2800" b="1" dirty="0">
                <a:solidFill>
                  <a:prstClr val="white"/>
                </a:solidFill>
                <a:latin typeface="宋体"/>
              </a:rPr>
              <a:t>微信：</a:t>
            </a:r>
            <a:r>
              <a:rPr lang="en-US" altLang="zh-CN" sz="2800" b="1" dirty="0">
                <a:solidFill>
                  <a:prstClr val="white"/>
                </a:solidFill>
                <a:latin typeface="宋体"/>
              </a:rPr>
              <a:t>15063339795  QQ:762329090</a:t>
            </a:r>
          </a:p>
          <a:p>
            <a:pPr algn="ctr"/>
            <a:r>
              <a:rPr lang="en-US" altLang="zh-CN" sz="2400" b="1" dirty="0">
                <a:solidFill>
                  <a:prstClr val="white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zhangwsh@sdu.edu.cn</a:t>
            </a:r>
          </a:p>
          <a:p>
            <a:pPr algn="ctr"/>
            <a:r>
              <a:rPr lang="en-US" altLang="zh-HK" sz="2400" b="1" dirty="0">
                <a:solidFill>
                  <a:prstClr val="white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zhang8181@gmail.com</a:t>
            </a:r>
          </a:p>
          <a:p>
            <a:pPr algn="ctr"/>
            <a:r>
              <a:rPr lang="en-US" altLang="zh-HK" sz="2000" b="1" dirty="0">
                <a:solidFill>
                  <a:prstClr val="white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School of Information Science and Engineering</a:t>
            </a:r>
          </a:p>
          <a:p>
            <a:pPr algn="ctr"/>
            <a:r>
              <a:rPr lang="en-US" altLang="zh-HK" sz="2400" b="1" dirty="0">
                <a:solidFill>
                  <a:prstClr val="white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Shandong University</a:t>
            </a:r>
            <a:endParaRPr lang="zh-TW" altLang="zh-HK" sz="2800" dirty="0">
              <a:solidFill>
                <a:prstClr val="white"/>
              </a:solidFill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  <a:p>
            <a:endParaRPr lang="zh-TW" altLang="zh-HK" sz="2400" dirty="0">
              <a:solidFill>
                <a:prstClr val="white"/>
              </a:solidFill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6" name="1 Título"/>
          <p:cNvSpPr txBox="1">
            <a:spLocks/>
          </p:cNvSpPr>
          <p:nvPr/>
        </p:nvSpPr>
        <p:spPr>
          <a:xfrm>
            <a:off x="827584" y="2248402"/>
            <a:ext cx="7488832" cy="647576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lnSpc>
                <a:spcPts val="576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800" b="1" dirty="0">
                <a:cs typeface="Arial Unicode MS" pitchFamily="34" charset="-122"/>
              </a:rPr>
              <a:t>课程号</a:t>
            </a:r>
            <a:r>
              <a:rPr lang="en-US" altLang="zh-CN" sz="2800" b="1" dirty="0">
                <a:cs typeface="Arial Unicode MS" pitchFamily="34" charset="-122"/>
              </a:rPr>
              <a:t>: </a:t>
            </a:r>
            <a:r>
              <a:rPr lang="en-US" altLang="zh-CN" sz="2800" b="1" dirty="0"/>
              <a:t>sd01234090    </a:t>
            </a:r>
            <a:r>
              <a:rPr lang="zh-CN" altLang="en-US" sz="2800" b="1" dirty="0"/>
              <a:t>周五</a:t>
            </a:r>
            <a:r>
              <a:rPr lang="en-US" altLang="zh-CN" sz="2800" b="1" dirty="0"/>
              <a:t>5-6</a:t>
            </a:r>
            <a:r>
              <a:rPr lang="zh-CN" altLang="en-US" sz="2800" b="1" dirty="0"/>
              <a:t>节  </a:t>
            </a:r>
            <a:endParaRPr lang="en-US" altLang="zh-CN" sz="2800" b="1" dirty="0"/>
          </a:p>
          <a:p>
            <a:pPr fontAlgn="auto">
              <a:lnSpc>
                <a:spcPts val="576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800" b="1" dirty="0">
                <a:cs typeface="Arial Unicode MS" pitchFamily="34" charset="-122"/>
              </a:rPr>
              <a:t>振声苑</a:t>
            </a:r>
            <a:r>
              <a:rPr lang="en-US" altLang="zh-CN" sz="2800" b="1" dirty="0">
                <a:cs typeface="Arial Unicode MS" pitchFamily="34" charset="-122"/>
              </a:rPr>
              <a:t>W106</a:t>
            </a:r>
            <a:r>
              <a:rPr lang="zh-CN" altLang="en-US" sz="2800" b="1" dirty="0">
                <a:cs typeface="Arial Unicode MS" pitchFamily="34" charset="-122"/>
              </a:rPr>
              <a:t>，通信</a:t>
            </a:r>
            <a:r>
              <a:rPr lang="en-US" altLang="zh-CN" sz="2800" b="1" dirty="0">
                <a:cs typeface="Arial Unicode MS" pitchFamily="34" charset="-122"/>
              </a:rPr>
              <a:t>23[2-3]</a:t>
            </a:r>
            <a:r>
              <a:rPr lang="zh-CN" altLang="en-US" sz="2800" b="1" dirty="0">
                <a:cs typeface="Arial Unicode MS" pitchFamily="34" charset="-122"/>
              </a:rPr>
              <a:t>班，</a:t>
            </a:r>
            <a:r>
              <a:rPr lang="en-US" altLang="zh-CN" sz="2800" b="1" dirty="0">
                <a:cs typeface="Arial Unicode MS" pitchFamily="34" charset="-122"/>
              </a:rPr>
              <a:t>2024</a:t>
            </a:r>
            <a:r>
              <a:rPr lang="zh-CN" altLang="en-US" sz="2800" b="1" dirty="0">
                <a:cs typeface="Arial Unicode MS" pitchFamily="34" charset="-122"/>
              </a:rPr>
              <a:t>年秋</a:t>
            </a:r>
            <a:endParaRPr lang="es-HN" sz="2800" b="1" dirty="0">
              <a:cs typeface="Arial Unicode MS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701019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6A0A19-4259-4472-8BDE-77AEA81EF7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3568" y="836712"/>
            <a:ext cx="7632848" cy="792088"/>
          </a:xfrm>
        </p:spPr>
        <p:txBody>
          <a:bodyPr/>
          <a:lstStyle/>
          <a:p>
            <a:r>
              <a:rPr lang="zh-CN" altLang="en-US" sz="4000" dirty="0"/>
              <a:t>第二章 随机信号（随机过程）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3BE3613-3AC2-4074-AA6E-ABEEFF4B0813}"/>
              </a:ext>
            </a:extLst>
          </p:cNvPr>
          <p:cNvSpPr/>
          <p:nvPr/>
        </p:nvSpPr>
        <p:spPr>
          <a:xfrm>
            <a:off x="1259632" y="2041120"/>
            <a:ext cx="6408712" cy="3222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2.1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、随机信号的定义与基本特性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2.2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、典型随机信号举例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2.3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、随机信号的一般特性与基本运算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2.4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、多维高斯分布与高斯信号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2.5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、独立信号</a:t>
            </a:r>
          </a:p>
        </p:txBody>
      </p:sp>
    </p:spTree>
    <p:extLst>
      <p:ext uri="{BB962C8B-B14F-4D97-AF65-F5344CB8AC3E}">
        <p14:creationId xmlns:p14="http://schemas.microsoft.com/office/powerpoint/2010/main" val="3085527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44ACAE-02DA-4E54-81B0-088A1E807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学习目标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2B5DAF-BAAA-4885-B03B-8BB07286BC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049" y="1772816"/>
            <a:ext cx="8613902" cy="370604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能够掌握随机过程的概念；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能够区分随机过程和随机序列；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能够分析计算随机过程的分布函数、概率密度函数；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能够理解</a:t>
            </a:r>
            <a:r>
              <a:rPr lang="en-US" altLang="zh-CN" sz="2400" dirty="0"/>
              <a:t>4</a:t>
            </a:r>
            <a:r>
              <a:rPr lang="zh-CN" altLang="en-US" sz="2400" dirty="0"/>
              <a:t>种典型随机信号的概率密度函数，并求出它们的数字特征。</a:t>
            </a:r>
            <a:endParaRPr lang="en-US" altLang="zh-CN" sz="2400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408637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8A922A-8121-4B02-91F7-31B90ABD3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473137"/>
            <a:ext cx="7886700" cy="1119659"/>
          </a:xfrm>
        </p:spPr>
        <p:txBody>
          <a:bodyPr/>
          <a:lstStyle/>
          <a:p>
            <a:r>
              <a:rPr lang="zh-CN" altLang="en-US" dirty="0"/>
              <a:t>青岛校区的风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512DCA4-26A7-4500-9FB8-53E7D73572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823" y="1700808"/>
            <a:ext cx="8420353" cy="384229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青岛校区的风很大，有如下几个问题需要大家思考？</a:t>
            </a:r>
            <a:endParaRPr lang="en-US" altLang="zh-CN" sz="2400" dirty="0"/>
          </a:p>
          <a:p>
            <a:pPr marL="385763" indent="-385763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/>
              <a:t>每天特定时间在校区东门测风速</a:t>
            </a:r>
            <a:r>
              <a:rPr lang="en-US" altLang="zh-CN" sz="2400" dirty="0"/>
              <a:t>---- </a:t>
            </a:r>
            <a:r>
              <a:rPr lang="zh-CN" altLang="en-US" sz="2400" dirty="0"/>
              <a:t>是不是随机试验？</a:t>
            </a:r>
            <a:endParaRPr lang="en-US" altLang="zh-CN" sz="2400" dirty="0"/>
          </a:p>
          <a:p>
            <a:pPr marL="385763" indent="-385763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/>
              <a:t>每天特定时间测得的风速记下来，能否用随机变量表示？</a:t>
            </a:r>
            <a:endParaRPr lang="en-US" altLang="zh-CN" sz="2400" dirty="0"/>
          </a:p>
          <a:p>
            <a:pPr marL="385763" indent="-385763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/>
              <a:t>若每天特定时间都测风速，每天的数值是不是可以用自变量为时间的函数表示？</a:t>
            </a:r>
            <a:endParaRPr lang="en-US" altLang="zh-CN" sz="2400" dirty="0"/>
          </a:p>
          <a:p>
            <a:pPr marL="385763" indent="-385763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/>
              <a:t>所有天的风速的时间函数构成了什么？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marL="0" indent="0" algn="ctr">
              <a:buNone/>
            </a:pPr>
            <a:r>
              <a:rPr lang="zh-CN" altLang="en-US" sz="2400" dirty="0">
                <a:solidFill>
                  <a:srgbClr val="FF0000"/>
                </a:solidFill>
              </a:rPr>
              <a:t>随机过程</a:t>
            </a:r>
            <a:r>
              <a:rPr lang="en-US" altLang="zh-CN" sz="2400" dirty="0">
                <a:solidFill>
                  <a:srgbClr val="FF0000"/>
                </a:solidFill>
              </a:rPr>
              <a:t>=</a:t>
            </a:r>
            <a:r>
              <a:rPr lang="zh-CN" altLang="en-US" sz="2400" dirty="0">
                <a:solidFill>
                  <a:srgbClr val="FF0000"/>
                </a:solidFill>
              </a:rPr>
              <a:t>随机信号</a:t>
            </a:r>
          </a:p>
        </p:txBody>
      </p:sp>
      <p:pic>
        <p:nvPicPr>
          <p:cNvPr id="4" name="c4d6d84005546c3295f8f7f19ada849e">
            <a:hlinkClick r:id="" action="ppaction://media"/>
            <a:extLst>
              <a:ext uri="{FF2B5EF4-FFF2-40B4-BE49-F238E27FC236}">
                <a16:creationId xmlns:a16="http://schemas.microsoft.com/office/drawing/2014/main" id="{29B85949-8823-4F9C-9824-9EA0F1C2871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300192" y="191481"/>
            <a:ext cx="2215158" cy="1401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501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97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31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F162B3-ECD3-4CFB-85D4-D7511D81B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2800" dirty="0"/>
              <a:t>2.1 </a:t>
            </a:r>
            <a:r>
              <a:rPr lang="zh-CN" altLang="en-US" sz="2800" dirty="0"/>
              <a:t>随机信号的定义与基本特性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C6DB52-0017-4A11-BD05-1E19B8068D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402" y="1700808"/>
            <a:ext cx="8967224" cy="3706046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400" dirty="0">
                <a:solidFill>
                  <a:srgbClr val="FF0000"/>
                </a:solidFill>
              </a:rPr>
              <a:t>2.1.1 </a:t>
            </a:r>
            <a:r>
              <a:rPr lang="zh-CN" altLang="zh-CN" sz="2400" dirty="0">
                <a:solidFill>
                  <a:srgbClr val="FF0000"/>
                </a:solidFill>
              </a:rPr>
              <a:t>随机信号的概念与分类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zh-CN" sz="2400" dirty="0"/>
              <a:t>自然界发生的许多现象变量既是随机的</a:t>
            </a:r>
            <a:r>
              <a:rPr lang="en-US" altLang="zh-CN" sz="2400" dirty="0"/>
              <a:t>, </a:t>
            </a:r>
            <a:r>
              <a:rPr lang="zh-CN" altLang="zh-CN" sz="2400" dirty="0"/>
              <a:t>又是随时间变化的函数</a:t>
            </a:r>
            <a:endParaRPr lang="en-US" altLang="zh-CN" sz="2400" dirty="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400" dirty="0"/>
              <a:t>      如：</a:t>
            </a:r>
            <a:r>
              <a:rPr lang="zh-CN" altLang="zh-CN" sz="2400" dirty="0"/>
              <a:t>气象现象中气温</a:t>
            </a:r>
            <a:r>
              <a:rPr lang="zh-CN" altLang="en-US" sz="2400" dirty="0"/>
              <a:t>、</a:t>
            </a:r>
            <a:r>
              <a:rPr lang="zh-CN" altLang="zh-CN" sz="2400" dirty="0"/>
              <a:t>气压</a:t>
            </a:r>
            <a:r>
              <a:rPr lang="zh-CN" altLang="en-US" sz="2400" dirty="0"/>
              <a:t>和风速</a:t>
            </a:r>
            <a:r>
              <a:rPr lang="en-US" altLang="zh-CN" sz="2400" dirty="0"/>
              <a:t>,</a:t>
            </a:r>
            <a:r>
              <a:rPr lang="zh-CN" altLang="zh-CN" sz="2400" dirty="0"/>
              <a:t>电阻产生的热噪声等等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zh-CN" sz="2400" dirty="0"/>
              <a:t>随时间变化的随机变量的总体为随机过程</a:t>
            </a:r>
            <a:endParaRPr lang="en-US" altLang="zh-CN" sz="24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zh-CN" sz="2400" dirty="0"/>
              <a:t>随机过程是概率论的继续和发展，研究对象是</a:t>
            </a:r>
            <a:r>
              <a:rPr lang="zh-CN" altLang="zh-CN" sz="2400" dirty="0">
                <a:solidFill>
                  <a:srgbClr val="FF0000"/>
                </a:solidFill>
              </a:rPr>
              <a:t>随时间演变的随机现象</a:t>
            </a:r>
          </a:p>
          <a:p>
            <a:pPr marL="0" indent="0">
              <a:buNone/>
            </a:pPr>
            <a:endParaRPr lang="zh-CN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9275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520BC4AB-FF1F-41C9-B5EA-EDD85E2BBEB3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467544" y="692696"/>
                <a:ext cx="8424936" cy="4046660"/>
              </a:xfrm>
            </p:spPr>
            <p:txBody>
              <a:bodyPr/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x-none" altLang="zh-CN" sz="2400" dirty="0">
                    <a:solidFill>
                      <a:srgbClr val="FF0000"/>
                    </a:solidFill>
                  </a:rPr>
                  <a:t>1. </a:t>
                </a:r>
                <a:r>
                  <a:rPr lang="zh-CN" altLang="en-US" sz="2400" dirty="0">
                    <a:solidFill>
                      <a:srgbClr val="FF0000"/>
                    </a:solidFill>
                  </a:rPr>
                  <a:t>随机过程（信号）</a:t>
                </a:r>
                <a:r>
                  <a:rPr lang="zh-CN" altLang="zh-CN" sz="2400" dirty="0">
                    <a:solidFill>
                      <a:srgbClr val="FF0000"/>
                    </a:solidFill>
                  </a:rPr>
                  <a:t>定义</a:t>
                </a:r>
                <a:r>
                  <a:rPr lang="zh-CN" altLang="en-US" sz="2400" dirty="0">
                    <a:solidFill>
                      <a:srgbClr val="FF0000"/>
                    </a:solidFill>
                  </a:rPr>
                  <a:t>：</a:t>
                </a:r>
                <a:endParaRPr lang="zh-CN" altLang="zh-CN" sz="2400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p"/>
                </a:pPr>
                <a:r>
                  <a:rPr lang="zh-CN" altLang="zh-CN" sz="2400" dirty="0"/>
                  <a:t>设</a:t>
                </a:r>
                <a14:m>
                  <m:oMath xmlns:m="http://schemas.openxmlformats.org/officeDocument/2006/math">
                    <m:r>
                      <a:rPr lang="zh-CN" altLang="zh-CN" sz="2400" b="1" i="1" dirty="0" smtClean="0">
                        <a:latin typeface="Cambria Math" panose="02040503050406030204" pitchFamily="18" charset="0"/>
                      </a:rPr>
                      <m:t>（</m:t>
                    </m:r>
                    <m:r>
                      <a:rPr lang="en-US" altLang="zh-CN" sz="2400" b="1" i="0" dirty="0">
                        <a:latin typeface="Cambria Math" panose="02040503050406030204" pitchFamily="18" charset="0"/>
                      </a:rPr>
                      <m:t>𝛀</m:t>
                    </m:r>
                    <m:r>
                      <a:rPr lang="zh-CN" altLang="zh-CN" sz="2400" b="1" i="1" dirty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zh-CN" altLang="en-US" sz="2400" b="1" i="1" dirty="0" smtClean="0">
                        <a:latin typeface="Cambria Math" panose="02040503050406030204" pitchFamily="18" charset="0"/>
                      </a:rPr>
                      <m:t>𝔽</m:t>
                    </m:r>
                    <m:r>
                      <a:rPr lang="en-US" altLang="zh-CN" sz="2400" b="1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zh-CN" sz="2400" b="1" i="1" dirty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2400" b="1" i="1" dirty="0">
                        <a:latin typeface="Cambria Math" panose="02040503050406030204" pitchFamily="18" charset="0"/>
                      </a:rPr>
                      <m:t>𝑷</m:t>
                    </m:r>
                    <m:r>
                      <a:rPr lang="zh-CN" altLang="zh-CN" sz="2400" b="1" i="1" dirty="0">
                        <a:latin typeface="Cambria Math" panose="02040503050406030204" pitchFamily="18" charset="0"/>
                      </a:rPr>
                      <m:t>）</m:t>
                    </m:r>
                  </m:oMath>
                </a14:m>
                <a:r>
                  <a:rPr lang="zh-CN" altLang="zh-CN" sz="2400" dirty="0"/>
                  <a:t>一个是概率空间，</a:t>
                </a:r>
                <a:r>
                  <a:rPr lang="en-US" altLang="zh-CN" sz="2400" i="1" dirty="0"/>
                  <a:t>T</a:t>
                </a:r>
                <a:r>
                  <a:rPr lang="zh-CN" altLang="zh-CN" sz="2400" dirty="0"/>
                  <a:t>是一个实的参数集合，定义在</a:t>
                </a:r>
                <a:r>
                  <a:rPr lang="en-US" altLang="zh-CN" sz="2400" dirty="0"/>
                  <a:t>Ω</a:t>
                </a:r>
                <a:r>
                  <a:rPr lang="zh-CN" altLang="zh-CN" sz="2400" dirty="0"/>
                  <a:t>和</a:t>
                </a:r>
                <a:r>
                  <a:rPr lang="en-US" altLang="zh-CN" sz="2400" i="1" dirty="0"/>
                  <a:t>T</a:t>
                </a:r>
                <a:r>
                  <a:rPr lang="zh-CN" altLang="zh-CN" sz="2400" dirty="0"/>
                  <a:t>上的二元函数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latin typeface="Cambria Math" panose="02040503050406030204" pitchFamily="18" charset="0"/>
                      </a:rPr>
                      <m:t>𝑿</m:t>
                    </m:r>
                    <m:d>
                      <m:d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𝝃</m:t>
                        </m:r>
                      </m:e>
                    </m:d>
                  </m:oMath>
                </a14:m>
                <a:r>
                  <a:rPr lang="zh-CN" altLang="en-US" sz="2400" dirty="0"/>
                  <a:t>。</a:t>
                </a:r>
                <a:endParaRPr lang="en-US" altLang="zh-CN" sz="2400" dirty="0"/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p"/>
                </a:pPr>
                <a:r>
                  <a:rPr lang="zh-CN" altLang="zh-CN" sz="2400" dirty="0"/>
                  <a:t>如果对于任意固定的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altLang="zh-CN" sz="2400" b="1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400" b="1" i="1"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r>
                  <a:rPr lang="zh-CN" altLang="zh-CN" sz="2400" dirty="0"/>
                  <a:t>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altLang="zh-CN" sz="2400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1" i="1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altLang="zh-CN" sz="2400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b="1" i="1">
                        <a:latin typeface="Cambria Math" panose="02040503050406030204" pitchFamily="18" charset="0"/>
                      </a:rPr>
                      <m:t>𝝃</m:t>
                    </m:r>
                    <m:r>
                      <a:rPr lang="en-US" altLang="zh-CN" sz="24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sz="2400" dirty="0"/>
                  <a:t>是概率空间</a:t>
                </a:r>
                <a14:m>
                  <m:oMath xmlns:m="http://schemas.openxmlformats.org/officeDocument/2006/math">
                    <m:r>
                      <a:rPr lang="zh-CN" altLang="zh-CN" sz="2400" b="1" i="1" dirty="0">
                        <a:latin typeface="Cambria Math" panose="02040503050406030204" pitchFamily="18" charset="0"/>
                      </a:rPr>
                      <m:t>（</m:t>
                    </m:r>
                    <m:r>
                      <a:rPr lang="en-US" altLang="zh-CN" sz="2400" b="1" i="1" dirty="0">
                        <a:latin typeface="Cambria Math" panose="02040503050406030204" pitchFamily="18" charset="0"/>
                      </a:rPr>
                      <m:t>𝛀</m:t>
                    </m:r>
                    <m:r>
                      <a:rPr lang="zh-CN" altLang="zh-CN" sz="2400" b="1" i="1" dirty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zh-CN" altLang="en-US" sz="2400" b="1" i="1" dirty="0">
                        <a:latin typeface="Cambria Math" panose="02040503050406030204" pitchFamily="18" charset="0"/>
                      </a:rPr>
                      <m:t>𝔽</m:t>
                    </m:r>
                    <m:r>
                      <a:rPr lang="en-US" altLang="zh-CN" sz="2400" b="1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zh-CN" sz="2400" b="1" i="1" dirty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2400" b="1" i="1" dirty="0">
                        <a:latin typeface="Cambria Math" panose="02040503050406030204" pitchFamily="18" charset="0"/>
                      </a:rPr>
                      <m:t>𝑷</m:t>
                    </m:r>
                    <m:r>
                      <a:rPr lang="zh-CN" altLang="zh-CN" sz="2400" b="1" i="1" dirty="0">
                        <a:latin typeface="Cambria Math" panose="02040503050406030204" pitchFamily="18" charset="0"/>
                      </a:rPr>
                      <m:t>）</m:t>
                    </m:r>
                  </m:oMath>
                </a14:m>
                <a:r>
                  <a:rPr lang="zh-CN" altLang="zh-CN" sz="2400" dirty="0"/>
                  <a:t>上的随机变量，则称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𝑿</m:t>
                        </m:r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𝝃</m:t>
                        </m:r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),</m:t>
                        </m:r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zh-CN" altLang="zh-CN" sz="2400" b="1" i="1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𝑻</m:t>
                        </m:r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𝝃</m:t>
                        </m:r>
                        <m:r>
                          <a:rPr lang="zh-CN" altLang="zh-CN" sz="2400" b="1" i="1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𝜴</m:t>
                        </m:r>
                      </m:e>
                    </m:d>
                  </m:oMath>
                </a14:m>
                <a:r>
                  <a:rPr lang="zh-CN" altLang="zh-CN" sz="2400" dirty="0"/>
                  <a:t>为该概率空间上的随机过程</a:t>
                </a:r>
                <a:r>
                  <a:rPr lang="zh-CN" altLang="en-US" sz="2400" dirty="0"/>
                  <a:t>（随机信号）</a:t>
                </a:r>
                <a:r>
                  <a:rPr lang="zh-CN" altLang="zh-CN" sz="2400" dirty="0"/>
                  <a:t>，简记为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  <m:d>
                          <m:d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</m:d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</m:e>
                    </m:d>
                  </m:oMath>
                </a14:m>
                <a:r>
                  <a:rPr lang="zh-CN" altLang="en-US" sz="2400" dirty="0"/>
                  <a:t>。</a:t>
                </a:r>
                <a:endParaRPr lang="en-US" altLang="zh-CN" sz="2400" dirty="0"/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p"/>
                </a:pPr>
                <a:r>
                  <a:rPr lang="zh-CN" altLang="zh-CN" sz="2400" dirty="0"/>
                  <a:t>随机过程既是</a:t>
                </a:r>
                <a:r>
                  <a:rPr lang="en-US" altLang="zh-CN" sz="2400" i="1" dirty="0"/>
                  <a:t>t</a:t>
                </a:r>
                <a:r>
                  <a:rPr lang="zh-CN" altLang="zh-CN" sz="2400" dirty="0"/>
                  <a:t>的函数</a:t>
                </a:r>
                <a:r>
                  <a:rPr lang="en-US" altLang="zh-CN" sz="2400" dirty="0"/>
                  <a:t>,</a:t>
                </a:r>
                <a:r>
                  <a:rPr lang="zh-CN" altLang="zh-CN" sz="2400" dirty="0"/>
                  <a:t>又是随机试验结果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latin typeface="Cambria Math" panose="02040503050406030204" pitchFamily="18" charset="0"/>
                      </a:rPr>
                      <m:t>𝝃</m:t>
                    </m:r>
                  </m:oMath>
                </a14:m>
                <a:r>
                  <a:rPr lang="zh-CN" altLang="zh-CN" sz="2400" dirty="0"/>
                  <a:t>的函数。</a:t>
                </a:r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520BC4AB-FF1F-41C9-B5EA-EDD85E2BBE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467544" y="692696"/>
                <a:ext cx="8424936" cy="4046660"/>
              </a:xfrm>
              <a:blipFill>
                <a:blip r:embed="rId3"/>
                <a:stretch>
                  <a:fillRect l="-1158" t="-905" r="-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1" name="图片 40">
            <a:extLst>
              <a:ext uri="{FF2B5EF4-FFF2-40B4-BE49-F238E27FC236}">
                <a16:creationId xmlns:a16="http://schemas.microsoft.com/office/drawing/2014/main" id="{3952DDF4-95B6-4D50-BA31-C734A637A2A2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2339752" y="4149080"/>
            <a:ext cx="4248472" cy="208823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522110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A2DEA9B2-ABFB-4A22-B04B-9A441BF8EC5C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323528" y="476672"/>
                <a:ext cx="8352928" cy="404666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x-none" altLang="zh-CN" sz="2400" dirty="0">
                    <a:solidFill>
                      <a:srgbClr val="FF0000"/>
                    </a:solidFill>
                  </a:rPr>
                  <a:t>2</a:t>
                </a:r>
                <a:r>
                  <a:rPr lang="zh-CN" altLang="en-US" sz="2400" dirty="0">
                    <a:solidFill>
                      <a:srgbClr val="FF0000"/>
                    </a:solidFill>
                  </a:rPr>
                  <a:t>、</a:t>
                </a:r>
                <a:r>
                  <a:rPr lang="x-none" altLang="zh-CN" sz="2400" dirty="0">
                    <a:solidFill>
                      <a:srgbClr val="FF0000"/>
                    </a:solidFill>
                  </a:rPr>
                  <a:t> </a:t>
                </a:r>
                <a:r>
                  <a:rPr lang="zh-CN" altLang="zh-CN" sz="2400" dirty="0">
                    <a:solidFill>
                      <a:srgbClr val="FF0000"/>
                    </a:solidFill>
                  </a:rPr>
                  <a:t>解释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zh-CN" sz="2400" dirty="0"/>
                  <a:t>根据</a:t>
                </a:r>
                <a:r>
                  <a:rPr lang="en-US" altLang="zh-CN" sz="2400" i="1" dirty="0"/>
                  <a:t>t</a:t>
                </a:r>
                <a:r>
                  <a:rPr lang="en-US" altLang="zh-CN" sz="2400" dirty="0"/>
                  <a:t>, ξ</a:t>
                </a:r>
                <a:r>
                  <a:rPr lang="zh-CN" altLang="zh-CN" sz="2400" dirty="0"/>
                  <a:t>的取值情况</a:t>
                </a:r>
                <a:r>
                  <a:rPr lang="en-US" altLang="zh-CN" sz="2400" dirty="0"/>
                  <a:t>,</a:t>
                </a:r>
                <a:r>
                  <a:rPr lang="zh-CN" altLang="en-US" sz="2400" dirty="0"/>
                  <a:t>随机过程（信号）</a:t>
                </a:r>
                <a:r>
                  <a:rPr lang="zh-CN" altLang="zh-CN" sz="2400" dirty="0"/>
                  <a:t>有四种含义</a:t>
                </a:r>
                <a:r>
                  <a:rPr lang="en-US" altLang="zh-CN" sz="2400" dirty="0"/>
                  <a:t>:</a:t>
                </a:r>
                <a:endParaRPr lang="zh-CN" altLang="zh-CN" sz="24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2400" i="1" dirty="0"/>
                  <a:t> </a:t>
                </a:r>
                <a:r>
                  <a:rPr lang="zh-CN" altLang="en-US" sz="2400" dirty="0"/>
                  <a:t>（</a:t>
                </a:r>
                <a:r>
                  <a:rPr lang="en-US" altLang="zh-CN" sz="2400" dirty="0"/>
                  <a:t>1</a:t>
                </a:r>
                <a:r>
                  <a:rPr lang="zh-CN" altLang="en-US" sz="2400" dirty="0"/>
                  <a:t>）</a:t>
                </a:r>
                <a:r>
                  <a:rPr lang="en-US" altLang="zh-CN" sz="2400" i="1" dirty="0"/>
                  <a:t>t</a:t>
                </a:r>
                <a:r>
                  <a:rPr lang="en-US" altLang="zh-CN" sz="2400" dirty="0"/>
                  <a:t>,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𝝃</m:t>
                    </m:r>
                  </m:oMath>
                </a14:m>
                <a:r>
                  <a:rPr lang="zh-CN" altLang="zh-CN" sz="2400" dirty="0"/>
                  <a:t>可变</a:t>
                </a:r>
                <a:r>
                  <a:rPr lang="en-US" altLang="zh-CN" sz="2400" dirty="0"/>
                  <a:t>, </a:t>
                </a:r>
                <a:r>
                  <a:rPr lang="zh-CN" altLang="zh-CN" sz="2400" dirty="0"/>
                  <a:t>时间的函数族</a:t>
                </a:r>
                <a:r>
                  <a:rPr lang="en-US" altLang="zh-CN" sz="2400" dirty="0"/>
                  <a:t>  </a:t>
                </a:r>
                <a:r>
                  <a:rPr lang="en-US" altLang="zh-CN" sz="2400" dirty="0">
                    <a:sym typeface="Wingdings" panose="05000000000000000000" pitchFamily="2" charset="2"/>
                  </a:rPr>
                  <a:t> </a:t>
                </a:r>
                <a:r>
                  <a:rPr lang="zh-CN" altLang="zh-CN" sz="2400" dirty="0"/>
                  <a:t>随机过程 </a:t>
                </a:r>
                <a14:m>
                  <m:oMath xmlns:m="http://schemas.openxmlformats.org/officeDocument/2006/math">
                    <m:r>
                      <a:rPr lang="en-US" altLang="zh-CN" sz="2400" b="0" i="1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en-US" altLang="zh-CN" sz="24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2400" b="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sz="24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  <m:t>𝜉</m:t>
                            </m:r>
                          </m:e>
                          <m:sub>
                            <m: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sz="2400" b="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en-US" altLang="zh-CN" sz="24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2400" b="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sz="24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  <m:t>𝜉</m:t>
                            </m:r>
                          </m:e>
                          <m:sub>
                            <m: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sz="2400" b="0" i="1">
                        <a:latin typeface="Cambria Math" panose="02040503050406030204" pitchFamily="18" charset="0"/>
                      </a:rPr>
                      <m:t>,...,</m:t>
                    </m:r>
                    <m:r>
                      <a:rPr lang="en-US" altLang="zh-CN" sz="2400" b="0" i="1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en-US" altLang="zh-CN" sz="24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2400" b="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sz="24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  <m:t>𝜉</m:t>
                            </m:r>
                          </m:e>
                          <m:sub>
                            <m: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altLang="zh-CN" sz="2400" b="0" i="1">
                        <a:latin typeface="Cambria Math" panose="02040503050406030204" pitchFamily="18" charset="0"/>
                      </a:rPr>
                      <m:t>,…</m:t>
                    </m:r>
                  </m:oMath>
                </a14:m>
                <a:endParaRPr lang="zh-CN" altLang="zh-CN" sz="2400" b="0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A2DEA9B2-ABFB-4A22-B04B-9A441BF8EC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323528" y="476672"/>
                <a:ext cx="8352928" cy="4046660"/>
              </a:xfrm>
              <a:blipFill>
                <a:blip r:embed="rId3"/>
                <a:stretch>
                  <a:fillRect l="-1095" t="-16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Object 3">
            <a:extLst>
              <a:ext uri="{FF2B5EF4-FFF2-40B4-BE49-F238E27FC236}">
                <a16:creationId xmlns:a16="http://schemas.microsoft.com/office/drawing/2014/main" id="{93B4CD58-32C4-46AA-A0BB-4399626BE61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7468616"/>
              </p:ext>
            </p:extLst>
          </p:nvPr>
        </p:nvGraphicFramePr>
        <p:xfrm>
          <a:off x="1763688" y="3068960"/>
          <a:ext cx="5112568" cy="29682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00" name="Image" r:id="rId4" imgW="5625397" imgH="4952381" progId="Photoshop.Image.7">
                  <p:embed/>
                </p:oleObj>
              </mc:Choice>
              <mc:Fallback>
                <p:oleObj name="Image" r:id="rId4" imgW="5625397" imgH="4952381" progId="Photoshop.Image.7">
                  <p:embed/>
                  <p:pic>
                    <p:nvPicPr>
                      <p:cNvPr id="7" name="Object 3">
                        <a:extLst>
                          <a:ext uri="{FF2B5EF4-FFF2-40B4-BE49-F238E27FC236}">
                            <a16:creationId xmlns:a16="http://schemas.microsoft.com/office/drawing/2014/main" id="{93B4CD58-32C4-46AA-A0BB-4399626BE61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3068960"/>
                        <a:ext cx="5112568" cy="29682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62039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DE547455-D95F-4E16-8EDD-B18647AFB665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457200" y="624254"/>
                <a:ext cx="8363271" cy="5395546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zh-CN" altLang="en-US" sz="2400" dirty="0"/>
                  <a:t>（</a:t>
                </a:r>
                <a:r>
                  <a:rPr lang="en-US" altLang="zh-CN" sz="2400" dirty="0"/>
                  <a:t>2</a:t>
                </a:r>
                <a:r>
                  <a:rPr lang="zh-CN" altLang="en-US" sz="2400" dirty="0"/>
                  <a:t>）</a:t>
                </a:r>
                <a:r>
                  <a:rPr lang="en-US" altLang="zh-CN" sz="2400" i="1" dirty="0"/>
                  <a:t> t</a:t>
                </a:r>
                <a:r>
                  <a:rPr lang="zh-CN" altLang="zh-CN" sz="2400" dirty="0"/>
                  <a:t>可变</a:t>
                </a:r>
                <a:r>
                  <a:rPr lang="en-US" altLang="zh-CN" sz="2400" dirty="0"/>
                  <a:t>,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𝝃</m:t>
                    </m:r>
                  </m:oMath>
                </a14:m>
                <a:r>
                  <a:rPr lang="zh-CN" altLang="zh-CN" sz="2400" dirty="0"/>
                  <a:t>给定</a:t>
                </a:r>
                <a:r>
                  <a:rPr lang="en-US" altLang="zh-CN" sz="2400" dirty="0"/>
                  <a:t>,</a:t>
                </a:r>
                <a:r>
                  <a:rPr lang="zh-CN" altLang="zh-CN" sz="2400" dirty="0"/>
                  <a:t>对应时间的函数</a:t>
                </a:r>
                <a:endParaRPr lang="en-US" altLang="zh-CN" sz="2400" dirty="0"/>
              </a:p>
              <a:p>
                <a:pPr marL="0" indent="0">
                  <a:buNone/>
                </a:pPr>
                <a:r>
                  <a:rPr lang="en-US" altLang="zh-CN" sz="2400" dirty="0">
                    <a:sym typeface="Wingdings" panose="05000000000000000000" pitchFamily="2" charset="2"/>
                  </a:rPr>
                  <a:t>     </a:t>
                </a:r>
                <a:r>
                  <a:rPr lang="en-US" altLang="zh-CN" sz="2400" dirty="0"/>
                  <a:t> </a:t>
                </a:r>
                <a:r>
                  <a:rPr lang="zh-CN" altLang="zh-CN" sz="2400" dirty="0">
                    <a:solidFill>
                      <a:srgbClr val="FF0000"/>
                    </a:solidFill>
                  </a:rPr>
                  <a:t>样本函数</a:t>
                </a:r>
                <a:r>
                  <a:rPr lang="en-US" altLang="zh-CN" sz="2400" dirty="0"/>
                  <a:t>,  </a:t>
                </a:r>
                <a:r>
                  <a:rPr lang="zh-CN" altLang="zh-CN" sz="2400" dirty="0">
                    <a:solidFill>
                      <a:srgbClr val="FF0000"/>
                    </a:solidFill>
                  </a:rPr>
                  <a:t>随机过程的一个实现</a:t>
                </a:r>
                <a:endParaRPr lang="en-US" altLang="zh-CN" sz="2400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US" altLang="zh-CN" sz="2400" dirty="0"/>
              </a:p>
              <a:p>
                <a:pPr marL="0" indent="0">
                  <a:buNone/>
                </a:pPr>
                <a:endParaRPr lang="en-US" altLang="zh-CN" sz="2400" dirty="0"/>
              </a:p>
              <a:p>
                <a:pPr marL="0" indent="0">
                  <a:buNone/>
                </a:pPr>
                <a:endParaRPr lang="en-US" altLang="zh-CN" sz="2400" dirty="0"/>
              </a:p>
              <a:p>
                <a:pPr marL="0" indent="0">
                  <a:buNone/>
                </a:pPr>
                <a:endParaRPr lang="en-US" altLang="zh-CN" sz="2400" dirty="0"/>
              </a:p>
              <a:p>
                <a:pPr marL="0" indent="0">
                  <a:buNone/>
                </a:pPr>
                <a:endParaRPr lang="zh-CN" altLang="zh-CN" sz="2400" dirty="0"/>
              </a:p>
              <a:p>
                <a:endParaRPr lang="zh-CN" altLang="en-US" sz="2400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DE547455-D95F-4E16-8EDD-B18647AFB6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457200" y="624254"/>
                <a:ext cx="8363271" cy="5395546"/>
              </a:xfrm>
              <a:blipFill>
                <a:blip r:embed="rId2"/>
                <a:stretch>
                  <a:fillRect l="-1093" t="-12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>
            <a:extLst>
              <a:ext uri="{FF2B5EF4-FFF2-40B4-BE49-F238E27FC236}">
                <a16:creationId xmlns:a16="http://schemas.microsoft.com/office/drawing/2014/main" id="{31CE5466-AB4E-45E5-B73C-D330849CEE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5816" y="1971542"/>
            <a:ext cx="2778919" cy="3071813"/>
          </a:xfrm>
          <a:prstGeom prst="rect">
            <a:avLst/>
          </a:prstGeom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372189B3-7DC5-4E57-8BD5-FC195503CB5C}"/>
              </a:ext>
            </a:extLst>
          </p:cNvPr>
          <p:cNvGrpSpPr/>
          <p:nvPr/>
        </p:nvGrpSpPr>
        <p:grpSpPr>
          <a:xfrm>
            <a:off x="2697480" y="3097530"/>
            <a:ext cx="5097780" cy="1046988"/>
            <a:chOff x="3596640" y="2987040"/>
            <a:chExt cx="6797040" cy="1395984"/>
          </a:xfrm>
        </p:grpSpPr>
        <p:sp>
          <p:nvSpPr>
            <p:cNvPr id="5" name="任意多边形: 形状 4">
              <a:extLst>
                <a:ext uri="{FF2B5EF4-FFF2-40B4-BE49-F238E27FC236}">
                  <a16:creationId xmlns:a16="http://schemas.microsoft.com/office/drawing/2014/main" id="{B5CA3700-9B41-4E79-82C5-7C220EB3F922}"/>
                </a:ext>
              </a:extLst>
            </p:cNvPr>
            <p:cNvSpPr/>
            <p:nvPr/>
          </p:nvSpPr>
          <p:spPr bwMode="auto">
            <a:xfrm>
              <a:off x="3596640" y="2987040"/>
              <a:ext cx="4102608" cy="1395984"/>
            </a:xfrm>
            <a:custGeom>
              <a:avLst/>
              <a:gdLst>
                <a:gd name="connsiteX0" fmla="*/ 36576 w 4102608"/>
                <a:gd name="connsiteY0" fmla="*/ 420624 h 1395984"/>
                <a:gd name="connsiteX1" fmla="*/ 36576 w 4102608"/>
                <a:gd name="connsiteY1" fmla="*/ 420624 h 1395984"/>
                <a:gd name="connsiteX2" fmla="*/ 79248 w 4102608"/>
                <a:gd name="connsiteY2" fmla="*/ 365760 h 1395984"/>
                <a:gd name="connsiteX3" fmla="*/ 115824 w 4102608"/>
                <a:gd name="connsiteY3" fmla="*/ 335280 h 1395984"/>
                <a:gd name="connsiteX4" fmla="*/ 140208 w 4102608"/>
                <a:gd name="connsiteY4" fmla="*/ 310896 h 1395984"/>
                <a:gd name="connsiteX5" fmla="*/ 201168 w 4102608"/>
                <a:gd name="connsiteY5" fmla="*/ 268224 h 1395984"/>
                <a:gd name="connsiteX6" fmla="*/ 274320 w 4102608"/>
                <a:gd name="connsiteY6" fmla="*/ 225552 h 1395984"/>
                <a:gd name="connsiteX7" fmla="*/ 329184 w 4102608"/>
                <a:gd name="connsiteY7" fmla="*/ 182880 h 1395984"/>
                <a:gd name="connsiteX8" fmla="*/ 371856 w 4102608"/>
                <a:gd name="connsiteY8" fmla="*/ 164592 h 1395984"/>
                <a:gd name="connsiteX9" fmla="*/ 390144 w 4102608"/>
                <a:gd name="connsiteY9" fmla="*/ 146304 h 1395984"/>
                <a:gd name="connsiteX10" fmla="*/ 451104 w 4102608"/>
                <a:gd name="connsiteY10" fmla="*/ 121920 h 1395984"/>
                <a:gd name="connsiteX11" fmla="*/ 481584 w 4102608"/>
                <a:gd name="connsiteY11" fmla="*/ 103632 h 1395984"/>
                <a:gd name="connsiteX12" fmla="*/ 499872 w 4102608"/>
                <a:gd name="connsiteY12" fmla="*/ 97536 h 1395984"/>
                <a:gd name="connsiteX13" fmla="*/ 530352 w 4102608"/>
                <a:gd name="connsiteY13" fmla="*/ 85344 h 1395984"/>
                <a:gd name="connsiteX14" fmla="*/ 548640 w 4102608"/>
                <a:gd name="connsiteY14" fmla="*/ 79248 h 1395984"/>
                <a:gd name="connsiteX15" fmla="*/ 573024 w 4102608"/>
                <a:gd name="connsiteY15" fmla="*/ 67056 h 1395984"/>
                <a:gd name="connsiteX16" fmla="*/ 621792 w 4102608"/>
                <a:gd name="connsiteY16" fmla="*/ 60960 h 1395984"/>
                <a:gd name="connsiteX17" fmla="*/ 652272 w 4102608"/>
                <a:gd name="connsiteY17" fmla="*/ 42672 h 1395984"/>
                <a:gd name="connsiteX18" fmla="*/ 725424 w 4102608"/>
                <a:gd name="connsiteY18" fmla="*/ 30480 h 1395984"/>
                <a:gd name="connsiteX19" fmla="*/ 841248 w 4102608"/>
                <a:gd name="connsiteY19" fmla="*/ 18288 h 1395984"/>
                <a:gd name="connsiteX20" fmla="*/ 1036320 w 4102608"/>
                <a:gd name="connsiteY20" fmla="*/ 6096 h 1395984"/>
                <a:gd name="connsiteX21" fmla="*/ 1103376 w 4102608"/>
                <a:gd name="connsiteY21" fmla="*/ 0 h 1395984"/>
                <a:gd name="connsiteX22" fmla="*/ 1621536 w 4102608"/>
                <a:gd name="connsiteY22" fmla="*/ 12192 h 1395984"/>
                <a:gd name="connsiteX23" fmla="*/ 1719072 w 4102608"/>
                <a:gd name="connsiteY23" fmla="*/ 18288 h 1395984"/>
                <a:gd name="connsiteX24" fmla="*/ 1749552 w 4102608"/>
                <a:gd name="connsiteY24" fmla="*/ 24384 h 1395984"/>
                <a:gd name="connsiteX25" fmla="*/ 1792224 w 4102608"/>
                <a:gd name="connsiteY25" fmla="*/ 30480 h 1395984"/>
                <a:gd name="connsiteX26" fmla="*/ 1889760 w 4102608"/>
                <a:gd name="connsiteY26" fmla="*/ 42672 h 1395984"/>
                <a:gd name="connsiteX27" fmla="*/ 1975104 w 4102608"/>
                <a:gd name="connsiteY27" fmla="*/ 54864 h 1395984"/>
                <a:gd name="connsiteX28" fmla="*/ 2261616 w 4102608"/>
                <a:gd name="connsiteY28" fmla="*/ 60960 h 1395984"/>
                <a:gd name="connsiteX29" fmla="*/ 3041904 w 4102608"/>
                <a:gd name="connsiteY29" fmla="*/ 79248 h 1395984"/>
                <a:gd name="connsiteX30" fmla="*/ 3243072 w 4102608"/>
                <a:gd name="connsiteY30" fmla="*/ 91440 h 1395984"/>
                <a:gd name="connsiteX31" fmla="*/ 3328416 w 4102608"/>
                <a:gd name="connsiteY31" fmla="*/ 97536 h 1395984"/>
                <a:gd name="connsiteX32" fmla="*/ 3432048 w 4102608"/>
                <a:gd name="connsiteY32" fmla="*/ 121920 h 1395984"/>
                <a:gd name="connsiteX33" fmla="*/ 3456432 w 4102608"/>
                <a:gd name="connsiteY33" fmla="*/ 134112 h 1395984"/>
                <a:gd name="connsiteX34" fmla="*/ 3474720 w 4102608"/>
                <a:gd name="connsiteY34" fmla="*/ 146304 h 1395984"/>
                <a:gd name="connsiteX35" fmla="*/ 3493008 w 4102608"/>
                <a:gd name="connsiteY35" fmla="*/ 152400 h 1395984"/>
                <a:gd name="connsiteX36" fmla="*/ 3547872 w 4102608"/>
                <a:gd name="connsiteY36" fmla="*/ 176784 h 1395984"/>
                <a:gd name="connsiteX37" fmla="*/ 3584448 w 4102608"/>
                <a:gd name="connsiteY37" fmla="*/ 201168 h 1395984"/>
                <a:gd name="connsiteX38" fmla="*/ 3614928 w 4102608"/>
                <a:gd name="connsiteY38" fmla="*/ 237744 h 1395984"/>
                <a:gd name="connsiteX39" fmla="*/ 3645408 w 4102608"/>
                <a:gd name="connsiteY39" fmla="*/ 256032 h 1395984"/>
                <a:gd name="connsiteX40" fmla="*/ 3675888 w 4102608"/>
                <a:gd name="connsiteY40" fmla="*/ 286512 h 1395984"/>
                <a:gd name="connsiteX41" fmla="*/ 3724656 w 4102608"/>
                <a:gd name="connsiteY41" fmla="*/ 323088 h 1395984"/>
                <a:gd name="connsiteX42" fmla="*/ 3749040 w 4102608"/>
                <a:gd name="connsiteY42" fmla="*/ 353568 h 1395984"/>
                <a:gd name="connsiteX43" fmla="*/ 3779520 w 4102608"/>
                <a:gd name="connsiteY43" fmla="*/ 377952 h 1395984"/>
                <a:gd name="connsiteX44" fmla="*/ 3810000 w 4102608"/>
                <a:gd name="connsiteY44" fmla="*/ 426720 h 1395984"/>
                <a:gd name="connsiteX45" fmla="*/ 3840480 w 4102608"/>
                <a:gd name="connsiteY45" fmla="*/ 463296 h 1395984"/>
                <a:gd name="connsiteX46" fmla="*/ 3852672 w 4102608"/>
                <a:gd name="connsiteY46" fmla="*/ 481584 h 1395984"/>
                <a:gd name="connsiteX47" fmla="*/ 3877056 w 4102608"/>
                <a:gd name="connsiteY47" fmla="*/ 505968 h 1395984"/>
                <a:gd name="connsiteX48" fmla="*/ 3889248 w 4102608"/>
                <a:gd name="connsiteY48" fmla="*/ 530352 h 1395984"/>
                <a:gd name="connsiteX49" fmla="*/ 3919728 w 4102608"/>
                <a:gd name="connsiteY49" fmla="*/ 566928 h 1395984"/>
                <a:gd name="connsiteX50" fmla="*/ 3931920 w 4102608"/>
                <a:gd name="connsiteY50" fmla="*/ 591312 h 1395984"/>
                <a:gd name="connsiteX51" fmla="*/ 3956304 w 4102608"/>
                <a:gd name="connsiteY51" fmla="*/ 627888 h 1395984"/>
                <a:gd name="connsiteX52" fmla="*/ 4023360 w 4102608"/>
                <a:gd name="connsiteY52" fmla="*/ 719328 h 1395984"/>
                <a:gd name="connsiteX53" fmla="*/ 4035552 w 4102608"/>
                <a:gd name="connsiteY53" fmla="*/ 743712 h 1395984"/>
                <a:gd name="connsiteX54" fmla="*/ 4072128 w 4102608"/>
                <a:gd name="connsiteY54" fmla="*/ 798576 h 1395984"/>
                <a:gd name="connsiteX55" fmla="*/ 4084320 w 4102608"/>
                <a:gd name="connsiteY55" fmla="*/ 822960 h 1395984"/>
                <a:gd name="connsiteX56" fmla="*/ 4102608 w 4102608"/>
                <a:gd name="connsiteY56" fmla="*/ 883920 h 1395984"/>
                <a:gd name="connsiteX57" fmla="*/ 4090416 w 4102608"/>
                <a:gd name="connsiteY57" fmla="*/ 1036320 h 1395984"/>
                <a:gd name="connsiteX58" fmla="*/ 4078224 w 4102608"/>
                <a:gd name="connsiteY58" fmla="*/ 1072896 h 1395984"/>
                <a:gd name="connsiteX59" fmla="*/ 4029456 w 4102608"/>
                <a:gd name="connsiteY59" fmla="*/ 1133856 h 1395984"/>
                <a:gd name="connsiteX60" fmla="*/ 4017264 w 4102608"/>
                <a:gd name="connsiteY60" fmla="*/ 1152144 h 1395984"/>
                <a:gd name="connsiteX61" fmla="*/ 3938016 w 4102608"/>
                <a:gd name="connsiteY61" fmla="*/ 1225296 h 1395984"/>
                <a:gd name="connsiteX62" fmla="*/ 3919728 w 4102608"/>
                <a:gd name="connsiteY62" fmla="*/ 1243584 h 1395984"/>
                <a:gd name="connsiteX63" fmla="*/ 3870960 w 4102608"/>
                <a:gd name="connsiteY63" fmla="*/ 1267968 h 1395984"/>
                <a:gd name="connsiteX64" fmla="*/ 3834384 w 4102608"/>
                <a:gd name="connsiteY64" fmla="*/ 1286256 h 1395984"/>
                <a:gd name="connsiteX65" fmla="*/ 3797808 w 4102608"/>
                <a:gd name="connsiteY65" fmla="*/ 1304544 h 1395984"/>
                <a:gd name="connsiteX66" fmla="*/ 3761232 w 4102608"/>
                <a:gd name="connsiteY66" fmla="*/ 1310640 h 1395984"/>
                <a:gd name="connsiteX67" fmla="*/ 3718560 w 4102608"/>
                <a:gd name="connsiteY67" fmla="*/ 1341120 h 1395984"/>
                <a:gd name="connsiteX68" fmla="*/ 3651504 w 4102608"/>
                <a:gd name="connsiteY68" fmla="*/ 1359408 h 1395984"/>
                <a:gd name="connsiteX69" fmla="*/ 3547872 w 4102608"/>
                <a:gd name="connsiteY69" fmla="*/ 1389888 h 1395984"/>
                <a:gd name="connsiteX70" fmla="*/ 3486912 w 4102608"/>
                <a:gd name="connsiteY70" fmla="*/ 1395984 h 1395984"/>
                <a:gd name="connsiteX71" fmla="*/ 1511808 w 4102608"/>
                <a:gd name="connsiteY71" fmla="*/ 1383792 h 1395984"/>
                <a:gd name="connsiteX72" fmla="*/ 323088 w 4102608"/>
                <a:gd name="connsiteY72" fmla="*/ 1371600 h 1395984"/>
                <a:gd name="connsiteX73" fmla="*/ 292608 w 4102608"/>
                <a:gd name="connsiteY73" fmla="*/ 1359408 h 1395984"/>
                <a:gd name="connsiteX74" fmla="*/ 274320 w 4102608"/>
                <a:gd name="connsiteY74" fmla="*/ 1347216 h 1395984"/>
                <a:gd name="connsiteX75" fmla="*/ 249936 w 4102608"/>
                <a:gd name="connsiteY75" fmla="*/ 1335024 h 1395984"/>
                <a:gd name="connsiteX76" fmla="*/ 213360 w 4102608"/>
                <a:gd name="connsiteY76" fmla="*/ 1292352 h 1395984"/>
                <a:gd name="connsiteX77" fmla="*/ 195072 w 4102608"/>
                <a:gd name="connsiteY77" fmla="*/ 1267968 h 1395984"/>
                <a:gd name="connsiteX78" fmla="*/ 176784 w 4102608"/>
                <a:gd name="connsiteY78" fmla="*/ 1207008 h 1395984"/>
                <a:gd name="connsiteX79" fmla="*/ 170688 w 4102608"/>
                <a:gd name="connsiteY79" fmla="*/ 1188720 h 1395984"/>
                <a:gd name="connsiteX80" fmla="*/ 158496 w 4102608"/>
                <a:gd name="connsiteY80" fmla="*/ 1127760 h 1395984"/>
                <a:gd name="connsiteX81" fmla="*/ 152400 w 4102608"/>
                <a:gd name="connsiteY81" fmla="*/ 1097280 h 1395984"/>
                <a:gd name="connsiteX82" fmla="*/ 134112 w 4102608"/>
                <a:gd name="connsiteY82" fmla="*/ 871728 h 1395984"/>
                <a:gd name="connsiteX83" fmla="*/ 121920 w 4102608"/>
                <a:gd name="connsiteY83" fmla="*/ 786384 h 1395984"/>
                <a:gd name="connsiteX84" fmla="*/ 115824 w 4102608"/>
                <a:gd name="connsiteY84" fmla="*/ 743712 h 1395984"/>
                <a:gd name="connsiteX85" fmla="*/ 103632 w 4102608"/>
                <a:gd name="connsiteY85" fmla="*/ 719328 h 1395984"/>
                <a:gd name="connsiteX86" fmla="*/ 91440 w 4102608"/>
                <a:gd name="connsiteY86" fmla="*/ 670560 h 1395984"/>
                <a:gd name="connsiteX87" fmla="*/ 73152 w 4102608"/>
                <a:gd name="connsiteY87" fmla="*/ 633984 h 1395984"/>
                <a:gd name="connsiteX88" fmla="*/ 60960 w 4102608"/>
                <a:gd name="connsiteY88" fmla="*/ 585216 h 1395984"/>
                <a:gd name="connsiteX89" fmla="*/ 48768 w 4102608"/>
                <a:gd name="connsiteY89" fmla="*/ 554736 h 1395984"/>
                <a:gd name="connsiteX90" fmla="*/ 36576 w 4102608"/>
                <a:gd name="connsiteY90" fmla="*/ 536448 h 1395984"/>
                <a:gd name="connsiteX91" fmla="*/ 18288 w 4102608"/>
                <a:gd name="connsiteY91" fmla="*/ 493776 h 1395984"/>
                <a:gd name="connsiteX92" fmla="*/ 0 w 4102608"/>
                <a:gd name="connsiteY92" fmla="*/ 475488 h 1395984"/>
                <a:gd name="connsiteX93" fmla="*/ 36576 w 4102608"/>
                <a:gd name="connsiteY93" fmla="*/ 420624 h 139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4102608" h="1395984">
                  <a:moveTo>
                    <a:pt x="36576" y="420624"/>
                  </a:moveTo>
                  <a:lnTo>
                    <a:pt x="36576" y="420624"/>
                  </a:lnTo>
                  <a:cubicBezTo>
                    <a:pt x="50800" y="402336"/>
                    <a:pt x="63483" y="382738"/>
                    <a:pt x="79248" y="365760"/>
                  </a:cubicBezTo>
                  <a:cubicBezTo>
                    <a:pt x="90047" y="354130"/>
                    <a:pt x="104028" y="345897"/>
                    <a:pt x="115824" y="335280"/>
                  </a:cubicBezTo>
                  <a:cubicBezTo>
                    <a:pt x="124368" y="327590"/>
                    <a:pt x="131557" y="318465"/>
                    <a:pt x="140208" y="310896"/>
                  </a:cubicBezTo>
                  <a:cubicBezTo>
                    <a:pt x="161023" y="292683"/>
                    <a:pt x="178192" y="285456"/>
                    <a:pt x="201168" y="268224"/>
                  </a:cubicBezTo>
                  <a:cubicBezTo>
                    <a:pt x="256907" y="226420"/>
                    <a:pt x="215165" y="245270"/>
                    <a:pt x="274320" y="225552"/>
                  </a:cubicBezTo>
                  <a:cubicBezTo>
                    <a:pt x="299256" y="200616"/>
                    <a:pt x="296915" y="199015"/>
                    <a:pt x="329184" y="182880"/>
                  </a:cubicBezTo>
                  <a:cubicBezTo>
                    <a:pt x="355716" y="169614"/>
                    <a:pt x="342258" y="185734"/>
                    <a:pt x="371856" y="164592"/>
                  </a:cubicBezTo>
                  <a:cubicBezTo>
                    <a:pt x="378871" y="159581"/>
                    <a:pt x="383247" y="151477"/>
                    <a:pt x="390144" y="146304"/>
                  </a:cubicBezTo>
                  <a:cubicBezTo>
                    <a:pt x="418773" y="124832"/>
                    <a:pt x="418394" y="128462"/>
                    <a:pt x="451104" y="121920"/>
                  </a:cubicBezTo>
                  <a:cubicBezTo>
                    <a:pt x="461264" y="115824"/>
                    <a:pt x="470986" y="108931"/>
                    <a:pt x="481584" y="103632"/>
                  </a:cubicBezTo>
                  <a:cubicBezTo>
                    <a:pt x="487331" y="100758"/>
                    <a:pt x="493855" y="99792"/>
                    <a:pt x="499872" y="97536"/>
                  </a:cubicBezTo>
                  <a:cubicBezTo>
                    <a:pt x="510118" y="93694"/>
                    <a:pt x="520106" y="89186"/>
                    <a:pt x="530352" y="85344"/>
                  </a:cubicBezTo>
                  <a:cubicBezTo>
                    <a:pt x="536369" y="83088"/>
                    <a:pt x="542734" y="81779"/>
                    <a:pt x="548640" y="79248"/>
                  </a:cubicBezTo>
                  <a:cubicBezTo>
                    <a:pt x="556993" y="75668"/>
                    <a:pt x="564208" y="69260"/>
                    <a:pt x="573024" y="67056"/>
                  </a:cubicBezTo>
                  <a:cubicBezTo>
                    <a:pt x="588917" y="63083"/>
                    <a:pt x="605536" y="62992"/>
                    <a:pt x="621792" y="60960"/>
                  </a:cubicBezTo>
                  <a:cubicBezTo>
                    <a:pt x="631952" y="54864"/>
                    <a:pt x="641445" y="47484"/>
                    <a:pt x="652272" y="42672"/>
                  </a:cubicBezTo>
                  <a:cubicBezTo>
                    <a:pt x="667838" y="35754"/>
                    <a:pt x="716663" y="31453"/>
                    <a:pt x="725424" y="30480"/>
                  </a:cubicBezTo>
                  <a:cubicBezTo>
                    <a:pt x="764008" y="26193"/>
                    <a:pt x="802546" y="21323"/>
                    <a:pt x="841248" y="18288"/>
                  </a:cubicBezTo>
                  <a:cubicBezTo>
                    <a:pt x="906199" y="13194"/>
                    <a:pt x="971327" y="10630"/>
                    <a:pt x="1036320" y="6096"/>
                  </a:cubicBezTo>
                  <a:cubicBezTo>
                    <a:pt x="1058710" y="4534"/>
                    <a:pt x="1081024" y="2032"/>
                    <a:pt x="1103376" y="0"/>
                  </a:cubicBezTo>
                  <a:lnTo>
                    <a:pt x="1621536" y="12192"/>
                  </a:lnTo>
                  <a:cubicBezTo>
                    <a:pt x="1654097" y="13159"/>
                    <a:pt x="1686643" y="15200"/>
                    <a:pt x="1719072" y="18288"/>
                  </a:cubicBezTo>
                  <a:cubicBezTo>
                    <a:pt x="1729387" y="19270"/>
                    <a:pt x="1739332" y="22681"/>
                    <a:pt x="1749552" y="24384"/>
                  </a:cubicBezTo>
                  <a:cubicBezTo>
                    <a:pt x="1763725" y="26746"/>
                    <a:pt x="1777976" y="28622"/>
                    <a:pt x="1792224" y="30480"/>
                  </a:cubicBezTo>
                  <a:lnTo>
                    <a:pt x="1889760" y="42672"/>
                  </a:lnTo>
                  <a:cubicBezTo>
                    <a:pt x="1938342" y="49612"/>
                    <a:pt x="1909838" y="52533"/>
                    <a:pt x="1975104" y="54864"/>
                  </a:cubicBezTo>
                  <a:cubicBezTo>
                    <a:pt x="2070569" y="58273"/>
                    <a:pt x="2166115" y="58777"/>
                    <a:pt x="2261616" y="60960"/>
                  </a:cubicBezTo>
                  <a:lnTo>
                    <a:pt x="3041904" y="79248"/>
                  </a:lnTo>
                  <a:cubicBezTo>
                    <a:pt x="3156921" y="92028"/>
                    <a:pt x="3047504" y="81147"/>
                    <a:pt x="3243072" y="91440"/>
                  </a:cubicBezTo>
                  <a:cubicBezTo>
                    <a:pt x="3271553" y="92939"/>
                    <a:pt x="3299968" y="95504"/>
                    <a:pt x="3328416" y="97536"/>
                  </a:cubicBezTo>
                  <a:cubicBezTo>
                    <a:pt x="3354960" y="102845"/>
                    <a:pt x="3418181" y="114986"/>
                    <a:pt x="3432048" y="121920"/>
                  </a:cubicBezTo>
                  <a:cubicBezTo>
                    <a:pt x="3440176" y="125984"/>
                    <a:pt x="3448542" y="129603"/>
                    <a:pt x="3456432" y="134112"/>
                  </a:cubicBezTo>
                  <a:cubicBezTo>
                    <a:pt x="3462793" y="137747"/>
                    <a:pt x="3468167" y="143027"/>
                    <a:pt x="3474720" y="146304"/>
                  </a:cubicBezTo>
                  <a:cubicBezTo>
                    <a:pt x="3480467" y="149178"/>
                    <a:pt x="3486991" y="150144"/>
                    <a:pt x="3493008" y="152400"/>
                  </a:cubicBezTo>
                  <a:cubicBezTo>
                    <a:pt x="3509313" y="158515"/>
                    <a:pt x="3532479" y="167548"/>
                    <a:pt x="3547872" y="176784"/>
                  </a:cubicBezTo>
                  <a:cubicBezTo>
                    <a:pt x="3560437" y="184323"/>
                    <a:pt x="3573606" y="191311"/>
                    <a:pt x="3584448" y="201168"/>
                  </a:cubicBezTo>
                  <a:cubicBezTo>
                    <a:pt x="3596191" y="211844"/>
                    <a:pt x="3603132" y="227127"/>
                    <a:pt x="3614928" y="237744"/>
                  </a:cubicBezTo>
                  <a:cubicBezTo>
                    <a:pt x="3623735" y="245670"/>
                    <a:pt x="3636156" y="248630"/>
                    <a:pt x="3645408" y="256032"/>
                  </a:cubicBezTo>
                  <a:cubicBezTo>
                    <a:pt x="3656628" y="265008"/>
                    <a:pt x="3664919" y="277231"/>
                    <a:pt x="3675888" y="286512"/>
                  </a:cubicBezTo>
                  <a:cubicBezTo>
                    <a:pt x="3691400" y="299638"/>
                    <a:pt x="3709677" y="309357"/>
                    <a:pt x="3724656" y="323088"/>
                  </a:cubicBezTo>
                  <a:cubicBezTo>
                    <a:pt x="3734247" y="331880"/>
                    <a:pt x="3739840" y="344368"/>
                    <a:pt x="3749040" y="353568"/>
                  </a:cubicBezTo>
                  <a:cubicBezTo>
                    <a:pt x="3758240" y="362768"/>
                    <a:pt x="3771190" y="367957"/>
                    <a:pt x="3779520" y="377952"/>
                  </a:cubicBezTo>
                  <a:cubicBezTo>
                    <a:pt x="3791792" y="392679"/>
                    <a:pt x="3798858" y="411121"/>
                    <a:pt x="3810000" y="426720"/>
                  </a:cubicBezTo>
                  <a:cubicBezTo>
                    <a:pt x="3819224" y="439634"/>
                    <a:pt x="3830737" y="450769"/>
                    <a:pt x="3840480" y="463296"/>
                  </a:cubicBezTo>
                  <a:cubicBezTo>
                    <a:pt x="3844978" y="469079"/>
                    <a:pt x="3847904" y="476021"/>
                    <a:pt x="3852672" y="481584"/>
                  </a:cubicBezTo>
                  <a:cubicBezTo>
                    <a:pt x="3860153" y="490311"/>
                    <a:pt x="3870159" y="496772"/>
                    <a:pt x="3877056" y="505968"/>
                  </a:cubicBezTo>
                  <a:cubicBezTo>
                    <a:pt x="3882508" y="513238"/>
                    <a:pt x="3884037" y="522907"/>
                    <a:pt x="3889248" y="530352"/>
                  </a:cubicBezTo>
                  <a:cubicBezTo>
                    <a:pt x="3898349" y="543354"/>
                    <a:pt x="3910627" y="553926"/>
                    <a:pt x="3919728" y="566928"/>
                  </a:cubicBezTo>
                  <a:cubicBezTo>
                    <a:pt x="3924939" y="574373"/>
                    <a:pt x="3927245" y="583520"/>
                    <a:pt x="3931920" y="591312"/>
                  </a:cubicBezTo>
                  <a:cubicBezTo>
                    <a:pt x="3939459" y="603877"/>
                    <a:pt x="3947639" y="616072"/>
                    <a:pt x="3956304" y="627888"/>
                  </a:cubicBezTo>
                  <a:cubicBezTo>
                    <a:pt x="3988877" y="672306"/>
                    <a:pt x="3998201" y="677397"/>
                    <a:pt x="4023360" y="719328"/>
                  </a:cubicBezTo>
                  <a:cubicBezTo>
                    <a:pt x="4028035" y="727120"/>
                    <a:pt x="4030789" y="735973"/>
                    <a:pt x="4035552" y="743712"/>
                  </a:cubicBezTo>
                  <a:cubicBezTo>
                    <a:pt x="4047071" y="762431"/>
                    <a:pt x="4062298" y="778917"/>
                    <a:pt x="4072128" y="798576"/>
                  </a:cubicBezTo>
                  <a:cubicBezTo>
                    <a:pt x="4076192" y="806704"/>
                    <a:pt x="4080945" y="814523"/>
                    <a:pt x="4084320" y="822960"/>
                  </a:cubicBezTo>
                  <a:cubicBezTo>
                    <a:pt x="4094214" y="847696"/>
                    <a:pt x="4096620" y="859969"/>
                    <a:pt x="4102608" y="883920"/>
                  </a:cubicBezTo>
                  <a:cubicBezTo>
                    <a:pt x="4098544" y="934720"/>
                    <a:pt x="4096938" y="985777"/>
                    <a:pt x="4090416" y="1036320"/>
                  </a:cubicBezTo>
                  <a:cubicBezTo>
                    <a:pt x="4088771" y="1049066"/>
                    <a:pt x="4085035" y="1061998"/>
                    <a:pt x="4078224" y="1072896"/>
                  </a:cubicBezTo>
                  <a:cubicBezTo>
                    <a:pt x="4064432" y="1094963"/>
                    <a:pt x="4043891" y="1112204"/>
                    <a:pt x="4029456" y="1133856"/>
                  </a:cubicBezTo>
                  <a:cubicBezTo>
                    <a:pt x="4025392" y="1139952"/>
                    <a:pt x="4022131" y="1146668"/>
                    <a:pt x="4017264" y="1152144"/>
                  </a:cubicBezTo>
                  <a:cubicBezTo>
                    <a:pt x="3985345" y="1188053"/>
                    <a:pt x="3974326" y="1192617"/>
                    <a:pt x="3938016" y="1225296"/>
                  </a:cubicBezTo>
                  <a:cubicBezTo>
                    <a:pt x="3931608" y="1231063"/>
                    <a:pt x="3927001" y="1238956"/>
                    <a:pt x="3919728" y="1243584"/>
                  </a:cubicBezTo>
                  <a:cubicBezTo>
                    <a:pt x="3904395" y="1253342"/>
                    <a:pt x="3886082" y="1257886"/>
                    <a:pt x="3870960" y="1267968"/>
                  </a:cubicBezTo>
                  <a:cubicBezTo>
                    <a:pt x="3832937" y="1293316"/>
                    <a:pt x="3872242" y="1269430"/>
                    <a:pt x="3834384" y="1286256"/>
                  </a:cubicBezTo>
                  <a:cubicBezTo>
                    <a:pt x="3821928" y="1291792"/>
                    <a:pt x="3810740" y="1300233"/>
                    <a:pt x="3797808" y="1304544"/>
                  </a:cubicBezTo>
                  <a:cubicBezTo>
                    <a:pt x="3786082" y="1308453"/>
                    <a:pt x="3773424" y="1308608"/>
                    <a:pt x="3761232" y="1310640"/>
                  </a:cubicBezTo>
                  <a:cubicBezTo>
                    <a:pt x="3747008" y="1320800"/>
                    <a:pt x="3733951" y="1332833"/>
                    <a:pt x="3718560" y="1341120"/>
                  </a:cubicBezTo>
                  <a:cubicBezTo>
                    <a:pt x="3689664" y="1356679"/>
                    <a:pt x="3680469" y="1350718"/>
                    <a:pt x="3651504" y="1359408"/>
                  </a:cubicBezTo>
                  <a:cubicBezTo>
                    <a:pt x="3573190" y="1382902"/>
                    <a:pt x="3687908" y="1364427"/>
                    <a:pt x="3547872" y="1389888"/>
                  </a:cubicBezTo>
                  <a:cubicBezTo>
                    <a:pt x="3527780" y="1393541"/>
                    <a:pt x="3507232" y="1393952"/>
                    <a:pt x="3486912" y="1395984"/>
                  </a:cubicBezTo>
                  <a:lnTo>
                    <a:pt x="1511808" y="1383792"/>
                  </a:lnTo>
                  <a:lnTo>
                    <a:pt x="323088" y="1371600"/>
                  </a:lnTo>
                  <a:cubicBezTo>
                    <a:pt x="312928" y="1367536"/>
                    <a:pt x="302395" y="1364302"/>
                    <a:pt x="292608" y="1359408"/>
                  </a:cubicBezTo>
                  <a:cubicBezTo>
                    <a:pt x="286055" y="1356131"/>
                    <a:pt x="280681" y="1350851"/>
                    <a:pt x="274320" y="1347216"/>
                  </a:cubicBezTo>
                  <a:cubicBezTo>
                    <a:pt x="266430" y="1342707"/>
                    <a:pt x="258064" y="1339088"/>
                    <a:pt x="249936" y="1335024"/>
                  </a:cubicBezTo>
                  <a:cubicBezTo>
                    <a:pt x="223830" y="1295866"/>
                    <a:pt x="254750" y="1339655"/>
                    <a:pt x="213360" y="1292352"/>
                  </a:cubicBezTo>
                  <a:cubicBezTo>
                    <a:pt x="206670" y="1284706"/>
                    <a:pt x="201168" y="1276096"/>
                    <a:pt x="195072" y="1267968"/>
                  </a:cubicBezTo>
                  <a:cubicBezTo>
                    <a:pt x="185859" y="1231116"/>
                    <a:pt x="191625" y="1251532"/>
                    <a:pt x="176784" y="1207008"/>
                  </a:cubicBezTo>
                  <a:cubicBezTo>
                    <a:pt x="174752" y="1200912"/>
                    <a:pt x="171948" y="1195021"/>
                    <a:pt x="170688" y="1188720"/>
                  </a:cubicBezTo>
                  <a:lnTo>
                    <a:pt x="158496" y="1127760"/>
                  </a:lnTo>
                  <a:lnTo>
                    <a:pt x="152400" y="1097280"/>
                  </a:lnTo>
                  <a:cubicBezTo>
                    <a:pt x="143725" y="897746"/>
                    <a:pt x="153737" y="1022190"/>
                    <a:pt x="134112" y="871728"/>
                  </a:cubicBezTo>
                  <a:cubicBezTo>
                    <a:pt x="110739" y="692534"/>
                    <a:pt x="140709" y="899118"/>
                    <a:pt x="121920" y="786384"/>
                  </a:cubicBezTo>
                  <a:cubicBezTo>
                    <a:pt x="119558" y="772211"/>
                    <a:pt x="119605" y="757574"/>
                    <a:pt x="115824" y="743712"/>
                  </a:cubicBezTo>
                  <a:cubicBezTo>
                    <a:pt x="113433" y="734945"/>
                    <a:pt x="107696" y="727456"/>
                    <a:pt x="103632" y="719328"/>
                  </a:cubicBezTo>
                  <a:cubicBezTo>
                    <a:pt x="100397" y="703155"/>
                    <a:pt x="98256" y="685897"/>
                    <a:pt x="91440" y="670560"/>
                  </a:cubicBezTo>
                  <a:cubicBezTo>
                    <a:pt x="85904" y="658104"/>
                    <a:pt x="77737" y="646821"/>
                    <a:pt x="73152" y="633984"/>
                  </a:cubicBezTo>
                  <a:cubicBezTo>
                    <a:pt x="67516" y="618204"/>
                    <a:pt x="67183" y="600774"/>
                    <a:pt x="60960" y="585216"/>
                  </a:cubicBezTo>
                  <a:cubicBezTo>
                    <a:pt x="56896" y="575056"/>
                    <a:pt x="53662" y="564523"/>
                    <a:pt x="48768" y="554736"/>
                  </a:cubicBezTo>
                  <a:cubicBezTo>
                    <a:pt x="45491" y="548183"/>
                    <a:pt x="39853" y="543001"/>
                    <a:pt x="36576" y="536448"/>
                  </a:cubicBezTo>
                  <a:cubicBezTo>
                    <a:pt x="23310" y="509916"/>
                    <a:pt x="39430" y="523374"/>
                    <a:pt x="18288" y="493776"/>
                  </a:cubicBezTo>
                  <a:cubicBezTo>
                    <a:pt x="13277" y="486761"/>
                    <a:pt x="6096" y="481584"/>
                    <a:pt x="0" y="475488"/>
                  </a:cubicBezTo>
                  <a:lnTo>
                    <a:pt x="36576" y="420624"/>
                  </a:lnTo>
                  <a:close/>
                </a:path>
              </a:pathLst>
            </a:custGeom>
            <a:noFill/>
            <a:ln w="9525" cap="flat" cmpd="sng" algn="ctr">
              <a:solidFill>
                <a:srgbClr val="FFC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" name="标注: 线形(无边框) 5">
              <a:extLst>
                <a:ext uri="{FF2B5EF4-FFF2-40B4-BE49-F238E27FC236}">
                  <a16:creationId xmlns:a16="http://schemas.microsoft.com/office/drawing/2014/main" id="{2A392381-1898-4A65-9C3C-219CA13358D1}"/>
                </a:ext>
              </a:extLst>
            </p:cNvPr>
            <p:cNvSpPr/>
            <p:nvPr/>
          </p:nvSpPr>
          <p:spPr bwMode="auto">
            <a:xfrm>
              <a:off x="8436864" y="3227275"/>
              <a:ext cx="1956816" cy="612648"/>
            </a:xfrm>
            <a:prstGeom prst="callout1">
              <a:avLst/>
            </a:prstGeom>
            <a:solidFill>
              <a:schemeClr val="accent1"/>
            </a:solidFill>
            <a:ln w="9525" cap="flat" cmpd="sng" algn="ctr">
              <a:solidFill>
                <a:srgbClr val="FFC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r>
                <a:rPr lang="zh-CN" altLang="en-US" sz="2400" dirty="0">
                  <a:latin typeface="Arial" panose="020B0604020202020204" pitchFamily="34" charset="0"/>
                  <a:ea typeface="宋体" panose="02010600030101010101" pitchFamily="2" charset="-122"/>
                </a:rPr>
                <a:t>样本函数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39772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ED8E96F5-1CF5-4A3F-A822-A990CD5B1C30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323528" y="980728"/>
                <a:ext cx="8327008" cy="4158674"/>
              </a:xfrm>
            </p:spPr>
            <p:txBody>
              <a:bodyPr/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2400" dirty="0"/>
                  <a:t>（</a:t>
                </a:r>
                <a:r>
                  <a:rPr lang="en-US" altLang="zh-CN" sz="2400" dirty="0"/>
                  <a:t>3</a:t>
                </a:r>
                <a:r>
                  <a:rPr lang="zh-CN" altLang="en-US" sz="2400" dirty="0"/>
                  <a:t>）</a:t>
                </a:r>
                <a:r>
                  <a:rPr lang="en-US" altLang="zh-CN" sz="24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latin typeface="Cambria Math" panose="02040503050406030204" pitchFamily="18" charset="0"/>
                      </a:rPr>
                      <m:t>𝝃</m:t>
                    </m:r>
                  </m:oMath>
                </a14:m>
                <a:r>
                  <a:rPr lang="zh-CN" altLang="zh-CN" sz="2400" dirty="0"/>
                  <a:t>可变</a:t>
                </a:r>
                <a:r>
                  <a:rPr lang="en-US" altLang="zh-CN" sz="2400" dirty="0"/>
                  <a:t>, </a:t>
                </a:r>
                <a:r>
                  <a:rPr lang="en-US" altLang="zh-CN" sz="2400" i="1" dirty="0"/>
                  <a:t>t</a:t>
                </a:r>
                <a:r>
                  <a:rPr lang="zh-CN" altLang="zh-CN" sz="2400" dirty="0"/>
                  <a:t>给定</a:t>
                </a:r>
                <a:r>
                  <a:rPr lang="en-US" altLang="zh-CN" sz="2400" dirty="0"/>
                  <a:t>,</a:t>
                </a:r>
                <a:r>
                  <a:rPr lang="zh-CN" altLang="zh-CN" sz="2400" dirty="0"/>
                  <a:t>对应一随机变量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altLang="zh-CN" sz="2400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1" i="1">
                        <a:latin typeface="Cambria Math" panose="02040503050406030204" pitchFamily="18" charset="0"/>
                      </a:rPr>
                      <m:t>𝝃</m:t>
                    </m:r>
                    <m:r>
                      <a:rPr lang="en-US" altLang="zh-CN" sz="2400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b="1" i="1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altLang="zh-CN" sz="2400" b="1" i="1">
                        <a:latin typeface="Cambria Math" panose="02040503050406030204" pitchFamily="18" charset="0"/>
                      </a:rPr>
                      <m:t>),</m:t>
                    </m:r>
                  </m:oMath>
                </a14:m>
                <a:r>
                  <a:rPr lang="zh-CN" altLang="zh-CN" sz="2400" dirty="0"/>
                  <a:t>即随机过程每一时刻的值都是一随机变量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altLang="zh-CN" sz="2400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1" i="1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altLang="zh-CN" sz="24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400" dirty="0"/>
                  <a:t>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右图中👉，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𝑿</m:t>
                    </m:r>
                    <m:d>
                      <m:d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en-US" altLang="zh-CN" sz="2400" b="1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 </m:t>
                    </m:r>
                    <m:r>
                      <a:rPr lang="en-US" altLang="zh-CN" sz="2400" b="1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𝑿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𝟐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400" dirty="0"/>
                  <a:t>为随机变量。</a:t>
                </a:r>
                <a:endParaRPr lang="en-US" altLang="zh-CN" sz="24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2400" dirty="0"/>
                  <a:t>（</a:t>
                </a:r>
                <a:r>
                  <a:rPr lang="en-US" altLang="zh-CN" sz="2400" dirty="0"/>
                  <a:t>4</a:t>
                </a:r>
                <a:r>
                  <a:rPr lang="zh-CN" altLang="en-US" sz="2400" dirty="0"/>
                  <a:t>）</a:t>
                </a:r>
                <a:r>
                  <a:rPr lang="en-US" altLang="zh-CN" sz="24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latin typeface="Cambria Math" panose="02040503050406030204" pitchFamily="18" charset="0"/>
                      </a:rPr>
                      <m:t>𝝃</m:t>
                    </m:r>
                  </m:oMath>
                </a14:m>
                <a:r>
                  <a:rPr lang="en-US" altLang="zh-CN" sz="2400" dirty="0"/>
                  <a:t>, </a:t>
                </a:r>
                <a:r>
                  <a:rPr lang="en-US" altLang="zh-CN" sz="2400" i="1" dirty="0"/>
                  <a:t>t</a:t>
                </a:r>
                <a:r>
                  <a:rPr lang="zh-CN" altLang="zh-CN" sz="2400" dirty="0"/>
                  <a:t>给定</a:t>
                </a:r>
                <a:r>
                  <a:rPr lang="en-US" altLang="zh-CN" sz="2400" dirty="0"/>
                  <a:t>,</a:t>
                </a:r>
                <a:r>
                  <a:rPr lang="zh-CN" altLang="zh-CN" sz="2400" dirty="0"/>
                  <a:t>对应一确定值</a:t>
                </a:r>
                <a:r>
                  <a:rPr lang="zh-CN" altLang="en-US" sz="2400" dirty="0"/>
                  <a:t>（状态）。</a:t>
                </a:r>
                <a:endParaRPr lang="en-US" altLang="zh-CN" sz="2400" dirty="0"/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p"/>
                </a:pPr>
                <a:r>
                  <a:rPr lang="zh-CN" altLang="en-US" sz="2400" dirty="0">
                    <a:solidFill>
                      <a:srgbClr val="FF0000"/>
                    </a:solidFill>
                  </a:rPr>
                  <a:t>随机变量的</a:t>
                </a:r>
                <a:r>
                  <a:rPr lang="zh-CN" altLang="zh-CN" sz="2400" dirty="0">
                    <a:solidFill>
                      <a:srgbClr val="FF0000"/>
                    </a:solidFill>
                  </a:rPr>
                  <a:t>所有可能取值构成的集合称为随机过程的</a:t>
                </a:r>
                <a:endParaRPr lang="en-US" altLang="zh-CN" sz="2400" dirty="0">
                  <a:solidFill>
                    <a:srgbClr val="FF0000"/>
                  </a:solidFill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zh-CN" sz="2400" dirty="0">
                    <a:solidFill>
                      <a:srgbClr val="FF0000"/>
                    </a:solidFill>
                  </a:rPr>
                  <a:t>状态空间，记为</a:t>
                </a:r>
                <a:r>
                  <a:rPr lang="en-US" altLang="zh-CN" sz="2400" i="1" dirty="0">
                    <a:solidFill>
                      <a:srgbClr val="FF0000"/>
                    </a:solidFill>
                  </a:rPr>
                  <a:t>S</a:t>
                </a:r>
                <a:r>
                  <a:rPr lang="zh-CN" altLang="en-US" sz="2400" dirty="0">
                    <a:solidFill>
                      <a:srgbClr val="FF0000"/>
                    </a:solidFill>
                  </a:rPr>
                  <a:t>。</a:t>
                </a:r>
                <a:endParaRPr lang="en-US" altLang="zh-CN" sz="2400" dirty="0">
                  <a:solidFill>
                    <a:srgbClr val="FF0000"/>
                  </a:solidFill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注：</a:t>
                </a:r>
                <a:r>
                  <a:rPr lang="el-GR" altLang="zh-CN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Ω</a:t>
                </a:r>
                <a:r>
                  <a:rPr lang="zh-CN" alt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为样本空间，与状态空间</a:t>
                </a:r>
                <a:r>
                  <a:rPr lang="en-US" altLang="zh-CN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</a:t>
                </a:r>
                <a:r>
                  <a:rPr lang="zh-CN" alt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不同。</a:t>
                </a:r>
                <a:endParaRPr lang="zh-CN" altLang="zh-CN" sz="2400" dirty="0"/>
              </a:p>
              <a:p>
                <a:pPr marL="0" indent="0">
                  <a:buNone/>
                </a:pPr>
                <a:endParaRPr lang="en-US" altLang="zh-CN" sz="2400" dirty="0"/>
              </a:p>
              <a:p>
                <a:endParaRPr lang="zh-CN" altLang="en-US" sz="2400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ED8E96F5-1CF5-4A3F-A822-A990CD5B1C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323528" y="980728"/>
                <a:ext cx="8327008" cy="4158674"/>
              </a:xfrm>
              <a:blipFill>
                <a:blip r:embed="rId3"/>
                <a:stretch>
                  <a:fillRect l="-1098" r="-366" b="-54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组合 17">
            <a:extLst>
              <a:ext uri="{FF2B5EF4-FFF2-40B4-BE49-F238E27FC236}">
                <a16:creationId xmlns:a16="http://schemas.microsoft.com/office/drawing/2014/main" id="{F3AF14BB-4B00-456E-9CC2-E392ED1CE10A}"/>
              </a:ext>
            </a:extLst>
          </p:cNvPr>
          <p:cNvGrpSpPr/>
          <p:nvPr/>
        </p:nvGrpSpPr>
        <p:grpSpPr>
          <a:xfrm>
            <a:off x="6156176" y="1772816"/>
            <a:ext cx="2778919" cy="3600614"/>
            <a:chOff x="8187499" y="1774084"/>
            <a:chExt cx="3705225" cy="4800819"/>
          </a:xfrm>
        </p:grpSpPr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1B33EC21-B38C-483A-A845-A71338E1D822}"/>
                </a:ext>
              </a:extLst>
            </p:cNvPr>
            <p:cNvGrpSpPr/>
            <p:nvPr/>
          </p:nvGrpSpPr>
          <p:grpSpPr>
            <a:xfrm>
              <a:off x="8187499" y="2016076"/>
              <a:ext cx="3705225" cy="4558827"/>
              <a:chOff x="4371403" y="2016076"/>
              <a:chExt cx="3705225" cy="4558827"/>
            </a:xfrm>
          </p:grpSpPr>
          <p:grpSp>
            <p:nvGrpSpPr>
              <p:cNvPr id="15" name="组合 14">
                <a:extLst>
                  <a:ext uri="{FF2B5EF4-FFF2-40B4-BE49-F238E27FC236}">
                    <a16:creationId xmlns:a16="http://schemas.microsoft.com/office/drawing/2014/main" id="{57AF65C4-10CF-4732-BF15-E8518BEBF82B}"/>
                  </a:ext>
                </a:extLst>
              </p:cNvPr>
              <p:cNvGrpSpPr/>
              <p:nvPr/>
            </p:nvGrpSpPr>
            <p:grpSpPr>
              <a:xfrm>
                <a:off x="4371403" y="2016076"/>
                <a:ext cx="3705225" cy="4153076"/>
                <a:chOff x="4371403" y="2137996"/>
                <a:chExt cx="3705225" cy="4153076"/>
              </a:xfrm>
            </p:grpSpPr>
            <p:pic>
              <p:nvPicPr>
                <p:cNvPr id="3" name="图片 2">
                  <a:extLst>
                    <a:ext uri="{FF2B5EF4-FFF2-40B4-BE49-F238E27FC236}">
                      <a16:creationId xmlns:a16="http://schemas.microsoft.com/office/drawing/2014/main" id="{5688A1B9-C6C4-4B38-A77D-B8764A13949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371403" y="2137996"/>
                  <a:ext cx="3705225" cy="4095750"/>
                </a:xfrm>
                <a:prstGeom prst="rect">
                  <a:avLst/>
                </a:prstGeom>
              </p:spPr>
            </p:pic>
            <p:cxnSp>
              <p:nvCxnSpPr>
                <p:cNvPr id="5" name="直接连接符 4">
                  <a:extLst>
                    <a:ext uri="{FF2B5EF4-FFF2-40B4-BE49-F238E27FC236}">
                      <a16:creationId xmlns:a16="http://schemas.microsoft.com/office/drawing/2014/main" id="{BB2B4561-E3B7-41DE-980F-EE6BE160815E}"/>
                    </a:ext>
                  </a:extLst>
                </p:cNvPr>
                <p:cNvCxnSpPr/>
                <p:nvPr/>
              </p:nvCxnSpPr>
              <p:spPr bwMode="auto">
                <a:xfrm>
                  <a:off x="5352288" y="2298192"/>
                  <a:ext cx="0" cy="3980688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accent2"/>
                  </a:solidFill>
                  <a:prstDash val="sysDash"/>
                  <a:miter lim="800000"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6" name="直接连接符 5">
                  <a:extLst>
                    <a:ext uri="{FF2B5EF4-FFF2-40B4-BE49-F238E27FC236}">
                      <a16:creationId xmlns:a16="http://schemas.microsoft.com/office/drawing/2014/main" id="{5865C35D-2995-4B68-B57A-D05565A8594E}"/>
                    </a:ext>
                  </a:extLst>
                </p:cNvPr>
                <p:cNvCxnSpPr/>
                <p:nvPr/>
              </p:nvCxnSpPr>
              <p:spPr bwMode="auto">
                <a:xfrm>
                  <a:off x="5937504" y="2310384"/>
                  <a:ext cx="0" cy="3980688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accent2"/>
                  </a:solidFill>
                  <a:prstDash val="sysDash"/>
                  <a:miter lim="800000"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sp>
              <p:nvSpPr>
                <p:cNvPr id="7" name="流程图: 接点 6">
                  <a:extLst>
                    <a:ext uri="{FF2B5EF4-FFF2-40B4-BE49-F238E27FC236}">
                      <a16:creationId xmlns:a16="http://schemas.microsoft.com/office/drawing/2014/main" id="{37C36004-155A-43A9-9CBC-1262E823993C}"/>
                    </a:ext>
                  </a:extLst>
                </p:cNvPr>
                <p:cNvSpPr/>
                <p:nvPr/>
              </p:nvSpPr>
              <p:spPr bwMode="auto">
                <a:xfrm>
                  <a:off x="5318760" y="3054096"/>
                  <a:ext cx="67056" cy="91440"/>
                </a:xfrm>
                <a:prstGeom prst="flowChartConnector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none" lIns="68580" tIns="34290" rIns="68580" bIns="3429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685800"/>
                  <a:endParaRPr lang="zh-CN" altLang="en-US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8" name="流程图: 接点 7">
                  <a:extLst>
                    <a:ext uri="{FF2B5EF4-FFF2-40B4-BE49-F238E27FC236}">
                      <a16:creationId xmlns:a16="http://schemas.microsoft.com/office/drawing/2014/main" id="{68749EB7-689B-4B0D-9E16-181EA00FCED0}"/>
                    </a:ext>
                  </a:extLst>
                </p:cNvPr>
                <p:cNvSpPr/>
                <p:nvPr/>
              </p:nvSpPr>
              <p:spPr bwMode="auto">
                <a:xfrm>
                  <a:off x="5318760" y="4437888"/>
                  <a:ext cx="67056" cy="91440"/>
                </a:xfrm>
                <a:prstGeom prst="flowChartConnector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none" lIns="68580" tIns="34290" rIns="68580" bIns="3429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685800"/>
                  <a:endParaRPr lang="zh-CN" altLang="en-US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" name="流程图: 接点 8">
                  <a:extLst>
                    <a:ext uri="{FF2B5EF4-FFF2-40B4-BE49-F238E27FC236}">
                      <a16:creationId xmlns:a16="http://schemas.microsoft.com/office/drawing/2014/main" id="{2CC943F1-C483-45FC-8FBA-7885381DAF96}"/>
                    </a:ext>
                  </a:extLst>
                </p:cNvPr>
                <p:cNvSpPr/>
                <p:nvPr/>
              </p:nvSpPr>
              <p:spPr bwMode="auto">
                <a:xfrm>
                  <a:off x="5312664" y="5577840"/>
                  <a:ext cx="67056" cy="91440"/>
                </a:xfrm>
                <a:prstGeom prst="flowChartConnector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none" lIns="68580" tIns="34290" rIns="68580" bIns="3429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685800"/>
                  <a:endParaRPr lang="zh-CN" altLang="en-US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" name="流程图: 接点 9">
                  <a:extLst>
                    <a:ext uri="{FF2B5EF4-FFF2-40B4-BE49-F238E27FC236}">
                      <a16:creationId xmlns:a16="http://schemas.microsoft.com/office/drawing/2014/main" id="{0CCEA05D-B94B-4868-A651-5D9F67BB5BC9}"/>
                    </a:ext>
                  </a:extLst>
                </p:cNvPr>
                <p:cNvSpPr/>
                <p:nvPr/>
              </p:nvSpPr>
              <p:spPr bwMode="auto">
                <a:xfrm>
                  <a:off x="5897880" y="2474976"/>
                  <a:ext cx="67056" cy="91440"/>
                </a:xfrm>
                <a:prstGeom prst="flowChartConnector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68580" tIns="34290" rIns="68580" bIns="3429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685800"/>
                  <a:endParaRPr lang="zh-CN" altLang="en-US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" name="流程图: 接点 10">
                  <a:extLst>
                    <a:ext uri="{FF2B5EF4-FFF2-40B4-BE49-F238E27FC236}">
                      <a16:creationId xmlns:a16="http://schemas.microsoft.com/office/drawing/2014/main" id="{4A8BF851-5B7D-4D01-9983-494C6FEA7E26}"/>
                    </a:ext>
                  </a:extLst>
                </p:cNvPr>
                <p:cNvSpPr/>
                <p:nvPr/>
              </p:nvSpPr>
              <p:spPr bwMode="auto">
                <a:xfrm>
                  <a:off x="5903976" y="4078224"/>
                  <a:ext cx="67056" cy="91440"/>
                </a:xfrm>
                <a:prstGeom prst="flowChartConnector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68580" tIns="34290" rIns="68580" bIns="3429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685800"/>
                  <a:endParaRPr lang="zh-CN" altLang="en-US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2" name="流程图: 接点 11">
                  <a:extLst>
                    <a:ext uri="{FF2B5EF4-FFF2-40B4-BE49-F238E27FC236}">
                      <a16:creationId xmlns:a16="http://schemas.microsoft.com/office/drawing/2014/main" id="{672D801A-18FD-458F-850B-D0C7703A2D0D}"/>
                    </a:ext>
                  </a:extLst>
                </p:cNvPr>
                <p:cNvSpPr/>
                <p:nvPr/>
              </p:nvSpPr>
              <p:spPr bwMode="auto">
                <a:xfrm>
                  <a:off x="5897880" y="5388864"/>
                  <a:ext cx="67056" cy="91440"/>
                </a:xfrm>
                <a:prstGeom prst="flowChartConnector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none" lIns="68580" tIns="34290" rIns="68580" bIns="3429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685800"/>
                  <a:endParaRPr lang="zh-CN" altLang="en-US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文本框 12">
                    <a:extLst>
                      <a:ext uri="{FF2B5EF4-FFF2-40B4-BE49-F238E27FC236}">
                        <a16:creationId xmlns:a16="http://schemas.microsoft.com/office/drawing/2014/main" id="{3C854B4C-C362-41E9-925C-DDBBBB0AC5D7}"/>
                      </a:ext>
                    </a:extLst>
                  </p:cNvPr>
                  <p:cNvSpPr txBox="1"/>
                  <p:nvPr/>
                </p:nvSpPr>
                <p:spPr>
                  <a:xfrm>
                    <a:off x="5165943" y="6082460"/>
                    <a:ext cx="585032" cy="49244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13" name="文本框 12">
                    <a:extLst>
                      <a:ext uri="{FF2B5EF4-FFF2-40B4-BE49-F238E27FC236}">
                        <a16:creationId xmlns:a16="http://schemas.microsoft.com/office/drawing/2014/main" id="{3C854B4C-C362-41E9-925C-DDBBBB0AC5D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65943" y="6082460"/>
                    <a:ext cx="585032" cy="492443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b="-166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文本框 13">
                    <a:extLst>
                      <a:ext uri="{FF2B5EF4-FFF2-40B4-BE49-F238E27FC236}">
                        <a16:creationId xmlns:a16="http://schemas.microsoft.com/office/drawing/2014/main" id="{39F84328-E02F-45EE-B515-51969BFCE352}"/>
                      </a:ext>
                    </a:extLst>
                  </p:cNvPr>
                  <p:cNvSpPr txBox="1"/>
                  <p:nvPr/>
                </p:nvSpPr>
                <p:spPr>
                  <a:xfrm>
                    <a:off x="5751159" y="6074578"/>
                    <a:ext cx="592128" cy="49244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14" name="文本框 13">
                    <a:extLst>
                      <a:ext uri="{FF2B5EF4-FFF2-40B4-BE49-F238E27FC236}">
                        <a16:creationId xmlns:a16="http://schemas.microsoft.com/office/drawing/2014/main" id="{39F84328-E02F-45EE-B515-51969BFCE35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51159" y="6074578"/>
                    <a:ext cx="592128" cy="492443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b="-166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B58B09BB-66C2-4783-BE3B-0DFEDCD49A9E}"/>
                    </a:ext>
                  </a:extLst>
                </p:cNvPr>
                <p:cNvSpPr txBox="1"/>
                <p:nvPr/>
              </p:nvSpPr>
              <p:spPr>
                <a:xfrm>
                  <a:off x="8736766" y="1774084"/>
                  <a:ext cx="1076535" cy="49244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𝑿</m:t>
                        </m:r>
                        <m:d>
                          <m:dPr>
                            <m:ctrlPr>
                              <a:rPr lang="en-US" altLang="zh-CN" b="1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1" i="1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𝒕</m:t>
                                </m:r>
                              </m:e>
                              <m:sub>
                                <m:r>
                                  <a:rPr lang="en-US" altLang="zh-CN" b="1" i="1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𝟏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B58B09BB-66C2-4783-BE3B-0DFEDCD49A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36766" y="1774084"/>
                  <a:ext cx="1076535" cy="492443"/>
                </a:xfrm>
                <a:prstGeom prst="rect">
                  <a:avLst/>
                </a:prstGeom>
                <a:blipFill>
                  <a:blip r:embed="rId7"/>
                  <a:stretch>
                    <a:fillRect b="-1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矩形 16">
                  <a:extLst>
                    <a:ext uri="{FF2B5EF4-FFF2-40B4-BE49-F238E27FC236}">
                      <a16:creationId xmlns:a16="http://schemas.microsoft.com/office/drawing/2014/main" id="{A2877876-B7DF-403D-A609-E00EBEB683C9}"/>
                    </a:ext>
                  </a:extLst>
                </p:cNvPr>
                <p:cNvSpPr/>
                <p:nvPr/>
              </p:nvSpPr>
              <p:spPr>
                <a:xfrm>
                  <a:off x="9407326" y="1786276"/>
                  <a:ext cx="1076535" cy="49244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𝑿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𝒕</m:t>
                                </m:r>
                              </m:e>
                              <m:sub>
                                <m:r>
                                  <a:rPr lang="en-US" altLang="zh-CN" b="1" i="1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𝟐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矩形 16">
                  <a:extLst>
                    <a:ext uri="{FF2B5EF4-FFF2-40B4-BE49-F238E27FC236}">
                      <a16:creationId xmlns:a16="http://schemas.microsoft.com/office/drawing/2014/main" id="{A2877876-B7DF-403D-A609-E00EBEB683C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07326" y="1786276"/>
                  <a:ext cx="1076535" cy="492443"/>
                </a:xfrm>
                <a:prstGeom prst="rect">
                  <a:avLst/>
                </a:prstGeom>
                <a:blipFill>
                  <a:blip r:embed="rId8"/>
                  <a:stretch>
                    <a:fillRect b="-163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621243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2F37FA4A-1173-4345-B53B-6512E02E0C51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251520" y="624254"/>
                <a:ext cx="8784976" cy="5395546"/>
              </a:xfrm>
            </p:spPr>
            <p:txBody>
              <a:bodyPr/>
              <a:lstStyle/>
              <a:p>
                <a:pPr marL="0" indent="0">
                  <a:lnSpc>
                    <a:spcPct val="150000"/>
                  </a:lnSpc>
                  <a:spcBef>
                    <a:spcPts val="900"/>
                  </a:spcBef>
                  <a:buNone/>
                </a:pPr>
                <a:r>
                  <a:rPr lang="zh-CN" altLang="zh-CN" sz="2400" dirty="0">
                    <a:solidFill>
                      <a:srgbClr val="FF0000"/>
                    </a:solidFill>
                  </a:rPr>
                  <a:t>可从两种意义上理解随机过程：</a:t>
                </a:r>
              </a:p>
              <a:p>
                <a:pPr marL="0" indent="0">
                  <a:lnSpc>
                    <a:spcPct val="150000"/>
                  </a:lnSpc>
                  <a:spcBef>
                    <a:spcPts val="900"/>
                  </a:spcBef>
                  <a:buNone/>
                </a:pPr>
                <a:r>
                  <a:rPr lang="en-US" altLang="zh-CN" sz="2400" dirty="0"/>
                  <a:t>  1</a:t>
                </a:r>
                <a:r>
                  <a:rPr lang="zh-CN" altLang="en-US" sz="2400" dirty="0"/>
                  <a:t>）</a:t>
                </a:r>
                <a:r>
                  <a:rPr lang="zh-CN" altLang="zh-CN" sz="2400" dirty="0"/>
                  <a:t>样本空间</a:t>
                </a:r>
                <a:r>
                  <a:rPr lang="en-US" altLang="zh-CN" sz="2400" dirty="0"/>
                  <a:t>, </a:t>
                </a:r>
                <a:r>
                  <a:rPr lang="zh-CN" altLang="zh-CN" sz="2400" dirty="0"/>
                  <a:t>所有样本函数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𝜉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sz="2400" dirty="0"/>
                  <a:t>的集合</a:t>
                </a:r>
                <a:r>
                  <a:rPr lang="zh-CN" altLang="en-US" sz="2400" dirty="0"/>
                  <a:t>；</a:t>
                </a:r>
                <a:endParaRPr lang="zh-CN" altLang="zh-CN" sz="2400" dirty="0"/>
              </a:p>
              <a:p>
                <a:pPr marL="0" indent="0">
                  <a:lnSpc>
                    <a:spcPct val="150000"/>
                  </a:lnSpc>
                  <a:spcBef>
                    <a:spcPts val="900"/>
                  </a:spcBef>
                  <a:buNone/>
                </a:pPr>
                <a:r>
                  <a:rPr lang="en-US" altLang="zh-CN" sz="2400" dirty="0"/>
                  <a:t>  2</a:t>
                </a:r>
                <a:r>
                  <a:rPr lang="zh-CN" altLang="en-US" sz="2400" dirty="0"/>
                  <a:t>）</a:t>
                </a:r>
                <a:r>
                  <a:rPr lang="zh-CN" altLang="zh-CN" sz="2400" dirty="0"/>
                  <a:t>时间</a:t>
                </a:r>
                <a:r>
                  <a:rPr lang="en-US" altLang="zh-CN" sz="2400" dirty="0"/>
                  <a:t>(</a:t>
                </a:r>
                <a:r>
                  <a:rPr lang="zh-CN" altLang="zh-CN" sz="2400" dirty="0"/>
                  <a:t>参数空间</a:t>
                </a:r>
                <a:r>
                  <a:rPr lang="en-US" altLang="zh-CN" sz="2400" dirty="0"/>
                  <a:t>), </a:t>
                </a:r>
                <a:r>
                  <a:rPr lang="zh-CN" altLang="zh-CN" sz="2400" dirty="0"/>
                  <a:t>随着</a:t>
                </a:r>
                <a:r>
                  <a:rPr lang="en-US" altLang="zh-CN" sz="2400" i="1" dirty="0"/>
                  <a:t>t</a:t>
                </a:r>
                <a:r>
                  <a:rPr lang="zh-CN" altLang="zh-CN" sz="2400" dirty="0"/>
                  <a:t>的延续对应的所有随机变量的全体</a:t>
                </a:r>
                <a:r>
                  <a:rPr lang="zh-CN" altLang="en-US" sz="2400" dirty="0"/>
                  <a:t>。</a:t>
                </a:r>
                <a:endParaRPr lang="zh-CN" altLang="zh-CN" sz="2400" dirty="0"/>
              </a:p>
              <a:p>
                <a:pPr>
                  <a:lnSpc>
                    <a:spcPct val="150000"/>
                  </a:lnSpc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2F37FA4A-1173-4345-B53B-6512E02E0C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251520" y="624254"/>
                <a:ext cx="8784976" cy="5395546"/>
              </a:xfrm>
              <a:blipFill>
                <a:blip r:embed="rId3"/>
                <a:stretch>
                  <a:fillRect l="-10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>
            <a:extLst>
              <a:ext uri="{FF2B5EF4-FFF2-40B4-BE49-F238E27FC236}">
                <a16:creationId xmlns:a16="http://schemas.microsoft.com/office/drawing/2014/main" id="{81F27674-1FC7-40B3-8DE2-A8F08027CA0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4753" b="53230"/>
          <a:stretch/>
        </p:blipFill>
        <p:spPr>
          <a:xfrm>
            <a:off x="2483769" y="3284984"/>
            <a:ext cx="3384376" cy="1775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119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BE1392DE-B50E-421B-B35A-FB13D46782EC}"/>
              </a:ext>
            </a:extLst>
          </p:cNvPr>
          <p:cNvSpPr>
            <a:spLocks noGrp="1"/>
          </p:cNvSpPr>
          <p:nvPr>
            <p:ph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sz="2400" dirty="0">
                <a:solidFill>
                  <a:srgbClr val="FF0000"/>
                </a:solidFill>
              </a:rPr>
              <a:t>随机过程的分类：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2400" dirty="0"/>
              <a:t> </a:t>
            </a:r>
            <a:r>
              <a:rPr lang="en-US" altLang="zh-CN" sz="2400" i="1" dirty="0"/>
              <a:t>t</a:t>
            </a:r>
            <a:r>
              <a:rPr lang="zh-CN" altLang="en-US" sz="2400" dirty="0"/>
              <a:t>连续、状态连续</a:t>
            </a:r>
            <a:r>
              <a:rPr lang="en-US" altLang="zh-CN" sz="2400" dirty="0"/>
              <a:t>----</a:t>
            </a:r>
            <a:r>
              <a:rPr lang="zh-CN" altLang="en-US" sz="2400" dirty="0"/>
              <a:t>连续型随机过程</a:t>
            </a:r>
            <a:endParaRPr lang="en-US" altLang="zh-CN" sz="24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2400" dirty="0"/>
              <a:t> </a:t>
            </a:r>
            <a:r>
              <a:rPr lang="en-US" altLang="zh-CN" sz="2400" i="1" dirty="0"/>
              <a:t>t</a:t>
            </a:r>
            <a:r>
              <a:rPr lang="zh-CN" altLang="en-US" sz="2400" dirty="0"/>
              <a:t>连续、状态离散</a:t>
            </a:r>
            <a:r>
              <a:rPr lang="en-US" altLang="zh-CN" sz="2400" dirty="0"/>
              <a:t>----</a:t>
            </a:r>
            <a:r>
              <a:rPr lang="zh-CN" altLang="en-US" sz="2400" dirty="0"/>
              <a:t>离散型随机过程</a:t>
            </a:r>
            <a:endParaRPr lang="en-US" altLang="zh-CN" sz="24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2400" dirty="0"/>
              <a:t> </a:t>
            </a:r>
            <a:r>
              <a:rPr lang="en-US" altLang="zh-CN" sz="2400" i="1" dirty="0"/>
              <a:t>t</a:t>
            </a:r>
            <a:r>
              <a:rPr lang="zh-CN" altLang="en-US" sz="2400" dirty="0"/>
              <a:t>离散、状态连续</a:t>
            </a:r>
            <a:r>
              <a:rPr lang="en-US" altLang="zh-CN" sz="2400" dirty="0"/>
              <a:t>----</a:t>
            </a:r>
            <a:r>
              <a:rPr lang="zh-CN" altLang="en-US" sz="2400" dirty="0"/>
              <a:t>连续型随机序列</a:t>
            </a:r>
            <a:endParaRPr lang="en-US" altLang="zh-CN" sz="24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2400" dirty="0"/>
              <a:t> </a:t>
            </a:r>
            <a:r>
              <a:rPr lang="en-US" altLang="zh-CN" sz="2400" i="1" dirty="0"/>
              <a:t>t</a:t>
            </a:r>
            <a:r>
              <a:rPr lang="zh-CN" altLang="en-US" sz="2400" dirty="0"/>
              <a:t>离散、状态离散</a:t>
            </a:r>
            <a:r>
              <a:rPr lang="en-US" altLang="zh-CN" sz="2400" dirty="0"/>
              <a:t>----</a:t>
            </a:r>
            <a:r>
              <a:rPr lang="zh-CN" altLang="en-US" sz="2400" dirty="0"/>
              <a:t>离散型随机序列</a:t>
            </a:r>
            <a:endParaRPr lang="en-US" altLang="zh-CN" sz="2400" dirty="0"/>
          </a:p>
          <a:p>
            <a:pPr marL="0" indent="0">
              <a:buNone/>
            </a:pP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FDBE0B79-896D-4F4D-9891-A64BE647512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73772610"/>
                  </p:ext>
                </p:extLst>
              </p:nvPr>
            </p:nvGraphicFramePr>
            <p:xfrm>
              <a:off x="5364088" y="3595605"/>
              <a:ext cx="3024336" cy="264248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12168">
                      <a:extLst>
                        <a:ext uri="{9D8B030D-6E8A-4147-A177-3AD203B41FA5}">
                          <a16:colId xmlns:a16="http://schemas.microsoft.com/office/drawing/2014/main" val="2413274583"/>
                        </a:ext>
                      </a:extLst>
                    </a:gridCol>
                    <a:gridCol w="1512168">
                      <a:extLst>
                        <a:ext uri="{9D8B030D-6E8A-4147-A177-3AD203B41FA5}">
                          <a16:colId xmlns:a16="http://schemas.microsoft.com/office/drawing/2014/main" val="1448037964"/>
                        </a:ext>
                      </a:extLst>
                    </a:gridCol>
                  </a:tblGrid>
                  <a:tr h="328967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latin typeface="楷体" panose="02010609060101010101" pitchFamily="49" charset="-122"/>
                              <a:ea typeface="楷体" panose="02010609060101010101" pitchFamily="49" charset="-122"/>
                            </a:rPr>
                            <a:t>状态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00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zh-CN" sz="200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1" i="1" smtClean="0"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e>
                                <m:sub>
                                  <m:r>
                                    <a:rPr lang="en-US" altLang="zh-CN" sz="2000" b="1" i="1" smtClean="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altLang="zh-CN" sz="200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 smtClean="0">
                                      <a:latin typeface="Cambria Math" panose="02040503050406030204" pitchFamily="18" charset="0"/>
                                    </a:rPr>
                                    <m:t>𝜉</m:t>
                                  </m:r>
                                </m:e>
                                <m:sub>
                                  <m:r>
                                    <a:rPr lang="en-US" altLang="zh-CN" sz="2000" b="1" i="1" smtClean="0"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</m:sub>
                              </m:sSub>
                              <m:r>
                                <a:rPr lang="en-US" altLang="zh-CN" sz="200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zh-CN" altLang="en-US" sz="2000" dirty="0"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marL="68580" marR="68580" marT="34290" marB="34290"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65336460"/>
                      </a:ext>
                    </a:extLst>
                  </a:tr>
                  <a:tr h="328967">
                    <a:tc>
                      <a:txBody>
                        <a:bodyPr/>
                        <a:lstStyle/>
                        <a:p>
                          <a:r>
                            <a:rPr lang="zh-CN" altLang="en-US" sz="2000" dirty="0">
                              <a:latin typeface="楷体" panose="02010609060101010101" pitchFamily="49" charset="-122"/>
                              <a:ea typeface="楷体" panose="02010609060101010101" pitchFamily="49" charset="-122"/>
                            </a:rPr>
                            <a:t>连续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zh-CN" altLang="en-US" sz="2000" dirty="0">
                              <a:latin typeface="楷体" panose="02010609060101010101" pitchFamily="49" charset="-122"/>
                              <a:ea typeface="楷体" panose="02010609060101010101" pitchFamily="49" charset="-122"/>
                            </a:rPr>
                            <a:t>连续型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411624282"/>
                      </a:ext>
                    </a:extLst>
                  </a:tr>
                  <a:tr h="328967">
                    <a:tc>
                      <a:txBody>
                        <a:bodyPr/>
                        <a:lstStyle/>
                        <a:p>
                          <a:r>
                            <a:rPr lang="zh-CN" altLang="en-US" sz="2000" dirty="0">
                              <a:latin typeface="楷体" panose="02010609060101010101" pitchFamily="49" charset="-122"/>
                              <a:ea typeface="楷体" panose="02010609060101010101" pitchFamily="49" charset="-122"/>
                            </a:rPr>
                            <a:t>离散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zh-CN" altLang="en-US" sz="2000" dirty="0">
                              <a:latin typeface="楷体" panose="02010609060101010101" pitchFamily="49" charset="-122"/>
                              <a:ea typeface="楷体" panose="02010609060101010101" pitchFamily="49" charset="-122"/>
                            </a:rPr>
                            <a:t>离散型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201710201"/>
                      </a:ext>
                    </a:extLst>
                  </a:tr>
                  <a:tr h="328967">
                    <a:tc>
                      <a:txBody>
                        <a:bodyPr/>
                        <a:lstStyle/>
                        <a:p>
                          <a:endParaRPr lang="zh-CN" altLang="en-US" sz="2000"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endParaRPr lang="zh-CN" altLang="en-US" sz="2000" dirty="0"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2437721168"/>
                      </a:ext>
                    </a:extLst>
                  </a:tr>
                  <a:tr h="328967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latin typeface="楷体" panose="02010609060101010101" pitchFamily="49" charset="-122"/>
                              <a:ea typeface="楷体" panose="02010609060101010101" pitchFamily="49" charset="-122"/>
                            </a:rPr>
                            <a:t>时间</a:t>
                          </a:r>
                          <a:r>
                            <a:rPr lang="en-US" altLang="zh-CN" sz="2000" i="1" dirty="0">
                              <a:latin typeface="楷体" panose="02010609060101010101" pitchFamily="49" charset="-122"/>
                              <a:ea typeface="楷体" panose="02010609060101010101" pitchFamily="49" charset="-122"/>
                            </a:rPr>
                            <a:t>t</a:t>
                          </a:r>
                          <a:endParaRPr lang="zh-CN" altLang="en-US" sz="2000" i="1" dirty="0"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marL="68580" marR="68580" marT="34290" marB="34290"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19310267"/>
                      </a:ext>
                    </a:extLst>
                  </a:tr>
                  <a:tr h="328967">
                    <a:tc>
                      <a:txBody>
                        <a:bodyPr/>
                        <a:lstStyle/>
                        <a:p>
                          <a:r>
                            <a:rPr lang="zh-CN" altLang="en-US" sz="2000" dirty="0">
                              <a:latin typeface="楷体" panose="02010609060101010101" pitchFamily="49" charset="-122"/>
                              <a:ea typeface="楷体" panose="02010609060101010101" pitchFamily="49" charset="-122"/>
                            </a:rPr>
                            <a:t>连续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zh-CN" altLang="en-US" sz="2000" dirty="0">
                              <a:latin typeface="楷体" panose="02010609060101010101" pitchFamily="49" charset="-122"/>
                              <a:ea typeface="楷体" panose="02010609060101010101" pitchFamily="49" charset="-122"/>
                            </a:rPr>
                            <a:t>随机过程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2571937889"/>
                      </a:ext>
                    </a:extLst>
                  </a:tr>
                  <a:tr h="328967">
                    <a:tc>
                      <a:txBody>
                        <a:bodyPr/>
                        <a:lstStyle/>
                        <a:p>
                          <a:r>
                            <a:rPr lang="zh-CN" altLang="en-US" sz="2000" dirty="0">
                              <a:latin typeface="楷体" panose="02010609060101010101" pitchFamily="49" charset="-122"/>
                              <a:ea typeface="楷体" panose="02010609060101010101" pitchFamily="49" charset="-122"/>
                            </a:rPr>
                            <a:t>离散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zh-CN" altLang="en-US" sz="2000" dirty="0">
                              <a:latin typeface="楷体" panose="02010609060101010101" pitchFamily="49" charset="-122"/>
                              <a:ea typeface="楷体" panose="02010609060101010101" pitchFamily="49" charset="-122"/>
                            </a:rPr>
                            <a:t>随机序列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56109666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FDBE0B79-896D-4F4D-9891-A64BE647512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73772610"/>
                  </p:ext>
                </p:extLst>
              </p:nvPr>
            </p:nvGraphicFramePr>
            <p:xfrm>
              <a:off x="5364088" y="3595605"/>
              <a:ext cx="3024336" cy="264248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12168">
                      <a:extLst>
                        <a:ext uri="{9D8B030D-6E8A-4147-A177-3AD203B41FA5}">
                          <a16:colId xmlns:a16="http://schemas.microsoft.com/office/drawing/2014/main" val="2413274583"/>
                        </a:ext>
                      </a:extLst>
                    </a:gridCol>
                    <a:gridCol w="1512168">
                      <a:extLst>
                        <a:ext uri="{9D8B030D-6E8A-4147-A177-3AD203B41FA5}">
                          <a16:colId xmlns:a16="http://schemas.microsoft.com/office/drawing/2014/main" val="1448037964"/>
                        </a:ext>
                      </a:extLst>
                    </a:gridCol>
                  </a:tblGrid>
                  <a:tr h="402209">
                    <a:tc grid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34290" marB="34290">
                        <a:blipFill>
                          <a:blip r:embed="rId3"/>
                          <a:stretch>
                            <a:fillRect l="-201" t="-15152" r="-803" b="-587879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65336460"/>
                      </a:ext>
                    </a:extLst>
                  </a:tr>
                  <a:tr h="373380">
                    <a:tc>
                      <a:txBody>
                        <a:bodyPr/>
                        <a:lstStyle/>
                        <a:p>
                          <a:r>
                            <a:rPr lang="zh-CN" altLang="en-US" sz="2000" dirty="0">
                              <a:latin typeface="楷体" panose="02010609060101010101" pitchFamily="49" charset="-122"/>
                              <a:ea typeface="楷体" panose="02010609060101010101" pitchFamily="49" charset="-122"/>
                            </a:rPr>
                            <a:t>连续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zh-CN" altLang="en-US" sz="2000" dirty="0">
                              <a:latin typeface="楷体" panose="02010609060101010101" pitchFamily="49" charset="-122"/>
                              <a:ea typeface="楷体" panose="02010609060101010101" pitchFamily="49" charset="-122"/>
                            </a:rPr>
                            <a:t>连续型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411624282"/>
                      </a:ext>
                    </a:extLst>
                  </a:tr>
                  <a:tr h="373380">
                    <a:tc>
                      <a:txBody>
                        <a:bodyPr/>
                        <a:lstStyle/>
                        <a:p>
                          <a:r>
                            <a:rPr lang="zh-CN" altLang="en-US" sz="2000" dirty="0">
                              <a:latin typeface="楷体" panose="02010609060101010101" pitchFamily="49" charset="-122"/>
                              <a:ea typeface="楷体" panose="02010609060101010101" pitchFamily="49" charset="-122"/>
                            </a:rPr>
                            <a:t>离散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zh-CN" altLang="en-US" sz="2000" dirty="0">
                              <a:latin typeface="楷体" panose="02010609060101010101" pitchFamily="49" charset="-122"/>
                              <a:ea typeface="楷体" panose="02010609060101010101" pitchFamily="49" charset="-122"/>
                            </a:rPr>
                            <a:t>离散型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201710201"/>
                      </a:ext>
                    </a:extLst>
                  </a:tr>
                  <a:tr h="373380">
                    <a:tc>
                      <a:txBody>
                        <a:bodyPr/>
                        <a:lstStyle/>
                        <a:p>
                          <a:endParaRPr lang="zh-CN" altLang="en-US" sz="2000"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endParaRPr lang="zh-CN" altLang="en-US" sz="2000" dirty="0"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2437721168"/>
                      </a:ext>
                    </a:extLst>
                  </a:tr>
                  <a:tr h="373380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latin typeface="楷体" panose="02010609060101010101" pitchFamily="49" charset="-122"/>
                              <a:ea typeface="楷体" panose="02010609060101010101" pitchFamily="49" charset="-122"/>
                            </a:rPr>
                            <a:t>时间</a:t>
                          </a:r>
                          <a:r>
                            <a:rPr lang="en-US" altLang="zh-CN" sz="2000" i="1" dirty="0">
                              <a:latin typeface="楷体" panose="02010609060101010101" pitchFamily="49" charset="-122"/>
                              <a:ea typeface="楷体" panose="02010609060101010101" pitchFamily="49" charset="-122"/>
                            </a:rPr>
                            <a:t>t</a:t>
                          </a:r>
                          <a:endParaRPr lang="zh-CN" altLang="en-US" sz="2000" i="1" dirty="0"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marL="68580" marR="68580" marT="34290" marB="34290"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19310267"/>
                      </a:ext>
                    </a:extLst>
                  </a:tr>
                  <a:tr h="373380">
                    <a:tc>
                      <a:txBody>
                        <a:bodyPr/>
                        <a:lstStyle/>
                        <a:p>
                          <a:r>
                            <a:rPr lang="zh-CN" altLang="en-US" sz="2000" dirty="0">
                              <a:latin typeface="楷体" panose="02010609060101010101" pitchFamily="49" charset="-122"/>
                              <a:ea typeface="楷体" panose="02010609060101010101" pitchFamily="49" charset="-122"/>
                            </a:rPr>
                            <a:t>连续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zh-CN" altLang="en-US" sz="2000" dirty="0">
                              <a:latin typeface="楷体" panose="02010609060101010101" pitchFamily="49" charset="-122"/>
                              <a:ea typeface="楷体" panose="02010609060101010101" pitchFamily="49" charset="-122"/>
                            </a:rPr>
                            <a:t>随机过程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2571937889"/>
                      </a:ext>
                    </a:extLst>
                  </a:tr>
                  <a:tr h="373380">
                    <a:tc>
                      <a:txBody>
                        <a:bodyPr/>
                        <a:lstStyle/>
                        <a:p>
                          <a:r>
                            <a:rPr lang="zh-CN" altLang="en-US" sz="2000" dirty="0">
                              <a:latin typeface="楷体" panose="02010609060101010101" pitchFamily="49" charset="-122"/>
                              <a:ea typeface="楷体" panose="02010609060101010101" pitchFamily="49" charset="-122"/>
                            </a:rPr>
                            <a:t>离散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zh-CN" altLang="en-US" sz="2000" dirty="0">
                              <a:latin typeface="楷体" panose="02010609060101010101" pitchFamily="49" charset="-122"/>
                              <a:ea typeface="楷体" panose="02010609060101010101" pitchFamily="49" charset="-122"/>
                            </a:rPr>
                            <a:t>随机序列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56109666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058650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ECEB8679-A343-4EB7-95A9-B8BD9707B849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251520" y="1065069"/>
                <a:ext cx="8460681" cy="4585855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altLang="zh-CN" sz="2400" dirty="0">
                    <a:solidFill>
                      <a:srgbClr val="FF0000"/>
                    </a:solidFill>
                  </a:rPr>
                  <a:t>2.1.2 </a:t>
                </a:r>
                <a:r>
                  <a:rPr lang="zh-CN" altLang="zh-CN" sz="2400" dirty="0">
                    <a:solidFill>
                      <a:srgbClr val="FF0000"/>
                    </a:solidFill>
                  </a:rPr>
                  <a:t>随机信号的基本概率特性 </a:t>
                </a:r>
                <a:endParaRPr lang="en-US" altLang="zh-CN" sz="2400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zh-CN" altLang="zh-CN" sz="2400" dirty="0">
                    <a:solidFill>
                      <a:srgbClr val="FF0000"/>
                    </a:solidFill>
                  </a:rPr>
                  <a:t>每一时刻的值为随机变量</a:t>
                </a:r>
                <a:r>
                  <a:rPr lang="zh-CN" altLang="en-US" sz="2400" dirty="0">
                    <a:solidFill>
                      <a:srgbClr val="FF0000"/>
                    </a:solidFill>
                  </a:rPr>
                  <a:t>，可以用统计特性进行描述。</a:t>
                </a:r>
                <a:endParaRPr lang="zh-CN" altLang="zh-CN" sz="2400" dirty="0">
                  <a:solidFill>
                    <a:srgbClr val="FF0000"/>
                  </a:solidFill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altLang="zh-CN" sz="2400" dirty="0">
                    <a:solidFill>
                      <a:schemeClr val="accent2"/>
                    </a:solidFill>
                  </a:rPr>
                  <a:t>1</a:t>
                </a:r>
                <a:r>
                  <a:rPr lang="zh-CN" altLang="en-US" sz="2400" dirty="0">
                    <a:solidFill>
                      <a:schemeClr val="accent2"/>
                    </a:solidFill>
                  </a:rPr>
                  <a:t>、</a:t>
                </a:r>
                <a:r>
                  <a:rPr lang="zh-CN" altLang="zh-CN" sz="2400" dirty="0">
                    <a:solidFill>
                      <a:schemeClr val="accent2"/>
                    </a:solidFill>
                  </a:rPr>
                  <a:t>一维分布和一维特征函数</a:t>
                </a:r>
                <a:endParaRPr lang="en-US" altLang="zh-CN" sz="2400" dirty="0">
                  <a:solidFill>
                    <a:schemeClr val="accent2"/>
                  </a:solidFill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altLang="zh-CN" sz="24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400" b="1" i="0" smtClean="0"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zh-CN" altLang="zh-CN" sz="2400" dirty="0"/>
                  <a:t>固定，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sz="2400" dirty="0"/>
                  <a:t>为一随机变量</a:t>
                </a:r>
                <a:r>
                  <a:rPr lang="zh-CN" altLang="en-US" sz="2400" dirty="0"/>
                  <a:t>。</a:t>
                </a:r>
                <a:endParaRPr lang="en-US" altLang="zh-CN" sz="2400" dirty="0"/>
              </a:p>
              <a:p>
                <a:pPr>
                  <a:lnSpc>
                    <a:spcPct val="110000"/>
                  </a:lnSpc>
                </a:pPr>
                <a:r>
                  <a:rPr lang="zh-CN" altLang="en-US" sz="2400" dirty="0"/>
                  <a:t>一维</a:t>
                </a:r>
                <a:r>
                  <a:rPr lang="zh-CN" altLang="zh-CN" sz="2400" dirty="0"/>
                  <a:t>概率分布函数或</a:t>
                </a:r>
                <a:r>
                  <a:rPr lang="en-US" altLang="zh-CN" sz="2400" dirty="0"/>
                  <a:t>CDF</a:t>
                </a:r>
                <a:r>
                  <a:rPr lang="zh-CN" altLang="zh-CN" sz="2400" dirty="0"/>
                  <a:t>为</a:t>
                </a:r>
                <a:endParaRPr lang="en-US" altLang="zh-CN" sz="2400" dirty="0"/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𝑥</m:t>
                      </m:r>
                      <m:func>
                        <m:func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;</m:t>
                          </m:r>
                        </m:fName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func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)≤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zh-CN" altLang="zh-CN" sz="2400" dirty="0"/>
              </a:p>
              <a:p>
                <a:pPr>
                  <a:lnSpc>
                    <a:spcPct val="110000"/>
                  </a:lnSpc>
                </a:pPr>
                <a:r>
                  <a:rPr lang="zh-CN" altLang="en-US" sz="2400" dirty="0"/>
                  <a:t>一维</a:t>
                </a:r>
                <a:r>
                  <a:rPr lang="en-US" altLang="zh-CN" sz="2400" dirty="0"/>
                  <a:t>PDF</a:t>
                </a:r>
                <a:r>
                  <a:rPr lang="zh-CN" altLang="zh-CN" sz="2400" dirty="0"/>
                  <a:t>为</a:t>
                </a:r>
                <a:endParaRPr lang="en-US" altLang="zh-CN" sz="2400" dirty="0"/>
              </a:p>
              <a:p>
                <a:pPr marL="0" indent="0" algn="ctr">
                  <a:lnSpc>
                    <a:spcPct val="11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𝑥</m:t>
                    </m:r>
                    <m:func>
                      <m:func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;</m:t>
                        </m:r>
                      </m:fName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func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  <m:func>
                          <m:func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;</m:t>
                            </m:r>
                          </m:fName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func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US" altLang="zh-CN" sz="2400" dirty="0"/>
                  <a:t>   </a:t>
                </a:r>
              </a:p>
              <a:p>
                <a:pPr>
                  <a:lnSpc>
                    <a:spcPct val="110000"/>
                  </a:lnSpc>
                  <a:buFont typeface="Arial" panose="020B0604020202020204" pitchFamily="34" charset="0"/>
                  <a:buChar char="•"/>
                </a:pPr>
                <a:r>
                  <a:rPr lang="zh-CN" altLang="zh-CN" sz="2400" dirty="0"/>
                  <a:t>描述单个时刻孤立随机变量的统计特性</a:t>
                </a:r>
                <a:r>
                  <a:rPr lang="en-US" altLang="zh-CN" sz="2400" dirty="0"/>
                  <a:t>,</a:t>
                </a:r>
                <a:r>
                  <a:rPr lang="zh-CN" altLang="en-US" sz="2400" dirty="0"/>
                  <a:t>因此称为</a:t>
                </a:r>
                <a:endParaRPr lang="en-US" altLang="zh-CN" sz="2400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zh-CN" altLang="en-US" sz="2400" dirty="0"/>
                  <a:t>一维概率分布函数或一维概率密度函数。</a:t>
                </a:r>
                <a:endParaRPr lang="zh-CN" altLang="zh-CN" sz="2400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ECEB8679-A343-4EB7-95A9-B8BD9707B8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251520" y="1065069"/>
                <a:ext cx="8460681" cy="4585855"/>
              </a:xfrm>
              <a:blipFill>
                <a:blip r:embed="rId3"/>
                <a:stretch>
                  <a:fillRect l="-1081" t="-2261" b="-9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图片 18">
            <a:extLst>
              <a:ext uri="{FF2B5EF4-FFF2-40B4-BE49-F238E27FC236}">
                <a16:creationId xmlns:a16="http://schemas.microsoft.com/office/drawing/2014/main" id="{FE2D951D-B04C-4D63-9F74-0412173042F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972" t="34716" r="44323"/>
          <a:stretch/>
        </p:blipFill>
        <p:spPr>
          <a:xfrm>
            <a:off x="6804248" y="4628487"/>
            <a:ext cx="2281625" cy="1493901"/>
          </a:xfrm>
          <a:prstGeom prst="rect">
            <a:avLst/>
          </a:prstGeom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9DFA556F-33D9-4572-8229-E1F2B3F22447}"/>
              </a:ext>
            </a:extLst>
          </p:cNvPr>
          <p:cNvGrpSpPr/>
          <p:nvPr/>
        </p:nvGrpSpPr>
        <p:grpSpPr>
          <a:xfrm>
            <a:off x="6732240" y="1829380"/>
            <a:ext cx="2084519" cy="2799107"/>
            <a:chOff x="8638032" y="32467"/>
            <a:chExt cx="3309710" cy="4242130"/>
          </a:xfrm>
        </p:grpSpPr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D2375957-18C1-4423-8B2C-26C363FC31FF}"/>
                </a:ext>
              </a:extLst>
            </p:cNvPr>
            <p:cNvGrpSpPr/>
            <p:nvPr/>
          </p:nvGrpSpPr>
          <p:grpSpPr>
            <a:xfrm>
              <a:off x="8638032" y="148590"/>
              <a:ext cx="3309710" cy="4126007"/>
              <a:chOff x="8370379" y="2070940"/>
              <a:chExt cx="3705225" cy="4609470"/>
            </a:xfrm>
          </p:grpSpPr>
          <p:grpSp>
            <p:nvGrpSpPr>
              <p:cNvPr id="17" name="组合 16">
                <a:extLst>
                  <a:ext uri="{FF2B5EF4-FFF2-40B4-BE49-F238E27FC236}">
                    <a16:creationId xmlns:a16="http://schemas.microsoft.com/office/drawing/2014/main" id="{F1A1B83E-A521-40F5-867C-6C38B831ADEC}"/>
                  </a:ext>
                </a:extLst>
              </p:cNvPr>
              <p:cNvGrpSpPr/>
              <p:nvPr/>
            </p:nvGrpSpPr>
            <p:grpSpPr>
              <a:xfrm>
                <a:off x="8370379" y="2070940"/>
                <a:ext cx="3705225" cy="4095750"/>
                <a:chOff x="8370379" y="2070940"/>
                <a:chExt cx="3705225" cy="4095750"/>
              </a:xfrm>
            </p:grpSpPr>
            <p:pic>
              <p:nvPicPr>
                <p:cNvPr id="7" name="图片 6">
                  <a:extLst>
                    <a:ext uri="{FF2B5EF4-FFF2-40B4-BE49-F238E27FC236}">
                      <a16:creationId xmlns:a16="http://schemas.microsoft.com/office/drawing/2014/main" id="{C09B4755-155D-40AE-878B-5F2F62C177A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370379" y="2070940"/>
                  <a:ext cx="3705225" cy="4095750"/>
                </a:xfrm>
                <a:prstGeom prst="rect">
                  <a:avLst/>
                </a:prstGeom>
              </p:spPr>
            </p:pic>
            <p:cxnSp>
              <p:nvCxnSpPr>
                <p:cNvPr id="9" name="直接连接符 8">
                  <a:extLst>
                    <a:ext uri="{FF2B5EF4-FFF2-40B4-BE49-F238E27FC236}">
                      <a16:creationId xmlns:a16="http://schemas.microsoft.com/office/drawing/2014/main" id="{A6EC5D05-F09D-4EA2-ABE3-231D0A251124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9936480" y="2243328"/>
                  <a:ext cx="0" cy="389101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accent2"/>
                  </a:solidFill>
                  <a:prstDash val="sysDash"/>
                  <a:miter lim="800000"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sp>
              <p:nvSpPr>
                <p:cNvPr id="13" name="流程图: 接点 12">
                  <a:extLst>
                    <a:ext uri="{FF2B5EF4-FFF2-40B4-BE49-F238E27FC236}">
                      <a16:creationId xmlns:a16="http://schemas.microsoft.com/office/drawing/2014/main" id="{CD7AB2CD-9DDA-48AE-A85A-E8851451CFE3}"/>
                    </a:ext>
                  </a:extLst>
                </p:cNvPr>
                <p:cNvSpPr/>
                <p:nvPr/>
              </p:nvSpPr>
              <p:spPr bwMode="auto">
                <a:xfrm>
                  <a:off x="9896856" y="2407920"/>
                  <a:ext cx="67056" cy="91440"/>
                </a:xfrm>
                <a:prstGeom prst="flowChartConnector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68580" tIns="34290" rIns="68580" bIns="3429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685800"/>
                  <a:endParaRPr lang="zh-CN" altLang="en-US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4" name="流程图: 接点 13">
                  <a:extLst>
                    <a:ext uri="{FF2B5EF4-FFF2-40B4-BE49-F238E27FC236}">
                      <a16:creationId xmlns:a16="http://schemas.microsoft.com/office/drawing/2014/main" id="{D19CA085-1C66-4FCB-9E98-085525D24E5F}"/>
                    </a:ext>
                  </a:extLst>
                </p:cNvPr>
                <p:cNvSpPr/>
                <p:nvPr/>
              </p:nvSpPr>
              <p:spPr bwMode="auto">
                <a:xfrm>
                  <a:off x="9902952" y="4011168"/>
                  <a:ext cx="67056" cy="91440"/>
                </a:xfrm>
                <a:prstGeom prst="flowChartConnector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68580" tIns="34290" rIns="68580" bIns="3429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685800"/>
                  <a:endParaRPr lang="zh-CN" altLang="en-US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5" name="流程图: 接点 14">
                  <a:extLst>
                    <a:ext uri="{FF2B5EF4-FFF2-40B4-BE49-F238E27FC236}">
                      <a16:creationId xmlns:a16="http://schemas.microsoft.com/office/drawing/2014/main" id="{76AC1534-3F4D-4D7A-928A-E9A6062135B8}"/>
                    </a:ext>
                  </a:extLst>
                </p:cNvPr>
                <p:cNvSpPr/>
                <p:nvPr/>
              </p:nvSpPr>
              <p:spPr bwMode="auto">
                <a:xfrm>
                  <a:off x="9896856" y="5321808"/>
                  <a:ext cx="67056" cy="91440"/>
                </a:xfrm>
                <a:prstGeom prst="flowChartConnector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none" lIns="68580" tIns="34290" rIns="68580" bIns="3429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685800"/>
                  <a:endParaRPr lang="zh-CN" altLang="en-US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0B5762ED-7A7E-4431-B657-B54AF28BC76B}"/>
                  </a:ext>
                </a:extLst>
              </p:cNvPr>
              <p:cNvSpPr txBox="1"/>
              <p:nvPr/>
            </p:nvSpPr>
            <p:spPr>
              <a:xfrm>
                <a:off x="9811770" y="6055090"/>
                <a:ext cx="442216" cy="6253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i="1" dirty="0"/>
                  <a:t>t</a:t>
                </a:r>
                <a:endParaRPr lang="zh-CN" altLang="en-US" i="1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矩形 2">
                  <a:extLst>
                    <a:ext uri="{FF2B5EF4-FFF2-40B4-BE49-F238E27FC236}">
                      <a16:creationId xmlns:a16="http://schemas.microsoft.com/office/drawing/2014/main" id="{DAAD6361-C1C9-4124-99E1-B1C9A9BB0512}"/>
                    </a:ext>
                  </a:extLst>
                </p:cNvPr>
                <p:cNvSpPr/>
                <p:nvPr/>
              </p:nvSpPr>
              <p:spPr>
                <a:xfrm>
                  <a:off x="9660735" y="32467"/>
                  <a:ext cx="1100128" cy="55973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" name="矩形 2">
                  <a:extLst>
                    <a:ext uri="{FF2B5EF4-FFF2-40B4-BE49-F238E27FC236}">
                      <a16:creationId xmlns:a16="http://schemas.microsoft.com/office/drawing/2014/main" id="{DAAD6361-C1C9-4124-99E1-B1C9A9BB051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60735" y="32467"/>
                  <a:ext cx="1100128" cy="559734"/>
                </a:xfrm>
                <a:prstGeom prst="rect">
                  <a:avLst/>
                </a:prstGeom>
                <a:blipFill>
                  <a:blip r:embed="rId6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912887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FE79F3E7-4578-477A-9EB3-207BA0C9F49F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/>
            <p:txBody>
              <a:bodyPr/>
              <a:lstStyle/>
              <a:p>
                <a:pPr marL="0" indent="0">
                  <a:lnSpc>
                    <a:spcPct val="110000"/>
                  </a:lnSpc>
                  <a:buNone/>
                </a:pPr>
                <a:r>
                  <a:rPr lang="zh-CN" altLang="zh-CN" sz="2400" dirty="0"/>
                  <a:t>例：贝努利过程，某时刻随机变量是</a:t>
                </a:r>
                <a:r>
                  <a:rPr lang="en-US" altLang="zh-CN" sz="2400" dirty="0"/>
                  <a:t>0</a:t>
                </a:r>
                <a:r>
                  <a:rPr lang="zh-CN" altLang="zh-CN" sz="2400" dirty="0"/>
                  <a:t>－</a:t>
                </a:r>
                <a:r>
                  <a:rPr lang="en-US" altLang="zh-CN" sz="2400" dirty="0"/>
                  <a:t>1</a:t>
                </a:r>
                <a:r>
                  <a:rPr lang="zh-CN" altLang="zh-CN" sz="2400" dirty="0"/>
                  <a:t>分布</a:t>
                </a:r>
                <a:endParaRPr lang="en-US" altLang="zh-CN" sz="2400" dirty="0"/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en-US" altLang="zh-CN" sz="2400" dirty="0"/>
              </a:p>
              <a:p>
                <a:pPr>
                  <a:lnSpc>
                    <a:spcPct val="11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latin typeface="Cambria Math" panose="02040503050406030204" pitchFamily="18" charset="0"/>
                  </a:rPr>
                  <a:t>概率密度函数</a:t>
                </a:r>
                <a:endParaRPr lang="en-US" altLang="zh-CN" sz="2400" dirty="0">
                  <a:latin typeface="Cambria Math" panose="02040503050406030204" pitchFamily="18" charset="0"/>
                </a:endParaRPr>
              </a:p>
              <a:p>
                <a:pPr marL="0" indent="0" algn="ctr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𝑥</m:t>
                      </m:r>
                      <m:func>
                        <m:func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;</m:t>
                          </m:r>
                        </m:fName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func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)+</m:t>
                      </m:r>
                      <m:f>
                        <m:f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−1)</m:t>
                      </m:r>
                    </m:oMath>
                  </m:oMathPara>
                </a14:m>
                <a:endParaRPr lang="en-US" altLang="zh-CN" sz="2400" dirty="0"/>
              </a:p>
              <a:p>
                <a:pPr>
                  <a:lnSpc>
                    <a:spcPct val="11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latin typeface="Cambria Math" panose="02040503050406030204" pitchFamily="18" charset="0"/>
                  </a:rPr>
                  <a:t>概率分布函数</a:t>
                </a:r>
                <a:endParaRPr lang="en-US" altLang="zh-CN" sz="2400" dirty="0">
                  <a:latin typeface="Cambria Math" panose="02040503050406030204" pitchFamily="18" charset="0"/>
                </a:endParaRPr>
              </a:p>
              <a:p>
                <a:pPr marL="0" indent="0" algn="ctr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𝑥</m:t>
                      </m:r>
                      <m:func>
                        <m:func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;</m:t>
                          </m:r>
                        </m:fName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func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altLang="zh-CN" sz="2400" b="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b="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400" b="0" i="1">
                          <a:latin typeface="Cambria Math" panose="02040503050406030204" pitchFamily="18" charset="0"/>
                        </a:rPr>
                        <m:t>)+</m:t>
                      </m:r>
                      <m:f>
                        <m:fPr>
                          <m:ctrlPr>
                            <a:rPr lang="zh-CN" altLang="zh-CN" sz="2400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b="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altLang="zh-CN" sz="2400" b="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b="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400" b="0" i="1">
                          <a:latin typeface="Cambria Math" panose="02040503050406030204" pitchFamily="18" charset="0"/>
                        </a:rPr>
                        <m:t>−1)</m:t>
                      </m:r>
                    </m:oMath>
                  </m:oMathPara>
                </a14:m>
                <a:endParaRPr lang="en-US" altLang="zh-CN" sz="2400" dirty="0"/>
              </a:p>
              <a:p>
                <a:pPr>
                  <a:lnSpc>
                    <a:spcPct val="110000"/>
                  </a:lnSpc>
                </a:pPr>
                <a:r>
                  <a:rPr lang="zh-CN" altLang="en-US" sz="2400" dirty="0"/>
                  <a:t>特征函数（</a:t>
                </a:r>
                <a:r>
                  <a:rPr lang="en-US" altLang="zh-CN" sz="2400" dirty="0"/>
                  <a:t>CF</a:t>
                </a:r>
                <a:r>
                  <a:rPr lang="zh-CN" altLang="en-US" sz="2400" dirty="0"/>
                  <a:t>）为</a:t>
                </a:r>
                <a:endParaRPr lang="en-US" altLang="zh-CN" sz="2400" dirty="0"/>
              </a:p>
              <a:p>
                <a:pPr marL="0" indent="0" algn="ctr">
                  <a:lnSpc>
                    <a:spcPct val="110000"/>
                  </a:lnSpc>
                  <a:buNone/>
                </a:pPr>
                <a:r>
                  <a:rPr lang="en-US" altLang="zh-CN" sz="2400" dirty="0"/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𝑣</m:t>
                        </m:r>
                        <m:func>
                          <m:func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;</m:t>
                            </m:r>
                          </m:fName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func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𝑗𝑣𝑋</m:t>
                            </m:r>
                            <m:d>
                              <m:d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sup>
                        </m:sSup>
                      </m:e>
                    </m:d>
                    <m:r>
                      <a:rPr lang="en-US" altLang="zh-CN" sz="2400" b="1" i="0" smtClean="0">
                        <a:latin typeface="Cambria Math" panose="02040503050406030204" pitchFamily="18" charset="0"/>
                      </a:rPr>
                      <m:t>= ?</m:t>
                    </m:r>
                  </m:oMath>
                </a14:m>
                <a:endParaRPr lang="zh-CN" altLang="zh-CN" sz="2400" dirty="0"/>
              </a:p>
              <a:p>
                <a:endParaRPr lang="zh-CN" altLang="en-US" sz="2400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FE79F3E7-4578-477A-9EB3-207BA0C9F4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blipFill>
                <a:blip r:embed="rId3"/>
                <a:stretch>
                  <a:fillRect l="-1108" t="-11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8854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6EB8ADE9-51F3-4B25-A80E-1C5474667FDF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44481" y="527182"/>
                <a:ext cx="8565434" cy="4655127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x-none" altLang="zh-CN" sz="2400" dirty="0">
                    <a:solidFill>
                      <a:srgbClr val="FF0000"/>
                    </a:solidFill>
                  </a:rPr>
                  <a:t>2</a:t>
                </a:r>
                <a:r>
                  <a:rPr lang="zh-CN" altLang="zh-CN" sz="2400" dirty="0">
                    <a:solidFill>
                      <a:srgbClr val="FF0000"/>
                    </a:solidFill>
                  </a:rPr>
                  <a:t>．二维分布和二维特征函数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),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sz="2400" dirty="0"/>
                  <a:t>为随机变量</a:t>
                </a:r>
                <a:r>
                  <a:rPr lang="zh-CN" altLang="en-US" sz="2400" dirty="0"/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2400" dirty="0"/>
                  <a:t>为随机变量的取值</a:t>
                </a:r>
                <a:endParaRPr lang="en-US" altLang="zh-CN" sz="2400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zh-CN" altLang="en-US" sz="2400" dirty="0"/>
                  <a:t>二维联合</a:t>
                </a:r>
                <a:r>
                  <a:rPr lang="en-US" altLang="zh-CN" sz="2400" dirty="0"/>
                  <a:t>CDF</a:t>
                </a:r>
                <a:r>
                  <a:rPr lang="zh-CN" altLang="zh-CN" sz="2400" dirty="0"/>
                  <a:t>为</a:t>
                </a:r>
                <a:endParaRPr lang="en-US" altLang="zh-CN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d>
                            <m:d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400" b="0" i="1">
                              <a:latin typeface="Cambria Math" panose="02040503050406030204" pitchFamily="18" charset="0"/>
                            </a:rPr>
                            <m:t>𝑋</m:t>
                          </m:r>
                          <m:d>
                            <m:dPr>
                              <m:ctrlP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4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2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sSub>
                            <m:sSubPr>
                              <m:ctrlPr>
                                <a:rPr lang="en-US" altLang="zh-CN" sz="2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sz="2400" b="0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zh-CN" altLang="en-US" sz="2400" dirty="0"/>
                  <a:t>二维联合</a:t>
                </a:r>
                <a:r>
                  <a:rPr lang="en-US" altLang="zh-CN" sz="2400" dirty="0"/>
                  <a:t>PDF</a:t>
                </a:r>
                <a:r>
                  <a:rPr lang="zh-CN" altLang="en-US" sz="2400" dirty="0"/>
                  <a:t>为</a:t>
                </a:r>
                <a:endParaRPr lang="en-US" altLang="zh-CN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2400" b="0" i="1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altLang="zh-CN" sz="24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400" b="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400" b="0" i="1">
                              <a:latin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400" b="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400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4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b="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sz="24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b="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sSub>
                                <m:sSubPr>
                                  <m:ctrlPr>
                                    <a:rPr lang="en-US" altLang="zh-CN" sz="24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2400" b="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sz="24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2400" b="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zh-CN" altLang="en-US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zh-CN" sz="2400" b="0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zh-CN" altLang="zh-CN" sz="2400" dirty="0"/>
                  <a:t>描述两个时刻随机变量的联合统计特性。</a:t>
                </a:r>
                <a:endParaRPr lang="en-US" altLang="zh-CN" sz="2400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zh-CN" altLang="en-US" sz="2400" dirty="0"/>
                  <a:t>二维联合</a:t>
                </a:r>
                <a:r>
                  <a:rPr lang="en-US" altLang="zh-CN" sz="2400" dirty="0"/>
                  <a:t>CF</a:t>
                </a:r>
                <a:r>
                  <a:rPr lang="zh-CN" altLang="en-US" sz="2400" dirty="0"/>
                  <a:t>为</a:t>
                </a:r>
                <a:endParaRPr lang="en-US" altLang="zh-CN" sz="2400" dirty="0"/>
              </a:p>
              <a:p>
                <a:pPr marL="0" indent="0" algn="ctr">
                  <a:buNone/>
                </a:pPr>
                <a:r>
                  <a:rPr lang="en-US" altLang="zh-CN" sz="2400" dirty="0"/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func>
                      <m:func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fName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,</m:t>
                        </m:r>
                      </m:e>
                    </m:func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sSub>
                              <m:sSubPr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)+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sSub>
                              <m:sSubPr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e>
                    </m:d>
                  </m:oMath>
                </a14:m>
                <a:endParaRPr lang="en-US" altLang="zh-CN" sz="2400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zh-CN" altLang="en-US" sz="2400" dirty="0"/>
                  <a:t>二维随机变量独立：如果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),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/>
                  <a:t>统计独立，则</a:t>
                </a:r>
                <a:endParaRPr lang="en-US" altLang="zh-CN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2400" b="0" i="1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altLang="zh-CN" sz="24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400" b="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400" b="0" i="1">
                              <a:latin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400" b="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sz="2400" dirty="0"/>
              </a:p>
              <a:p>
                <a:pPr marL="0" indent="0">
                  <a:buNone/>
                </a:pPr>
                <a:endParaRPr lang="zh-CN" altLang="zh-CN" sz="2400" dirty="0"/>
              </a:p>
              <a:p>
                <a:pPr marL="0" indent="0">
                  <a:buNone/>
                </a:pPr>
                <a:endParaRPr lang="en-US" altLang="zh-CN" sz="2400" dirty="0"/>
              </a:p>
              <a:p>
                <a:pPr marL="0" indent="0">
                  <a:buNone/>
                </a:pPr>
                <a:endParaRPr lang="zh-CN" altLang="en-US" sz="2400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6EB8ADE9-51F3-4B25-A80E-1C5474667F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44481" y="527182"/>
                <a:ext cx="8565434" cy="4655127"/>
              </a:xfrm>
              <a:blipFill>
                <a:blip r:embed="rId2"/>
                <a:stretch>
                  <a:fillRect l="-1068" t="-1440" r="-925" b="-117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C3F0C223-8B14-4DD4-AE37-C7669CA6AE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84126"/>
            <a:ext cx="138564" cy="3462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C6A61FA-707D-4A0B-9260-4F89A2E5C0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84126"/>
            <a:ext cx="138564" cy="3462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16A789E7-9A31-487E-B705-9CB137A747A8}"/>
              </a:ext>
            </a:extLst>
          </p:cNvPr>
          <p:cNvGrpSpPr/>
          <p:nvPr/>
        </p:nvGrpSpPr>
        <p:grpSpPr>
          <a:xfrm>
            <a:off x="7164288" y="2204864"/>
            <a:ext cx="2016224" cy="3239229"/>
            <a:chOff x="8187499" y="1656160"/>
            <a:chExt cx="3705225" cy="4995928"/>
          </a:xfrm>
        </p:grpSpPr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3812EABE-B531-47B2-8403-F885948BD35F}"/>
                </a:ext>
              </a:extLst>
            </p:cNvPr>
            <p:cNvGrpSpPr/>
            <p:nvPr/>
          </p:nvGrpSpPr>
          <p:grpSpPr>
            <a:xfrm>
              <a:off x="8187499" y="2016076"/>
              <a:ext cx="3705225" cy="4636012"/>
              <a:chOff x="4371403" y="2016076"/>
              <a:chExt cx="3705225" cy="4636012"/>
            </a:xfrm>
          </p:grpSpPr>
          <p:grpSp>
            <p:nvGrpSpPr>
              <p:cNvPr id="23" name="组合 22">
                <a:extLst>
                  <a:ext uri="{FF2B5EF4-FFF2-40B4-BE49-F238E27FC236}">
                    <a16:creationId xmlns:a16="http://schemas.microsoft.com/office/drawing/2014/main" id="{D8F62735-CD92-45BE-B799-272B4BA70BA1}"/>
                  </a:ext>
                </a:extLst>
              </p:cNvPr>
              <p:cNvGrpSpPr/>
              <p:nvPr/>
            </p:nvGrpSpPr>
            <p:grpSpPr>
              <a:xfrm>
                <a:off x="4371403" y="2016076"/>
                <a:ext cx="3705225" cy="4153076"/>
                <a:chOff x="4371403" y="2137996"/>
                <a:chExt cx="3705225" cy="4153076"/>
              </a:xfrm>
            </p:grpSpPr>
            <p:pic>
              <p:nvPicPr>
                <p:cNvPr id="26" name="图片 25">
                  <a:extLst>
                    <a:ext uri="{FF2B5EF4-FFF2-40B4-BE49-F238E27FC236}">
                      <a16:creationId xmlns:a16="http://schemas.microsoft.com/office/drawing/2014/main" id="{732C9152-2ED1-4BB2-8874-7730A5A13AE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371403" y="2137996"/>
                  <a:ext cx="3705225" cy="4095750"/>
                </a:xfrm>
                <a:prstGeom prst="rect">
                  <a:avLst/>
                </a:prstGeom>
              </p:spPr>
            </p:pic>
            <p:cxnSp>
              <p:nvCxnSpPr>
                <p:cNvPr id="27" name="直接连接符 26">
                  <a:extLst>
                    <a:ext uri="{FF2B5EF4-FFF2-40B4-BE49-F238E27FC236}">
                      <a16:creationId xmlns:a16="http://schemas.microsoft.com/office/drawing/2014/main" id="{28558C83-64A0-4AA6-AFEF-76469C4AFDE5}"/>
                    </a:ext>
                  </a:extLst>
                </p:cNvPr>
                <p:cNvCxnSpPr/>
                <p:nvPr/>
              </p:nvCxnSpPr>
              <p:spPr bwMode="auto">
                <a:xfrm>
                  <a:off x="5352288" y="2298192"/>
                  <a:ext cx="0" cy="3980688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accent2"/>
                  </a:solidFill>
                  <a:prstDash val="sysDash"/>
                  <a:miter lim="800000"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28" name="直接连接符 27">
                  <a:extLst>
                    <a:ext uri="{FF2B5EF4-FFF2-40B4-BE49-F238E27FC236}">
                      <a16:creationId xmlns:a16="http://schemas.microsoft.com/office/drawing/2014/main" id="{E03F86C9-090D-4864-91CD-9D027900E0F7}"/>
                    </a:ext>
                  </a:extLst>
                </p:cNvPr>
                <p:cNvCxnSpPr/>
                <p:nvPr/>
              </p:nvCxnSpPr>
              <p:spPr bwMode="auto">
                <a:xfrm>
                  <a:off x="5937504" y="2310384"/>
                  <a:ext cx="0" cy="3980688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accent2"/>
                  </a:solidFill>
                  <a:prstDash val="sysDash"/>
                  <a:miter lim="800000"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sp>
              <p:nvSpPr>
                <p:cNvPr id="29" name="流程图: 接点 28">
                  <a:extLst>
                    <a:ext uri="{FF2B5EF4-FFF2-40B4-BE49-F238E27FC236}">
                      <a16:creationId xmlns:a16="http://schemas.microsoft.com/office/drawing/2014/main" id="{3E1F20C1-C278-4C70-A4AD-E8C3AE3B60D2}"/>
                    </a:ext>
                  </a:extLst>
                </p:cNvPr>
                <p:cNvSpPr/>
                <p:nvPr/>
              </p:nvSpPr>
              <p:spPr bwMode="auto">
                <a:xfrm>
                  <a:off x="5318760" y="3054096"/>
                  <a:ext cx="67056" cy="91440"/>
                </a:xfrm>
                <a:prstGeom prst="flowChartConnector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none" lIns="68580" tIns="34290" rIns="68580" bIns="3429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685800"/>
                  <a:endParaRPr lang="zh-CN" altLang="en-US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0" name="流程图: 接点 29">
                  <a:extLst>
                    <a:ext uri="{FF2B5EF4-FFF2-40B4-BE49-F238E27FC236}">
                      <a16:creationId xmlns:a16="http://schemas.microsoft.com/office/drawing/2014/main" id="{DCDD0DCA-3102-4A7F-9B04-01DA202C9843}"/>
                    </a:ext>
                  </a:extLst>
                </p:cNvPr>
                <p:cNvSpPr/>
                <p:nvPr/>
              </p:nvSpPr>
              <p:spPr bwMode="auto">
                <a:xfrm>
                  <a:off x="5318760" y="4437888"/>
                  <a:ext cx="67056" cy="91440"/>
                </a:xfrm>
                <a:prstGeom prst="flowChartConnector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none" lIns="68580" tIns="34290" rIns="68580" bIns="3429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685800"/>
                  <a:endParaRPr lang="zh-CN" altLang="en-US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1" name="流程图: 接点 30">
                  <a:extLst>
                    <a:ext uri="{FF2B5EF4-FFF2-40B4-BE49-F238E27FC236}">
                      <a16:creationId xmlns:a16="http://schemas.microsoft.com/office/drawing/2014/main" id="{F4B9898B-2DF3-42AD-90BA-C324F4F48601}"/>
                    </a:ext>
                  </a:extLst>
                </p:cNvPr>
                <p:cNvSpPr/>
                <p:nvPr/>
              </p:nvSpPr>
              <p:spPr bwMode="auto">
                <a:xfrm>
                  <a:off x="5312664" y="5577840"/>
                  <a:ext cx="67056" cy="91440"/>
                </a:xfrm>
                <a:prstGeom prst="flowChartConnector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none" lIns="68580" tIns="34290" rIns="68580" bIns="3429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685800"/>
                  <a:endParaRPr lang="zh-CN" altLang="en-US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2" name="流程图: 接点 31">
                  <a:extLst>
                    <a:ext uri="{FF2B5EF4-FFF2-40B4-BE49-F238E27FC236}">
                      <a16:creationId xmlns:a16="http://schemas.microsoft.com/office/drawing/2014/main" id="{027B2352-A2C3-4E70-8C49-523D73BA271B}"/>
                    </a:ext>
                  </a:extLst>
                </p:cNvPr>
                <p:cNvSpPr/>
                <p:nvPr/>
              </p:nvSpPr>
              <p:spPr bwMode="auto">
                <a:xfrm>
                  <a:off x="5897880" y="2474976"/>
                  <a:ext cx="67056" cy="91440"/>
                </a:xfrm>
                <a:prstGeom prst="flowChartConnector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68580" tIns="34290" rIns="68580" bIns="3429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685800"/>
                  <a:endParaRPr lang="zh-CN" altLang="en-US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3" name="流程图: 接点 32">
                  <a:extLst>
                    <a:ext uri="{FF2B5EF4-FFF2-40B4-BE49-F238E27FC236}">
                      <a16:creationId xmlns:a16="http://schemas.microsoft.com/office/drawing/2014/main" id="{C6A67C87-37F6-49F7-B16D-FDD898092F6F}"/>
                    </a:ext>
                  </a:extLst>
                </p:cNvPr>
                <p:cNvSpPr/>
                <p:nvPr/>
              </p:nvSpPr>
              <p:spPr bwMode="auto">
                <a:xfrm>
                  <a:off x="5903976" y="4078224"/>
                  <a:ext cx="67056" cy="91440"/>
                </a:xfrm>
                <a:prstGeom prst="flowChartConnector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68580" tIns="34290" rIns="68580" bIns="3429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685800"/>
                  <a:endParaRPr lang="zh-CN" altLang="en-US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4" name="流程图: 接点 33">
                  <a:extLst>
                    <a:ext uri="{FF2B5EF4-FFF2-40B4-BE49-F238E27FC236}">
                      <a16:creationId xmlns:a16="http://schemas.microsoft.com/office/drawing/2014/main" id="{8B0D70EF-A696-4A24-B5EA-0D53945C88FE}"/>
                    </a:ext>
                  </a:extLst>
                </p:cNvPr>
                <p:cNvSpPr/>
                <p:nvPr/>
              </p:nvSpPr>
              <p:spPr bwMode="auto">
                <a:xfrm>
                  <a:off x="5897880" y="5388864"/>
                  <a:ext cx="67056" cy="91440"/>
                </a:xfrm>
                <a:prstGeom prst="flowChartConnector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none" lIns="68580" tIns="34290" rIns="68580" bIns="3429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685800"/>
                  <a:endParaRPr lang="zh-CN" altLang="en-US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文本框 23">
                    <a:extLst>
                      <a:ext uri="{FF2B5EF4-FFF2-40B4-BE49-F238E27FC236}">
                        <a16:creationId xmlns:a16="http://schemas.microsoft.com/office/drawing/2014/main" id="{1E678B42-0350-45B1-B05A-26E3C3C1BCAF}"/>
                      </a:ext>
                    </a:extLst>
                  </p:cNvPr>
                  <p:cNvSpPr txBox="1"/>
                  <p:nvPr/>
                </p:nvSpPr>
                <p:spPr>
                  <a:xfrm>
                    <a:off x="5165943" y="6082460"/>
                    <a:ext cx="727317" cy="569628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24" name="文本框 23">
                    <a:extLst>
                      <a:ext uri="{FF2B5EF4-FFF2-40B4-BE49-F238E27FC236}">
                        <a16:creationId xmlns:a16="http://schemas.microsoft.com/office/drawing/2014/main" id="{1E678B42-0350-45B1-B05A-26E3C3C1BCA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65943" y="6082460"/>
                    <a:ext cx="727317" cy="569628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文本框 24">
                    <a:extLst>
                      <a:ext uri="{FF2B5EF4-FFF2-40B4-BE49-F238E27FC236}">
                        <a16:creationId xmlns:a16="http://schemas.microsoft.com/office/drawing/2014/main" id="{3C3B9AAD-AB47-4250-A5A9-62D9C9F26ED6}"/>
                      </a:ext>
                    </a:extLst>
                  </p:cNvPr>
                  <p:cNvSpPr txBox="1"/>
                  <p:nvPr/>
                </p:nvSpPr>
                <p:spPr>
                  <a:xfrm>
                    <a:off x="5751159" y="6074579"/>
                    <a:ext cx="736139" cy="569628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25" name="文本框 24">
                    <a:extLst>
                      <a:ext uri="{FF2B5EF4-FFF2-40B4-BE49-F238E27FC236}">
                        <a16:creationId xmlns:a16="http://schemas.microsoft.com/office/drawing/2014/main" id="{3C3B9AAD-AB47-4250-A5A9-62D9C9F26ED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51159" y="6074579"/>
                    <a:ext cx="736139" cy="569628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F856C58C-BCBD-4D6B-92D5-574915EBBE3F}"/>
                    </a:ext>
                  </a:extLst>
                </p:cNvPr>
                <p:cNvSpPr txBox="1"/>
                <p:nvPr/>
              </p:nvSpPr>
              <p:spPr>
                <a:xfrm>
                  <a:off x="8526636" y="1664041"/>
                  <a:ext cx="1338357" cy="56962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𝑿</m:t>
                        </m:r>
                        <m:d>
                          <m:dPr>
                            <m:ctrlPr>
                              <a:rPr lang="en-US" altLang="zh-CN" b="1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1" i="1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𝒕</m:t>
                                </m:r>
                              </m:e>
                              <m:sub>
                                <m:r>
                                  <a:rPr lang="en-US" altLang="zh-CN" b="1" i="1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𝟏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F856C58C-BCBD-4D6B-92D5-574915EBBE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26636" y="1664041"/>
                  <a:ext cx="1338357" cy="569628"/>
                </a:xfrm>
                <a:prstGeom prst="rect">
                  <a:avLst/>
                </a:prstGeom>
                <a:blipFill>
                  <a:blip r:embed="rId6"/>
                  <a:stretch>
                    <a:fillRect b="-163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矩形 21">
                  <a:extLst>
                    <a:ext uri="{FF2B5EF4-FFF2-40B4-BE49-F238E27FC236}">
                      <a16:creationId xmlns:a16="http://schemas.microsoft.com/office/drawing/2014/main" id="{F6EF995B-B29A-46EE-9066-12D3F0744879}"/>
                    </a:ext>
                  </a:extLst>
                </p:cNvPr>
                <p:cNvSpPr/>
                <p:nvPr/>
              </p:nvSpPr>
              <p:spPr>
                <a:xfrm>
                  <a:off x="9572876" y="1656160"/>
                  <a:ext cx="1338357" cy="56962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𝑿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𝒕</m:t>
                                </m:r>
                              </m:e>
                              <m:sub>
                                <m:r>
                                  <a:rPr lang="en-US" altLang="zh-CN" b="1" i="1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𝟐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2" name="矩形 21">
                  <a:extLst>
                    <a:ext uri="{FF2B5EF4-FFF2-40B4-BE49-F238E27FC236}">
                      <a16:creationId xmlns:a16="http://schemas.microsoft.com/office/drawing/2014/main" id="{F6EF995B-B29A-46EE-9066-12D3F074487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72876" y="1656160"/>
                  <a:ext cx="1338357" cy="569628"/>
                </a:xfrm>
                <a:prstGeom prst="rect">
                  <a:avLst/>
                </a:prstGeom>
                <a:blipFill>
                  <a:blip r:embed="rId7"/>
                  <a:stretch>
                    <a:fillRect b="-163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864554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AE4B0CB9-EFDA-4FFA-9B5C-30DC20F04B84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316344" y="260648"/>
                <a:ext cx="8720151" cy="5040560"/>
              </a:xfrm>
            </p:spPr>
            <p:txBody>
              <a:bodyPr/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zh-CN" sz="2000" dirty="0"/>
                  <a:t>例：贝努利过程，两时刻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zh-CN" altLang="zh-CN" sz="2000" dirty="0"/>
                  <a:t>的取值为</a:t>
                </a:r>
                <a:r>
                  <a:rPr lang="en-US" altLang="zh-CN" sz="2000" dirty="0"/>
                  <a:t>0-1</a:t>
                </a:r>
                <a:r>
                  <a:rPr lang="zh-CN" altLang="en-US" sz="2000" dirty="0"/>
                  <a:t>分布的</a:t>
                </a:r>
                <a:r>
                  <a:rPr lang="zh-CN" altLang="zh-CN" sz="2000" dirty="0"/>
                  <a:t>随机变量，</a:t>
                </a:r>
                <a:r>
                  <a:rPr lang="zh-CN" altLang="en-US" sz="2000" dirty="0"/>
                  <a:t>状态取值</a:t>
                </a:r>
                <a:r>
                  <a:rPr lang="zh-CN" altLang="zh-CN" sz="2000" dirty="0"/>
                  <a:t>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CN" altLang="zh-CN" sz="2000" i="1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  <m:r>
                      <a:rPr lang="zh-CN" altLang="en-US" sz="2000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sz="2000" dirty="0"/>
                  <a:t>且取</a:t>
                </a:r>
                <a:r>
                  <a:rPr lang="en-US" altLang="zh-CN" sz="2000" dirty="0"/>
                  <a:t>0</a:t>
                </a:r>
                <a:r>
                  <a:rPr lang="zh-CN" altLang="en-US" sz="2000" dirty="0"/>
                  <a:t>取</a:t>
                </a:r>
                <a:r>
                  <a:rPr lang="en-US" altLang="zh-CN" sz="2000" dirty="0"/>
                  <a:t>1</a:t>
                </a:r>
                <a:r>
                  <a:rPr lang="zh-CN" altLang="en-US" sz="2000" dirty="0"/>
                  <a:t>的概率相等，</a:t>
                </a:r>
                <a:r>
                  <a:rPr lang="zh-CN" altLang="zh-CN" sz="2000" dirty="0"/>
                  <a:t>不同时刻变量为统计独立的</a:t>
                </a:r>
                <a:r>
                  <a:rPr lang="zh-CN" altLang="en-US" sz="2000" dirty="0"/>
                  <a:t>。</a:t>
                </a:r>
                <a:endParaRPr lang="en-US" altLang="zh-CN" sz="2000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zh-CN" altLang="zh-CN" sz="2000" dirty="0"/>
                  <a:t>二维概率分布</a:t>
                </a:r>
                <a:r>
                  <a:rPr lang="zh-CN" altLang="en-US" sz="2000" dirty="0"/>
                  <a:t>（</a:t>
                </a:r>
                <a:r>
                  <a:rPr lang="en-US" altLang="zh-CN" sz="2000" dirty="0"/>
                  <a:t>PMF</a:t>
                </a:r>
                <a:r>
                  <a:rPr lang="zh-CN" altLang="en-US" sz="2000" dirty="0"/>
                  <a:t>）</a:t>
                </a:r>
                <a:r>
                  <a:rPr lang="zh-CN" altLang="zh-CN" sz="2000" dirty="0"/>
                  <a:t>为</a:t>
                </a:r>
              </a:p>
              <a:p>
                <a:pPr marL="0" indent="0">
                  <a:buNone/>
                </a:pPr>
                <a:r>
                  <a:rPr lang="en-US" altLang="zh-CN" sz="2000" dirty="0"/>
                  <a:t>  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}=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}=</m:t>
                    </m:r>
                    <m:f>
                      <m:f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nor/>
                      </m:rPr>
                      <a:rPr lang="en-US" altLang="zh-CN" sz="2000"/>
                      <m:t>     </m:t>
                    </m:r>
                  </m:oMath>
                </a14:m>
                <a:endParaRPr lang="en-US" altLang="zh-CN" sz="2000" dirty="0"/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sz="2000"/>
                      <m:t> </m:t>
                    </m:r>
                  </m:oMath>
                </a14:m>
                <a:r>
                  <a:rPr lang="zh-CN" altLang="zh-CN" sz="2000" dirty="0"/>
                  <a:t>二维</a:t>
                </a:r>
                <a:r>
                  <a:rPr lang="en-US" altLang="zh-CN" sz="2000" dirty="0"/>
                  <a:t>PDF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func>
                        <m:func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fName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,</m:t>
                          </m:r>
                        </m:e>
                      </m:func>
                      <m:sSub>
                        <m:sSub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)+</m:t>
                          </m:r>
                          <m:f>
                            <m:f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−1)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)+</m:t>
                          </m:r>
                          <m:f>
                            <m:f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−1)</m:t>
                          </m:r>
                        </m:e>
                      </m:d>
                    </m:oMath>
                  </m:oMathPara>
                </a14:m>
                <a:endParaRPr lang="en-US" altLang="zh-CN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𝛿</m:t>
                          </m:r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zh-CN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𝛿</m:t>
                          </m:r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−1,</m:t>
                              </m:r>
                              <m:sSub>
                                <m:sSubPr>
                                  <m:ctrlPr>
                                    <a:rPr lang="zh-CN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𝛿</m:t>
                          </m:r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zh-CN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000" b="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𝛿</m:t>
                          </m:r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−1,</m:t>
                              </m:r>
                              <m:sSub>
                                <m:sSubPr>
                                  <m:ctrlPr>
                                    <a:rPr lang="zh-CN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000" b="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altLang="zh-CN" sz="2000" dirty="0"/>
              </a:p>
              <a:p>
                <a:pPr marL="0" indent="0">
                  <a:buNone/>
                </a:pPr>
                <a:r>
                  <a:rPr lang="en-US" altLang="zh-CN" sz="2000" dirty="0">
                    <a:solidFill>
                      <a:srgbClr val="FF0000"/>
                    </a:solidFill>
                  </a:rPr>
                  <a:t>                             (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二维单位冲激函数，二维单位阶跃函数</a:t>
                </a:r>
                <a:r>
                  <a:rPr lang="en-US" altLang="zh-CN" sz="2000" dirty="0">
                    <a:solidFill>
                      <a:srgbClr val="FF0000"/>
                    </a:solidFill>
                  </a:rPr>
                  <a:t>)</a:t>
                </a:r>
                <a:endParaRPr lang="zh-CN" altLang="zh-CN" sz="2000" dirty="0">
                  <a:solidFill>
                    <a:srgbClr val="FF0000"/>
                  </a:solidFill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zh-CN" altLang="zh-CN" sz="2000" dirty="0"/>
                  <a:t>二维</a:t>
                </a:r>
                <a:r>
                  <a:rPr lang="en-US" altLang="zh-CN" sz="2000" dirty="0"/>
                  <a:t>CDF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func>
                        <m:func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fName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,</m:t>
                          </m:r>
                        </m:e>
                      </m:func>
                      <m:sSub>
                        <m:sSub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𝒖</m:t>
                          </m:r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zh-CN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𝒖</m:t>
                          </m:r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−1,</m:t>
                              </m:r>
                              <m:sSub>
                                <m:sSubPr>
                                  <m:ctrlPr>
                                    <a:rPr lang="zh-CN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𝒖</m:t>
                          </m:r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zh-CN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000" b="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𝒖</m:t>
                          </m:r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−1,</m:t>
                              </m:r>
                              <m:sSub>
                                <m:sSubPr>
                                  <m:ctrlPr>
                                    <a:rPr lang="zh-CN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000" b="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AE4B0CB9-EFDA-4FFA-9B5C-30DC20F04B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316344" y="260648"/>
                <a:ext cx="8720151" cy="5040560"/>
              </a:xfrm>
              <a:blipFill>
                <a:blip r:embed="rId2"/>
                <a:stretch>
                  <a:fillRect l="-769" b="-3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06479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82BC289A-99B1-4E81-8AE2-99F44A607928}"/>
                  </a:ext>
                </a:extLst>
              </p:cNvPr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436419" y="1589809"/>
                <a:ext cx="8271163" cy="3000971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zh-CN" sz="2100" dirty="0"/>
                  <a:t>正弦波随机过程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zh-CN" altLang="zh-CN" sz="2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100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sz="21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1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2100" i="1">
                            <a:latin typeface="Cambria Math" panose="02040503050406030204" pitchFamily="18" charset="0"/>
                          </a:rPr>
                          <m:t>),−</m:t>
                        </m:r>
                        <m:r>
                          <a:rPr lang="en-US" altLang="zh-CN" sz="2100">
                            <a:latin typeface="Cambria Math" panose="02040503050406030204" pitchFamily="18" charset="0"/>
                          </a:rPr>
                          <m:t>∞&lt;</m:t>
                        </m:r>
                        <m:r>
                          <a:rPr lang="en-US" altLang="zh-CN" sz="21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2100">
                            <a:latin typeface="Cambria Math" panose="02040503050406030204" pitchFamily="18" charset="0"/>
                          </a:rPr>
                          <m:t>&lt;∞</m:t>
                        </m:r>
                      </m:e>
                    </m:d>
                  </m:oMath>
                </a14:m>
                <a:r>
                  <a:rPr lang="zh-CN" altLang="zh-CN" sz="2100" dirty="0"/>
                  <a:t>，</a:t>
                </a:r>
                <a14:m>
                  <m:oMath xmlns:m="http://schemas.openxmlformats.org/officeDocument/2006/math">
                    <m:r>
                      <a:rPr lang="en-US" altLang="zh-CN" sz="21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1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1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100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zh-CN" sz="2100" i="1">
                        <a:latin typeface="Cambria Math" panose="02040503050406030204" pitchFamily="18" charset="0"/>
                      </a:rPr>
                      <m:t>𝑉</m:t>
                    </m:r>
                    <m:func>
                      <m:funcPr>
                        <m:ctrlPr>
                          <a:rPr lang="zh-CN" altLang="zh-CN" sz="21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zh-CN" sz="2100" i="1">
                            <a:latin typeface="Cambria Math" panose="02040503050406030204" pitchFamily="18" charset="0"/>
                          </a:rPr>
                          <m:t>𝑐𝑜𝑠</m:t>
                        </m:r>
                      </m:fName>
                      <m:e>
                        <m:r>
                          <a:rPr lang="en-US" altLang="zh-CN" sz="2100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func>
                    <m:r>
                      <a:rPr lang="en-US" altLang="zh-CN" sz="210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zh-CN" altLang="zh-CN" sz="2100" dirty="0"/>
                  <a:t>，其中</a:t>
                </a:r>
                <a14:m>
                  <m:oMath xmlns:m="http://schemas.openxmlformats.org/officeDocument/2006/math">
                    <m:r>
                      <a:rPr lang="en-US" altLang="zh-CN" sz="2100" i="1"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zh-CN" altLang="zh-CN" sz="2100" dirty="0"/>
                  <a:t>为常数，</a:t>
                </a:r>
                <a:r>
                  <a:rPr lang="en-US" altLang="zh-CN" sz="2100" i="1" dirty="0"/>
                  <a:t>V</a:t>
                </a:r>
                <a:r>
                  <a:rPr lang="zh-CN" altLang="zh-CN" sz="2100" dirty="0"/>
                  <a:t>是（</a:t>
                </a:r>
                <a:r>
                  <a:rPr lang="en-US" altLang="zh-CN" sz="2100" dirty="0"/>
                  <a:t>0</a:t>
                </a:r>
                <a:r>
                  <a:rPr lang="zh-CN" altLang="zh-CN" sz="2100" dirty="0"/>
                  <a:t>，</a:t>
                </a:r>
                <a:r>
                  <a:rPr lang="en-US" altLang="zh-CN" sz="2100" dirty="0"/>
                  <a:t>1</a:t>
                </a:r>
                <a:r>
                  <a:rPr lang="zh-CN" altLang="zh-CN" sz="2100" dirty="0"/>
                  <a:t>）内均匀分布的随机变量。（</a:t>
                </a:r>
                <a:r>
                  <a:rPr lang="en-US" altLang="zh-CN" sz="2100" dirty="0"/>
                  <a:t>1</a:t>
                </a:r>
                <a:r>
                  <a:rPr lang="zh-CN" altLang="zh-CN" sz="2100" dirty="0"/>
                  <a:t>）画出</a:t>
                </a:r>
                <a14:m>
                  <m:oMath xmlns:m="http://schemas.openxmlformats.org/officeDocument/2006/math">
                    <m:r>
                      <a:rPr lang="en-US" altLang="zh-CN" sz="21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1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1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1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sz="2100" dirty="0"/>
                  <a:t>的</a:t>
                </a:r>
                <a:r>
                  <a:rPr lang="zh-CN" altLang="en-US" sz="2100" dirty="0"/>
                  <a:t>两</a:t>
                </a:r>
                <a:r>
                  <a:rPr lang="zh-CN" altLang="zh-CN" sz="2100" dirty="0"/>
                  <a:t>条样本函数；（</a:t>
                </a:r>
                <a:r>
                  <a:rPr lang="en-US" altLang="zh-CN" sz="2100" dirty="0"/>
                  <a:t>2</a:t>
                </a:r>
                <a:r>
                  <a:rPr lang="zh-CN" altLang="zh-CN" sz="2100" dirty="0"/>
                  <a:t>）求</a:t>
                </a:r>
                <a14:m>
                  <m:oMath xmlns:m="http://schemas.openxmlformats.org/officeDocument/2006/math">
                    <m:r>
                      <a:rPr lang="en-US" altLang="zh-CN" sz="21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100" i="1">
                        <a:latin typeface="Cambria Math" panose="02040503050406030204" pitchFamily="18" charset="0"/>
                      </a:rPr>
                      <m:t>=0,</m:t>
                    </m:r>
                    <m:r>
                      <a:rPr lang="en-US" altLang="zh-CN" sz="21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1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sz="21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100" i="1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altLang="zh-CN" sz="2100" i="1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altLang="zh-CN" sz="2100" i="1">
                            <a:latin typeface="Cambria Math" panose="02040503050406030204" pitchFamily="18" charset="0"/>
                          </a:rPr>
                          <m:t>𝜔</m:t>
                        </m:r>
                      </m:den>
                    </m:f>
                    <m:r>
                      <a:rPr lang="en-US" altLang="zh-CN" sz="21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1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1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sz="21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100" i="1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altLang="zh-CN" sz="21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100" i="1">
                            <a:latin typeface="Cambria Math" panose="02040503050406030204" pitchFamily="18" charset="0"/>
                          </a:rPr>
                          <m:t>𝜔</m:t>
                        </m:r>
                      </m:den>
                    </m:f>
                    <m:r>
                      <a:rPr lang="en-US" altLang="zh-CN" sz="21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1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1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sz="21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100" i="1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altLang="zh-CN" sz="2100" i="1">
                            <a:latin typeface="Cambria Math" panose="02040503050406030204" pitchFamily="18" charset="0"/>
                          </a:rPr>
                          <m:t>𝜔</m:t>
                        </m:r>
                      </m:den>
                    </m:f>
                  </m:oMath>
                </a14:m>
                <a:r>
                  <a:rPr lang="zh-CN" altLang="zh-CN" sz="2100" dirty="0"/>
                  <a:t>时的概率分布函数和概率密度函数。</a:t>
                </a: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82BC289A-99B1-4E81-8AE2-99F44A6079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2"/>
                </p:custDataLst>
              </p:nvPr>
            </p:nvSpPr>
            <p:spPr>
              <a:xfrm>
                <a:off x="436419" y="1589809"/>
                <a:ext cx="8271163" cy="3000971"/>
              </a:xfrm>
              <a:prstGeom prst="rect">
                <a:avLst/>
              </a:prstGeom>
              <a:blipFill>
                <a:blip r:embed="rId13"/>
                <a:stretch>
                  <a:fillRect l="-885" r="-41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: 圆角 5">
            <a:extLst>
              <a:ext uri="{FF2B5EF4-FFF2-40B4-BE49-F238E27FC236}">
                <a16:creationId xmlns:a16="http://schemas.microsoft.com/office/drawing/2014/main" id="{70EA0EEE-1296-4988-B3D2-B5E5E9C07B6A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6686550" y="5518547"/>
            <a:ext cx="1157288" cy="30861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ctr" anchorCtr="1" compatLnSpc="1">
            <a:prstTxWarp prst="textNoShape">
              <a:avLst/>
            </a:prstTxWarp>
            <a:noAutofit/>
          </a:bodyPr>
          <a:lstStyle/>
          <a:p>
            <a:pPr defTabSz="685800"/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5461808-EECC-4CFD-9A8E-B8AEDE76CA3C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0" y="5152787"/>
            <a:ext cx="9144000" cy="365760"/>
          </a:xfrm>
          <a:prstGeom prst="rect">
            <a:avLst/>
          </a:prstGeom>
          <a:solidFill>
            <a:srgbClr val="FBFAE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ctr" anchorCtr="1" compatLnSpc="1">
            <a:prstTxWarp prst="textNoShape">
              <a:avLst/>
            </a:prstTxWarp>
            <a:no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正常使用主观题需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A10132C0-0738-46F1-8B91-19238153688E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0" y="0"/>
            <a:ext cx="9144000" cy="490220"/>
            <a:chOff x="0" y="-1143000"/>
            <a:chExt cx="12192000" cy="653627"/>
          </a:xfrm>
        </p:grpSpPr>
        <p:sp>
          <p:nvSpPr>
            <p:cNvPr id="7" name="TitleBackground">
              <a:extLst>
                <a:ext uri="{FF2B5EF4-FFF2-40B4-BE49-F238E27FC236}">
                  <a16:creationId xmlns:a16="http://schemas.microsoft.com/office/drawing/2014/main" id="{DFD55563-6DEF-4F7E-8DA5-5F049794E1AD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 bwMode="auto">
            <a:xfrm>
              <a:off x="0" y="-1143000"/>
              <a:ext cx="12192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" name="ColorBlock">
              <a:extLst>
                <a:ext uri="{FF2B5EF4-FFF2-40B4-BE49-F238E27FC236}">
                  <a16:creationId xmlns:a16="http://schemas.microsoft.com/office/drawing/2014/main" id="{B4315F99-1622-4838-B173-3C6DFB3FF47B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 bwMode="auto">
            <a:xfrm>
              <a:off x="0" y="-114300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" name="TypeText">
              <a:extLst>
                <a:ext uri="{FF2B5EF4-FFF2-40B4-BE49-F238E27FC236}">
                  <a16:creationId xmlns:a16="http://schemas.microsoft.com/office/drawing/2014/main" id="{E3F59521-BC19-4668-BEAB-DF8E238D554B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338667" y="-114300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95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10" name="TipText">
              <a:extLst>
                <a:ext uri="{FF2B5EF4-FFF2-40B4-BE49-F238E27FC236}">
                  <a16:creationId xmlns:a16="http://schemas.microsoft.com/office/drawing/2014/main" id="{DD529E45-0257-4783-858E-28B96CE3FBB1}"/>
                </a:ext>
              </a:extLst>
            </p:cNvPr>
            <p:cNvSpPr txBox="1"/>
            <p:nvPr>
              <p:custDataLst>
                <p:tags r:id="rId10"/>
              </p:custDataLst>
            </p:nvPr>
          </p:nvSpPr>
          <p:spPr>
            <a:xfrm>
              <a:off x="1670473" y="-997373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15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15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51A0E82F-7AF7-4ABE-B117-C88DFDBF3C0E}"/>
              </a:ext>
            </a:extLst>
          </p:cNvPr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925261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201878E2-48F0-4225-8CC2-8A2C1FDD2900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444500" y="1113559"/>
                <a:ext cx="8255000" cy="4258541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zh-CN" altLang="en-US" dirty="0"/>
                  <a:t>解：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（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）</a:t>
                </a: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（</a:t>
                </a:r>
                <a:r>
                  <a:rPr lang="en-US" altLang="zh-CN" dirty="0"/>
                  <a:t>2</a:t>
                </a:r>
                <a:r>
                  <a:rPr lang="zh-CN" altLang="en-US" dirty="0"/>
                  <a:t>）</a:t>
                </a:r>
                <a:r>
                  <a:rPr lang="en-US" altLang="zh-CN" dirty="0"/>
                  <a:t>t=0</a:t>
                </a:r>
                <a:r>
                  <a:rPr lang="zh-CN" altLang="en-US" dirty="0"/>
                  <a:t>，</a:t>
                </a:r>
                <a:r>
                  <a:rPr lang="en-US" altLang="zh-CN" dirty="0"/>
                  <a:t>X(t)=V, </a:t>
                </a:r>
                <a:r>
                  <a:rPr lang="zh-CN" altLang="en-US" dirty="0"/>
                  <a:t>此时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b="1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,     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𝟎</m:t>
                            </m:r>
                          </m:e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</m:e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   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&gt;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</m:e>
                        </m:eqArr>
                      </m:e>
                    </m:d>
                  </m:oMath>
                </a14:m>
                <a:r>
                  <a:rPr lang="zh-CN" altLang="en-US" dirty="0"/>
                  <a:t>，</a:t>
                </a:r>
                <a:r>
                  <a:rPr lang="zh-CN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同理，可求出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𝜔</m:t>
                        </m:r>
                      </m:den>
                    </m:f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𝜔</m:t>
                        </m:r>
                      </m:den>
                    </m:f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𝜔</m:t>
                        </m:r>
                      </m:den>
                    </m:f>
                  </m:oMath>
                </a14:m>
                <a:r>
                  <a:rPr lang="zh-CN" altLang="en-US" dirty="0"/>
                  <a:t> 的分布函数和概率密度函数。</a:t>
                </a:r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201878E2-48F0-4225-8CC2-8A2C1FDD29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444500" y="1113559"/>
                <a:ext cx="8255000" cy="4258541"/>
              </a:xfrm>
              <a:blipFill>
                <a:blip r:embed="rId2"/>
                <a:stretch>
                  <a:fillRect l="-739" t="-10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>
            <a:extLst>
              <a:ext uri="{FF2B5EF4-FFF2-40B4-BE49-F238E27FC236}">
                <a16:creationId xmlns:a16="http://schemas.microsoft.com/office/drawing/2014/main" id="{961BE8C1-AA99-4517-8A87-6786C34C98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1650" y="1376172"/>
            <a:ext cx="2953512" cy="2215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7206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418" y="1122218"/>
            <a:ext cx="6126509" cy="1946741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089" y="3140968"/>
            <a:ext cx="6058838" cy="2937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20595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484784"/>
            <a:ext cx="7674354" cy="4062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4528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554" y="935756"/>
            <a:ext cx="6696316" cy="2364286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3" y="3285946"/>
            <a:ext cx="6045163" cy="2636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8487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1268760"/>
            <a:ext cx="7392138" cy="3883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3264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660" y="1412776"/>
            <a:ext cx="7630679" cy="3468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2156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5" y="764704"/>
            <a:ext cx="6747617" cy="4608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7777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328B50F3-D9E4-490A-B381-A17FB25CE528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323528" y="476672"/>
                <a:ext cx="8280920" cy="4163291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30000"/>
                  </a:lnSpc>
                  <a:buNone/>
                </a:pPr>
                <a:r>
                  <a:rPr lang="en-US" altLang="zh-CN" sz="2400" dirty="0">
                    <a:solidFill>
                      <a:srgbClr val="FF0000"/>
                    </a:solidFill>
                  </a:rPr>
                  <a:t>2.1.3 </a:t>
                </a:r>
                <a:r>
                  <a:rPr lang="zh-CN" altLang="zh-CN" sz="2400" dirty="0">
                    <a:solidFill>
                      <a:srgbClr val="FF0000"/>
                    </a:solidFill>
                  </a:rPr>
                  <a:t>随机信号的基本数字特征</a:t>
                </a:r>
              </a:p>
              <a:p>
                <a:pPr marL="0" indent="0">
                  <a:lnSpc>
                    <a:spcPct val="130000"/>
                  </a:lnSpc>
                  <a:buNone/>
                </a:pPr>
                <a:r>
                  <a:rPr lang="x-none" altLang="zh-CN" sz="2400" dirty="0">
                    <a:solidFill>
                      <a:schemeClr val="accent2"/>
                    </a:solidFill>
                  </a:rPr>
                  <a:t>1</a:t>
                </a:r>
                <a:r>
                  <a:rPr lang="zh-CN" altLang="zh-CN" sz="2400" dirty="0">
                    <a:solidFill>
                      <a:schemeClr val="accent2"/>
                    </a:solidFill>
                  </a:rPr>
                  <a:t>．均值函数或数学期望</a:t>
                </a:r>
                <a:r>
                  <a:rPr lang="x-none" altLang="zh-CN" sz="2400" dirty="0">
                    <a:solidFill>
                      <a:schemeClr val="accent2"/>
                    </a:solidFill>
                  </a:rPr>
                  <a:t>  (</a:t>
                </a:r>
                <a:r>
                  <a:rPr lang="zh-CN" altLang="zh-CN" sz="2400" dirty="0">
                    <a:solidFill>
                      <a:schemeClr val="accent2"/>
                    </a:solidFill>
                  </a:rPr>
                  <a:t>利用随机变量的数学期望的定义</a:t>
                </a:r>
                <a:r>
                  <a:rPr lang="x-none" altLang="zh-CN" sz="2400" dirty="0">
                    <a:solidFill>
                      <a:schemeClr val="accent2"/>
                    </a:solidFill>
                  </a:rPr>
                  <a:t>)</a:t>
                </a:r>
                <a:endParaRPr lang="zh-CN" altLang="zh-CN" sz="2400" dirty="0">
                  <a:solidFill>
                    <a:schemeClr val="accent2"/>
                  </a:solidFill>
                </a:endParaRPr>
              </a:p>
              <a:p>
                <a:pPr marL="0" indent="0">
                  <a:lnSpc>
                    <a:spcPct val="130000"/>
                  </a:lnSpc>
                  <a:buNone/>
                </a:pPr>
                <a:r>
                  <a:rPr lang="zh-CN" altLang="zh-CN" sz="2400" dirty="0"/>
                  <a:t>设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),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zh-CN" sz="2400" dirty="0"/>
                  <a:t>是一随机过程，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sz="2400" dirty="0"/>
                  <a:t>是一个随机变量</a:t>
                </a:r>
                <a:r>
                  <a:rPr lang="zh-CN" altLang="en-US" sz="2400" dirty="0"/>
                  <a:t>。</a:t>
                </a:r>
                <a:endParaRPr lang="en-US" altLang="zh-CN" sz="2400" dirty="0"/>
              </a:p>
              <a:p>
                <a:pPr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zh-CN" altLang="zh-CN" sz="2400" dirty="0"/>
                  <a:t>如果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)]</m:t>
                    </m:r>
                  </m:oMath>
                </a14:m>
                <a:r>
                  <a:rPr lang="zh-CN" altLang="zh-CN" sz="2400" dirty="0"/>
                  <a:t>存在，则称为随机过程的均值函数。</a:t>
                </a:r>
                <a:endParaRPr lang="en-US" altLang="zh-CN" sz="2400" dirty="0"/>
              </a:p>
              <a:p>
                <a:pPr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zh-CN" altLang="zh-CN" sz="2400" dirty="0"/>
                  <a:t>描述随机过程的所有样本函数在</a:t>
                </a:r>
                <a:r>
                  <a:rPr lang="en-US" altLang="zh-CN" sz="2400" i="1" dirty="0"/>
                  <a:t>t</a:t>
                </a:r>
                <a:r>
                  <a:rPr lang="zh-CN" altLang="zh-CN" sz="2400" dirty="0"/>
                  <a:t>时刻的取值的统计平均。</a:t>
                </a:r>
              </a:p>
              <a:p>
                <a:pPr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zh-CN" altLang="zh-CN" sz="2400" dirty="0"/>
                  <a:t>连续</a:t>
                </a:r>
                <a:r>
                  <a:rPr lang="en-US" altLang="zh-CN" sz="2400" dirty="0"/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)]=</m:t>
                    </m:r>
                    <m:nary>
                      <m:nary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−∞</m:t>
                        </m:r>
                      </m:sub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⋅</m:t>
                        </m:r>
                        <m:sSub>
                          <m:sSub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</m:e>
                    </m:nary>
                    <m:r>
                      <a:rPr lang="en-US" altLang="zh-CN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𝑡</m:t>
                    </m:r>
                    <m:func>
                      <m:func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;</m:t>
                        </m:r>
                      </m:fName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𝑑𝑥</m:t>
                    </m:r>
                  </m:oMath>
                </a14:m>
                <a:endParaRPr lang="en-US" altLang="zh-CN" sz="2400" dirty="0"/>
              </a:p>
              <a:p>
                <a:pPr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zh-CN" altLang="zh-CN" sz="2400" dirty="0"/>
                  <a:t>离散</a:t>
                </a:r>
                <a14:m>
                  <m:oMath xmlns:m="http://schemas.openxmlformats.org/officeDocument/2006/math">
                    <m:r>
                      <a:rPr lang="en-US" altLang="zh-CN" sz="2400" b="1" i="0" smtClean="0">
                        <a:latin typeface="Cambria Math" panose="02040503050406030204" pitchFamily="18" charset="0"/>
                      </a:rPr>
                      <m:t>   </m:t>
                    </m:r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)]=</m:t>
                    </m:r>
                    <m:nary>
                      <m:naryPr>
                        <m:chr m:val="∑"/>
                        <m:supHide m:val="on"/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𝑡</m:t>
                        </m:r>
                        <m:func>
                          <m:func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;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𝜉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fName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e>
                    </m:nary>
                    <m:r>
                      <a:rPr lang="en-US" altLang="zh-CN" sz="2400" i="1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zh-CN" altLang="zh-CN" sz="2400" dirty="0"/>
              </a:p>
              <a:p>
                <a:pPr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zh-CN" altLang="zh-CN" sz="2400" dirty="0"/>
                  <a:t>通常称为统计平均</a:t>
                </a:r>
                <a:r>
                  <a:rPr lang="en-US" altLang="zh-CN" sz="2400" dirty="0"/>
                  <a:t>, </a:t>
                </a:r>
                <a:r>
                  <a:rPr lang="zh-CN" altLang="zh-CN" sz="2400" dirty="0"/>
                  <a:t>集合平均</a:t>
                </a:r>
                <a:r>
                  <a:rPr lang="en-US" altLang="zh-CN" sz="2400" dirty="0"/>
                  <a:t> (</a:t>
                </a:r>
                <a:r>
                  <a:rPr lang="zh-CN" altLang="zh-CN" sz="2400" dirty="0"/>
                  <a:t>对样本函数的集合求平均</a:t>
                </a:r>
                <a:r>
                  <a:rPr lang="en-US" altLang="zh-CN" sz="2400" dirty="0"/>
                  <a:t>)</a:t>
                </a:r>
                <a:r>
                  <a:rPr lang="zh-CN" altLang="zh-CN" sz="2400" dirty="0"/>
                  <a:t>。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328B50F3-D9E4-490A-B381-A17FB25CE5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323528" y="476672"/>
                <a:ext cx="8280920" cy="4163291"/>
              </a:xfrm>
              <a:blipFill>
                <a:blip r:embed="rId2"/>
                <a:stretch>
                  <a:fillRect l="-1105" t="-146" r="-957" b="-171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5060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0D594A06-5E3D-48C6-B4D3-B51EF334C054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179512" y="404664"/>
                <a:ext cx="8784976" cy="4237759"/>
              </a:xfrm>
            </p:spPr>
            <p:txBody>
              <a:bodyPr/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x-none" altLang="zh-CN" sz="2400" dirty="0">
                    <a:solidFill>
                      <a:schemeClr val="accent2"/>
                    </a:solidFill>
                  </a:rPr>
                  <a:t>2</a:t>
                </a:r>
                <a:r>
                  <a:rPr lang="zh-CN" altLang="zh-CN" sz="2400" dirty="0">
                    <a:solidFill>
                      <a:schemeClr val="accent2"/>
                    </a:solidFill>
                  </a:rPr>
                  <a:t>．均方函数和方差函数</a:t>
                </a:r>
              </a:p>
              <a:p>
                <a:pPr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400" dirty="0"/>
                  <a:t>公式</a:t>
                </a:r>
                <a14:m>
                  <m:oMath xmlns:m="http://schemas.openxmlformats.org/officeDocument/2006/math">
                    <m:r>
                      <a:rPr lang="zh-CN" altLang="en-US" sz="2400" i="1">
                        <a:latin typeface="Cambria Math" panose="02040503050406030204" pitchFamily="18" charset="0"/>
                      </a:rPr>
                      <m:t>：</m:t>
                    </m:r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𝛷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[</m:t>
                    </m:r>
                    <m:sSup>
                      <m:sSup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)]</m:t>
                    </m:r>
                  </m:oMath>
                </a14:m>
                <a:r>
                  <a:rPr lang="zh-CN" altLang="zh-CN" sz="2400" dirty="0"/>
                  <a:t>，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CN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𝑉𝑎𝑟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)]=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{[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)−</m:t>
                    </m:r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</m:t>
                    </m:r>
                    <m:sSup>
                      <m:sSup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]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zh-CN" altLang="zh-CN" sz="2400" dirty="0"/>
              </a:p>
              <a:p>
                <a:pPr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CN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sz="2400" dirty="0"/>
                  <a:t>描述随机过程</a:t>
                </a:r>
                <a:r>
                  <a:rPr lang="en-US" altLang="zh-CN" sz="2400" i="1" dirty="0"/>
                  <a:t>t</a:t>
                </a:r>
                <a:r>
                  <a:rPr lang="zh-CN" altLang="zh-CN" sz="2400" dirty="0"/>
                  <a:t>时刻取值偏离均值的程度。</a:t>
                </a:r>
              </a:p>
              <a:p>
                <a:pPr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zh-CN" sz="2400" dirty="0"/>
                  <a:t>关系</a:t>
                </a:r>
                <a:r>
                  <a:rPr lang="zh-CN" altLang="en-US" sz="2400" dirty="0"/>
                  <a:t>：</a:t>
                </a:r>
                <a:r>
                  <a:rPr lang="en-US" altLang="zh-CN" sz="2400" dirty="0"/>
                  <a:t>    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[</m:t>
                    </m:r>
                    <m:sSup>
                      <m:sSup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)]=</m:t>
                    </m:r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)+</m:t>
                    </m:r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zh-CN" sz="2400" dirty="0"/>
              </a:p>
              <a:p>
                <a:pPr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400" dirty="0"/>
                  <a:t>物理意义：</a:t>
                </a:r>
                <a:endParaRPr lang="en-US" altLang="zh-CN" sz="24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2400" dirty="0"/>
                  <a:t>   </a:t>
                </a:r>
                <a:r>
                  <a:rPr lang="zh-CN" altLang="zh-CN" sz="2400" dirty="0"/>
                  <a:t>均方值</a:t>
                </a:r>
                <a:r>
                  <a:rPr lang="zh-CN" altLang="en-US" sz="2400" dirty="0"/>
                  <a:t>：</a:t>
                </a:r>
                <a:r>
                  <a:rPr lang="en-US" altLang="zh-CN" sz="2400" dirty="0"/>
                  <a:t>  </a:t>
                </a:r>
                <a:r>
                  <a:rPr lang="zh-CN" altLang="zh-CN" sz="2400" dirty="0"/>
                  <a:t>消耗在单位电阻上的瞬时功率的统计平均值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2400" dirty="0"/>
                  <a:t>   </a:t>
                </a:r>
                <a:r>
                  <a:rPr lang="zh-CN" altLang="zh-CN" sz="2400" dirty="0"/>
                  <a:t>均值平方</a:t>
                </a:r>
                <a:r>
                  <a:rPr lang="zh-CN" altLang="en-US" sz="2400" dirty="0"/>
                  <a:t>：</a:t>
                </a:r>
                <a:r>
                  <a:rPr lang="en-US" altLang="zh-CN" sz="2400" dirty="0"/>
                  <a:t> </a:t>
                </a:r>
                <a:r>
                  <a:rPr lang="zh-CN" altLang="zh-CN" sz="2400" dirty="0"/>
                  <a:t>消耗在单位电阻上的瞬时直流功率的统计平均值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2400" dirty="0"/>
                  <a:t>   </a:t>
                </a:r>
                <a:r>
                  <a:rPr lang="zh-CN" altLang="zh-CN" sz="2400" dirty="0"/>
                  <a:t>方差</a:t>
                </a:r>
                <a:r>
                  <a:rPr lang="zh-CN" altLang="en-US" sz="2400" dirty="0"/>
                  <a:t>：</a:t>
                </a:r>
                <a:r>
                  <a:rPr lang="zh-CN" altLang="zh-CN" sz="2400" dirty="0"/>
                  <a:t>消耗在单位电阻上的瞬时交流功率的统计平均值</a:t>
                </a: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0D594A06-5E3D-48C6-B4D3-B51EF334C0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179512" y="404664"/>
                <a:ext cx="8784976" cy="4237759"/>
              </a:xfrm>
              <a:blipFill>
                <a:blip r:embed="rId2"/>
                <a:stretch>
                  <a:fillRect l="-1040" b="-321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516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D1099461-50B5-44A3-871B-DD2F6A2B3AF7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179512" y="857250"/>
                <a:ext cx="8928992" cy="4752109"/>
              </a:xfrm>
            </p:spPr>
            <p:txBody>
              <a:bodyPr/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2400" dirty="0">
                    <a:solidFill>
                      <a:schemeClr val="accent2"/>
                    </a:solidFill>
                  </a:rPr>
                  <a:t>3</a:t>
                </a:r>
                <a:r>
                  <a:rPr lang="zh-CN" altLang="en-US" sz="2400" dirty="0">
                    <a:solidFill>
                      <a:schemeClr val="accent2"/>
                    </a:solidFill>
                  </a:rPr>
                  <a:t>、自相关函数、自协方差函数  </a:t>
                </a:r>
                <a:endParaRPr lang="en-US" altLang="zh-CN" sz="2400" dirty="0">
                  <a:solidFill>
                    <a:schemeClr val="accent2"/>
                  </a:solidFill>
                </a:endParaRPr>
              </a:p>
              <a:p>
                <a:pPr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400" dirty="0"/>
                  <a:t>公式</a:t>
                </a:r>
                <a14:m>
                  <m:oMath xmlns:m="http://schemas.openxmlformats.org/officeDocument/2006/math">
                    <m:r>
                      <a:rPr lang="zh-CN" altLang="en-US" sz="2400" i="1">
                        <a:latin typeface="Cambria Math" panose="02040503050406030204" pitchFamily="18" charset="0"/>
                      </a:rPr>
                      <m:t>：</m:t>
                    </m:r>
                    <m:sSub>
                      <m:sSubPr>
                        <m:ctrlPr>
                          <a:rPr lang="zh-CN" altLang="zh-C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    </m:t>
                        </m:r>
                        <m:r>
                          <a:rPr lang="de-DE" altLang="zh-CN" sz="24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de-DE" altLang="zh-CN" sz="24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de-DE" altLang="zh-CN" sz="24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altLang="zh-CN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de-DE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DE" altLang="zh-CN" sz="2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altLang="zh-CN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de-DE" altLang="zh-CN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e-DE" altLang="zh-CN" sz="2400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de-DE" altLang="zh-CN" sz="24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de-DE" altLang="zh-CN" sz="240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de-DE" altLang="zh-CN" sz="2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de-DE" altLang="zh-CN" sz="24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altLang="zh-CN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de-DE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DE" altLang="zh-CN" sz="2400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de-DE" altLang="zh-CN" sz="2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de-DE" altLang="zh-CN" sz="24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altLang="zh-CN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de-DE" altLang="zh-CN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e-DE" altLang="zh-CN" sz="2400" i="1">
                        <a:latin typeface="Cambria Math" panose="02040503050406030204" pitchFamily="18" charset="0"/>
                      </a:rPr>
                      <m:t>)]</m:t>
                    </m:r>
                  </m:oMath>
                </a14:m>
                <a:br>
                  <a:rPr lang="de-DE" altLang="zh-CN" sz="240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        </m:t>
                        </m:r>
                        <m:r>
                          <a:rPr lang="de-DE" altLang="zh-CN" sz="24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de-DE" altLang="zh-CN" sz="24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de-DE" altLang="zh-CN" sz="24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altLang="zh-CN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de-DE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DE" altLang="zh-CN" sz="2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altLang="zh-CN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de-DE" altLang="zh-CN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e-DE" altLang="zh-CN" sz="2400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de-DE" altLang="zh-CN" sz="24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de-DE" altLang="zh-CN" sz="2400" i="1">
                        <a:latin typeface="Cambria Math" panose="02040503050406030204" pitchFamily="18" charset="0"/>
                      </a:rPr>
                      <m:t>{[</m:t>
                    </m:r>
                    <m:r>
                      <a:rPr lang="de-DE" altLang="zh-CN" sz="2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de-DE" altLang="zh-CN" sz="24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altLang="zh-CN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de-DE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DE" altLang="zh-CN" sz="2400" i="1">
                        <a:latin typeface="Cambria Math" panose="02040503050406030204" pitchFamily="18" charset="0"/>
                      </a:rPr>
                      <m:t>)−</m:t>
                    </m:r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altLang="zh-CN" sz="24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de-DE" altLang="zh-CN" sz="24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de-DE" altLang="zh-CN" sz="24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altLang="zh-CN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de-DE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DE" altLang="zh-CN" sz="2400" i="1">
                        <a:latin typeface="Cambria Math" panose="02040503050406030204" pitchFamily="18" charset="0"/>
                      </a:rPr>
                      <m:t>)][</m:t>
                    </m:r>
                    <m:r>
                      <a:rPr lang="de-DE" altLang="zh-CN" sz="2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de-DE" altLang="zh-CN" sz="24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altLang="zh-CN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de-DE" altLang="zh-CN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e-DE" altLang="zh-CN" sz="2400" i="1">
                        <a:latin typeface="Cambria Math" panose="02040503050406030204" pitchFamily="18" charset="0"/>
                      </a:rPr>
                      <m:t>)−</m:t>
                    </m:r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altLang="zh-CN" sz="24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de-DE" altLang="zh-CN" sz="24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de-DE" altLang="zh-CN" sz="24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altLang="zh-CN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de-DE" altLang="zh-CN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e-DE" altLang="zh-CN" sz="2400" i="1">
                        <a:latin typeface="Cambria Math" panose="02040503050406030204" pitchFamily="18" charset="0"/>
                      </a:rPr>
                      <m:t>)]}</m:t>
                    </m:r>
                  </m:oMath>
                </a14:m>
                <a:br>
                  <a:rPr lang="de-DE" altLang="zh-CN" sz="2400" i="1" dirty="0">
                    <a:latin typeface="Cambria Math" panose="02040503050406030204" pitchFamily="18" charset="0"/>
                  </a:rPr>
                </a:br>
                <a:endParaRPr lang="en-US" altLang="zh-CN" sz="240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latin typeface="Cambria Math" panose="02040503050406030204" pitchFamily="18" charset="0"/>
                  </a:rPr>
                  <a:t>关系：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       </m:t>
                        </m:r>
                        <m:r>
                          <a:rPr lang="de-DE" altLang="zh-CN" sz="24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de-DE" altLang="zh-CN" sz="24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de-DE" altLang="zh-CN" sz="24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altLang="zh-CN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de-DE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DE" altLang="zh-CN" sz="2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altLang="zh-CN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de-DE" altLang="zh-CN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e-DE" altLang="zh-CN" sz="2400" i="1"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altLang="zh-CN" sz="24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de-DE" altLang="zh-CN" sz="24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de-DE" altLang="zh-CN" sz="24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altLang="zh-CN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de-DE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DE" altLang="zh-CN" sz="2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altLang="zh-CN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de-DE" altLang="zh-CN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e-DE" altLang="zh-CN" sz="2400" i="1">
                        <a:latin typeface="Cambria Math" panose="02040503050406030204" pitchFamily="18" charset="0"/>
                      </a:rPr>
                      <m:t>)−</m:t>
                    </m:r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altLang="zh-CN" sz="24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de-DE" altLang="zh-CN" sz="24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de-DE" altLang="zh-CN" sz="24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altLang="zh-CN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de-DE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DE" altLang="zh-CN" sz="2400" i="1">
                        <a:latin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altLang="zh-CN" sz="24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de-DE" altLang="zh-CN" sz="24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de-DE" altLang="zh-CN" sz="24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altLang="zh-CN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de-DE" altLang="zh-CN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e-DE" altLang="zh-CN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zh-CN" sz="2400" dirty="0"/>
              </a:p>
              <a:p>
                <a:pPr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zh-CN" sz="2400" dirty="0"/>
                  <a:t>二者只相差一常数含义一致。</a:t>
                </a:r>
                <a:r>
                  <a:rPr lang="zh-CN" altLang="en-US" sz="2400" dirty="0"/>
                  <a:t>与二阶</a:t>
                </a:r>
                <a:r>
                  <a:rPr lang="en-US" altLang="zh-CN" sz="2400" dirty="0"/>
                  <a:t>PDF</a:t>
                </a:r>
                <a:r>
                  <a:rPr lang="zh-CN" altLang="en-US" sz="2400" dirty="0"/>
                  <a:t>有关，属于二阶矩，可以描述两不同时刻随机变量之间的联系。</a:t>
                </a:r>
                <a:endParaRPr lang="en-US" altLang="zh-CN" sz="2400" dirty="0"/>
              </a:p>
              <a:p>
                <a:pPr marL="0" indent="0">
                  <a:buNone/>
                </a:pPr>
                <a:endParaRPr lang="en-US" altLang="zh-CN" sz="2400" dirty="0">
                  <a:solidFill>
                    <a:schemeClr val="accent2"/>
                  </a:solidFill>
                </a:endParaRPr>
              </a:p>
              <a:p>
                <a:pPr marL="0" indent="0">
                  <a:buNone/>
                </a:pPr>
                <a:r>
                  <a:rPr lang="x-none" altLang="zh-CN" sz="2400" dirty="0">
                    <a:solidFill>
                      <a:schemeClr val="accent2"/>
                    </a:solidFill>
                  </a:rPr>
                  <a:t>4. </a:t>
                </a:r>
                <a:r>
                  <a:rPr lang="zh-CN" altLang="zh-CN" sz="2400" dirty="0">
                    <a:solidFill>
                      <a:schemeClr val="accent2"/>
                    </a:solidFill>
                  </a:rPr>
                  <a:t>相关系数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𝐶𝑜𝑣</m:t>
                        </m:r>
                        <m:d>
                          <m:d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),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num>
                      <m:den>
                        <m:sSub>
                          <m:sSub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)</m:t>
                        </m:r>
                        <m:sSub>
                          <m:sSub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zh-CN" altLang="zh-CN" sz="2400" i="1">
                        <a:latin typeface="Cambria Math" panose="02040503050406030204" pitchFamily="18" charset="0"/>
                      </a:rPr>
                      <m:t>，</m:t>
                    </m:r>
                    <m:d>
                      <m:dPr>
                        <m:begChr m:val="|"/>
                        <m:endChr m:val="|"/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</a:rPr>
                      <m:t>≤1</m:t>
                    </m:r>
                  </m:oMath>
                </a14:m>
                <a:r>
                  <a:rPr lang="en-US" altLang="zh-CN" sz="2400" dirty="0"/>
                  <a:t> </a:t>
                </a:r>
                <a:endParaRPr lang="zh-CN" altLang="zh-CN" sz="2400" dirty="0"/>
              </a:p>
              <a:p>
                <a:endParaRPr lang="zh-CN" altLang="en-US" dirty="0"/>
              </a:p>
              <a:p>
                <a:pPr marL="0" indent="0">
                  <a:buNone/>
                </a:pPr>
                <a:r>
                  <a:rPr lang="zh-CN" altLang="en-US" dirty="0">
                    <a:solidFill>
                      <a:schemeClr val="accent2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D1099461-50B5-44A3-871B-DD2F6A2B3A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179512" y="857250"/>
                <a:ext cx="8928992" cy="4752109"/>
              </a:xfrm>
              <a:blipFill>
                <a:blip r:embed="rId3"/>
                <a:stretch>
                  <a:fillRect l="-1024" b="-83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8242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EC9567EB-24F8-4014-B66F-C1AA3897D7E3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107504" y="260648"/>
                <a:ext cx="8870242" cy="48006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zh-CN" altLang="zh-CN" sz="2400" dirty="0"/>
                  <a:t>例：时间连续、状态离散的随机过程， 四条样本曲线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altLang="zh-CN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de-DE" altLang="zh-CN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de-DE" altLang="zh-CN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altLang="zh-CN" sz="24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de-DE" altLang="zh-CN" sz="2400" i="1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altLang="zh-CN" sz="2400" i="1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de-DE" altLang="zh-CN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de-DE" altLang="zh-CN" sz="2400" i="1">
                        <a:latin typeface="Cambria Math" panose="02040503050406030204" pitchFamily="18" charset="0"/>
                      </a:rPr>
                      <m:t>}=</m:t>
                    </m:r>
                    <m:f>
                      <m:f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de-DE" altLang="zh-CN" sz="2400" i="1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zh-CN" altLang="en-US" sz="2400" dirty="0"/>
                  <a:t>。</a:t>
                </a:r>
                <a:endParaRPr lang="en-US" altLang="zh-CN" sz="2400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sz="2400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sz="24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zh-CN" sz="2400" dirty="0"/>
                  <a:t>求</a:t>
                </a:r>
                <a:r>
                  <a:rPr lang="en-US" altLang="zh-CN" sz="2400" dirty="0"/>
                  <a:t> 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)]</m:t>
                    </m:r>
                    <m:r>
                      <a:rPr lang="zh-CN" altLang="zh-CN" sz="2400" i="1">
                        <a:latin typeface="Cambria Math" panose="02040503050406030204" pitchFamily="18" charset="0"/>
                      </a:rPr>
                      <m:t>、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)]</m:t>
                    </m:r>
                    <m:r>
                      <a:rPr lang="zh-CN" altLang="zh-CN" sz="2400" i="1">
                        <a:latin typeface="Cambria Math" panose="02040503050406030204" pitchFamily="18" charset="0"/>
                      </a:rPr>
                      <m:t>、</m:t>
                    </m:r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sz="2400" dirty="0"/>
                  <a:t>。</a:t>
                </a:r>
                <a:r>
                  <a:rPr lang="de-DE" altLang="zh-CN" sz="2400" dirty="0"/>
                  <a:t>	</a:t>
                </a:r>
                <a:endParaRPr lang="zh-CN" altLang="zh-CN" sz="24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zh-CN" sz="2400" dirty="0"/>
                  <a:t>解： </a:t>
                </a:r>
                <a:endParaRPr lang="en-US" altLang="zh-CN" sz="240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de-DE" altLang="zh-CN" sz="24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de-DE" altLang="zh-CN" sz="240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de-DE" altLang="zh-CN" sz="2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de-DE" altLang="zh-CN" sz="24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altLang="zh-CN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de-DE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DE" altLang="zh-CN" sz="2400" i="1">
                        <a:latin typeface="Cambria Math" panose="02040503050406030204" pitchFamily="18" charset="0"/>
                      </a:rPr>
                      <m:t>)]=</m:t>
                    </m:r>
                    <m:nary>
                      <m:naryPr>
                        <m:chr m:val="∑"/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de-DE" altLang="zh-CN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e-DE" altLang="zh-CN" sz="24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de-DE" altLang="zh-CN" sz="2400" i="1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r>
                          <a:rPr lang="de-DE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de-DE" altLang="zh-CN" sz="24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altLang="zh-CN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de-DE" altLang="zh-CN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de-DE" altLang="zh-CN" sz="24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altLang="zh-CN" sz="2400" i="1">
                                <a:latin typeface="Cambria Math" panose="02040503050406030204" pitchFamily="18" charset="0"/>
                              </a:rPr>
                              <m:t>𝜉</m:t>
                            </m:r>
                          </m:e>
                          <m:sub>
                            <m:r>
                              <a:rPr lang="de-DE" altLang="zh-CN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de-DE" altLang="zh-CN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altLang="zh-CN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de-DE" altLang="zh-CN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de-DE" altLang="zh-CN" sz="2400" i="1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de-DE" altLang="zh-CN" sz="2400" dirty="0"/>
                  <a:t> </a:t>
                </a:r>
                <a:r>
                  <a:rPr lang="zh-CN" altLang="en-US" sz="2400" dirty="0"/>
                  <a:t>，</a:t>
                </a:r>
                <a:r>
                  <a:rPr lang="de-DE" altLang="zh-CN" sz="2400" dirty="0"/>
                  <a:t>  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de-DE" altLang="zh-CN" sz="240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de-DE" altLang="zh-CN" sz="24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de-DE" altLang="zh-CN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e-DE" altLang="zh-CN" sz="2400" i="1">
                        <a:latin typeface="Cambria Math" panose="02040503050406030204" pitchFamily="18" charset="0"/>
                      </a:rPr>
                      <m:t>)]=</m:t>
                    </m:r>
                    <m:nary>
                      <m:naryPr>
                        <m:chr m:val="∑"/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e-DE" altLang="zh-CN" sz="24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de-DE" altLang="zh-CN" sz="2400" i="1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de-DE" altLang="zh-CN" sz="24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de-DE" altLang="zh-CN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func>
                          <m:func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altLang="zh-CN" sz="2400" i="1">
                                    <a:latin typeface="Cambria Math" panose="02040503050406030204" pitchFamily="18" charset="0"/>
                                  </a:rPr>
                                  <m:t>;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𝜉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fName>
                          <m:e>
                            <m:r>
                              <a:rPr lang="de-DE" altLang="zh-CN" sz="24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e>
                    </m:nary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de-DE" altLang="zh-CN" sz="2400" i="1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de-DE" altLang="zh-CN" sz="2400" dirty="0"/>
                  <a:t> </a:t>
                </a:r>
                <a:endParaRPr lang="zh-CN" altLang="zh-CN" sz="24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de-DE" altLang="zh-CN" sz="24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de-DE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DE" altLang="zh-CN" sz="2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de-DE" altLang="zh-CN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e-DE" altLang="zh-CN" sz="2400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de-DE" altLang="zh-CN" sz="240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de-DE" altLang="zh-CN" sz="24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de-DE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DE" altLang="zh-CN" sz="2400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de-DE" altLang="zh-CN" sz="24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de-DE" altLang="zh-CN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e-DE" altLang="zh-CN" sz="2400" i="1">
                        <a:latin typeface="Cambria Math" panose="02040503050406030204" pitchFamily="18" charset="0"/>
                      </a:rPr>
                      <m:t>)]=</m:t>
                    </m:r>
                    <m:nary>
                      <m:naryPr>
                        <m:chr m:val="∑"/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e-DE" altLang="zh-CN" sz="24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de-DE" altLang="zh-CN" sz="2400" i="1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de-DE" altLang="zh-CN" sz="24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de-DE" altLang="zh-CN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func>
                          <m:func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altLang="zh-CN" sz="2400" i="1">
                                    <a:latin typeface="Cambria Math" panose="02040503050406030204" pitchFamily="18" charset="0"/>
                                  </a:rPr>
                                  <m:t>;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𝜉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fName>
                          <m:e>
                            <m:r>
                              <a:rPr lang="de-DE" altLang="zh-CN" sz="24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  <m:r>
                          <a:rPr lang="de-DE" altLang="zh-CN" sz="2400" i="1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de-DE" altLang="zh-CN" sz="24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de-DE" altLang="zh-CN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func>
                          <m:func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altLang="zh-CN" sz="2400" i="1">
                                    <a:latin typeface="Cambria Math" panose="02040503050406030204" pitchFamily="18" charset="0"/>
                                  </a:rPr>
                                  <m:t>;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𝜉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fName>
                          <m:e>
                            <m:r>
                              <a:rPr lang="de-DE" altLang="zh-CN" sz="24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  <m:r>
                          <a:rPr lang="de-DE" altLang="zh-CN" sz="2400" i="1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de-DE" altLang="zh-CN" sz="2400" i="1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𝜉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de-DE" altLang="zh-CN" sz="2400" i="1"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nary>
                    <m:r>
                      <a:rPr lang="de-DE" altLang="zh-CN" sz="2400" i="1">
                        <a:latin typeface="Cambria Math" panose="02040503050406030204" pitchFamily="18" charset="0"/>
                      </a:rPr>
                      <m:t>=7</m:t>
                    </m:r>
                  </m:oMath>
                </a14:m>
                <a:r>
                  <a:rPr lang="de-DE" altLang="zh-CN" sz="2400" dirty="0"/>
                  <a:t> </a:t>
                </a:r>
                <a:endParaRPr lang="zh-CN" altLang="zh-CN" sz="2400" dirty="0"/>
              </a:p>
              <a:p>
                <a:pPr marL="0" indent="0">
                  <a:buNone/>
                </a:pPr>
                <a:endParaRPr lang="en-US" altLang="zh-CN" sz="2400" dirty="0"/>
              </a:p>
              <a:p>
                <a:pPr marL="0" indent="0">
                  <a:buNone/>
                </a:pPr>
                <a:endParaRPr lang="zh-CN" altLang="en-US" sz="2400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EC9567EB-24F8-4014-B66F-C1AA3897D7E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107504" y="260648"/>
                <a:ext cx="8870242" cy="4800600"/>
              </a:xfrm>
              <a:blipFill>
                <a:blip r:embed="rId3"/>
                <a:stretch>
                  <a:fillRect l="-1100" t="-1398" b="-283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70E2D08E-B5D5-4234-BE46-DD9EC5DC08E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56647811"/>
                  </p:ext>
                </p:extLst>
              </p:nvPr>
            </p:nvGraphicFramePr>
            <p:xfrm>
              <a:off x="2195736" y="1052736"/>
              <a:ext cx="4138850" cy="1257300"/>
            </p:xfrm>
            <a:graphic>
              <a:graphicData uri="http://schemas.openxmlformats.org/drawingml/2006/table">
                <a:tbl>
                  <a:tblPr firstRow="1" firstCol="1" lastRow="1" lastCol="1" bandRow="1" bandCol="1"/>
                  <a:tblGrid>
                    <a:gridCol w="827770">
                      <a:extLst>
                        <a:ext uri="{9D8B030D-6E8A-4147-A177-3AD203B41FA5}">
                          <a16:colId xmlns:a16="http://schemas.microsoft.com/office/drawing/2014/main" val="1182247158"/>
                        </a:ext>
                      </a:extLst>
                    </a:gridCol>
                    <a:gridCol w="827770">
                      <a:extLst>
                        <a:ext uri="{9D8B030D-6E8A-4147-A177-3AD203B41FA5}">
                          <a16:colId xmlns:a16="http://schemas.microsoft.com/office/drawing/2014/main" val="2348415669"/>
                        </a:ext>
                      </a:extLst>
                    </a:gridCol>
                    <a:gridCol w="827770">
                      <a:extLst>
                        <a:ext uri="{9D8B030D-6E8A-4147-A177-3AD203B41FA5}">
                          <a16:colId xmlns:a16="http://schemas.microsoft.com/office/drawing/2014/main" val="323944619"/>
                        </a:ext>
                      </a:extLst>
                    </a:gridCol>
                    <a:gridCol w="827770">
                      <a:extLst>
                        <a:ext uri="{9D8B030D-6E8A-4147-A177-3AD203B41FA5}">
                          <a16:colId xmlns:a16="http://schemas.microsoft.com/office/drawing/2014/main" val="2080540987"/>
                        </a:ext>
                      </a:extLst>
                    </a:gridCol>
                    <a:gridCol w="827770">
                      <a:extLst>
                        <a:ext uri="{9D8B030D-6E8A-4147-A177-3AD203B41FA5}">
                          <a16:colId xmlns:a16="http://schemas.microsoft.com/office/drawing/2014/main" val="190043144"/>
                        </a:ext>
                      </a:extLst>
                    </a:gridCol>
                  </a:tblGrid>
                  <a:tr h="40005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25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de-DE" sz="1800" kern="100" dirty="0"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 </a:t>
                          </a:r>
                          <a:endParaRPr lang="zh-CN" sz="1800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25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CN" sz="1800" i="1" kern="100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altLang="zh-CN" sz="1800" i="1" smtClean="0">
                                        <a:latin typeface="Cambria Math" panose="02040503050406030204" pitchFamily="18" charset="0"/>
                                      </a:rPr>
                                      <m:t>𝜉</m:t>
                                    </m:r>
                                  </m:e>
                                  <m:sub>
                                    <m:r>
                                      <a:rPr lang="de-DE" sz="1800" i="1" kern="10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sz="1800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25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altLang="zh-CN" sz="1800" i="1" smtClean="0">
                                        <a:latin typeface="Cambria Math" panose="02040503050406030204" pitchFamily="18" charset="0"/>
                                      </a:rPr>
                                      <m:t>𝜉</m:t>
                                    </m:r>
                                  </m:e>
                                  <m:sub>
                                    <m:r>
                                      <a:rPr lang="de-DE" sz="1800" i="1" kern="10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sz="1800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25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altLang="zh-CN" sz="1800" i="1" smtClean="0">
                                        <a:latin typeface="Cambria Math" panose="02040503050406030204" pitchFamily="18" charset="0"/>
                                      </a:rPr>
                                      <m:t>𝜉</m:t>
                                    </m:r>
                                  </m:e>
                                  <m:sub>
                                    <m:r>
                                      <a:rPr lang="de-DE" sz="1800" i="1" kern="10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sz="1800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25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altLang="zh-CN" sz="1800" i="1" smtClean="0">
                                        <a:latin typeface="Cambria Math" panose="02040503050406030204" pitchFamily="18" charset="0"/>
                                      </a:rPr>
                                      <m:t>𝜉</m:t>
                                    </m:r>
                                  </m:e>
                                  <m:sub>
                                    <m:r>
                                      <a:rPr lang="de-DE" sz="1800" i="1" kern="10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sz="1800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148564736"/>
                      </a:ext>
                    </a:extLst>
                  </a:tr>
                  <a:tr h="40005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25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1800" i="1" kern="100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𝑋</m:t>
                                </m:r>
                                <m:r>
                                  <a:rPr lang="de-DE" sz="1800" i="1" kern="100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800" i="1" kern="10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de-DE" sz="1800" i="1" kern="10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de-DE" sz="1800" i="1" kern="100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800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25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de-DE" sz="1800" kern="100"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CN" sz="180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25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de-DE" sz="1800" kern="100"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CN" sz="180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25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de-DE" sz="1800" kern="100" dirty="0"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zh-CN" sz="1800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25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de-DE" sz="1800" kern="100" dirty="0"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CN" sz="1800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992846965"/>
                      </a:ext>
                    </a:extLst>
                  </a:tr>
                  <a:tr h="40005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25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1800" i="1" kern="100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𝑋</m:t>
                                </m:r>
                                <m:r>
                                  <a:rPr lang="de-DE" sz="1800" i="1" kern="100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800" i="1" kern="10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de-DE" sz="1800" i="1" kern="10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de-DE" sz="1800" i="1" kern="100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80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25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de-DE" sz="1800" kern="100"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CN" sz="180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25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de-DE" sz="1800" kern="100" dirty="0"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CN" sz="1800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25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de-DE" sz="1800" kern="100"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CN" sz="180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25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de-DE" sz="1800" kern="100" dirty="0"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CN" sz="1800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174035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70E2D08E-B5D5-4234-BE46-DD9EC5DC08E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56647811"/>
                  </p:ext>
                </p:extLst>
              </p:nvPr>
            </p:nvGraphicFramePr>
            <p:xfrm>
              <a:off x="2195736" y="1052736"/>
              <a:ext cx="4138850" cy="1257300"/>
            </p:xfrm>
            <a:graphic>
              <a:graphicData uri="http://schemas.openxmlformats.org/drawingml/2006/table">
                <a:tbl>
                  <a:tblPr firstRow="1" firstCol="1" lastRow="1" lastCol="1" bandRow="1" bandCol="1"/>
                  <a:tblGrid>
                    <a:gridCol w="827770">
                      <a:extLst>
                        <a:ext uri="{9D8B030D-6E8A-4147-A177-3AD203B41FA5}">
                          <a16:colId xmlns:a16="http://schemas.microsoft.com/office/drawing/2014/main" val="1182247158"/>
                        </a:ext>
                      </a:extLst>
                    </a:gridCol>
                    <a:gridCol w="827770">
                      <a:extLst>
                        <a:ext uri="{9D8B030D-6E8A-4147-A177-3AD203B41FA5}">
                          <a16:colId xmlns:a16="http://schemas.microsoft.com/office/drawing/2014/main" val="2348415669"/>
                        </a:ext>
                      </a:extLst>
                    </a:gridCol>
                    <a:gridCol w="827770">
                      <a:extLst>
                        <a:ext uri="{9D8B030D-6E8A-4147-A177-3AD203B41FA5}">
                          <a16:colId xmlns:a16="http://schemas.microsoft.com/office/drawing/2014/main" val="323944619"/>
                        </a:ext>
                      </a:extLst>
                    </a:gridCol>
                    <a:gridCol w="827770">
                      <a:extLst>
                        <a:ext uri="{9D8B030D-6E8A-4147-A177-3AD203B41FA5}">
                          <a16:colId xmlns:a16="http://schemas.microsoft.com/office/drawing/2014/main" val="2080540987"/>
                        </a:ext>
                      </a:extLst>
                    </a:gridCol>
                    <a:gridCol w="827770">
                      <a:extLst>
                        <a:ext uri="{9D8B030D-6E8A-4147-A177-3AD203B41FA5}">
                          <a16:colId xmlns:a16="http://schemas.microsoft.com/office/drawing/2014/main" val="190043144"/>
                        </a:ext>
                      </a:extLst>
                    </a:gridCol>
                  </a:tblGrid>
                  <a:tr h="41910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25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de-DE" sz="1800" kern="100" dirty="0"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 </a:t>
                          </a:r>
                          <a:endParaRPr lang="zh-CN" sz="1800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735" t="-1449" r="-301471" b="-2086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735" t="-1449" r="-201471" b="-2086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00735" t="-1449" r="-101471" b="-2086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00735" t="-1449" r="-1471" b="-20869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8564736"/>
                      </a:ext>
                    </a:extLst>
                  </a:tr>
                  <a:tr h="4191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35" t="-101449" r="-401471" b="-1086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25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de-DE" sz="1800" kern="100"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CN" sz="180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25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de-DE" sz="1800" kern="100"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CN" sz="180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25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de-DE" sz="1800" kern="100" dirty="0"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zh-CN" sz="1800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25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de-DE" sz="1800" kern="100" dirty="0"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CN" sz="1800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992846965"/>
                      </a:ext>
                    </a:extLst>
                  </a:tr>
                  <a:tr h="4191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35" t="-201449" r="-401471" b="-86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25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de-DE" sz="1800" kern="100"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CN" sz="180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25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de-DE" sz="1800" kern="100" dirty="0"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CN" sz="1800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25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de-DE" sz="1800" kern="100"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CN" sz="180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25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de-DE" sz="1800" kern="100" dirty="0"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CN" sz="1800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174035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039195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136C593D-8ACF-4B38-9E62-696BB61C4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836712"/>
            <a:ext cx="7886700" cy="657209"/>
          </a:xfrm>
        </p:spPr>
        <p:txBody>
          <a:bodyPr/>
          <a:lstStyle/>
          <a:p>
            <a:r>
              <a:rPr lang="en-US" altLang="zh-CN" dirty="0"/>
              <a:t>2.2   </a:t>
            </a:r>
            <a:r>
              <a:rPr lang="zh-CN" altLang="zh-CN" dirty="0"/>
              <a:t>典型信号举例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15B4170A-A429-464B-9915-B70C8DF1523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61824" y="1608195"/>
                <a:ext cx="8420353" cy="4049655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US" altLang="zh-CN" sz="2400" dirty="0">
                    <a:solidFill>
                      <a:srgbClr val="FF0000"/>
                    </a:solidFill>
                  </a:rPr>
                  <a:t>2.2.1 </a:t>
                </a:r>
                <a:r>
                  <a:rPr lang="zh-CN" altLang="zh-CN" sz="2400" dirty="0">
                    <a:solidFill>
                      <a:srgbClr val="FF0000"/>
                    </a:solidFill>
                  </a:rPr>
                  <a:t>随机正弦信号</a:t>
                </a:r>
              </a:p>
              <a:p>
                <a:pPr marL="0" indent="0">
                  <a:buNone/>
                </a:pPr>
                <a:r>
                  <a:rPr lang="zh-CN" altLang="zh-CN" sz="2400" dirty="0"/>
                  <a:t>正弦信号的参数：振幅、角频率、相位，部分或全部为随机变量。</a:t>
                </a:r>
                <a:r>
                  <a:rPr lang="en-US" altLang="zh-CN" sz="2400" dirty="0"/>
                  <a:t> </a:t>
                </a:r>
                <a:endParaRPr lang="zh-CN" altLang="zh-CN" sz="2400" dirty="0"/>
              </a:p>
              <a:p>
                <a:pPr marL="0" indent="0">
                  <a:buNone/>
                </a:pPr>
                <a:r>
                  <a:rPr lang="x-none" altLang="zh-CN" sz="2400" dirty="0">
                    <a:solidFill>
                      <a:schemeClr val="accent2"/>
                    </a:solidFill>
                  </a:rPr>
                  <a:t>1. </a:t>
                </a:r>
                <a:r>
                  <a:rPr lang="zh-CN" altLang="zh-CN" sz="2400" dirty="0">
                    <a:solidFill>
                      <a:schemeClr val="accent2"/>
                    </a:solidFill>
                  </a:rPr>
                  <a:t>振幅、角频率为常数，相位是随机变量</a:t>
                </a:r>
                <a:r>
                  <a:rPr lang="x-none" altLang="zh-CN" sz="2400" dirty="0">
                    <a:solidFill>
                      <a:schemeClr val="accent2"/>
                    </a:solidFill>
                  </a:rPr>
                  <a:t> </a:t>
                </a:r>
                <a:endParaRPr lang="zh-CN" altLang="zh-CN" sz="2400" dirty="0">
                  <a:solidFill>
                    <a:schemeClr val="accent2"/>
                  </a:solidFill>
                </a:endParaRPr>
              </a:p>
              <a:p>
                <a:pPr marL="0" indent="0">
                  <a:buNone/>
                </a:pPr>
                <a:r>
                  <a:rPr lang="zh-CN" altLang="zh-CN" sz="2400" dirty="0"/>
                  <a:t>例：随机过程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𝑎</m:t>
                    </m:r>
                    <m:func>
                      <m:func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𝑐𝑜𝑠</m:t>
                        </m:r>
                      </m:fName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func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𝛩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sz="2400" dirty="0"/>
                  <a:t>，</a:t>
                </a:r>
                <a:r>
                  <a:rPr lang="en-US" altLang="zh-CN" sz="2400" dirty="0"/>
                  <a:t>   </a:t>
                </a:r>
                <a:r>
                  <a:rPr lang="en-US" altLang="zh-CN" sz="2400" i="1" dirty="0"/>
                  <a:t>a</a:t>
                </a:r>
                <a:r>
                  <a:rPr lang="zh-CN" altLang="zh-CN" sz="2400" i="1" dirty="0"/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zh-CN" sz="2400" dirty="0"/>
                  <a:t>常数，相位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𝛩</m:t>
                    </m:r>
                  </m:oMath>
                </a14:m>
                <a:r>
                  <a:rPr lang="zh-CN" altLang="zh-CN" sz="2400" dirty="0"/>
                  <a:t>在</a:t>
                </a:r>
                <a:r>
                  <a:rPr lang="en-US" altLang="zh-CN" sz="2400" dirty="0"/>
                  <a:t>(0</a:t>
                </a:r>
                <a:r>
                  <a:rPr lang="zh-CN" altLang="zh-CN" sz="2400" dirty="0"/>
                  <a:t>，</a:t>
                </a:r>
                <a:r>
                  <a:rPr lang="en-US" altLang="zh-CN" sz="2400" dirty="0"/>
                  <a:t>2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altLang="zh-CN" sz="2400" dirty="0"/>
                  <a:t>)</a:t>
                </a:r>
                <a:r>
                  <a:rPr lang="zh-CN" altLang="zh-CN" sz="2400" dirty="0"/>
                  <a:t>均匀分布，求</a:t>
                </a:r>
                <a:r>
                  <a:rPr lang="en-US" altLang="zh-CN" sz="2400" i="1" dirty="0"/>
                  <a:t>X</a:t>
                </a:r>
                <a:r>
                  <a:rPr lang="en-US" altLang="zh-CN" sz="2400" dirty="0"/>
                  <a:t>(</a:t>
                </a:r>
                <a:r>
                  <a:rPr lang="en-US" altLang="zh-CN" sz="2400" i="1" dirty="0"/>
                  <a:t>t</a:t>
                </a:r>
                <a:r>
                  <a:rPr lang="en-US" altLang="zh-CN" sz="2400" dirty="0"/>
                  <a:t>)</a:t>
                </a:r>
                <a:r>
                  <a:rPr lang="zh-CN" altLang="zh-CN" sz="2400" dirty="0"/>
                  <a:t>的均值、自相关。</a:t>
                </a:r>
              </a:p>
              <a:p>
                <a:pPr marL="0" indent="0">
                  <a:buNone/>
                </a:pPr>
                <a:r>
                  <a:rPr lang="zh-CN" altLang="zh-CN" sz="2400" dirty="0"/>
                  <a:t>解：</a:t>
                </a:r>
                <a:endParaRPr lang="en-US" altLang="zh-CN" sz="2400" dirty="0"/>
              </a:p>
              <a:p>
                <a:pPr marL="0" indent="0">
                  <a:buNone/>
                </a:pPr>
                <a:r>
                  <a:rPr lang="zh-CN" altLang="zh-CN" sz="2400" dirty="0"/>
                  <a:t>根据定义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)]=</m:t>
                    </m:r>
                    <m:nary>
                      <m:nary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−∞</m:t>
                        </m:r>
                      </m:sub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  <m:sSub>
                          <m:sSub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</m:e>
                    </m:nary>
                    <m:r>
                      <a:rPr lang="en-US" altLang="zh-CN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𝑥</m:t>
                    </m:r>
                    <m:func>
                      <m:func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;</m:t>
                        </m:r>
                      </m:fName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func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𝑑𝑥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zh-CN" altLang="zh-CN" sz="24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altLang="zh-CN" sz="24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de-DE" altLang="zh-CN" sz="24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de-DE" altLang="zh-CN" sz="24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altLang="zh-CN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de-DE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DE" altLang="zh-CN" sz="2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altLang="zh-CN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de-DE" altLang="zh-CN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e-DE" altLang="zh-CN" sz="2400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de-DE" altLang="zh-CN" sz="24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de-DE" altLang="zh-CN" sz="240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de-DE" altLang="zh-CN" sz="2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de-DE" altLang="zh-CN" sz="24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altLang="zh-CN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de-DE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DE" altLang="zh-CN" sz="2400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de-DE" altLang="zh-CN" sz="2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de-DE" altLang="zh-CN" sz="24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altLang="zh-CN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de-DE" altLang="zh-CN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e-DE" altLang="zh-CN" sz="2400" i="1">
                        <a:latin typeface="Cambria Math" panose="02040503050406030204" pitchFamily="18" charset="0"/>
                      </a:rPr>
                      <m:t>)]=</m:t>
                    </m:r>
                    <m:nary>
                      <m:nary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de-DE" altLang="zh-CN" sz="2400" i="1">
                            <a:latin typeface="Cambria Math" panose="02040503050406030204" pitchFamily="18" charset="0"/>
                          </a:rPr>
                          <m:t>−∞</m:t>
                        </m:r>
                      </m:sub>
                      <m:sup>
                        <m:r>
                          <a:rPr lang="de-DE" altLang="zh-CN" sz="2400" i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nary>
                          <m:nary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de-DE" altLang="zh-CN" sz="2400" i="1">
                                <a:latin typeface="Cambria Math" panose="02040503050406030204" pitchFamily="18" charset="0"/>
                              </a:rPr>
                              <m:t>−∞</m:t>
                            </m:r>
                          </m:sub>
                          <m:sup>
                            <m:r>
                              <a:rPr lang="de-DE" altLang="zh-CN" sz="2400" i="1">
                                <a:latin typeface="Cambria Math" panose="02040503050406030204" pitchFamily="18" charset="0"/>
                              </a:rPr>
                              <m:t>∞</m:t>
                            </m:r>
                          </m:sup>
                          <m:e>
                            <m:sSub>
                              <m:sSubPr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altLang="zh-CN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de-DE" altLang="zh-CN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altLang="zh-CN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de-DE" altLang="zh-CN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altLang="zh-CN" sz="2400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de-DE" altLang="zh-CN" sz="2400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sub>
                            </m:sSub>
                            <m:r>
                              <a:rPr lang="de-DE" altLang="zh-CN" sz="24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altLang="zh-CN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de-DE" altLang="zh-CN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de-DE" altLang="zh-CN" sz="2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altLang="zh-CN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de-DE" altLang="zh-CN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func>
                              <m:funcPr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zh-CN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altLang="zh-CN" sz="2400" i="1">
                                        <a:latin typeface="Cambria Math" panose="02040503050406030204" pitchFamily="18" charset="0"/>
                                      </a:rPr>
                                      <m:t>;</m:t>
                                    </m:r>
                                    <m:r>
                                      <a:rPr lang="de-DE" altLang="zh-CN" sz="24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de-DE" altLang="zh-CN" sz="2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fName>
                              <m:e>
                                <m:r>
                                  <a:rPr lang="de-DE" altLang="zh-CN" sz="24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</m:func>
                            <m:sSub>
                              <m:sSubPr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altLang="zh-CN" sz="24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de-DE" altLang="zh-CN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de-DE" altLang="zh-CN" sz="24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e>
                    </m:nary>
                    <m:r>
                      <a:rPr lang="de-DE" altLang="zh-CN" sz="2400" i="1">
                        <a:latin typeface="Cambria Math" panose="02040503050406030204" pitchFamily="18" charset="0"/>
                      </a:rPr>
                      <m:t>𝑑</m:t>
                    </m:r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e-DE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DE" altLang="zh-CN" sz="2400" i="1">
                        <a:latin typeface="Cambria Math" panose="02040503050406030204" pitchFamily="18" charset="0"/>
                      </a:rPr>
                      <m:t>𝑑</m:t>
                    </m:r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e-DE" altLang="zh-CN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DE" altLang="zh-CN" sz="2400" dirty="0"/>
                  <a:t> </a:t>
                </a:r>
                <a:endParaRPr lang="zh-CN" altLang="zh-CN" sz="2400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15B4170A-A429-464B-9915-B70C8DF152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1824" y="1608195"/>
                <a:ext cx="8420353" cy="4049655"/>
              </a:xfrm>
              <a:blipFill>
                <a:blip r:embed="rId3"/>
                <a:stretch>
                  <a:fillRect l="-941" t="-1506" r="-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7340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3168F632-D3C4-4373-B095-57047C23AD19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173181" y="1052736"/>
                <a:ext cx="8797637" cy="404666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zh-CN" altLang="zh-CN" sz="2400" dirty="0"/>
                  <a:t>另一角度：</a:t>
                </a:r>
                <a:r>
                  <a:rPr lang="en-US" altLang="zh-CN" sz="2400" i="1" dirty="0"/>
                  <a:t>X</a:t>
                </a:r>
                <a:r>
                  <a:rPr lang="en-US" altLang="zh-CN" sz="2400" dirty="0"/>
                  <a:t>(</a:t>
                </a:r>
                <a:r>
                  <a:rPr lang="en-US" altLang="zh-CN" sz="2400" i="1" dirty="0"/>
                  <a:t>t</a:t>
                </a:r>
                <a:r>
                  <a:rPr lang="en-US" altLang="zh-CN" sz="2400" dirty="0"/>
                  <a:t>)</a:t>
                </a:r>
                <a:r>
                  <a:rPr lang="zh-CN" altLang="zh-CN" sz="2400" dirty="0"/>
                  <a:t>为</a:t>
                </a:r>
                <a:r>
                  <a:rPr lang="zh-CN" altLang="en-US" sz="2400" dirty="0"/>
                  <a:t>随机</a:t>
                </a:r>
                <a:r>
                  <a:rPr lang="zh-CN" altLang="zh-CN" sz="2400" dirty="0"/>
                  <a:t>过程，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),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sz="2400" dirty="0"/>
                  <a:t>为随机变量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𝛩</m:t>
                    </m:r>
                  </m:oMath>
                </a14:m>
                <a:r>
                  <a:rPr lang="zh-CN" altLang="zh-CN" sz="2400" dirty="0"/>
                  <a:t>的函数，利用随机变量函数的数学期望，</a:t>
                </a:r>
                <a:endParaRPr lang="en-US" altLang="zh-CN" sz="2400" dirty="0"/>
              </a:p>
              <a:p>
                <a:pPr marL="0" indent="0">
                  <a:buNone/>
                </a:pPr>
                <a:r>
                  <a:rPr lang="zh-CN" altLang="zh-CN" sz="2400" dirty="0"/>
                  <a:t>有：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  <m:func>
                            <m:func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𝑐𝑜𝑠</m:t>
                              </m:r>
                            </m:fName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</m:e>
                          </m:func>
                          <m:sSub>
                            <m:sSub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𝛩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)⋅</m:t>
                          </m:r>
                          <m:sSub>
                            <m:sSub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𝛩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sup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func>
                                <m:funcPr>
                                  <m:ctrlPr>
                                    <a:rPr lang="zh-CN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𝑐𝑜𝑠</m:t>
                                  </m:r>
                                </m:fName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</m:e>
                              </m:func>
                              <m:sSub>
                                <m:sSubPr>
                                  <m:ctrlPr>
                                    <a:rPr lang="zh-CN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f>
                                <m:fPr>
                                  <m:ctrlPr>
                                    <a:rPr lang="zh-CN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den>
                              </m:f>
                            </m:e>
                          </m:nary>
                        </m:e>
                      </m:nary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zh-CN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n-US" altLang="zh-CN" sz="2400" b="1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)]=</m:t>
                    </m:r>
                    <m:sSup>
                      <m:sSup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[</m:t>
                    </m:r>
                    <m:func>
                      <m:func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𝑐𝑜𝑠</m:t>
                        </m:r>
                      </m:fName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func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𝛩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</m:t>
                    </m:r>
                    <m:func>
                      <m:func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𝑐𝑜𝑠</m:t>
                        </m:r>
                      </m:fName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func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𝛩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)]</m:t>
                    </m:r>
                  </m:oMath>
                </a14:m>
                <a:br>
                  <a:rPr lang="en-US" altLang="zh-CN" sz="2400" i="1" dirty="0"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[</m:t>
                      </m:r>
                      <m:func>
                        <m:func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𝑐𝑜𝑠</m:t>
                          </m:r>
                        </m:fName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sSub>
                        <m:sSub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𝛩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)+</m:t>
                      </m:r>
                      <m:func>
                        <m:func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𝑐𝑜𝑠</m:t>
                          </m:r>
                        </m:fName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sSub>
                        <m:sSub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)]</m:t>
                      </m:r>
                    </m:oMath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[</m:t>
                      </m:r>
                      <m:func>
                        <m:func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𝑐𝑜𝑠</m:t>
                          </m:r>
                        </m:fName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sSub>
                        <m:sSub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)]=</m:t>
                      </m:r>
                      <m:f>
                        <m:f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func>
                        <m:func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𝑐𝑜𝑠</m:t>
                          </m:r>
                        </m:fName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sSub>
                        <m:sSub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zh-CN" sz="2400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3168F632-D3C4-4373-B095-57047C23AD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173181" y="1052736"/>
                <a:ext cx="8797637" cy="4046660"/>
              </a:xfrm>
              <a:blipFill>
                <a:blip r:embed="rId2"/>
                <a:stretch>
                  <a:fillRect l="-1039" t="-1657" b="-129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6143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145DEA50-E102-4549-BE68-0F3550E7D16B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370609" y="188640"/>
                <a:ext cx="8402782" cy="4814455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x-none" altLang="zh-CN" sz="2400" dirty="0">
                    <a:solidFill>
                      <a:schemeClr val="accent2"/>
                    </a:solidFill>
                  </a:rPr>
                  <a:t>2. </a:t>
                </a:r>
                <a:r>
                  <a:rPr lang="zh-CN" altLang="zh-CN" sz="2400" dirty="0">
                    <a:solidFill>
                      <a:schemeClr val="accent2"/>
                    </a:solidFill>
                  </a:rPr>
                  <a:t>振幅、相位随机变量，角频率常数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𝐴</m:t>
                    </m:r>
                    <m:func>
                      <m:func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𝑐𝑜𝑠</m:t>
                        </m:r>
                      </m:fName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func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𝛩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400" dirty="0"/>
                  <a:t> </a:t>
                </a:r>
                <a:r>
                  <a:rPr lang="zh-CN" altLang="zh-CN" sz="2400" dirty="0"/>
                  <a:t>， </a:t>
                </a:r>
                <a:r>
                  <a:rPr lang="en-US" altLang="zh-CN" sz="2400" i="1" dirty="0"/>
                  <a:t>A</a:t>
                </a:r>
                <a:r>
                  <a:rPr lang="zh-CN" altLang="zh-CN" sz="2400" dirty="0"/>
                  <a:t>服从参数为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400" dirty="0"/>
                  <a:t> </a:t>
                </a:r>
                <a:r>
                  <a:rPr lang="zh-CN" altLang="zh-CN" sz="2400" dirty="0"/>
                  <a:t>的瑞利分布，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𝛩</m:t>
                    </m:r>
                  </m:oMath>
                </a14:m>
                <a:r>
                  <a:rPr lang="zh-CN" altLang="zh-CN" sz="2400" dirty="0"/>
                  <a:t>在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0,2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</m:oMath>
                </a14:m>
                <a:r>
                  <a:rPr lang="en-US" altLang="zh-CN" sz="2400" dirty="0"/>
                  <a:t> </a:t>
                </a:r>
                <a:r>
                  <a:rPr lang="zh-CN" altLang="zh-CN" sz="2400" dirty="0"/>
                  <a:t>均匀分布，且二者统计独立。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2400" dirty="0"/>
                  <a:t>1</a:t>
                </a:r>
                <a:r>
                  <a:rPr lang="zh-CN" altLang="zh-CN" sz="2400" dirty="0"/>
                  <a:t>）均值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𝐴</m:t>
                        </m:r>
                        <m:func>
                          <m:func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𝑐𝑜𝑠</m:t>
                            </m:r>
                          </m:fName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</m:e>
                        </m:func>
                        <m:sSub>
                          <m:sSub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𝛩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]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𝑐𝑜𝑠</m:t>
                            </m:r>
                          </m:fName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</m:e>
                        </m:func>
                        <m:sSub>
                          <m:sSub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𝛩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zh-CN" sz="2400" dirty="0"/>
                  <a:t>  </a:t>
                </a:r>
                <a:endParaRPr lang="zh-CN" altLang="zh-CN" sz="24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2400" dirty="0"/>
                  <a:t>2</a:t>
                </a:r>
                <a:r>
                  <a:rPr lang="zh-CN" altLang="zh-CN" sz="2400" dirty="0"/>
                  <a:t>）自相关函数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func>
                            <m:func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𝑐𝑜𝑠</m:t>
                              </m:r>
                            </m:fName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</m:e>
                          </m:func>
                          <m:sSub>
                            <m:sSub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𝛩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)</m:t>
                          </m:r>
                          <m:func>
                            <m:func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𝑐𝑜𝑠</m:t>
                              </m:r>
                            </m:fName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</m:e>
                          </m:func>
                          <m:sSub>
                            <m:sSub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𝛩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𝑐𝑜𝑠</m:t>
                              </m:r>
                            </m:fName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</m:e>
                          </m:func>
                          <m:sSub>
                            <m:sSub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𝛩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)</m:t>
                          </m:r>
                          <m:func>
                            <m:func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𝑐𝑜𝑠</m:t>
                              </m:r>
                            </m:fName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</m:e>
                          </m:func>
                          <m:sSub>
                            <m:sSub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𝛩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func>
                        <m:func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𝑐𝑜𝑠</m:t>
                          </m:r>
                        </m:fName>
                        <m:e>
                          <m:d>
                            <m:d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zh-CN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zh-CN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</m:func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⋅2</m:t>
                      </m:r>
                      <m:sSup>
                        <m:sSup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func>
                        <m:func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𝑐𝑜𝑠</m:t>
                          </m:r>
                        </m:fName>
                        <m:e>
                          <m:d>
                            <m:d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zh-CN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zh-CN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zh-CN" altLang="zh-CN" sz="2400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145DEA50-E102-4549-BE68-0F3550E7D1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370609" y="188640"/>
                <a:ext cx="8402782" cy="4814455"/>
              </a:xfrm>
              <a:blipFill>
                <a:blip r:embed="rId3"/>
                <a:stretch>
                  <a:fillRect l="-1161" t="-1392" b="-279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98268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F048DE85-3ACD-4F3B-BD21-946E8C5A8786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224028" y="1003554"/>
                <a:ext cx="8795281" cy="4695444"/>
              </a:xfrm>
              <a:solidFill>
                <a:schemeClr val="bg1"/>
              </a:solidFill>
            </p:spPr>
            <p:txBody>
              <a:bodyPr>
                <a:normAutofit fontScale="55000" lnSpcReduction="20000"/>
              </a:bodyPr>
              <a:lstStyle/>
              <a:p>
                <a:pPr marL="0" indent="0">
                  <a:buNone/>
                </a:pPr>
                <a:r>
                  <a:rPr lang="en-US" altLang="zh-CN" sz="3800" dirty="0"/>
                  <a:t>3</a:t>
                </a:r>
                <a:r>
                  <a:rPr lang="zh-CN" altLang="zh-CN" sz="3800" dirty="0"/>
                  <a:t>）一维概率密度函数</a:t>
                </a:r>
                <a:endParaRPr lang="en-US" altLang="zh-CN" sz="38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800" dirty="0"/>
                  <a:t>思路：</a:t>
                </a:r>
                <a:endParaRPr lang="en-US" altLang="zh-CN" sz="38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800" dirty="0"/>
                  <a:t>已知振幅和相位的联合概率密度函数，构造了另外两个随机变量，一一对应，计算联合概率密度函数，再计算边缘概率密度函数。</a:t>
                </a:r>
                <a:endParaRPr lang="zh-CN" altLang="zh-CN" sz="3800" dirty="0"/>
              </a:p>
              <a:p>
                <a:pPr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3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8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38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sz="3800" i="1">
                            <a:latin typeface="Cambria Math" panose="02040503050406030204" pitchFamily="18" charset="0"/>
                          </a:rPr>
                          <m:t>𝛩</m:t>
                        </m:r>
                      </m:sub>
                    </m:sSub>
                    <m:r>
                      <a:rPr lang="en-US" altLang="zh-CN" sz="3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38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38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3800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zh-CN" sz="3800" i="1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zh-CN" altLang="zh-CN" sz="3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800" i="1"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US" altLang="zh-CN" sz="38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3800" i="1">
                            <a:latin typeface="Cambria Math" panose="02040503050406030204" pitchFamily="18" charset="0"/>
                          </a:rPr>
                          <m:t>𝜋</m:t>
                        </m:r>
                        <m:sSup>
                          <m:sSupPr>
                            <m:ctrlPr>
                              <a:rPr lang="zh-CN" altLang="zh-CN" sz="3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8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zh-CN" sz="3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sSup>
                      <m:sSupPr>
                        <m:ctrlPr>
                          <a:rPr lang="zh-CN" altLang="zh-CN" sz="3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8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3800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zh-CN" altLang="zh-CN" sz="3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zh-CN" altLang="zh-CN" sz="3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8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US" altLang="zh-CN" sz="3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3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sSupPr>
                                <m:ctrlPr>
                                  <a:rPr lang="zh-CN" altLang="zh-CN" sz="3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800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zh-CN" sz="3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sup>
                    </m:sSup>
                    <m:r>
                      <a:rPr lang="en-US" altLang="zh-CN" sz="38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38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3800" i="1">
                        <a:latin typeface="Cambria Math" panose="02040503050406030204" pitchFamily="18" charset="0"/>
                      </a:rPr>
                      <m:t>≥0</m:t>
                    </m:r>
                    <m:r>
                      <a:rPr lang="zh-CN" altLang="en-US" sz="3800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3800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zh-CN" altLang="en-US" sz="380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sz="3800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zh-CN" sz="3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3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</m:t>
                    </m:r>
                    <m:r>
                      <a:rPr lang="zh-CN" altLang="en-US" sz="3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𝝅</m:t>
                    </m:r>
                  </m:oMath>
                </a14:m>
                <a:endParaRPr lang="zh-CN" altLang="zh-CN" sz="3800" dirty="0"/>
              </a:p>
              <a:p>
                <a:pPr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zh-CN" altLang="zh-CN" sz="3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zh-CN" altLang="zh-CN" sz="38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sz="38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zh-CN" sz="38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3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3800" i="1">
                                <a:latin typeface="Cambria Math" panose="02040503050406030204" pitchFamily="18" charset="0"/>
                              </a:rPr>
                              <m:t>)=</m:t>
                            </m:r>
                            <m:r>
                              <a:rPr lang="en-US" altLang="zh-CN" sz="38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func>
                              <m:funcPr>
                                <m:ctrlPr>
                                  <a:rPr lang="zh-CN" altLang="zh-CN" sz="3800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a:rPr lang="en-US" altLang="zh-CN" sz="3800" i="1">
                                    <a:latin typeface="Cambria Math" panose="02040503050406030204" pitchFamily="18" charset="0"/>
                                  </a:rPr>
                                  <m:t>𝑐𝑜𝑠</m:t>
                                </m:r>
                              </m:fName>
                              <m:e>
                                <m:r>
                                  <a:rPr lang="en-US" altLang="zh-CN" sz="38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</m:e>
                            </m:func>
                            <m:sSub>
                              <m:sSubPr>
                                <m:ctrlPr>
                                  <a:rPr lang="zh-CN" altLang="zh-CN" sz="3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800" i="1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altLang="zh-CN" sz="38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altLang="zh-CN" sz="3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38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3800" i="1">
                                <a:latin typeface="Cambria Math" panose="02040503050406030204" pitchFamily="18" charset="0"/>
                              </a:rPr>
                              <m:t>𝛩</m:t>
                            </m:r>
                            <m:r>
                              <a:rPr lang="en-US" altLang="zh-CN" sz="38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e>
                            <m:r>
                              <a:rPr lang="en-US" altLang="zh-CN" sz="3800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altLang="zh-CN" sz="38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3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3800" i="1">
                                <a:latin typeface="Cambria Math" panose="02040503050406030204" pitchFamily="18" charset="0"/>
                              </a:rPr>
                              <m:t>)=</m:t>
                            </m:r>
                            <m:r>
                              <a:rPr lang="en-US" altLang="zh-CN" sz="38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func>
                              <m:funcPr>
                                <m:ctrlPr>
                                  <a:rPr lang="zh-CN" altLang="zh-CN" sz="3800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a:rPr lang="en-US" altLang="zh-CN" sz="3800" i="1">
                                    <a:latin typeface="Cambria Math" panose="02040503050406030204" pitchFamily="18" charset="0"/>
                                  </a:rPr>
                                  <m:t>𝑠𝑖𝑛</m:t>
                                </m:r>
                              </m:fName>
                              <m:e>
                                <m:r>
                                  <a:rPr lang="en-US" altLang="zh-CN" sz="38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</m:e>
                            </m:func>
                            <m:sSub>
                              <m:sSubPr>
                                <m:ctrlPr>
                                  <a:rPr lang="zh-CN" altLang="zh-CN" sz="3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800" i="1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altLang="zh-CN" sz="38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altLang="zh-CN" sz="3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38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3800" i="1">
                                <a:latin typeface="Cambria Math" panose="02040503050406030204" pitchFamily="18" charset="0"/>
                              </a:rPr>
                              <m:t>𝛩</m:t>
                            </m:r>
                            <m:r>
                              <a:rPr lang="en-US" altLang="zh-CN" sz="38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eqArr>
                      </m:e>
                    </m:d>
                  </m:oMath>
                </a14:m>
                <a:r>
                  <a:rPr lang="zh-CN" altLang="zh-CN" sz="3800" dirty="0"/>
                  <a:t>，  </a:t>
                </a:r>
                <a:endParaRPr lang="en-US" altLang="zh-CN" sz="3800" dirty="0"/>
              </a:p>
              <a:p>
                <a:pPr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3800" dirty="0"/>
                  <a:t>可得：给定</a:t>
                </a:r>
                <a14:m>
                  <m:oMath xmlns:m="http://schemas.openxmlformats.org/officeDocument/2006/math">
                    <m:r>
                      <a:rPr lang="en-US" altLang="zh-CN" sz="38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3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3800" dirty="0"/>
                  <a:t>，</a:t>
                </a:r>
                <a:r>
                  <a:rPr lang="en-US" altLang="zh-CN" sz="3800" dirty="0"/>
                  <a:t> </a:t>
                </a:r>
                <a14:m>
                  <m:oMath xmlns:m="http://schemas.openxmlformats.org/officeDocument/2006/math">
                    <m:r>
                      <a:rPr lang="en-US" altLang="zh-CN" sz="38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3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38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3800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sz="3800" i="1">
                        <a:latin typeface="Cambria Math" panose="02040503050406030204" pitchFamily="18" charset="0"/>
                      </a:rPr>
                      <m:t>和</m:t>
                    </m:r>
                    <m:r>
                      <a:rPr lang="en-US" altLang="zh-CN" sz="3800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sz="3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38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3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sz="3800" dirty="0"/>
                  <a:t>统计独立，服从</a:t>
                </a:r>
                <a:r>
                  <a:rPr lang="zh-CN" altLang="en-US" sz="3800" dirty="0"/>
                  <a:t>均值为</a:t>
                </a:r>
                <a:r>
                  <a:rPr lang="en-US" altLang="zh-CN" sz="3800" dirty="0"/>
                  <a:t>0</a:t>
                </a:r>
                <a:r>
                  <a:rPr lang="zh-CN" altLang="en-US" sz="3800" dirty="0"/>
                  <a:t>，方差</a:t>
                </a:r>
                <a:r>
                  <a:rPr lang="zh-CN" altLang="zh-CN" sz="3800" dirty="0"/>
                  <a:t>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3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8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CN" sz="38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zh-CN" sz="3800" dirty="0"/>
                  <a:t>的高斯分布。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zh-CN" altLang="zh-CN" sz="1800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F048DE85-3ACD-4F3B-BD21-946E8C5A87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224028" y="1003554"/>
                <a:ext cx="8795281" cy="4695444"/>
              </a:xfrm>
              <a:blipFill>
                <a:blip r:embed="rId2"/>
                <a:stretch>
                  <a:fillRect l="-832" t="-2727" r="-4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79428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F048DE85-3ACD-4F3B-BD21-946E8C5A8786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224028" y="1003554"/>
                <a:ext cx="8723376" cy="4695444"/>
              </a:xfrm>
              <a:solidFill>
                <a:schemeClr val="bg1"/>
              </a:solidFill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US" altLang="zh-CN" sz="2400" dirty="0"/>
                  <a:t>4</a:t>
                </a:r>
                <a:r>
                  <a:rPr lang="zh-CN" altLang="zh-CN" sz="2400" dirty="0"/>
                  <a:t>）二维概率密度函数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 </a:t>
                </a:r>
                <a:r>
                  <a:rPr lang="zh-CN" altLang="en-US" sz="2400" dirty="0"/>
                  <a:t>两随机</a:t>
                </a:r>
                <a14:m>
                  <m:oMath xmlns:m="http://schemas.openxmlformats.org/officeDocument/2006/math">
                    <m:r>
                      <a:rPr lang="zh-CN" altLang="en-US" sz="2400" i="1" dirty="0">
                        <a:latin typeface="Cambria Math" panose="02040503050406030204" pitchFamily="18" charset="0"/>
                      </a:rPr>
                      <m:t>变量</m:t>
                    </m:r>
                    <m:r>
                      <a:rPr lang="zh-CN" altLang="en-US" sz="2400" i="1" dirty="0" smtClean="0">
                        <a:latin typeface="Cambria Math" panose="02040503050406030204" pitchFamily="18" charset="0"/>
                      </a:rPr>
                      <m:t>：</m:t>
                    </m:r>
                    <m:d>
                      <m:dPr>
                        <m:begChr m:val="{"/>
                        <m:endChr m:val=""/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)=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func>
                              <m:funcPr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𝑐𝑜𝑠</m:t>
                                </m:r>
                              </m:fName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</m:e>
                            </m:func>
                            <m:sSub>
                              <m:sSubPr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𝛩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e>
                            <m:sSub>
                              <m:sSubPr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)=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func>
                              <m:funcPr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𝑐𝑜𝑠</m:t>
                                </m:r>
                              </m:fName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</m:e>
                            </m:func>
                            <m:sSub>
                              <m:sSubPr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𝛩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eqArr>
                      </m:e>
                    </m:d>
                  </m:oMath>
                </a14:m>
                <a:r>
                  <a:rPr lang="zh-CN" altLang="zh-CN" sz="2400" dirty="0"/>
                  <a:t>，</a:t>
                </a:r>
                <a:endParaRPr lang="en-US" altLang="zh-CN" sz="2400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 </a:t>
                </a:r>
                <a:r>
                  <a:rPr lang="zh-CN" altLang="zh-CN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b="0" i="1">
                            <a:latin typeface="Cambria Math" panose="02040503050406030204" pitchFamily="18" charset="0"/>
                          </a:rPr>
                          <m:t>已知振幅和相位的联合</m:t>
                        </m:r>
                        <m:r>
                          <a:rPr lang="en-US" altLang="zh-CN" sz="2400" b="0" i="1">
                            <a:latin typeface="Cambria Math" panose="02040503050406030204" pitchFamily="18" charset="0"/>
                          </a:rPr>
                          <m:t>𝑃𝐷𝐹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：</m:t>
                        </m:r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𝛩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𝜋</m:t>
                        </m:r>
                        <m:sSup>
                          <m:sSup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sSup>
                      <m:sSup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sSupPr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endParaRPr lang="zh-CN" altLang="zh-CN" sz="2400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  </a:t>
                </a:r>
                <a:r>
                  <a:rPr lang="zh-CN" altLang="en-US" sz="2400" b="0" dirty="0"/>
                  <a:t>函数</a:t>
                </a:r>
                <a14:m>
                  <m:oMath xmlns:m="http://schemas.openxmlformats.org/officeDocument/2006/math">
                    <m:r>
                      <a:rPr lang="zh-CN" altLang="en-US" sz="2400" b="0" i="1" dirty="0">
                        <a:latin typeface="Cambria Math" panose="02040503050406030204" pitchFamily="18" charset="0"/>
                      </a:rPr>
                      <m:t>关系</m:t>
                    </m:r>
                    <m:r>
                      <a:rPr lang="zh-CN" altLang="en-US" sz="2400" i="1" dirty="0" smtClean="0">
                        <a:latin typeface="Cambria Math" panose="02040503050406030204" pitchFamily="18" charset="0"/>
                      </a:rPr>
                      <m:t>：</m:t>
                    </m:r>
                    <m:d>
                      <m:dPr>
                        <m:begChr m:val="{"/>
                        <m:endChr m:val=""/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)=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func>
                              <m:funcPr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𝑐𝑜𝑠</m:t>
                                </m:r>
                              </m:fName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</m:e>
                            </m:func>
                            <m:sSub>
                              <m:sSubPr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e>
                            <m:sSub>
                              <m:sSubPr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)=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func>
                              <m:funcPr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𝑐𝑜𝑠</m:t>
                                </m:r>
                              </m:fName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</m:e>
                            </m:func>
                            <m:sSub>
                              <m:sSubPr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altLang="zh-CN" sz="2400" dirty="0"/>
                  <a:t>  </a:t>
                </a:r>
                <a:r>
                  <a:rPr lang="zh-CN" altLang="en-US" sz="2400" dirty="0"/>
                  <a:t>，</a:t>
                </a:r>
                <a:endParaRPr lang="en-US" altLang="zh-CN" sz="2400" dirty="0"/>
              </a:p>
              <a:p>
                <a:pPr marL="0" indent="0">
                  <a:buNone/>
                </a:pPr>
                <a:endParaRPr lang="en-US" altLang="zh-CN" sz="2400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 </a:t>
                </a:r>
                <a:r>
                  <a:rPr lang="zh-CN" altLang="en-US" sz="2400" b="0" dirty="0"/>
                  <a:t>计算可得：二维正态分布</a:t>
                </a:r>
                <a:endParaRPr lang="en-US" altLang="zh-CN" sz="2400" b="0" dirty="0"/>
              </a:p>
              <a:p>
                <a:pPr marL="0" indent="0">
                  <a:buNone/>
                </a:pPr>
                <a:r>
                  <a:rPr lang="en-US" altLang="zh-CN" sz="2400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>
                            <a:latin typeface="Cambria Math" panose="02040503050406030204" pitchFamily="18" charset="0"/>
                          </a:rPr>
                          <m:t>       </m:t>
                        </m:r>
                        <m:r>
                          <a:rPr lang="en-US" altLang="zh-CN" sz="2400" b="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1">
                            <a:latin typeface="Cambria Math" panose="02040503050406030204" pitchFamily="18" charset="0"/>
                          </a:rPr>
                          <m:t>X</m:t>
                        </m:r>
                      </m:sub>
                    </m:sSub>
                    <m:d>
                      <m:dPr>
                        <m:ctrlPr>
                          <a:rPr lang="en-US" altLang="zh-CN" sz="24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400" b="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 b="0" i="1">
                            <a:latin typeface="Cambria Math" panose="02040503050406030204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400" b="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sz="2400" b="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sz="2400" b="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sz="2400" b="0" i="1">
                            <a:latin typeface="Cambria Math" panose="02040503050406030204" pitchFamily="18" charset="0"/>
                          </a:rPr>
                          <m:t>𝜋</m:t>
                        </m:r>
                        <m:sSup>
                          <m:sSupPr>
                            <m:ctrlPr>
                              <a:rPr lang="zh-CN" altLang="zh-CN" sz="2400" b="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begChr m:val="|"/>
                            <m:endChr m:val="|"/>
                            <m:ctrlP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  <m:t>𝑐𝑜𝑠</m:t>
                            </m:r>
                            <m:sSub>
                              <m:sSubPr>
                                <m:ctrlPr>
                                  <a:rPr lang="en-US" altLang="zh-CN" sz="2400" b="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400" b="0" i="1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altLang="zh-CN" sz="2400" b="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sz="2400" b="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2400" b="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zh-CN" sz="2400" b="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2400" b="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zh-CN" sz="2400" b="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den>
                    </m:f>
                    <m:r>
                      <a:rPr lang="en-US" altLang="zh-CN" sz="2400" b="0" i="1">
                        <a:latin typeface="Cambria Math" panose="02040503050406030204" pitchFamily="18" charset="0"/>
                      </a:rPr>
                      <m:t>𝑒𝑥𝑝</m:t>
                    </m:r>
                    <m:d>
                      <m:dPr>
                        <m:ctrlPr>
                          <a:rPr lang="en-US" altLang="zh-CN" sz="24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Sup>
                              <m:sSubSupPr>
                                <m:ctrlPr>
                                  <a:rPr lang="en-US" altLang="zh-CN" sz="2400" b="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2400" b="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400" b="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zh-CN" sz="2400" b="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en-US" altLang="zh-CN" sz="2400" b="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2400" b="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400" b="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altLang="zh-CN" sz="2400" b="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  <m:t>−2</m:t>
                            </m:r>
                            <m:sSub>
                              <m:sSubPr>
                                <m:ctrlPr>
                                  <a:rPr lang="en-US" altLang="zh-CN" sz="2400" b="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400" b="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sz="2400" b="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400" b="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  <m:t>𝑐𝑜𝑠</m:t>
                            </m:r>
                            <m:sSub>
                              <m:sSubPr>
                                <m:ctrlPr>
                                  <a:rPr lang="en-US" altLang="zh-CN" sz="2400" b="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400" b="0" i="1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altLang="zh-CN" sz="2400" b="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zh-CN" sz="2400" b="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zh-CN" sz="2400" b="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2400" b="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zh-CN" sz="2400" b="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sSupPr>
                                <m:ctrlPr>
                                  <a:rPr lang="zh-CN" altLang="zh-CN" sz="2400" b="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0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zh-CN" sz="2400" b="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altLang="zh-CN" sz="2400" b="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0" i="1">
                                    <a:latin typeface="Cambria Math" panose="02040503050406030204" pitchFamily="18" charset="0"/>
                                  </a:rPr>
                                  <m:t>𝑠𝑖𝑛</m:t>
                                </m:r>
                              </m:e>
                              <m:sup>
                                <m:r>
                                  <a:rPr lang="en-US" altLang="zh-CN" sz="2400" b="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n-US" altLang="zh-CN" sz="2400" b="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400" b="0" i="1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altLang="zh-CN" sz="2400" b="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CN" sz="2400" b="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sz="24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zh-CN" sz="2400" b="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sz="2400" b="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24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zh-CN" sz="2400" b="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</m:den>
                        </m:f>
                      </m:e>
                    </m:d>
                  </m:oMath>
                </a14:m>
                <a:endParaRPr lang="zh-CN" altLang="zh-CN" sz="2400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F048DE85-3ACD-4F3B-BD21-946E8C5A87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224028" y="1003554"/>
                <a:ext cx="8723376" cy="4695444"/>
              </a:xfrm>
              <a:blipFill>
                <a:blip r:embed="rId3"/>
                <a:stretch>
                  <a:fillRect l="-908" t="-12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2344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8686EDE7-E9C6-4FE1-9D55-2CBF15DA6827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467544" y="1194955"/>
                <a:ext cx="8435279" cy="39622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zh-CN" sz="2400" dirty="0">
                    <a:solidFill>
                      <a:schemeClr val="accent2"/>
                    </a:solidFill>
                  </a:rPr>
                  <a:t>2.2.2 </a:t>
                </a:r>
                <a:r>
                  <a:rPr lang="zh-CN" altLang="zh-CN" sz="2400" dirty="0">
                    <a:solidFill>
                      <a:schemeClr val="accent2"/>
                    </a:solidFill>
                  </a:rPr>
                  <a:t>贝努利随机序列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=1,2,...</m:t>
                        </m:r>
                      </m:e>
                    </m:d>
                  </m:oMath>
                </a14:m>
                <a:r>
                  <a:rPr lang="zh-CN" altLang="zh-CN" sz="2400" dirty="0"/>
                  <a:t>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sz="2400" dirty="0"/>
                  <a:t> </a:t>
                </a:r>
                <a:r>
                  <a:rPr lang="zh-CN" altLang="zh-CN" sz="2400" dirty="0"/>
                  <a:t>统计独立的</a:t>
                </a:r>
                <a:r>
                  <a:rPr lang="en-US" altLang="zh-CN" sz="2400" dirty="0"/>
                  <a:t>0-1</a:t>
                </a:r>
                <a:r>
                  <a:rPr lang="zh-CN" altLang="zh-CN" sz="2400" dirty="0"/>
                  <a:t>分布的随机变量，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nor/>
                      </m:rPr>
                      <a:rPr lang="en-US" altLang="zh-CN" sz="2400"/>
                      <m:t>~ 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CN" sz="2400">
                        <a:latin typeface="Cambria Math" panose="02040503050406030204" pitchFamily="18" charset="0"/>
                      </a:rPr>
                      <m:t>(1,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24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/>
                  <a:t>。</a:t>
                </a:r>
                <a:endParaRPr lang="zh-CN" altLang="zh-CN" sz="24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2400" dirty="0"/>
                  <a:t>1. </a:t>
                </a:r>
                <a:r>
                  <a:rPr lang="zh-CN" altLang="zh-CN" sz="2400" dirty="0"/>
                  <a:t>均值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2400" dirty="0"/>
                  <a:t>      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zh-CN" altLang="zh-CN" sz="24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2400" dirty="0"/>
                  <a:t>2. </a:t>
                </a:r>
                <a:r>
                  <a:rPr lang="zh-CN" altLang="zh-CN" sz="2400" dirty="0"/>
                  <a:t>自相关函数</a:t>
                </a:r>
                <a:endParaRPr lang="en-US" altLang="zh-CN" sz="24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2400" dirty="0"/>
                  <a:t>  </a:t>
                </a:r>
                <a14:m>
                  <m:oMath xmlns:m="http://schemas.openxmlformats.org/officeDocument/2006/math">
                    <m:r>
                      <a:rPr lang="en-US" altLang="zh-CN" sz="240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sSub>
                              <m:sSubPr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b>
                        </m:sSub>
                        <m:sSub>
                          <m:sSub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sSub>
                              <m:sSubPr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b>
                        </m:sSub>
                      </m:e>
                    </m:d>
                    <m:r>
                      <a:rPr lang="en-US" altLang="zh-CN" sz="240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zh-CN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zh-CN" altLang="zh-CN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sub>
                                </m:sSub>
                              </m:e>
                            </m:d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zh-CN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zh-CN" altLang="zh-CN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sub>
                                </m:sSub>
                              </m:e>
                            </m:d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p>
                              <m:sSupPr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≠</m:t>
                            </m:r>
                            <m:sSub>
                              <m:sSubPr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zh-CN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zh-CN" altLang="zh-CN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sub>
                                  <m:sup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</m:d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eqArr>
                      </m:e>
                    </m:d>
                  </m:oMath>
                </a14:m>
                <a:r>
                  <a:rPr lang="en-US" altLang="zh-CN" dirty="0"/>
                  <a:t> </a:t>
                </a:r>
                <a:endParaRPr lang="zh-CN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8686EDE7-E9C6-4FE1-9D55-2CBF15DA68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467544" y="1194955"/>
                <a:ext cx="8435279" cy="3962238"/>
              </a:xfrm>
              <a:blipFill>
                <a:blip r:embed="rId2"/>
                <a:stretch>
                  <a:fillRect l="-1157" t="-1692" b="-278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1405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9D8463F3-24F6-4428-84E1-EA624F7C2FBE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444500" y="548680"/>
                <a:ext cx="8255000" cy="4477883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10000"/>
                  </a:lnSpc>
                  <a:spcBef>
                    <a:spcPts val="900"/>
                  </a:spcBef>
                  <a:buNone/>
                </a:pPr>
                <a:r>
                  <a:rPr lang="en-US" altLang="zh-CN" sz="2400" dirty="0">
                    <a:solidFill>
                      <a:schemeClr val="accent2"/>
                    </a:solidFill>
                  </a:rPr>
                  <a:t>2.2.3 </a:t>
                </a:r>
                <a:r>
                  <a:rPr lang="zh-CN" altLang="zh-CN" sz="2400" dirty="0">
                    <a:solidFill>
                      <a:schemeClr val="accent2"/>
                    </a:solidFill>
                  </a:rPr>
                  <a:t>半随机二进制传输信号</a:t>
                </a:r>
              </a:p>
              <a:p>
                <a:pPr marL="0" indent="0">
                  <a:lnSpc>
                    <a:spcPct val="110000"/>
                  </a:lnSpc>
                  <a:spcBef>
                    <a:spcPts val="900"/>
                  </a:spcBef>
                  <a:buNone/>
                </a:pPr>
                <a:r>
                  <a:rPr lang="en-US" altLang="zh-CN" sz="2400" dirty="0"/>
                  <a:t>1</a:t>
                </a:r>
                <a:r>
                  <a:rPr lang="zh-CN" altLang="zh-CN" sz="2400" dirty="0"/>
                  <a:t>．定义</a:t>
                </a:r>
              </a:p>
              <a:p>
                <a:pPr>
                  <a:lnSpc>
                    <a:spcPct val="110000"/>
                  </a:lnSpc>
                  <a:spcBef>
                    <a:spcPts val="9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=1,2,...</m:t>
                        </m:r>
                      </m:e>
                    </m:d>
                  </m:oMath>
                </a14:m>
                <a:r>
                  <a:rPr lang="zh-CN" altLang="zh-CN" sz="2400" dirty="0"/>
                  <a:t>是贝努利随机过程</a:t>
                </a:r>
                <a:r>
                  <a:rPr lang="zh-CN" altLang="en-US" sz="2400" dirty="0"/>
                  <a:t>，</a:t>
                </a:r>
                <a:endParaRPr lang="en-US" altLang="zh-CN" sz="2400" dirty="0"/>
              </a:p>
              <a:p>
                <a:pPr marL="0" indent="0">
                  <a:lnSpc>
                    <a:spcPct val="110000"/>
                  </a:lnSpc>
                  <a:spcBef>
                    <a:spcPts val="900"/>
                  </a:spcBef>
                  <a:buNone/>
                </a:pPr>
                <a:r>
                  <a:rPr lang="en-US" altLang="zh-CN" sz="2400" dirty="0"/>
                  <a:t>           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=1−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zh-CN" altLang="zh-CN" sz="2400" dirty="0"/>
                  <a:t>，</a:t>
                </a:r>
                <a:endParaRPr lang="en-US" altLang="zh-CN" sz="2400" dirty="0"/>
              </a:p>
              <a:p>
                <a:pPr>
                  <a:lnSpc>
                    <a:spcPct val="110000"/>
                  </a:lnSpc>
                  <a:spcBef>
                    <a:spcPts val="9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)=2</m:t>
                        </m:r>
                        <m:sSub>
                          <m:sSub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−1,(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−1)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𝑛𝑇</m:t>
                        </m:r>
                      </m:e>
                    </m:d>
                  </m:oMath>
                </a14:m>
                <a:r>
                  <a:rPr lang="zh-CN" altLang="zh-CN" sz="2400" dirty="0"/>
                  <a:t>，</a:t>
                </a:r>
                <a:r>
                  <a:rPr lang="en-US" altLang="zh-CN" sz="2400" i="1" dirty="0"/>
                  <a:t>T</a:t>
                </a:r>
                <a:r>
                  <a:rPr lang="zh-CN" altLang="zh-CN" sz="2400" dirty="0"/>
                  <a:t>为常数</a:t>
                </a:r>
              </a:p>
              <a:p>
                <a:pPr>
                  <a:lnSpc>
                    <a:spcPct val="110000"/>
                  </a:lnSpc>
                  <a:spcBef>
                    <a:spcPts val="900"/>
                  </a:spcBef>
                  <a:buFont typeface="Arial" panose="020B0604020202020204" pitchFamily="34" charset="0"/>
                  <a:buChar char="•"/>
                </a:pPr>
                <a:r>
                  <a:rPr lang="zh-CN" altLang="zh-CN" sz="2400" dirty="0"/>
                  <a:t>定义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=2</m:t>
                    </m:r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altLang="zh-CN" sz="2400" dirty="0"/>
                  <a:t> </a:t>
                </a:r>
                <a:r>
                  <a:rPr lang="zh-CN" altLang="zh-CN" sz="2400" dirty="0"/>
                  <a:t>，则有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=−1</m:t>
                        </m:r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=1−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lang="zh-CN" altLang="zh-CN" sz="2400" dirty="0"/>
              </a:p>
              <a:p>
                <a:pPr>
                  <a:lnSpc>
                    <a:spcPct val="110000"/>
                  </a:lnSpc>
                  <a:spcBef>
                    <a:spcPts val="900"/>
                  </a:spcBef>
                  <a:buFont typeface="Arial" panose="020B0604020202020204" pitchFamily="34" charset="0"/>
                  <a:buChar char="•"/>
                </a:pPr>
                <a:r>
                  <a:rPr lang="zh-CN" altLang="zh-CN" sz="2400" dirty="0"/>
                  <a:t>令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)=</m:t>
                    </m:r>
                    <m:d>
                      <m:dPr>
                        <m:begChr m:val="{"/>
                        <m:endChr m:val=""/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1,0≤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𝑜𝑡h𝑒𝑟𝑤𝑖𝑠𝑒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altLang="zh-CN" sz="2400" dirty="0"/>
                  <a:t> </a:t>
                </a:r>
                <a:r>
                  <a:rPr lang="zh-CN" altLang="zh-CN" sz="2400" dirty="0"/>
                  <a:t>，则 </a:t>
                </a:r>
                <a:endParaRPr lang="en-US" altLang="zh-CN" sz="240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10000"/>
                  </a:lnSpc>
                  <a:spcBef>
                    <a:spcPts val="900"/>
                  </a:spcBef>
                  <a:buNone/>
                </a:pPr>
                <a:r>
                  <a:rPr lang="en-US" altLang="zh-CN" sz="2400" b="1" dirty="0"/>
                  <a:t>                  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)=</m:t>
                    </m:r>
                    <m:nary>
                      <m:naryPr>
                        <m:chr m:val="∑"/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=−∞</m:t>
                        </m:r>
                      </m:sub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𝑛𝑇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400" dirty="0"/>
                  <a:t> </a:t>
                </a:r>
                <a:r>
                  <a:rPr lang="zh-CN" altLang="zh-CN" sz="2400" dirty="0"/>
                  <a:t>，</a:t>
                </a:r>
              </a:p>
              <a:p>
                <a:pPr marL="0" indent="0">
                  <a:lnSpc>
                    <a:spcPct val="110000"/>
                  </a:lnSpc>
                  <a:spcBef>
                    <a:spcPts val="900"/>
                  </a:spcBef>
                  <a:buNone/>
                </a:pPr>
                <a:r>
                  <a:rPr lang="zh-CN" altLang="zh-CN" sz="2400" dirty="0"/>
                  <a:t>称为半随机二进制传输信号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9D8463F3-24F6-4428-84E1-EA624F7C2F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444500" y="548680"/>
                <a:ext cx="8255000" cy="4477883"/>
              </a:xfrm>
              <a:blipFill>
                <a:blip r:embed="rId3"/>
                <a:stretch>
                  <a:fillRect l="-1182" t="-1361" b="-315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13ECE97F-CBDE-4B76-BE13-BFB5A51602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2160" y="404664"/>
            <a:ext cx="2592288" cy="159109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742762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612EC3D1-7510-41CB-8ABA-137D13F9ACCA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1461000" y="1340768"/>
                <a:ext cx="6222000" cy="4342735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zh-CN" dirty="0"/>
                  <a:t>2. </a:t>
                </a:r>
                <a:r>
                  <a:rPr lang="zh-CN" altLang="zh-CN" dirty="0"/>
                  <a:t>均值</a:t>
                </a:r>
              </a:p>
              <a:p>
                <a:pPr marL="0" indent="0">
                  <a:buNone/>
                </a:pPr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=−∞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nary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𝑛𝑇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𝑛𝑇</m:t>
                          </m:r>
                        </m:e>
                      </m:d>
                    </m:oMath>
                  </m:oMathPara>
                </a14:m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𝑛𝑇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zh-CN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612EC3D1-7510-41CB-8ABA-137D13F9AC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1461000" y="1340768"/>
                <a:ext cx="6222000" cy="4342735"/>
              </a:xfrm>
              <a:blipFill>
                <a:blip r:embed="rId2"/>
                <a:stretch>
                  <a:fillRect l="-1176" t="-12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983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87C95C0E-95AB-4168-AAFE-6FC858924463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278892" y="1035558"/>
                <a:ext cx="8577072" cy="4613148"/>
              </a:xfrm>
              <a:solidFill>
                <a:schemeClr val="bg1"/>
              </a:solidFill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CN" dirty="0"/>
                  <a:t>3</a:t>
                </a:r>
                <a:r>
                  <a:rPr lang="zh-CN" altLang="zh-CN" dirty="0"/>
                  <a:t>．</a:t>
                </a:r>
                <a:r>
                  <a:rPr lang="zh-CN" altLang="zh-CN" sz="2550" dirty="0"/>
                  <a:t>自相关函数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550" i="1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altLang="zh-CN" sz="255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zh-CN" sz="25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55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255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55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zh-CN" sz="25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55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255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550" i="1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altLang="zh-CN" sz="255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zh-CN" sz="255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55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255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zh-CN" sz="255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55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255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550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altLang="zh-CN" sz="255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255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zh-CN" sz="255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55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255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55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US" altLang="zh-CN" sz="255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55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zh-CN" sz="255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zh-CN" altLang="zh-CN" sz="255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zh-CN" altLang="zh-CN" sz="255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55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zh-CN" sz="255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550" i="1">
                                  <a:latin typeface="Cambria Math" panose="02040503050406030204" pitchFamily="18" charset="0"/>
                                </a:rPr>
                                <m:t>=−∞</m:t>
                              </m:r>
                            </m:sub>
                            <m:sup>
                              <m:r>
                                <a:rPr lang="en-US" altLang="zh-CN" sz="2550" i="1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zh-CN" altLang="zh-CN" sz="255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550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zh-CN" altLang="zh-CN" sz="25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55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altLang="zh-CN" sz="255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nary>
                          <m:sSub>
                            <m:sSubPr>
                              <m:ctrlPr>
                                <a:rPr lang="zh-CN" altLang="zh-CN" sz="255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55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sz="255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  <m:r>
                            <a:rPr lang="en-US" altLang="zh-CN" sz="255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zh-CN" sz="255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55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255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55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zh-CN" sz="255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55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sz="255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550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altLang="zh-CN" sz="2550" i="1">
                              <a:latin typeface="Cambria Math" panose="02040503050406030204" pitchFamily="18" charset="0"/>
                            </a:rPr>
                            <m:t>)</m:t>
                          </m:r>
                          <m:nary>
                            <m:naryPr>
                              <m:chr m:val="∑"/>
                              <m:ctrlPr>
                                <a:rPr lang="zh-CN" altLang="zh-CN" sz="255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zh-CN" altLang="zh-CN" sz="255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55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zh-CN" sz="255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550" i="1">
                                  <a:latin typeface="Cambria Math" panose="02040503050406030204" pitchFamily="18" charset="0"/>
                                </a:rPr>
                                <m:t>=−∞</m:t>
                              </m:r>
                            </m:sub>
                            <m:sup>
                              <m:r>
                                <a:rPr lang="en-US" altLang="zh-CN" sz="2550" i="1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zh-CN" altLang="zh-CN" sz="255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550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zh-CN" altLang="zh-CN" sz="25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55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altLang="zh-CN" sz="255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nary>
                          <m:sSub>
                            <m:sSubPr>
                              <m:ctrlPr>
                                <a:rPr lang="zh-CN" altLang="zh-CN" sz="255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55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sz="255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  <m:r>
                            <a:rPr lang="en-US" altLang="zh-CN" sz="255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zh-CN" sz="255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55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255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55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zh-CN" sz="255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55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sz="255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550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altLang="zh-CN" sz="255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US" altLang="zh-CN" sz="255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55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zh-CN" sz="255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zh-CN" altLang="zh-CN" sz="255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zh-CN" altLang="zh-CN" sz="255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55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zh-CN" sz="255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550" i="1">
                                  <a:latin typeface="Cambria Math" panose="02040503050406030204" pitchFamily="18" charset="0"/>
                                </a:rPr>
                                <m:t>=−∞</m:t>
                              </m:r>
                            </m:sub>
                            <m:sup>
                              <m:r>
                                <a:rPr lang="en-US" altLang="zh-CN" sz="2550" i="1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ctrlPr>
                                    <a:rPr lang="zh-CN" altLang="zh-CN" sz="255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sSub>
                                    <m:sSubPr>
                                      <m:ctrlPr>
                                        <a:rPr lang="zh-CN" altLang="zh-CN" sz="25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55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altLang="zh-CN" sz="255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altLang="zh-CN" sz="2550" i="1">
                                      <a:latin typeface="Cambria Math" panose="02040503050406030204" pitchFamily="18" charset="0"/>
                                    </a:rPr>
                                    <m:t>=−∞</m:t>
                                  </m:r>
                                </m:sub>
                                <m:sup>
                                  <m:r>
                                    <a:rPr lang="en-US" altLang="zh-CN" sz="2550" i="1">
                                      <a:latin typeface="Cambria Math" panose="02040503050406030204" pitchFamily="18" charset="0"/>
                                    </a:rPr>
                                    <m:t>∞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zh-CN" altLang="zh-CN" sz="25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550" i="1"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zh-CN" altLang="zh-CN" sz="255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55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55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zh-CN" altLang="zh-CN" sz="25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550" i="1"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zh-CN" altLang="zh-CN" sz="255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55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55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nary>
                              <m:sSub>
                                <m:sSubPr>
                                  <m:ctrlPr>
                                    <a:rPr lang="zh-CN" altLang="zh-CN" sz="255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55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altLang="zh-CN" sz="255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b>
                              </m:sSub>
                              <m:r>
                                <a:rPr lang="en-US" altLang="zh-CN" sz="255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zh-CN" altLang="zh-CN" sz="255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55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255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55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zh-CN" altLang="zh-CN" sz="255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55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zh-CN" sz="255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55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altLang="zh-CN" sz="255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sSub>
                                <m:sSubPr>
                                  <m:ctrlPr>
                                    <a:rPr lang="zh-CN" altLang="zh-CN" sz="255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55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altLang="zh-CN" sz="255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b>
                              </m:sSub>
                              <m:r>
                                <a:rPr lang="en-US" altLang="zh-CN" sz="255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zh-CN" altLang="zh-CN" sz="255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55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255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55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zh-CN" altLang="zh-CN" sz="255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55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zh-CN" sz="255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55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altLang="zh-CN" sz="255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d>
                      <m:r>
                        <a:rPr lang="en-US" altLang="zh-CN" sz="255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CN" altLang="zh-CN" sz="255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zh-CN" altLang="zh-CN" sz="255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55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sz="255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550" i="1"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altLang="zh-CN" sz="2550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zh-CN" altLang="zh-CN" sz="255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zh-CN" altLang="zh-CN" sz="255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55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zh-CN" sz="255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550" i="1">
                                  <a:latin typeface="Cambria Math" panose="02040503050406030204" pitchFamily="18" charset="0"/>
                                </a:rPr>
                                <m:t>=−∞</m:t>
                              </m:r>
                            </m:sub>
                            <m:sup>
                              <m:r>
                                <a:rPr lang="en-US" altLang="zh-CN" sz="2550" i="1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r>
                                <a:rPr lang="en-US" altLang="zh-CN" sz="255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zh-CN" altLang="zh-CN" sz="255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zh-CN" sz="25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550" i="1"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zh-CN" altLang="zh-CN" sz="255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55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55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zh-CN" altLang="zh-CN" sz="25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550" i="1"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zh-CN" altLang="zh-CN" sz="255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55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55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d>
                            </m:e>
                          </m:nary>
                          <m:sSub>
                            <m:sSubPr>
                              <m:ctrlPr>
                                <a:rPr lang="zh-CN" altLang="zh-CN" sz="255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55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sz="255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  <m:r>
                            <a:rPr lang="en-US" altLang="zh-CN" sz="255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zh-CN" sz="255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55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255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55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zh-CN" sz="255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55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sz="255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550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altLang="zh-CN" sz="2550" i="1"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zh-CN" altLang="zh-CN" sz="255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55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sz="255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  <m:r>
                            <a:rPr lang="en-US" altLang="zh-CN" sz="255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zh-CN" sz="255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55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255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55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zh-CN" sz="255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55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sz="255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550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altLang="zh-CN" sz="255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br>
                  <a:rPr lang="en-US" altLang="zh-CN" sz="2550" i="1" dirty="0">
                    <a:latin typeface="Cambria Math" panose="02040503050406030204" pitchFamily="18" charset="0"/>
                  </a:rPr>
                </a:br>
                <a:endParaRPr lang="zh-CN" altLang="en-US" sz="2550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87C95C0E-95AB-4168-AAFE-6FC8589244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278892" y="1035558"/>
                <a:ext cx="8577072" cy="4613148"/>
              </a:xfrm>
              <a:blipFill>
                <a:blip r:embed="rId2"/>
                <a:stretch>
                  <a:fillRect l="-853" t="-17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5113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87C95C0E-95AB-4168-AAFE-6FC858924463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278892" y="1035558"/>
                <a:ext cx="8577072" cy="4613148"/>
              </a:xfrm>
              <a:solidFill>
                <a:schemeClr val="bg1"/>
              </a:solidFill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CN" dirty="0"/>
                  <a:t>3</a:t>
                </a:r>
                <a:r>
                  <a:rPr lang="zh-CN" altLang="zh-CN" dirty="0"/>
                  <a:t>．</a:t>
                </a:r>
                <a:r>
                  <a:rPr lang="zh-CN" altLang="zh-CN" sz="2550" dirty="0"/>
                  <a:t>自相关函数</a:t>
                </a:r>
              </a:p>
              <a:p>
                <a:pPr marL="0" indent="0">
                  <a:buNone/>
                </a:pPr>
                <a:br>
                  <a:rPr lang="en-US" altLang="zh-CN" sz="2550" i="1" dirty="0"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55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zh-CN" altLang="zh-CN" sz="255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zh-CN" sz="255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sz="255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zh-CN" altLang="zh-CN" sz="255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zh-CN" altLang="zh-CN" sz="25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2550" i="1"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e>
                                    <m:sub>
                                      <m:r>
                                        <a:rPr lang="en-US" altLang="zh-CN" sz="255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  <m:sup>
                                      <m:r>
                                        <a:rPr lang="en-US" altLang="zh-CN" sz="255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d>
                              <m:r>
                                <a:rPr lang="en-US" altLang="zh-CN" sz="255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55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CN" sz="255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55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altLang="zh-CN" sz="2550" i="1">
                                  <a:latin typeface="Cambria Math" panose="02040503050406030204" pitchFamily="18" charset="0"/>
                                </a:rPr>
                                <m:t>=1,</m:t>
                              </m:r>
                              <m:sSub>
                                <m:sSubPr>
                                  <m:ctrlPr>
                                    <a:rPr lang="zh-CN" altLang="zh-CN" sz="255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55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zh-CN" sz="255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55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zh-CN" altLang="zh-CN" sz="255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55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zh-CN" sz="255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55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zh-CN" altLang="zh-CN" sz="255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zh-CN" altLang="zh-CN" sz="25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zh-CN" altLang="zh-CN" sz="255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55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55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en-US" altLang="zh-CN" sz="2550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en-US" altLang="zh-CN" sz="255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zh-CN" altLang="zh-CN" sz="255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zh-CN" altLang="zh-CN" sz="25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zh-CN" altLang="zh-CN" sz="255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55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55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en-US" altLang="zh-CN" sz="2550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e>
                              <m:r>
                                <a:rPr lang="en-US" altLang="zh-CN" sz="255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zh-CN" altLang="zh-CN" sz="255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zh-CN" sz="25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550" i="1"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zh-CN" altLang="zh-CN" sz="255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55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55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zh-CN" altLang="zh-CN" sz="25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550" i="1"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zh-CN" altLang="zh-CN" sz="255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55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55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d>
                              <m:r>
                                <a:rPr lang="en-US" altLang="zh-CN" sz="255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55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zh-CN" altLang="zh-CN" sz="255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zh-CN" sz="25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550" i="1"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zh-CN" altLang="zh-CN" sz="255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55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55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d>
                              <m:r>
                                <a:rPr lang="en-US" altLang="zh-CN" sz="255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zh-CN" altLang="zh-CN" sz="255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zh-CN" sz="25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550" i="1"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zh-CN" altLang="zh-CN" sz="255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55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55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d>
                              <m:r>
                                <a:rPr lang="en-US" altLang="zh-CN" sz="2550" i="1">
                                  <a:latin typeface="Cambria Math" panose="02040503050406030204" pitchFamily="18" charset="0"/>
                                </a:rPr>
                                <m:t>=(2</m:t>
                              </m:r>
                              <m:r>
                                <a:rPr lang="en-US" altLang="zh-CN" sz="255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CN" sz="255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  <m:sSup>
                                <m:sSupPr>
                                  <m:ctrlPr>
                                    <a:rPr lang="zh-CN" altLang="zh-CN" sz="255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55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altLang="zh-CN" sz="255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sz="255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zh-CN" altLang="zh-CN" sz="255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55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zh-CN" sz="255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550" i="1">
                                  <a:latin typeface="Cambria Math" panose="02040503050406030204" pitchFamily="18" charset="0"/>
                                </a:rPr>
                                <m:t>≠</m:t>
                              </m:r>
                              <m:sSub>
                                <m:sSubPr>
                                  <m:ctrlPr>
                                    <a:rPr lang="zh-CN" altLang="zh-CN" sz="255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55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zh-CN" sz="255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55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zh-CN" altLang="zh-CN" sz="255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zh-CN" altLang="zh-CN" sz="25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zh-CN" altLang="zh-CN" sz="255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55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55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en-US" altLang="zh-CN" sz="2550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en-US" altLang="zh-CN" sz="2550" i="1">
                                  <a:latin typeface="Cambria Math" panose="02040503050406030204" pitchFamily="18" charset="0"/>
                                </a:rPr>
                                <m:t>≠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zh-CN" altLang="zh-CN" sz="255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zh-CN" altLang="zh-CN" sz="25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zh-CN" altLang="zh-CN" sz="255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55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55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en-US" altLang="zh-CN" sz="2550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den>
                                  </m:f>
                                </m:e>
                              </m:d>
                            </m:e>
                          </m:eqArr>
                        </m:e>
                      </m:d>
                    </m:oMath>
                  </m:oMathPara>
                </a14:m>
                <a:endParaRPr lang="zh-CN" altLang="zh-CN" sz="2550" dirty="0"/>
              </a:p>
              <a:p>
                <a:pPr marL="0" indent="0">
                  <a:buNone/>
                </a:pPr>
                <a:r>
                  <a:rPr lang="en-US" altLang="zh-CN" sz="2550" dirty="0"/>
                  <a:t>	      </a:t>
                </a:r>
                <a14:m>
                  <m:oMath xmlns:m="http://schemas.openxmlformats.org/officeDocument/2006/math">
                    <m:r>
                      <a:rPr lang="en-US" altLang="zh-CN" sz="2550" i="1">
                        <a:latin typeface="Cambria Math" panose="02040503050406030204" pitchFamily="18" charset="0"/>
                      </a:rPr>
                      <m:t>=1−4</m:t>
                    </m:r>
                    <m:r>
                      <a:rPr lang="en-US" altLang="zh-CN" sz="2550" i="1">
                        <a:latin typeface="Cambria Math" panose="02040503050406030204" pitchFamily="18" charset="0"/>
                      </a:rPr>
                      <m:t>𝑝𝑞</m:t>
                    </m:r>
                    <m:r>
                      <a:rPr lang="en-US" altLang="zh-CN" sz="2550" i="1">
                        <a:latin typeface="Cambria Math" panose="02040503050406030204" pitchFamily="18" charset="0"/>
                      </a:rPr>
                      <m:t>+4</m:t>
                    </m:r>
                    <m:r>
                      <a:rPr lang="en-US" altLang="zh-CN" sz="2550" i="1">
                        <a:latin typeface="Cambria Math" panose="02040503050406030204" pitchFamily="18" charset="0"/>
                      </a:rPr>
                      <m:t>𝑝𝑞</m:t>
                    </m:r>
                    <m:r>
                      <a:rPr lang="en-US" altLang="zh-CN" sz="2550" i="1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zh-CN" sz="2550" i="1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altLang="zh-CN" sz="255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zh-CN" altLang="zh-CN" sz="255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zh-CN" altLang="zh-CN" sz="255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zh-CN" altLang="zh-CN" sz="255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55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zh-CN" sz="255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altLang="zh-CN" sz="255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den>
                            </m:f>
                          </m:e>
                        </m:d>
                        <m:r>
                          <a:rPr lang="en-US" altLang="zh-CN" sz="2550" i="1"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zh-CN" altLang="zh-CN" sz="255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zh-CN" altLang="zh-CN" sz="255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zh-CN" altLang="zh-CN" sz="255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55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zh-CN" sz="255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altLang="zh-CN" sz="255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den>
                            </m:f>
                          </m:e>
                        </m:d>
                      </m:e>
                    </m:d>
                  </m:oMath>
                </a14:m>
                <a:endParaRPr lang="en-US" altLang="zh-CN" sz="2550" dirty="0"/>
              </a:p>
              <a:p>
                <a:pPr marL="0" indent="0">
                  <a:buNone/>
                </a:pPr>
                <a:r>
                  <a:rPr lang="zh-CN" altLang="zh-CN" sz="2550" dirty="0"/>
                  <a:t>其中 单位冲激序列</a:t>
                </a:r>
                <a14:m>
                  <m:oMath xmlns:m="http://schemas.openxmlformats.org/officeDocument/2006/math">
                    <m:r>
                      <a:rPr lang="en-US" altLang="zh-CN" sz="2550" i="1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altLang="zh-CN" sz="255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55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550" i="1">
                        <a:latin typeface="Cambria Math" panose="02040503050406030204" pitchFamily="18" charset="0"/>
                      </a:rPr>
                      <m:t>)=</m:t>
                    </m:r>
                    <m:d>
                      <m:dPr>
                        <m:begChr m:val="{"/>
                        <m:endChr m:val=""/>
                        <m:ctrlPr>
                          <a:rPr lang="zh-CN" altLang="zh-CN" sz="255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zh-CN" altLang="zh-CN" sz="255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sz="2550" i="1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altLang="zh-CN" sz="255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2550" i="1">
                                <a:latin typeface="Cambria Math" panose="02040503050406030204" pitchFamily="18" charset="0"/>
                              </a:rPr>
                              <m:t>=0</m:t>
                            </m:r>
                          </m:e>
                          <m:e>
                            <m:r>
                              <a:rPr lang="en-US" altLang="zh-CN" sz="2550" i="1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altLang="zh-CN" sz="255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2550" i="1">
                                <a:latin typeface="Cambria Math" panose="02040503050406030204" pitchFamily="18" charset="0"/>
                              </a:rPr>
                              <m:t>≠0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altLang="zh-CN" sz="2550" dirty="0"/>
                  <a:t> </a:t>
                </a:r>
                <a:endParaRPr lang="zh-CN" altLang="en-US" sz="2550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87C95C0E-95AB-4168-AAFE-6FC8589244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278892" y="1035558"/>
                <a:ext cx="8577072" cy="4613148"/>
              </a:xfrm>
              <a:blipFill>
                <a:blip r:embed="rId2"/>
                <a:stretch>
                  <a:fillRect l="-1279" t="-17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06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9AE36B0D-C7AA-4B88-A28D-DF65C4D061A9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/>
            <p:txBody>
              <a:bodyPr/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zh-CN" dirty="0"/>
                  <a:t>如果</a:t>
                </a:r>
                <a:r>
                  <a:rPr lang="en-US" altLang="zh-CN" dirty="0"/>
                  <a:t>0-1</a:t>
                </a:r>
                <a:r>
                  <a:rPr lang="zh-CN" altLang="zh-CN" dirty="0"/>
                  <a:t>分布时等概的，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altLang="zh-CN" dirty="0"/>
                  <a:t> </a:t>
                </a:r>
                <a:r>
                  <a:rPr lang="zh-CN" altLang="zh-CN" dirty="0"/>
                  <a:t>，则</a:t>
                </a:r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=0,</m:t>
                      </m:r>
                    </m:oMath>
                  </m:oMathPara>
                </a14:m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dirty="0"/>
                  <a:t>                      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1,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zh-CN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zh-CN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den>
                                </m:f>
                              </m:e>
                            </m:d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zh-CN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zh-CN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den>
                                </m:f>
                              </m:e>
                            </m:d>
                          </m:e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0,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zh-CN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zh-CN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den>
                                </m:f>
                              </m:e>
                            </m:d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≠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zh-CN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zh-CN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den>
                                </m:f>
                              </m:e>
                            </m:d>
                          </m:e>
                        </m:eqArr>
                      </m:e>
                    </m:d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9AE36B0D-C7AA-4B88-A28D-DF65C4D061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blipFill>
                <a:blip r:embed="rId2"/>
                <a:stretch>
                  <a:fillRect l="-11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6733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749A5A3D-B69A-4DED-BB56-CBFDFB33DF0F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CN" sz="2400" dirty="0">
                    <a:solidFill>
                      <a:schemeClr val="accent2"/>
                    </a:solidFill>
                  </a:rPr>
                  <a:t>2.2.4 </a:t>
                </a:r>
                <a:r>
                  <a:rPr lang="zh-CN" altLang="zh-CN" sz="2400" dirty="0">
                    <a:solidFill>
                      <a:schemeClr val="accent2"/>
                    </a:solidFill>
                  </a:rPr>
                  <a:t>泊松过程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x-none" altLang="zh-CN" sz="2400" dirty="0">
                    <a:solidFill>
                      <a:srgbClr val="FF0000"/>
                    </a:solidFill>
                  </a:rPr>
                  <a:t>1. </a:t>
                </a:r>
                <a:r>
                  <a:rPr lang="zh-CN" altLang="zh-CN" sz="2400" dirty="0">
                    <a:solidFill>
                      <a:srgbClr val="FF0000"/>
                    </a:solidFill>
                  </a:rPr>
                  <a:t>定义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),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≥0</m:t>
                        </m:r>
                      </m:e>
                    </m:d>
                  </m:oMath>
                </a14:m>
                <a:r>
                  <a:rPr lang="zh-CN" altLang="zh-CN" sz="2400" dirty="0"/>
                  <a:t>，描述某种随机现象反复发生的时间点与次数的问题。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749A5A3D-B69A-4DED-BB56-CBFDFB33DF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blipFill>
                <a:blip r:embed="rId2"/>
                <a:stretch>
                  <a:fillRect l="-1108" t="-12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>
            <a:extLst>
              <a:ext uri="{FF2B5EF4-FFF2-40B4-BE49-F238E27FC236}">
                <a16:creationId xmlns:a16="http://schemas.microsoft.com/office/drawing/2014/main" id="{60CFDCEA-8F0B-4A9B-90BB-08B4FEA0C68D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894" y="3595788"/>
            <a:ext cx="3667066" cy="120136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4D993D35-30E1-4166-81DB-4A4BF46A6DD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5419" y="3421682"/>
            <a:ext cx="2702965" cy="166350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602112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0EC7D6A1-7476-42B5-8D08-1851B142E0C4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103909" y="1030432"/>
                <a:ext cx="8811491" cy="4599710"/>
              </a:xfrm>
            </p:spPr>
            <p:txBody>
              <a:bodyPr/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2400" dirty="0"/>
                  <a:t>1</a:t>
                </a:r>
                <a:r>
                  <a:rPr lang="zh-CN" altLang="en-US" sz="2400" dirty="0"/>
                  <a:t>）</a:t>
                </a:r>
                <a:r>
                  <a:rPr lang="zh-CN" altLang="zh-CN" sz="2400" dirty="0"/>
                  <a:t>零初始值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</a:rPr>
                      <m:t>≡0</m:t>
                    </m:r>
                  </m:oMath>
                </a14:m>
                <a:endParaRPr lang="zh-CN" altLang="zh-CN" sz="24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2400" dirty="0"/>
                  <a:t>2</a:t>
                </a:r>
                <a:r>
                  <a:rPr lang="zh-CN" altLang="en-US" sz="2400" dirty="0"/>
                  <a:t>）</a:t>
                </a:r>
                <a:r>
                  <a:rPr lang="zh-CN" altLang="zh-CN" sz="2400" dirty="0"/>
                  <a:t>在不重叠的时间区间上，事件发生的行为是独立的，即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≥3</m:t>
                    </m:r>
                  </m:oMath>
                </a14:m>
                <a:r>
                  <a:rPr lang="zh-CN" altLang="zh-CN" sz="2400" dirty="0"/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⋯&lt;</m:t>
                    </m:r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altLang="zh-CN" sz="2400" dirty="0"/>
                  <a:t> </a:t>
                </a:r>
                <a:r>
                  <a:rPr lang="zh-CN" altLang="zh-CN" sz="2400" dirty="0"/>
                  <a:t>，随机变量</a:t>
                </a:r>
                <a:endParaRPr lang="en-US" altLang="zh-CN" sz="2400" dirty="0"/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zh-CN" sz="2400" dirty="0"/>
                  <a:t>、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zh-CN" sz="2400" dirty="0"/>
                  <a:t>、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sz="24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zh-CN" sz="2400" dirty="0"/>
                  <a:t>是统计独立的。</a:t>
                </a:r>
                <a:r>
                  <a:rPr lang="zh-CN" altLang="en-US" sz="2400" dirty="0">
                    <a:solidFill>
                      <a:srgbClr val="FF0000"/>
                    </a:solidFill>
                  </a:rPr>
                  <a:t>（独立增量过程）</a:t>
                </a:r>
                <a:endParaRPr lang="zh-CN" altLang="zh-CN" sz="2400" dirty="0">
                  <a:solidFill>
                    <a:srgbClr val="FF0000"/>
                  </a:solidFill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2400" dirty="0"/>
                  <a:t>3</a:t>
                </a:r>
                <a:r>
                  <a:rPr lang="zh-CN" altLang="en-US" sz="2400" dirty="0"/>
                  <a:t>）</a:t>
                </a:r>
                <a:r>
                  <a:rPr lang="zh-CN" altLang="zh-CN" sz="2400" dirty="0"/>
                  <a:t>在任何间隔为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zh-CN" altLang="zh-CN" sz="2400" dirty="0"/>
                  <a:t>的区间上，事件发生的次数服从参数为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𝜆𝜏</m:t>
                    </m:r>
                  </m:oMath>
                </a14:m>
                <a:r>
                  <a:rPr lang="zh-CN" altLang="zh-CN" sz="2400" dirty="0"/>
                  <a:t>的泊松分布，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zh-CN" altLang="zh-CN" sz="2400" dirty="0"/>
                  <a:t>为常数，表示单位时间内事件发生的次数。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zh-CN" sz="2400" dirty="0"/>
                  <a:t>即  </a:t>
                </a:r>
                <a14:m>
                  <m:oMath xmlns:m="http://schemas.openxmlformats.org/officeDocument/2006/math">
                    <m:r>
                      <a:rPr lang="en-US" altLang="zh-CN" sz="2400" b="1" i="0" smtClean="0">
                        <a:latin typeface="Cambria Math" panose="02040503050406030204" pitchFamily="18" charset="0"/>
                      </a:rPr>
                      <m:t>     </m:t>
                    </m:r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𝑁</m:t>
                        </m:r>
                        <m:d>
                          <m:d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sSup>
                      <m:sSup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zh-CN" altLang="zh-CN" sz="2400" dirty="0"/>
                  <a:t>，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=0,1,2,⋯</m:t>
                    </m:r>
                  </m:oMath>
                </a14:m>
                <a:endParaRPr lang="en-US" altLang="zh-CN" sz="2400" dirty="0"/>
              </a:p>
              <a:p>
                <a:pPr marL="0" indent="0">
                  <a:buNone/>
                </a:pPr>
                <a:endParaRPr lang="zh-CN" altLang="zh-CN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0EC7D6A1-7476-42B5-8D08-1851B142E0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103909" y="1030432"/>
                <a:ext cx="8811491" cy="4599710"/>
              </a:xfrm>
              <a:blipFill>
                <a:blip r:embed="rId2"/>
                <a:stretch>
                  <a:fillRect l="-1037" r="-622" b="-127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1963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59EC5E42-E263-4100-B351-7E8D420EDD2F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x-none" altLang="zh-CN" sz="2400" dirty="0">
                    <a:solidFill>
                      <a:srgbClr val="FF0000"/>
                    </a:solidFill>
                  </a:rPr>
                  <a:t>2. </a:t>
                </a:r>
                <a:r>
                  <a:rPr lang="zh-CN" altLang="zh-CN" sz="2400" dirty="0">
                    <a:solidFill>
                      <a:srgbClr val="FF0000"/>
                    </a:solidFill>
                  </a:rPr>
                  <a:t>特征函数</a:t>
                </a:r>
              </a:p>
              <a:p>
                <a:pPr marL="0" indent="0">
                  <a:buNone/>
                </a:pPr>
                <a:r>
                  <a:rPr lang="zh-CN" altLang="zh-CN" sz="2400" dirty="0"/>
                  <a:t>一维</a:t>
                </a:r>
                <a:endParaRPr lang="en-US" altLang="zh-CN" sz="2400" dirty="0"/>
              </a:p>
              <a:p>
                <a:pPr marL="0" indent="0" algn="ctr">
                  <a:buNone/>
                </a:pPr>
                <a:r>
                  <a:rPr lang="zh-CN" altLang="zh-CN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x-none" altLang="zh-CN" sz="2400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x-none" altLang="zh-CN" sz="2400" i="1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x-none" altLang="zh-CN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x-none" altLang="zh-CN" sz="2400" i="1">
                        <a:latin typeface="Cambria Math" panose="02040503050406030204" pitchFamily="18" charset="0"/>
                      </a:rPr>
                      <m:t>𝑣</m:t>
                    </m:r>
                    <m:func>
                      <m:func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x-none" altLang="zh-CN" sz="2400" i="1">
                            <a:latin typeface="Cambria Math" panose="02040503050406030204" pitchFamily="18" charset="0"/>
                          </a:rPr>
                          <m:t>;</m:t>
                        </m:r>
                      </m:fName>
                      <m:e>
                        <m:r>
                          <a:rPr lang="x-none" altLang="zh-CN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func>
                    <m:r>
                      <a:rPr lang="x-none" altLang="zh-CN" sz="2400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x-none" altLang="zh-CN" sz="2400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x-none" altLang="zh-CN" sz="24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x-none" altLang="zh-CN" sz="2400" i="1">
                                <a:latin typeface="Cambria Math" panose="02040503050406030204" pitchFamily="18" charset="0"/>
                              </a:rPr>
                              <m:t>𝑗𝑣𝑁</m:t>
                            </m:r>
                            <m:r>
                              <a:rPr lang="x-none" altLang="zh-CN" sz="24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x-none" altLang="zh-CN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x-none" altLang="zh-CN" sz="24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e>
                    </m:d>
                    <m:r>
                      <a:rPr lang="x-none" altLang="zh-CN" sz="2400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x-none" altLang="zh-CN" sz="2400" i="1">
                            <a:latin typeface="Cambria Math" panose="02040503050406030204" pitchFamily="18" charset="0"/>
                          </a:rPr>
                          <m:t>𝑒𝑥𝑝</m:t>
                        </m:r>
                      </m:fName>
                      <m:e>
                        <m:d>
                          <m:d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x-none" altLang="zh-CN" sz="2400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  <m:r>
                              <a:rPr lang="x-none" altLang="zh-CN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d>
                              <m:dPr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zh-CN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x-none" altLang="zh-CN" sz="2400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x-none" altLang="zh-CN" sz="2400" i="1">
                                        <a:latin typeface="Cambria Math" panose="02040503050406030204" pitchFamily="18" charset="0"/>
                                      </a:rPr>
                                      <m:t>𝑗𝑣</m:t>
                                    </m:r>
                                  </m:sup>
                                </m:sSup>
                                <m:r>
                                  <a:rPr lang="x-none" altLang="zh-CN" sz="24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e>
                        </m:d>
                      </m:e>
                    </m:func>
                  </m:oMath>
                </a14:m>
                <a:endParaRPr lang="en-US" altLang="zh-CN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𝑁</m:t>
                          </m:r>
                          <m:d>
                            <m:d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sSup>
                        <m:sSup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zh-CN" altLang="zh-CN" sz="2400" dirty="0"/>
              </a:p>
              <a:p>
                <a:pPr marL="0" indent="0">
                  <a:buNone/>
                </a:pPr>
                <a:r>
                  <a:rPr lang="x-none" altLang="zh-CN" sz="2400" dirty="0">
                    <a:solidFill>
                      <a:srgbClr val="FF0000"/>
                    </a:solidFill>
                  </a:rPr>
                  <a:t>3. </a:t>
                </a:r>
                <a:r>
                  <a:rPr lang="zh-CN" altLang="zh-CN" sz="2400" dirty="0">
                    <a:solidFill>
                      <a:srgbClr val="FF0000"/>
                    </a:solidFill>
                  </a:rPr>
                  <a:t>数字特征</a:t>
                </a:r>
              </a:p>
              <a:p>
                <a:pPr marL="0" indent="0">
                  <a:buNone/>
                </a:pPr>
                <a:r>
                  <a:rPr lang="en-US" altLang="zh-CN" sz="2400" dirty="0"/>
                  <a:t>1</a:t>
                </a:r>
                <a:r>
                  <a:rPr lang="zh-CN" altLang="zh-CN" sz="2400" dirty="0"/>
                  <a:t>）均值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𝑵</m:t>
                          </m:r>
                        </m:sub>
                      </m:sSub>
                      <m:d>
                        <m:d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𝑬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𝑵</m:t>
                          </m:r>
                          <m:d>
                            <m:d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e>
                          </m:d>
                        </m:e>
                      </m:d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⋅</m:t>
                          </m:r>
                        </m:e>
                      </m:nary>
                      <m:f>
                        <m:f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𝝀</m:t>
                                  </m:r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sSup>
                        <m:sSup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𝝀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𝒕</m:t>
                          </m:r>
                        </m:sup>
                      </m:sSup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𝝀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𝒕</m:t>
                          </m:r>
                        </m:sup>
                      </m:sSup>
                      <m:nary>
                        <m:naryPr>
                          <m:chr m:val="∑"/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zh-CN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zh-CN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𝝀</m:t>
                                      </m:r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𝒕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p>
                              </m:sSup>
                            </m:num>
                            <m:den>
                              <m:d>
                                <m:dPr>
                                  <m:ctrlPr>
                                    <a:rPr lang="zh-CN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</m:d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den>
                          </m:f>
                        </m:e>
                      </m:nary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𝝀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𝝀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𝒕</m:t>
                      </m:r>
                    </m:oMath>
                  </m:oMathPara>
                </a14:m>
                <a:endParaRPr lang="zh-CN" altLang="zh-CN" sz="2400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59EC5E42-E263-4100-B351-7E8D420EDD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blipFill>
                <a:blip r:embed="rId2"/>
                <a:stretch>
                  <a:fillRect l="-1108" t="-12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1276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21709987-7FBD-4325-8088-783425AE5571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457200" y="1325440"/>
                <a:ext cx="8651304" cy="404666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zh-CN" dirty="0">
                    <a:solidFill>
                      <a:srgbClr val="FF0000"/>
                    </a:solidFill>
                  </a:rPr>
                  <a:t>2</a:t>
                </a:r>
                <a:r>
                  <a:rPr lang="zh-CN" altLang="zh-CN" dirty="0">
                    <a:solidFill>
                      <a:srgbClr val="FF0000"/>
                    </a:solidFill>
                  </a:rPr>
                  <a:t>）自相关函数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𝑵</m:t>
                          </m:r>
                        </m:sub>
                      </m:sSub>
                      <m:d>
                        <m:d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𝒔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𝑬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𝑵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𝒔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𝑵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𝑬</m:t>
                      </m:r>
                      <m:d>
                        <m:dPr>
                          <m:begChr m:val="{"/>
                          <m:endChr m:val="}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)−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𝑵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)+</m:t>
                          </m:r>
                          <m:sSup>
                            <m:sSup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       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（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）</m:t>
                      </m:r>
                    </m:oMath>
                  </m:oMathPara>
                </a14:m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dirty="0"/>
                  <a:t>	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𝑬</m:t>
                    </m:r>
                    <m:d>
                      <m:dPr>
                        <m:begChr m:val="["/>
                        <m:endChr m:val="]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𝑵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𝒔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𝑵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𝑬</m:t>
                    </m:r>
                    <m:d>
                      <m:dPr>
                        <m:begChr m:val="["/>
                        <m:endChr m:val="]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𝑵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</m:d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𝑬</m:t>
                    </m:r>
                    <m:d>
                      <m:dPr>
                        <m:begChr m:val="["/>
                        <m:endChr m:val="]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𝑵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</m:d>
                      </m:e>
                    </m:d>
                  </m:oMath>
                </a14:m>
                <a:endParaRPr lang="en-US" altLang="zh-CN" i="1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dirty="0"/>
                  <a:t>	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𝝀</m:t>
                    </m:r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𝒔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𝝀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𝝀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𝝀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dirty="0"/>
                  <a:t>	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𝝀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𝒔𝒕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𝝀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𝝀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𝒔𝒕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𝝀</m:t>
                    </m:r>
                    <m:func>
                      <m:func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𝒎𝒊𝒏</m:t>
                        </m:r>
                      </m:fName>
                      <m:e>
                        <m:d>
                          <m:d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𝒔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</m:d>
                      </m:e>
                    </m:func>
                  </m:oMath>
                </a14:m>
                <a:endParaRPr lang="zh-CN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dirty="0">
                    <a:solidFill>
                      <a:srgbClr val="FF0000"/>
                    </a:solidFill>
                  </a:rPr>
                  <a:t>3</a:t>
                </a:r>
                <a:r>
                  <a:rPr lang="zh-CN" altLang="zh-CN" dirty="0">
                    <a:solidFill>
                      <a:srgbClr val="FF0000"/>
                    </a:solidFill>
                  </a:rPr>
                  <a:t>）方差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:r>
                  <a:rPr lang="en-US" altLang="zh-CN" dirty="0"/>
                  <a:t>  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𝑬</m:t>
                    </m:r>
                    <m:d>
                      <m:dPr>
                        <m:begChr m:val="["/>
                        <m:endChr m:val="]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𝑵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)=</m:t>
                    </m:r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𝝀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</m:d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𝝀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en-US" altLang="zh-CN" dirty="0"/>
                  <a:t>    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:r>
                  <a:rPr lang="en-US" altLang="zh-CN" dirty="0"/>
                  <a:t> 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∴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𝑫</m:t>
                    </m:r>
                    <m:d>
                      <m:dPr>
                        <m:begChr m:val="["/>
                        <m:endChr m:val="]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𝑵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𝝀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endParaRPr lang="zh-CN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21709987-7FBD-4325-8088-783425AE55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457200" y="1325440"/>
                <a:ext cx="8651304" cy="4046660"/>
              </a:xfrm>
              <a:blipFill>
                <a:blip r:embed="rId2"/>
                <a:stretch>
                  <a:fillRect l="-846" t="-1355" b="-88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984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15A29BC-1F87-493E-B48B-73E4FDB776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9592" y="1916832"/>
            <a:ext cx="7272808" cy="2396333"/>
          </a:xfrm>
        </p:spPr>
        <p:txBody>
          <a:bodyPr/>
          <a:lstStyle/>
          <a:p>
            <a:r>
              <a:rPr lang="zh-CN" altLang="en-US" sz="2400" dirty="0"/>
              <a:t>课堂的知识点的总结</a:t>
            </a:r>
            <a:endParaRPr lang="en-US" altLang="zh-CN" sz="2400" dirty="0"/>
          </a:p>
          <a:p>
            <a:r>
              <a:rPr lang="zh-CN" altLang="en-US" sz="2400" dirty="0"/>
              <a:t>课堂练习总结</a:t>
            </a:r>
            <a:endParaRPr lang="en-US" altLang="zh-CN" sz="2400" dirty="0"/>
          </a:p>
          <a:p>
            <a:r>
              <a:rPr lang="zh-CN" altLang="en-US" sz="2400" dirty="0"/>
              <a:t>习题 </a:t>
            </a:r>
            <a:r>
              <a:rPr lang="en-US" altLang="zh-CN" sz="2400" dirty="0"/>
              <a:t>2.1,   2.2</a:t>
            </a:r>
            <a:r>
              <a:rPr lang="zh-CN" altLang="en-US" sz="2400" dirty="0"/>
              <a:t>，</a:t>
            </a:r>
            <a:r>
              <a:rPr lang="en-US" altLang="zh-CN" sz="2400" dirty="0"/>
              <a:t> 2.3</a:t>
            </a:r>
            <a:r>
              <a:rPr lang="zh-CN" altLang="en-US" sz="2400" dirty="0"/>
              <a:t>，</a:t>
            </a:r>
            <a:r>
              <a:rPr lang="en-US" altLang="zh-CN" sz="2400" dirty="0"/>
              <a:t>2.4</a:t>
            </a:r>
            <a:r>
              <a:rPr lang="zh-CN" altLang="en-US" sz="2400" dirty="0"/>
              <a:t>，</a:t>
            </a:r>
            <a:r>
              <a:rPr lang="en-US" altLang="zh-CN" sz="2400" dirty="0"/>
              <a:t>2.6</a:t>
            </a:r>
            <a:r>
              <a:rPr lang="zh-CN" altLang="en-US" sz="2400" dirty="0"/>
              <a:t>，</a:t>
            </a:r>
            <a:r>
              <a:rPr lang="en-US" altLang="zh-CN" sz="2400" dirty="0"/>
              <a:t>2.8</a:t>
            </a:r>
          </a:p>
          <a:p>
            <a:r>
              <a:rPr lang="zh-CN" altLang="en-US" sz="2400" dirty="0"/>
              <a:t>要求给出详细的思路和计算过程。</a:t>
            </a:r>
          </a:p>
        </p:txBody>
      </p:sp>
    </p:spTree>
    <p:extLst>
      <p:ext uri="{BB962C8B-B14F-4D97-AF65-F5344CB8AC3E}">
        <p14:creationId xmlns:p14="http://schemas.microsoft.com/office/powerpoint/2010/main" val="13815108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Compressive Sensing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_Pres_in_sample">
  <a:themeElements>
    <a:clrScheme name="1_Pres_in_sample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Pres_in_sample">
      <a:majorFont>
        <a:latin typeface="黑体"/>
        <a:ea typeface="黑体"/>
        <a:cs typeface=""/>
      </a:majorFont>
      <a:minorFont>
        <a:latin typeface="仿宋_GB2312"/>
        <a:ea typeface="仿宋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_Pres_in_sample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res_in_sample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_in_sample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_in_sample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_in_sampl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_in_sampl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_in_sampl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Pres_in_sample">
  <a:themeElements>
    <a:clrScheme name="1_Pres_in_sample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Pres_in_sample">
      <a:majorFont>
        <a:latin typeface="黑体"/>
        <a:ea typeface="黑体"/>
        <a:cs typeface=""/>
      </a:majorFont>
      <a:minorFont>
        <a:latin typeface="仿宋_GB2312"/>
        <a:ea typeface="仿宋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_Pres_in_sample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res_in_sample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_in_sample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_in_sample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_in_sampl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_in_sampl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_in_sampl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Compressive Sensing</Template>
  <TotalTime>7209</TotalTime>
  <Words>2854</Words>
  <Application>Microsoft Office PowerPoint</Application>
  <PresentationFormat>全屏显示(4:3)</PresentationFormat>
  <Paragraphs>302</Paragraphs>
  <Slides>43</Slides>
  <Notes>17</Notes>
  <HiddenSlides>0</HiddenSlides>
  <MMClips>1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5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43</vt:i4>
      </vt:variant>
    </vt:vector>
  </HeadingPairs>
  <TitlesOfParts>
    <vt:vector size="62" baseType="lpstr">
      <vt:lpstr>Arial Unicode MS</vt:lpstr>
      <vt:lpstr>黑体</vt:lpstr>
      <vt:lpstr>楷体</vt:lpstr>
      <vt:lpstr>宋体</vt:lpstr>
      <vt:lpstr>Microsoft Yahei</vt:lpstr>
      <vt:lpstr>Arial</vt:lpstr>
      <vt:lpstr>Arial Black</vt:lpstr>
      <vt:lpstr>Calibri</vt:lpstr>
      <vt:lpstr>Cambria Math</vt:lpstr>
      <vt:lpstr>Comic Sans MS</vt:lpstr>
      <vt:lpstr>Tahoma</vt:lpstr>
      <vt:lpstr>Times New Roman</vt:lpstr>
      <vt:lpstr>Wingdings</vt:lpstr>
      <vt:lpstr>1_自定义设计方案</vt:lpstr>
      <vt:lpstr>自定义设计方案</vt:lpstr>
      <vt:lpstr>1_Compressive Sensing</vt:lpstr>
      <vt:lpstr>1_Pres_in_sample</vt:lpstr>
      <vt:lpstr>2_Pres_in_sample</vt:lpstr>
      <vt:lpstr>Image</vt:lpstr>
      <vt:lpstr>PowerPoint 演示文稿</vt:lpstr>
      <vt:lpstr>第二章 随机信号（随机过程）</vt:lpstr>
      <vt:lpstr>学习目标</vt:lpstr>
      <vt:lpstr>青岛校区的风</vt:lpstr>
      <vt:lpstr>2.1 随机信号的定义与基本特性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2.2   典型信号举例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Keio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Wensheng Zhang</dc:creator>
  <cp:lastModifiedBy>Wensheng Zhang</cp:lastModifiedBy>
  <cp:revision>795</cp:revision>
  <dcterms:created xsi:type="dcterms:W3CDTF">2012-07-10T00:46:24Z</dcterms:created>
  <dcterms:modified xsi:type="dcterms:W3CDTF">2024-10-11T04:52:42Z</dcterms:modified>
</cp:coreProperties>
</file>