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mp" ContentType="image/png"/>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4.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660" r:id="rId2"/>
    <p:sldMasterId id="2147483686" r:id="rId3"/>
    <p:sldMasterId id="2147483690" r:id="rId4"/>
    <p:sldMasterId id="2147483708" r:id="rId5"/>
  </p:sldMasterIdLst>
  <p:notesMasterIdLst>
    <p:notesMasterId r:id="rId40"/>
  </p:notesMasterIdLst>
  <p:handoutMasterIdLst>
    <p:handoutMasterId r:id="rId41"/>
  </p:handoutMasterIdLst>
  <p:sldIdLst>
    <p:sldId id="360" r:id="rId6"/>
    <p:sldId id="256" r:id="rId7"/>
    <p:sldId id="258" r:id="rId8"/>
    <p:sldId id="259" r:id="rId9"/>
    <p:sldId id="273" r:id="rId10"/>
    <p:sldId id="269" r:id="rId11"/>
    <p:sldId id="260" r:id="rId12"/>
    <p:sldId id="261" r:id="rId13"/>
    <p:sldId id="262" r:id="rId14"/>
    <p:sldId id="266" r:id="rId15"/>
    <p:sldId id="263" r:id="rId16"/>
    <p:sldId id="264" r:id="rId17"/>
    <p:sldId id="265" r:id="rId18"/>
    <p:sldId id="267" r:id="rId19"/>
    <p:sldId id="271" r:id="rId20"/>
    <p:sldId id="272" r:id="rId21"/>
    <p:sldId id="295" r:id="rId22"/>
    <p:sldId id="297" r:id="rId23"/>
    <p:sldId id="361" r:id="rId24"/>
    <p:sldId id="362" r:id="rId25"/>
    <p:sldId id="363" r:id="rId26"/>
    <p:sldId id="364" r:id="rId27"/>
    <p:sldId id="365" r:id="rId28"/>
    <p:sldId id="366" r:id="rId29"/>
    <p:sldId id="298" r:id="rId30"/>
    <p:sldId id="299" r:id="rId31"/>
    <p:sldId id="300" r:id="rId32"/>
    <p:sldId id="301" r:id="rId33"/>
    <p:sldId id="302" r:id="rId34"/>
    <p:sldId id="303" r:id="rId35"/>
    <p:sldId id="304" r:id="rId36"/>
    <p:sldId id="305" r:id="rId37"/>
    <p:sldId id="306" r:id="rId38"/>
    <p:sldId id="307" r:id="rId39"/>
  </p:sldIdLst>
  <p:sldSz cx="9144000" cy="6858000" type="screen4x3"/>
  <p:notesSz cx="6858000" cy="9144000"/>
  <p:defaultTextStyle>
    <a:defPPr>
      <a:defRPr lang="es-E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ENOVO USER" initials="LU"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305"/>
    <a:srgbClr val="D09E00"/>
    <a:srgbClr val="FFD347"/>
    <a:srgbClr val="B88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96" autoAdjust="0"/>
    <p:restoredTop sz="88102" autoAdjust="0"/>
  </p:normalViewPr>
  <p:slideViewPr>
    <p:cSldViewPr>
      <p:cViewPr varScale="1">
        <p:scale>
          <a:sx n="68" d="100"/>
          <a:sy n="68" d="100"/>
        </p:scale>
        <p:origin x="1277" y="37"/>
      </p:cViewPr>
      <p:guideLst>
        <p:guide orient="horz" pos="2160"/>
        <p:guide pos="2880"/>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100" d="100"/>
        <a:sy n="100" d="100"/>
      </p:scale>
      <p:origin x="0" y="1302"/>
    </p:cViewPr>
  </p:sorterViewPr>
  <p:notesViewPr>
    <p:cSldViewPr>
      <p:cViewPr varScale="1">
        <p:scale>
          <a:sx n="66" d="100"/>
          <a:sy n="66" d="100"/>
        </p:scale>
        <p:origin x="1579" y="53"/>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commentAuthors" Target="commentAuthor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presProps" Target="presProps.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 Id="rId5" Type="http://schemas.openxmlformats.org/officeDocument/2006/relationships/image" Target="../media/image18.emf"/><Relationship Id="rId4" Type="http://schemas.openxmlformats.org/officeDocument/2006/relationships/image" Target="../media/image1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57215D6-64B5-4D81-A068-018BC9D15C70}" type="datetimeFigureOut">
              <a:rPr lang="zh-CN" altLang="en-US" smtClean="0"/>
              <a:pPr/>
              <a:t>2024/11/29</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7B1B2BF-B727-4E7D-871C-58E4727485FE}" type="slidenum">
              <a:rPr lang="zh-CN" altLang="en-US" smtClean="0"/>
              <a:pPr/>
              <a:t>‹#›</a:t>
            </a:fld>
            <a:endParaRPr lang="zh-CN" altLang="en-US"/>
          </a:p>
        </p:txBody>
      </p:sp>
    </p:spTree>
    <p:extLst>
      <p:ext uri="{BB962C8B-B14F-4D97-AF65-F5344CB8AC3E}">
        <p14:creationId xmlns:p14="http://schemas.microsoft.com/office/powerpoint/2010/main" val="2216034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0634918-EEE7-4DA3-9986-E691913FFCBE}" type="datetimeFigureOut">
              <a:rPr lang="zh-CN" altLang="en-US" smtClean="0"/>
              <a:pPr/>
              <a:t>2024/11/29</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1544D2F-56DD-4976-9716-D18248F9480C}" type="slidenum">
              <a:rPr lang="zh-CN" altLang="en-US" smtClean="0"/>
              <a:pPr/>
              <a:t>‹#›</a:t>
            </a:fld>
            <a:endParaRPr lang="zh-CN" altLang="en-US"/>
          </a:p>
        </p:txBody>
      </p:sp>
    </p:spTree>
    <p:extLst>
      <p:ext uri="{BB962C8B-B14F-4D97-AF65-F5344CB8AC3E}">
        <p14:creationId xmlns:p14="http://schemas.microsoft.com/office/powerpoint/2010/main" val="825873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544D2F-56DD-4976-9716-D18248F9480C}" type="slidenum">
              <a:rPr lang="zh-CN" altLang="en-US" smtClean="0">
                <a:solidFill>
                  <a:prstClr val="black"/>
                </a:solidFill>
              </a:rPr>
              <a:pPr/>
              <a:t>1</a:t>
            </a:fld>
            <a:endParaRPr lang="zh-CN" altLang="en-US">
              <a:solidFill>
                <a:prstClr val="black"/>
              </a:solidFill>
            </a:endParaRPr>
          </a:p>
        </p:txBody>
      </p:sp>
    </p:spTree>
    <p:extLst>
      <p:ext uri="{BB962C8B-B14F-4D97-AF65-F5344CB8AC3E}">
        <p14:creationId xmlns:p14="http://schemas.microsoft.com/office/powerpoint/2010/main" val="40942257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1544D2F-56DD-4976-9716-D18248F9480C}" type="slidenum">
              <a:rPr lang="zh-CN" altLang="en-US" smtClean="0"/>
              <a:pPr/>
              <a:t>2</a:t>
            </a:fld>
            <a:endParaRPr lang="zh-CN" altLang="en-US"/>
          </a:p>
        </p:txBody>
      </p:sp>
    </p:spTree>
    <p:extLst>
      <p:ext uri="{BB962C8B-B14F-4D97-AF65-F5344CB8AC3E}">
        <p14:creationId xmlns:p14="http://schemas.microsoft.com/office/powerpoint/2010/main" val="2006637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理解其中的逻辑关系：简</a:t>
            </a:r>
            <a:r>
              <a:rPr lang="en-US" altLang="zh-CN" dirty="0"/>
              <a:t>—</a:t>
            </a:r>
            <a:r>
              <a:rPr lang="zh-CN" altLang="en-US" dirty="0"/>
              <a:t>繁</a:t>
            </a:r>
            <a:r>
              <a:rPr lang="en-US" altLang="zh-CN" dirty="0"/>
              <a:t>—</a:t>
            </a:r>
            <a:r>
              <a:rPr lang="zh-CN" altLang="en-US" dirty="0"/>
              <a:t>简</a:t>
            </a:r>
          </a:p>
        </p:txBody>
      </p:sp>
      <p:sp>
        <p:nvSpPr>
          <p:cNvPr id="4" name="灯片编号占位符 3"/>
          <p:cNvSpPr>
            <a:spLocks noGrp="1"/>
          </p:cNvSpPr>
          <p:nvPr>
            <p:ph type="sldNum" sz="quarter" idx="5"/>
          </p:nvPr>
        </p:nvSpPr>
        <p:spPr/>
        <p:txBody>
          <a:bodyPr/>
          <a:lstStyle/>
          <a:p>
            <a:fld id="{B1544D2F-56DD-4976-9716-D18248F9480C}" type="slidenum">
              <a:rPr lang="zh-CN" altLang="en-US" smtClean="0"/>
              <a:pPr/>
              <a:t>3</a:t>
            </a:fld>
            <a:endParaRPr lang="zh-CN" altLang="en-US"/>
          </a:p>
        </p:txBody>
      </p:sp>
    </p:spTree>
    <p:extLst>
      <p:ext uri="{BB962C8B-B14F-4D97-AF65-F5344CB8AC3E}">
        <p14:creationId xmlns:p14="http://schemas.microsoft.com/office/powerpoint/2010/main" val="22955680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19FDD8F-1499-4C79-8BBC-577CD559A01B}" type="datetimeFigureOut">
              <a:rPr lang="zh-CN" altLang="en-US" smtClean="0"/>
              <a:pPr/>
              <a:t>2024/11/29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608100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19FDD8F-1499-4C79-8BBC-577CD559A01B}" type="datetimeFigureOut">
              <a:rPr lang="zh-CN" altLang="en-US" smtClean="0"/>
              <a:pPr/>
              <a:t>2024/11/29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2060645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19FDD8F-1499-4C79-8BBC-577CD559A01B}" type="datetimeFigureOut">
              <a:rPr lang="zh-CN" altLang="en-US" smtClean="0"/>
              <a:pPr/>
              <a:t>2024/11/29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4157325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19FDD8F-1499-4C79-8BBC-577CD559A01B}" type="datetimeFigureOut">
              <a:rPr lang="zh-CN" altLang="en-US" smtClean="0"/>
              <a:pPr/>
              <a:t>2024/11/29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1229563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19FDD8F-1499-4C79-8BBC-577CD559A01B}" type="datetimeFigureOut">
              <a:rPr lang="zh-CN" altLang="en-US" smtClean="0"/>
              <a:pPr/>
              <a:t>2024/11/29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805227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19FDD8F-1499-4C79-8BBC-577CD559A01B}" type="datetimeFigureOut">
              <a:rPr lang="zh-CN" altLang="en-US" smtClean="0"/>
              <a:pPr/>
              <a:t>2024/11/29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351970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19FDD8F-1499-4C79-8BBC-577CD559A01B}" type="datetimeFigureOut">
              <a:rPr lang="zh-CN" altLang="en-US" smtClean="0"/>
              <a:pPr/>
              <a:t>2024/11/29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2690190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19FDD8F-1499-4C79-8BBC-577CD559A01B}" type="datetimeFigureOut">
              <a:rPr lang="zh-CN" altLang="en-US" smtClean="0"/>
              <a:pPr/>
              <a:t>2024/11/29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2650785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19FDD8F-1499-4C79-8BBC-577CD559A01B}" type="datetimeFigureOut">
              <a:rPr lang="zh-CN" altLang="en-US" smtClean="0"/>
              <a:pPr/>
              <a:t>2024/11/29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34611027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19FDD8F-1499-4C79-8BBC-577CD559A01B}" type="datetimeFigureOut">
              <a:rPr lang="zh-CN" altLang="en-US" smtClean="0"/>
              <a:pPr/>
              <a:t>2024/11/29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978355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19FDD8F-1499-4C79-8BBC-577CD559A01B}" type="datetimeFigureOut">
              <a:rPr lang="zh-CN" altLang="en-US" smtClean="0"/>
              <a:pPr/>
              <a:t>2024/11/29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25187917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D139855-D108-4DFB-8CB9-5769378610FC}" type="datetimeFigureOut">
              <a:rPr lang="zh-CN" altLang="en-US" smtClean="0"/>
              <a:pPr/>
              <a:t>2024/11/29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1062518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D139855-D108-4DFB-8CB9-5769378610FC}" type="datetimeFigureOut">
              <a:rPr lang="zh-CN" altLang="en-US" smtClean="0"/>
              <a:pPr/>
              <a:t>2024/11/29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16714900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D139855-D108-4DFB-8CB9-5769378610FC}" type="datetimeFigureOut">
              <a:rPr lang="zh-CN" altLang="en-US" smtClean="0"/>
              <a:pPr/>
              <a:t>2024/11/29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22528297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2D139855-D108-4DFB-8CB9-5769378610FC}" type="datetimeFigureOut">
              <a:rPr lang="zh-CN" altLang="en-US" smtClean="0"/>
              <a:pPr/>
              <a:t>2024/11/29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35488879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2D139855-D108-4DFB-8CB9-5769378610FC}" type="datetimeFigureOut">
              <a:rPr lang="zh-CN" altLang="en-US" smtClean="0"/>
              <a:pPr/>
              <a:t>2024/11/29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28115047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D139855-D108-4DFB-8CB9-5769378610FC}" type="datetimeFigureOut">
              <a:rPr lang="zh-CN" altLang="en-US" smtClean="0"/>
              <a:pPr/>
              <a:t>2024/11/29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9958882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D139855-D108-4DFB-8CB9-5769378610FC}" type="datetimeFigureOut">
              <a:rPr lang="zh-CN" altLang="en-US" smtClean="0"/>
              <a:pPr/>
              <a:t>2024/11/29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20247844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D139855-D108-4DFB-8CB9-5769378610FC}" type="datetimeFigureOut">
              <a:rPr lang="zh-CN" altLang="en-US" smtClean="0"/>
              <a:pPr/>
              <a:t>2024/11/29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20003969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D139855-D108-4DFB-8CB9-5769378610FC}" type="datetimeFigureOut">
              <a:rPr lang="zh-CN" altLang="en-US" smtClean="0"/>
              <a:pPr/>
              <a:t>2024/11/29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28296364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D139855-D108-4DFB-8CB9-5769378610FC}" type="datetimeFigureOut">
              <a:rPr lang="zh-CN" altLang="en-US" smtClean="0"/>
              <a:pPr/>
              <a:t>2024/11/29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4501754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D139855-D108-4DFB-8CB9-5769378610FC}" type="datetimeFigureOut">
              <a:rPr lang="zh-CN" altLang="en-US" smtClean="0"/>
              <a:pPr/>
              <a:t>2024/11/29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10321565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es-ES"/>
          </a:p>
        </p:txBody>
      </p:sp>
      <p:sp>
        <p:nvSpPr>
          <p:cNvPr id="3" name="2 Subtítulo"/>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s-ES"/>
          </a:p>
        </p:txBody>
      </p:sp>
      <p:sp>
        <p:nvSpPr>
          <p:cNvPr id="4" name="3 Marcador de fecha"/>
          <p:cNvSpPr>
            <a:spLocks noGrp="1"/>
          </p:cNvSpPr>
          <p:nvPr>
            <p:ph type="dt" sz="half" idx="10"/>
          </p:nvPr>
        </p:nvSpPr>
        <p:spPr>
          <a:xfrm>
            <a:off x="457200" y="6356350"/>
            <a:ext cx="1306488" cy="365125"/>
          </a:xfrm>
          <a:prstGeom prst="rect">
            <a:avLst/>
          </a:prstGeom>
        </p:spPr>
        <p:txBody>
          <a:bodyPr/>
          <a:lstStyle>
            <a:lvl1pPr>
              <a:defRPr/>
            </a:lvl1pPr>
          </a:lstStyle>
          <a:p>
            <a:pPr>
              <a:defRPr/>
            </a:pPr>
            <a:fld id="{7500E5B7-4980-4DCB-B895-755E41E90C37}" type="datetime1">
              <a:rPr lang="es-ES" altLang="zh-CN" smtClean="0">
                <a:solidFill>
                  <a:prstClr val="black"/>
                </a:solidFill>
              </a:rPr>
              <a:pPr>
                <a:defRPr/>
              </a:pPr>
              <a:t>29/11/2024</a:t>
            </a:fld>
            <a:endParaRPr lang="es-ES" dirty="0">
              <a:solidFill>
                <a:prstClr val="black"/>
              </a:solidFill>
            </a:endParaRPr>
          </a:p>
        </p:txBody>
      </p:sp>
      <p:sp>
        <p:nvSpPr>
          <p:cNvPr id="5" name="4 Marcador de pie de página"/>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s-ES">
              <a:solidFill>
                <a:prstClr val="black"/>
              </a:solidFill>
            </a:endParaRPr>
          </a:p>
        </p:txBody>
      </p:sp>
      <p:sp>
        <p:nvSpPr>
          <p:cNvPr id="6" name="5 Marcador de número de diapositiva"/>
          <p:cNvSpPr>
            <a:spLocks noGrp="1"/>
          </p:cNvSpPr>
          <p:nvPr>
            <p:ph type="sldNum" sz="quarter" idx="12"/>
          </p:nvPr>
        </p:nvSpPr>
        <p:spPr/>
        <p:txBody>
          <a:bodyPr/>
          <a:lstStyle>
            <a:lvl1pPr>
              <a:defRPr/>
            </a:lvl1pPr>
          </a:lstStyle>
          <a:p>
            <a:pPr>
              <a:defRPr/>
            </a:pPr>
            <a:fld id="{C089EF8F-819D-4663-82E4-C10ECE9AAC28}" type="slidenum">
              <a:rPr lang="es-ES">
                <a:solidFill>
                  <a:prstClr val="black">
                    <a:tint val="75000"/>
                  </a:prstClr>
                </a:solidFill>
              </a:rPr>
              <a:pPr>
                <a:defRPr/>
              </a:pPr>
              <a:t>‹#›</a:t>
            </a:fld>
            <a:endParaRPr lang="es-ES" dirty="0">
              <a:solidFill>
                <a:prstClr val="black">
                  <a:tint val="75000"/>
                </a:prstClr>
              </a:solidFill>
            </a:endParaRPr>
          </a:p>
        </p:txBody>
      </p:sp>
    </p:spTree>
    <p:extLst>
      <p:ext uri="{BB962C8B-B14F-4D97-AF65-F5344CB8AC3E}">
        <p14:creationId xmlns:p14="http://schemas.microsoft.com/office/powerpoint/2010/main" val="17490180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灯片编号占位符 2"/>
          <p:cNvSpPr>
            <a:spLocks noGrp="1"/>
          </p:cNvSpPr>
          <p:nvPr>
            <p:ph type="sldNum" sz="quarter" idx="10"/>
          </p:nvPr>
        </p:nvSpPr>
        <p:spPr/>
        <p:txBody>
          <a:bodyPr/>
          <a:lstStyle/>
          <a:p>
            <a:pPr>
              <a:defRPr/>
            </a:pPr>
            <a:endParaRPr lang="es-ES" dirty="0">
              <a:solidFill>
                <a:prstClr val="black">
                  <a:tint val="75000"/>
                </a:prstClr>
              </a:solidFill>
            </a:endParaRPr>
          </a:p>
        </p:txBody>
      </p:sp>
      <p:sp>
        <p:nvSpPr>
          <p:cNvPr id="4" name="日期占位符 3"/>
          <p:cNvSpPr>
            <a:spLocks noGrp="1"/>
          </p:cNvSpPr>
          <p:nvPr>
            <p:ph type="dt" sz="half" idx="11"/>
          </p:nvPr>
        </p:nvSpPr>
        <p:spPr>
          <a:xfrm>
            <a:off x="0" y="6425952"/>
            <a:ext cx="1691680" cy="432048"/>
          </a:xfrm>
          <a:prstGeom prst="rect">
            <a:avLst/>
          </a:prstGeom>
        </p:spPr>
        <p:txBody>
          <a:bodyPr/>
          <a:lstStyle/>
          <a:p>
            <a:pPr>
              <a:defRPr/>
            </a:pPr>
            <a:r>
              <a:rPr lang="es-ES" altLang="zh-CN">
                <a:solidFill>
                  <a:prstClr val="black"/>
                </a:solidFill>
              </a:rPr>
              <a:t>Wensheng Zhang</a:t>
            </a:r>
            <a:endParaRPr lang="es-ES" dirty="0">
              <a:solidFill>
                <a:prstClr val="black"/>
              </a:solidFill>
            </a:endParaRPr>
          </a:p>
        </p:txBody>
      </p:sp>
    </p:spTree>
    <p:extLst>
      <p:ext uri="{BB962C8B-B14F-4D97-AF65-F5344CB8AC3E}">
        <p14:creationId xmlns:p14="http://schemas.microsoft.com/office/powerpoint/2010/main" val="10935885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0" y="0"/>
            <a:ext cx="8173156" cy="1417638"/>
          </a:xfrm>
          <a:prstGeom prst="rect">
            <a:avLst/>
          </a:prstGeom>
        </p:spPr>
        <p:txBody>
          <a:bodyPr/>
          <a:lstStyle/>
          <a:p>
            <a:r>
              <a:rPr lang="zh-CN" altLang="en-US"/>
              <a:t>单击此处编辑母版标题样式</a:t>
            </a:r>
            <a:endParaRPr lang="es-ES" dirty="0"/>
          </a:p>
        </p:txBody>
      </p:sp>
      <p:sp>
        <p:nvSpPr>
          <p:cNvPr id="3" name="2 Marcador de contenido"/>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s-ES" dirty="0"/>
          </a:p>
        </p:txBody>
      </p:sp>
      <p:sp>
        <p:nvSpPr>
          <p:cNvPr id="4" name="3 Marcador de fecha"/>
          <p:cNvSpPr>
            <a:spLocks noGrp="1"/>
          </p:cNvSpPr>
          <p:nvPr>
            <p:ph type="dt" sz="half" idx="10"/>
          </p:nvPr>
        </p:nvSpPr>
        <p:spPr>
          <a:xfrm>
            <a:off x="457200" y="6356350"/>
            <a:ext cx="1306488" cy="365125"/>
          </a:xfrm>
          <a:prstGeom prst="rect">
            <a:avLst/>
          </a:prstGeom>
        </p:spPr>
        <p:txBody>
          <a:bodyPr/>
          <a:lstStyle>
            <a:lvl1pPr>
              <a:defRPr/>
            </a:lvl1pPr>
          </a:lstStyle>
          <a:p>
            <a:pPr>
              <a:defRPr/>
            </a:pPr>
            <a:fld id="{139C957B-D1FD-480F-B320-0EDA5B29C51F}" type="datetime1">
              <a:rPr lang="es-ES" altLang="zh-CN" smtClean="0">
                <a:solidFill>
                  <a:prstClr val="black"/>
                </a:solidFill>
              </a:rPr>
              <a:pPr>
                <a:defRPr/>
              </a:pPr>
              <a:t>29/11/2024</a:t>
            </a:fld>
            <a:endParaRPr lang="es-ES" dirty="0">
              <a:solidFill>
                <a:prstClr val="black"/>
              </a:solidFill>
            </a:endParaRPr>
          </a:p>
        </p:txBody>
      </p:sp>
      <p:sp>
        <p:nvSpPr>
          <p:cNvPr id="5" name="4 Marcador de pie de página"/>
          <p:cNvSpPr>
            <a:spLocks noGrp="1"/>
          </p:cNvSpPr>
          <p:nvPr>
            <p:ph type="ftr" sz="quarter" idx="11"/>
          </p:nvPr>
        </p:nvSpPr>
        <p:spPr>
          <a:xfrm>
            <a:off x="2627784" y="6381328"/>
            <a:ext cx="2895600" cy="365125"/>
          </a:xfrm>
          <a:prstGeom prst="rect">
            <a:avLst/>
          </a:prstGeom>
        </p:spPr>
        <p:txBody>
          <a:bodyPr/>
          <a:lstStyle>
            <a:lvl1pPr>
              <a:defRPr/>
            </a:lvl1pPr>
          </a:lstStyle>
          <a:p>
            <a:pPr>
              <a:defRPr/>
            </a:pPr>
            <a:endParaRPr lang="es-ES" dirty="0">
              <a:solidFill>
                <a:prstClr val="black"/>
              </a:solidFill>
            </a:endParaRPr>
          </a:p>
        </p:txBody>
      </p:sp>
      <p:sp>
        <p:nvSpPr>
          <p:cNvPr id="6" name="5 Marcador de número de diapositiva"/>
          <p:cNvSpPr>
            <a:spLocks noGrp="1"/>
          </p:cNvSpPr>
          <p:nvPr>
            <p:ph type="sldNum" sz="quarter" idx="12"/>
          </p:nvPr>
        </p:nvSpPr>
        <p:spPr/>
        <p:txBody>
          <a:bodyPr/>
          <a:lstStyle>
            <a:lvl1pPr>
              <a:defRPr/>
            </a:lvl1pPr>
          </a:lstStyle>
          <a:p>
            <a:pPr>
              <a:defRPr/>
            </a:pPr>
            <a:fld id="{2FECF0F2-C070-45F9-912E-4BD4A0D78506}" type="slidenum">
              <a:rPr lang="es-ES">
                <a:solidFill>
                  <a:prstClr val="black">
                    <a:tint val="75000"/>
                  </a:prstClr>
                </a:solidFill>
              </a:rPr>
              <a:pPr>
                <a:defRPr/>
              </a:pPr>
              <a:t>‹#›</a:t>
            </a:fld>
            <a:endParaRPr lang="es-ES" dirty="0">
              <a:solidFill>
                <a:prstClr val="black">
                  <a:tint val="75000"/>
                </a:prstClr>
              </a:solidFill>
            </a:endParaRPr>
          </a:p>
        </p:txBody>
      </p:sp>
    </p:spTree>
    <p:extLst>
      <p:ext uri="{BB962C8B-B14F-4D97-AF65-F5344CB8AC3E}">
        <p14:creationId xmlns:p14="http://schemas.microsoft.com/office/powerpoint/2010/main" val="5527464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solidFill>
                  <a:srgbClr val="FF0000"/>
                </a:solidFill>
              </a:defRPr>
            </a:lvl1pPr>
          </a:lstStyle>
          <a:p>
            <a:r>
              <a:rPr lang="zh-CN" altLang="en-US" dirty="0"/>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单击此处编辑母版副标题样式</a:t>
            </a:r>
          </a:p>
        </p:txBody>
      </p:sp>
    </p:spTree>
    <p:extLst>
      <p:ext uri="{BB962C8B-B14F-4D97-AF65-F5344CB8AC3E}">
        <p14:creationId xmlns:p14="http://schemas.microsoft.com/office/powerpoint/2010/main" val="199180506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6"/>
            <a:ext cx="7886700" cy="1119659"/>
          </a:xfrm>
        </p:spPr>
        <p:txBody>
          <a:bodyPr>
            <a:normAutofit/>
          </a:bodyPr>
          <a:lstStyle>
            <a:lvl1pPr algn="ctr">
              <a:defRPr sz="2700" b="1" baseline="0">
                <a:solidFill>
                  <a:srgbClr val="FF0000"/>
                </a:solidFill>
                <a:latin typeface="Times New Roman" panose="02020603050405020304" pitchFamily="18" charset="0"/>
                <a:ea typeface="隶书" panose="02010509060101010101" pitchFamily="49"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lnSpc>
                <a:spcPct val="110000"/>
              </a:lnSpc>
              <a:spcBef>
                <a:spcPts val="900"/>
              </a:spcBef>
              <a:defRPr sz="2100" b="1" baseline="0">
                <a:solidFill>
                  <a:schemeClr val="tx1"/>
                </a:solidFill>
                <a:latin typeface="Times New Roman" panose="02020603050405020304" pitchFamily="18" charset="0"/>
                <a:ea typeface="楷体" panose="02010609060101010101" pitchFamily="49" charset="-122"/>
              </a:defRPr>
            </a:lvl1pPr>
            <a:lvl2pPr>
              <a:lnSpc>
                <a:spcPct val="110000"/>
              </a:lnSpc>
              <a:spcBef>
                <a:spcPts val="900"/>
              </a:spcBef>
              <a:defRPr sz="1800" b="1" baseline="0">
                <a:solidFill>
                  <a:schemeClr val="tx1"/>
                </a:solidFill>
                <a:latin typeface="Times New Roman" panose="02020603050405020304" pitchFamily="18" charset="0"/>
                <a:ea typeface="楷体" panose="02010609060101010101" pitchFamily="49" charset="-122"/>
              </a:defRPr>
            </a:lvl2pPr>
            <a:lvl3pPr>
              <a:lnSpc>
                <a:spcPct val="110000"/>
              </a:lnSpc>
              <a:spcBef>
                <a:spcPts val="900"/>
              </a:spcBef>
              <a:defRPr sz="1800" b="1" baseline="0">
                <a:solidFill>
                  <a:schemeClr val="tx1"/>
                </a:solidFill>
                <a:latin typeface="Times New Roman" panose="02020603050405020304" pitchFamily="18" charset="0"/>
                <a:ea typeface="楷体" panose="02010609060101010101" pitchFamily="49" charset="-122"/>
              </a:defRPr>
            </a:lvl3pPr>
            <a:lvl4pPr>
              <a:lnSpc>
                <a:spcPct val="110000"/>
              </a:lnSpc>
              <a:spcBef>
                <a:spcPts val="900"/>
              </a:spcBef>
              <a:defRPr sz="1800" b="1" baseline="0">
                <a:solidFill>
                  <a:schemeClr val="tx1"/>
                </a:solidFill>
                <a:latin typeface="Times New Roman" panose="02020603050405020304" pitchFamily="18" charset="0"/>
                <a:ea typeface="楷体" panose="02010609060101010101" pitchFamily="49" charset="-122"/>
              </a:defRPr>
            </a:lvl4pPr>
            <a:lvl5pPr>
              <a:lnSpc>
                <a:spcPct val="110000"/>
              </a:lnSpc>
              <a:spcBef>
                <a:spcPts val="900"/>
              </a:spcBef>
              <a:defRPr sz="1800" b="1" baseline="0">
                <a:solidFill>
                  <a:schemeClr val="tx1"/>
                </a:solidFill>
                <a:latin typeface="Times New Roman" panose="02020603050405020304" pitchFamily="18" charset="0"/>
                <a:ea typeface="楷体" panose="020106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1515631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752041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70743" y="234841"/>
            <a:ext cx="8229600" cy="674320"/>
          </a:xfrm>
        </p:spPr>
        <p:txBody>
          <a:bodyPr/>
          <a:lstStyle/>
          <a:p>
            <a:r>
              <a:rPr lang="zh-CN" altLang="en-US"/>
              <a:t>单击此处编辑母版标题样式</a:t>
            </a:r>
          </a:p>
        </p:txBody>
      </p:sp>
    </p:spTree>
    <p:extLst>
      <p:ext uri="{BB962C8B-B14F-4D97-AF65-F5344CB8AC3E}">
        <p14:creationId xmlns:p14="http://schemas.microsoft.com/office/powerpoint/2010/main" val="198766862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00114" y="1484313"/>
            <a:ext cx="3775075" cy="50403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27588" y="1484313"/>
            <a:ext cx="3776662" cy="50403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11189" y="6381750"/>
            <a:ext cx="2447925" cy="400050"/>
          </a:xfrm>
          <a:prstGeom prst="rect">
            <a:avLst/>
          </a:prstGeom>
        </p:spPr>
        <p:txBody>
          <a:bodyPr/>
          <a:lstStyle>
            <a:lvl1pPr eaLnBrk="1" hangingPunct="1">
              <a:defRPr>
                <a:solidFill>
                  <a:srgbClr val="000000"/>
                </a:solidFill>
                <a:latin typeface="Comic Sans MS" panose="030F0702030302020204" pitchFamily="66" charset="0"/>
              </a:defRPr>
            </a:lvl1pPr>
          </a:lstStyle>
          <a:p>
            <a:pPr>
              <a:defRPr/>
            </a:pPr>
            <a:r>
              <a:rPr lang="en-US" altLang="zh-CN"/>
              <a:t>Copyrights Zhu, Weihong</a:t>
            </a:r>
            <a:r>
              <a:rPr lang="en-US" altLang="zh-CN">
                <a:latin typeface="Tahoma" panose="020B0604030504040204" pitchFamily="34" charset="0"/>
              </a:rPr>
              <a:t> </a:t>
            </a:r>
          </a:p>
        </p:txBody>
      </p:sp>
      <p:sp>
        <p:nvSpPr>
          <p:cNvPr id="6" name="页脚占位符 5"/>
          <p:cNvSpPr>
            <a:spLocks noGrp="1"/>
          </p:cNvSpPr>
          <p:nvPr>
            <p:ph type="ftr" sz="quarter" idx="11"/>
          </p:nvPr>
        </p:nvSpPr>
        <p:spPr>
          <a:xfrm>
            <a:off x="3352800" y="6324600"/>
            <a:ext cx="2895600" cy="457200"/>
          </a:xfrm>
          <a:prstGeom prst="rect">
            <a:avLst/>
          </a:prstGeom>
        </p:spPr>
        <p:txBody>
          <a:bodyPr/>
          <a:lstStyle>
            <a:lvl1pPr eaLnBrk="1" hangingPunct="1">
              <a:defRPr>
                <a:solidFill>
                  <a:srgbClr val="000000"/>
                </a:solidFill>
                <a:latin typeface="Comic Sans MS" panose="030F0702030302020204" pitchFamily="66" charset="0"/>
              </a:defRPr>
            </a:lvl1pPr>
          </a:lstStyle>
          <a:p>
            <a:pPr>
              <a:defRPr/>
            </a:pPr>
            <a:endParaRPr lang="en-US" altLang="zh-CN" dirty="0"/>
          </a:p>
        </p:txBody>
      </p:sp>
    </p:spTree>
    <p:extLst>
      <p:ext uri="{BB962C8B-B14F-4D97-AF65-F5344CB8AC3E}">
        <p14:creationId xmlns:p14="http://schemas.microsoft.com/office/powerpoint/2010/main" val="25697970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4213" y="404815"/>
            <a:ext cx="8134350" cy="828675"/>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412877"/>
            <a:ext cx="3771900" cy="49688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10100" y="1412877"/>
            <a:ext cx="3771900" cy="49688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1371600" y="6248400"/>
            <a:ext cx="1905000" cy="457200"/>
          </a:xfrm>
          <a:prstGeom prst="rect">
            <a:avLst/>
          </a:prstGeom>
        </p:spPr>
        <p:txBody>
          <a:bodyPr/>
          <a:lstStyle>
            <a:lvl1pPr eaLnBrk="1" hangingPunct="1">
              <a:defRPr>
                <a:solidFill>
                  <a:srgbClr val="000000"/>
                </a:solidFill>
                <a:latin typeface="Comic Sans MS" panose="030F0702030302020204" pitchFamily="66" charset="0"/>
              </a:defRPr>
            </a:lvl1pPr>
          </a:lstStyle>
          <a:p>
            <a:pPr>
              <a:defRPr/>
            </a:pPr>
            <a:endParaRPr lang="en-US" altLang="zh-CN"/>
          </a:p>
        </p:txBody>
      </p:sp>
      <p:sp>
        <p:nvSpPr>
          <p:cNvPr id="6" name="页脚占位符 5"/>
          <p:cNvSpPr>
            <a:spLocks noGrp="1"/>
          </p:cNvSpPr>
          <p:nvPr>
            <p:ph type="ftr" sz="quarter" idx="11"/>
          </p:nvPr>
        </p:nvSpPr>
        <p:spPr>
          <a:xfrm>
            <a:off x="3549073" y="6400800"/>
            <a:ext cx="2895600" cy="457200"/>
          </a:xfrm>
          <a:prstGeom prst="rect">
            <a:avLst/>
          </a:prstGeom>
        </p:spPr>
        <p:txBody>
          <a:bodyPr/>
          <a:lstStyle>
            <a:lvl1pPr eaLnBrk="1" hangingPunct="1">
              <a:defRPr>
                <a:solidFill>
                  <a:srgbClr val="000000"/>
                </a:solidFill>
                <a:latin typeface="Comic Sans MS" panose="030F0702030302020204" pitchFamily="66" charset="0"/>
              </a:defRPr>
            </a:lvl1pPr>
          </a:lstStyle>
          <a:p>
            <a:pPr>
              <a:defRPr/>
            </a:pPr>
            <a:endParaRPr lang="en-US" altLang="zh-CN" dirty="0"/>
          </a:p>
        </p:txBody>
      </p:sp>
    </p:spTree>
    <p:extLst>
      <p:ext uri="{BB962C8B-B14F-4D97-AF65-F5344CB8AC3E}">
        <p14:creationId xmlns:p14="http://schemas.microsoft.com/office/powerpoint/2010/main" val="9209834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40"/>
            <a:ext cx="8229600" cy="814387"/>
          </a:xfrm>
        </p:spPr>
        <p:txBody>
          <a:bodyPr/>
          <a:lstStyle/>
          <a:p>
            <a:r>
              <a:rPr lang="zh-CN" altLang="en-US"/>
              <a:t>单击此处编辑母版标题样式</a:t>
            </a:r>
          </a:p>
        </p:txBody>
      </p:sp>
      <p:sp>
        <p:nvSpPr>
          <p:cNvPr id="3" name="文本占位符 2"/>
          <p:cNvSpPr>
            <a:spLocks noGrp="1"/>
          </p:cNvSpPr>
          <p:nvPr>
            <p:ph type="body" sz="half" idx="1"/>
          </p:nvPr>
        </p:nvSpPr>
        <p:spPr>
          <a:xfrm>
            <a:off x="466725" y="1196977"/>
            <a:ext cx="4046538" cy="48228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65664" y="1196977"/>
            <a:ext cx="4046537" cy="23352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65664" y="3684588"/>
            <a:ext cx="4046537" cy="23352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3"/>
          <p:cNvSpPr>
            <a:spLocks noGrp="1" noChangeArrowheads="1"/>
          </p:cNvSpPr>
          <p:nvPr>
            <p:ph type="ftr" sz="quarter" idx="10"/>
          </p:nvPr>
        </p:nvSpPr>
        <p:spPr>
          <a:xfrm>
            <a:off x="3028950" y="6356352"/>
            <a:ext cx="3086100" cy="365125"/>
          </a:xfrm>
          <a:prstGeom prst="rect">
            <a:avLst/>
          </a:prstGeom>
        </p:spPr>
        <p:txBody>
          <a:bodyPr wrap="square" numCol="1" anchorCtr="0" compatLnSpc="1">
            <a:prstTxWarp prst="textNoShape">
              <a:avLst/>
            </a:prstTxWarp>
          </a:bodyPr>
          <a:lstStyle>
            <a:lvl1pPr eaLnBrk="1" fontAlgn="base" hangingPunct="1">
              <a:spcBef>
                <a:spcPct val="0"/>
              </a:spcBef>
              <a:spcAft>
                <a:spcPct val="0"/>
              </a:spcAft>
              <a:defRPr>
                <a:solidFill>
                  <a:srgbClr val="898989"/>
                </a:solidFill>
                <a:latin typeface="Comic Sans MS" panose="030F0702030302020204" pitchFamily="66" charset="0"/>
              </a:defRPr>
            </a:lvl1pPr>
          </a:lstStyle>
          <a:p>
            <a:pPr>
              <a:defRPr/>
            </a:pPr>
            <a:r>
              <a:rPr lang="en-US" altLang="zh-CN"/>
              <a:t>	                                                                </a:t>
            </a:r>
            <a:fld id="{2ABEFC1A-4DB4-4CD2-A93A-BB13247C28F4}" type="slidenum">
              <a:rPr lang="en-US" altLang="zh-CN"/>
              <a:pPr>
                <a:defRPr/>
              </a:pPr>
              <a:t>‹#›</a:t>
            </a:fld>
            <a:endParaRPr lang="en-US" altLang="zh-CN"/>
          </a:p>
        </p:txBody>
      </p:sp>
      <p:sp>
        <p:nvSpPr>
          <p:cNvPr id="7" name="Rectangle 8"/>
          <p:cNvSpPr>
            <a:spLocks noGrp="1" noChangeArrowheads="1"/>
          </p:cNvSpPr>
          <p:nvPr>
            <p:ph type="dt" sz="half" idx="11"/>
          </p:nvPr>
        </p:nvSpPr>
        <p:spPr>
          <a:xfrm>
            <a:off x="628650" y="6356352"/>
            <a:ext cx="2057400" cy="365125"/>
          </a:xfrm>
          <a:prstGeom prst="rect">
            <a:avLst/>
          </a:prstGeom>
        </p:spPr>
        <p:txBody>
          <a:bodyPr/>
          <a:lstStyle>
            <a:lvl1pPr eaLnBrk="1" hangingPunct="1">
              <a:defRPr>
                <a:solidFill>
                  <a:srgbClr val="000000"/>
                </a:solidFill>
                <a:latin typeface="Comic Sans MS" panose="030F0702030302020204" pitchFamily="66" charset="0"/>
              </a:defRPr>
            </a:lvl1pPr>
          </a:lstStyle>
          <a:p>
            <a:pPr>
              <a:defRPr/>
            </a:pPr>
            <a:endParaRPr lang="en-US" altLang="zh-CN"/>
          </a:p>
        </p:txBody>
      </p:sp>
    </p:spTree>
    <p:extLst>
      <p:ext uri="{BB962C8B-B14F-4D97-AF65-F5344CB8AC3E}">
        <p14:creationId xmlns:p14="http://schemas.microsoft.com/office/powerpoint/2010/main" val="124571343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277201"/>
            <a:ext cx="7772400" cy="712546"/>
          </a:xfrm>
        </p:spPr>
        <p:txBody>
          <a:bodyPr/>
          <a:lstStyle/>
          <a:p>
            <a:r>
              <a:rPr lang="zh-CN" altLang="en-US" dirty="0"/>
              <a:t>单击此处编辑母版标题样式</a:t>
            </a:r>
          </a:p>
        </p:txBody>
      </p:sp>
      <p:sp>
        <p:nvSpPr>
          <p:cNvPr id="3" name="日期占位符 3"/>
          <p:cNvSpPr>
            <a:spLocks noGrp="1"/>
          </p:cNvSpPr>
          <p:nvPr>
            <p:ph type="dt" sz="half" idx="10"/>
          </p:nvPr>
        </p:nvSpPr>
        <p:spPr>
          <a:xfrm>
            <a:off x="628650" y="6356352"/>
            <a:ext cx="2057400" cy="365125"/>
          </a:xfrm>
          <a:prstGeom prst="rect">
            <a:avLst/>
          </a:prstGeom>
        </p:spPr>
        <p:txBody>
          <a:bodyPr/>
          <a:lstStyle>
            <a:lvl1pPr eaLnBrk="1" hangingPunct="1">
              <a:defRPr/>
            </a:lvl1pPr>
          </a:lstStyle>
          <a:p>
            <a:pPr>
              <a:defRPr/>
            </a:pPr>
            <a:endParaRPr lang="en-US" altLang="zh-CN"/>
          </a:p>
        </p:txBody>
      </p:sp>
      <p:sp>
        <p:nvSpPr>
          <p:cNvPr id="4" name="页脚占位符 4"/>
          <p:cNvSpPr>
            <a:spLocks noGrp="1"/>
          </p:cNvSpPr>
          <p:nvPr>
            <p:ph type="ftr" sz="quarter" idx="11"/>
          </p:nvPr>
        </p:nvSpPr>
        <p:spPr>
          <a:xfrm>
            <a:off x="3028950" y="6356352"/>
            <a:ext cx="3086100" cy="365125"/>
          </a:xfrm>
          <a:prstGeom prst="rect">
            <a:avLst/>
          </a:prstGeom>
        </p:spPr>
        <p:txBody>
          <a:bodyPr/>
          <a:lstStyle>
            <a:lvl1pPr eaLnBrk="1" hangingPunct="1">
              <a:defRPr/>
            </a:lvl1pPr>
          </a:lstStyle>
          <a:p>
            <a:pPr>
              <a:defRPr/>
            </a:pPr>
            <a:endParaRPr lang="en-US" altLang="zh-CN"/>
          </a:p>
        </p:txBody>
      </p:sp>
      <p:sp>
        <p:nvSpPr>
          <p:cNvPr id="5" name="灯片编号占位符 5"/>
          <p:cNvSpPr>
            <a:spLocks noGrp="1"/>
          </p:cNvSpPr>
          <p:nvPr>
            <p:ph type="sldNum" sz="quarter" idx="12"/>
          </p:nvPr>
        </p:nvSpPr>
        <p:spPr>
          <a:xfrm>
            <a:off x="6457950" y="6356352"/>
            <a:ext cx="2057400" cy="365125"/>
          </a:xfrm>
          <a:prstGeom prst="rect">
            <a:avLst/>
          </a:prstGeom>
        </p:spPr>
        <p:txBody>
          <a:bodyPr/>
          <a:lstStyle>
            <a:lvl1pPr eaLnBrk="1" hangingPunct="1">
              <a:defRPr/>
            </a:lvl1pPr>
          </a:lstStyle>
          <a:p>
            <a:pPr>
              <a:defRPr/>
            </a:pPr>
            <a:fld id="{BF47E86D-3368-47CB-907D-8EA39BDBA846}" type="slidenum">
              <a:rPr lang="en-US" altLang="zh-CN"/>
              <a:pPr>
                <a:defRPr/>
              </a:pPr>
              <a:t>‹#›</a:t>
            </a:fld>
            <a:endParaRPr lang="en-US" altLang="zh-CN"/>
          </a:p>
        </p:txBody>
      </p:sp>
    </p:spTree>
    <p:extLst>
      <p:ext uri="{BB962C8B-B14F-4D97-AF65-F5344CB8AC3E}">
        <p14:creationId xmlns:p14="http://schemas.microsoft.com/office/powerpoint/2010/main" val="391661702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1" y="624254"/>
            <a:ext cx="8255000" cy="5395546"/>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426478290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bl" preserve="1">
  <p:cSld name="1_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81063" y="214313"/>
            <a:ext cx="8062912" cy="919162"/>
          </a:xfrm>
        </p:spPr>
        <p:txBody>
          <a:bodyPr/>
          <a:lstStyle/>
          <a:p>
            <a:r>
              <a:rPr lang="zh-CN" altLang="en-US"/>
              <a:t>单击此处编辑母版标题样式</a:t>
            </a:r>
          </a:p>
        </p:txBody>
      </p:sp>
      <p:sp>
        <p:nvSpPr>
          <p:cNvPr id="3" name="表格占位符 2"/>
          <p:cNvSpPr>
            <a:spLocks noGrp="1"/>
          </p:cNvSpPr>
          <p:nvPr>
            <p:ph type="tbl" idx="1"/>
          </p:nvPr>
        </p:nvSpPr>
        <p:spPr>
          <a:xfrm>
            <a:off x="576264" y="1368427"/>
            <a:ext cx="8351837" cy="5300663"/>
          </a:xfrm>
        </p:spPr>
        <p:txBody>
          <a:bodyPr/>
          <a:lstStyle/>
          <a:p>
            <a:pPr lvl="0"/>
            <a:endParaRPr lang="zh-CN" altLang="en-US" noProof="0"/>
          </a:p>
        </p:txBody>
      </p:sp>
      <p:sp>
        <p:nvSpPr>
          <p:cNvPr id="4" name="Rectangle 12"/>
          <p:cNvSpPr>
            <a:spLocks noGrp="1" noChangeArrowheads="1"/>
          </p:cNvSpPr>
          <p:nvPr>
            <p:ph type="dt" sz="half" idx="10"/>
          </p:nvPr>
        </p:nvSpPr>
        <p:spPr>
          <a:xfrm>
            <a:off x="1162050" y="6243638"/>
            <a:ext cx="1905000" cy="457200"/>
          </a:xfrm>
          <a:prstGeom prst="rect">
            <a:avLst/>
          </a:prstGeom>
        </p:spPr>
        <p:txBody>
          <a:bodyPr/>
          <a:lstStyle>
            <a:lvl1pPr eaLnBrk="1" hangingPunct="1">
              <a:defRPr/>
            </a:lvl1pPr>
          </a:lstStyle>
          <a:p>
            <a:pPr>
              <a:defRPr/>
            </a:pPr>
            <a:endParaRPr lang="en-US" altLang="zh-CN"/>
          </a:p>
        </p:txBody>
      </p:sp>
      <p:sp>
        <p:nvSpPr>
          <p:cNvPr id="5" name="Rectangle 13"/>
          <p:cNvSpPr>
            <a:spLocks noGrp="1" noChangeArrowheads="1"/>
          </p:cNvSpPr>
          <p:nvPr>
            <p:ph type="ftr" sz="quarter" idx="11"/>
          </p:nvPr>
        </p:nvSpPr>
        <p:spPr>
          <a:xfrm>
            <a:off x="3671888" y="6400800"/>
            <a:ext cx="2895600" cy="457200"/>
          </a:xfrm>
          <a:prstGeom prst="rect">
            <a:avLst/>
          </a:prstGeom>
        </p:spPr>
        <p:txBody>
          <a:bodyPr/>
          <a:lstStyle>
            <a:lvl1pPr eaLnBrk="1" hangingPunct="1">
              <a:defRPr/>
            </a:lvl1pPr>
          </a:lstStyle>
          <a:p>
            <a:pPr>
              <a:defRPr/>
            </a:pPr>
            <a:r>
              <a:rPr lang="en-US" altLang="zh-CN"/>
              <a:t>copyright  </a:t>
            </a:r>
            <a:r>
              <a:rPr lang="zh-CN" altLang="en-US"/>
              <a:t>朱维红</a:t>
            </a:r>
            <a:endParaRPr lang="en-US" altLang="zh-CN"/>
          </a:p>
        </p:txBody>
      </p:sp>
      <p:sp>
        <p:nvSpPr>
          <p:cNvPr id="6" name="Rectangle 14"/>
          <p:cNvSpPr>
            <a:spLocks noGrp="1" noChangeArrowheads="1"/>
          </p:cNvSpPr>
          <p:nvPr>
            <p:ph type="sldNum" sz="quarter" idx="12"/>
          </p:nvPr>
        </p:nvSpPr>
        <p:spPr>
          <a:xfrm>
            <a:off x="7042150" y="6243638"/>
            <a:ext cx="1905000" cy="457200"/>
          </a:xfrm>
          <a:prstGeom prst="rect">
            <a:avLst/>
          </a:prstGeom>
        </p:spPr>
        <p:txBody>
          <a:bodyPr/>
          <a:lstStyle>
            <a:lvl1pPr eaLnBrk="1" hangingPunct="1">
              <a:defRPr/>
            </a:lvl1pPr>
          </a:lstStyle>
          <a:p>
            <a:pPr>
              <a:defRPr/>
            </a:pPr>
            <a:fld id="{8D6CB5DB-820B-4257-AA8E-6DE44A776946}" type="slidenum">
              <a:rPr lang="zh-CN" altLang="en-US"/>
              <a:pPr>
                <a:defRPr/>
              </a:pPr>
              <a:t>‹#›</a:t>
            </a:fld>
            <a:endParaRPr lang="en-US" altLang="zh-CN"/>
          </a:p>
        </p:txBody>
      </p:sp>
    </p:spTree>
    <p:extLst>
      <p:ext uri="{BB962C8B-B14F-4D97-AF65-F5344CB8AC3E}">
        <p14:creationId xmlns:p14="http://schemas.microsoft.com/office/powerpoint/2010/main" val="385009594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2"/>
          <p:cNvSpPr>
            <a:spLocks noGrp="1" noChangeArrowheads="1"/>
          </p:cNvSpPr>
          <p:nvPr>
            <p:ph type="dt" sz="half" idx="10"/>
          </p:nvPr>
        </p:nvSpPr>
        <p:spPr>
          <a:xfrm>
            <a:off x="1162050" y="6243638"/>
            <a:ext cx="1905000" cy="457200"/>
          </a:xfrm>
          <a:prstGeom prst="rect">
            <a:avLst/>
          </a:prstGeom>
        </p:spPr>
        <p:txBody>
          <a:bodyPr/>
          <a:lstStyle>
            <a:lvl1pPr eaLnBrk="1" hangingPunct="1">
              <a:defRPr/>
            </a:lvl1pPr>
          </a:lstStyle>
          <a:p>
            <a:pPr>
              <a:defRPr/>
            </a:pPr>
            <a:endParaRPr lang="en-US" altLang="zh-CN"/>
          </a:p>
        </p:txBody>
      </p:sp>
      <p:sp>
        <p:nvSpPr>
          <p:cNvPr id="5" name="Rectangle 13"/>
          <p:cNvSpPr>
            <a:spLocks noGrp="1" noChangeArrowheads="1"/>
          </p:cNvSpPr>
          <p:nvPr>
            <p:ph type="ftr" sz="quarter" idx="11"/>
          </p:nvPr>
        </p:nvSpPr>
        <p:spPr>
          <a:xfrm>
            <a:off x="3671888" y="6400800"/>
            <a:ext cx="2895600" cy="457200"/>
          </a:xfrm>
          <a:prstGeom prst="rect">
            <a:avLst/>
          </a:prstGeom>
        </p:spPr>
        <p:txBody>
          <a:bodyPr/>
          <a:lstStyle>
            <a:lvl1pPr eaLnBrk="1" hangingPunct="1">
              <a:defRPr/>
            </a:lvl1pPr>
          </a:lstStyle>
          <a:p>
            <a:pPr>
              <a:defRPr/>
            </a:pPr>
            <a:r>
              <a:rPr lang="en-US" altLang="zh-CN"/>
              <a:t>copyright  </a:t>
            </a:r>
            <a:r>
              <a:rPr lang="zh-CN" altLang="en-US"/>
              <a:t>朱维红</a:t>
            </a:r>
            <a:endParaRPr lang="en-US" altLang="zh-CN"/>
          </a:p>
        </p:txBody>
      </p:sp>
      <p:sp>
        <p:nvSpPr>
          <p:cNvPr id="6" name="Rectangle 14"/>
          <p:cNvSpPr>
            <a:spLocks noGrp="1" noChangeArrowheads="1"/>
          </p:cNvSpPr>
          <p:nvPr>
            <p:ph type="sldNum" sz="quarter" idx="12"/>
          </p:nvPr>
        </p:nvSpPr>
        <p:spPr>
          <a:xfrm>
            <a:off x="7042150" y="6243638"/>
            <a:ext cx="1905000" cy="457200"/>
          </a:xfrm>
          <a:prstGeom prst="rect">
            <a:avLst/>
          </a:prstGeom>
        </p:spPr>
        <p:txBody>
          <a:bodyPr/>
          <a:lstStyle>
            <a:lvl1pPr eaLnBrk="1" hangingPunct="1">
              <a:defRPr/>
            </a:lvl1pPr>
          </a:lstStyle>
          <a:p>
            <a:pPr>
              <a:defRPr/>
            </a:pPr>
            <a:fld id="{5ED79246-7E55-4F6D-9798-0975818FCCC0}" type="slidenum">
              <a:rPr lang="zh-CN" altLang="en-US"/>
              <a:pPr>
                <a:defRPr/>
              </a:pPr>
              <a:t>‹#›</a:t>
            </a:fld>
            <a:endParaRPr lang="en-US" altLang="zh-CN"/>
          </a:p>
        </p:txBody>
      </p:sp>
    </p:spTree>
    <p:extLst>
      <p:ext uri="{BB962C8B-B14F-4D97-AF65-F5344CB8AC3E}">
        <p14:creationId xmlns:p14="http://schemas.microsoft.com/office/powerpoint/2010/main" val="44666244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881063" y="214313"/>
            <a:ext cx="8062912" cy="919162"/>
          </a:xfrm>
        </p:spPr>
        <p:txBody>
          <a:bodyPr/>
          <a:lstStyle/>
          <a:p>
            <a:r>
              <a:rPr lang="zh-CN" altLang="en-US"/>
              <a:t>单击此处编辑母版标题样式</a:t>
            </a:r>
          </a:p>
        </p:txBody>
      </p:sp>
      <p:sp>
        <p:nvSpPr>
          <p:cNvPr id="3" name="内容占位符 2"/>
          <p:cNvSpPr>
            <a:spLocks noGrp="1"/>
          </p:cNvSpPr>
          <p:nvPr>
            <p:ph sz="quarter" idx="1"/>
          </p:nvPr>
        </p:nvSpPr>
        <p:spPr>
          <a:xfrm>
            <a:off x="576264" y="1368425"/>
            <a:ext cx="4098925" cy="2573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827588" y="1368425"/>
            <a:ext cx="4100512" cy="2573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576264" y="4094165"/>
            <a:ext cx="4098925" cy="25749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827588" y="4094165"/>
            <a:ext cx="4100512" cy="25749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2"/>
          <p:cNvSpPr>
            <a:spLocks noGrp="1" noChangeArrowheads="1"/>
          </p:cNvSpPr>
          <p:nvPr>
            <p:ph type="dt" sz="half" idx="10"/>
          </p:nvPr>
        </p:nvSpPr>
        <p:spPr>
          <a:xfrm>
            <a:off x="1162050" y="6243638"/>
            <a:ext cx="1905000" cy="457200"/>
          </a:xfrm>
          <a:prstGeom prst="rect">
            <a:avLst/>
          </a:prstGeom>
        </p:spPr>
        <p:txBody>
          <a:bodyPr/>
          <a:lstStyle>
            <a:lvl1pPr eaLnBrk="1" hangingPunct="1">
              <a:defRPr/>
            </a:lvl1pPr>
          </a:lstStyle>
          <a:p>
            <a:pPr>
              <a:defRPr/>
            </a:pPr>
            <a:endParaRPr lang="en-US" altLang="zh-CN"/>
          </a:p>
        </p:txBody>
      </p:sp>
      <p:sp>
        <p:nvSpPr>
          <p:cNvPr id="8" name="Rectangle 13"/>
          <p:cNvSpPr>
            <a:spLocks noGrp="1" noChangeArrowheads="1"/>
          </p:cNvSpPr>
          <p:nvPr>
            <p:ph type="ftr" sz="quarter" idx="11"/>
          </p:nvPr>
        </p:nvSpPr>
        <p:spPr>
          <a:xfrm>
            <a:off x="3671888" y="6400800"/>
            <a:ext cx="2895600" cy="457200"/>
          </a:xfrm>
          <a:prstGeom prst="rect">
            <a:avLst/>
          </a:prstGeom>
        </p:spPr>
        <p:txBody>
          <a:bodyPr/>
          <a:lstStyle>
            <a:lvl1pPr eaLnBrk="1" hangingPunct="1">
              <a:defRPr/>
            </a:lvl1pPr>
          </a:lstStyle>
          <a:p>
            <a:pPr>
              <a:defRPr/>
            </a:pPr>
            <a:r>
              <a:rPr lang="en-US" altLang="zh-CN"/>
              <a:t>copyright  </a:t>
            </a:r>
            <a:r>
              <a:rPr lang="zh-CN" altLang="en-US"/>
              <a:t>朱维红</a:t>
            </a:r>
            <a:endParaRPr lang="en-US" altLang="zh-CN"/>
          </a:p>
        </p:txBody>
      </p:sp>
      <p:sp>
        <p:nvSpPr>
          <p:cNvPr id="9" name="Rectangle 14"/>
          <p:cNvSpPr>
            <a:spLocks noGrp="1" noChangeArrowheads="1"/>
          </p:cNvSpPr>
          <p:nvPr>
            <p:ph type="sldNum" sz="quarter" idx="12"/>
          </p:nvPr>
        </p:nvSpPr>
        <p:spPr>
          <a:xfrm>
            <a:off x="7042150" y="6243638"/>
            <a:ext cx="1905000" cy="457200"/>
          </a:xfrm>
          <a:prstGeom prst="rect">
            <a:avLst/>
          </a:prstGeom>
        </p:spPr>
        <p:txBody>
          <a:bodyPr/>
          <a:lstStyle>
            <a:lvl1pPr eaLnBrk="1" hangingPunct="1">
              <a:defRPr/>
            </a:lvl1pPr>
          </a:lstStyle>
          <a:p>
            <a:pPr>
              <a:defRPr/>
            </a:pPr>
            <a:fld id="{448E00CF-70E6-4210-B23A-8272C8897EC1}" type="slidenum">
              <a:rPr lang="zh-CN" altLang="en-US"/>
              <a:pPr>
                <a:defRPr/>
              </a:pPr>
              <a:t>‹#›</a:t>
            </a:fld>
            <a:endParaRPr lang="en-US" altLang="zh-CN"/>
          </a:p>
        </p:txBody>
      </p:sp>
    </p:spTree>
    <p:extLst>
      <p:ext uri="{BB962C8B-B14F-4D97-AF65-F5344CB8AC3E}">
        <p14:creationId xmlns:p14="http://schemas.microsoft.com/office/powerpoint/2010/main" val="17662702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536331"/>
            <a:ext cx="7772400" cy="534694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4569345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386863"/>
            <a:ext cx="7772400" cy="54964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0155184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457201"/>
            <a:ext cx="7772400" cy="5426075"/>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86533028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430823"/>
            <a:ext cx="7772400" cy="545245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89224631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580293"/>
            <a:ext cx="7772400" cy="530298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53013288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solidFill>
                  <a:srgbClr val="FF0000"/>
                </a:solidFill>
              </a:defRPr>
            </a:lvl1pPr>
          </a:lstStyle>
          <a:p>
            <a:r>
              <a:rPr lang="zh-CN" altLang="en-US" dirty="0"/>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单击此处编辑母版副标题样式</a:t>
            </a:r>
          </a:p>
        </p:txBody>
      </p:sp>
    </p:spTree>
    <p:extLst>
      <p:ext uri="{BB962C8B-B14F-4D97-AF65-F5344CB8AC3E}">
        <p14:creationId xmlns:p14="http://schemas.microsoft.com/office/powerpoint/2010/main" val="292991268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6"/>
            <a:ext cx="7886700" cy="1119659"/>
          </a:xfrm>
        </p:spPr>
        <p:txBody>
          <a:bodyPr>
            <a:normAutofit/>
          </a:bodyPr>
          <a:lstStyle>
            <a:lvl1pPr algn="ctr">
              <a:defRPr sz="2700" b="1" baseline="0">
                <a:solidFill>
                  <a:srgbClr val="FF0000"/>
                </a:solidFill>
                <a:latin typeface="Times New Roman" panose="02020603050405020304" pitchFamily="18" charset="0"/>
                <a:ea typeface="隶书" panose="02010509060101010101" pitchFamily="49"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lnSpc>
                <a:spcPct val="110000"/>
              </a:lnSpc>
              <a:spcBef>
                <a:spcPts val="900"/>
              </a:spcBef>
              <a:defRPr sz="2100" b="1" baseline="0">
                <a:solidFill>
                  <a:schemeClr val="tx1"/>
                </a:solidFill>
                <a:latin typeface="Times New Roman" panose="02020603050405020304" pitchFamily="18" charset="0"/>
                <a:ea typeface="楷体" panose="02010609060101010101" pitchFamily="49" charset="-122"/>
              </a:defRPr>
            </a:lvl1pPr>
            <a:lvl2pPr>
              <a:lnSpc>
                <a:spcPct val="110000"/>
              </a:lnSpc>
              <a:spcBef>
                <a:spcPts val="900"/>
              </a:spcBef>
              <a:defRPr sz="1800" b="1" baseline="0">
                <a:solidFill>
                  <a:schemeClr val="tx1"/>
                </a:solidFill>
                <a:latin typeface="Times New Roman" panose="02020603050405020304" pitchFamily="18" charset="0"/>
                <a:ea typeface="楷体" panose="02010609060101010101" pitchFamily="49" charset="-122"/>
              </a:defRPr>
            </a:lvl2pPr>
            <a:lvl3pPr>
              <a:lnSpc>
                <a:spcPct val="110000"/>
              </a:lnSpc>
              <a:spcBef>
                <a:spcPts val="900"/>
              </a:spcBef>
              <a:defRPr sz="1800" b="1" baseline="0">
                <a:solidFill>
                  <a:schemeClr val="tx1"/>
                </a:solidFill>
                <a:latin typeface="Times New Roman" panose="02020603050405020304" pitchFamily="18" charset="0"/>
                <a:ea typeface="楷体" panose="02010609060101010101" pitchFamily="49" charset="-122"/>
              </a:defRPr>
            </a:lvl3pPr>
            <a:lvl4pPr>
              <a:lnSpc>
                <a:spcPct val="110000"/>
              </a:lnSpc>
              <a:spcBef>
                <a:spcPts val="900"/>
              </a:spcBef>
              <a:defRPr sz="1800" b="1" baseline="0">
                <a:solidFill>
                  <a:schemeClr val="tx1"/>
                </a:solidFill>
                <a:latin typeface="Times New Roman" panose="02020603050405020304" pitchFamily="18" charset="0"/>
                <a:ea typeface="楷体" panose="02010609060101010101" pitchFamily="49" charset="-122"/>
              </a:defRPr>
            </a:lvl4pPr>
            <a:lvl5pPr>
              <a:lnSpc>
                <a:spcPct val="110000"/>
              </a:lnSpc>
              <a:spcBef>
                <a:spcPts val="900"/>
              </a:spcBef>
              <a:defRPr sz="1800" b="1" baseline="0">
                <a:solidFill>
                  <a:schemeClr val="tx1"/>
                </a:solidFill>
                <a:latin typeface="Times New Roman" panose="02020603050405020304" pitchFamily="18" charset="0"/>
                <a:ea typeface="楷体" panose="020106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30273999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029615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70743" y="234841"/>
            <a:ext cx="8229600" cy="674320"/>
          </a:xfrm>
        </p:spPr>
        <p:txBody>
          <a:bodyPr/>
          <a:lstStyle/>
          <a:p>
            <a:r>
              <a:rPr lang="zh-CN" altLang="en-US"/>
              <a:t>单击此处编辑母版标题样式</a:t>
            </a:r>
          </a:p>
        </p:txBody>
      </p:sp>
    </p:spTree>
    <p:extLst>
      <p:ext uri="{BB962C8B-B14F-4D97-AF65-F5344CB8AC3E}">
        <p14:creationId xmlns:p14="http://schemas.microsoft.com/office/powerpoint/2010/main" val="333063572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00114" y="1484313"/>
            <a:ext cx="3775075" cy="50403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27588" y="1484313"/>
            <a:ext cx="3776662" cy="50403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11189" y="6381750"/>
            <a:ext cx="2447925" cy="400050"/>
          </a:xfrm>
          <a:prstGeom prst="rect">
            <a:avLst/>
          </a:prstGeom>
        </p:spPr>
        <p:txBody>
          <a:bodyPr/>
          <a:lstStyle>
            <a:lvl1pPr eaLnBrk="1" hangingPunct="1">
              <a:defRPr>
                <a:solidFill>
                  <a:srgbClr val="000000"/>
                </a:solidFill>
                <a:latin typeface="Comic Sans MS" panose="030F0702030302020204" pitchFamily="66" charset="0"/>
              </a:defRPr>
            </a:lvl1pPr>
          </a:lstStyle>
          <a:p>
            <a:pPr>
              <a:defRPr/>
            </a:pPr>
            <a:r>
              <a:rPr lang="en-US" altLang="zh-CN"/>
              <a:t>Copyrights Zhu, Weihong</a:t>
            </a:r>
            <a:r>
              <a:rPr lang="en-US" altLang="zh-CN">
                <a:latin typeface="Tahoma" panose="020B0604030504040204" pitchFamily="34" charset="0"/>
              </a:rPr>
              <a:t> </a:t>
            </a:r>
          </a:p>
        </p:txBody>
      </p:sp>
      <p:sp>
        <p:nvSpPr>
          <p:cNvPr id="6" name="页脚占位符 5"/>
          <p:cNvSpPr>
            <a:spLocks noGrp="1"/>
          </p:cNvSpPr>
          <p:nvPr>
            <p:ph type="ftr" sz="quarter" idx="11"/>
          </p:nvPr>
        </p:nvSpPr>
        <p:spPr>
          <a:xfrm>
            <a:off x="3352800" y="6324600"/>
            <a:ext cx="2895600" cy="457200"/>
          </a:xfrm>
          <a:prstGeom prst="rect">
            <a:avLst/>
          </a:prstGeom>
        </p:spPr>
        <p:txBody>
          <a:bodyPr/>
          <a:lstStyle>
            <a:lvl1pPr eaLnBrk="1" hangingPunct="1">
              <a:defRPr>
                <a:solidFill>
                  <a:srgbClr val="000000"/>
                </a:solidFill>
                <a:latin typeface="Comic Sans MS" panose="030F0702030302020204" pitchFamily="66" charset="0"/>
              </a:defRPr>
            </a:lvl1pPr>
          </a:lstStyle>
          <a:p>
            <a:pPr>
              <a:defRPr/>
            </a:pPr>
            <a:endParaRPr lang="en-US" altLang="zh-CN"/>
          </a:p>
        </p:txBody>
      </p:sp>
    </p:spTree>
    <p:extLst>
      <p:ext uri="{BB962C8B-B14F-4D97-AF65-F5344CB8AC3E}">
        <p14:creationId xmlns:p14="http://schemas.microsoft.com/office/powerpoint/2010/main" val="245655991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4213" y="404815"/>
            <a:ext cx="8134350" cy="828675"/>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412877"/>
            <a:ext cx="3771900" cy="49688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10100" y="1412877"/>
            <a:ext cx="3771900" cy="49688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1371600" y="6248400"/>
            <a:ext cx="1905000" cy="457200"/>
          </a:xfrm>
          <a:prstGeom prst="rect">
            <a:avLst/>
          </a:prstGeom>
        </p:spPr>
        <p:txBody>
          <a:bodyPr/>
          <a:lstStyle>
            <a:lvl1pPr eaLnBrk="1" hangingPunct="1">
              <a:defRPr>
                <a:solidFill>
                  <a:srgbClr val="000000"/>
                </a:solidFill>
                <a:latin typeface="Comic Sans MS" panose="030F0702030302020204" pitchFamily="66" charset="0"/>
              </a:defRPr>
            </a:lvl1pPr>
          </a:lstStyle>
          <a:p>
            <a:pPr>
              <a:defRPr/>
            </a:pPr>
            <a:endParaRPr lang="en-US" altLang="zh-CN"/>
          </a:p>
        </p:txBody>
      </p:sp>
      <p:sp>
        <p:nvSpPr>
          <p:cNvPr id="6" name="页脚占位符 5"/>
          <p:cNvSpPr>
            <a:spLocks noGrp="1"/>
          </p:cNvSpPr>
          <p:nvPr>
            <p:ph type="ftr" sz="quarter" idx="11"/>
          </p:nvPr>
        </p:nvSpPr>
        <p:spPr>
          <a:xfrm>
            <a:off x="3549073" y="6400800"/>
            <a:ext cx="2895600" cy="457200"/>
          </a:xfrm>
          <a:prstGeom prst="rect">
            <a:avLst/>
          </a:prstGeom>
        </p:spPr>
        <p:txBody>
          <a:bodyPr/>
          <a:lstStyle>
            <a:lvl1pPr eaLnBrk="1" hangingPunct="1">
              <a:defRPr>
                <a:solidFill>
                  <a:srgbClr val="000000"/>
                </a:solidFill>
                <a:latin typeface="Comic Sans MS" panose="030F0702030302020204" pitchFamily="66" charset="0"/>
              </a:defRPr>
            </a:lvl1pPr>
          </a:lstStyle>
          <a:p>
            <a:pPr>
              <a:defRPr/>
            </a:pPr>
            <a:endParaRPr lang="en-US" altLang="zh-CN" dirty="0"/>
          </a:p>
        </p:txBody>
      </p:sp>
    </p:spTree>
    <p:extLst>
      <p:ext uri="{BB962C8B-B14F-4D97-AF65-F5344CB8AC3E}">
        <p14:creationId xmlns:p14="http://schemas.microsoft.com/office/powerpoint/2010/main" val="56278610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40"/>
            <a:ext cx="8229600" cy="814387"/>
          </a:xfrm>
        </p:spPr>
        <p:txBody>
          <a:bodyPr/>
          <a:lstStyle/>
          <a:p>
            <a:r>
              <a:rPr lang="zh-CN" altLang="en-US"/>
              <a:t>单击此处编辑母版标题样式</a:t>
            </a:r>
          </a:p>
        </p:txBody>
      </p:sp>
      <p:sp>
        <p:nvSpPr>
          <p:cNvPr id="3" name="文本占位符 2"/>
          <p:cNvSpPr>
            <a:spLocks noGrp="1"/>
          </p:cNvSpPr>
          <p:nvPr>
            <p:ph type="body" sz="half" idx="1"/>
          </p:nvPr>
        </p:nvSpPr>
        <p:spPr>
          <a:xfrm>
            <a:off x="466725" y="1196977"/>
            <a:ext cx="4046538" cy="48228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65664" y="1196977"/>
            <a:ext cx="4046537" cy="23352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65664" y="3684588"/>
            <a:ext cx="4046537" cy="23352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3"/>
          <p:cNvSpPr>
            <a:spLocks noGrp="1" noChangeArrowheads="1"/>
          </p:cNvSpPr>
          <p:nvPr>
            <p:ph type="ftr" sz="quarter" idx="10"/>
          </p:nvPr>
        </p:nvSpPr>
        <p:spPr>
          <a:xfrm>
            <a:off x="3028950" y="6356352"/>
            <a:ext cx="3086100" cy="365125"/>
          </a:xfrm>
          <a:prstGeom prst="rect">
            <a:avLst/>
          </a:prstGeom>
        </p:spPr>
        <p:txBody>
          <a:bodyPr wrap="square" numCol="1" anchorCtr="0" compatLnSpc="1">
            <a:prstTxWarp prst="textNoShape">
              <a:avLst/>
            </a:prstTxWarp>
          </a:bodyPr>
          <a:lstStyle>
            <a:lvl1pPr eaLnBrk="1" fontAlgn="base" hangingPunct="1">
              <a:spcBef>
                <a:spcPct val="0"/>
              </a:spcBef>
              <a:spcAft>
                <a:spcPct val="0"/>
              </a:spcAft>
              <a:defRPr>
                <a:solidFill>
                  <a:srgbClr val="898989"/>
                </a:solidFill>
                <a:latin typeface="Comic Sans MS" panose="030F0702030302020204" pitchFamily="66" charset="0"/>
              </a:defRPr>
            </a:lvl1pPr>
          </a:lstStyle>
          <a:p>
            <a:pPr>
              <a:defRPr/>
            </a:pPr>
            <a:r>
              <a:rPr lang="en-US" altLang="zh-CN"/>
              <a:t>	                                                                </a:t>
            </a:r>
            <a:fld id="{2ABEFC1A-4DB4-4CD2-A93A-BB13247C28F4}" type="slidenum">
              <a:rPr lang="en-US" altLang="zh-CN"/>
              <a:pPr>
                <a:defRPr/>
              </a:pPr>
              <a:t>‹#›</a:t>
            </a:fld>
            <a:endParaRPr lang="en-US" altLang="zh-CN"/>
          </a:p>
        </p:txBody>
      </p:sp>
      <p:sp>
        <p:nvSpPr>
          <p:cNvPr id="7" name="Rectangle 8"/>
          <p:cNvSpPr>
            <a:spLocks noGrp="1" noChangeArrowheads="1"/>
          </p:cNvSpPr>
          <p:nvPr>
            <p:ph type="dt" sz="half" idx="11"/>
          </p:nvPr>
        </p:nvSpPr>
        <p:spPr>
          <a:xfrm>
            <a:off x="628650" y="6356352"/>
            <a:ext cx="2057400" cy="365125"/>
          </a:xfrm>
          <a:prstGeom prst="rect">
            <a:avLst/>
          </a:prstGeom>
        </p:spPr>
        <p:txBody>
          <a:bodyPr/>
          <a:lstStyle>
            <a:lvl1pPr eaLnBrk="1" hangingPunct="1">
              <a:defRPr>
                <a:solidFill>
                  <a:srgbClr val="000000"/>
                </a:solidFill>
                <a:latin typeface="Comic Sans MS" panose="030F0702030302020204" pitchFamily="66" charset="0"/>
              </a:defRPr>
            </a:lvl1pPr>
          </a:lstStyle>
          <a:p>
            <a:pPr>
              <a:defRPr/>
            </a:pPr>
            <a:endParaRPr lang="en-US" altLang="zh-CN"/>
          </a:p>
        </p:txBody>
      </p:sp>
    </p:spTree>
    <p:extLst>
      <p:ext uri="{BB962C8B-B14F-4D97-AF65-F5344CB8AC3E}">
        <p14:creationId xmlns:p14="http://schemas.microsoft.com/office/powerpoint/2010/main" val="171106709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277201"/>
            <a:ext cx="7772400" cy="712546"/>
          </a:xfrm>
        </p:spPr>
        <p:txBody>
          <a:bodyPr/>
          <a:lstStyle/>
          <a:p>
            <a:r>
              <a:rPr lang="zh-CN" altLang="en-US" dirty="0"/>
              <a:t>单击此处编辑母版标题样式</a:t>
            </a:r>
          </a:p>
        </p:txBody>
      </p:sp>
      <p:sp>
        <p:nvSpPr>
          <p:cNvPr id="3" name="日期占位符 3"/>
          <p:cNvSpPr>
            <a:spLocks noGrp="1"/>
          </p:cNvSpPr>
          <p:nvPr>
            <p:ph type="dt" sz="half" idx="10"/>
          </p:nvPr>
        </p:nvSpPr>
        <p:spPr>
          <a:xfrm>
            <a:off x="628650" y="6356352"/>
            <a:ext cx="2057400" cy="365125"/>
          </a:xfrm>
          <a:prstGeom prst="rect">
            <a:avLst/>
          </a:prstGeom>
        </p:spPr>
        <p:txBody>
          <a:bodyPr/>
          <a:lstStyle>
            <a:lvl1pPr eaLnBrk="1" hangingPunct="1">
              <a:defRPr/>
            </a:lvl1pPr>
          </a:lstStyle>
          <a:p>
            <a:pPr>
              <a:defRPr/>
            </a:pPr>
            <a:endParaRPr lang="en-US" altLang="zh-CN"/>
          </a:p>
        </p:txBody>
      </p:sp>
      <p:sp>
        <p:nvSpPr>
          <p:cNvPr id="4" name="页脚占位符 4"/>
          <p:cNvSpPr>
            <a:spLocks noGrp="1"/>
          </p:cNvSpPr>
          <p:nvPr>
            <p:ph type="ftr" sz="quarter" idx="11"/>
          </p:nvPr>
        </p:nvSpPr>
        <p:spPr>
          <a:xfrm>
            <a:off x="3028950" y="6356352"/>
            <a:ext cx="3086100" cy="365125"/>
          </a:xfrm>
          <a:prstGeom prst="rect">
            <a:avLst/>
          </a:prstGeom>
        </p:spPr>
        <p:txBody>
          <a:bodyPr/>
          <a:lstStyle>
            <a:lvl1pPr eaLnBrk="1" hangingPunct="1">
              <a:defRPr/>
            </a:lvl1pPr>
          </a:lstStyle>
          <a:p>
            <a:pPr>
              <a:defRPr/>
            </a:pPr>
            <a:endParaRPr lang="en-US" altLang="zh-CN"/>
          </a:p>
        </p:txBody>
      </p:sp>
      <p:sp>
        <p:nvSpPr>
          <p:cNvPr id="5" name="灯片编号占位符 5"/>
          <p:cNvSpPr>
            <a:spLocks noGrp="1"/>
          </p:cNvSpPr>
          <p:nvPr>
            <p:ph type="sldNum" sz="quarter" idx="12"/>
          </p:nvPr>
        </p:nvSpPr>
        <p:spPr>
          <a:xfrm>
            <a:off x="6457950" y="6356352"/>
            <a:ext cx="2057400" cy="365125"/>
          </a:xfrm>
          <a:prstGeom prst="rect">
            <a:avLst/>
          </a:prstGeom>
        </p:spPr>
        <p:txBody>
          <a:bodyPr/>
          <a:lstStyle>
            <a:lvl1pPr eaLnBrk="1" hangingPunct="1">
              <a:defRPr/>
            </a:lvl1pPr>
          </a:lstStyle>
          <a:p>
            <a:pPr>
              <a:defRPr/>
            </a:pPr>
            <a:fld id="{BF47E86D-3368-47CB-907D-8EA39BDBA846}" type="slidenum">
              <a:rPr lang="en-US" altLang="zh-CN"/>
              <a:pPr>
                <a:defRPr/>
              </a:pPr>
              <a:t>‹#›</a:t>
            </a:fld>
            <a:endParaRPr lang="en-US" altLang="zh-CN"/>
          </a:p>
        </p:txBody>
      </p:sp>
    </p:spTree>
    <p:extLst>
      <p:ext uri="{BB962C8B-B14F-4D97-AF65-F5344CB8AC3E}">
        <p14:creationId xmlns:p14="http://schemas.microsoft.com/office/powerpoint/2010/main" val="10733370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1" y="624254"/>
            <a:ext cx="8255000" cy="5395546"/>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Rectangle 3"/>
          <p:cNvSpPr>
            <a:spLocks noGrp="1" noChangeArrowheads="1"/>
          </p:cNvSpPr>
          <p:nvPr>
            <p:ph type="ftr" sz="quarter" idx="10"/>
          </p:nvPr>
        </p:nvSpPr>
        <p:spPr>
          <a:xfrm>
            <a:off x="3028950" y="6356352"/>
            <a:ext cx="3086100" cy="365125"/>
          </a:xfrm>
          <a:prstGeom prst="rect">
            <a:avLst/>
          </a:prstGeom>
        </p:spPr>
        <p:txBody>
          <a:bodyPr/>
          <a:lstStyle>
            <a:lvl1pPr eaLnBrk="1" hangingPunct="1">
              <a:defRPr/>
            </a:lvl1pPr>
          </a:lstStyle>
          <a:p>
            <a:pPr>
              <a:defRPr/>
            </a:pPr>
            <a:r>
              <a:rPr lang="en-US" altLang="zh-CN"/>
              <a:t>Copyright by Hailiang Xiong</a:t>
            </a:r>
            <a:r>
              <a:rPr lang="zh-CN" altLang="en-US"/>
              <a:t>山东大学</a:t>
            </a:r>
            <a:r>
              <a:rPr lang="en-US" altLang="zh-CN">
                <a:latin typeface="Arial" panose="020B0604020202020204" pitchFamily="34" charset="0"/>
              </a:rPr>
              <a:t>	                                                                </a:t>
            </a:r>
            <a:fld id="{8FBAAC0D-07A3-4AB9-A234-A9E9A2F0A6FD}" type="slidenum">
              <a:rPr lang="en-US" altLang="zh-CN">
                <a:latin typeface="Arial" panose="020B0604020202020204" pitchFamily="34" charset="0"/>
              </a:rPr>
              <a:pPr>
                <a:defRPr/>
              </a:pPr>
              <a:t>‹#›</a:t>
            </a:fld>
            <a:endParaRPr lang="en-US" altLang="zh-CN">
              <a:latin typeface="Arial" panose="020B0604020202020204" pitchFamily="34" charset="0"/>
            </a:endParaRPr>
          </a:p>
        </p:txBody>
      </p:sp>
    </p:spTree>
    <p:extLst>
      <p:ext uri="{BB962C8B-B14F-4D97-AF65-F5344CB8AC3E}">
        <p14:creationId xmlns:p14="http://schemas.microsoft.com/office/powerpoint/2010/main" val="265813360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bl" preserve="1">
  <p:cSld name="1_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81063" y="214313"/>
            <a:ext cx="8062912" cy="919162"/>
          </a:xfrm>
        </p:spPr>
        <p:txBody>
          <a:bodyPr/>
          <a:lstStyle/>
          <a:p>
            <a:r>
              <a:rPr lang="zh-CN" altLang="en-US"/>
              <a:t>单击此处编辑母版标题样式</a:t>
            </a:r>
          </a:p>
        </p:txBody>
      </p:sp>
      <p:sp>
        <p:nvSpPr>
          <p:cNvPr id="3" name="表格占位符 2"/>
          <p:cNvSpPr>
            <a:spLocks noGrp="1"/>
          </p:cNvSpPr>
          <p:nvPr>
            <p:ph type="tbl" idx="1"/>
          </p:nvPr>
        </p:nvSpPr>
        <p:spPr>
          <a:xfrm>
            <a:off x="576264" y="1368427"/>
            <a:ext cx="8351837" cy="5300663"/>
          </a:xfrm>
        </p:spPr>
        <p:txBody>
          <a:bodyPr/>
          <a:lstStyle/>
          <a:p>
            <a:pPr lvl="0"/>
            <a:endParaRPr lang="zh-CN" altLang="en-US" noProof="0"/>
          </a:p>
        </p:txBody>
      </p:sp>
      <p:sp>
        <p:nvSpPr>
          <p:cNvPr id="4" name="Rectangle 12"/>
          <p:cNvSpPr>
            <a:spLocks noGrp="1" noChangeArrowheads="1"/>
          </p:cNvSpPr>
          <p:nvPr>
            <p:ph type="dt" sz="half" idx="10"/>
          </p:nvPr>
        </p:nvSpPr>
        <p:spPr>
          <a:xfrm>
            <a:off x="1162050" y="6243638"/>
            <a:ext cx="1905000" cy="457200"/>
          </a:xfrm>
          <a:prstGeom prst="rect">
            <a:avLst/>
          </a:prstGeom>
        </p:spPr>
        <p:txBody>
          <a:bodyPr/>
          <a:lstStyle>
            <a:lvl1pPr eaLnBrk="1" hangingPunct="1">
              <a:defRPr/>
            </a:lvl1pPr>
          </a:lstStyle>
          <a:p>
            <a:pPr>
              <a:defRPr/>
            </a:pPr>
            <a:endParaRPr lang="en-US" altLang="zh-CN"/>
          </a:p>
        </p:txBody>
      </p:sp>
      <p:sp>
        <p:nvSpPr>
          <p:cNvPr id="5" name="Rectangle 13"/>
          <p:cNvSpPr>
            <a:spLocks noGrp="1" noChangeArrowheads="1"/>
          </p:cNvSpPr>
          <p:nvPr>
            <p:ph type="ftr" sz="quarter" idx="11"/>
          </p:nvPr>
        </p:nvSpPr>
        <p:spPr>
          <a:xfrm>
            <a:off x="3671888" y="6400800"/>
            <a:ext cx="2895600" cy="457200"/>
          </a:xfrm>
          <a:prstGeom prst="rect">
            <a:avLst/>
          </a:prstGeom>
        </p:spPr>
        <p:txBody>
          <a:bodyPr/>
          <a:lstStyle>
            <a:lvl1pPr eaLnBrk="1" hangingPunct="1">
              <a:defRPr/>
            </a:lvl1pPr>
          </a:lstStyle>
          <a:p>
            <a:pPr>
              <a:defRPr/>
            </a:pPr>
            <a:r>
              <a:rPr lang="en-US" altLang="zh-CN"/>
              <a:t>copyright  </a:t>
            </a:r>
            <a:r>
              <a:rPr lang="zh-CN" altLang="en-US"/>
              <a:t>朱维红</a:t>
            </a:r>
            <a:endParaRPr lang="en-US" altLang="zh-CN"/>
          </a:p>
        </p:txBody>
      </p:sp>
      <p:sp>
        <p:nvSpPr>
          <p:cNvPr id="6" name="Rectangle 14"/>
          <p:cNvSpPr>
            <a:spLocks noGrp="1" noChangeArrowheads="1"/>
          </p:cNvSpPr>
          <p:nvPr>
            <p:ph type="sldNum" sz="quarter" idx="12"/>
          </p:nvPr>
        </p:nvSpPr>
        <p:spPr>
          <a:xfrm>
            <a:off x="7042150" y="6243638"/>
            <a:ext cx="1905000" cy="457200"/>
          </a:xfrm>
          <a:prstGeom prst="rect">
            <a:avLst/>
          </a:prstGeom>
        </p:spPr>
        <p:txBody>
          <a:bodyPr/>
          <a:lstStyle>
            <a:lvl1pPr eaLnBrk="1" hangingPunct="1">
              <a:defRPr/>
            </a:lvl1pPr>
          </a:lstStyle>
          <a:p>
            <a:pPr>
              <a:defRPr/>
            </a:pPr>
            <a:fld id="{8D6CB5DB-820B-4257-AA8E-6DE44A776946}" type="slidenum">
              <a:rPr lang="zh-CN" altLang="en-US"/>
              <a:pPr>
                <a:defRPr/>
              </a:pPr>
              <a:t>‹#›</a:t>
            </a:fld>
            <a:endParaRPr lang="en-US" altLang="zh-CN"/>
          </a:p>
        </p:txBody>
      </p:sp>
    </p:spTree>
    <p:extLst>
      <p:ext uri="{BB962C8B-B14F-4D97-AF65-F5344CB8AC3E}">
        <p14:creationId xmlns:p14="http://schemas.microsoft.com/office/powerpoint/2010/main" val="106792535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2"/>
          <p:cNvSpPr>
            <a:spLocks noGrp="1" noChangeArrowheads="1"/>
          </p:cNvSpPr>
          <p:nvPr>
            <p:ph type="dt" sz="half" idx="10"/>
          </p:nvPr>
        </p:nvSpPr>
        <p:spPr>
          <a:xfrm>
            <a:off x="1162050" y="6243638"/>
            <a:ext cx="1905000" cy="457200"/>
          </a:xfrm>
          <a:prstGeom prst="rect">
            <a:avLst/>
          </a:prstGeom>
        </p:spPr>
        <p:txBody>
          <a:bodyPr/>
          <a:lstStyle>
            <a:lvl1pPr eaLnBrk="1" hangingPunct="1">
              <a:defRPr/>
            </a:lvl1pPr>
          </a:lstStyle>
          <a:p>
            <a:pPr>
              <a:defRPr/>
            </a:pPr>
            <a:endParaRPr lang="en-US" altLang="zh-CN"/>
          </a:p>
        </p:txBody>
      </p:sp>
      <p:sp>
        <p:nvSpPr>
          <p:cNvPr id="5" name="Rectangle 13"/>
          <p:cNvSpPr>
            <a:spLocks noGrp="1" noChangeArrowheads="1"/>
          </p:cNvSpPr>
          <p:nvPr>
            <p:ph type="ftr" sz="quarter" idx="11"/>
          </p:nvPr>
        </p:nvSpPr>
        <p:spPr>
          <a:xfrm>
            <a:off x="3671888" y="6400800"/>
            <a:ext cx="2895600" cy="457200"/>
          </a:xfrm>
          <a:prstGeom prst="rect">
            <a:avLst/>
          </a:prstGeom>
        </p:spPr>
        <p:txBody>
          <a:bodyPr/>
          <a:lstStyle>
            <a:lvl1pPr eaLnBrk="1" hangingPunct="1">
              <a:defRPr/>
            </a:lvl1pPr>
          </a:lstStyle>
          <a:p>
            <a:pPr>
              <a:defRPr/>
            </a:pPr>
            <a:r>
              <a:rPr lang="en-US" altLang="zh-CN"/>
              <a:t>copyright  </a:t>
            </a:r>
            <a:r>
              <a:rPr lang="zh-CN" altLang="en-US"/>
              <a:t>朱维红</a:t>
            </a:r>
            <a:endParaRPr lang="en-US" altLang="zh-CN"/>
          </a:p>
        </p:txBody>
      </p:sp>
      <p:sp>
        <p:nvSpPr>
          <p:cNvPr id="6" name="Rectangle 14"/>
          <p:cNvSpPr>
            <a:spLocks noGrp="1" noChangeArrowheads="1"/>
          </p:cNvSpPr>
          <p:nvPr>
            <p:ph type="sldNum" sz="quarter" idx="12"/>
          </p:nvPr>
        </p:nvSpPr>
        <p:spPr>
          <a:xfrm>
            <a:off x="7042150" y="6243638"/>
            <a:ext cx="1905000" cy="457200"/>
          </a:xfrm>
          <a:prstGeom prst="rect">
            <a:avLst/>
          </a:prstGeom>
        </p:spPr>
        <p:txBody>
          <a:bodyPr/>
          <a:lstStyle>
            <a:lvl1pPr eaLnBrk="1" hangingPunct="1">
              <a:defRPr/>
            </a:lvl1pPr>
          </a:lstStyle>
          <a:p>
            <a:pPr>
              <a:defRPr/>
            </a:pPr>
            <a:fld id="{5ED79246-7E55-4F6D-9798-0975818FCCC0}" type="slidenum">
              <a:rPr lang="zh-CN" altLang="en-US"/>
              <a:pPr>
                <a:defRPr/>
              </a:pPr>
              <a:t>‹#›</a:t>
            </a:fld>
            <a:endParaRPr lang="en-US" altLang="zh-CN"/>
          </a:p>
        </p:txBody>
      </p:sp>
    </p:spTree>
    <p:extLst>
      <p:ext uri="{BB962C8B-B14F-4D97-AF65-F5344CB8AC3E}">
        <p14:creationId xmlns:p14="http://schemas.microsoft.com/office/powerpoint/2010/main" val="304479782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881063" y="214313"/>
            <a:ext cx="8062912" cy="919162"/>
          </a:xfrm>
        </p:spPr>
        <p:txBody>
          <a:bodyPr/>
          <a:lstStyle/>
          <a:p>
            <a:r>
              <a:rPr lang="zh-CN" altLang="en-US"/>
              <a:t>单击此处编辑母版标题样式</a:t>
            </a:r>
          </a:p>
        </p:txBody>
      </p:sp>
      <p:sp>
        <p:nvSpPr>
          <p:cNvPr id="3" name="内容占位符 2"/>
          <p:cNvSpPr>
            <a:spLocks noGrp="1"/>
          </p:cNvSpPr>
          <p:nvPr>
            <p:ph sz="quarter" idx="1"/>
          </p:nvPr>
        </p:nvSpPr>
        <p:spPr>
          <a:xfrm>
            <a:off x="576264" y="1368425"/>
            <a:ext cx="4098925" cy="2573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827588" y="1368425"/>
            <a:ext cx="4100512" cy="2573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576264" y="4094165"/>
            <a:ext cx="4098925" cy="25749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827588" y="4094165"/>
            <a:ext cx="4100512" cy="25749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2"/>
          <p:cNvSpPr>
            <a:spLocks noGrp="1" noChangeArrowheads="1"/>
          </p:cNvSpPr>
          <p:nvPr>
            <p:ph type="dt" sz="half" idx="10"/>
          </p:nvPr>
        </p:nvSpPr>
        <p:spPr>
          <a:xfrm>
            <a:off x="1162050" y="6243638"/>
            <a:ext cx="1905000" cy="457200"/>
          </a:xfrm>
          <a:prstGeom prst="rect">
            <a:avLst/>
          </a:prstGeom>
        </p:spPr>
        <p:txBody>
          <a:bodyPr/>
          <a:lstStyle>
            <a:lvl1pPr eaLnBrk="1" hangingPunct="1">
              <a:defRPr/>
            </a:lvl1pPr>
          </a:lstStyle>
          <a:p>
            <a:pPr>
              <a:defRPr/>
            </a:pPr>
            <a:endParaRPr lang="en-US" altLang="zh-CN"/>
          </a:p>
        </p:txBody>
      </p:sp>
      <p:sp>
        <p:nvSpPr>
          <p:cNvPr id="8" name="Rectangle 13"/>
          <p:cNvSpPr>
            <a:spLocks noGrp="1" noChangeArrowheads="1"/>
          </p:cNvSpPr>
          <p:nvPr>
            <p:ph type="ftr" sz="quarter" idx="11"/>
          </p:nvPr>
        </p:nvSpPr>
        <p:spPr>
          <a:xfrm>
            <a:off x="3671888" y="6400800"/>
            <a:ext cx="2895600" cy="457200"/>
          </a:xfrm>
          <a:prstGeom prst="rect">
            <a:avLst/>
          </a:prstGeom>
        </p:spPr>
        <p:txBody>
          <a:bodyPr/>
          <a:lstStyle>
            <a:lvl1pPr eaLnBrk="1" hangingPunct="1">
              <a:defRPr/>
            </a:lvl1pPr>
          </a:lstStyle>
          <a:p>
            <a:pPr>
              <a:defRPr/>
            </a:pPr>
            <a:r>
              <a:rPr lang="en-US" altLang="zh-CN"/>
              <a:t>copyright  </a:t>
            </a:r>
            <a:r>
              <a:rPr lang="zh-CN" altLang="en-US"/>
              <a:t>朱维红</a:t>
            </a:r>
            <a:endParaRPr lang="en-US" altLang="zh-CN"/>
          </a:p>
        </p:txBody>
      </p:sp>
      <p:sp>
        <p:nvSpPr>
          <p:cNvPr id="9" name="Rectangle 14"/>
          <p:cNvSpPr>
            <a:spLocks noGrp="1" noChangeArrowheads="1"/>
          </p:cNvSpPr>
          <p:nvPr>
            <p:ph type="sldNum" sz="quarter" idx="12"/>
          </p:nvPr>
        </p:nvSpPr>
        <p:spPr>
          <a:xfrm>
            <a:off x="7042150" y="6243638"/>
            <a:ext cx="1905000" cy="457200"/>
          </a:xfrm>
          <a:prstGeom prst="rect">
            <a:avLst/>
          </a:prstGeom>
        </p:spPr>
        <p:txBody>
          <a:bodyPr/>
          <a:lstStyle>
            <a:lvl1pPr eaLnBrk="1" hangingPunct="1">
              <a:defRPr/>
            </a:lvl1pPr>
          </a:lstStyle>
          <a:p>
            <a:pPr>
              <a:defRPr/>
            </a:pPr>
            <a:fld id="{448E00CF-70E6-4210-B23A-8272C8897EC1}" type="slidenum">
              <a:rPr lang="zh-CN" altLang="en-US"/>
              <a:pPr>
                <a:defRPr/>
              </a:pPr>
              <a:t>‹#›</a:t>
            </a:fld>
            <a:endParaRPr lang="en-US" altLang="zh-CN"/>
          </a:p>
        </p:txBody>
      </p:sp>
    </p:spTree>
    <p:extLst>
      <p:ext uri="{BB962C8B-B14F-4D97-AF65-F5344CB8AC3E}">
        <p14:creationId xmlns:p14="http://schemas.microsoft.com/office/powerpoint/2010/main" val="259450212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536331"/>
            <a:ext cx="7772400" cy="534694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3339054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386863"/>
            <a:ext cx="7772400" cy="54964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9526853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457201"/>
            <a:ext cx="7772400" cy="5426075"/>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32658019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4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430823"/>
            <a:ext cx="7772400" cy="545245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00079967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580293"/>
            <a:ext cx="7772400" cy="530298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09568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18" Type="http://schemas.openxmlformats.org/officeDocument/2006/relationships/theme" Target="../theme/theme4.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slideLayout" Target="../slideLayouts/slideLayout42.xml"/><Relationship Id="rId2" Type="http://schemas.openxmlformats.org/officeDocument/2006/relationships/slideLayout" Target="../slideLayouts/slideLayout27.xml"/><Relationship Id="rId16" Type="http://schemas.openxmlformats.org/officeDocument/2006/relationships/slideLayout" Target="../slideLayouts/slideLayout41.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slideLayout" Target="../slideLayouts/slideLayout40.xml"/><Relationship Id="rId10" Type="http://schemas.openxmlformats.org/officeDocument/2006/relationships/slideLayout" Target="../slideLayouts/slideLayout35.xml"/><Relationship Id="rId19" Type="http://schemas.openxmlformats.org/officeDocument/2006/relationships/image" Target="../media/image3.png"/><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0.xml"/><Relationship Id="rId13" Type="http://schemas.openxmlformats.org/officeDocument/2006/relationships/slideLayout" Target="../slideLayouts/slideLayout55.xml"/><Relationship Id="rId18" Type="http://schemas.openxmlformats.org/officeDocument/2006/relationships/theme" Target="../theme/theme5.xml"/><Relationship Id="rId3" Type="http://schemas.openxmlformats.org/officeDocument/2006/relationships/slideLayout" Target="../slideLayouts/slideLayout45.xml"/><Relationship Id="rId7" Type="http://schemas.openxmlformats.org/officeDocument/2006/relationships/slideLayout" Target="../slideLayouts/slideLayout49.xml"/><Relationship Id="rId12" Type="http://schemas.openxmlformats.org/officeDocument/2006/relationships/slideLayout" Target="../slideLayouts/slideLayout54.xml"/><Relationship Id="rId17" Type="http://schemas.openxmlformats.org/officeDocument/2006/relationships/slideLayout" Target="../slideLayouts/slideLayout59.xml"/><Relationship Id="rId2" Type="http://schemas.openxmlformats.org/officeDocument/2006/relationships/slideLayout" Target="../slideLayouts/slideLayout44.xml"/><Relationship Id="rId16" Type="http://schemas.openxmlformats.org/officeDocument/2006/relationships/slideLayout" Target="../slideLayouts/slideLayout58.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5" Type="http://schemas.openxmlformats.org/officeDocument/2006/relationships/slideLayout" Target="../slideLayouts/slideLayout47.xml"/><Relationship Id="rId15" Type="http://schemas.openxmlformats.org/officeDocument/2006/relationships/slideLayout" Target="../slideLayouts/slideLayout57.xml"/><Relationship Id="rId10" Type="http://schemas.openxmlformats.org/officeDocument/2006/relationships/slideLayout" Target="../slideLayouts/slideLayout52.xml"/><Relationship Id="rId4" Type="http://schemas.openxmlformats.org/officeDocument/2006/relationships/slideLayout" Target="../slideLayouts/slideLayout46.xml"/><Relationship Id="rId9" Type="http://schemas.openxmlformats.org/officeDocument/2006/relationships/slideLayout" Target="../slideLayouts/slideLayout51.xml"/><Relationship Id="rId14"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9FDD8F-1499-4C79-8BBC-577CD559A01B}" type="datetimeFigureOut">
              <a:rPr lang="zh-CN" altLang="en-US" smtClean="0"/>
              <a:pPr/>
              <a:t>2024/11/29</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405463660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139855-D108-4DFB-8CB9-5769378610FC}" type="datetimeFigureOut">
              <a:rPr lang="zh-CN" altLang="en-US" smtClean="0"/>
              <a:pPr/>
              <a:t>2024/11/29</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14979100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5 Marcador de número de diapositiva"/>
          <p:cNvSpPr>
            <a:spLocks noGrp="1"/>
          </p:cNvSpPr>
          <p:nvPr>
            <p:ph type="sldNum" sz="quarter" idx="4"/>
          </p:nvPr>
        </p:nvSpPr>
        <p:spPr>
          <a:xfrm>
            <a:off x="8460432" y="6460772"/>
            <a:ext cx="718346"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defRPr>
            </a:lvl1pPr>
          </a:lstStyle>
          <a:p>
            <a:pPr>
              <a:defRPr/>
            </a:pPr>
            <a:endParaRPr lang="es-ES" dirty="0">
              <a:solidFill>
                <a:prstClr val="black">
                  <a:tint val="75000"/>
                </a:prstClr>
              </a:solidFill>
            </a:endParaRPr>
          </a:p>
        </p:txBody>
      </p:sp>
      <p:pic>
        <p:nvPicPr>
          <p:cNvPr id="7" name="Picture 2" descr="C:\Users\Administrator\Downloads\SDU.jpg"/>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8080080" y="3235"/>
            <a:ext cx="880064" cy="836715"/>
          </a:xfrm>
          <a:prstGeom prst="rect">
            <a:avLst/>
          </a:prstGeom>
          <a:noFill/>
          <a:extLst>
            <a:ext uri="{909E8E84-426E-40DD-AFC4-6F175D3DCCD1}">
              <a14:hiddenFill xmlns:a14="http://schemas.microsoft.com/office/drawing/2010/main">
                <a:solidFill>
                  <a:srgbClr val="FFFFFF"/>
                </a:solidFill>
              </a14:hiddenFill>
            </a:ext>
          </a:extLst>
        </p:spPr>
      </p:pic>
      <p:cxnSp>
        <p:nvCxnSpPr>
          <p:cNvPr id="8" name="直接连接符 7"/>
          <p:cNvCxnSpPr/>
          <p:nvPr userDrawn="1"/>
        </p:nvCxnSpPr>
        <p:spPr>
          <a:xfrm>
            <a:off x="0" y="1124744"/>
            <a:ext cx="9143022"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pic>
        <p:nvPicPr>
          <p:cNvPr id="2" name="Picture 2"/>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7896225" y="839047"/>
            <a:ext cx="1247775"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86329995"/>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Lst>
  <p:hf hdr="0" ft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3048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de-DE" altLang="zh-CN" dirty="0"/>
              <a:t>Klicken Sie, um das Titelformat zu bearbeiten</a:t>
            </a:r>
          </a:p>
        </p:txBody>
      </p:sp>
      <p:sp>
        <p:nvSpPr>
          <p:cNvPr id="1027" name="Rectangle 3"/>
          <p:cNvSpPr>
            <a:spLocks noGrp="1" noChangeArrowheads="1"/>
          </p:cNvSpPr>
          <p:nvPr>
            <p:ph type="body" idx="1"/>
          </p:nvPr>
        </p:nvSpPr>
        <p:spPr bwMode="auto">
          <a:xfrm>
            <a:off x="684213" y="1628775"/>
            <a:ext cx="7772400" cy="425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de-DE" altLang="zh-CN" dirty="0"/>
              <a:t>Klicken Sie, um die Formate des Vorlagentextes zu bearbeiten</a:t>
            </a:r>
          </a:p>
          <a:p>
            <a:pPr lvl="1"/>
            <a:r>
              <a:rPr lang="de-DE" altLang="zh-CN" dirty="0"/>
              <a:t>Zweite Ebene</a:t>
            </a:r>
          </a:p>
          <a:p>
            <a:pPr lvl="2"/>
            <a:r>
              <a:rPr lang="de-DE" altLang="zh-CN" dirty="0"/>
              <a:t>Dritte Ebene</a:t>
            </a:r>
          </a:p>
          <a:p>
            <a:pPr lvl="3"/>
            <a:r>
              <a:rPr lang="de-DE" altLang="zh-CN" dirty="0"/>
              <a:t>Vierte Ebene</a:t>
            </a:r>
          </a:p>
        </p:txBody>
      </p:sp>
      <p:sp>
        <p:nvSpPr>
          <p:cNvPr id="1028" name="Line 4"/>
          <p:cNvSpPr>
            <a:spLocks noChangeShapeType="1"/>
          </p:cNvSpPr>
          <p:nvPr/>
        </p:nvSpPr>
        <p:spPr bwMode="auto">
          <a:xfrm flipV="1">
            <a:off x="591247" y="6389505"/>
            <a:ext cx="806450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029" name="Rectangle 5"/>
          <p:cNvSpPr>
            <a:spLocks noChangeArrowheads="1"/>
          </p:cNvSpPr>
          <p:nvPr/>
        </p:nvSpPr>
        <p:spPr bwMode="auto">
          <a:xfrm>
            <a:off x="289062" y="6415221"/>
            <a:ext cx="10668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r" eaLnBrk="1" hangingPunct="1">
              <a:defRPr/>
            </a:pPr>
            <a:r>
              <a:rPr lang="de-DE" altLang="zh-CN" sz="900" dirty="0">
                <a:solidFill>
                  <a:srgbClr val="808080"/>
                </a:solidFill>
                <a:latin typeface="Arial" panose="020B0604020202020204" pitchFamily="34" charset="0"/>
              </a:rPr>
              <a:t>Slide </a:t>
            </a:r>
            <a:fld id="{ED94CCA2-7169-4BB5-975E-E6CC90B66E06}" type="slidenum">
              <a:rPr lang="de-DE" altLang="zh-CN" sz="900" smtClean="0">
                <a:solidFill>
                  <a:srgbClr val="808080"/>
                </a:solidFill>
                <a:latin typeface="Arial" panose="020B0604020202020204" pitchFamily="34" charset="0"/>
              </a:rPr>
              <a:pPr algn="r" eaLnBrk="1" hangingPunct="1">
                <a:defRPr/>
              </a:pPr>
              <a:t>‹#›</a:t>
            </a:fld>
            <a:endParaRPr lang="de-DE" altLang="zh-CN" sz="1050" dirty="0">
              <a:solidFill>
                <a:srgbClr val="000000"/>
              </a:solidFill>
              <a:latin typeface="Arial Black" panose="020B0A04020102020204" pitchFamily="34" charset="0"/>
            </a:endParaRPr>
          </a:p>
        </p:txBody>
      </p:sp>
      <p:sp>
        <p:nvSpPr>
          <p:cNvPr id="1030" name="Text Box 6"/>
          <p:cNvSpPr txBox="1">
            <a:spLocks noChangeArrowheads="1"/>
          </p:cNvSpPr>
          <p:nvPr/>
        </p:nvSpPr>
        <p:spPr bwMode="auto">
          <a:xfrm>
            <a:off x="2612555" y="6521901"/>
            <a:ext cx="3124200"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zh-CN" altLang="en-US" sz="1050" b="1" kern="1200" dirty="0">
                <a:solidFill>
                  <a:schemeClr val="accent1">
                    <a:lumMod val="75000"/>
                  </a:schemeClr>
                </a:solidFill>
                <a:effectLst/>
                <a:latin typeface="Tahoma" panose="020B0604030504040204" pitchFamily="34" charset="0"/>
                <a:ea typeface="宋体" panose="02010600030101010101" pitchFamily="2" charset="-122"/>
                <a:cs typeface="+mn-cs"/>
              </a:rPr>
              <a:t>随机信号分析   </a:t>
            </a:r>
            <a:r>
              <a:rPr lang="de-DE" altLang="zh-CN" sz="1050" dirty="0">
                <a:solidFill>
                  <a:schemeClr val="accent1">
                    <a:lumMod val="75000"/>
                  </a:schemeClr>
                </a:solidFill>
                <a:latin typeface="Arial" panose="020B0604020202020204" pitchFamily="34" charset="0"/>
              </a:rPr>
              <a:t>2022 </a:t>
            </a:r>
            <a:r>
              <a:rPr lang="en-US" altLang="zh-CN" sz="1050" dirty="0">
                <a:solidFill>
                  <a:schemeClr val="accent1">
                    <a:lumMod val="75000"/>
                  </a:schemeClr>
                </a:solidFill>
                <a:latin typeface="Arial" panose="020B0604020202020204" pitchFamily="34" charset="0"/>
              </a:rPr>
              <a:t>Fall</a:t>
            </a:r>
            <a:endParaRPr lang="zh-CN" altLang="de-DE" sz="1050" dirty="0">
              <a:solidFill>
                <a:schemeClr val="accent1">
                  <a:lumMod val="75000"/>
                </a:schemeClr>
              </a:solidFill>
              <a:latin typeface="Arial" panose="020B0604020202020204" pitchFamily="34" charset="0"/>
            </a:endParaRPr>
          </a:p>
        </p:txBody>
      </p:sp>
      <p:sp>
        <p:nvSpPr>
          <p:cNvPr id="208903" name="Text Box 7"/>
          <p:cNvSpPr txBox="1">
            <a:spLocks noChangeArrowheads="1"/>
          </p:cNvSpPr>
          <p:nvPr/>
        </p:nvSpPr>
        <p:spPr bwMode="auto">
          <a:xfrm>
            <a:off x="7808913" y="6461125"/>
            <a:ext cx="1295400"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zh-CN" altLang="es-ES" sz="1500" b="1" dirty="0">
                <a:solidFill>
                  <a:srgbClr val="0000FF"/>
                </a:solidFill>
                <a:effectLst>
                  <a:outerShdw blurRad="38100" dist="38100" dir="2700000" algn="tl">
                    <a:srgbClr val="C0C0C0"/>
                  </a:outerShdw>
                </a:effectLst>
                <a:latin typeface="Arial" panose="020B0604020202020204" pitchFamily="34" charset="0"/>
                <a:ea typeface="幼圆" panose="02010509060101010101" pitchFamily="49" charset="-122"/>
              </a:rPr>
              <a:t>山东大学</a:t>
            </a:r>
            <a:endParaRPr lang="zh-CN" altLang="en-US" sz="1500" b="1" dirty="0">
              <a:solidFill>
                <a:srgbClr val="0000FF"/>
              </a:solidFill>
              <a:effectLst>
                <a:outerShdw blurRad="38100" dist="38100" dir="2700000" algn="tl">
                  <a:srgbClr val="C0C0C0"/>
                </a:outerShdw>
              </a:effectLst>
              <a:latin typeface="Arial" panose="020B0604020202020204" pitchFamily="34" charset="0"/>
              <a:ea typeface="幼圆" panose="02010509060101010101" pitchFamily="49" charset="-122"/>
            </a:endParaRPr>
          </a:p>
        </p:txBody>
      </p:sp>
      <p:sp>
        <p:nvSpPr>
          <p:cNvPr id="208904" name="Text Box 8"/>
          <p:cNvSpPr txBox="1">
            <a:spLocks noChangeArrowheads="1"/>
          </p:cNvSpPr>
          <p:nvPr/>
        </p:nvSpPr>
        <p:spPr bwMode="auto">
          <a:xfrm>
            <a:off x="5720272" y="6461126"/>
            <a:ext cx="2546350"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zh-CN" altLang="es-ES" sz="1500" i="1" dirty="0">
                <a:solidFill>
                  <a:srgbClr val="0000FF"/>
                </a:solidFill>
                <a:effectLst>
                  <a:outerShdw blurRad="38100" dist="38100" dir="2700000" algn="tl">
                    <a:srgbClr val="C0C0C0"/>
                  </a:outerShdw>
                </a:effectLst>
                <a:latin typeface="Arial" panose="020B0604020202020204" pitchFamily="34" charset="0"/>
                <a:ea typeface="华文彩云" panose="02010800040101010101" pitchFamily="2" charset="-122"/>
              </a:rPr>
              <a:t>信息科学与工程学院</a:t>
            </a:r>
            <a:endParaRPr lang="zh-CN" altLang="en-US" sz="1500" i="1" dirty="0">
              <a:solidFill>
                <a:srgbClr val="0000FF"/>
              </a:solidFill>
              <a:effectLst>
                <a:outerShdw blurRad="38100" dist="38100" dir="2700000" algn="tl">
                  <a:srgbClr val="C0C0C0"/>
                </a:outerShdw>
              </a:effectLst>
              <a:latin typeface="Arial" panose="020B0604020202020204" pitchFamily="34" charset="0"/>
              <a:ea typeface="华文彩云" panose="02010800040101010101" pitchFamily="2" charset="-122"/>
            </a:endParaRPr>
          </a:p>
        </p:txBody>
      </p:sp>
      <p:pic>
        <p:nvPicPr>
          <p:cNvPr id="1033" name="Picture 9"/>
          <p:cNvPicPr preferRelativeResize="0">
            <a:picLocks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51246" y="58913"/>
            <a:ext cx="540000" cy="720000"/>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01979152"/>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ctr" rtl="0" eaLnBrk="0" fontAlgn="base" hangingPunct="0">
        <a:spcBef>
          <a:spcPct val="0"/>
        </a:spcBef>
        <a:spcAft>
          <a:spcPct val="0"/>
        </a:spcAft>
        <a:defRPr sz="2400" b="1" kern="1200" baseline="0">
          <a:solidFill>
            <a:srgbClr val="FF0000"/>
          </a:solidFill>
          <a:latin typeface="Times New Roman" panose="02020603050405020304" pitchFamily="18" charset="0"/>
          <a:ea typeface="隶书" panose="02010509060101010101" pitchFamily="49" charset="-122"/>
          <a:cs typeface="+mj-cs"/>
        </a:defRPr>
      </a:lvl1pPr>
      <a:lvl2pPr algn="ctr" rtl="0" eaLnBrk="0" fontAlgn="base" hangingPunct="0">
        <a:spcBef>
          <a:spcPct val="0"/>
        </a:spcBef>
        <a:spcAft>
          <a:spcPct val="0"/>
        </a:spcAft>
        <a:defRPr sz="2400">
          <a:solidFill>
            <a:schemeClr val="tx2"/>
          </a:solidFill>
          <a:latin typeface="黑体" panose="02010609060101010101" pitchFamily="49" charset="-122"/>
          <a:ea typeface="黑体" panose="02010609060101010101" pitchFamily="49" charset="-122"/>
        </a:defRPr>
      </a:lvl2pPr>
      <a:lvl3pPr algn="ctr" rtl="0" eaLnBrk="0" fontAlgn="base" hangingPunct="0">
        <a:spcBef>
          <a:spcPct val="0"/>
        </a:spcBef>
        <a:spcAft>
          <a:spcPct val="0"/>
        </a:spcAft>
        <a:defRPr sz="2400">
          <a:solidFill>
            <a:schemeClr val="tx2"/>
          </a:solidFill>
          <a:latin typeface="黑体" panose="02010609060101010101" pitchFamily="49" charset="-122"/>
          <a:ea typeface="黑体" panose="02010609060101010101" pitchFamily="49" charset="-122"/>
        </a:defRPr>
      </a:lvl3pPr>
      <a:lvl4pPr algn="ctr" rtl="0" eaLnBrk="0" fontAlgn="base" hangingPunct="0">
        <a:spcBef>
          <a:spcPct val="0"/>
        </a:spcBef>
        <a:spcAft>
          <a:spcPct val="0"/>
        </a:spcAft>
        <a:defRPr sz="2400">
          <a:solidFill>
            <a:schemeClr val="tx2"/>
          </a:solidFill>
          <a:latin typeface="黑体" panose="02010609060101010101" pitchFamily="49" charset="-122"/>
          <a:ea typeface="黑体" panose="02010609060101010101" pitchFamily="49" charset="-122"/>
        </a:defRPr>
      </a:lvl4pPr>
      <a:lvl5pPr algn="ctr" rtl="0" eaLnBrk="0" fontAlgn="base" hangingPunct="0">
        <a:spcBef>
          <a:spcPct val="0"/>
        </a:spcBef>
        <a:spcAft>
          <a:spcPct val="0"/>
        </a:spcAft>
        <a:defRPr sz="2400">
          <a:solidFill>
            <a:schemeClr val="tx2"/>
          </a:solidFill>
          <a:latin typeface="黑体" panose="02010609060101010101" pitchFamily="49" charset="-122"/>
          <a:ea typeface="黑体" panose="02010609060101010101" pitchFamily="49" charset="-122"/>
        </a:defRPr>
      </a:lvl5pPr>
      <a:lvl6pPr marL="342900" algn="ctr" rtl="0" fontAlgn="base">
        <a:spcBef>
          <a:spcPct val="0"/>
        </a:spcBef>
        <a:spcAft>
          <a:spcPct val="0"/>
        </a:spcAft>
        <a:defRPr sz="2400">
          <a:solidFill>
            <a:schemeClr val="tx2"/>
          </a:solidFill>
          <a:latin typeface="黑体" panose="02010609060101010101" pitchFamily="49" charset="-122"/>
          <a:ea typeface="黑体" panose="02010609060101010101" pitchFamily="49" charset="-122"/>
        </a:defRPr>
      </a:lvl6pPr>
      <a:lvl7pPr marL="685800" algn="ctr" rtl="0" fontAlgn="base">
        <a:spcBef>
          <a:spcPct val="0"/>
        </a:spcBef>
        <a:spcAft>
          <a:spcPct val="0"/>
        </a:spcAft>
        <a:defRPr sz="2400">
          <a:solidFill>
            <a:schemeClr val="tx2"/>
          </a:solidFill>
          <a:latin typeface="黑体" panose="02010609060101010101" pitchFamily="49" charset="-122"/>
          <a:ea typeface="黑体" panose="02010609060101010101" pitchFamily="49" charset="-122"/>
        </a:defRPr>
      </a:lvl7pPr>
      <a:lvl8pPr marL="1028700" algn="ctr" rtl="0" fontAlgn="base">
        <a:spcBef>
          <a:spcPct val="0"/>
        </a:spcBef>
        <a:spcAft>
          <a:spcPct val="0"/>
        </a:spcAft>
        <a:defRPr sz="2400">
          <a:solidFill>
            <a:schemeClr val="tx2"/>
          </a:solidFill>
          <a:latin typeface="黑体" panose="02010609060101010101" pitchFamily="49" charset="-122"/>
          <a:ea typeface="黑体" panose="02010609060101010101" pitchFamily="49" charset="-122"/>
        </a:defRPr>
      </a:lvl8pPr>
      <a:lvl9pPr marL="1371600" algn="ctr" rtl="0" fontAlgn="base">
        <a:spcBef>
          <a:spcPct val="0"/>
        </a:spcBef>
        <a:spcAft>
          <a:spcPct val="0"/>
        </a:spcAft>
        <a:defRPr sz="2400">
          <a:solidFill>
            <a:schemeClr val="tx2"/>
          </a:solidFill>
          <a:latin typeface="黑体" panose="02010609060101010101" pitchFamily="49" charset="-122"/>
          <a:ea typeface="黑体" panose="02010609060101010101" pitchFamily="49" charset="-122"/>
        </a:defRPr>
      </a:lvl9pPr>
    </p:titleStyle>
    <p:bodyStyle>
      <a:lvl1pPr marL="257175" indent="-257175" algn="l" rtl="0" eaLnBrk="0" fontAlgn="base" hangingPunct="0">
        <a:spcBef>
          <a:spcPct val="20000"/>
        </a:spcBef>
        <a:spcAft>
          <a:spcPct val="0"/>
        </a:spcAft>
        <a:buChar char="•"/>
        <a:defRPr sz="2100" b="1" kern="1200" baseline="0">
          <a:solidFill>
            <a:schemeClr val="tx1"/>
          </a:solidFill>
          <a:latin typeface="Times New Roman" panose="02020603050405020304" pitchFamily="18" charset="0"/>
          <a:ea typeface="楷体" panose="02010609060101010101" pitchFamily="49" charset="-122"/>
          <a:cs typeface="+mn-cs"/>
        </a:defRPr>
      </a:lvl1pPr>
      <a:lvl2pPr marL="557213" indent="-214313" algn="l" rtl="0" eaLnBrk="0" fontAlgn="base" hangingPunct="0">
        <a:spcBef>
          <a:spcPct val="20000"/>
        </a:spcBef>
        <a:spcAft>
          <a:spcPct val="0"/>
        </a:spcAft>
        <a:buChar char="–"/>
        <a:defRPr sz="1800" b="1" kern="1200" baseline="0">
          <a:solidFill>
            <a:schemeClr val="tx1"/>
          </a:solidFill>
          <a:latin typeface="Times New Roman" panose="02020603050405020304" pitchFamily="18" charset="0"/>
          <a:ea typeface="楷体" panose="02010609060101010101" pitchFamily="49" charset="-122"/>
          <a:cs typeface="+mn-cs"/>
        </a:defRPr>
      </a:lvl2pPr>
      <a:lvl3pPr marL="857250" indent="-171450" algn="l" rtl="0" eaLnBrk="0" fontAlgn="base" hangingPunct="0">
        <a:spcBef>
          <a:spcPct val="20000"/>
        </a:spcBef>
        <a:spcAft>
          <a:spcPct val="0"/>
        </a:spcAft>
        <a:buChar char="•"/>
        <a:defRPr sz="1500" b="1" kern="1200" baseline="0">
          <a:solidFill>
            <a:schemeClr val="tx1"/>
          </a:solidFill>
          <a:latin typeface="Times New Roman" panose="02020603050405020304" pitchFamily="18" charset="0"/>
          <a:ea typeface="楷体" panose="02010609060101010101" pitchFamily="49" charset="-122"/>
          <a:cs typeface="+mn-cs"/>
        </a:defRPr>
      </a:lvl3pPr>
      <a:lvl4pPr marL="1200150" indent="-171450" algn="l" rtl="0" eaLnBrk="0" fontAlgn="base" hangingPunct="0">
        <a:spcBef>
          <a:spcPct val="20000"/>
        </a:spcBef>
        <a:spcAft>
          <a:spcPct val="0"/>
        </a:spcAft>
        <a:buChar char="–"/>
        <a:defRPr sz="1500" b="1" kern="1200" baseline="0">
          <a:solidFill>
            <a:schemeClr val="tx1"/>
          </a:solidFill>
          <a:latin typeface="Times New Roman" panose="02020603050405020304" pitchFamily="18" charset="0"/>
          <a:ea typeface="楷体" panose="02010609060101010101" pitchFamily="49" charset="-122"/>
          <a:cs typeface="+mn-cs"/>
        </a:defRPr>
      </a:lvl4pPr>
      <a:lvl5pPr marL="1543050" indent="-171450" algn="l" rtl="0" eaLnBrk="0" fontAlgn="base" hangingPunct="0">
        <a:spcBef>
          <a:spcPct val="20000"/>
        </a:spcBef>
        <a:spcAft>
          <a:spcPct val="0"/>
        </a:spcAft>
        <a:buChar char="»"/>
        <a:defRPr sz="1500" kern="1200">
          <a:solidFill>
            <a:schemeClr val="tx1"/>
          </a:solidFill>
          <a:latin typeface="Arial" panose="020B06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3048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de-DE" altLang="zh-CN" dirty="0"/>
              <a:t>Klicken Sie, um das Titelformat zu bearbeiten</a:t>
            </a:r>
          </a:p>
        </p:txBody>
      </p:sp>
      <p:sp>
        <p:nvSpPr>
          <p:cNvPr id="1027" name="Rectangle 3"/>
          <p:cNvSpPr>
            <a:spLocks noGrp="1" noChangeArrowheads="1"/>
          </p:cNvSpPr>
          <p:nvPr>
            <p:ph type="body" idx="1"/>
          </p:nvPr>
        </p:nvSpPr>
        <p:spPr bwMode="auto">
          <a:xfrm>
            <a:off x="684213" y="1628775"/>
            <a:ext cx="7772400" cy="425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de-DE" altLang="zh-CN" dirty="0"/>
              <a:t>Klicken Sie, um die Formate des Vorlagentextes zu bearbeiten</a:t>
            </a:r>
          </a:p>
          <a:p>
            <a:pPr lvl="1"/>
            <a:r>
              <a:rPr lang="de-DE" altLang="zh-CN" dirty="0"/>
              <a:t>Zweite Ebene</a:t>
            </a:r>
          </a:p>
          <a:p>
            <a:pPr lvl="2"/>
            <a:r>
              <a:rPr lang="de-DE" altLang="zh-CN" dirty="0"/>
              <a:t>Dritte Ebene</a:t>
            </a:r>
          </a:p>
          <a:p>
            <a:pPr lvl="3"/>
            <a:r>
              <a:rPr lang="de-DE" altLang="zh-CN" dirty="0"/>
              <a:t>Vierte Ebene</a:t>
            </a:r>
          </a:p>
        </p:txBody>
      </p:sp>
      <p:sp>
        <p:nvSpPr>
          <p:cNvPr id="1028" name="Line 4"/>
          <p:cNvSpPr>
            <a:spLocks noChangeShapeType="1"/>
          </p:cNvSpPr>
          <p:nvPr/>
        </p:nvSpPr>
        <p:spPr bwMode="auto">
          <a:xfrm flipV="1">
            <a:off x="591247" y="6389505"/>
            <a:ext cx="806450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029" name="Rectangle 5"/>
          <p:cNvSpPr>
            <a:spLocks noChangeArrowheads="1"/>
          </p:cNvSpPr>
          <p:nvPr/>
        </p:nvSpPr>
        <p:spPr bwMode="auto">
          <a:xfrm>
            <a:off x="611560" y="6415220"/>
            <a:ext cx="504056" cy="307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r" eaLnBrk="1" hangingPunct="1">
              <a:defRPr/>
            </a:pPr>
            <a:fld id="{ED94CCA2-7169-4BB5-975E-E6CC90B66E06}" type="slidenum">
              <a:rPr lang="de-DE" altLang="zh-CN" sz="1800" smtClean="0">
                <a:solidFill>
                  <a:srgbClr val="808080"/>
                </a:solidFill>
                <a:latin typeface="Arial" panose="020B0604020202020204" pitchFamily="34" charset="0"/>
              </a:rPr>
              <a:pPr algn="r" eaLnBrk="1" hangingPunct="1">
                <a:defRPr/>
              </a:pPr>
              <a:t>‹#›</a:t>
            </a:fld>
            <a:endParaRPr lang="de-DE" altLang="zh-CN" sz="1800" dirty="0">
              <a:solidFill>
                <a:srgbClr val="000000"/>
              </a:solidFill>
              <a:latin typeface="Arial Black" panose="020B0A04020102020204" pitchFamily="34" charset="0"/>
            </a:endParaRPr>
          </a:p>
        </p:txBody>
      </p:sp>
      <p:sp>
        <p:nvSpPr>
          <p:cNvPr id="1030" name="Text Box 6"/>
          <p:cNvSpPr txBox="1">
            <a:spLocks noChangeArrowheads="1"/>
          </p:cNvSpPr>
          <p:nvPr/>
        </p:nvSpPr>
        <p:spPr bwMode="auto">
          <a:xfrm>
            <a:off x="3190419" y="6422607"/>
            <a:ext cx="258843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zh-CN" altLang="en-US" sz="1600" b="1" kern="1200" dirty="0">
                <a:solidFill>
                  <a:schemeClr val="accent1">
                    <a:lumMod val="75000"/>
                  </a:schemeClr>
                </a:solidFill>
                <a:effectLst/>
                <a:latin typeface="Tahoma" panose="020B0604030504040204" pitchFamily="34" charset="0"/>
                <a:ea typeface="宋体" panose="02010600030101010101" pitchFamily="2" charset="-122"/>
                <a:cs typeface="+mn-cs"/>
              </a:rPr>
              <a:t>随机信号分析   </a:t>
            </a:r>
            <a:r>
              <a:rPr lang="de-DE" altLang="zh-CN" sz="1600" dirty="0">
                <a:solidFill>
                  <a:schemeClr val="accent1">
                    <a:lumMod val="75000"/>
                  </a:schemeClr>
                </a:solidFill>
                <a:latin typeface="Arial" panose="020B0604020202020204" pitchFamily="34" charset="0"/>
              </a:rPr>
              <a:t>2024 </a:t>
            </a:r>
            <a:r>
              <a:rPr lang="en-US" altLang="zh-CN" sz="1600" dirty="0">
                <a:solidFill>
                  <a:schemeClr val="accent1">
                    <a:lumMod val="75000"/>
                  </a:schemeClr>
                </a:solidFill>
                <a:latin typeface="Arial" panose="020B0604020202020204" pitchFamily="34" charset="0"/>
              </a:rPr>
              <a:t>Fall</a:t>
            </a:r>
            <a:endParaRPr lang="zh-CN" altLang="de-DE" sz="1600" dirty="0">
              <a:solidFill>
                <a:schemeClr val="accent1">
                  <a:lumMod val="75000"/>
                </a:schemeClr>
              </a:solidFill>
              <a:latin typeface="Arial" panose="020B0604020202020204" pitchFamily="34" charset="0"/>
            </a:endParaRPr>
          </a:p>
        </p:txBody>
      </p:sp>
      <p:sp>
        <p:nvSpPr>
          <p:cNvPr id="208903" name="Text Box 7"/>
          <p:cNvSpPr txBox="1">
            <a:spLocks noChangeArrowheads="1"/>
          </p:cNvSpPr>
          <p:nvPr/>
        </p:nvSpPr>
        <p:spPr bwMode="auto">
          <a:xfrm>
            <a:off x="7596336" y="6439619"/>
            <a:ext cx="12954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zh-CN" altLang="es-ES" sz="1600" b="1" dirty="0">
                <a:solidFill>
                  <a:srgbClr val="0000FF"/>
                </a:solidFill>
                <a:effectLst>
                  <a:outerShdw blurRad="38100" dist="38100" dir="2700000" algn="tl">
                    <a:srgbClr val="C0C0C0"/>
                  </a:outerShdw>
                </a:effectLst>
                <a:latin typeface="Arial" panose="020B0604020202020204" pitchFamily="34" charset="0"/>
                <a:ea typeface="幼圆" panose="02010509060101010101" pitchFamily="49" charset="-122"/>
              </a:rPr>
              <a:t>山东大学</a:t>
            </a:r>
            <a:endParaRPr lang="zh-CN" altLang="en-US" sz="1600" b="1" dirty="0">
              <a:solidFill>
                <a:srgbClr val="0000FF"/>
              </a:solidFill>
              <a:effectLst>
                <a:outerShdw blurRad="38100" dist="38100" dir="2700000" algn="tl">
                  <a:srgbClr val="C0C0C0"/>
                </a:outerShdw>
              </a:effectLst>
              <a:latin typeface="Arial" panose="020B0604020202020204" pitchFamily="34" charset="0"/>
              <a:ea typeface="幼圆" panose="02010509060101010101" pitchFamily="49" charset="-122"/>
            </a:endParaRPr>
          </a:p>
        </p:txBody>
      </p:sp>
    </p:spTree>
    <p:extLst>
      <p:ext uri="{BB962C8B-B14F-4D97-AF65-F5344CB8AC3E}">
        <p14:creationId xmlns:p14="http://schemas.microsoft.com/office/powerpoint/2010/main" val="8648673"/>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Lst>
  <p:txStyles>
    <p:titleStyle>
      <a:lvl1pPr algn="ctr" rtl="0" eaLnBrk="0" fontAlgn="base" hangingPunct="0">
        <a:spcBef>
          <a:spcPct val="0"/>
        </a:spcBef>
        <a:spcAft>
          <a:spcPct val="0"/>
        </a:spcAft>
        <a:defRPr sz="2400" b="1" kern="1200" baseline="0">
          <a:solidFill>
            <a:srgbClr val="FF0000"/>
          </a:solidFill>
          <a:latin typeface="Times New Roman" panose="02020603050405020304" pitchFamily="18" charset="0"/>
          <a:ea typeface="隶书" panose="02010509060101010101" pitchFamily="49" charset="-122"/>
          <a:cs typeface="+mj-cs"/>
        </a:defRPr>
      </a:lvl1pPr>
      <a:lvl2pPr algn="ctr" rtl="0" eaLnBrk="0" fontAlgn="base" hangingPunct="0">
        <a:spcBef>
          <a:spcPct val="0"/>
        </a:spcBef>
        <a:spcAft>
          <a:spcPct val="0"/>
        </a:spcAft>
        <a:defRPr sz="2400">
          <a:solidFill>
            <a:schemeClr val="tx2"/>
          </a:solidFill>
          <a:latin typeface="黑体" panose="02010609060101010101" pitchFamily="49" charset="-122"/>
          <a:ea typeface="黑体" panose="02010609060101010101" pitchFamily="49" charset="-122"/>
        </a:defRPr>
      </a:lvl2pPr>
      <a:lvl3pPr algn="ctr" rtl="0" eaLnBrk="0" fontAlgn="base" hangingPunct="0">
        <a:spcBef>
          <a:spcPct val="0"/>
        </a:spcBef>
        <a:spcAft>
          <a:spcPct val="0"/>
        </a:spcAft>
        <a:defRPr sz="2400">
          <a:solidFill>
            <a:schemeClr val="tx2"/>
          </a:solidFill>
          <a:latin typeface="黑体" panose="02010609060101010101" pitchFamily="49" charset="-122"/>
          <a:ea typeface="黑体" panose="02010609060101010101" pitchFamily="49" charset="-122"/>
        </a:defRPr>
      </a:lvl3pPr>
      <a:lvl4pPr algn="ctr" rtl="0" eaLnBrk="0" fontAlgn="base" hangingPunct="0">
        <a:spcBef>
          <a:spcPct val="0"/>
        </a:spcBef>
        <a:spcAft>
          <a:spcPct val="0"/>
        </a:spcAft>
        <a:defRPr sz="2400">
          <a:solidFill>
            <a:schemeClr val="tx2"/>
          </a:solidFill>
          <a:latin typeface="黑体" panose="02010609060101010101" pitchFamily="49" charset="-122"/>
          <a:ea typeface="黑体" panose="02010609060101010101" pitchFamily="49" charset="-122"/>
        </a:defRPr>
      </a:lvl4pPr>
      <a:lvl5pPr algn="ctr" rtl="0" eaLnBrk="0" fontAlgn="base" hangingPunct="0">
        <a:spcBef>
          <a:spcPct val="0"/>
        </a:spcBef>
        <a:spcAft>
          <a:spcPct val="0"/>
        </a:spcAft>
        <a:defRPr sz="2400">
          <a:solidFill>
            <a:schemeClr val="tx2"/>
          </a:solidFill>
          <a:latin typeface="黑体" panose="02010609060101010101" pitchFamily="49" charset="-122"/>
          <a:ea typeface="黑体" panose="02010609060101010101" pitchFamily="49" charset="-122"/>
        </a:defRPr>
      </a:lvl5pPr>
      <a:lvl6pPr marL="342900" algn="ctr" rtl="0" fontAlgn="base">
        <a:spcBef>
          <a:spcPct val="0"/>
        </a:spcBef>
        <a:spcAft>
          <a:spcPct val="0"/>
        </a:spcAft>
        <a:defRPr sz="2400">
          <a:solidFill>
            <a:schemeClr val="tx2"/>
          </a:solidFill>
          <a:latin typeface="黑体" panose="02010609060101010101" pitchFamily="49" charset="-122"/>
          <a:ea typeface="黑体" panose="02010609060101010101" pitchFamily="49" charset="-122"/>
        </a:defRPr>
      </a:lvl6pPr>
      <a:lvl7pPr marL="685800" algn="ctr" rtl="0" fontAlgn="base">
        <a:spcBef>
          <a:spcPct val="0"/>
        </a:spcBef>
        <a:spcAft>
          <a:spcPct val="0"/>
        </a:spcAft>
        <a:defRPr sz="2400">
          <a:solidFill>
            <a:schemeClr val="tx2"/>
          </a:solidFill>
          <a:latin typeface="黑体" panose="02010609060101010101" pitchFamily="49" charset="-122"/>
          <a:ea typeface="黑体" panose="02010609060101010101" pitchFamily="49" charset="-122"/>
        </a:defRPr>
      </a:lvl7pPr>
      <a:lvl8pPr marL="1028700" algn="ctr" rtl="0" fontAlgn="base">
        <a:spcBef>
          <a:spcPct val="0"/>
        </a:spcBef>
        <a:spcAft>
          <a:spcPct val="0"/>
        </a:spcAft>
        <a:defRPr sz="2400">
          <a:solidFill>
            <a:schemeClr val="tx2"/>
          </a:solidFill>
          <a:latin typeface="黑体" panose="02010609060101010101" pitchFamily="49" charset="-122"/>
          <a:ea typeface="黑体" panose="02010609060101010101" pitchFamily="49" charset="-122"/>
        </a:defRPr>
      </a:lvl8pPr>
      <a:lvl9pPr marL="1371600" algn="ctr" rtl="0" fontAlgn="base">
        <a:spcBef>
          <a:spcPct val="0"/>
        </a:spcBef>
        <a:spcAft>
          <a:spcPct val="0"/>
        </a:spcAft>
        <a:defRPr sz="2400">
          <a:solidFill>
            <a:schemeClr val="tx2"/>
          </a:solidFill>
          <a:latin typeface="黑体" panose="02010609060101010101" pitchFamily="49" charset="-122"/>
          <a:ea typeface="黑体" panose="02010609060101010101" pitchFamily="49" charset="-122"/>
        </a:defRPr>
      </a:lvl9pPr>
    </p:titleStyle>
    <p:bodyStyle>
      <a:lvl1pPr marL="257175" indent="-257175" algn="l" rtl="0" eaLnBrk="0" fontAlgn="base" hangingPunct="0">
        <a:spcBef>
          <a:spcPct val="20000"/>
        </a:spcBef>
        <a:spcAft>
          <a:spcPct val="0"/>
        </a:spcAft>
        <a:buChar char="•"/>
        <a:defRPr sz="2100" b="1" kern="1200" baseline="0">
          <a:solidFill>
            <a:schemeClr val="tx1"/>
          </a:solidFill>
          <a:latin typeface="Times New Roman" panose="02020603050405020304" pitchFamily="18" charset="0"/>
          <a:ea typeface="楷体" panose="02010609060101010101" pitchFamily="49" charset="-122"/>
          <a:cs typeface="+mn-cs"/>
        </a:defRPr>
      </a:lvl1pPr>
      <a:lvl2pPr marL="557213" indent="-214313" algn="l" rtl="0" eaLnBrk="0" fontAlgn="base" hangingPunct="0">
        <a:spcBef>
          <a:spcPct val="20000"/>
        </a:spcBef>
        <a:spcAft>
          <a:spcPct val="0"/>
        </a:spcAft>
        <a:buChar char="–"/>
        <a:defRPr sz="1800" b="1" kern="1200" baseline="0">
          <a:solidFill>
            <a:schemeClr val="tx1"/>
          </a:solidFill>
          <a:latin typeface="Times New Roman" panose="02020603050405020304" pitchFamily="18" charset="0"/>
          <a:ea typeface="楷体" panose="02010609060101010101" pitchFamily="49" charset="-122"/>
          <a:cs typeface="+mn-cs"/>
        </a:defRPr>
      </a:lvl2pPr>
      <a:lvl3pPr marL="857250" indent="-171450" algn="l" rtl="0" eaLnBrk="0" fontAlgn="base" hangingPunct="0">
        <a:spcBef>
          <a:spcPct val="20000"/>
        </a:spcBef>
        <a:spcAft>
          <a:spcPct val="0"/>
        </a:spcAft>
        <a:buChar char="•"/>
        <a:defRPr sz="1500" b="1" kern="1200" baseline="0">
          <a:solidFill>
            <a:schemeClr val="tx1"/>
          </a:solidFill>
          <a:latin typeface="Times New Roman" panose="02020603050405020304" pitchFamily="18" charset="0"/>
          <a:ea typeface="楷体" panose="02010609060101010101" pitchFamily="49" charset="-122"/>
          <a:cs typeface="+mn-cs"/>
        </a:defRPr>
      </a:lvl3pPr>
      <a:lvl4pPr marL="1200150" indent="-171450" algn="l" rtl="0" eaLnBrk="0" fontAlgn="base" hangingPunct="0">
        <a:spcBef>
          <a:spcPct val="20000"/>
        </a:spcBef>
        <a:spcAft>
          <a:spcPct val="0"/>
        </a:spcAft>
        <a:buChar char="–"/>
        <a:defRPr sz="1500" b="1" kern="1200" baseline="0">
          <a:solidFill>
            <a:schemeClr val="tx1"/>
          </a:solidFill>
          <a:latin typeface="Times New Roman" panose="02020603050405020304" pitchFamily="18" charset="0"/>
          <a:ea typeface="楷体" panose="02010609060101010101" pitchFamily="49" charset="-122"/>
          <a:cs typeface="+mn-cs"/>
        </a:defRPr>
      </a:lvl4pPr>
      <a:lvl5pPr marL="1543050" indent="-171450" algn="l" rtl="0" eaLnBrk="0" fontAlgn="base" hangingPunct="0">
        <a:spcBef>
          <a:spcPct val="20000"/>
        </a:spcBef>
        <a:spcAft>
          <a:spcPct val="0"/>
        </a:spcAft>
        <a:buChar char="»"/>
        <a:defRPr sz="1500" kern="1200">
          <a:solidFill>
            <a:schemeClr val="tx1"/>
          </a:solidFill>
          <a:latin typeface="Arial" panose="020B06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4.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8.png"/><Relationship Id="rId7" Type="http://schemas.openxmlformats.org/officeDocument/2006/relationships/image" Target="../media/image6.wmf"/><Relationship Id="rId2" Type="http://schemas.openxmlformats.org/officeDocument/2006/relationships/slideLayout" Target="../slideLayouts/slideLayout44.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5.w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4.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9.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59.xml"/><Relationship Id="rId1" Type="http://schemas.openxmlformats.org/officeDocument/2006/relationships/vmlDrawing" Target="../drawings/vmlDrawing2.vml"/><Relationship Id="rId5" Type="http://schemas.openxmlformats.org/officeDocument/2006/relationships/image" Target="../media/image12.wmf"/><Relationship Id="rId4" Type="http://schemas.openxmlformats.org/officeDocument/2006/relationships/oleObject" Target="../embeddings/oleObject3.bin"/></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9.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59.xml"/><Relationship Id="rId1" Type="http://schemas.openxmlformats.org/officeDocument/2006/relationships/vmlDrawing" Target="../drawings/vmlDrawing3.vml"/><Relationship Id="rId5" Type="http://schemas.openxmlformats.org/officeDocument/2006/relationships/image" Target="../media/image13.wmf"/><Relationship Id="rId4" Type="http://schemas.openxmlformats.org/officeDocument/2006/relationships/oleObject" Target="../embeddings/oleObject4.bin"/></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9.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8.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5.bin"/><Relationship Id="rId7" Type="http://schemas.openxmlformats.org/officeDocument/2006/relationships/oleObject" Target="../embeddings/oleObject7.bin"/><Relationship Id="rId12" Type="http://schemas.openxmlformats.org/officeDocument/2006/relationships/image" Target="../media/image18.emf"/><Relationship Id="rId2" Type="http://schemas.openxmlformats.org/officeDocument/2006/relationships/slideLayout" Target="../slideLayouts/slideLayout44.xml"/><Relationship Id="rId1" Type="http://schemas.openxmlformats.org/officeDocument/2006/relationships/vmlDrawing" Target="../drawings/vmlDrawing4.vml"/><Relationship Id="rId6" Type="http://schemas.openxmlformats.org/officeDocument/2006/relationships/image" Target="../media/image15.wmf"/><Relationship Id="rId11" Type="http://schemas.openxmlformats.org/officeDocument/2006/relationships/oleObject" Target="../embeddings/oleObject9.bin"/><Relationship Id="rId5" Type="http://schemas.openxmlformats.org/officeDocument/2006/relationships/oleObject" Target="../embeddings/oleObject6.bin"/><Relationship Id="rId10" Type="http://schemas.openxmlformats.org/officeDocument/2006/relationships/image" Target="../media/image17.emf"/><Relationship Id="rId4" Type="http://schemas.openxmlformats.org/officeDocument/2006/relationships/image" Target="../media/image14.wmf"/><Relationship Id="rId9" Type="http://schemas.openxmlformats.org/officeDocument/2006/relationships/oleObject" Target="../embeddings/oleObject8.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7.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22.pn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slideLayout" Target="../slideLayouts/slideLayout45.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image" Target="../media/image19.tmp"/></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5.xml"/></Relationships>
</file>

<file path=ppt/slides/_rels/slide29.xml.rels><?xml version="1.0" encoding="UTF-8" standalone="yes"?>
<Relationships xmlns="http://schemas.openxmlformats.org/package/2006/relationships"><Relationship Id="rId8" Type="http://schemas.openxmlformats.org/officeDocument/2006/relationships/tags" Target="../tags/tag18.xml"/><Relationship Id="rId3" Type="http://schemas.openxmlformats.org/officeDocument/2006/relationships/tags" Target="../tags/tag13.xml"/><Relationship Id="rId7" Type="http://schemas.openxmlformats.org/officeDocument/2006/relationships/tags" Target="../tags/tag17.xml"/><Relationship Id="rId12" Type="http://schemas.openxmlformats.org/officeDocument/2006/relationships/image" Target="../media/image19.tmp"/><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slideLayout" Target="../slideLayouts/slideLayout45.xml"/><Relationship Id="rId5" Type="http://schemas.openxmlformats.org/officeDocument/2006/relationships/tags" Target="../tags/tag15.xml"/><Relationship Id="rId10" Type="http://schemas.openxmlformats.org/officeDocument/2006/relationships/tags" Target="../tags/tag20.xml"/><Relationship Id="rId4" Type="http://schemas.openxmlformats.org/officeDocument/2006/relationships/tags" Target="../tags/tag14.xml"/><Relationship Id="rId9" Type="http://schemas.openxmlformats.org/officeDocument/2006/relationships/tags" Target="../tags/tag19.xml"/></Relationships>
</file>

<file path=ppt/slides/_rels/slide30.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55.xml"/></Relationships>
</file>

<file path=ppt/slides/_rels/slide31.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44.xml"/></Relationships>
</file>

<file path=ppt/slides/_rels/slide3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59.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4" name="1 Título"/>
          <p:cNvSpPr txBox="1">
            <a:spLocks/>
          </p:cNvSpPr>
          <p:nvPr/>
        </p:nvSpPr>
        <p:spPr>
          <a:xfrm>
            <a:off x="179512" y="512180"/>
            <a:ext cx="8496944" cy="1224136"/>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a:solidFill>
                  <a:srgbClr val="C00000"/>
                </a:solidFill>
                <a:latin typeface="宋体"/>
              </a:rPr>
              <a:t>随机信号分析</a:t>
            </a:r>
            <a:endParaRPr lang="en-US" altLang="zh-CN" b="1" dirty="0">
              <a:solidFill>
                <a:srgbClr val="C00000"/>
              </a:solidFill>
              <a:latin typeface="宋体"/>
            </a:endParaRPr>
          </a:p>
          <a:p>
            <a:pPr fontAlgn="auto">
              <a:lnSpc>
                <a:spcPts val="5760"/>
              </a:lnSpc>
              <a:spcBef>
                <a:spcPts val="0"/>
              </a:spcBef>
              <a:spcAft>
                <a:spcPts val="0"/>
              </a:spcAft>
              <a:defRPr/>
            </a:pPr>
            <a:r>
              <a:rPr lang="en-US" altLang="zh-CN" b="1" dirty="0">
                <a:solidFill>
                  <a:srgbClr val="C00000"/>
                </a:solidFill>
                <a:latin typeface="Arial" panose="020B0604020202020204" pitchFamily="34" charset="0"/>
                <a:cs typeface="Arial" panose="020B0604020202020204" pitchFamily="34" charset="0"/>
              </a:rPr>
              <a:t>Random signal analysis</a:t>
            </a:r>
            <a:endParaRPr lang="es-HN" b="1" dirty="0">
              <a:solidFill>
                <a:srgbClr val="C00000"/>
              </a:solidFill>
              <a:latin typeface="Arial" panose="020B0604020202020204" pitchFamily="34" charset="0"/>
              <a:cs typeface="Arial" panose="020B0604020202020204" pitchFamily="34" charset="0"/>
            </a:endParaRPr>
          </a:p>
        </p:txBody>
      </p:sp>
      <p:sp>
        <p:nvSpPr>
          <p:cNvPr id="5" name="矩形 4"/>
          <p:cNvSpPr/>
          <p:nvPr/>
        </p:nvSpPr>
        <p:spPr>
          <a:xfrm>
            <a:off x="1115616" y="3933056"/>
            <a:ext cx="7488832" cy="2862322"/>
          </a:xfrm>
          <a:prstGeom prst="rect">
            <a:avLst/>
          </a:prstGeom>
        </p:spPr>
        <p:txBody>
          <a:bodyPr wrap="square">
            <a:spAutoFit/>
          </a:bodyPr>
          <a:lstStyle/>
          <a:p>
            <a:pPr algn="ctr"/>
            <a:r>
              <a:rPr lang="zh-CN" altLang="en-US" sz="3600" b="1" dirty="0">
                <a:solidFill>
                  <a:prstClr val="white"/>
                </a:solidFill>
                <a:latin typeface="宋体"/>
              </a:rPr>
              <a:t>张文胜 </a:t>
            </a:r>
            <a:endParaRPr lang="en-US" altLang="zh-CN" sz="3600" b="1" dirty="0">
              <a:solidFill>
                <a:prstClr val="white"/>
              </a:solidFill>
              <a:latin typeface="宋体"/>
            </a:endParaRPr>
          </a:p>
          <a:p>
            <a:pPr algn="ctr"/>
            <a:r>
              <a:rPr lang="zh-CN" altLang="en-US" sz="2800" b="1" dirty="0">
                <a:solidFill>
                  <a:prstClr val="white"/>
                </a:solidFill>
                <a:latin typeface="宋体"/>
              </a:rPr>
              <a:t>微信：</a:t>
            </a:r>
            <a:r>
              <a:rPr lang="en-US" altLang="zh-CN" sz="2800" b="1" dirty="0">
                <a:solidFill>
                  <a:prstClr val="white"/>
                </a:solidFill>
                <a:latin typeface="宋体"/>
              </a:rPr>
              <a:t>15063339795  QQ:762329090</a:t>
            </a:r>
          </a:p>
          <a:p>
            <a:pPr algn="ctr"/>
            <a:r>
              <a:rPr lang="en-US" altLang="zh-CN" sz="2400" b="1" dirty="0">
                <a:solidFill>
                  <a:prstClr val="white"/>
                </a:solidFill>
                <a:latin typeface="Arial Unicode MS" pitchFamily="34" charset="-122"/>
                <a:ea typeface="Arial Unicode MS" pitchFamily="34" charset="-122"/>
                <a:cs typeface="Arial Unicode MS" pitchFamily="34" charset="-122"/>
              </a:rPr>
              <a:t>zhangwsh@sdu.edu.cn</a:t>
            </a:r>
          </a:p>
          <a:p>
            <a:pPr algn="ctr"/>
            <a:r>
              <a:rPr lang="en-US" altLang="zh-HK" sz="2400" b="1" dirty="0">
                <a:solidFill>
                  <a:prstClr val="white"/>
                </a:solidFill>
                <a:latin typeface="Arial Unicode MS" pitchFamily="34" charset="-122"/>
                <a:ea typeface="Arial Unicode MS" pitchFamily="34" charset="-122"/>
                <a:cs typeface="Arial Unicode MS" pitchFamily="34" charset="-122"/>
              </a:rPr>
              <a:t>zhang8181@gmail.com</a:t>
            </a:r>
          </a:p>
          <a:p>
            <a:pPr algn="ctr"/>
            <a:r>
              <a:rPr lang="en-US" altLang="zh-HK" sz="2000" b="1" dirty="0">
                <a:solidFill>
                  <a:prstClr val="white"/>
                </a:solidFill>
                <a:latin typeface="Arial Unicode MS" pitchFamily="34" charset="-122"/>
                <a:ea typeface="Arial Unicode MS" pitchFamily="34" charset="-122"/>
                <a:cs typeface="Arial Unicode MS" pitchFamily="34" charset="-122"/>
              </a:rPr>
              <a:t>School of Information Science and Engineering</a:t>
            </a:r>
          </a:p>
          <a:p>
            <a:pPr algn="ctr"/>
            <a:r>
              <a:rPr lang="en-US" altLang="zh-HK" sz="2400" b="1" dirty="0">
                <a:solidFill>
                  <a:prstClr val="white"/>
                </a:solidFill>
                <a:latin typeface="Arial Unicode MS" pitchFamily="34" charset="-122"/>
                <a:ea typeface="Arial Unicode MS" pitchFamily="34" charset="-122"/>
                <a:cs typeface="Arial Unicode MS" pitchFamily="34" charset="-122"/>
              </a:rPr>
              <a:t>Shandong University</a:t>
            </a:r>
            <a:endParaRPr lang="zh-TW" altLang="zh-HK" sz="2800" dirty="0">
              <a:solidFill>
                <a:prstClr val="white"/>
              </a:solidFill>
              <a:latin typeface="Arial Unicode MS" pitchFamily="34" charset="-122"/>
              <a:ea typeface="Arial Unicode MS" pitchFamily="34" charset="-122"/>
              <a:cs typeface="Arial Unicode MS" pitchFamily="34" charset="-122"/>
            </a:endParaRPr>
          </a:p>
          <a:p>
            <a:endParaRPr lang="zh-TW" altLang="zh-HK" sz="2400" dirty="0">
              <a:solidFill>
                <a:prstClr val="white"/>
              </a:solidFill>
              <a:latin typeface="Arial Unicode MS" pitchFamily="34" charset="-122"/>
              <a:ea typeface="Arial Unicode MS" pitchFamily="34" charset="-122"/>
              <a:cs typeface="Arial Unicode MS" pitchFamily="34" charset="-122"/>
            </a:endParaRPr>
          </a:p>
        </p:txBody>
      </p:sp>
      <p:sp>
        <p:nvSpPr>
          <p:cNvPr id="6" name="1 Título"/>
          <p:cNvSpPr txBox="1">
            <a:spLocks/>
          </p:cNvSpPr>
          <p:nvPr/>
        </p:nvSpPr>
        <p:spPr>
          <a:xfrm>
            <a:off x="827584" y="2248402"/>
            <a:ext cx="7488832" cy="647576"/>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sz="2800" b="1" dirty="0">
                <a:cs typeface="Arial Unicode MS" pitchFamily="34" charset="-122"/>
              </a:rPr>
              <a:t>课程号</a:t>
            </a:r>
            <a:r>
              <a:rPr lang="en-US" altLang="zh-CN" sz="2800" b="1" dirty="0">
                <a:cs typeface="Arial Unicode MS" pitchFamily="34" charset="-122"/>
              </a:rPr>
              <a:t>: </a:t>
            </a:r>
            <a:r>
              <a:rPr lang="en-US" altLang="zh-CN" sz="2800" b="1" dirty="0"/>
              <a:t>sd01234090-1    </a:t>
            </a:r>
            <a:r>
              <a:rPr lang="zh-CN" altLang="en-US" sz="2800" b="1" dirty="0"/>
              <a:t>周五</a:t>
            </a:r>
            <a:r>
              <a:rPr lang="en-US" altLang="zh-CN" sz="2800" b="1" dirty="0"/>
              <a:t>5-6</a:t>
            </a:r>
            <a:r>
              <a:rPr lang="zh-CN" altLang="en-US" sz="2800" b="1" dirty="0"/>
              <a:t>节  </a:t>
            </a:r>
            <a:endParaRPr lang="en-US" altLang="zh-CN" sz="2800" b="1" dirty="0"/>
          </a:p>
          <a:p>
            <a:pPr fontAlgn="auto">
              <a:lnSpc>
                <a:spcPts val="5760"/>
              </a:lnSpc>
              <a:spcBef>
                <a:spcPts val="0"/>
              </a:spcBef>
              <a:spcAft>
                <a:spcPts val="0"/>
              </a:spcAft>
              <a:defRPr/>
            </a:pPr>
            <a:r>
              <a:rPr lang="zh-CN" altLang="en-US" sz="2800" b="1" dirty="0">
                <a:cs typeface="Arial Unicode MS" pitchFamily="34" charset="-122"/>
              </a:rPr>
              <a:t>振声苑</a:t>
            </a:r>
            <a:r>
              <a:rPr lang="en-US" altLang="zh-CN" sz="2800" b="1" dirty="0">
                <a:cs typeface="Arial Unicode MS" pitchFamily="34" charset="-122"/>
              </a:rPr>
              <a:t>W106</a:t>
            </a:r>
            <a:r>
              <a:rPr lang="zh-CN" altLang="en-US" sz="2800" b="1" dirty="0">
                <a:cs typeface="Arial Unicode MS" pitchFamily="34" charset="-122"/>
              </a:rPr>
              <a:t>，通信</a:t>
            </a:r>
            <a:r>
              <a:rPr lang="en-US" altLang="zh-CN" sz="2800" b="1" dirty="0">
                <a:cs typeface="Arial Unicode MS" pitchFamily="34" charset="-122"/>
              </a:rPr>
              <a:t>23[2-3]</a:t>
            </a:r>
            <a:r>
              <a:rPr lang="zh-CN" altLang="en-US" sz="2800" b="1" dirty="0">
                <a:cs typeface="Arial Unicode MS" pitchFamily="34" charset="-122"/>
              </a:rPr>
              <a:t>班，</a:t>
            </a:r>
            <a:r>
              <a:rPr lang="en-US" altLang="zh-CN" sz="2800" b="1" dirty="0">
                <a:cs typeface="Arial Unicode MS" pitchFamily="34" charset="-122"/>
              </a:rPr>
              <a:t>2024</a:t>
            </a:r>
            <a:r>
              <a:rPr lang="zh-CN" altLang="en-US" sz="2800" b="1" dirty="0">
                <a:cs typeface="Arial Unicode MS" pitchFamily="34" charset="-122"/>
              </a:rPr>
              <a:t>年秋</a:t>
            </a:r>
            <a:endParaRPr lang="es-HN" sz="2800" b="1" dirty="0">
              <a:cs typeface="Arial Unicode MS" pitchFamily="34" charset="-122"/>
            </a:endParaRPr>
          </a:p>
        </p:txBody>
      </p:sp>
    </p:spTree>
    <p:extLst>
      <p:ext uri="{BB962C8B-B14F-4D97-AF65-F5344CB8AC3E}">
        <p14:creationId xmlns:p14="http://schemas.microsoft.com/office/powerpoint/2010/main" val="26701019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6A0A19-4259-4472-8BDE-77AEA81EF7F9}"/>
              </a:ext>
            </a:extLst>
          </p:cNvPr>
          <p:cNvSpPr>
            <a:spLocks noGrp="1"/>
          </p:cNvSpPr>
          <p:nvPr>
            <p:ph type="ctrTitle"/>
          </p:nvPr>
        </p:nvSpPr>
        <p:spPr>
          <a:xfrm>
            <a:off x="683568" y="1052736"/>
            <a:ext cx="7632848" cy="792088"/>
          </a:xfrm>
        </p:spPr>
        <p:txBody>
          <a:bodyPr/>
          <a:lstStyle/>
          <a:p>
            <a:r>
              <a:rPr lang="zh-CN" altLang="zh-CN" sz="4000" dirty="0"/>
              <a:t>第</a:t>
            </a:r>
            <a:r>
              <a:rPr lang="zh-CN" altLang="en-US" sz="4000" dirty="0"/>
              <a:t>四</a:t>
            </a:r>
            <a:r>
              <a:rPr lang="zh-CN" altLang="zh-CN" sz="4000" dirty="0"/>
              <a:t>章各态历经性与随机实验</a:t>
            </a:r>
            <a:endParaRPr lang="zh-CN" altLang="en-US" sz="4000" dirty="0"/>
          </a:p>
        </p:txBody>
      </p:sp>
      <p:sp>
        <p:nvSpPr>
          <p:cNvPr id="3" name="矩形 2">
            <a:extLst>
              <a:ext uri="{FF2B5EF4-FFF2-40B4-BE49-F238E27FC236}">
                <a16:creationId xmlns:a16="http://schemas.microsoft.com/office/drawing/2014/main" id="{93BE3613-3AC2-4074-AA6E-ABEEFF4B0813}"/>
              </a:ext>
            </a:extLst>
          </p:cNvPr>
          <p:cNvSpPr/>
          <p:nvPr/>
        </p:nvSpPr>
        <p:spPr>
          <a:xfrm>
            <a:off x="1547664" y="2348880"/>
            <a:ext cx="6408712" cy="1930337"/>
          </a:xfrm>
          <a:prstGeom prst="rect">
            <a:avLst/>
          </a:prstGeom>
        </p:spPr>
        <p:txBody>
          <a:bodyPr wrap="square">
            <a:spAutoFit/>
          </a:bodyPr>
          <a:lstStyle/>
          <a:p>
            <a:pPr marL="457200" indent="-457200">
              <a:lnSpc>
                <a:spcPct val="150000"/>
              </a:lnSpc>
              <a:buFont typeface="Wingdings" panose="05000000000000000000" pitchFamily="2" charset="2"/>
              <a:buChar char="l"/>
            </a:pPr>
            <a:r>
              <a:rPr lang="zh-CN" altLang="en-US" sz="2800" b="1" dirty="0">
                <a:latin typeface="楷体" panose="02010609060101010101" pitchFamily="49" charset="-122"/>
                <a:ea typeface="楷体" panose="02010609060101010101" pitchFamily="49" charset="-122"/>
              </a:rPr>
              <a:t>定义各态历经过程</a:t>
            </a:r>
          </a:p>
          <a:p>
            <a:pPr marL="457200" indent="-457200">
              <a:lnSpc>
                <a:spcPct val="150000"/>
              </a:lnSpc>
              <a:buFont typeface="Wingdings" panose="05000000000000000000" pitchFamily="2" charset="2"/>
              <a:buChar char="l"/>
            </a:pPr>
            <a:r>
              <a:rPr lang="zh-CN" altLang="en-US" sz="2800" b="1" dirty="0">
                <a:latin typeface="楷体" panose="02010609060101010101" pitchFamily="49" charset="-122"/>
                <a:ea typeface="楷体" panose="02010609060101010101" pitchFamily="49" charset="-122"/>
              </a:rPr>
              <a:t>解释各态历经的物理意义</a:t>
            </a:r>
          </a:p>
          <a:p>
            <a:pPr marL="457200" indent="-457200">
              <a:lnSpc>
                <a:spcPct val="150000"/>
              </a:lnSpc>
              <a:buFont typeface="Wingdings" panose="05000000000000000000" pitchFamily="2" charset="2"/>
              <a:buChar char="l"/>
            </a:pPr>
            <a:r>
              <a:rPr lang="zh-CN" altLang="en-US" sz="2800" b="1" dirty="0">
                <a:latin typeface="楷体" panose="02010609060101010101" pitchFamily="49" charset="-122"/>
                <a:ea typeface="楷体" panose="02010609060101010101" pitchFamily="49" charset="-122"/>
              </a:rPr>
              <a:t>证明特定的随机过程的各态历经性</a:t>
            </a:r>
          </a:p>
        </p:txBody>
      </p:sp>
    </p:spTree>
    <p:extLst>
      <p:ext uri="{BB962C8B-B14F-4D97-AF65-F5344CB8AC3E}">
        <p14:creationId xmlns:p14="http://schemas.microsoft.com/office/powerpoint/2010/main" val="308552772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4B2763-C4E7-4227-9DA0-E3B8211E9C91}"/>
              </a:ext>
            </a:extLst>
          </p:cNvPr>
          <p:cNvSpPr>
            <a:spLocks noGrp="1"/>
          </p:cNvSpPr>
          <p:nvPr>
            <p:ph type="title"/>
          </p:nvPr>
        </p:nvSpPr>
        <p:spPr/>
        <p:txBody>
          <a:bodyPr/>
          <a:lstStyle/>
          <a:p>
            <a:r>
              <a:rPr lang="zh-CN" altLang="en-US" dirty="0"/>
              <a:t>各态历经性的定义</a:t>
            </a:r>
          </a:p>
        </p:txBody>
      </p:sp>
      <p:sp>
        <p:nvSpPr>
          <p:cNvPr id="3" name="内容占位符 2">
            <a:extLst>
              <a:ext uri="{FF2B5EF4-FFF2-40B4-BE49-F238E27FC236}">
                <a16:creationId xmlns:a16="http://schemas.microsoft.com/office/drawing/2014/main" id="{770119E2-47A5-49CC-88D4-D12196F38839}"/>
              </a:ext>
            </a:extLst>
          </p:cNvPr>
          <p:cNvSpPr>
            <a:spLocks noGrp="1"/>
          </p:cNvSpPr>
          <p:nvPr>
            <p:ph idx="1"/>
          </p:nvPr>
        </p:nvSpPr>
        <p:spPr>
          <a:xfrm>
            <a:off x="145473" y="1340768"/>
            <a:ext cx="8853053" cy="4032448"/>
          </a:xfrm>
        </p:spPr>
        <p:txBody>
          <a:bodyPr>
            <a:noAutofit/>
          </a:bodyPr>
          <a:lstStyle/>
          <a:p>
            <a:pPr>
              <a:lnSpc>
                <a:spcPct val="150000"/>
              </a:lnSpc>
            </a:pPr>
            <a:r>
              <a:rPr lang="zh-CN" altLang="zh-CN" sz="2000" dirty="0"/>
              <a:t>求随机过程的数字特征，用集合</a:t>
            </a:r>
            <a:r>
              <a:rPr lang="zh-CN" altLang="en-US" sz="2000" dirty="0"/>
              <a:t>（统计）</a:t>
            </a:r>
            <a:r>
              <a:rPr lang="zh-CN" altLang="zh-CN" sz="2000" dirty="0"/>
              <a:t>平均，需要所有的样本函数，非常困难。能否用一次观察到的样本函数来确定统计特性？</a:t>
            </a:r>
            <a:endParaRPr lang="en-US" altLang="zh-CN" sz="2000" dirty="0"/>
          </a:p>
          <a:p>
            <a:pPr>
              <a:lnSpc>
                <a:spcPct val="150000"/>
              </a:lnSpc>
            </a:pPr>
            <a:r>
              <a:rPr lang="zh-CN" altLang="en-US" sz="2400" dirty="0">
                <a:solidFill>
                  <a:srgbClr val="FF0000"/>
                </a:solidFill>
              </a:rPr>
              <a:t>辛钦证明</a:t>
            </a:r>
            <a:r>
              <a:rPr lang="zh-CN" altLang="en-US" sz="2000" dirty="0"/>
              <a:t>：在一定条件下，随机信号的任何一个样本函数的时间平均，从概率意义上等于它的统计平均。这种特性称为各态历经性（</a:t>
            </a:r>
            <a:r>
              <a:rPr lang="en-US" altLang="zh-CN" sz="2000" dirty="0"/>
              <a:t>Ergodicity</a:t>
            </a:r>
            <a:r>
              <a:rPr lang="zh-CN" altLang="en-US" sz="2000" dirty="0"/>
              <a:t>）或遍历性。</a:t>
            </a:r>
            <a:endParaRPr lang="en-US" altLang="zh-CN" sz="2000" dirty="0"/>
          </a:p>
          <a:p>
            <a:pPr>
              <a:lnSpc>
                <a:spcPct val="150000"/>
              </a:lnSpc>
            </a:pPr>
            <a:r>
              <a:rPr lang="zh-CN" altLang="zh-CN" sz="2000" dirty="0"/>
              <a:t>对</a:t>
            </a:r>
            <a:r>
              <a:rPr lang="zh-CN" altLang="zh-CN" sz="2000" dirty="0">
                <a:solidFill>
                  <a:srgbClr val="FF0000"/>
                </a:solidFill>
              </a:rPr>
              <a:t>平稳随机过程</a:t>
            </a:r>
            <a:r>
              <a:rPr lang="zh-CN" altLang="zh-CN" sz="2000" dirty="0"/>
              <a:t>，可用对一个样本的时间平均代替集合平均</a:t>
            </a:r>
            <a:r>
              <a:rPr lang="zh-CN" altLang="en-US" sz="2000" dirty="0"/>
              <a:t>。</a:t>
            </a:r>
            <a:endParaRPr lang="en-US" altLang="zh-CN" sz="2000" dirty="0"/>
          </a:p>
          <a:p>
            <a:pPr>
              <a:lnSpc>
                <a:spcPct val="150000"/>
              </a:lnSpc>
            </a:pPr>
            <a:r>
              <a:rPr lang="zh-CN" altLang="zh-CN" sz="2400" dirty="0">
                <a:solidFill>
                  <a:srgbClr val="FF0000"/>
                </a:solidFill>
              </a:rPr>
              <a:t>各态历经过程或遍历性</a:t>
            </a:r>
            <a:r>
              <a:rPr lang="zh-CN" altLang="zh-CN" sz="2000" dirty="0"/>
              <a:t>理解为随机过程的各个样本都同样经历了随机过程的所有可能的状态，从而由一个样本</a:t>
            </a:r>
            <a:r>
              <a:rPr lang="zh-CN" altLang="en-US" sz="2000" dirty="0"/>
              <a:t>函数</a:t>
            </a:r>
            <a:r>
              <a:rPr lang="zh-CN" altLang="zh-CN" sz="2000" dirty="0"/>
              <a:t>得到</a:t>
            </a:r>
            <a:r>
              <a:rPr lang="zh-CN" altLang="en-US" sz="2000" dirty="0"/>
              <a:t>信号的</a:t>
            </a:r>
            <a:r>
              <a:rPr lang="zh-CN" altLang="zh-CN" sz="2000" dirty="0"/>
              <a:t>全部统计特性。</a:t>
            </a:r>
            <a:endParaRPr lang="zh-CN" altLang="en-US" sz="2000" dirty="0"/>
          </a:p>
        </p:txBody>
      </p:sp>
    </p:spTree>
    <p:extLst>
      <p:ext uri="{BB962C8B-B14F-4D97-AF65-F5344CB8AC3E}">
        <p14:creationId xmlns:p14="http://schemas.microsoft.com/office/powerpoint/2010/main" val="4208365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EA437F-7103-4F1C-A007-FA3014CAA049}"/>
              </a:ext>
            </a:extLst>
          </p:cNvPr>
          <p:cNvSpPr>
            <a:spLocks noGrp="1"/>
          </p:cNvSpPr>
          <p:nvPr>
            <p:ph type="title"/>
          </p:nvPr>
        </p:nvSpPr>
        <p:spPr>
          <a:xfrm>
            <a:off x="628650" y="943756"/>
            <a:ext cx="7886700" cy="839744"/>
          </a:xfrm>
        </p:spPr>
        <p:txBody>
          <a:bodyPr/>
          <a:lstStyle/>
          <a:p>
            <a:r>
              <a:rPr lang="zh-CN" altLang="en-US" dirty="0"/>
              <a:t>均方极限和均方收敛</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788084F-BCE6-4CC8-8340-3DED0E073A0E}"/>
                  </a:ext>
                </a:extLst>
              </p:cNvPr>
              <p:cNvSpPr>
                <a:spLocks noGrp="1"/>
              </p:cNvSpPr>
              <p:nvPr>
                <p:ph idx="1"/>
              </p:nvPr>
            </p:nvSpPr>
            <p:spPr>
              <a:xfrm>
                <a:off x="509011" y="1756093"/>
                <a:ext cx="8061758" cy="3853265"/>
              </a:xfrm>
            </p:spPr>
            <p:txBody>
              <a:bodyPr>
                <a:normAutofit/>
              </a:bodyPr>
              <a:lstStyle/>
              <a:p>
                <a:pPr>
                  <a:buFont typeface="Wingdings" panose="05000000000000000000" pitchFamily="2" charset="2"/>
                  <a:buChar char="p"/>
                </a:pPr>
                <a:r>
                  <a:rPr lang="zh-CN" altLang="en-US" dirty="0">
                    <a:latin typeface="Cambria Math" panose="02040503050406030204" pitchFamily="18" charset="0"/>
                  </a:rPr>
                  <a:t>随机变量序列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𝑿</m:t>
                        </m:r>
                      </m:e>
                      <m:sub>
                        <m:r>
                          <a:rPr lang="en-US" altLang="zh-CN" i="1">
                            <a:latin typeface="Cambria Math" panose="02040503050406030204" pitchFamily="18" charset="0"/>
                          </a:rPr>
                          <m:t>𝟏</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𝑿</m:t>
                        </m:r>
                      </m:e>
                      <m:sub>
                        <m:r>
                          <a:rPr lang="en-US" altLang="zh-CN" i="1">
                            <a:latin typeface="Cambria Math" panose="02040503050406030204" pitchFamily="18" charset="0"/>
                          </a:rPr>
                          <m:t>𝟐</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𝑿</m:t>
                        </m:r>
                      </m:e>
                      <m:sub>
                        <m:r>
                          <a:rPr lang="en-US" altLang="zh-CN" i="1">
                            <a:latin typeface="Cambria Math" panose="02040503050406030204" pitchFamily="18" charset="0"/>
                          </a:rPr>
                          <m:t>𝒏</m:t>
                        </m:r>
                      </m:sub>
                    </m:sSub>
                    <m:r>
                      <a:rPr lang="en-US" altLang="zh-CN" i="1">
                        <a:latin typeface="Cambria Math" panose="02040503050406030204" pitchFamily="18" charset="0"/>
                      </a:rPr>
                      <m:t>…,</m:t>
                    </m:r>
                  </m:oMath>
                </a14:m>
                <a:r>
                  <a:rPr lang="en-US" altLang="zh-CN" i="1" dirty="0">
                    <a:latin typeface="Cambria Math" panose="02040503050406030204" pitchFamily="18" charset="0"/>
                  </a:rPr>
                  <a:t> </a:t>
                </a:r>
                <a:r>
                  <a:rPr lang="zh-CN" altLang="en-US" dirty="0">
                    <a:latin typeface="Cambria Math" panose="02040503050406030204" pitchFamily="18" charset="0"/>
                  </a:rPr>
                  <a:t>随机变量</a:t>
                </a:r>
                <a:r>
                  <a:rPr lang="en-US" altLang="zh-CN" i="1" dirty="0">
                    <a:latin typeface="Cambria Math" panose="02040503050406030204" pitchFamily="18" charset="0"/>
                  </a:rPr>
                  <a:t>X </a:t>
                </a:r>
                <a:r>
                  <a:rPr lang="en-US" altLang="zh-CN" dirty="0">
                    <a:latin typeface="Cambria Math" panose="02040503050406030204" pitchFamily="18" charset="0"/>
                  </a:rPr>
                  <a:t>, </a:t>
                </a:r>
                <a:r>
                  <a:rPr lang="en-US" altLang="zh-CN" i="1" dirty="0">
                    <a:latin typeface="Cambria Math" panose="02040503050406030204" pitchFamily="18" charset="0"/>
                  </a:rPr>
                  <a:t> </a:t>
                </a:r>
                <a:r>
                  <a:rPr lang="zh-CN" altLang="en-US" dirty="0">
                    <a:latin typeface="Cambria Math" panose="02040503050406030204" pitchFamily="18" charset="0"/>
                  </a:rPr>
                  <a:t>二阶矩存在，</a:t>
                </a:r>
                <a:endParaRPr lang="en-US" altLang="zh-CN" dirty="0">
                  <a:latin typeface="Cambria Math" panose="02040503050406030204" pitchFamily="18" charset="0"/>
                </a:endParaRPr>
              </a:p>
              <a:p>
                <a:pPr marL="0" indent="0">
                  <a:buNone/>
                </a:pPr>
                <a:r>
                  <a:rPr lang="zh-CN" altLang="en-US" dirty="0">
                    <a:latin typeface="Cambria Math" panose="02040503050406030204" pitchFamily="18" charset="0"/>
                  </a:rPr>
                  <a:t>如果 </a:t>
                </a:r>
                <a:endParaRPr lang="en-US" altLang="zh-CN" dirty="0">
                  <a:latin typeface="Cambria Math" panose="02040503050406030204" pitchFamily="18" charset="0"/>
                </a:endParaRPr>
              </a:p>
              <a:p>
                <a:pPr marL="0" indent="0">
                  <a:buNone/>
                </a:pPr>
                <a:endParaRPr lang="en-US" altLang="zh-CN" dirty="0">
                  <a:latin typeface="Cambria Math" panose="02040503050406030204" pitchFamily="18" charset="0"/>
                </a:endParaRPr>
              </a:p>
              <a:p>
                <a:pPr marL="0" indent="0">
                  <a:buNone/>
                </a:pPr>
                <a:r>
                  <a:rPr lang="zh-CN" altLang="en-US" dirty="0"/>
                  <a:t>则称</a:t>
                </a:r>
                <a:r>
                  <a:rPr lang="zh-CN" altLang="en-US" dirty="0">
                    <a:latin typeface="Cambria Math" panose="02040503050406030204" pitchFamily="18" charset="0"/>
                  </a:rPr>
                  <a:t>随机变量序列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𝑿</m:t>
                        </m:r>
                      </m:e>
                      <m:sub>
                        <m:r>
                          <a:rPr lang="en-US" altLang="zh-CN" i="1">
                            <a:latin typeface="Cambria Math" panose="02040503050406030204" pitchFamily="18" charset="0"/>
                          </a:rPr>
                          <m:t>𝟏</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𝑿</m:t>
                        </m:r>
                      </m:e>
                      <m:sub>
                        <m:r>
                          <a:rPr lang="en-US" altLang="zh-CN" i="1">
                            <a:latin typeface="Cambria Math" panose="02040503050406030204" pitchFamily="18" charset="0"/>
                          </a:rPr>
                          <m:t>𝟐</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𝑿</m:t>
                        </m:r>
                      </m:e>
                      <m:sub>
                        <m:r>
                          <a:rPr lang="en-US" altLang="zh-CN" i="1">
                            <a:latin typeface="Cambria Math" panose="02040503050406030204" pitchFamily="18" charset="0"/>
                          </a:rPr>
                          <m:t>𝒏</m:t>
                        </m:r>
                      </m:sub>
                    </m:sSub>
                    <m:r>
                      <a:rPr lang="en-US" altLang="zh-CN" i="1">
                        <a:latin typeface="Cambria Math" panose="02040503050406030204" pitchFamily="18" charset="0"/>
                      </a:rPr>
                      <m:t>…</m:t>
                    </m:r>
                  </m:oMath>
                </a14:m>
                <a:r>
                  <a:rPr lang="zh-CN" altLang="en-US" dirty="0">
                    <a:latin typeface="Cambria Math" panose="02040503050406030204" pitchFamily="18" charset="0"/>
                  </a:rPr>
                  <a:t>均方收敛到随机变量</a:t>
                </a:r>
                <a:r>
                  <a:rPr lang="en-US" altLang="zh-CN" i="1" dirty="0">
                    <a:latin typeface="Cambria Math" panose="02040503050406030204" pitchFamily="18" charset="0"/>
                  </a:rPr>
                  <a:t>X</a:t>
                </a:r>
                <a:r>
                  <a:rPr lang="zh-CN" altLang="en-US" dirty="0">
                    <a:latin typeface="Cambria Math" panose="02040503050406030204" pitchFamily="18" charset="0"/>
                  </a:rPr>
                  <a:t>，</a:t>
                </a:r>
                <a:endParaRPr lang="en-US" altLang="zh-CN" dirty="0">
                  <a:latin typeface="Cambria Math" panose="02040503050406030204" pitchFamily="18" charset="0"/>
                </a:endParaRPr>
              </a:p>
              <a:p>
                <a:pPr marL="0" indent="0">
                  <a:buNone/>
                </a:pPr>
                <a:r>
                  <a:rPr lang="zh-CN" altLang="en-US" dirty="0">
                    <a:latin typeface="Cambria Math" panose="02040503050406030204" pitchFamily="18" charset="0"/>
                  </a:rPr>
                  <a:t>或随机变量</a:t>
                </a:r>
                <a:r>
                  <a:rPr lang="en-US" altLang="zh-CN" i="1" dirty="0">
                    <a:latin typeface="Cambria Math" panose="02040503050406030204" pitchFamily="18" charset="0"/>
                  </a:rPr>
                  <a:t>X </a:t>
                </a:r>
                <a:r>
                  <a:rPr lang="zh-CN" altLang="en-US" dirty="0">
                    <a:latin typeface="Cambria Math" panose="02040503050406030204" pitchFamily="18" charset="0"/>
                  </a:rPr>
                  <a:t>为随机变量序列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𝑿</m:t>
                        </m:r>
                      </m:e>
                      <m:sub>
                        <m:r>
                          <a:rPr lang="en-US" altLang="zh-CN" i="1">
                            <a:latin typeface="Cambria Math" panose="02040503050406030204" pitchFamily="18" charset="0"/>
                          </a:rPr>
                          <m:t>𝟏</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𝑿</m:t>
                        </m:r>
                      </m:e>
                      <m:sub>
                        <m:r>
                          <a:rPr lang="en-US" altLang="zh-CN" i="1">
                            <a:latin typeface="Cambria Math" panose="02040503050406030204" pitchFamily="18" charset="0"/>
                          </a:rPr>
                          <m:t>𝟐</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𝑿</m:t>
                        </m:r>
                      </m:e>
                      <m:sub>
                        <m:r>
                          <a:rPr lang="en-US" altLang="zh-CN" i="1">
                            <a:latin typeface="Cambria Math" panose="02040503050406030204" pitchFamily="18" charset="0"/>
                          </a:rPr>
                          <m:t>𝒏</m:t>
                        </m:r>
                      </m:sub>
                    </m:sSub>
                    <m:r>
                      <a:rPr lang="en-US" altLang="zh-CN" i="1">
                        <a:latin typeface="Cambria Math" panose="02040503050406030204" pitchFamily="18" charset="0"/>
                      </a:rPr>
                      <m:t>…</m:t>
                    </m:r>
                  </m:oMath>
                </a14:m>
                <a:r>
                  <a:rPr lang="zh-CN" altLang="en-US" dirty="0">
                    <a:latin typeface="Cambria Math" panose="02040503050406030204" pitchFamily="18" charset="0"/>
                  </a:rPr>
                  <a:t>的均方极限。</a:t>
                </a:r>
                <a:endParaRPr lang="en-US" altLang="zh-CN" dirty="0">
                  <a:latin typeface="Cambria Math" panose="02040503050406030204" pitchFamily="18" charset="0"/>
                </a:endParaRPr>
              </a:p>
              <a:p>
                <a:pPr marL="0" indent="0">
                  <a:buNone/>
                </a:pPr>
                <a:r>
                  <a:rPr lang="zh-CN" altLang="en-US" dirty="0"/>
                  <a:t>表示为</a:t>
                </a:r>
                <a:endParaRPr lang="en-US" altLang="zh-CN" dirty="0"/>
              </a:p>
              <a:p>
                <a:pPr marL="0" indent="0">
                  <a:buNone/>
                </a:pPr>
                <a:endParaRPr lang="zh-CN" altLang="zh-CN" dirty="0"/>
              </a:p>
              <a:p>
                <a:pPr marL="0" indent="0">
                  <a:buNone/>
                </a:pPr>
                <a:r>
                  <a:rPr lang="en-US" altLang="zh-CN" dirty="0"/>
                  <a:t>                                                          </a:t>
                </a:r>
                <a:r>
                  <a:rPr lang="zh-CN" altLang="en-US" dirty="0"/>
                  <a:t>（</a:t>
                </a:r>
                <a:r>
                  <a:rPr lang="en-US" altLang="zh-CN" dirty="0"/>
                  <a:t> limit in mean square </a:t>
                </a:r>
                <a:r>
                  <a:rPr lang="en-US" altLang="zh-CN" dirty="0" err="1"/>
                  <a:t>m.s.</a:t>
                </a:r>
                <a:r>
                  <a:rPr lang="en-US" altLang="zh-CN" dirty="0"/>
                  <a:t> </a:t>
                </a:r>
                <a:r>
                  <a:rPr lang="zh-CN" altLang="en-US" dirty="0"/>
                  <a:t>）</a:t>
                </a:r>
              </a:p>
            </p:txBody>
          </p:sp>
        </mc:Choice>
        <mc:Fallback xmlns="">
          <p:sp>
            <p:nvSpPr>
              <p:cNvPr id="3" name="内容占位符 2">
                <a:extLst>
                  <a:ext uri="{FF2B5EF4-FFF2-40B4-BE49-F238E27FC236}">
                    <a16:creationId xmlns:a16="http://schemas.microsoft.com/office/drawing/2014/main" id="{B788084F-BCE6-4CC8-8340-3DED0E073A0E}"/>
                  </a:ext>
                </a:extLst>
              </p:cNvPr>
              <p:cNvSpPr>
                <a:spLocks noGrp="1" noRot="1" noChangeAspect="1" noMove="1" noResize="1" noEditPoints="1" noAdjustHandles="1" noChangeArrowheads="1" noChangeShapeType="1" noTextEdit="1"/>
              </p:cNvSpPr>
              <p:nvPr>
                <p:ph idx="1"/>
              </p:nvPr>
            </p:nvSpPr>
            <p:spPr>
              <a:xfrm>
                <a:off x="509011" y="1756093"/>
                <a:ext cx="8061758" cy="3853265"/>
              </a:xfrm>
              <a:blipFill>
                <a:blip r:embed="rId3"/>
                <a:stretch>
                  <a:fillRect l="-831" t="-1424"/>
                </a:stretch>
              </a:blipFill>
            </p:spPr>
            <p:txBody>
              <a:bodyPr/>
              <a:lstStyle/>
              <a:p>
                <a:r>
                  <a:rPr lang="zh-CN" altLang="en-US">
                    <a:noFill/>
                  </a:rPr>
                  <a:t> </a:t>
                </a:r>
              </a:p>
            </p:txBody>
          </p:sp>
        </mc:Fallback>
      </mc:AlternateContent>
      <p:sp>
        <p:nvSpPr>
          <p:cNvPr id="4" name="Rectangle 2"/>
          <p:cNvSpPr>
            <a:spLocks noChangeArrowheads="1"/>
          </p:cNvSpPr>
          <p:nvPr/>
        </p:nvSpPr>
        <p:spPr bwMode="auto">
          <a:xfrm>
            <a:off x="0" y="557921"/>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nvGraphicFramePr>
        <p:xfrm>
          <a:off x="1925780" y="2401269"/>
          <a:ext cx="2536160" cy="640715"/>
        </p:xfrm>
        <a:graphic>
          <a:graphicData uri="http://schemas.openxmlformats.org/presentationml/2006/ole">
            <mc:AlternateContent xmlns:mc="http://schemas.openxmlformats.org/markup-compatibility/2006">
              <mc:Choice xmlns:v="urn:schemas-microsoft-com:vml" Requires="v">
                <p:oleObj spid="_x0000_s6227" name="公式" r:id="rId4" imgW="1205977" imgH="304668" progId="Equation.3">
                  <p:embed/>
                </p:oleObj>
              </mc:Choice>
              <mc:Fallback>
                <p:oleObj name="公式" r:id="rId4" imgW="1205977" imgH="304668" progId="Equation.3">
                  <p:embed/>
                  <p:pic>
                    <p:nvPicPr>
                      <p:cNvPr id="5"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25780" y="2401269"/>
                        <a:ext cx="2536160" cy="640715"/>
                      </a:xfrm>
                      <a:prstGeom prst="rect">
                        <a:avLst/>
                      </a:prstGeom>
                      <a:noFill/>
                    </p:spPr>
                  </p:pic>
                </p:oleObj>
              </mc:Fallback>
            </mc:AlternateContent>
          </a:graphicData>
        </a:graphic>
      </p:graphicFrame>
      <p:sp>
        <p:nvSpPr>
          <p:cNvPr id="6" name="Rectangle 5"/>
          <p:cNvSpPr>
            <a:spLocks noChangeArrowheads="1"/>
          </p:cNvSpPr>
          <p:nvPr/>
        </p:nvSpPr>
        <p:spPr bwMode="auto">
          <a:xfrm>
            <a:off x="0" y="85557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nvGraphicFramePr>
        <p:xfrm>
          <a:off x="2045232" y="4203123"/>
          <a:ext cx="1230458" cy="615229"/>
        </p:xfrm>
        <a:graphic>
          <a:graphicData uri="http://schemas.openxmlformats.org/presentationml/2006/ole">
            <mc:AlternateContent xmlns:mc="http://schemas.openxmlformats.org/markup-compatibility/2006">
              <mc:Choice xmlns:v="urn:schemas-microsoft-com:vml" Requires="v">
                <p:oleObj spid="_x0000_s6228" name="Equation" r:id="rId6" imgW="583947" imgH="291973" progId="Equation.DSMT4">
                  <p:embed/>
                </p:oleObj>
              </mc:Choice>
              <mc:Fallback>
                <p:oleObj name="Equation" r:id="rId6" imgW="583947" imgH="291973" progId="Equation.DSMT4">
                  <p:embed/>
                  <p:pic>
                    <p:nvPicPr>
                      <p:cNvPr id="7" name="对象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45232" y="4203123"/>
                        <a:ext cx="1230458" cy="615229"/>
                      </a:xfrm>
                      <a:prstGeom prst="rect">
                        <a:avLst/>
                      </a:prstGeom>
                      <a:noFill/>
                    </p:spPr>
                  </p:pic>
                </p:oleObj>
              </mc:Fallback>
            </mc:AlternateContent>
          </a:graphicData>
        </a:graphic>
      </p:graphicFrame>
      <p:sp>
        <p:nvSpPr>
          <p:cNvPr id="8" name="Rectangle 7"/>
          <p:cNvSpPr>
            <a:spLocks noChangeArrowheads="1"/>
          </p:cNvSpPr>
          <p:nvPr/>
        </p:nvSpPr>
        <p:spPr bwMode="auto">
          <a:xfrm>
            <a:off x="0" y="85557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mc:AlternateContent xmlns:mc="http://schemas.openxmlformats.org/markup-compatibility/2006" xmlns:a14="http://schemas.microsoft.com/office/drawing/2010/main">
        <mc:Choice Requires="a14">
          <p:sp>
            <p:nvSpPr>
              <p:cNvPr id="9" name="对象 8"/>
              <p:cNvSpPr txBox="1"/>
              <p:nvPr/>
            </p:nvSpPr>
            <p:spPr bwMode="auto">
              <a:xfrm>
                <a:off x="2044700" y="5083175"/>
                <a:ext cx="1584325" cy="576263"/>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limLow>
                        <m:limLowPr>
                          <m:ctrlPr>
                            <a:rPr lang="zh-CN" altLang="en-US" i="1">
                              <a:solidFill>
                                <a:srgbClr val="000000"/>
                              </a:solidFill>
                              <a:latin typeface="Cambria Math" panose="02040503050406030204" pitchFamily="18" charset="0"/>
                            </a:rPr>
                          </m:ctrlPr>
                        </m:limLowPr>
                        <m:e>
                          <m:r>
                            <a:rPr lang="zh-CN" altLang="en-US" i="1">
                              <a:solidFill>
                                <a:srgbClr val="000000"/>
                              </a:solidFill>
                              <a:latin typeface="Cambria Math" panose="02040503050406030204" pitchFamily="18" charset="0"/>
                            </a:rPr>
                            <m:t>𝑙𝑖𝑚</m:t>
                          </m:r>
                        </m:e>
                        <m:lim>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lim>
                      </m:limLow>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𝑋</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𝑋</m:t>
                      </m:r>
                    </m:oMath>
                  </m:oMathPara>
                </a14:m>
                <a:endParaRPr lang="zh-CN" altLang="en-US" dirty="0"/>
              </a:p>
            </p:txBody>
          </p:sp>
        </mc:Choice>
        <mc:Fallback xmlns="">
          <p:sp>
            <p:nvSpPr>
              <p:cNvPr id="9" name="对象 8"/>
              <p:cNvSpPr txBox="1">
                <a:spLocks noRot="1" noChangeAspect="1" noMove="1" noResize="1" noEditPoints="1" noAdjustHandles="1" noChangeArrowheads="1" noChangeShapeType="1" noTextEdit="1"/>
              </p:cNvSpPr>
              <p:nvPr/>
            </p:nvSpPr>
            <p:spPr bwMode="auto">
              <a:xfrm>
                <a:off x="2044700" y="5083175"/>
                <a:ext cx="1584325" cy="576263"/>
              </a:xfrm>
              <a:prstGeom prst="rect">
                <a:avLst/>
              </a:prstGeom>
              <a:blipFill>
                <a:blip r:embed="rId8"/>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00264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EA437F-7103-4F1C-A007-FA3014CAA049}"/>
              </a:ext>
            </a:extLst>
          </p:cNvPr>
          <p:cNvSpPr>
            <a:spLocks noGrp="1"/>
          </p:cNvSpPr>
          <p:nvPr>
            <p:ph type="title"/>
          </p:nvPr>
        </p:nvSpPr>
        <p:spPr/>
        <p:txBody>
          <a:bodyPr/>
          <a:lstStyle/>
          <a:p>
            <a:r>
              <a:rPr lang="en-US" altLang="zh-CN" dirty="0"/>
              <a:t>4.1  </a:t>
            </a:r>
            <a:r>
              <a:rPr lang="zh-CN" altLang="zh-CN" dirty="0"/>
              <a:t>均值各态历经性</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788084F-BCE6-4CC8-8340-3DED0E073A0E}"/>
                  </a:ext>
                </a:extLst>
              </p:cNvPr>
              <p:cNvSpPr>
                <a:spLocks noGrp="1"/>
              </p:cNvSpPr>
              <p:nvPr>
                <p:ph idx="1"/>
              </p:nvPr>
            </p:nvSpPr>
            <p:spPr>
              <a:xfrm>
                <a:off x="684213" y="1970838"/>
                <a:ext cx="7772400" cy="3763212"/>
              </a:xfrm>
            </p:spPr>
            <p:txBody>
              <a:bodyPr>
                <a:normAutofit/>
              </a:bodyPr>
              <a:lstStyle/>
              <a:p>
                <a:pPr>
                  <a:buFont typeface="Wingdings" panose="05000000000000000000" pitchFamily="2" charset="2"/>
                  <a:buChar char="p"/>
                </a:pPr>
                <a:r>
                  <a:rPr lang="en-US" altLang="zh-CN" dirty="0">
                    <a:latin typeface="+mj-lt"/>
                  </a:rPr>
                  <a:t>1. </a:t>
                </a:r>
                <a:r>
                  <a:rPr lang="zh-CN" altLang="zh-CN" dirty="0">
                    <a:latin typeface="+mj-lt"/>
                  </a:rPr>
                  <a:t>时间均值</a:t>
                </a:r>
              </a:p>
              <a:p>
                <a:pPr marL="0" indent="0">
                  <a:buNone/>
                </a:pPr>
                <a14:m>
                  <m:oMath xmlns:m="http://schemas.openxmlformats.org/officeDocument/2006/math">
                    <m:r>
                      <a:rPr lang="en-US" altLang="zh-CN" i="1">
                        <a:latin typeface="Cambria Math" panose="02040503050406030204" pitchFamily="18" charset="0"/>
                      </a:rPr>
                      <m:t>{</m:t>
                    </m:r>
                    <m:r>
                      <a:rPr lang="en-US" altLang="zh-CN" i="1">
                        <a:latin typeface="Cambria Math" panose="02040503050406030204" pitchFamily="18" charset="0"/>
                      </a:rPr>
                      <m:t>𝑿</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),−∞&lt;</m:t>
                    </m:r>
                    <m:r>
                      <a:rPr lang="en-US" altLang="zh-CN" i="1">
                        <a:latin typeface="Cambria Math" panose="02040503050406030204" pitchFamily="18" charset="0"/>
                      </a:rPr>
                      <m:t>𝒕</m:t>
                    </m:r>
                    <m:r>
                      <a:rPr lang="en-US" altLang="zh-CN" i="1">
                        <a:latin typeface="Cambria Math" panose="02040503050406030204" pitchFamily="18" charset="0"/>
                      </a:rPr>
                      <m:t>&lt;∞}</m:t>
                    </m:r>
                  </m:oMath>
                </a14:m>
                <a:r>
                  <a:rPr lang="zh-CN" altLang="zh-CN" dirty="0"/>
                  <a:t>为平稳随机过程，如果</a:t>
                </a:r>
                <a:r>
                  <a:rPr lang="zh-CN" altLang="en-US" dirty="0">
                    <a:solidFill>
                      <a:srgbClr val="FF0000"/>
                    </a:solidFill>
                  </a:rPr>
                  <a:t>均方</a:t>
                </a:r>
                <a:r>
                  <a:rPr lang="zh-CN" altLang="zh-CN" dirty="0">
                    <a:solidFill>
                      <a:srgbClr val="FF0000"/>
                    </a:solidFill>
                  </a:rPr>
                  <a:t>极限存在</a:t>
                </a:r>
                <a:endParaRPr lang="en-US" altLang="zh-CN" dirty="0">
                  <a:solidFill>
                    <a:srgbClr val="FF0000"/>
                  </a:solidFill>
                </a:endParaRPr>
              </a:p>
              <a:p>
                <a:pPr marL="0" indent="0" algn="ctr">
                  <a:buNone/>
                </a:pPr>
                <a:r>
                  <a:rPr lang="zh-CN" altLang="zh-CN" dirty="0"/>
                  <a:t> </a:t>
                </a:r>
                <a14:m>
                  <m:oMath xmlns:m="http://schemas.openxmlformats.org/officeDocument/2006/math">
                    <m:d>
                      <m:dPr>
                        <m:begChr m:val="⟨"/>
                        <m:endChr m:val="⟩"/>
                        <m:ctrlPr>
                          <a:rPr lang="zh-CN" altLang="zh-CN" i="1" smtClean="0">
                            <a:solidFill>
                              <a:srgbClr val="FF0000"/>
                            </a:solidFill>
                            <a:latin typeface="Cambria Math" panose="02040503050406030204" pitchFamily="18" charset="0"/>
                          </a:rPr>
                        </m:ctrlPr>
                      </m:dPr>
                      <m:e>
                        <m:r>
                          <a:rPr lang="en-US" altLang="zh-CN" i="1">
                            <a:solidFill>
                              <a:srgbClr val="FF0000"/>
                            </a:solidFill>
                            <a:latin typeface="Cambria Math" panose="02040503050406030204" pitchFamily="18" charset="0"/>
                          </a:rPr>
                          <m:t>𝑿</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𝒕</m:t>
                        </m:r>
                        <m:r>
                          <a:rPr lang="en-US" altLang="zh-CN" i="1">
                            <a:solidFill>
                              <a:srgbClr val="FF0000"/>
                            </a:solidFill>
                            <a:latin typeface="Cambria Math" panose="02040503050406030204" pitchFamily="18" charset="0"/>
                          </a:rPr>
                          <m:t>)</m:t>
                        </m:r>
                      </m:e>
                    </m:d>
                    <m:r>
                      <a:rPr lang="en-US" altLang="zh-CN" i="1">
                        <a:solidFill>
                          <a:srgbClr val="FF0000"/>
                        </a:solidFill>
                        <a:latin typeface="Cambria Math" panose="02040503050406030204" pitchFamily="18" charset="0"/>
                      </a:rPr>
                      <m:t>=</m:t>
                    </m:r>
                    <m:limLow>
                      <m:limLowPr>
                        <m:ctrlPr>
                          <a:rPr lang="zh-CN" altLang="zh-CN" i="1">
                            <a:solidFill>
                              <a:srgbClr val="FF0000"/>
                            </a:solidFill>
                            <a:latin typeface="Cambria Math" panose="02040503050406030204" pitchFamily="18" charset="0"/>
                          </a:rPr>
                        </m:ctrlPr>
                      </m:limLowPr>
                      <m:e>
                        <m:r>
                          <a:rPr lang="en-US" altLang="zh-CN" i="1">
                            <a:solidFill>
                              <a:srgbClr val="FF0000"/>
                            </a:solidFill>
                            <a:latin typeface="Cambria Math" panose="02040503050406030204" pitchFamily="18" charset="0"/>
                          </a:rPr>
                          <m:t>𝒍𝒊𝒎</m:t>
                        </m:r>
                      </m:e>
                      <m:lim>
                        <m:r>
                          <a:rPr lang="en-US" altLang="zh-CN" i="1">
                            <a:solidFill>
                              <a:srgbClr val="FF0000"/>
                            </a:solidFill>
                            <a:latin typeface="Cambria Math" panose="02040503050406030204" pitchFamily="18" charset="0"/>
                          </a:rPr>
                          <m:t>𝑻</m:t>
                        </m:r>
                        <m:r>
                          <a:rPr lang="en-US" altLang="zh-CN" i="1">
                            <a:solidFill>
                              <a:srgbClr val="FF0000"/>
                            </a:solidFill>
                            <a:latin typeface="Cambria Math" panose="02040503050406030204" pitchFamily="18" charset="0"/>
                          </a:rPr>
                          <m:t>→∞</m:t>
                        </m:r>
                      </m:lim>
                    </m:limLow>
                    <m:f>
                      <m:fPr>
                        <m:ctrlPr>
                          <a:rPr lang="zh-CN" altLang="zh-CN" i="1">
                            <a:solidFill>
                              <a:srgbClr val="FF0000"/>
                            </a:solidFill>
                            <a:latin typeface="Cambria Math" panose="02040503050406030204" pitchFamily="18" charset="0"/>
                          </a:rPr>
                        </m:ctrlPr>
                      </m:fPr>
                      <m:num>
                        <m:r>
                          <a:rPr lang="en-US" altLang="zh-CN" i="1">
                            <a:solidFill>
                              <a:srgbClr val="FF0000"/>
                            </a:solidFill>
                            <a:latin typeface="Cambria Math" panose="02040503050406030204" pitchFamily="18" charset="0"/>
                          </a:rPr>
                          <m:t>𝟏</m:t>
                        </m:r>
                      </m:num>
                      <m:den>
                        <m:r>
                          <a:rPr lang="en-US" altLang="zh-CN" i="1">
                            <a:solidFill>
                              <a:srgbClr val="FF0000"/>
                            </a:solidFill>
                            <a:latin typeface="Cambria Math" panose="02040503050406030204" pitchFamily="18" charset="0"/>
                          </a:rPr>
                          <m:t>𝟐</m:t>
                        </m:r>
                        <m:r>
                          <a:rPr lang="en-US" altLang="zh-CN" i="1">
                            <a:solidFill>
                              <a:srgbClr val="FF0000"/>
                            </a:solidFill>
                            <a:latin typeface="Cambria Math" panose="02040503050406030204" pitchFamily="18" charset="0"/>
                          </a:rPr>
                          <m:t>𝑻</m:t>
                        </m:r>
                      </m:den>
                    </m:f>
                    <m:nary>
                      <m:naryPr>
                        <m:ctrlPr>
                          <a:rPr lang="zh-CN" altLang="zh-CN" i="1">
                            <a:solidFill>
                              <a:srgbClr val="FF0000"/>
                            </a:solidFill>
                            <a:latin typeface="Cambria Math" panose="02040503050406030204" pitchFamily="18" charset="0"/>
                          </a:rPr>
                        </m:ctrlPr>
                      </m:naryPr>
                      <m:sub>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𝑻</m:t>
                        </m:r>
                      </m:sub>
                      <m:sup>
                        <m:r>
                          <a:rPr lang="en-US" altLang="zh-CN" i="1">
                            <a:solidFill>
                              <a:srgbClr val="FF0000"/>
                            </a:solidFill>
                            <a:latin typeface="Cambria Math" panose="02040503050406030204" pitchFamily="18" charset="0"/>
                          </a:rPr>
                          <m:t>𝑻</m:t>
                        </m:r>
                      </m:sup>
                      <m:e>
                        <m:r>
                          <a:rPr lang="en-US" altLang="zh-CN" i="1">
                            <a:solidFill>
                              <a:srgbClr val="FF0000"/>
                            </a:solidFill>
                            <a:latin typeface="Cambria Math" panose="02040503050406030204" pitchFamily="18" charset="0"/>
                          </a:rPr>
                          <m:t>𝑿</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𝒕</m:t>
                        </m:r>
                        <m:r>
                          <a:rPr lang="en-US" altLang="zh-CN" i="1">
                            <a:solidFill>
                              <a:srgbClr val="FF0000"/>
                            </a:solidFill>
                            <a:latin typeface="Cambria Math" panose="02040503050406030204" pitchFamily="18" charset="0"/>
                          </a:rPr>
                          <m:t>)</m:t>
                        </m:r>
                      </m:e>
                    </m:nary>
                    <m:r>
                      <a:rPr lang="en-US" altLang="zh-CN" i="1">
                        <a:solidFill>
                          <a:srgbClr val="FF0000"/>
                        </a:solidFill>
                        <a:latin typeface="Cambria Math" panose="02040503050406030204" pitchFamily="18" charset="0"/>
                      </a:rPr>
                      <m:t>𝒅𝒕</m:t>
                    </m:r>
                  </m:oMath>
                </a14:m>
                <a:r>
                  <a:rPr lang="zh-CN" altLang="zh-CN" dirty="0"/>
                  <a:t>，</a:t>
                </a:r>
              </a:p>
              <a:p>
                <a:pPr marL="0" indent="0">
                  <a:buNone/>
                </a:pPr>
                <a:r>
                  <a:rPr lang="zh-CN" altLang="zh-CN" dirty="0"/>
                  <a:t>则称</a:t>
                </a:r>
                <a14:m>
                  <m:oMath xmlns:m="http://schemas.openxmlformats.org/officeDocument/2006/math">
                    <m:d>
                      <m:dPr>
                        <m:begChr m:val="⟨"/>
                        <m:endChr m:val="⟩"/>
                        <m:ctrlPr>
                          <a:rPr lang="zh-CN" altLang="zh-CN" i="1" smtClean="0">
                            <a:solidFill>
                              <a:srgbClr val="FF0000"/>
                            </a:solidFill>
                            <a:latin typeface="Cambria Math" panose="02040503050406030204" pitchFamily="18" charset="0"/>
                          </a:rPr>
                        </m:ctrlPr>
                      </m:dPr>
                      <m:e>
                        <m:r>
                          <a:rPr lang="en-US" altLang="zh-CN" i="1">
                            <a:solidFill>
                              <a:srgbClr val="FF0000"/>
                            </a:solidFill>
                            <a:latin typeface="Cambria Math" panose="02040503050406030204" pitchFamily="18" charset="0"/>
                          </a:rPr>
                          <m:t>𝑿</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𝒕</m:t>
                        </m:r>
                        <m:r>
                          <a:rPr lang="en-US" altLang="zh-CN" i="1">
                            <a:solidFill>
                              <a:srgbClr val="FF0000"/>
                            </a:solidFill>
                            <a:latin typeface="Cambria Math" panose="02040503050406030204" pitchFamily="18" charset="0"/>
                          </a:rPr>
                          <m:t>)</m:t>
                        </m:r>
                      </m:e>
                    </m:d>
                  </m:oMath>
                </a14:m>
                <a:r>
                  <a:rPr lang="zh-CN" altLang="zh-CN" dirty="0"/>
                  <a:t>为时间平均或时间均值，一般为随机变量。</a:t>
                </a:r>
                <a:endParaRPr lang="en-US" altLang="zh-CN" dirty="0"/>
              </a:p>
              <a:p>
                <a:pPr>
                  <a:buFont typeface="Wingdings" panose="05000000000000000000" pitchFamily="2" charset="2"/>
                  <a:buChar char="p"/>
                </a:pPr>
                <a:r>
                  <a:rPr lang="en-US" altLang="zh-CN" dirty="0"/>
                  <a:t>2</a:t>
                </a:r>
                <a:r>
                  <a:rPr lang="zh-CN" altLang="zh-CN" dirty="0"/>
                  <a:t>．均值各态历经性 （遍历）</a:t>
                </a:r>
                <a:r>
                  <a:rPr lang="zh-CN" altLang="en-US" dirty="0"/>
                  <a:t>：平稳随机过程</a:t>
                </a:r>
                <a14:m>
                  <m:oMath xmlns:m="http://schemas.openxmlformats.org/officeDocument/2006/math">
                    <m:r>
                      <a:rPr lang="en-US" altLang="zh-CN" i="1">
                        <a:latin typeface="Cambria Math" panose="02040503050406030204" pitchFamily="18" charset="0"/>
                      </a:rPr>
                      <m:t>𝑿</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zh-CN" altLang="en-US" i="1" smtClean="0">
                        <a:latin typeface="Cambria Math" panose="02040503050406030204" pitchFamily="18" charset="0"/>
                      </a:rPr>
                      <m:t>，</m:t>
                    </m:r>
                  </m:oMath>
                </a14:m>
                <a:r>
                  <a:rPr lang="zh-CN" altLang="en-US" dirty="0"/>
                  <a:t>若</a:t>
                </a:r>
                <a:endParaRPr lang="zh-CN" altLang="zh-CN" dirty="0"/>
              </a:p>
              <a:p>
                <a:pPr marL="0" indent="0">
                  <a:lnSpc>
                    <a:spcPct val="150000"/>
                  </a:lnSpc>
                  <a:buNone/>
                </a:pPr>
                <a14:m>
                  <m:oMathPara xmlns:m="http://schemas.openxmlformats.org/officeDocument/2006/math">
                    <m:oMathParaPr>
                      <m:jc m:val="centerGroup"/>
                    </m:oMathParaPr>
                    <m:oMath xmlns:m="http://schemas.openxmlformats.org/officeDocument/2006/math">
                      <m:d>
                        <m:dPr>
                          <m:begChr m:val="⟨"/>
                          <m:endChr m:val="⟩"/>
                          <m:ctrlPr>
                            <a:rPr lang="zh-CN" altLang="zh-CN" i="1" smtClean="0">
                              <a:solidFill>
                                <a:srgbClr val="FF0000"/>
                              </a:solidFill>
                              <a:latin typeface="Cambria Math" panose="02040503050406030204" pitchFamily="18" charset="0"/>
                            </a:rPr>
                          </m:ctrlPr>
                        </m:dPr>
                        <m:e>
                          <m:r>
                            <a:rPr lang="en-US" altLang="zh-CN" i="1">
                              <a:solidFill>
                                <a:srgbClr val="FF0000"/>
                              </a:solidFill>
                              <a:latin typeface="Cambria Math" panose="02040503050406030204" pitchFamily="18" charset="0"/>
                            </a:rPr>
                            <m:t>𝑿</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𝒕</m:t>
                          </m:r>
                          <m:r>
                            <a:rPr lang="en-US" altLang="zh-CN" i="1">
                              <a:solidFill>
                                <a:srgbClr val="FF0000"/>
                              </a:solidFill>
                              <a:latin typeface="Cambria Math" panose="02040503050406030204" pitchFamily="18" charset="0"/>
                            </a:rPr>
                            <m:t>)</m:t>
                          </m:r>
                        </m:e>
                      </m:d>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𝑬</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𝑿</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𝒕</m:t>
                      </m:r>
                      <m:r>
                        <a:rPr lang="en-US" altLang="zh-CN" i="1">
                          <a:solidFill>
                            <a:srgbClr val="FF0000"/>
                          </a:solidFill>
                          <a:latin typeface="Cambria Math" panose="02040503050406030204" pitchFamily="18" charset="0"/>
                        </a:rPr>
                        <m:t>)]</m:t>
                      </m:r>
                    </m:oMath>
                  </m:oMathPara>
                </a14:m>
                <a:endParaRPr lang="en-US" altLang="zh-CN" dirty="0">
                  <a:solidFill>
                    <a:srgbClr val="FF0000"/>
                  </a:solidFill>
                </a:endParaRPr>
              </a:p>
              <a:p>
                <a:pPr marL="0" indent="0">
                  <a:buNone/>
                </a:pPr>
                <a:r>
                  <a:rPr lang="zh-CN" altLang="zh-CN" dirty="0"/>
                  <a:t>以概率</a:t>
                </a:r>
                <a:r>
                  <a:rPr lang="en-US" altLang="zh-CN" dirty="0"/>
                  <a:t>1</a:t>
                </a:r>
                <a:r>
                  <a:rPr lang="zh-CN" altLang="zh-CN" dirty="0"/>
                  <a:t>成立，</a:t>
                </a:r>
                <a:r>
                  <a:rPr lang="zh-CN" altLang="en-US" dirty="0"/>
                  <a:t>则称为其</a:t>
                </a:r>
                <a:r>
                  <a:rPr lang="zh-CN" altLang="zh-CN" dirty="0"/>
                  <a:t>均值各态历经。</a:t>
                </a:r>
              </a:p>
              <a:p>
                <a:pPr marL="0" indent="0">
                  <a:buNone/>
                </a:pPr>
                <a:endParaRPr lang="zh-CN" altLang="zh-CN" dirty="0"/>
              </a:p>
              <a:p>
                <a:endParaRPr lang="zh-CN" altLang="en-US" dirty="0"/>
              </a:p>
            </p:txBody>
          </p:sp>
        </mc:Choice>
        <mc:Fallback xmlns="">
          <p:sp>
            <p:nvSpPr>
              <p:cNvPr id="3" name="内容占位符 2">
                <a:extLst>
                  <a:ext uri="{FF2B5EF4-FFF2-40B4-BE49-F238E27FC236}">
                    <a16:creationId xmlns:a16="http://schemas.microsoft.com/office/drawing/2014/main" id="{B788084F-BCE6-4CC8-8340-3DED0E073A0E}"/>
                  </a:ext>
                </a:extLst>
              </p:cNvPr>
              <p:cNvSpPr>
                <a:spLocks noGrp="1" noRot="1" noChangeAspect="1" noMove="1" noResize="1" noEditPoints="1" noAdjustHandles="1" noChangeArrowheads="1" noChangeShapeType="1" noTextEdit="1"/>
              </p:cNvSpPr>
              <p:nvPr>
                <p:ph idx="1"/>
              </p:nvPr>
            </p:nvSpPr>
            <p:spPr>
              <a:xfrm>
                <a:off x="684213" y="1970838"/>
                <a:ext cx="7772400" cy="3763212"/>
              </a:xfrm>
              <a:blipFill>
                <a:blip r:embed="rId2"/>
                <a:stretch>
                  <a:fillRect l="-941" t="-145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73702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3">
                <a:extLst>
                  <a:ext uri="{FF2B5EF4-FFF2-40B4-BE49-F238E27FC236}">
                    <a16:creationId xmlns:a16="http://schemas.microsoft.com/office/drawing/2014/main" id="{323D7E6B-F933-41EA-A9D3-2F3A7203188B}"/>
                  </a:ext>
                </a:extLst>
              </p:cNvPr>
              <p:cNvSpPr>
                <a:spLocks noGrp="1"/>
              </p:cNvSpPr>
              <p:nvPr>
                <p:ph idx="1"/>
              </p:nvPr>
            </p:nvSpPr>
            <p:spPr>
              <a:xfrm>
                <a:off x="684213" y="1292470"/>
                <a:ext cx="7772400" cy="818816"/>
              </a:xfrm>
            </p:spPr>
            <p:txBody>
              <a:bodyPr/>
              <a:lstStyle/>
              <a:p>
                <a:pPr marL="0" indent="0">
                  <a:buNone/>
                </a:pPr>
                <a:r>
                  <a:rPr lang="zh-CN" altLang="en-US" dirty="0"/>
                  <a:t>例：</a:t>
                </a:r>
                <a:r>
                  <a:rPr lang="zh-CN" altLang="en-US" dirty="0">
                    <a:sym typeface="Microsoft Yahei" panose="020B0503020204020204" pitchFamily="34" charset="-122"/>
                  </a:rPr>
                  <a:t>课本习题</a:t>
                </a:r>
                <a:r>
                  <a:rPr lang="en-US" altLang="zh-CN" dirty="0">
                    <a:sym typeface="Microsoft Yahei" panose="020B0503020204020204" pitchFamily="34" charset="-122"/>
                  </a:rPr>
                  <a:t>4.1</a:t>
                </a:r>
                <a:r>
                  <a:rPr lang="zh-CN" altLang="en-US" dirty="0">
                    <a:sym typeface="Microsoft Yahei" panose="020B0503020204020204" pitchFamily="34" charset="-122"/>
                  </a:rPr>
                  <a:t>，观察随机信号</a:t>
                </a:r>
                <a14:m>
                  <m:oMath xmlns:m="http://schemas.openxmlformats.org/officeDocument/2006/math">
                    <m:sSub>
                      <m:sSubPr>
                        <m:ctrlPr>
                          <a:rPr lang="en-US" altLang="zh-CN" i="1">
                            <a:latin typeface="Cambria Math" panose="02040503050406030204" pitchFamily="18" charset="0"/>
                            <a:sym typeface="Microsoft Yahei" panose="020B0503020204020204" pitchFamily="34" charset="-122"/>
                          </a:rPr>
                        </m:ctrlPr>
                      </m:sSubPr>
                      <m:e>
                        <m:r>
                          <a:rPr lang="en-US" altLang="zh-CN">
                            <a:latin typeface="Cambria Math" panose="02040503050406030204" pitchFamily="18" charset="0"/>
                            <a:sym typeface="Microsoft Yahei" panose="020B0503020204020204" pitchFamily="34" charset="-122"/>
                          </a:rPr>
                          <m:t>𝑌</m:t>
                        </m:r>
                      </m:e>
                      <m:sub>
                        <m:r>
                          <a:rPr lang="en-US" altLang="zh-CN">
                            <a:latin typeface="Cambria Math" panose="02040503050406030204" pitchFamily="18" charset="0"/>
                            <a:sym typeface="Microsoft Yahei" panose="020B0503020204020204" pitchFamily="34" charset="-122"/>
                          </a:rPr>
                          <m:t>1</m:t>
                        </m:r>
                      </m:sub>
                    </m:sSub>
                    <m:d>
                      <m:dPr>
                        <m:ctrlPr>
                          <a:rPr lang="en-US" altLang="zh-CN" i="1">
                            <a:latin typeface="Cambria Math" panose="02040503050406030204" pitchFamily="18" charset="0"/>
                            <a:sym typeface="Microsoft Yahei" panose="020B0503020204020204" pitchFamily="34" charset="-122"/>
                          </a:rPr>
                        </m:ctrlPr>
                      </m:dPr>
                      <m:e>
                        <m:r>
                          <a:rPr lang="en-US" altLang="zh-CN">
                            <a:latin typeface="Cambria Math" panose="02040503050406030204" pitchFamily="18" charset="0"/>
                            <a:sym typeface="Microsoft Yahei" panose="020B0503020204020204" pitchFamily="34" charset="-122"/>
                          </a:rPr>
                          <m:t>𝑡</m:t>
                        </m:r>
                      </m:e>
                    </m:d>
                    <m:r>
                      <a:rPr lang="en-US" altLang="zh-CN">
                        <a:latin typeface="Cambria Math" panose="02040503050406030204" pitchFamily="18" charset="0"/>
                        <a:sym typeface="Microsoft Yahei" panose="020B0503020204020204" pitchFamily="34" charset="-122"/>
                      </a:rPr>
                      <m:t>,</m:t>
                    </m:r>
                    <m:sSub>
                      <m:sSubPr>
                        <m:ctrlPr>
                          <a:rPr lang="en-US" altLang="zh-CN" i="1">
                            <a:latin typeface="Cambria Math" panose="02040503050406030204" pitchFamily="18" charset="0"/>
                            <a:sym typeface="Microsoft Yahei" panose="020B0503020204020204" pitchFamily="34" charset="-122"/>
                          </a:rPr>
                        </m:ctrlPr>
                      </m:sSubPr>
                      <m:e>
                        <m:r>
                          <a:rPr lang="en-US" altLang="zh-CN">
                            <a:latin typeface="Cambria Math" panose="02040503050406030204" pitchFamily="18" charset="0"/>
                            <a:sym typeface="Microsoft Yahei" panose="020B0503020204020204" pitchFamily="34" charset="-122"/>
                          </a:rPr>
                          <m:t>𝑌</m:t>
                        </m:r>
                      </m:e>
                      <m:sub>
                        <m:r>
                          <a:rPr lang="en-US" altLang="zh-CN">
                            <a:latin typeface="Cambria Math" panose="02040503050406030204" pitchFamily="18" charset="0"/>
                            <a:sym typeface="Microsoft Yahei" panose="020B0503020204020204" pitchFamily="34" charset="-122"/>
                          </a:rPr>
                          <m:t>2</m:t>
                        </m:r>
                      </m:sub>
                    </m:sSub>
                    <m:r>
                      <a:rPr lang="en-US" altLang="zh-CN">
                        <a:latin typeface="Cambria Math" panose="02040503050406030204" pitchFamily="18" charset="0"/>
                        <a:sym typeface="Microsoft Yahei" panose="020B0503020204020204" pitchFamily="34" charset="-122"/>
                      </a:rPr>
                      <m:t>(</m:t>
                    </m:r>
                    <m:r>
                      <a:rPr lang="en-US" altLang="zh-CN">
                        <a:latin typeface="Cambria Math" panose="02040503050406030204" pitchFamily="18" charset="0"/>
                        <a:sym typeface="Microsoft Yahei" panose="020B0503020204020204" pitchFamily="34" charset="-122"/>
                      </a:rPr>
                      <m:t>𝑡</m:t>
                    </m:r>
                    <m:r>
                      <a:rPr lang="en-US" altLang="zh-CN">
                        <a:latin typeface="Cambria Math" panose="02040503050406030204" pitchFamily="18" charset="0"/>
                        <a:sym typeface="Microsoft Yahei" panose="020B0503020204020204" pitchFamily="34" charset="-122"/>
                      </a:rPr>
                      <m:t>)</m:t>
                    </m:r>
                  </m:oMath>
                </a14:m>
                <a:r>
                  <a:rPr lang="zh-CN" altLang="en-US" dirty="0">
                    <a:sym typeface="Microsoft Yahei" panose="020B0503020204020204" pitchFamily="34" charset="-122"/>
                  </a:rPr>
                  <a:t>的实测样本函数，说明它们是否为均值各态历经的。</a:t>
                </a:r>
              </a:p>
              <a:p>
                <a:pPr marL="0" indent="0">
                  <a:buNone/>
                </a:pPr>
                <a:endParaRPr lang="zh-CN" altLang="en-US" dirty="0"/>
              </a:p>
            </p:txBody>
          </p:sp>
        </mc:Choice>
        <mc:Fallback xmlns="">
          <p:sp>
            <p:nvSpPr>
              <p:cNvPr id="4" name="内容占位符 3">
                <a:extLst>
                  <a:ext uri="{FF2B5EF4-FFF2-40B4-BE49-F238E27FC236}">
                    <a16:creationId xmlns:a16="http://schemas.microsoft.com/office/drawing/2014/main" id="{323D7E6B-F933-41EA-A9D3-2F3A7203188B}"/>
                  </a:ext>
                </a:extLst>
              </p:cNvPr>
              <p:cNvSpPr>
                <a:spLocks noGrp="1" noRot="1" noChangeAspect="1" noMove="1" noResize="1" noEditPoints="1" noAdjustHandles="1" noChangeArrowheads="1" noChangeShapeType="1" noTextEdit="1"/>
              </p:cNvSpPr>
              <p:nvPr>
                <p:ph idx="1"/>
              </p:nvPr>
            </p:nvSpPr>
            <p:spPr>
              <a:xfrm>
                <a:off x="684213" y="1292470"/>
                <a:ext cx="7772400" cy="818816"/>
              </a:xfrm>
              <a:blipFill>
                <a:blip r:embed="rId2"/>
                <a:stretch>
                  <a:fillRect l="-941" t="-6716" b="-2239"/>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6969BA7B-54CE-487A-BA9E-66361FB9AB40}"/>
              </a:ext>
            </a:extLst>
          </p:cNvPr>
          <p:cNvPicPr>
            <a:picLocks noChangeAspect="1"/>
          </p:cNvPicPr>
          <p:nvPr/>
        </p:nvPicPr>
        <p:blipFill rotWithShape="1">
          <a:blip r:embed="rId3"/>
          <a:srcRect l="2667" t="35733" r="4976" b="48622"/>
          <a:stretch/>
        </p:blipFill>
        <p:spPr>
          <a:xfrm>
            <a:off x="1353007" y="2300762"/>
            <a:ext cx="6343193" cy="2325837"/>
          </a:xfrm>
          <a:prstGeom prst="rect">
            <a:avLst/>
          </a:prstGeom>
        </p:spPr>
      </p:pic>
      <mc:AlternateContent xmlns:mc="http://schemas.openxmlformats.org/markup-compatibility/2006" xmlns:a14="http://schemas.microsoft.com/office/drawing/2010/main">
        <mc:Choice Requires="a14">
          <p:sp>
            <p:nvSpPr>
              <p:cNvPr id="3" name="文本框 2"/>
              <p:cNvSpPr txBox="1"/>
              <p:nvPr/>
            </p:nvSpPr>
            <p:spPr>
              <a:xfrm>
                <a:off x="1588127" y="4887210"/>
                <a:ext cx="2568267" cy="369332"/>
              </a:xfrm>
              <a:prstGeom prst="rect">
                <a:avLst/>
              </a:prstGeom>
              <a:noFill/>
            </p:spPr>
            <p:txBody>
              <a:bodyPr wrap="none" rtlCol="0">
                <a:spAutoFit/>
              </a:bodyPr>
              <a:lstStyle/>
              <a:p>
                <a14:m>
                  <m:oMath xmlns:m="http://schemas.openxmlformats.org/officeDocument/2006/math">
                    <m:sSub>
                      <m:sSubPr>
                        <m:ctrlPr>
                          <a:rPr lang="en-US" altLang="zh-CN" b="1" i="1">
                            <a:solidFill>
                              <a:srgbClr val="FF0000"/>
                            </a:solidFill>
                            <a:latin typeface="Cambria Math" panose="02040503050406030204" pitchFamily="18" charset="0"/>
                            <a:sym typeface="Microsoft Yahei" panose="020B0503020204020204" pitchFamily="34" charset="-122"/>
                          </a:rPr>
                        </m:ctrlPr>
                      </m:sSubPr>
                      <m:e>
                        <m:r>
                          <a:rPr lang="en-US" altLang="zh-CN" b="1" i="1">
                            <a:solidFill>
                              <a:srgbClr val="FF0000"/>
                            </a:solidFill>
                            <a:latin typeface="Cambria Math" panose="02040503050406030204" pitchFamily="18" charset="0"/>
                            <a:sym typeface="Microsoft Yahei" panose="020B0503020204020204" pitchFamily="34" charset="-122"/>
                          </a:rPr>
                          <m:t>𝒀</m:t>
                        </m:r>
                      </m:e>
                      <m:sub>
                        <m:r>
                          <a:rPr lang="en-US" altLang="zh-CN" b="1" i="1">
                            <a:solidFill>
                              <a:srgbClr val="FF0000"/>
                            </a:solidFill>
                            <a:latin typeface="Cambria Math" panose="02040503050406030204" pitchFamily="18" charset="0"/>
                            <a:sym typeface="Microsoft Yahei" panose="020B0503020204020204" pitchFamily="34" charset="-122"/>
                          </a:rPr>
                          <m:t>𝟐</m:t>
                        </m:r>
                      </m:sub>
                    </m:sSub>
                    <m:r>
                      <a:rPr lang="en-US" altLang="zh-CN" b="1">
                        <a:solidFill>
                          <a:srgbClr val="FF0000"/>
                        </a:solidFill>
                        <a:latin typeface="Cambria Math" panose="02040503050406030204" pitchFamily="18" charset="0"/>
                        <a:sym typeface="Microsoft Yahei" panose="020B0503020204020204" pitchFamily="34" charset="-122"/>
                      </a:rPr>
                      <m:t>(</m:t>
                    </m:r>
                    <m:r>
                      <a:rPr lang="en-US" altLang="zh-CN" b="1" i="1">
                        <a:solidFill>
                          <a:srgbClr val="FF0000"/>
                        </a:solidFill>
                        <a:latin typeface="Cambria Math" panose="02040503050406030204" pitchFamily="18" charset="0"/>
                        <a:sym typeface="Microsoft Yahei" panose="020B0503020204020204" pitchFamily="34" charset="-122"/>
                      </a:rPr>
                      <m:t>𝐭</m:t>
                    </m:r>
                    <m:r>
                      <a:rPr lang="en-US" altLang="zh-CN" b="1">
                        <a:solidFill>
                          <a:srgbClr val="FF0000"/>
                        </a:solidFill>
                        <a:latin typeface="Cambria Math" panose="02040503050406030204" pitchFamily="18" charset="0"/>
                        <a:sym typeface="Microsoft Yahei" panose="020B0503020204020204" pitchFamily="34" charset="-122"/>
                      </a:rPr>
                      <m:t>)</m:t>
                    </m:r>
                  </m:oMath>
                </a14:m>
                <a:r>
                  <a:rPr lang="zh-CN" altLang="en-US" b="1" dirty="0">
                    <a:solidFill>
                      <a:srgbClr val="FF0000"/>
                    </a:solidFill>
                  </a:rPr>
                  <a:t>可能均值各态历经</a:t>
                </a:r>
                <a:endParaRPr lang="zh-CN" altLang="en-US" b="1" dirty="0"/>
              </a:p>
            </p:txBody>
          </p:sp>
        </mc:Choice>
        <mc:Fallback xmlns="">
          <p:sp>
            <p:nvSpPr>
              <p:cNvPr id="3" name="文本框 2"/>
              <p:cNvSpPr txBox="1">
                <a:spLocks noRot="1" noChangeAspect="1" noMove="1" noResize="1" noEditPoints="1" noAdjustHandles="1" noChangeArrowheads="1" noChangeShapeType="1" noTextEdit="1"/>
              </p:cNvSpPr>
              <p:nvPr/>
            </p:nvSpPr>
            <p:spPr>
              <a:xfrm>
                <a:off x="1588127" y="4887210"/>
                <a:ext cx="2568267" cy="369332"/>
              </a:xfrm>
              <a:prstGeom prst="rect">
                <a:avLst/>
              </a:prstGeom>
              <a:blipFill>
                <a:blip r:embed="rId4"/>
                <a:stretch>
                  <a:fillRect t="-10000" r="-1663" b="-26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49767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804CF9-FBDB-47DA-8AF8-8384457474FB}"/>
              </a:ext>
            </a:extLst>
          </p:cNvPr>
          <p:cNvSpPr>
            <a:spLocks noGrp="1"/>
          </p:cNvSpPr>
          <p:nvPr>
            <p:ph type="title"/>
          </p:nvPr>
        </p:nvSpPr>
        <p:spPr>
          <a:xfrm>
            <a:off x="684213" y="966543"/>
            <a:ext cx="7886700" cy="839744"/>
          </a:xfrm>
        </p:spPr>
        <p:txBody>
          <a:bodyPr/>
          <a:lstStyle/>
          <a:p>
            <a:r>
              <a:rPr lang="en-US" altLang="zh-CN" dirty="0"/>
              <a:t>4.2  </a:t>
            </a:r>
            <a:r>
              <a:rPr lang="zh-CN" altLang="zh-CN" dirty="0"/>
              <a:t>自相关各态历经</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98A9E9F-8C3E-49B4-8AAF-064DD59AC42E}"/>
                  </a:ext>
                </a:extLst>
              </p:cNvPr>
              <p:cNvSpPr>
                <a:spLocks noGrp="1"/>
              </p:cNvSpPr>
              <p:nvPr>
                <p:ph idx="1"/>
              </p:nvPr>
            </p:nvSpPr>
            <p:spPr>
              <a:xfrm>
                <a:off x="684213" y="1806286"/>
                <a:ext cx="7772400" cy="3782291"/>
              </a:xfrm>
            </p:spPr>
            <p:txBody>
              <a:bodyPr>
                <a:normAutofit lnSpcReduction="10000"/>
              </a:bodyPr>
              <a:lstStyle/>
              <a:p>
                <a:pPr marL="0" indent="0">
                  <a:buNone/>
                </a:pPr>
                <a:r>
                  <a:rPr lang="en-US" altLang="zh-CN" dirty="0">
                    <a:latin typeface="+mj-lt"/>
                  </a:rPr>
                  <a:t>1</a:t>
                </a:r>
                <a:r>
                  <a:rPr lang="zh-CN" altLang="zh-CN" dirty="0">
                    <a:latin typeface="+mj-lt"/>
                  </a:rPr>
                  <a:t>．时间自相关函数</a:t>
                </a:r>
              </a:p>
              <a:p>
                <a:pPr marL="0" indent="0">
                  <a:buNone/>
                </a:pPr>
                <a:r>
                  <a:rPr lang="zh-CN" altLang="zh-CN" dirty="0"/>
                  <a:t>对固定的</a:t>
                </a:r>
                <a14:m>
                  <m:oMath xmlns:m="http://schemas.openxmlformats.org/officeDocument/2006/math">
                    <m:r>
                      <a:rPr lang="en-US" altLang="zh-CN" i="1">
                        <a:latin typeface="Cambria Math" panose="02040503050406030204" pitchFamily="18" charset="0"/>
                      </a:rPr>
                      <m:t>𝝉</m:t>
                    </m:r>
                  </m:oMath>
                </a14:m>
                <a:r>
                  <a:rPr lang="zh-CN" altLang="zh-CN" dirty="0"/>
                  <a:t>，下列极限存在</a:t>
                </a:r>
                <a:endParaRPr lang="en-US" altLang="zh-CN" dirty="0"/>
              </a:p>
              <a:p>
                <a:pPr marL="0" indent="0" algn="ctr">
                  <a:buNone/>
                </a:pPr>
                <a:r>
                  <a:rPr lang="zh-CN" altLang="zh-CN" dirty="0">
                    <a:solidFill>
                      <a:srgbClr val="FF0000"/>
                    </a:solidFill>
                  </a:rPr>
                  <a:t> </a:t>
                </a:r>
                <a14:m>
                  <m:oMath xmlns:m="http://schemas.openxmlformats.org/officeDocument/2006/math">
                    <m:d>
                      <m:dPr>
                        <m:begChr m:val="⟨"/>
                        <m:endChr m:val="⟩"/>
                        <m:ctrlPr>
                          <a:rPr lang="zh-CN" altLang="zh-CN" i="1">
                            <a:solidFill>
                              <a:srgbClr val="FF0000"/>
                            </a:solidFill>
                            <a:latin typeface="Cambria Math" panose="02040503050406030204" pitchFamily="18" charset="0"/>
                          </a:rPr>
                        </m:ctrlPr>
                      </m:dPr>
                      <m:e>
                        <m:sSup>
                          <m:sSupPr>
                            <m:ctrlPr>
                              <a:rPr lang="zh-CN" altLang="zh-CN" i="1">
                                <a:solidFill>
                                  <a:srgbClr val="FF0000"/>
                                </a:solidFill>
                                <a:latin typeface="Cambria Math" panose="02040503050406030204" pitchFamily="18" charset="0"/>
                              </a:rPr>
                            </m:ctrlPr>
                          </m:sSupPr>
                          <m:e>
                            <m:r>
                              <a:rPr lang="en-US" altLang="zh-CN" i="1">
                                <a:solidFill>
                                  <a:srgbClr val="FF0000"/>
                                </a:solidFill>
                                <a:latin typeface="Cambria Math" panose="02040503050406030204" pitchFamily="18" charset="0"/>
                              </a:rPr>
                              <m:t>𝑿</m:t>
                            </m:r>
                          </m:e>
                          <m:sup>
                            <m:r>
                              <a:rPr lang="en-US" altLang="zh-CN" i="1">
                                <a:solidFill>
                                  <a:srgbClr val="FF0000"/>
                                </a:solidFill>
                                <a:latin typeface="Cambria Math" panose="02040503050406030204" pitchFamily="18" charset="0"/>
                              </a:rPr>
                              <m:t>∗</m:t>
                            </m:r>
                          </m:sup>
                        </m:sSup>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𝒕</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𝑿</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𝒕</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𝝉</m:t>
                        </m:r>
                        <m:r>
                          <a:rPr lang="en-US" altLang="zh-CN" i="1">
                            <a:solidFill>
                              <a:srgbClr val="FF0000"/>
                            </a:solidFill>
                            <a:latin typeface="Cambria Math" panose="02040503050406030204" pitchFamily="18" charset="0"/>
                          </a:rPr>
                          <m:t>)</m:t>
                        </m:r>
                      </m:e>
                    </m:d>
                    <m:r>
                      <a:rPr lang="en-US" altLang="zh-CN" i="1">
                        <a:solidFill>
                          <a:srgbClr val="FF0000"/>
                        </a:solidFill>
                        <a:latin typeface="Cambria Math" panose="02040503050406030204" pitchFamily="18" charset="0"/>
                      </a:rPr>
                      <m:t>=</m:t>
                    </m:r>
                    <m:limLow>
                      <m:limLowPr>
                        <m:ctrlPr>
                          <a:rPr lang="zh-CN" altLang="zh-CN" i="1">
                            <a:solidFill>
                              <a:srgbClr val="FF0000"/>
                            </a:solidFill>
                            <a:latin typeface="Cambria Math" panose="02040503050406030204" pitchFamily="18" charset="0"/>
                          </a:rPr>
                        </m:ctrlPr>
                      </m:limLowPr>
                      <m:e>
                        <m:r>
                          <a:rPr lang="en-US" altLang="zh-CN" i="1">
                            <a:solidFill>
                              <a:srgbClr val="FF0000"/>
                            </a:solidFill>
                            <a:latin typeface="Cambria Math" panose="02040503050406030204" pitchFamily="18" charset="0"/>
                          </a:rPr>
                          <m:t>𝒍𝒊𝒎</m:t>
                        </m:r>
                      </m:e>
                      <m:lim>
                        <m:r>
                          <a:rPr lang="en-US" altLang="zh-CN" i="1">
                            <a:solidFill>
                              <a:srgbClr val="FF0000"/>
                            </a:solidFill>
                            <a:latin typeface="Cambria Math" panose="02040503050406030204" pitchFamily="18" charset="0"/>
                          </a:rPr>
                          <m:t>𝑻</m:t>
                        </m:r>
                        <m:r>
                          <a:rPr lang="en-US" altLang="zh-CN" i="1">
                            <a:solidFill>
                              <a:srgbClr val="FF0000"/>
                            </a:solidFill>
                            <a:latin typeface="Cambria Math" panose="02040503050406030204" pitchFamily="18" charset="0"/>
                          </a:rPr>
                          <m:t>→∞</m:t>
                        </m:r>
                      </m:lim>
                    </m:limLow>
                    <m:f>
                      <m:fPr>
                        <m:ctrlPr>
                          <a:rPr lang="zh-CN" altLang="zh-CN" i="1">
                            <a:solidFill>
                              <a:srgbClr val="FF0000"/>
                            </a:solidFill>
                            <a:latin typeface="Cambria Math" panose="02040503050406030204" pitchFamily="18" charset="0"/>
                          </a:rPr>
                        </m:ctrlPr>
                      </m:fPr>
                      <m:num>
                        <m:r>
                          <a:rPr lang="en-US" altLang="zh-CN" i="1">
                            <a:solidFill>
                              <a:srgbClr val="FF0000"/>
                            </a:solidFill>
                            <a:latin typeface="Cambria Math" panose="02040503050406030204" pitchFamily="18" charset="0"/>
                          </a:rPr>
                          <m:t>𝟏</m:t>
                        </m:r>
                      </m:num>
                      <m:den>
                        <m:r>
                          <a:rPr lang="en-US" altLang="zh-CN" i="1">
                            <a:solidFill>
                              <a:srgbClr val="FF0000"/>
                            </a:solidFill>
                            <a:latin typeface="Cambria Math" panose="02040503050406030204" pitchFamily="18" charset="0"/>
                          </a:rPr>
                          <m:t>𝟐</m:t>
                        </m:r>
                        <m:r>
                          <a:rPr lang="en-US" altLang="zh-CN" i="1">
                            <a:solidFill>
                              <a:srgbClr val="FF0000"/>
                            </a:solidFill>
                            <a:latin typeface="Cambria Math" panose="02040503050406030204" pitchFamily="18" charset="0"/>
                          </a:rPr>
                          <m:t>𝑻</m:t>
                        </m:r>
                      </m:den>
                    </m:f>
                    <m:nary>
                      <m:naryPr>
                        <m:ctrlPr>
                          <a:rPr lang="zh-CN" altLang="zh-CN" i="1">
                            <a:solidFill>
                              <a:srgbClr val="FF0000"/>
                            </a:solidFill>
                            <a:latin typeface="Cambria Math" panose="02040503050406030204" pitchFamily="18" charset="0"/>
                          </a:rPr>
                        </m:ctrlPr>
                      </m:naryPr>
                      <m:sub>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𝑻</m:t>
                        </m:r>
                      </m:sub>
                      <m:sup>
                        <m:r>
                          <a:rPr lang="en-US" altLang="zh-CN" i="1">
                            <a:solidFill>
                              <a:srgbClr val="FF0000"/>
                            </a:solidFill>
                            <a:latin typeface="Cambria Math" panose="02040503050406030204" pitchFamily="18" charset="0"/>
                          </a:rPr>
                          <m:t>𝑻</m:t>
                        </m:r>
                      </m:sup>
                      <m:e>
                        <m:sSup>
                          <m:sSupPr>
                            <m:ctrlPr>
                              <a:rPr lang="zh-CN" altLang="zh-CN" i="1">
                                <a:solidFill>
                                  <a:srgbClr val="FF0000"/>
                                </a:solidFill>
                                <a:latin typeface="Cambria Math" panose="02040503050406030204" pitchFamily="18" charset="0"/>
                              </a:rPr>
                            </m:ctrlPr>
                          </m:sSupPr>
                          <m:e>
                            <m:r>
                              <a:rPr lang="en-US" altLang="zh-CN" i="1">
                                <a:solidFill>
                                  <a:srgbClr val="FF0000"/>
                                </a:solidFill>
                                <a:latin typeface="Cambria Math" panose="02040503050406030204" pitchFamily="18" charset="0"/>
                              </a:rPr>
                              <m:t>𝑿</m:t>
                            </m:r>
                          </m:e>
                          <m:sup>
                            <m:r>
                              <a:rPr lang="en-US" altLang="zh-CN" i="1">
                                <a:solidFill>
                                  <a:srgbClr val="FF0000"/>
                                </a:solidFill>
                                <a:latin typeface="Cambria Math" panose="02040503050406030204" pitchFamily="18" charset="0"/>
                              </a:rPr>
                              <m:t>∗</m:t>
                            </m:r>
                          </m:sup>
                        </m:sSup>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𝒕</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𝑿</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𝒕</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𝝉</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𝒅𝒕</m:t>
                        </m:r>
                      </m:e>
                    </m:nary>
                  </m:oMath>
                </a14:m>
                <a:r>
                  <a:rPr lang="zh-CN" altLang="zh-CN" dirty="0"/>
                  <a:t>，</a:t>
                </a:r>
              </a:p>
              <a:p>
                <a:pPr marL="0" indent="0">
                  <a:buNone/>
                </a:pPr>
                <a:r>
                  <a:rPr lang="zh-CN" altLang="zh-CN" dirty="0"/>
                  <a:t>则称</a:t>
                </a:r>
                <a14:m>
                  <m:oMath xmlns:m="http://schemas.openxmlformats.org/officeDocument/2006/math">
                    <m:d>
                      <m:dPr>
                        <m:begChr m:val="⟨"/>
                        <m:endChr m:val="⟩"/>
                        <m:ctrlPr>
                          <a:rPr lang="zh-CN" altLang="zh-CN" i="1">
                            <a:latin typeface="Cambria Math" panose="02040503050406030204" pitchFamily="18" charset="0"/>
                          </a:rPr>
                        </m:ctrlPr>
                      </m:dPr>
                      <m:e>
                        <m:sSup>
                          <m:sSupPr>
                            <m:ctrlPr>
                              <a:rPr lang="zh-CN" altLang="zh-CN" i="1">
                                <a:latin typeface="Cambria Math" panose="02040503050406030204" pitchFamily="18" charset="0"/>
                              </a:rPr>
                            </m:ctrlPr>
                          </m:sSupPr>
                          <m:e>
                            <m:r>
                              <a:rPr lang="en-US" altLang="zh-CN" i="1">
                                <a:latin typeface="Cambria Math" panose="02040503050406030204" pitchFamily="18" charset="0"/>
                              </a:rPr>
                              <m:t>𝑿</m:t>
                            </m:r>
                          </m:e>
                          <m:sup>
                            <m:r>
                              <a:rPr lang="en-US" altLang="zh-CN" i="1">
                                <a:latin typeface="Cambria Math" panose="02040503050406030204" pitchFamily="18" charset="0"/>
                              </a:rPr>
                              <m:t>∗</m:t>
                            </m:r>
                          </m:sup>
                        </m:sSup>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𝑿</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e>
                    </m:d>
                  </m:oMath>
                </a14:m>
                <a:r>
                  <a:rPr lang="zh-CN" altLang="zh-CN" dirty="0"/>
                  <a:t>为时间相关函数，为</a:t>
                </a:r>
                <a14:m>
                  <m:oMath xmlns:m="http://schemas.openxmlformats.org/officeDocument/2006/math">
                    <m:r>
                      <a:rPr lang="en-US" altLang="zh-CN" i="1">
                        <a:latin typeface="Cambria Math" panose="02040503050406030204" pitchFamily="18" charset="0"/>
                      </a:rPr>
                      <m:t>𝝉</m:t>
                    </m:r>
                  </m:oMath>
                </a14:m>
                <a:r>
                  <a:rPr lang="zh-CN" altLang="zh-CN" dirty="0"/>
                  <a:t>的函数。</a:t>
                </a:r>
              </a:p>
              <a:p>
                <a:pPr marL="0" indent="0">
                  <a:buNone/>
                </a:pPr>
                <a:r>
                  <a:rPr lang="zh-CN" altLang="zh-CN" dirty="0">
                    <a:highlight>
                      <a:srgbClr val="FFFF00"/>
                    </a:highlight>
                  </a:rPr>
                  <a:t>同样</a:t>
                </a:r>
                <a:r>
                  <a:rPr lang="zh-CN" altLang="en-US" dirty="0">
                    <a:highlight>
                      <a:srgbClr val="FFFF00"/>
                    </a:highlight>
                  </a:rPr>
                  <a:t>可以</a:t>
                </a:r>
                <a:r>
                  <a:rPr lang="zh-CN" altLang="zh-CN" dirty="0">
                    <a:highlight>
                      <a:srgbClr val="FFFF00"/>
                    </a:highlight>
                  </a:rPr>
                  <a:t>定义时间互相关函数</a:t>
                </a:r>
                <a:r>
                  <a:rPr lang="zh-CN" altLang="zh-CN" dirty="0"/>
                  <a:t>。</a:t>
                </a:r>
              </a:p>
              <a:p>
                <a:pPr marL="0" indent="0">
                  <a:buNone/>
                </a:pPr>
                <a:r>
                  <a:rPr lang="en-US" altLang="zh-CN" dirty="0"/>
                  <a:t>2</a:t>
                </a:r>
                <a:r>
                  <a:rPr lang="zh-CN" altLang="zh-CN" dirty="0"/>
                  <a:t>．自相关各态历经</a:t>
                </a:r>
                <a:r>
                  <a:rPr lang="zh-CN" altLang="en-US" dirty="0"/>
                  <a:t>：平稳随机过程</a:t>
                </a:r>
                <a14:m>
                  <m:oMath xmlns:m="http://schemas.openxmlformats.org/officeDocument/2006/math">
                    <m:r>
                      <a:rPr lang="en-US" altLang="zh-CN" i="1">
                        <a:latin typeface="Cambria Math" panose="02040503050406030204" pitchFamily="18" charset="0"/>
                      </a:rPr>
                      <m:t>𝑿</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zh-CN" altLang="en-US" i="1">
                        <a:latin typeface="Cambria Math" panose="02040503050406030204" pitchFamily="18" charset="0"/>
                      </a:rPr>
                      <m:t>，</m:t>
                    </m:r>
                  </m:oMath>
                </a14:m>
                <a:r>
                  <a:rPr lang="zh-CN" altLang="en-US" dirty="0"/>
                  <a:t>若</a:t>
                </a:r>
                <a:endParaRPr lang="zh-CN" altLang="zh-CN" dirty="0"/>
              </a:p>
              <a:p>
                <a:pPr marL="0" indent="0">
                  <a:lnSpc>
                    <a:spcPct val="150000"/>
                  </a:lnSpc>
                  <a:buNone/>
                </a:pPr>
                <a14:m>
                  <m:oMathPara xmlns:m="http://schemas.openxmlformats.org/officeDocument/2006/math">
                    <m:oMathParaPr>
                      <m:jc m:val="centerGroup"/>
                    </m:oMathParaPr>
                    <m:oMath xmlns:m="http://schemas.openxmlformats.org/officeDocument/2006/math">
                      <m:d>
                        <m:dPr>
                          <m:begChr m:val="⟨"/>
                          <m:endChr m:val="⟩"/>
                          <m:ctrlPr>
                            <a:rPr lang="zh-CN" altLang="zh-CN" i="1" smtClean="0">
                              <a:solidFill>
                                <a:srgbClr val="FF0000"/>
                              </a:solidFill>
                              <a:latin typeface="Cambria Math" panose="02040503050406030204" pitchFamily="18" charset="0"/>
                            </a:rPr>
                          </m:ctrlPr>
                        </m:dPr>
                        <m:e>
                          <m:sSup>
                            <m:sSupPr>
                              <m:ctrlPr>
                                <a:rPr lang="zh-CN" altLang="zh-CN" i="1">
                                  <a:solidFill>
                                    <a:srgbClr val="FF0000"/>
                                  </a:solidFill>
                                  <a:latin typeface="Cambria Math" panose="02040503050406030204" pitchFamily="18" charset="0"/>
                                </a:rPr>
                              </m:ctrlPr>
                            </m:sSupPr>
                            <m:e>
                              <m:r>
                                <a:rPr lang="en-US" altLang="zh-CN" i="1">
                                  <a:solidFill>
                                    <a:srgbClr val="FF0000"/>
                                  </a:solidFill>
                                  <a:latin typeface="Cambria Math" panose="02040503050406030204" pitchFamily="18" charset="0"/>
                                </a:rPr>
                                <m:t>𝑿</m:t>
                              </m:r>
                            </m:e>
                            <m:sup>
                              <m:r>
                                <a:rPr lang="en-US" altLang="zh-CN" i="1">
                                  <a:solidFill>
                                    <a:srgbClr val="FF0000"/>
                                  </a:solidFill>
                                  <a:latin typeface="Cambria Math" panose="02040503050406030204" pitchFamily="18" charset="0"/>
                                </a:rPr>
                                <m:t>∗</m:t>
                              </m:r>
                            </m:sup>
                          </m:sSup>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𝒕</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𝑿</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𝒕</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𝝉</m:t>
                          </m:r>
                          <m:r>
                            <a:rPr lang="en-US" altLang="zh-CN" i="1">
                              <a:solidFill>
                                <a:srgbClr val="FF0000"/>
                              </a:solidFill>
                              <a:latin typeface="Cambria Math" panose="02040503050406030204" pitchFamily="18" charset="0"/>
                            </a:rPr>
                            <m:t>)</m:t>
                          </m:r>
                        </m:e>
                      </m:d>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𝑬</m:t>
                      </m:r>
                      <m:r>
                        <a:rPr lang="en-US" altLang="zh-CN" i="1">
                          <a:solidFill>
                            <a:srgbClr val="FF0000"/>
                          </a:solidFill>
                          <a:latin typeface="Cambria Math" panose="02040503050406030204" pitchFamily="18" charset="0"/>
                        </a:rPr>
                        <m:t>[</m:t>
                      </m:r>
                      <m:sSup>
                        <m:sSupPr>
                          <m:ctrlPr>
                            <a:rPr lang="zh-CN" altLang="zh-CN" i="1">
                              <a:solidFill>
                                <a:srgbClr val="FF0000"/>
                              </a:solidFill>
                              <a:latin typeface="Cambria Math" panose="02040503050406030204" pitchFamily="18" charset="0"/>
                            </a:rPr>
                          </m:ctrlPr>
                        </m:sSupPr>
                        <m:e>
                          <m:r>
                            <a:rPr lang="en-US" altLang="zh-CN" i="1">
                              <a:solidFill>
                                <a:srgbClr val="FF0000"/>
                              </a:solidFill>
                              <a:latin typeface="Cambria Math" panose="02040503050406030204" pitchFamily="18" charset="0"/>
                            </a:rPr>
                            <m:t>𝑿</m:t>
                          </m:r>
                        </m:e>
                        <m:sup>
                          <m:r>
                            <a:rPr lang="en-US" altLang="zh-CN" i="1">
                              <a:solidFill>
                                <a:srgbClr val="FF0000"/>
                              </a:solidFill>
                              <a:latin typeface="Cambria Math" panose="02040503050406030204" pitchFamily="18" charset="0"/>
                            </a:rPr>
                            <m:t>∗</m:t>
                          </m:r>
                        </m:sup>
                      </m:sSup>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𝒕</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𝑿</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𝒕</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𝝉</m:t>
                      </m:r>
                      <m:r>
                        <a:rPr lang="en-US" altLang="zh-CN" i="1">
                          <a:solidFill>
                            <a:srgbClr val="FF0000"/>
                          </a:solidFill>
                          <a:latin typeface="Cambria Math" panose="02040503050406030204" pitchFamily="18" charset="0"/>
                        </a:rPr>
                        <m:t>)]</m:t>
                      </m:r>
                    </m:oMath>
                  </m:oMathPara>
                </a14:m>
                <a:endParaRPr lang="en-US" altLang="zh-CN" dirty="0">
                  <a:solidFill>
                    <a:srgbClr val="FF0000"/>
                  </a:solidFill>
                </a:endParaRPr>
              </a:p>
              <a:p>
                <a:pPr marL="0" indent="0">
                  <a:buNone/>
                </a:pPr>
                <a:r>
                  <a:rPr lang="zh-CN" altLang="zh-CN" dirty="0"/>
                  <a:t>以概率</a:t>
                </a:r>
                <a:r>
                  <a:rPr lang="en-US" altLang="zh-CN" dirty="0"/>
                  <a:t>1</a:t>
                </a:r>
                <a:r>
                  <a:rPr lang="zh-CN" altLang="zh-CN" dirty="0"/>
                  <a:t>成立，</a:t>
                </a:r>
                <a:r>
                  <a:rPr lang="zh-CN" altLang="en-US" dirty="0"/>
                  <a:t>则称其自</a:t>
                </a:r>
                <a:r>
                  <a:rPr lang="zh-CN" altLang="zh-CN" dirty="0"/>
                  <a:t>相关函数各态历经。</a:t>
                </a:r>
              </a:p>
              <a:p>
                <a:endParaRPr lang="zh-CN" altLang="en-US" dirty="0"/>
              </a:p>
            </p:txBody>
          </p:sp>
        </mc:Choice>
        <mc:Fallback xmlns="">
          <p:sp>
            <p:nvSpPr>
              <p:cNvPr id="3" name="内容占位符 2">
                <a:extLst>
                  <a:ext uri="{FF2B5EF4-FFF2-40B4-BE49-F238E27FC236}">
                    <a16:creationId xmlns:a16="http://schemas.microsoft.com/office/drawing/2014/main" id="{E98A9E9F-8C3E-49B4-8AAF-064DD59AC42E}"/>
                  </a:ext>
                </a:extLst>
              </p:cNvPr>
              <p:cNvSpPr>
                <a:spLocks noGrp="1" noRot="1" noChangeAspect="1" noMove="1" noResize="1" noEditPoints="1" noAdjustHandles="1" noChangeArrowheads="1" noChangeShapeType="1" noTextEdit="1"/>
              </p:cNvSpPr>
              <p:nvPr>
                <p:ph idx="1"/>
              </p:nvPr>
            </p:nvSpPr>
            <p:spPr>
              <a:xfrm>
                <a:off x="684213" y="1806286"/>
                <a:ext cx="7772400" cy="3782291"/>
              </a:xfrm>
              <a:blipFill>
                <a:blip r:embed="rId2"/>
                <a:stretch>
                  <a:fillRect l="-941" t="-1127" b="-32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451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475168-CB4F-440B-8EB3-70FD85EB3513}"/>
              </a:ext>
            </a:extLst>
          </p:cNvPr>
          <p:cNvSpPr>
            <a:spLocks noGrp="1"/>
          </p:cNvSpPr>
          <p:nvPr>
            <p:ph type="title"/>
          </p:nvPr>
        </p:nvSpPr>
        <p:spPr/>
        <p:txBody>
          <a:bodyPr/>
          <a:lstStyle/>
          <a:p>
            <a:r>
              <a:rPr lang="en-US" altLang="zh-CN" dirty="0"/>
              <a:t>4.3  </a:t>
            </a:r>
            <a:r>
              <a:rPr lang="zh-CN" altLang="zh-CN" dirty="0"/>
              <a:t>各态历经信号和特性</a:t>
            </a:r>
            <a:endParaRPr lang="zh-CN" altLang="en-US" dirty="0"/>
          </a:p>
        </p:txBody>
      </p:sp>
      <p:sp>
        <p:nvSpPr>
          <p:cNvPr id="3" name="内容占位符 2">
            <a:extLst>
              <a:ext uri="{FF2B5EF4-FFF2-40B4-BE49-F238E27FC236}">
                <a16:creationId xmlns:a16="http://schemas.microsoft.com/office/drawing/2014/main" id="{4214BE46-9F25-4EBC-8454-2BDC34C1132A}"/>
              </a:ext>
            </a:extLst>
          </p:cNvPr>
          <p:cNvSpPr>
            <a:spLocks noGrp="1"/>
          </p:cNvSpPr>
          <p:nvPr>
            <p:ph idx="1"/>
          </p:nvPr>
        </p:nvSpPr>
        <p:spPr>
          <a:xfrm>
            <a:off x="498763" y="1970839"/>
            <a:ext cx="8444345" cy="3592874"/>
          </a:xfrm>
        </p:spPr>
        <p:txBody>
          <a:bodyPr/>
          <a:lstStyle/>
          <a:p>
            <a:pPr marL="0" indent="0">
              <a:buNone/>
            </a:pPr>
            <a:r>
              <a:rPr lang="en-US" altLang="zh-CN" dirty="0">
                <a:solidFill>
                  <a:schemeClr val="accent2"/>
                </a:solidFill>
              </a:rPr>
              <a:t>1. </a:t>
            </a:r>
            <a:r>
              <a:rPr lang="zh-CN" altLang="zh-CN" dirty="0">
                <a:solidFill>
                  <a:schemeClr val="accent2"/>
                </a:solidFill>
              </a:rPr>
              <a:t>定义</a:t>
            </a:r>
          </a:p>
          <a:p>
            <a:pPr>
              <a:lnSpc>
                <a:spcPct val="150000"/>
              </a:lnSpc>
              <a:buFont typeface="Wingdings" panose="05000000000000000000" pitchFamily="2" charset="2"/>
              <a:buChar char="p"/>
            </a:pPr>
            <a:r>
              <a:rPr lang="zh-CN" altLang="zh-CN" dirty="0">
                <a:highlight>
                  <a:srgbClr val="FFFF00"/>
                </a:highlight>
              </a:rPr>
              <a:t>如果平稳过程的均值和相关函数都具有各态历经性，则过程为各态历经过程。</a:t>
            </a:r>
          </a:p>
          <a:p>
            <a:pPr>
              <a:lnSpc>
                <a:spcPct val="150000"/>
              </a:lnSpc>
              <a:buFont typeface="Wingdings" panose="05000000000000000000" pitchFamily="2" charset="2"/>
              <a:buChar char="p"/>
            </a:pPr>
            <a:r>
              <a:rPr lang="zh-CN" altLang="zh-CN" dirty="0"/>
              <a:t>因此对各态历经过程，</a:t>
            </a:r>
            <a:r>
              <a:rPr lang="zh-CN" altLang="en-US" dirty="0"/>
              <a:t>可以</a:t>
            </a:r>
            <a:r>
              <a:rPr lang="zh-CN" altLang="zh-CN" dirty="0">
                <a:solidFill>
                  <a:srgbClr val="FF0000"/>
                </a:solidFill>
              </a:rPr>
              <a:t>用时间平均代替集合平均</a:t>
            </a:r>
            <a:r>
              <a:rPr lang="zh-CN" altLang="zh-CN" dirty="0"/>
              <a:t>，简化运算。</a:t>
            </a:r>
            <a:endParaRPr lang="en-US" altLang="zh-CN" dirty="0"/>
          </a:p>
          <a:p>
            <a:pPr>
              <a:lnSpc>
                <a:spcPct val="150000"/>
              </a:lnSpc>
              <a:buFont typeface="Wingdings" panose="05000000000000000000" pitchFamily="2" charset="2"/>
              <a:buChar char="p"/>
            </a:pPr>
            <a:r>
              <a:rPr lang="zh-CN" altLang="en-US" dirty="0"/>
              <a:t>例如：</a:t>
            </a:r>
            <a:r>
              <a:rPr lang="zh-CN" altLang="zh-CN" dirty="0"/>
              <a:t>用一部接收机，在相同条件下，对其噪声电压作长时间观测，对观测值进行时间平均求数字特征。</a:t>
            </a:r>
          </a:p>
          <a:p>
            <a:endParaRPr lang="zh-CN" altLang="en-US" dirty="0"/>
          </a:p>
        </p:txBody>
      </p:sp>
    </p:spTree>
    <p:extLst>
      <p:ext uri="{BB962C8B-B14F-4D97-AF65-F5344CB8AC3E}">
        <p14:creationId xmlns:p14="http://schemas.microsoft.com/office/powerpoint/2010/main" val="274319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3">
                <a:extLst>
                  <a:ext uri="{FF2B5EF4-FFF2-40B4-BE49-F238E27FC236}">
                    <a16:creationId xmlns:a16="http://schemas.microsoft.com/office/drawing/2014/main" id="{A3715A9D-8F4F-4A08-AAD2-F9BDCBA8A380}"/>
                  </a:ext>
                </a:extLst>
              </p:cNvPr>
              <p:cNvSpPr>
                <a:spLocks noGrp="1"/>
              </p:cNvSpPr>
              <p:nvPr>
                <p:ph idx="1"/>
              </p:nvPr>
            </p:nvSpPr>
            <p:spPr>
              <a:xfrm>
                <a:off x="684213" y="1085851"/>
                <a:ext cx="7772400" cy="4468091"/>
              </a:xfrm>
            </p:spPr>
            <p:txBody>
              <a:bodyPr/>
              <a:lstStyle/>
              <a:p>
                <a:pPr marL="0" indent="0">
                  <a:lnSpc>
                    <a:spcPct val="150000"/>
                  </a:lnSpc>
                  <a:buNone/>
                </a:pPr>
                <a:r>
                  <a:rPr lang="en-US" altLang="zh-CN" dirty="0">
                    <a:solidFill>
                      <a:schemeClr val="accent2"/>
                    </a:solidFill>
                  </a:rPr>
                  <a:t>2. </a:t>
                </a:r>
                <a:r>
                  <a:rPr lang="zh-CN" altLang="zh-CN" dirty="0">
                    <a:solidFill>
                      <a:schemeClr val="accent2"/>
                    </a:solidFill>
                  </a:rPr>
                  <a:t>均值、方差、均方值的物理意义</a:t>
                </a:r>
                <a:endParaRPr lang="en-US" altLang="zh-CN" dirty="0">
                  <a:solidFill>
                    <a:schemeClr val="accent2"/>
                  </a:solidFill>
                </a:endParaRPr>
              </a:p>
              <a:p>
                <a:pPr marL="0" indent="0">
                  <a:lnSpc>
                    <a:spcPct val="150000"/>
                  </a:lnSpc>
                  <a:buNone/>
                </a:pPr>
                <a:r>
                  <a:rPr lang="zh-CN" altLang="en-US" dirty="0"/>
                  <a:t>引入各态历经性后，随机信号的数字特征有这清晰的物理意义。</a:t>
                </a:r>
                <a:endParaRPr lang="en-US" altLang="zh-CN" dirty="0"/>
              </a:p>
              <a:p>
                <a:pPr marL="0" indent="0">
                  <a:buNone/>
                </a:pPr>
                <a:r>
                  <a:rPr lang="zh-CN" altLang="en-US" dirty="0"/>
                  <a:t>（</a:t>
                </a:r>
                <a:r>
                  <a:rPr lang="en-US" altLang="zh-CN" dirty="0"/>
                  <a:t>1</a:t>
                </a:r>
                <a:r>
                  <a:rPr lang="zh-CN" altLang="en-US" dirty="0"/>
                  <a:t>）</a:t>
                </a:r>
                <a:r>
                  <a:rPr lang="zh-CN" altLang="en-US" dirty="0">
                    <a:highlight>
                      <a:srgbClr val="00FFFF"/>
                    </a:highlight>
                  </a:rPr>
                  <a:t>信号的均值等于直流分量的振幅</a:t>
                </a:r>
                <a:r>
                  <a:rPr lang="zh-CN" altLang="en-US" dirty="0"/>
                  <a:t>，即</a:t>
                </a:r>
                <a:endParaRPr lang="en-US" altLang="zh-CN" dirty="0"/>
              </a:p>
              <a:p>
                <a:pPr marL="0" indent="0" algn="ctr">
                  <a:buNone/>
                </a:pPr>
                <a14:m>
                  <m:oMath xmlns:m="http://schemas.openxmlformats.org/officeDocument/2006/math">
                    <m:sSub>
                      <m:sSubPr>
                        <m:ctrlPr>
                          <a:rPr lang="en-US" altLang="zh-CN" i="1" smtClean="0">
                            <a:solidFill>
                              <a:srgbClr val="FF0000"/>
                            </a:solidFill>
                            <a:latin typeface="Cambria Math" panose="02040503050406030204" pitchFamily="18" charset="0"/>
                          </a:rPr>
                        </m:ctrlPr>
                      </m:sSubPr>
                      <m:e>
                        <m:r>
                          <a:rPr lang="en-US" altLang="zh-CN" b="1" i="1" smtClean="0">
                            <a:solidFill>
                              <a:srgbClr val="FF0000"/>
                            </a:solidFill>
                            <a:latin typeface="Cambria Math" panose="02040503050406030204" pitchFamily="18" charset="0"/>
                          </a:rPr>
                          <m:t>𝒎</m:t>
                        </m:r>
                      </m:e>
                      <m:sub>
                        <m:r>
                          <a:rPr lang="en-US" altLang="zh-CN" b="1" i="1" smtClean="0">
                            <a:solidFill>
                              <a:srgbClr val="FF0000"/>
                            </a:solidFill>
                            <a:latin typeface="Cambria Math" panose="02040503050406030204" pitchFamily="18" charset="0"/>
                          </a:rPr>
                          <m:t>𝑿</m:t>
                        </m:r>
                      </m:sub>
                    </m:sSub>
                    <m:r>
                      <a:rPr lang="en-US" altLang="zh-CN" b="1" i="1" smtClean="0">
                        <a:solidFill>
                          <a:srgbClr val="FF0000"/>
                        </a:solidFill>
                        <a:latin typeface="Cambria Math" panose="02040503050406030204" pitchFamily="18" charset="0"/>
                      </a:rPr>
                      <m:t>=</m:t>
                    </m:r>
                    <m:func>
                      <m:funcPr>
                        <m:ctrlPr>
                          <a:rPr lang="en-US" altLang="zh-CN" b="1" i="1" smtClean="0">
                            <a:solidFill>
                              <a:srgbClr val="FF0000"/>
                            </a:solidFill>
                            <a:latin typeface="Cambria Math" panose="02040503050406030204" pitchFamily="18" charset="0"/>
                          </a:rPr>
                        </m:ctrlPr>
                      </m:funcPr>
                      <m:fName>
                        <m:limLow>
                          <m:limLowPr>
                            <m:ctrlPr>
                              <a:rPr lang="en-US" altLang="zh-CN" b="1" i="1" smtClean="0">
                                <a:solidFill>
                                  <a:srgbClr val="FF0000"/>
                                </a:solidFill>
                                <a:latin typeface="Cambria Math" panose="02040503050406030204" pitchFamily="18" charset="0"/>
                              </a:rPr>
                            </m:ctrlPr>
                          </m:limLowPr>
                          <m:e>
                            <m:r>
                              <m:rPr>
                                <m:sty m:val="p"/>
                              </m:rPr>
                              <a:rPr lang="en-US" altLang="zh-CN" b="0" i="0" smtClean="0">
                                <a:solidFill>
                                  <a:srgbClr val="FF0000"/>
                                </a:solidFill>
                                <a:latin typeface="Cambria Math" panose="02040503050406030204" pitchFamily="18" charset="0"/>
                              </a:rPr>
                              <m:t>lim</m:t>
                            </m:r>
                          </m:e>
                          <m:lim>
                            <m:r>
                              <a:rPr lang="en-US" altLang="zh-CN" b="1" i="1" smtClean="0">
                                <a:solidFill>
                                  <a:srgbClr val="FF0000"/>
                                </a:solidFill>
                                <a:latin typeface="Cambria Math" panose="02040503050406030204" pitchFamily="18" charset="0"/>
                              </a:rPr>
                              <m:t>𝑻</m:t>
                            </m:r>
                            <m:r>
                              <a:rPr lang="en-US" altLang="zh-CN" b="1" i="1" smtClean="0">
                                <a:solidFill>
                                  <a:srgbClr val="FF0000"/>
                                </a:solidFill>
                                <a:latin typeface="Cambria Math" panose="02040503050406030204" pitchFamily="18" charset="0"/>
                                <a:ea typeface="Cambria Math" panose="02040503050406030204" pitchFamily="18" charset="0"/>
                              </a:rPr>
                              <m:t>→∞</m:t>
                            </m:r>
                          </m:lim>
                        </m:limLow>
                      </m:fName>
                      <m:e>
                        <m:f>
                          <m:fPr>
                            <m:ctrlPr>
                              <a:rPr lang="en-US" altLang="zh-CN" b="1" i="1" smtClean="0">
                                <a:solidFill>
                                  <a:srgbClr val="FF0000"/>
                                </a:solidFill>
                                <a:latin typeface="Cambria Math" panose="02040503050406030204" pitchFamily="18" charset="0"/>
                              </a:rPr>
                            </m:ctrlPr>
                          </m:fPr>
                          <m:num>
                            <m:r>
                              <a:rPr lang="en-US" altLang="zh-CN" b="1" i="1" smtClean="0">
                                <a:solidFill>
                                  <a:srgbClr val="FF0000"/>
                                </a:solidFill>
                                <a:latin typeface="Cambria Math" panose="02040503050406030204" pitchFamily="18" charset="0"/>
                              </a:rPr>
                              <m:t>𝟏</m:t>
                            </m:r>
                          </m:num>
                          <m:den>
                            <m:r>
                              <a:rPr lang="en-US" altLang="zh-CN" b="1" i="1" smtClean="0">
                                <a:solidFill>
                                  <a:srgbClr val="FF0000"/>
                                </a:solidFill>
                                <a:latin typeface="Cambria Math" panose="02040503050406030204" pitchFamily="18" charset="0"/>
                              </a:rPr>
                              <m:t>𝟐</m:t>
                            </m:r>
                            <m:r>
                              <a:rPr lang="en-US" altLang="zh-CN" b="1" i="1" smtClean="0">
                                <a:solidFill>
                                  <a:srgbClr val="FF0000"/>
                                </a:solidFill>
                                <a:latin typeface="Cambria Math" panose="02040503050406030204" pitchFamily="18" charset="0"/>
                              </a:rPr>
                              <m:t>𝑻</m:t>
                            </m:r>
                          </m:den>
                        </m:f>
                      </m:e>
                    </m:func>
                    <m:nary>
                      <m:naryPr>
                        <m:ctrlPr>
                          <a:rPr lang="en-US" altLang="zh-CN" b="1" i="1" smtClean="0">
                            <a:solidFill>
                              <a:srgbClr val="FF0000"/>
                            </a:solidFill>
                            <a:latin typeface="Cambria Math" panose="02040503050406030204" pitchFamily="18" charset="0"/>
                          </a:rPr>
                        </m:ctrlPr>
                      </m:naryPr>
                      <m:sub>
                        <m:r>
                          <m:rPr>
                            <m:brk m:alnAt="23"/>
                          </m:rPr>
                          <a:rPr lang="en-US" altLang="zh-CN" b="1" i="1" smtClean="0">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𝑻</m:t>
                        </m:r>
                      </m:sub>
                      <m:sup>
                        <m:r>
                          <a:rPr lang="en-US" altLang="zh-CN" b="1" i="1" smtClean="0">
                            <a:solidFill>
                              <a:srgbClr val="FF0000"/>
                            </a:solidFill>
                            <a:latin typeface="Cambria Math" panose="02040503050406030204" pitchFamily="18" charset="0"/>
                          </a:rPr>
                          <m:t>𝑻</m:t>
                        </m:r>
                      </m:sup>
                      <m:e>
                        <m:r>
                          <a:rPr lang="en-US" altLang="zh-CN" b="1" i="1" smtClean="0">
                            <a:solidFill>
                              <a:srgbClr val="FF0000"/>
                            </a:solidFill>
                            <a:latin typeface="Cambria Math" panose="02040503050406030204" pitchFamily="18" charset="0"/>
                          </a:rPr>
                          <m:t>𝑿</m:t>
                        </m:r>
                        <m:d>
                          <m:dPr>
                            <m:ctrlPr>
                              <a:rPr lang="en-US" altLang="zh-CN" b="1" i="1" smtClean="0">
                                <a:solidFill>
                                  <a:srgbClr val="FF0000"/>
                                </a:solidFill>
                                <a:latin typeface="Cambria Math" panose="02040503050406030204" pitchFamily="18" charset="0"/>
                              </a:rPr>
                            </m:ctrlPr>
                          </m:dPr>
                          <m:e>
                            <m:r>
                              <a:rPr lang="en-US" altLang="zh-CN" b="1" i="1" smtClean="0">
                                <a:solidFill>
                                  <a:srgbClr val="FF0000"/>
                                </a:solidFill>
                                <a:latin typeface="Cambria Math" panose="02040503050406030204" pitchFamily="18" charset="0"/>
                              </a:rPr>
                              <m:t>𝒕</m:t>
                            </m:r>
                          </m:e>
                        </m:d>
                        <m:r>
                          <a:rPr lang="en-US" altLang="zh-CN" b="1" i="1" smtClean="0">
                            <a:solidFill>
                              <a:srgbClr val="FF0000"/>
                            </a:solidFill>
                            <a:latin typeface="Cambria Math" panose="02040503050406030204" pitchFamily="18" charset="0"/>
                          </a:rPr>
                          <m:t>𝒅𝒕</m:t>
                        </m:r>
                      </m:e>
                    </m:nary>
                    <m:r>
                      <a:rPr lang="en-US" altLang="zh-CN" b="1" i="1" smtClean="0">
                        <a:solidFill>
                          <a:srgbClr val="FF0000"/>
                        </a:solidFill>
                        <a:latin typeface="Cambria Math" panose="02040503050406030204" pitchFamily="18" charset="0"/>
                      </a:rPr>
                      <m:t>=</m:t>
                    </m:r>
                  </m:oMath>
                </a14:m>
                <a:r>
                  <a:rPr lang="zh-CN" altLang="en-US" dirty="0">
                    <a:solidFill>
                      <a:srgbClr val="FF0000"/>
                    </a:solidFill>
                  </a:rPr>
                  <a:t>直流分量振幅</a:t>
                </a:r>
                <a:endParaRPr lang="en-US" altLang="zh-CN" dirty="0">
                  <a:solidFill>
                    <a:srgbClr val="FF0000"/>
                  </a:solidFill>
                </a:endParaRPr>
              </a:p>
              <a:p>
                <a:pPr marL="0" indent="0">
                  <a:buNone/>
                </a:pPr>
                <a:r>
                  <a:rPr lang="zh-CN" altLang="en-US" dirty="0"/>
                  <a:t>（</a:t>
                </a:r>
                <a:r>
                  <a:rPr lang="en-US" altLang="zh-CN" dirty="0"/>
                  <a:t>2</a:t>
                </a:r>
                <a:r>
                  <a:rPr lang="zh-CN" altLang="en-US" dirty="0"/>
                  <a:t>）</a:t>
                </a:r>
                <a:r>
                  <a:rPr lang="zh-CN" altLang="en-US" dirty="0">
                    <a:highlight>
                      <a:srgbClr val="00FFFF"/>
                    </a:highlight>
                  </a:rPr>
                  <a:t>信号的方差等于交流平均功率</a:t>
                </a:r>
                <a:r>
                  <a:rPr lang="zh-CN" altLang="en-US" dirty="0"/>
                  <a:t>，即</a:t>
                </a:r>
                <a:endParaRPr lang="en-US" altLang="zh-CN" dirty="0"/>
              </a:p>
              <a:p>
                <a:pPr marL="0" indent="0" algn="ctr">
                  <a:buNone/>
                </a:pPr>
                <a14:m>
                  <m:oMath xmlns:m="http://schemas.openxmlformats.org/officeDocument/2006/math">
                    <m:sSup>
                      <m:sSupPr>
                        <m:ctrlPr>
                          <a:rPr lang="en-US" altLang="zh-CN" i="1" smtClean="0">
                            <a:solidFill>
                              <a:srgbClr val="FF0000"/>
                            </a:solidFill>
                            <a:latin typeface="Cambria Math" panose="02040503050406030204" pitchFamily="18" charset="0"/>
                          </a:rPr>
                        </m:ctrlPr>
                      </m:sSupPr>
                      <m:e>
                        <m:r>
                          <a:rPr lang="zh-CN" altLang="en-US" i="1" smtClean="0">
                            <a:solidFill>
                              <a:srgbClr val="FF0000"/>
                            </a:solidFill>
                            <a:latin typeface="Cambria Math" panose="02040503050406030204" pitchFamily="18" charset="0"/>
                          </a:rPr>
                          <m:t>𝝈</m:t>
                        </m:r>
                      </m:e>
                      <m:sup>
                        <m:r>
                          <a:rPr lang="en-US" altLang="zh-CN" b="1" i="1" smtClean="0">
                            <a:solidFill>
                              <a:srgbClr val="FF0000"/>
                            </a:solidFill>
                            <a:latin typeface="Cambria Math" panose="02040503050406030204" pitchFamily="18" charset="0"/>
                          </a:rPr>
                          <m:t>𝟐</m:t>
                        </m:r>
                      </m:sup>
                    </m:sSup>
                    <m:r>
                      <a:rPr lang="en-US" altLang="zh-CN" b="1" i="1" smtClean="0">
                        <a:solidFill>
                          <a:srgbClr val="FF0000"/>
                        </a:solidFill>
                        <a:latin typeface="Cambria Math" panose="02040503050406030204" pitchFamily="18" charset="0"/>
                      </a:rPr>
                      <m:t>=</m:t>
                    </m:r>
                    <m:func>
                      <m:funcPr>
                        <m:ctrlPr>
                          <a:rPr lang="en-US" altLang="zh-CN" i="1">
                            <a:solidFill>
                              <a:srgbClr val="FF0000"/>
                            </a:solidFill>
                            <a:latin typeface="Cambria Math" panose="02040503050406030204" pitchFamily="18" charset="0"/>
                          </a:rPr>
                        </m:ctrlPr>
                      </m:funcPr>
                      <m:fName>
                        <m:limLow>
                          <m:limLowPr>
                            <m:ctrlPr>
                              <a:rPr lang="en-US" altLang="zh-CN" i="1">
                                <a:solidFill>
                                  <a:srgbClr val="FF0000"/>
                                </a:solidFill>
                                <a:latin typeface="Cambria Math" panose="02040503050406030204" pitchFamily="18" charset="0"/>
                              </a:rPr>
                            </m:ctrlPr>
                          </m:limLowPr>
                          <m:e>
                            <m:r>
                              <m:rPr>
                                <m:sty m:val="p"/>
                              </m:rPr>
                              <a:rPr lang="en-US" altLang="zh-CN" b="0">
                                <a:solidFill>
                                  <a:srgbClr val="FF0000"/>
                                </a:solidFill>
                                <a:latin typeface="Cambria Math" panose="02040503050406030204" pitchFamily="18" charset="0"/>
                              </a:rPr>
                              <m:t>lim</m:t>
                            </m:r>
                          </m:e>
                          <m:lim>
                            <m:r>
                              <a:rPr lang="en-US" altLang="zh-CN" i="1">
                                <a:solidFill>
                                  <a:srgbClr val="FF0000"/>
                                </a:solidFill>
                                <a:latin typeface="Cambria Math" panose="02040503050406030204" pitchFamily="18" charset="0"/>
                              </a:rPr>
                              <m:t>𝑻</m:t>
                            </m:r>
                            <m:r>
                              <a:rPr lang="en-US" altLang="zh-CN" i="1">
                                <a:solidFill>
                                  <a:srgbClr val="FF0000"/>
                                </a:solidFill>
                                <a:latin typeface="Cambria Math" panose="02040503050406030204" pitchFamily="18" charset="0"/>
                                <a:ea typeface="Cambria Math" panose="02040503050406030204" pitchFamily="18" charset="0"/>
                              </a:rPr>
                              <m:t>→∞</m:t>
                            </m:r>
                          </m:lim>
                        </m:limLow>
                      </m:fName>
                      <m:e>
                        <m:f>
                          <m:fPr>
                            <m:ctrlPr>
                              <a:rPr lang="en-US" altLang="zh-CN" i="1">
                                <a:solidFill>
                                  <a:srgbClr val="FF0000"/>
                                </a:solidFill>
                                <a:latin typeface="Cambria Math" panose="02040503050406030204" pitchFamily="18" charset="0"/>
                              </a:rPr>
                            </m:ctrlPr>
                          </m:fPr>
                          <m:num>
                            <m:r>
                              <a:rPr lang="en-US" altLang="zh-CN" i="1">
                                <a:solidFill>
                                  <a:srgbClr val="FF0000"/>
                                </a:solidFill>
                                <a:latin typeface="Cambria Math" panose="02040503050406030204" pitchFamily="18" charset="0"/>
                              </a:rPr>
                              <m:t>𝟏</m:t>
                            </m:r>
                          </m:num>
                          <m:den>
                            <m:r>
                              <a:rPr lang="en-US" altLang="zh-CN" i="1">
                                <a:solidFill>
                                  <a:srgbClr val="FF0000"/>
                                </a:solidFill>
                                <a:latin typeface="Cambria Math" panose="02040503050406030204" pitchFamily="18" charset="0"/>
                              </a:rPr>
                              <m:t>𝟐</m:t>
                            </m:r>
                            <m:r>
                              <a:rPr lang="en-US" altLang="zh-CN" i="1">
                                <a:solidFill>
                                  <a:srgbClr val="FF0000"/>
                                </a:solidFill>
                                <a:latin typeface="Cambria Math" panose="02040503050406030204" pitchFamily="18" charset="0"/>
                              </a:rPr>
                              <m:t>𝑻</m:t>
                            </m:r>
                          </m:den>
                        </m:f>
                      </m:e>
                    </m:func>
                    <m:nary>
                      <m:naryPr>
                        <m:ctrlPr>
                          <a:rPr lang="en-US" altLang="zh-CN" i="1">
                            <a:solidFill>
                              <a:srgbClr val="FF0000"/>
                            </a:solidFill>
                            <a:latin typeface="Cambria Math" panose="02040503050406030204" pitchFamily="18" charset="0"/>
                          </a:rPr>
                        </m:ctrlPr>
                      </m:naryPr>
                      <m:sub>
                        <m:r>
                          <m:rPr>
                            <m:brk m:alnAt="23"/>
                          </m:rP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𝑻</m:t>
                        </m:r>
                      </m:sub>
                      <m:sup>
                        <m:r>
                          <a:rPr lang="en-US" altLang="zh-CN" i="1">
                            <a:solidFill>
                              <a:srgbClr val="FF0000"/>
                            </a:solidFill>
                            <a:latin typeface="Cambria Math" panose="02040503050406030204" pitchFamily="18" charset="0"/>
                          </a:rPr>
                          <m:t>𝑻</m:t>
                        </m:r>
                      </m:sup>
                      <m:e>
                        <m:sSup>
                          <m:sSupPr>
                            <m:ctrlPr>
                              <a:rPr lang="en-US" altLang="zh-CN" i="1" smtClean="0">
                                <a:solidFill>
                                  <a:srgbClr val="FF0000"/>
                                </a:solidFill>
                                <a:latin typeface="Cambria Math" panose="02040503050406030204" pitchFamily="18" charset="0"/>
                              </a:rPr>
                            </m:ctrlPr>
                          </m:sSupPr>
                          <m:e>
                            <m:d>
                              <m:dPr>
                                <m:begChr m:val="["/>
                                <m:endChr m:val="]"/>
                                <m:ctrlPr>
                                  <a:rPr lang="en-US" altLang="zh-CN" i="1" smtClean="0">
                                    <a:solidFill>
                                      <a:srgbClr val="FF0000"/>
                                    </a:solidFill>
                                    <a:latin typeface="Cambria Math" panose="02040503050406030204" pitchFamily="18" charset="0"/>
                                  </a:rPr>
                                </m:ctrlPr>
                              </m:dPr>
                              <m:e>
                                <m:r>
                                  <a:rPr lang="en-US" altLang="zh-CN" i="1">
                                    <a:solidFill>
                                      <a:srgbClr val="FF0000"/>
                                    </a:solidFill>
                                    <a:latin typeface="Cambria Math" panose="02040503050406030204" pitchFamily="18" charset="0"/>
                                  </a:rPr>
                                  <m:t>𝑿</m:t>
                                </m:r>
                                <m:d>
                                  <m:dPr>
                                    <m:ctrlPr>
                                      <a:rPr lang="en-US" altLang="zh-CN" i="1">
                                        <a:solidFill>
                                          <a:srgbClr val="FF0000"/>
                                        </a:solidFill>
                                        <a:latin typeface="Cambria Math" panose="02040503050406030204" pitchFamily="18" charset="0"/>
                                      </a:rPr>
                                    </m:ctrlPr>
                                  </m:dPr>
                                  <m:e>
                                    <m:r>
                                      <a:rPr lang="en-US" altLang="zh-CN" i="1">
                                        <a:solidFill>
                                          <a:srgbClr val="FF0000"/>
                                        </a:solidFill>
                                        <a:latin typeface="Cambria Math" panose="02040503050406030204" pitchFamily="18" charset="0"/>
                                      </a:rPr>
                                      <m:t>𝒕</m:t>
                                    </m:r>
                                  </m:e>
                                </m:d>
                                <m:r>
                                  <a:rPr lang="en-US" altLang="zh-CN" b="1" i="1" smtClean="0">
                                    <a:solidFill>
                                      <a:srgbClr val="FF0000"/>
                                    </a:solidFill>
                                    <a:latin typeface="Cambria Math" panose="02040503050406030204" pitchFamily="18" charset="0"/>
                                  </a:rPr>
                                  <m:t>−</m:t>
                                </m:r>
                                <m:sSub>
                                  <m:sSubPr>
                                    <m:ctrlPr>
                                      <a:rPr lang="en-US" altLang="zh-CN" b="1" i="1" smtClean="0">
                                        <a:solidFill>
                                          <a:srgbClr val="FF0000"/>
                                        </a:solidFill>
                                        <a:latin typeface="Cambria Math" panose="02040503050406030204" pitchFamily="18" charset="0"/>
                                      </a:rPr>
                                    </m:ctrlPr>
                                  </m:sSubPr>
                                  <m:e>
                                    <m:r>
                                      <a:rPr lang="en-US" altLang="zh-CN" b="1" i="1" smtClean="0">
                                        <a:solidFill>
                                          <a:srgbClr val="FF0000"/>
                                        </a:solidFill>
                                        <a:latin typeface="Cambria Math" panose="02040503050406030204" pitchFamily="18" charset="0"/>
                                      </a:rPr>
                                      <m:t>𝒎</m:t>
                                    </m:r>
                                  </m:e>
                                  <m:sub>
                                    <m:r>
                                      <a:rPr lang="en-US" altLang="zh-CN" b="1" i="1" smtClean="0">
                                        <a:solidFill>
                                          <a:srgbClr val="FF0000"/>
                                        </a:solidFill>
                                        <a:latin typeface="Cambria Math" panose="02040503050406030204" pitchFamily="18" charset="0"/>
                                      </a:rPr>
                                      <m:t>𝑿</m:t>
                                    </m:r>
                                  </m:sub>
                                </m:sSub>
                              </m:e>
                            </m:d>
                          </m:e>
                          <m:sup>
                            <m:r>
                              <a:rPr lang="en-US" altLang="zh-CN" b="1" i="1" smtClean="0">
                                <a:solidFill>
                                  <a:srgbClr val="FF0000"/>
                                </a:solidFill>
                                <a:latin typeface="Cambria Math" panose="02040503050406030204" pitchFamily="18" charset="0"/>
                              </a:rPr>
                              <m:t>𝟐</m:t>
                            </m:r>
                          </m:sup>
                        </m:sSup>
                        <m:r>
                          <a:rPr lang="en-US" altLang="zh-CN" i="1">
                            <a:solidFill>
                              <a:srgbClr val="FF0000"/>
                            </a:solidFill>
                            <a:latin typeface="Cambria Math" panose="02040503050406030204" pitchFamily="18" charset="0"/>
                          </a:rPr>
                          <m:t>𝒅𝒕</m:t>
                        </m:r>
                      </m:e>
                    </m:nary>
                    <m:r>
                      <a:rPr lang="en-US" altLang="zh-CN" b="1" i="1" smtClean="0">
                        <a:solidFill>
                          <a:srgbClr val="FF0000"/>
                        </a:solidFill>
                        <a:latin typeface="Cambria Math" panose="02040503050406030204" pitchFamily="18" charset="0"/>
                      </a:rPr>
                      <m:t>=</m:t>
                    </m:r>
                  </m:oMath>
                </a14:m>
                <a:r>
                  <a:rPr lang="zh-CN" altLang="en-US" dirty="0">
                    <a:solidFill>
                      <a:srgbClr val="FF0000"/>
                    </a:solidFill>
                  </a:rPr>
                  <a:t>交流平均功率</a:t>
                </a:r>
                <a:endParaRPr lang="en-US" altLang="zh-CN" dirty="0">
                  <a:solidFill>
                    <a:srgbClr val="FF0000"/>
                  </a:solidFill>
                </a:endParaRPr>
              </a:p>
              <a:p>
                <a:pPr marL="0" indent="0">
                  <a:buNone/>
                </a:pPr>
                <a:r>
                  <a:rPr lang="zh-CN" altLang="en-US" dirty="0"/>
                  <a:t>（</a:t>
                </a:r>
                <a:r>
                  <a:rPr lang="en-US" altLang="zh-CN" dirty="0"/>
                  <a:t>3</a:t>
                </a:r>
                <a:r>
                  <a:rPr lang="zh-CN" altLang="en-US" dirty="0"/>
                  <a:t>）</a:t>
                </a:r>
                <a:r>
                  <a:rPr lang="zh-CN" altLang="en-US" dirty="0">
                    <a:highlight>
                      <a:srgbClr val="00FFFF"/>
                    </a:highlight>
                  </a:rPr>
                  <a:t>信号的均方值等于总平均功率</a:t>
                </a:r>
                <a:r>
                  <a:rPr lang="zh-CN" altLang="en-US" dirty="0"/>
                  <a:t>，即</a:t>
                </a:r>
                <a:endParaRPr lang="en-US" altLang="zh-CN" dirty="0"/>
              </a:p>
              <a:p>
                <a:pPr marL="0" indent="0" algn="ctr">
                  <a:buNone/>
                </a:pPr>
                <a14:m>
                  <m:oMath xmlns:m="http://schemas.openxmlformats.org/officeDocument/2006/math">
                    <m:r>
                      <a:rPr lang="en-US" altLang="zh-CN" b="1" i="1" smtClean="0">
                        <a:solidFill>
                          <a:srgbClr val="FF0000"/>
                        </a:solidFill>
                        <a:latin typeface="Cambria Math" panose="02040503050406030204" pitchFamily="18" charset="0"/>
                      </a:rPr>
                      <m:t>𝑬</m:t>
                    </m:r>
                    <m:sSup>
                      <m:sSupPr>
                        <m:ctrlPr>
                          <a:rPr lang="en-US" altLang="zh-CN" b="1" i="1" smtClean="0">
                            <a:solidFill>
                              <a:srgbClr val="FF0000"/>
                            </a:solidFill>
                            <a:latin typeface="Cambria Math" panose="02040503050406030204" pitchFamily="18" charset="0"/>
                          </a:rPr>
                        </m:ctrlPr>
                      </m:sSupPr>
                      <m:e>
                        <m:r>
                          <a:rPr lang="en-US" altLang="zh-CN" b="1" i="1" smtClean="0">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𝑿</m:t>
                        </m:r>
                      </m:e>
                      <m:sup>
                        <m:r>
                          <a:rPr lang="en-US" altLang="zh-CN" b="1" i="1" smtClean="0">
                            <a:solidFill>
                              <a:srgbClr val="FF0000"/>
                            </a:solidFill>
                            <a:latin typeface="Cambria Math" panose="02040503050406030204" pitchFamily="18" charset="0"/>
                          </a:rPr>
                          <m:t>𝟐</m:t>
                        </m:r>
                      </m:sup>
                    </m:sSup>
                    <m:r>
                      <a:rPr lang="en-US" altLang="zh-CN" b="1" i="1" smtClean="0">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𝒕</m:t>
                    </m:r>
                    <m:r>
                      <a:rPr lang="en-US" altLang="zh-CN" b="1" i="1" smtClean="0">
                        <a:solidFill>
                          <a:srgbClr val="FF0000"/>
                        </a:solidFill>
                        <a:latin typeface="Cambria Math" panose="02040503050406030204" pitchFamily="18" charset="0"/>
                      </a:rPr>
                      <m:t>)]=</m:t>
                    </m:r>
                    <m:func>
                      <m:funcPr>
                        <m:ctrlPr>
                          <a:rPr lang="en-US" altLang="zh-CN" i="1">
                            <a:solidFill>
                              <a:srgbClr val="FF0000"/>
                            </a:solidFill>
                            <a:latin typeface="Cambria Math" panose="02040503050406030204" pitchFamily="18" charset="0"/>
                          </a:rPr>
                        </m:ctrlPr>
                      </m:funcPr>
                      <m:fName>
                        <m:limLow>
                          <m:limLowPr>
                            <m:ctrlPr>
                              <a:rPr lang="en-US" altLang="zh-CN" i="1">
                                <a:solidFill>
                                  <a:srgbClr val="FF0000"/>
                                </a:solidFill>
                                <a:latin typeface="Cambria Math" panose="02040503050406030204" pitchFamily="18" charset="0"/>
                              </a:rPr>
                            </m:ctrlPr>
                          </m:limLowPr>
                          <m:e>
                            <m:r>
                              <m:rPr>
                                <m:sty m:val="p"/>
                              </m:rPr>
                              <a:rPr lang="en-US" altLang="zh-CN" b="0">
                                <a:solidFill>
                                  <a:srgbClr val="FF0000"/>
                                </a:solidFill>
                                <a:latin typeface="Cambria Math" panose="02040503050406030204" pitchFamily="18" charset="0"/>
                              </a:rPr>
                              <m:t>lim</m:t>
                            </m:r>
                          </m:e>
                          <m:lim>
                            <m:r>
                              <a:rPr lang="en-US" altLang="zh-CN" i="1">
                                <a:solidFill>
                                  <a:srgbClr val="FF0000"/>
                                </a:solidFill>
                                <a:latin typeface="Cambria Math" panose="02040503050406030204" pitchFamily="18" charset="0"/>
                              </a:rPr>
                              <m:t>𝑻</m:t>
                            </m:r>
                            <m:r>
                              <a:rPr lang="en-US" altLang="zh-CN" i="1">
                                <a:solidFill>
                                  <a:srgbClr val="FF0000"/>
                                </a:solidFill>
                                <a:latin typeface="Cambria Math" panose="02040503050406030204" pitchFamily="18" charset="0"/>
                                <a:ea typeface="Cambria Math" panose="02040503050406030204" pitchFamily="18" charset="0"/>
                              </a:rPr>
                              <m:t>→∞</m:t>
                            </m:r>
                          </m:lim>
                        </m:limLow>
                      </m:fName>
                      <m:e>
                        <m:f>
                          <m:fPr>
                            <m:ctrlPr>
                              <a:rPr lang="en-US" altLang="zh-CN" i="1">
                                <a:solidFill>
                                  <a:srgbClr val="FF0000"/>
                                </a:solidFill>
                                <a:latin typeface="Cambria Math" panose="02040503050406030204" pitchFamily="18" charset="0"/>
                              </a:rPr>
                            </m:ctrlPr>
                          </m:fPr>
                          <m:num>
                            <m:r>
                              <a:rPr lang="en-US" altLang="zh-CN" i="1">
                                <a:solidFill>
                                  <a:srgbClr val="FF0000"/>
                                </a:solidFill>
                                <a:latin typeface="Cambria Math" panose="02040503050406030204" pitchFamily="18" charset="0"/>
                              </a:rPr>
                              <m:t>𝟏</m:t>
                            </m:r>
                          </m:num>
                          <m:den>
                            <m:r>
                              <a:rPr lang="en-US" altLang="zh-CN" i="1">
                                <a:solidFill>
                                  <a:srgbClr val="FF0000"/>
                                </a:solidFill>
                                <a:latin typeface="Cambria Math" panose="02040503050406030204" pitchFamily="18" charset="0"/>
                              </a:rPr>
                              <m:t>𝟐</m:t>
                            </m:r>
                            <m:r>
                              <a:rPr lang="en-US" altLang="zh-CN" i="1">
                                <a:solidFill>
                                  <a:srgbClr val="FF0000"/>
                                </a:solidFill>
                                <a:latin typeface="Cambria Math" panose="02040503050406030204" pitchFamily="18" charset="0"/>
                              </a:rPr>
                              <m:t>𝑻</m:t>
                            </m:r>
                          </m:den>
                        </m:f>
                      </m:e>
                    </m:func>
                    <m:nary>
                      <m:naryPr>
                        <m:ctrlPr>
                          <a:rPr lang="en-US" altLang="zh-CN" i="1">
                            <a:solidFill>
                              <a:srgbClr val="FF0000"/>
                            </a:solidFill>
                            <a:latin typeface="Cambria Math" panose="02040503050406030204" pitchFamily="18" charset="0"/>
                          </a:rPr>
                        </m:ctrlPr>
                      </m:naryPr>
                      <m:sub>
                        <m:r>
                          <m:rPr>
                            <m:brk m:alnAt="23"/>
                          </m:rP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𝑻</m:t>
                        </m:r>
                      </m:sub>
                      <m:sup>
                        <m:r>
                          <a:rPr lang="en-US" altLang="zh-CN" i="1">
                            <a:solidFill>
                              <a:srgbClr val="FF0000"/>
                            </a:solidFill>
                            <a:latin typeface="Cambria Math" panose="02040503050406030204" pitchFamily="18" charset="0"/>
                          </a:rPr>
                          <m:t>𝑻</m:t>
                        </m:r>
                      </m:sup>
                      <m:e>
                        <m:sSup>
                          <m:sSupPr>
                            <m:ctrlPr>
                              <a:rPr lang="en-US" altLang="zh-CN" i="1" smtClean="0">
                                <a:solidFill>
                                  <a:srgbClr val="FF0000"/>
                                </a:solidFill>
                                <a:latin typeface="Cambria Math" panose="02040503050406030204" pitchFamily="18" charset="0"/>
                              </a:rPr>
                            </m:ctrlPr>
                          </m:sSupPr>
                          <m:e>
                            <m:r>
                              <a:rPr lang="en-US" altLang="zh-CN" i="1">
                                <a:solidFill>
                                  <a:srgbClr val="FF0000"/>
                                </a:solidFill>
                                <a:latin typeface="Cambria Math" panose="02040503050406030204" pitchFamily="18" charset="0"/>
                              </a:rPr>
                              <m:t>𝑿</m:t>
                            </m:r>
                          </m:e>
                          <m:sup>
                            <m:r>
                              <a:rPr lang="en-US" altLang="zh-CN" b="1" i="1" smtClean="0">
                                <a:solidFill>
                                  <a:srgbClr val="FF0000"/>
                                </a:solidFill>
                                <a:latin typeface="Cambria Math" panose="02040503050406030204" pitchFamily="18" charset="0"/>
                              </a:rPr>
                              <m:t>𝟐</m:t>
                            </m:r>
                          </m:sup>
                        </m:sSup>
                        <m:d>
                          <m:dPr>
                            <m:ctrlPr>
                              <a:rPr lang="en-US" altLang="zh-CN" i="1">
                                <a:solidFill>
                                  <a:srgbClr val="FF0000"/>
                                </a:solidFill>
                                <a:latin typeface="Cambria Math" panose="02040503050406030204" pitchFamily="18" charset="0"/>
                              </a:rPr>
                            </m:ctrlPr>
                          </m:dPr>
                          <m:e>
                            <m:r>
                              <a:rPr lang="en-US" altLang="zh-CN" i="1">
                                <a:solidFill>
                                  <a:srgbClr val="FF0000"/>
                                </a:solidFill>
                                <a:latin typeface="Cambria Math" panose="02040503050406030204" pitchFamily="18" charset="0"/>
                              </a:rPr>
                              <m:t>𝒕</m:t>
                            </m:r>
                          </m:e>
                        </m:d>
                        <m:r>
                          <a:rPr lang="en-US" altLang="zh-CN" i="1">
                            <a:solidFill>
                              <a:srgbClr val="FF0000"/>
                            </a:solidFill>
                            <a:latin typeface="Cambria Math" panose="02040503050406030204" pitchFamily="18" charset="0"/>
                          </a:rPr>
                          <m:t>𝒅𝒕</m:t>
                        </m:r>
                      </m:e>
                    </m:nary>
                  </m:oMath>
                </a14:m>
                <a:r>
                  <a:rPr lang="en-US" altLang="zh-CN" dirty="0">
                    <a:solidFill>
                      <a:srgbClr val="FF0000"/>
                    </a:solidFill>
                  </a:rPr>
                  <a:t> =</a:t>
                </a:r>
                <a:r>
                  <a:rPr lang="zh-CN" altLang="en-US" dirty="0">
                    <a:solidFill>
                      <a:srgbClr val="FF0000"/>
                    </a:solidFill>
                  </a:rPr>
                  <a:t>总功率</a:t>
                </a:r>
              </a:p>
            </p:txBody>
          </p:sp>
        </mc:Choice>
        <mc:Fallback xmlns="">
          <p:sp>
            <p:nvSpPr>
              <p:cNvPr id="4" name="内容占位符 3">
                <a:extLst>
                  <a:ext uri="{FF2B5EF4-FFF2-40B4-BE49-F238E27FC236}">
                    <a16:creationId xmlns:a16="http://schemas.microsoft.com/office/drawing/2014/main" id="{A3715A9D-8F4F-4A08-AAD2-F9BDCBA8A380}"/>
                  </a:ext>
                </a:extLst>
              </p:cNvPr>
              <p:cNvSpPr>
                <a:spLocks noGrp="1" noRot="1" noChangeAspect="1" noMove="1" noResize="1" noEditPoints="1" noAdjustHandles="1" noChangeArrowheads="1" noChangeShapeType="1" noTextEdit="1"/>
              </p:cNvSpPr>
              <p:nvPr>
                <p:ph idx="1"/>
              </p:nvPr>
            </p:nvSpPr>
            <p:spPr>
              <a:xfrm>
                <a:off x="684213" y="1085851"/>
                <a:ext cx="7772400" cy="4468091"/>
              </a:xfrm>
              <a:blipFill>
                <a:blip r:embed="rId2"/>
                <a:stretch>
                  <a:fillRect l="-94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20250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41C2384-45D9-4B89-BF9A-3291F6316DFF}"/>
              </a:ext>
            </a:extLst>
          </p:cNvPr>
          <p:cNvSpPr>
            <a:spLocks noGrp="1"/>
          </p:cNvSpPr>
          <p:nvPr>
            <p:ph idx="1"/>
          </p:nvPr>
        </p:nvSpPr>
        <p:spPr/>
        <p:txBody>
          <a:bodyPr/>
          <a:lstStyle/>
          <a:p>
            <a:pPr>
              <a:lnSpc>
                <a:spcPct val="150000"/>
              </a:lnSpc>
              <a:buFont typeface="Wingdings" panose="05000000000000000000" pitchFamily="2" charset="2"/>
              <a:buChar char="p"/>
            </a:pPr>
            <a:r>
              <a:rPr lang="zh-CN" altLang="en-US" sz="2400" dirty="0"/>
              <a:t>如何判断某一个随机过程具有各态历经性？</a:t>
            </a:r>
            <a:endParaRPr lang="en-US" altLang="zh-CN" sz="2400" dirty="0"/>
          </a:p>
          <a:p>
            <a:pPr marL="0" indent="0">
              <a:lnSpc>
                <a:spcPct val="150000"/>
              </a:lnSpc>
              <a:buNone/>
            </a:pPr>
            <a:r>
              <a:rPr lang="zh-CN" altLang="en-US" sz="2400" dirty="0"/>
              <a:t>（</a:t>
            </a:r>
            <a:r>
              <a:rPr lang="en-US" altLang="zh-CN" sz="2400" dirty="0"/>
              <a:t>1</a:t>
            </a:r>
            <a:r>
              <a:rPr lang="zh-CN" altLang="en-US" sz="2400" dirty="0"/>
              <a:t>）证明随机过程为平稳随机过程；</a:t>
            </a:r>
            <a:endParaRPr lang="en-US" altLang="zh-CN" sz="2400" dirty="0"/>
          </a:p>
          <a:p>
            <a:pPr marL="0" indent="0">
              <a:lnSpc>
                <a:spcPct val="150000"/>
              </a:lnSpc>
              <a:buNone/>
            </a:pPr>
            <a:r>
              <a:rPr lang="zh-CN" altLang="en-US" sz="2400" dirty="0"/>
              <a:t>（</a:t>
            </a:r>
            <a:r>
              <a:rPr lang="en-US" altLang="zh-CN" sz="2400" dirty="0"/>
              <a:t>2</a:t>
            </a:r>
            <a:r>
              <a:rPr lang="zh-CN" altLang="en-US" sz="2400" dirty="0"/>
              <a:t>）证明数学期望等于时间均值；</a:t>
            </a:r>
            <a:endParaRPr lang="en-US" altLang="zh-CN" sz="2400" dirty="0"/>
          </a:p>
          <a:p>
            <a:pPr marL="0" indent="0">
              <a:lnSpc>
                <a:spcPct val="150000"/>
              </a:lnSpc>
              <a:buNone/>
            </a:pPr>
            <a:r>
              <a:rPr lang="zh-CN" altLang="en-US" sz="2400" dirty="0"/>
              <a:t>（</a:t>
            </a:r>
            <a:r>
              <a:rPr lang="en-US" altLang="zh-CN" sz="2400" dirty="0"/>
              <a:t>3</a:t>
            </a:r>
            <a:r>
              <a:rPr lang="zh-CN" altLang="en-US" sz="2400" dirty="0"/>
              <a:t>）证明自相关函数等于时间自相关函数。</a:t>
            </a:r>
          </a:p>
        </p:txBody>
      </p:sp>
    </p:spTree>
    <p:extLst>
      <p:ext uri="{BB962C8B-B14F-4D97-AF65-F5344CB8AC3E}">
        <p14:creationId xmlns:p14="http://schemas.microsoft.com/office/powerpoint/2010/main" val="4177568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E3BFE688-7066-468D-B80F-D9CE7710716B}"/>
                  </a:ext>
                </a:extLst>
              </p:cNvPr>
              <p:cNvSpPr>
                <a:spLocks noGrp="1"/>
              </p:cNvSpPr>
              <p:nvPr>
                <p:ph idx="1"/>
              </p:nvPr>
            </p:nvSpPr>
            <p:spPr>
              <a:xfrm>
                <a:off x="705870" y="1104174"/>
                <a:ext cx="7772400" cy="4517582"/>
              </a:xfrm>
            </p:spPr>
            <p:txBody>
              <a:bodyPr/>
              <a:lstStyle/>
              <a:p>
                <a:pPr marL="0" indent="0">
                  <a:lnSpc>
                    <a:spcPct val="150000"/>
                  </a:lnSpc>
                  <a:buNone/>
                </a:pPr>
                <a:r>
                  <a:rPr lang="zh-CN" altLang="zh-CN" dirty="0"/>
                  <a:t>例  讨论过程</a:t>
                </a:r>
                <a14:m>
                  <m:oMath xmlns:m="http://schemas.openxmlformats.org/officeDocument/2006/math">
                    <m:r>
                      <a:rPr lang="en-US" altLang="zh-CN" i="1">
                        <a:latin typeface="Cambria Math" panose="02040503050406030204" pitchFamily="18" charset="0"/>
                      </a:rPr>
                      <m:t>𝑿</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𝒂</m:t>
                    </m:r>
                    <m:func>
                      <m:funcPr>
                        <m:ctrlPr>
                          <a:rPr lang="zh-CN" altLang="zh-CN" i="1">
                            <a:latin typeface="Cambria Math" panose="02040503050406030204" pitchFamily="18" charset="0"/>
                          </a:rPr>
                        </m:ctrlPr>
                      </m:funcPr>
                      <m:fName>
                        <m:r>
                          <a:rPr lang="en-US" altLang="zh-CN" i="1">
                            <a:latin typeface="Cambria Math" panose="02040503050406030204" pitchFamily="18" charset="0"/>
                          </a:rPr>
                          <m:t>𝒄𝒐𝒔</m:t>
                        </m:r>
                      </m:fName>
                      <m:e>
                        <m:r>
                          <a:rPr lang="en-US" altLang="zh-CN" i="1">
                            <a:latin typeface="Cambria Math" panose="02040503050406030204" pitchFamily="18" charset="0"/>
                          </a:rPr>
                          <m:t>(</m:t>
                        </m:r>
                      </m:e>
                    </m:func>
                    <m:sSub>
                      <m:sSubPr>
                        <m:ctrlPr>
                          <a:rPr lang="zh-CN" altLang="zh-CN" i="1">
                            <a:latin typeface="Cambria Math" panose="02040503050406030204" pitchFamily="18" charset="0"/>
                          </a:rPr>
                        </m:ctrlPr>
                      </m:sSubPr>
                      <m:e>
                        <m:r>
                          <a:rPr lang="en-US" altLang="zh-CN" i="1">
                            <a:latin typeface="Cambria Math" panose="02040503050406030204" pitchFamily="18" charset="0"/>
                          </a:rPr>
                          <m:t>𝝎</m:t>
                        </m:r>
                      </m:e>
                      <m:sub>
                        <m:r>
                          <a:rPr lang="en-US" altLang="zh-CN" i="1">
                            <a:latin typeface="Cambria Math" panose="02040503050406030204" pitchFamily="18" charset="0"/>
                          </a:rPr>
                          <m:t>𝟎</m:t>
                        </m:r>
                      </m:sub>
                    </m:sSub>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𝜣</m:t>
                    </m:r>
                    <m:r>
                      <a:rPr lang="en-US" altLang="zh-CN" i="1">
                        <a:latin typeface="Cambria Math" panose="02040503050406030204" pitchFamily="18" charset="0"/>
                      </a:rPr>
                      <m:t>)</m:t>
                    </m:r>
                  </m:oMath>
                </a14:m>
                <a:r>
                  <a:rPr lang="zh-CN" altLang="zh-CN" dirty="0"/>
                  <a:t>的各态历经性。</a:t>
                </a:r>
                <a:r>
                  <a:rPr lang="zh-CN" altLang="en-US" dirty="0"/>
                  <a:t>其中</a:t>
                </a:r>
                <a14:m>
                  <m:oMath xmlns:m="http://schemas.openxmlformats.org/officeDocument/2006/math">
                    <m:r>
                      <a:rPr lang="en-US" altLang="zh-CN" i="1">
                        <a:latin typeface="Cambria Math" panose="02040503050406030204" pitchFamily="18" charset="0"/>
                      </a:rPr>
                      <m:t>𝜣</m:t>
                    </m:r>
                  </m:oMath>
                </a14:m>
                <a:r>
                  <a:rPr lang="zh-CN" altLang="en-US" dirty="0"/>
                  <a:t>为</a:t>
                </a:r>
                <a14:m>
                  <m:oMath xmlns:m="http://schemas.openxmlformats.org/officeDocument/2006/math">
                    <m:d>
                      <m:dPr>
                        <m:begChr m:val="["/>
                        <m:ctrlPr>
                          <a:rPr lang="en-US" altLang="zh-CN" b="1" i="1" dirty="0" smtClean="0">
                            <a:latin typeface="Cambria Math" panose="02040503050406030204" pitchFamily="18" charset="0"/>
                          </a:rPr>
                        </m:ctrlPr>
                      </m:dPr>
                      <m:e>
                        <m:r>
                          <a:rPr lang="en-US" altLang="zh-CN" b="1" i="1" dirty="0" smtClean="0">
                            <a:latin typeface="Cambria Math" panose="02040503050406030204" pitchFamily="18" charset="0"/>
                          </a:rPr>
                          <m:t>𝟎</m:t>
                        </m:r>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𝟐</m:t>
                        </m:r>
                        <m:r>
                          <a:rPr lang="zh-CN" altLang="en-US" b="1" i="1" dirty="0" smtClean="0">
                            <a:latin typeface="Cambria Math" panose="02040503050406030204" pitchFamily="18" charset="0"/>
                          </a:rPr>
                          <m:t>𝝅</m:t>
                        </m:r>
                      </m:e>
                    </m:d>
                  </m:oMath>
                </a14:m>
                <a:r>
                  <a:rPr lang="zh-CN" altLang="en-US" dirty="0"/>
                  <a:t>均匀分布随机变量。</a:t>
                </a:r>
                <a:endParaRPr lang="en-US" altLang="zh-CN" dirty="0"/>
              </a:p>
              <a:p>
                <a:pPr marL="0" indent="0">
                  <a:buNone/>
                </a:pPr>
                <a:r>
                  <a:rPr lang="zh-CN" altLang="en-US" dirty="0"/>
                  <a:t>解：</a:t>
                </a:r>
                <a:endParaRPr lang="en-US" altLang="zh-CN" dirty="0"/>
              </a:p>
              <a:p>
                <a:pPr marL="0" indent="0">
                  <a:buNone/>
                </a:pPr>
                <a:r>
                  <a:rPr lang="zh-CN" altLang="en-US" dirty="0"/>
                  <a:t>（</a:t>
                </a:r>
                <a:r>
                  <a:rPr lang="en-US" altLang="zh-CN" dirty="0"/>
                  <a:t>1</a:t>
                </a:r>
                <a:r>
                  <a:rPr lang="zh-CN" altLang="en-US" dirty="0"/>
                  <a:t>）集合</a:t>
                </a:r>
                <a14:m>
                  <m:oMath xmlns:m="http://schemas.openxmlformats.org/officeDocument/2006/math">
                    <m:r>
                      <a:rPr lang="zh-CN" altLang="en-US" b="1" i="1" dirty="0" smtClean="0">
                        <a:latin typeface="Cambria Math" panose="02040503050406030204" pitchFamily="18" charset="0"/>
                      </a:rPr>
                      <m:t>均值</m:t>
                    </m:r>
                    <m:r>
                      <a:rPr lang="zh-CN" altLang="en-US" i="1" dirty="0">
                        <a:latin typeface="Cambria Math" panose="02040503050406030204" pitchFamily="18" charset="0"/>
                      </a:rPr>
                      <m:t>：</m:t>
                    </m:r>
                    <m:r>
                      <a:rPr lang="en-US" altLang="zh-CN" b="1" i="1" smtClean="0">
                        <a:latin typeface="Cambria Math" panose="02040503050406030204" pitchFamily="18" charset="0"/>
                      </a:rPr>
                      <m:t>𝑬</m:t>
                    </m:r>
                    <m:d>
                      <m:dPr>
                        <m:begChr m:val="["/>
                        <m:endChr m:val="]"/>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𝑿</m:t>
                        </m:r>
                        <m:r>
                          <a:rPr lang="en-US" altLang="zh-CN" b="1" i="1" smtClean="0">
                            <a:latin typeface="Cambria Math" panose="02040503050406030204" pitchFamily="18" charset="0"/>
                          </a:rPr>
                          <m:t>(</m:t>
                        </m:r>
                        <m:r>
                          <a:rPr lang="en-US" altLang="zh-CN" b="1" i="1" smtClean="0">
                            <a:latin typeface="Cambria Math" panose="02040503050406030204" pitchFamily="18" charset="0"/>
                          </a:rPr>
                          <m:t>𝒕</m:t>
                        </m:r>
                        <m:r>
                          <a:rPr lang="en-US" altLang="zh-CN" b="1" i="1" smtClean="0">
                            <a:latin typeface="Cambria Math" panose="02040503050406030204" pitchFamily="18" charset="0"/>
                          </a:rPr>
                          <m:t>)</m:t>
                        </m:r>
                      </m:e>
                    </m:d>
                    <m:r>
                      <a:rPr lang="en-US" altLang="zh-CN" b="1" i="1" smtClean="0">
                        <a:latin typeface="Cambria Math" panose="02040503050406030204" pitchFamily="18" charset="0"/>
                      </a:rPr>
                      <m:t>=</m:t>
                    </m:r>
                    <m:r>
                      <a:rPr lang="en-US" altLang="zh-CN" b="1" i="1" smtClean="0">
                        <a:latin typeface="Cambria Math" panose="02040503050406030204" pitchFamily="18" charset="0"/>
                      </a:rPr>
                      <m:t>𝑬</m:t>
                    </m:r>
                    <m:d>
                      <m:dPr>
                        <m:begChr m:val="["/>
                        <m:endChr m:val="]"/>
                        <m:ctrlPr>
                          <a:rPr lang="en-US" altLang="zh-CN" b="1" i="1" smtClean="0">
                            <a:latin typeface="Cambria Math" panose="02040503050406030204" pitchFamily="18" charset="0"/>
                          </a:rPr>
                        </m:ctrlPr>
                      </m:dPr>
                      <m:e>
                        <m:r>
                          <a:rPr lang="en-US" altLang="zh-CN" i="1">
                            <a:latin typeface="Cambria Math" panose="02040503050406030204" pitchFamily="18" charset="0"/>
                          </a:rPr>
                          <m:t>𝒂</m:t>
                        </m:r>
                        <m:func>
                          <m:funcPr>
                            <m:ctrlPr>
                              <a:rPr lang="zh-CN" altLang="zh-CN" i="1">
                                <a:latin typeface="Cambria Math" panose="02040503050406030204" pitchFamily="18" charset="0"/>
                              </a:rPr>
                            </m:ctrlPr>
                          </m:funcPr>
                          <m:fName>
                            <m:r>
                              <a:rPr lang="en-US" altLang="zh-CN" i="1">
                                <a:latin typeface="Cambria Math" panose="02040503050406030204" pitchFamily="18" charset="0"/>
                              </a:rPr>
                              <m:t>𝒄𝒐𝒔</m:t>
                            </m:r>
                          </m:fName>
                          <m:e>
                            <m:r>
                              <a:rPr lang="en-US" altLang="zh-CN" i="1">
                                <a:latin typeface="Cambria Math" panose="02040503050406030204" pitchFamily="18" charset="0"/>
                              </a:rPr>
                              <m:t>(</m:t>
                            </m:r>
                          </m:e>
                        </m:func>
                        <m:sSub>
                          <m:sSubPr>
                            <m:ctrlPr>
                              <a:rPr lang="zh-CN" altLang="zh-CN" i="1">
                                <a:latin typeface="Cambria Math" panose="02040503050406030204" pitchFamily="18" charset="0"/>
                              </a:rPr>
                            </m:ctrlPr>
                          </m:sSubPr>
                          <m:e>
                            <m:r>
                              <a:rPr lang="en-US" altLang="zh-CN" i="1">
                                <a:latin typeface="Cambria Math" panose="02040503050406030204" pitchFamily="18" charset="0"/>
                              </a:rPr>
                              <m:t>𝝎</m:t>
                            </m:r>
                          </m:e>
                          <m:sub>
                            <m:r>
                              <a:rPr lang="en-US" altLang="zh-CN" i="1">
                                <a:latin typeface="Cambria Math" panose="02040503050406030204" pitchFamily="18" charset="0"/>
                              </a:rPr>
                              <m:t>𝟎</m:t>
                            </m:r>
                          </m:sub>
                        </m:sSub>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𝜣</m:t>
                        </m:r>
                        <m:r>
                          <a:rPr lang="en-US" altLang="zh-CN" i="1">
                            <a:latin typeface="Cambria Math" panose="02040503050406030204" pitchFamily="18" charset="0"/>
                          </a:rPr>
                          <m:t>)</m:t>
                        </m:r>
                      </m:e>
                    </m:d>
                  </m:oMath>
                </a14:m>
                <a:r>
                  <a:rPr lang="en-US" altLang="zh-CN" dirty="0"/>
                  <a:t> = 0</a:t>
                </a:r>
                <a:endParaRPr lang="zh-CN" altLang="zh-CN" dirty="0"/>
              </a:p>
              <a:p>
                <a:pPr marL="0" indent="0">
                  <a:buNone/>
                </a:pPr>
                <a:endParaRPr lang="en-US" altLang="zh-CN" dirty="0"/>
              </a:p>
              <a:p>
                <a:pPr marL="0" indent="0">
                  <a:buNone/>
                </a:pPr>
                <a:r>
                  <a:rPr lang="zh-CN" altLang="en-US" dirty="0"/>
                  <a:t>时间均值：</a:t>
                </a:r>
              </a:p>
            </p:txBody>
          </p:sp>
        </mc:Choice>
        <mc:Fallback xmlns="">
          <p:sp>
            <p:nvSpPr>
              <p:cNvPr id="2" name="内容占位符 1">
                <a:extLst>
                  <a:ext uri="{FF2B5EF4-FFF2-40B4-BE49-F238E27FC236}">
                    <a16:creationId xmlns:a16="http://schemas.microsoft.com/office/drawing/2014/main" id="{E3BFE688-7066-468D-B80F-D9CE7710716B}"/>
                  </a:ext>
                </a:extLst>
              </p:cNvPr>
              <p:cNvSpPr>
                <a:spLocks noGrp="1" noRot="1" noChangeAspect="1" noMove="1" noResize="1" noEditPoints="1" noAdjustHandles="1" noChangeArrowheads="1" noChangeShapeType="1" noTextEdit="1"/>
              </p:cNvSpPr>
              <p:nvPr>
                <p:ph idx="1"/>
              </p:nvPr>
            </p:nvSpPr>
            <p:spPr>
              <a:xfrm>
                <a:off x="705870" y="1104174"/>
                <a:ext cx="7772400" cy="4517582"/>
              </a:xfrm>
              <a:blipFill>
                <a:blip r:embed="rId3"/>
                <a:stretch>
                  <a:fillRect l="-941"/>
                </a:stretch>
              </a:blipFill>
            </p:spPr>
            <p:txBody>
              <a:bodyPr/>
              <a:lstStyle/>
              <a:p>
                <a:r>
                  <a:rPr lang="zh-CN" altLang="en-US">
                    <a:noFill/>
                  </a:rPr>
                  <a:t> </a:t>
                </a:r>
              </a:p>
            </p:txBody>
          </p:sp>
        </mc:Fallback>
      </mc:AlternateContent>
      <p:sp>
        <p:nvSpPr>
          <p:cNvPr id="3" name="Rectangle 2">
            <a:extLst>
              <a:ext uri="{FF2B5EF4-FFF2-40B4-BE49-F238E27FC236}">
                <a16:creationId xmlns:a16="http://schemas.microsoft.com/office/drawing/2014/main" id="{9684ADEE-1DB6-4C18-8C2F-85943366943A}"/>
              </a:ext>
            </a:extLst>
          </p:cNvPr>
          <p:cNvSpPr>
            <a:spLocks noChangeArrowheads="1"/>
          </p:cNvSpPr>
          <p:nvPr/>
        </p:nvSpPr>
        <p:spPr bwMode="auto">
          <a:xfrm>
            <a:off x="2464308" y="2124782"/>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graphicFrame>
        <p:nvGraphicFramePr>
          <p:cNvPr id="4" name="对象 3">
            <a:extLst>
              <a:ext uri="{FF2B5EF4-FFF2-40B4-BE49-F238E27FC236}">
                <a16:creationId xmlns:a16="http://schemas.microsoft.com/office/drawing/2014/main" id="{F24EB7C1-0C47-45FE-8343-5C8999D3FCE5}"/>
              </a:ext>
            </a:extLst>
          </p:cNvPr>
          <p:cNvGraphicFramePr>
            <a:graphicFrameLocks noChangeAspect="1"/>
          </p:cNvGraphicFramePr>
          <p:nvPr/>
        </p:nvGraphicFramePr>
        <p:xfrm>
          <a:off x="2317750" y="3367088"/>
          <a:ext cx="6005513" cy="2178050"/>
        </p:xfrm>
        <a:graphic>
          <a:graphicData uri="http://schemas.openxmlformats.org/presentationml/2006/ole">
            <mc:AlternateContent xmlns:mc="http://schemas.openxmlformats.org/markup-compatibility/2006">
              <mc:Choice xmlns:v="urn:schemas-microsoft-com:vml" Requires="v">
                <p:oleObj spid="_x0000_s7201" name="Equation" r:id="rId4" imgW="3530600" imgH="1282700" progId="Equation.DSMT4">
                  <p:embed/>
                </p:oleObj>
              </mc:Choice>
              <mc:Fallback>
                <p:oleObj name="Equation" r:id="rId4" imgW="3530600" imgH="1282700" progId="Equation.DSMT4">
                  <p:embed/>
                  <p:pic>
                    <p:nvPicPr>
                      <p:cNvPr id="4" name="对象 3">
                        <a:extLst>
                          <a:ext uri="{FF2B5EF4-FFF2-40B4-BE49-F238E27FC236}">
                            <a16:creationId xmlns:a16="http://schemas.microsoft.com/office/drawing/2014/main" id="{F24EB7C1-0C47-45FE-8343-5C8999D3FCE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17750" y="3367088"/>
                        <a:ext cx="6005513" cy="2178050"/>
                      </a:xfrm>
                      <a:prstGeom prst="rect">
                        <a:avLst/>
                      </a:prstGeom>
                      <a:noFill/>
                    </p:spPr>
                  </p:pic>
                </p:oleObj>
              </mc:Fallback>
            </mc:AlternateContent>
          </a:graphicData>
        </a:graphic>
      </p:graphicFrame>
    </p:spTree>
    <p:extLst>
      <p:ext uri="{BB962C8B-B14F-4D97-AF65-F5344CB8AC3E}">
        <p14:creationId xmlns:p14="http://schemas.microsoft.com/office/powerpoint/2010/main" val="3013181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E1DCF8E8-DBFF-4F8F-8CE3-4A07A5DD8A55}"/>
                  </a:ext>
                </a:extLst>
              </p:cNvPr>
              <p:cNvSpPr>
                <a:spLocks noGrp="1"/>
              </p:cNvSpPr>
              <p:nvPr>
                <p:ph idx="1"/>
              </p:nvPr>
            </p:nvSpPr>
            <p:spPr>
              <a:xfrm>
                <a:off x="684213" y="1292469"/>
                <a:ext cx="7772400" cy="4365381"/>
              </a:xfrm>
            </p:spPr>
            <p:txBody>
              <a:bodyPr/>
              <a:lstStyle/>
              <a:p>
                <a:pPr marL="0" indent="0">
                  <a:buNone/>
                </a:pPr>
                <a:r>
                  <a:rPr lang="zh-CN" altLang="en-US" dirty="0">
                    <a:latin typeface="Cambria Math" panose="02040503050406030204" pitchFamily="18" charset="0"/>
                  </a:rPr>
                  <a:t>（</a:t>
                </a:r>
                <a:r>
                  <a:rPr lang="en-US" altLang="zh-CN" dirty="0">
                    <a:latin typeface="Cambria Math" panose="02040503050406030204" pitchFamily="18" charset="0"/>
                  </a:rPr>
                  <a:t>2</a:t>
                </a:r>
                <a:r>
                  <a:rPr lang="zh-CN" altLang="en-US" dirty="0">
                    <a:latin typeface="Cambria Math" panose="02040503050406030204" pitchFamily="18" charset="0"/>
                  </a:rPr>
                  <a:t>）</a:t>
                </a:r>
                <a14:m>
                  <m:oMath xmlns:m="http://schemas.openxmlformats.org/officeDocument/2006/math">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𝑹</m:t>
                        </m:r>
                      </m:e>
                      <m:sub>
                        <m:r>
                          <a:rPr lang="en-US" altLang="zh-CN" b="1" i="1" smtClean="0">
                            <a:latin typeface="Cambria Math" panose="02040503050406030204" pitchFamily="18" charset="0"/>
                          </a:rPr>
                          <m:t>𝑿</m:t>
                        </m:r>
                      </m:sub>
                    </m:sSub>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𝒕</m:t>
                        </m:r>
                        <m:r>
                          <a:rPr lang="en-US" altLang="zh-CN" b="1" i="1" smtClean="0">
                            <a:latin typeface="Cambria Math" panose="02040503050406030204" pitchFamily="18" charset="0"/>
                          </a:rPr>
                          <m:t>,</m:t>
                        </m:r>
                        <m:r>
                          <a:rPr lang="en-US" altLang="zh-CN" b="1" i="1" smtClean="0">
                            <a:latin typeface="Cambria Math" panose="02040503050406030204" pitchFamily="18" charset="0"/>
                          </a:rPr>
                          <m:t>𝒕</m:t>
                        </m:r>
                        <m:r>
                          <a:rPr lang="en-US" altLang="zh-CN" b="1" i="1" smtClean="0">
                            <a:latin typeface="Cambria Math" panose="02040503050406030204" pitchFamily="18" charset="0"/>
                          </a:rPr>
                          <m:t>+</m:t>
                        </m:r>
                        <m:r>
                          <a:rPr lang="zh-CN" altLang="en-US" b="1" i="1" smtClean="0">
                            <a:latin typeface="Cambria Math" panose="02040503050406030204" pitchFamily="18" charset="0"/>
                          </a:rPr>
                          <m:t>𝝉</m:t>
                        </m:r>
                      </m:e>
                    </m:d>
                    <m:r>
                      <a:rPr lang="en-US" altLang="zh-CN" b="1" i="1" smtClean="0">
                        <a:latin typeface="Cambria Math" panose="02040503050406030204" pitchFamily="18" charset="0"/>
                      </a:rPr>
                      <m:t>=</m:t>
                    </m:r>
                    <m:r>
                      <a:rPr lang="en-US" altLang="zh-CN" b="1" i="1" smtClean="0">
                        <a:latin typeface="Cambria Math" panose="02040503050406030204" pitchFamily="18" charset="0"/>
                      </a:rPr>
                      <m:t>𝑬</m:t>
                    </m:r>
                    <m:d>
                      <m:dPr>
                        <m:begChr m:val="["/>
                        <m:endChr m:val="]"/>
                        <m:ctrlPr>
                          <a:rPr lang="en-US" altLang="zh-CN" b="1" i="1" smtClean="0">
                            <a:latin typeface="Cambria Math" panose="02040503050406030204" pitchFamily="18" charset="0"/>
                          </a:rPr>
                        </m:ctrlPr>
                      </m:dPr>
                      <m:e>
                        <m:sSup>
                          <m:sSupPr>
                            <m:ctrlPr>
                              <a:rPr lang="zh-CN" altLang="zh-CN" i="1">
                                <a:latin typeface="Cambria Math" panose="02040503050406030204" pitchFamily="18" charset="0"/>
                              </a:rPr>
                            </m:ctrlPr>
                          </m:sSupPr>
                          <m:e>
                            <m:r>
                              <a:rPr lang="en-US" altLang="zh-CN" i="1">
                                <a:latin typeface="Cambria Math" panose="02040503050406030204" pitchFamily="18" charset="0"/>
                              </a:rPr>
                              <m:t>𝑿</m:t>
                            </m:r>
                          </m:e>
                          <m:sup>
                            <m:r>
                              <a:rPr lang="en-US" altLang="zh-CN" i="1">
                                <a:latin typeface="Cambria Math" panose="02040503050406030204" pitchFamily="18" charset="0"/>
                              </a:rPr>
                              <m:t>∗</m:t>
                            </m:r>
                          </m:sup>
                        </m:sSup>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b="1" i="1" smtClean="0">
                            <a:latin typeface="Cambria Math" panose="02040503050406030204" pitchFamily="18" charset="0"/>
                          </a:rPr>
                          <m:t> </m:t>
                        </m:r>
                        <m:r>
                          <a:rPr lang="en-US" altLang="zh-CN" b="1" i="1" smtClean="0">
                            <a:latin typeface="Cambria Math" panose="02040503050406030204" pitchFamily="18" charset="0"/>
                          </a:rPr>
                          <m:t>𝑿</m:t>
                        </m:r>
                        <m:r>
                          <a:rPr lang="en-US" altLang="zh-CN" b="1" i="1" smtClean="0">
                            <a:latin typeface="Cambria Math" panose="02040503050406030204" pitchFamily="18" charset="0"/>
                          </a:rPr>
                          <m:t>(</m:t>
                        </m:r>
                        <m:r>
                          <a:rPr lang="en-US" altLang="zh-CN" b="1" i="1" smtClean="0">
                            <a:latin typeface="Cambria Math" panose="02040503050406030204" pitchFamily="18" charset="0"/>
                          </a:rPr>
                          <m:t>𝒕</m:t>
                        </m:r>
                        <m:r>
                          <a:rPr lang="en-US" altLang="zh-CN" b="1" i="1" smtClean="0">
                            <a:latin typeface="Cambria Math" panose="02040503050406030204" pitchFamily="18" charset="0"/>
                          </a:rPr>
                          <m:t>+</m:t>
                        </m:r>
                        <m:r>
                          <a:rPr lang="zh-CN" altLang="en-US" b="1" i="1" smtClean="0">
                            <a:latin typeface="Cambria Math" panose="02040503050406030204" pitchFamily="18" charset="0"/>
                          </a:rPr>
                          <m:t>𝝉</m:t>
                        </m:r>
                        <m:r>
                          <a:rPr lang="en-US" altLang="zh-CN" b="1" i="1" smtClean="0">
                            <a:latin typeface="Cambria Math" panose="02040503050406030204" pitchFamily="18" charset="0"/>
                          </a:rPr>
                          <m:t>)</m:t>
                        </m:r>
                      </m:e>
                    </m:d>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𝒂</m:t>
                            </m:r>
                          </m:e>
                          <m:sup>
                            <m:r>
                              <a:rPr lang="en-US" altLang="zh-CN" b="1" i="1" smtClean="0">
                                <a:latin typeface="Cambria Math" panose="02040503050406030204" pitchFamily="18" charset="0"/>
                              </a:rPr>
                              <m:t>𝟐</m:t>
                            </m:r>
                          </m:sup>
                        </m:sSup>
                      </m:num>
                      <m:den>
                        <m:r>
                          <a:rPr lang="en-US" altLang="zh-CN" b="1" i="1" smtClean="0">
                            <a:latin typeface="Cambria Math" panose="02040503050406030204" pitchFamily="18" charset="0"/>
                          </a:rPr>
                          <m:t>𝟐</m:t>
                        </m:r>
                      </m:den>
                    </m:f>
                    <m:r>
                      <a:rPr lang="en-US" altLang="zh-CN" b="1" i="1" smtClean="0">
                        <a:latin typeface="Cambria Math" panose="02040503050406030204" pitchFamily="18" charset="0"/>
                      </a:rPr>
                      <m:t>𝒄𝒐𝒔</m:t>
                    </m:r>
                    <m:sSub>
                      <m:sSubPr>
                        <m:ctrlPr>
                          <a:rPr lang="en-US" altLang="zh-CN" b="1" i="1" smtClean="0">
                            <a:latin typeface="Cambria Math" panose="02040503050406030204" pitchFamily="18" charset="0"/>
                          </a:rPr>
                        </m:ctrlPr>
                      </m:sSubPr>
                      <m:e>
                        <m:r>
                          <a:rPr lang="zh-CN" altLang="en-US" b="1" i="1" smtClean="0">
                            <a:latin typeface="Cambria Math" panose="02040503050406030204" pitchFamily="18" charset="0"/>
                          </a:rPr>
                          <m:t>𝝎</m:t>
                        </m:r>
                      </m:e>
                      <m:sub>
                        <m:r>
                          <a:rPr lang="en-US" altLang="zh-CN" b="1" i="1" smtClean="0">
                            <a:latin typeface="Cambria Math" panose="02040503050406030204" pitchFamily="18" charset="0"/>
                          </a:rPr>
                          <m:t>𝟎</m:t>
                        </m:r>
                      </m:sub>
                    </m:sSub>
                    <m:r>
                      <a:rPr lang="zh-CN" altLang="en-US" b="1" i="1" smtClean="0">
                        <a:latin typeface="Cambria Math" panose="02040503050406030204" pitchFamily="18" charset="0"/>
                      </a:rPr>
                      <m:t>𝝉</m:t>
                    </m:r>
                  </m:oMath>
                </a14:m>
                <a:endParaRPr lang="en-US" altLang="zh-CN"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d>
                        <m:dPr>
                          <m:begChr m:val="⟨"/>
                          <m:endChr m:val="⟩"/>
                          <m:ctrlPr>
                            <a:rPr lang="zh-CN" altLang="zh-CN" i="1">
                              <a:latin typeface="Cambria Math" panose="02040503050406030204" pitchFamily="18" charset="0"/>
                            </a:rPr>
                          </m:ctrlPr>
                        </m:dPr>
                        <m:e>
                          <m:sSup>
                            <m:sSupPr>
                              <m:ctrlPr>
                                <a:rPr lang="zh-CN" altLang="zh-CN" i="1">
                                  <a:latin typeface="Cambria Math" panose="02040503050406030204" pitchFamily="18" charset="0"/>
                                </a:rPr>
                              </m:ctrlPr>
                            </m:sSupPr>
                            <m:e>
                              <m:r>
                                <a:rPr lang="en-US" altLang="zh-CN" i="1">
                                  <a:latin typeface="Cambria Math" panose="02040503050406030204" pitchFamily="18" charset="0"/>
                                </a:rPr>
                                <m:t>𝑿</m:t>
                              </m:r>
                            </m:e>
                            <m:sup>
                              <m:r>
                                <a:rPr lang="en-US" altLang="zh-CN" i="1">
                                  <a:latin typeface="Cambria Math" panose="02040503050406030204" pitchFamily="18" charset="0"/>
                                </a:rPr>
                                <m:t>∗</m:t>
                              </m:r>
                            </m:sup>
                          </m:sSup>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𝑿</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e>
                      </m:d>
                      <m:r>
                        <a:rPr lang="en-US" altLang="zh-CN" i="1">
                          <a:latin typeface="Cambria Math" panose="02040503050406030204" pitchFamily="18" charset="0"/>
                        </a:rPr>
                        <m:t>=</m:t>
                      </m:r>
                      <m:limLow>
                        <m:limLowPr>
                          <m:ctrlPr>
                            <a:rPr lang="zh-CN" altLang="zh-CN" i="1">
                              <a:latin typeface="Cambria Math" panose="02040503050406030204" pitchFamily="18" charset="0"/>
                            </a:rPr>
                          </m:ctrlPr>
                        </m:limLowPr>
                        <m:e>
                          <m:r>
                            <a:rPr lang="en-US" altLang="zh-CN" i="1">
                              <a:latin typeface="Cambria Math" panose="02040503050406030204" pitchFamily="18" charset="0"/>
                            </a:rPr>
                            <m:t>𝒍</m:t>
                          </m:r>
                          <m:r>
                            <a:rPr lang="en-US" altLang="zh-CN" b="1" i="1" smtClean="0">
                              <a:latin typeface="Cambria Math" panose="02040503050406030204" pitchFamily="18" charset="0"/>
                            </a:rPr>
                            <m:t>.</m:t>
                          </m:r>
                          <m:r>
                            <a:rPr lang="en-US" altLang="zh-CN" i="1">
                              <a:latin typeface="Cambria Math" panose="02040503050406030204" pitchFamily="18" charset="0"/>
                            </a:rPr>
                            <m:t>𝒊</m:t>
                          </m:r>
                          <m:r>
                            <a:rPr lang="en-US" altLang="zh-CN" b="1" i="1" smtClean="0">
                              <a:latin typeface="Cambria Math" panose="02040503050406030204" pitchFamily="18" charset="0"/>
                            </a:rPr>
                            <m:t>.</m:t>
                          </m:r>
                          <m:r>
                            <a:rPr lang="en-US" altLang="zh-CN" i="1">
                              <a:latin typeface="Cambria Math" panose="02040503050406030204" pitchFamily="18" charset="0"/>
                            </a:rPr>
                            <m:t>𝒎</m:t>
                          </m:r>
                          <m:r>
                            <a:rPr lang="en-US" altLang="zh-CN" b="1" i="1" smtClean="0">
                              <a:latin typeface="Cambria Math" panose="02040503050406030204" pitchFamily="18" charset="0"/>
                            </a:rPr>
                            <m:t>.</m:t>
                          </m:r>
                        </m:e>
                        <m:lim>
                          <m:r>
                            <a:rPr lang="en-US" altLang="zh-CN" i="1">
                              <a:latin typeface="Cambria Math" panose="02040503050406030204" pitchFamily="18" charset="0"/>
                            </a:rPr>
                            <m:t>𝑻</m:t>
                          </m:r>
                          <m:r>
                            <a:rPr lang="en-US" altLang="zh-CN" i="1">
                              <a:latin typeface="Cambria Math" panose="02040503050406030204" pitchFamily="18" charset="0"/>
                            </a:rPr>
                            <m:t>→∞</m:t>
                          </m:r>
                        </m:lim>
                      </m:limLow>
                      <m:f>
                        <m:fPr>
                          <m:ctrlPr>
                            <a:rPr lang="zh-CN" altLang="zh-CN" i="1">
                              <a:latin typeface="Cambria Math" panose="02040503050406030204" pitchFamily="18" charset="0"/>
                            </a:rPr>
                          </m:ctrlPr>
                        </m:fPr>
                        <m:num>
                          <m:r>
                            <a:rPr lang="en-US" altLang="zh-CN" i="1">
                              <a:latin typeface="Cambria Math" panose="02040503050406030204" pitchFamily="18" charset="0"/>
                            </a:rPr>
                            <m:t>𝟏</m:t>
                          </m:r>
                        </m:num>
                        <m:den>
                          <m:r>
                            <a:rPr lang="en-US" altLang="zh-CN" i="1">
                              <a:latin typeface="Cambria Math" panose="02040503050406030204" pitchFamily="18" charset="0"/>
                            </a:rPr>
                            <m:t>𝟐</m:t>
                          </m:r>
                          <m:r>
                            <a:rPr lang="en-US" altLang="zh-CN" i="1">
                              <a:latin typeface="Cambria Math" panose="02040503050406030204" pitchFamily="18" charset="0"/>
                            </a:rPr>
                            <m:t>𝑻</m:t>
                          </m:r>
                        </m:den>
                      </m:f>
                      <m:nary>
                        <m:naryPr>
                          <m:ctrlPr>
                            <a:rPr lang="zh-CN" altLang="zh-CN" i="1">
                              <a:latin typeface="Cambria Math" panose="02040503050406030204" pitchFamily="18" charset="0"/>
                            </a:rPr>
                          </m:ctrlPr>
                        </m:naryPr>
                        <m:sub>
                          <m:r>
                            <a:rPr lang="en-US" altLang="zh-CN" i="1">
                              <a:latin typeface="Cambria Math" panose="02040503050406030204" pitchFamily="18" charset="0"/>
                            </a:rPr>
                            <m:t>−</m:t>
                          </m:r>
                          <m:r>
                            <a:rPr lang="en-US" altLang="zh-CN" i="1">
                              <a:latin typeface="Cambria Math" panose="02040503050406030204" pitchFamily="18" charset="0"/>
                            </a:rPr>
                            <m:t>𝑻</m:t>
                          </m:r>
                        </m:sub>
                        <m:sup>
                          <m:r>
                            <a:rPr lang="en-US" altLang="zh-CN" i="1">
                              <a:latin typeface="Cambria Math" panose="02040503050406030204" pitchFamily="18" charset="0"/>
                            </a:rPr>
                            <m:t>𝑻</m:t>
                          </m:r>
                        </m:sup>
                        <m:e>
                          <m:sSup>
                            <m:sSupPr>
                              <m:ctrlPr>
                                <a:rPr lang="zh-CN" altLang="zh-CN" i="1">
                                  <a:latin typeface="Cambria Math" panose="02040503050406030204" pitchFamily="18" charset="0"/>
                                </a:rPr>
                              </m:ctrlPr>
                            </m:sSupPr>
                            <m:e>
                              <m:r>
                                <a:rPr lang="en-US" altLang="zh-CN" i="1">
                                  <a:latin typeface="Cambria Math" panose="02040503050406030204" pitchFamily="18" charset="0"/>
                                </a:rPr>
                                <m:t>𝑿</m:t>
                              </m:r>
                            </m:e>
                            <m:sup>
                              <m:r>
                                <a:rPr lang="en-US" altLang="zh-CN" i="1">
                                  <a:latin typeface="Cambria Math" panose="02040503050406030204" pitchFamily="18" charset="0"/>
                                </a:rPr>
                                <m:t>∗</m:t>
                              </m:r>
                            </m:sup>
                          </m:sSup>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𝑿</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r>
                            <a:rPr lang="en-US" altLang="zh-CN" i="1">
                              <a:latin typeface="Cambria Math" panose="02040503050406030204" pitchFamily="18" charset="0"/>
                            </a:rPr>
                            <m:t>𝒅𝒕</m:t>
                          </m:r>
                        </m:e>
                      </m:nary>
                    </m:oMath>
                    <m:oMath xmlns:m="http://schemas.openxmlformats.org/officeDocument/2006/math">
                      <m:r>
                        <a:rPr lang="en-US" altLang="zh-CN" i="1">
                          <a:latin typeface="Cambria Math" panose="02040503050406030204" pitchFamily="18" charset="0"/>
                        </a:rPr>
                        <m:t>=</m:t>
                      </m:r>
                      <m:limLow>
                        <m:limLowPr>
                          <m:ctrlPr>
                            <a:rPr lang="zh-CN" altLang="zh-CN" i="1">
                              <a:latin typeface="Cambria Math" panose="02040503050406030204" pitchFamily="18" charset="0"/>
                            </a:rPr>
                          </m:ctrlPr>
                        </m:limLowPr>
                        <m:e>
                          <m:r>
                            <a:rPr lang="en-US" altLang="zh-CN" i="1">
                              <a:latin typeface="Cambria Math" panose="02040503050406030204" pitchFamily="18" charset="0"/>
                            </a:rPr>
                            <m:t>𝒍</m:t>
                          </m:r>
                          <m:r>
                            <a:rPr lang="en-US" altLang="zh-CN" b="1" i="1" smtClean="0">
                              <a:latin typeface="Cambria Math" panose="02040503050406030204" pitchFamily="18" charset="0"/>
                            </a:rPr>
                            <m:t>.</m:t>
                          </m:r>
                          <m:r>
                            <a:rPr lang="en-US" altLang="zh-CN" i="1">
                              <a:latin typeface="Cambria Math" panose="02040503050406030204" pitchFamily="18" charset="0"/>
                            </a:rPr>
                            <m:t>𝒊</m:t>
                          </m:r>
                          <m:r>
                            <a:rPr lang="en-US" altLang="zh-CN" b="1" i="1" smtClean="0">
                              <a:latin typeface="Cambria Math" panose="02040503050406030204" pitchFamily="18" charset="0"/>
                            </a:rPr>
                            <m:t>.</m:t>
                          </m:r>
                          <m:r>
                            <a:rPr lang="en-US" altLang="zh-CN" i="1">
                              <a:latin typeface="Cambria Math" panose="02040503050406030204" pitchFamily="18" charset="0"/>
                            </a:rPr>
                            <m:t>𝒎</m:t>
                          </m:r>
                        </m:e>
                        <m:lim>
                          <m:r>
                            <a:rPr lang="en-US" altLang="zh-CN" i="1">
                              <a:latin typeface="Cambria Math" panose="02040503050406030204" pitchFamily="18" charset="0"/>
                            </a:rPr>
                            <m:t>𝑻</m:t>
                          </m:r>
                          <m:r>
                            <a:rPr lang="en-US" altLang="zh-CN" i="1">
                              <a:latin typeface="Cambria Math" panose="02040503050406030204" pitchFamily="18" charset="0"/>
                            </a:rPr>
                            <m:t>→∞</m:t>
                          </m:r>
                        </m:lim>
                      </m:limLow>
                      <m:r>
                        <a:rPr lang="en-US" altLang="zh-CN" b="1" i="1" smtClean="0">
                          <a:latin typeface="Cambria Math" panose="02040503050406030204" pitchFamily="18" charset="0"/>
                        </a:rPr>
                        <m:t>.</m:t>
                      </m:r>
                      <m:f>
                        <m:fPr>
                          <m:ctrlPr>
                            <a:rPr lang="zh-CN" altLang="zh-CN" i="1">
                              <a:latin typeface="Cambria Math" panose="02040503050406030204" pitchFamily="18" charset="0"/>
                            </a:rPr>
                          </m:ctrlPr>
                        </m:fPr>
                        <m:num>
                          <m:r>
                            <a:rPr lang="en-US" altLang="zh-CN" i="1">
                              <a:latin typeface="Cambria Math" panose="02040503050406030204" pitchFamily="18" charset="0"/>
                            </a:rPr>
                            <m:t>𝟏</m:t>
                          </m:r>
                        </m:num>
                        <m:den>
                          <m:r>
                            <a:rPr lang="en-US" altLang="zh-CN" i="1">
                              <a:latin typeface="Cambria Math" panose="02040503050406030204" pitchFamily="18" charset="0"/>
                            </a:rPr>
                            <m:t>𝟐</m:t>
                          </m:r>
                          <m:r>
                            <a:rPr lang="en-US" altLang="zh-CN" i="1">
                              <a:latin typeface="Cambria Math" panose="02040503050406030204" pitchFamily="18" charset="0"/>
                            </a:rPr>
                            <m:t>𝑻</m:t>
                          </m:r>
                        </m:den>
                      </m:f>
                      <m:nary>
                        <m:naryPr>
                          <m:ctrlPr>
                            <a:rPr lang="zh-CN" altLang="zh-CN" i="1">
                              <a:latin typeface="Cambria Math" panose="02040503050406030204" pitchFamily="18" charset="0"/>
                            </a:rPr>
                          </m:ctrlPr>
                        </m:naryPr>
                        <m:sub>
                          <m:r>
                            <a:rPr lang="en-US" altLang="zh-CN" i="1">
                              <a:latin typeface="Cambria Math" panose="02040503050406030204" pitchFamily="18" charset="0"/>
                            </a:rPr>
                            <m:t>−</m:t>
                          </m:r>
                          <m:r>
                            <a:rPr lang="en-US" altLang="zh-CN" i="1">
                              <a:latin typeface="Cambria Math" panose="02040503050406030204" pitchFamily="18" charset="0"/>
                            </a:rPr>
                            <m:t>𝑻</m:t>
                          </m:r>
                        </m:sub>
                        <m:sup>
                          <m:r>
                            <a:rPr lang="en-US" altLang="zh-CN" i="1">
                              <a:latin typeface="Cambria Math" panose="02040503050406030204" pitchFamily="18" charset="0"/>
                            </a:rPr>
                            <m:t>𝑻</m:t>
                          </m:r>
                        </m:sup>
                        <m:e>
                          <m:sSup>
                            <m:sSupPr>
                              <m:ctrlPr>
                                <a:rPr lang="zh-CN" altLang="zh-CN" i="1">
                                  <a:latin typeface="Cambria Math" panose="02040503050406030204" pitchFamily="18" charset="0"/>
                                </a:rPr>
                              </m:ctrlPr>
                            </m:sSupPr>
                            <m:e>
                              <m:r>
                                <a:rPr lang="en-US" altLang="zh-CN" i="1">
                                  <a:latin typeface="Cambria Math" panose="02040503050406030204" pitchFamily="18" charset="0"/>
                                </a:rPr>
                                <m:t>𝒂</m:t>
                              </m:r>
                            </m:e>
                            <m:sup>
                              <m:r>
                                <a:rPr lang="en-US" altLang="zh-CN" i="1">
                                  <a:latin typeface="Cambria Math" panose="02040503050406030204" pitchFamily="18" charset="0"/>
                                </a:rPr>
                                <m:t>𝟐</m:t>
                              </m:r>
                            </m:sup>
                          </m:sSup>
                          <m:func>
                            <m:funcPr>
                              <m:ctrlPr>
                                <a:rPr lang="zh-CN" altLang="zh-CN" i="1">
                                  <a:latin typeface="Cambria Math" panose="02040503050406030204" pitchFamily="18" charset="0"/>
                                </a:rPr>
                              </m:ctrlPr>
                            </m:funcPr>
                            <m:fName>
                              <m:r>
                                <a:rPr lang="en-US" altLang="zh-CN" i="1">
                                  <a:latin typeface="Cambria Math" panose="02040503050406030204" pitchFamily="18" charset="0"/>
                                </a:rPr>
                                <m:t>𝒄𝒐𝒔</m:t>
                              </m:r>
                            </m:fName>
                            <m:e>
                              <m:r>
                                <a:rPr lang="en-US" altLang="zh-CN" i="1">
                                  <a:latin typeface="Cambria Math" panose="02040503050406030204" pitchFamily="18" charset="0"/>
                                </a:rPr>
                                <m:t>(</m:t>
                              </m:r>
                            </m:e>
                          </m:func>
                          <m:sSub>
                            <m:sSubPr>
                              <m:ctrlPr>
                                <a:rPr lang="zh-CN" altLang="zh-CN" i="1">
                                  <a:latin typeface="Cambria Math" panose="02040503050406030204" pitchFamily="18" charset="0"/>
                                </a:rPr>
                              </m:ctrlPr>
                            </m:sSubPr>
                            <m:e>
                              <m:r>
                                <a:rPr lang="en-US" altLang="zh-CN" i="1">
                                  <a:latin typeface="Cambria Math" panose="02040503050406030204" pitchFamily="18" charset="0"/>
                                </a:rPr>
                                <m:t>𝝎</m:t>
                              </m:r>
                            </m:e>
                            <m:sub>
                              <m:r>
                                <a:rPr lang="en-US" altLang="zh-CN" i="1">
                                  <a:latin typeface="Cambria Math" panose="02040503050406030204" pitchFamily="18" charset="0"/>
                                </a:rPr>
                                <m:t>𝟎</m:t>
                              </m:r>
                            </m:sub>
                          </m:sSub>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𝜣</m:t>
                          </m:r>
                          <m:r>
                            <a:rPr lang="en-US" altLang="zh-CN" i="1">
                              <a:latin typeface="Cambria Math" panose="02040503050406030204" pitchFamily="18" charset="0"/>
                            </a:rPr>
                            <m:t>)</m:t>
                          </m:r>
                          <m:func>
                            <m:funcPr>
                              <m:ctrlPr>
                                <a:rPr lang="zh-CN" altLang="zh-CN" i="1">
                                  <a:latin typeface="Cambria Math" panose="02040503050406030204" pitchFamily="18" charset="0"/>
                                </a:rPr>
                              </m:ctrlPr>
                            </m:funcPr>
                            <m:fName>
                              <m:r>
                                <a:rPr lang="en-US" altLang="zh-CN" i="1">
                                  <a:latin typeface="Cambria Math" panose="02040503050406030204" pitchFamily="18" charset="0"/>
                                </a:rPr>
                                <m:t>𝒄𝒐𝒔</m:t>
                              </m:r>
                            </m:fName>
                            <m:e>
                              <m:r>
                                <a:rPr lang="en-US" altLang="zh-CN" i="1">
                                  <a:latin typeface="Cambria Math" panose="02040503050406030204" pitchFamily="18" charset="0"/>
                                </a:rPr>
                                <m:t>(</m:t>
                              </m:r>
                            </m:e>
                          </m:func>
                          <m:sSub>
                            <m:sSubPr>
                              <m:ctrlPr>
                                <a:rPr lang="zh-CN" altLang="zh-CN" i="1">
                                  <a:latin typeface="Cambria Math" panose="02040503050406030204" pitchFamily="18" charset="0"/>
                                </a:rPr>
                              </m:ctrlPr>
                            </m:sSubPr>
                            <m:e>
                              <m:r>
                                <a:rPr lang="en-US" altLang="zh-CN" i="1">
                                  <a:latin typeface="Cambria Math" panose="02040503050406030204" pitchFamily="18" charset="0"/>
                                </a:rPr>
                                <m:t>𝝎</m:t>
                              </m:r>
                            </m:e>
                            <m:sub>
                              <m:r>
                                <a:rPr lang="en-US" altLang="zh-CN" i="1">
                                  <a:latin typeface="Cambria Math" panose="02040503050406030204" pitchFamily="18" charset="0"/>
                                </a:rPr>
                                <m:t>𝟎</m:t>
                              </m:r>
                            </m:sub>
                          </m:sSub>
                          <m:r>
                            <a:rPr lang="en-US" altLang="zh-CN" i="1">
                              <a:latin typeface="Cambria Math" panose="02040503050406030204" pitchFamily="18" charset="0"/>
                            </a:rPr>
                            <m:t>𝒕</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𝝎</m:t>
                              </m:r>
                            </m:e>
                            <m:sub>
                              <m:r>
                                <a:rPr lang="en-US" altLang="zh-CN" i="1">
                                  <a:latin typeface="Cambria Math" panose="02040503050406030204" pitchFamily="18" charset="0"/>
                                </a:rPr>
                                <m:t>𝟎</m:t>
                              </m:r>
                            </m:sub>
                          </m:sSub>
                          <m:r>
                            <a:rPr lang="en-US" altLang="zh-CN" i="1">
                              <a:latin typeface="Cambria Math" panose="02040503050406030204" pitchFamily="18" charset="0"/>
                            </a:rPr>
                            <m:t>𝝉</m:t>
                          </m:r>
                          <m:r>
                            <a:rPr lang="en-US" altLang="zh-CN" i="1">
                              <a:latin typeface="Cambria Math" panose="02040503050406030204" pitchFamily="18" charset="0"/>
                            </a:rPr>
                            <m:t>+</m:t>
                          </m:r>
                          <m:r>
                            <a:rPr lang="en-US" altLang="zh-CN" i="1">
                              <a:latin typeface="Cambria Math" panose="02040503050406030204" pitchFamily="18" charset="0"/>
                            </a:rPr>
                            <m:t>𝜣</m:t>
                          </m:r>
                          <m:r>
                            <a:rPr lang="en-US" altLang="zh-CN" i="1">
                              <a:latin typeface="Cambria Math" panose="02040503050406030204" pitchFamily="18" charset="0"/>
                            </a:rPr>
                            <m:t>)</m:t>
                          </m:r>
                          <m:r>
                            <a:rPr lang="en-US" altLang="zh-CN" i="1">
                              <a:latin typeface="Cambria Math" panose="02040503050406030204" pitchFamily="18" charset="0"/>
                            </a:rPr>
                            <m:t>𝒅𝒕</m:t>
                          </m:r>
                        </m:e>
                      </m:nary>
                    </m:oMath>
                    <m:oMath xmlns:m="http://schemas.openxmlformats.org/officeDocument/2006/math">
                      <m:r>
                        <a:rPr lang="en-US" altLang="zh-CN" i="1">
                          <a:latin typeface="Cambria Math" panose="02040503050406030204" pitchFamily="18" charset="0"/>
                        </a:rPr>
                        <m:t>=</m:t>
                      </m:r>
                      <m:limLow>
                        <m:limLowPr>
                          <m:ctrlPr>
                            <a:rPr lang="zh-CN" altLang="zh-CN" i="1">
                              <a:latin typeface="Cambria Math" panose="02040503050406030204" pitchFamily="18" charset="0"/>
                            </a:rPr>
                          </m:ctrlPr>
                        </m:limLowPr>
                        <m:e>
                          <m:r>
                            <a:rPr lang="en-US" altLang="zh-CN" i="1">
                              <a:latin typeface="Cambria Math" panose="02040503050406030204" pitchFamily="18" charset="0"/>
                            </a:rPr>
                            <m:t>𝒍</m:t>
                          </m:r>
                          <m:r>
                            <a:rPr lang="en-US" altLang="zh-CN" b="1" i="1" smtClean="0">
                              <a:latin typeface="Cambria Math" panose="02040503050406030204" pitchFamily="18" charset="0"/>
                            </a:rPr>
                            <m:t>.</m:t>
                          </m:r>
                          <m:r>
                            <a:rPr lang="en-US" altLang="zh-CN" i="1">
                              <a:latin typeface="Cambria Math" panose="02040503050406030204" pitchFamily="18" charset="0"/>
                            </a:rPr>
                            <m:t>𝒊</m:t>
                          </m:r>
                          <m:r>
                            <a:rPr lang="en-US" altLang="zh-CN" b="1" i="1" smtClean="0">
                              <a:latin typeface="Cambria Math" panose="02040503050406030204" pitchFamily="18" charset="0"/>
                            </a:rPr>
                            <m:t>.</m:t>
                          </m:r>
                          <m:r>
                            <a:rPr lang="en-US" altLang="zh-CN" i="1">
                              <a:latin typeface="Cambria Math" panose="02040503050406030204" pitchFamily="18" charset="0"/>
                            </a:rPr>
                            <m:t>𝒎</m:t>
                          </m:r>
                          <m:r>
                            <a:rPr lang="en-US" altLang="zh-CN" b="1" i="1" smtClean="0">
                              <a:latin typeface="Cambria Math" panose="02040503050406030204" pitchFamily="18" charset="0"/>
                            </a:rPr>
                            <m:t>.</m:t>
                          </m:r>
                        </m:e>
                        <m:lim>
                          <m:r>
                            <a:rPr lang="en-US" altLang="zh-CN" i="1">
                              <a:latin typeface="Cambria Math" panose="02040503050406030204" pitchFamily="18" charset="0"/>
                            </a:rPr>
                            <m:t>𝑻</m:t>
                          </m:r>
                          <m:r>
                            <a:rPr lang="en-US" altLang="zh-CN" i="1">
                              <a:latin typeface="Cambria Math" panose="02040503050406030204" pitchFamily="18" charset="0"/>
                            </a:rPr>
                            <m:t>→∞</m:t>
                          </m:r>
                        </m:lim>
                      </m:limLow>
                      <m:f>
                        <m:fPr>
                          <m:ctrlPr>
                            <a:rPr lang="zh-CN" altLang="zh-CN" i="1">
                              <a:latin typeface="Cambria Math" panose="02040503050406030204" pitchFamily="18" charset="0"/>
                            </a:rPr>
                          </m:ctrlPr>
                        </m:fPr>
                        <m:num>
                          <m:sSup>
                            <m:sSupPr>
                              <m:ctrlPr>
                                <a:rPr lang="zh-CN" altLang="zh-CN" i="1">
                                  <a:latin typeface="Cambria Math" panose="02040503050406030204" pitchFamily="18" charset="0"/>
                                </a:rPr>
                              </m:ctrlPr>
                            </m:sSupPr>
                            <m:e>
                              <m:r>
                                <a:rPr lang="en-US" altLang="zh-CN" i="1">
                                  <a:latin typeface="Cambria Math" panose="02040503050406030204" pitchFamily="18" charset="0"/>
                                </a:rPr>
                                <m:t>𝒂</m:t>
                              </m:r>
                            </m:e>
                            <m:sup>
                              <m:r>
                                <a:rPr lang="en-US" altLang="zh-CN" i="1">
                                  <a:latin typeface="Cambria Math" panose="02040503050406030204" pitchFamily="18" charset="0"/>
                                </a:rPr>
                                <m:t>𝟐</m:t>
                              </m:r>
                            </m:sup>
                          </m:sSup>
                        </m:num>
                        <m:den>
                          <m:r>
                            <a:rPr lang="en-US" altLang="zh-CN" i="1">
                              <a:latin typeface="Cambria Math" panose="02040503050406030204" pitchFamily="18" charset="0"/>
                            </a:rPr>
                            <m:t>𝟒</m:t>
                          </m:r>
                          <m:r>
                            <a:rPr lang="en-US" altLang="zh-CN" i="1">
                              <a:latin typeface="Cambria Math" panose="02040503050406030204" pitchFamily="18" charset="0"/>
                            </a:rPr>
                            <m:t>𝑻</m:t>
                          </m:r>
                        </m:den>
                      </m:f>
                      <m:nary>
                        <m:naryPr>
                          <m:ctrlPr>
                            <a:rPr lang="zh-CN" altLang="zh-CN" i="1">
                              <a:latin typeface="Cambria Math" panose="02040503050406030204" pitchFamily="18" charset="0"/>
                            </a:rPr>
                          </m:ctrlPr>
                        </m:naryPr>
                        <m:sub>
                          <m:r>
                            <a:rPr lang="en-US" altLang="zh-CN" i="1">
                              <a:latin typeface="Cambria Math" panose="02040503050406030204" pitchFamily="18" charset="0"/>
                            </a:rPr>
                            <m:t>−</m:t>
                          </m:r>
                          <m:r>
                            <a:rPr lang="en-US" altLang="zh-CN" i="1">
                              <a:latin typeface="Cambria Math" panose="02040503050406030204" pitchFamily="18" charset="0"/>
                            </a:rPr>
                            <m:t>𝑻</m:t>
                          </m:r>
                        </m:sub>
                        <m:sup>
                          <m:r>
                            <a:rPr lang="en-US" altLang="zh-CN" i="1">
                              <a:latin typeface="Cambria Math" panose="02040503050406030204" pitchFamily="18" charset="0"/>
                            </a:rPr>
                            <m:t>𝑻</m:t>
                          </m:r>
                        </m:sup>
                        <m:e>
                          <m:r>
                            <a:rPr lang="en-US" altLang="zh-CN" i="1">
                              <a:latin typeface="Cambria Math" panose="02040503050406030204" pitchFamily="18" charset="0"/>
                            </a:rPr>
                            <m:t>[</m:t>
                          </m:r>
                          <m:func>
                            <m:funcPr>
                              <m:ctrlPr>
                                <a:rPr lang="zh-CN" altLang="zh-CN" i="1">
                                  <a:latin typeface="Cambria Math" panose="02040503050406030204" pitchFamily="18" charset="0"/>
                                </a:rPr>
                              </m:ctrlPr>
                            </m:funcPr>
                            <m:fName>
                              <m:r>
                                <a:rPr lang="en-US" altLang="zh-CN" i="1">
                                  <a:latin typeface="Cambria Math" panose="02040503050406030204" pitchFamily="18" charset="0"/>
                                </a:rPr>
                                <m:t>𝒄𝒐𝒔</m:t>
                              </m:r>
                            </m:fName>
                            <m:e>
                              <m:r>
                                <a:rPr lang="en-US" altLang="zh-CN" i="1">
                                  <a:latin typeface="Cambria Math" panose="02040503050406030204" pitchFamily="18" charset="0"/>
                                </a:rPr>
                                <m:t>(</m:t>
                              </m:r>
                            </m:e>
                          </m:func>
                          <m:r>
                            <a:rPr lang="en-US" altLang="zh-CN" i="1">
                              <a:latin typeface="Cambria Math" panose="02040503050406030204" pitchFamily="18" charset="0"/>
                            </a:rPr>
                            <m:t>𝟐</m:t>
                          </m:r>
                          <m:sSub>
                            <m:sSubPr>
                              <m:ctrlPr>
                                <a:rPr lang="zh-CN" altLang="zh-CN" i="1">
                                  <a:latin typeface="Cambria Math" panose="02040503050406030204" pitchFamily="18" charset="0"/>
                                </a:rPr>
                              </m:ctrlPr>
                            </m:sSubPr>
                            <m:e>
                              <m:r>
                                <a:rPr lang="en-US" altLang="zh-CN" i="1">
                                  <a:latin typeface="Cambria Math" panose="02040503050406030204" pitchFamily="18" charset="0"/>
                                </a:rPr>
                                <m:t>𝝎</m:t>
                              </m:r>
                            </m:e>
                            <m:sub>
                              <m:r>
                                <a:rPr lang="en-US" altLang="zh-CN" i="1">
                                  <a:latin typeface="Cambria Math" panose="02040503050406030204" pitchFamily="18" charset="0"/>
                                </a:rPr>
                                <m:t>𝟎</m:t>
                              </m:r>
                            </m:sub>
                          </m:sSub>
                          <m:r>
                            <a:rPr lang="en-US" altLang="zh-CN" i="1">
                              <a:latin typeface="Cambria Math" panose="02040503050406030204" pitchFamily="18" charset="0"/>
                            </a:rPr>
                            <m:t>𝒕</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𝝎</m:t>
                              </m:r>
                            </m:e>
                            <m:sub>
                              <m:r>
                                <a:rPr lang="en-US" altLang="zh-CN" i="1">
                                  <a:latin typeface="Cambria Math" panose="02040503050406030204" pitchFamily="18" charset="0"/>
                                </a:rPr>
                                <m:t>𝟎</m:t>
                              </m:r>
                            </m:sub>
                          </m:sSub>
                          <m:r>
                            <a:rPr lang="en-US" altLang="zh-CN" i="1">
                              <a:latin typeface="Cambria Math" panose="02040503050406030204" pitchFamily="18" charset="0"/>
                            </a:rPr>
                            <m:t>𝝉</m:t>
                          </m:r>
                          <m:r>
                            <a:rPr lang="en-US" altLang="zh-CN" i="1">
                              <a:latin typeface="Cambria Math" panose="02040503050406030204" pitchFamily="18" charset="0"/>
                            </a:rPr>
                            <m:t>+</m:t>
                          </m:r>
                          <m:r>
                            <a:rPr lang="en-US" altLang="zh-CN" i="1">
                              <a:latin typeface="Cambria Math" panose="02040503050406030204" pitchFamily="18" charset="0"/>
                            </a:rPr>
                            <m:t>𝟐</m:t>
                          </m:r>
                          <m:r>
                            <a:rPr lang="en-US" altLang="zh-CN" i="1">
                              <a:latin typeface="Cambria Math" panose="02040503050406030204" pitchFamily="18" charset="0"/>
                            </a:rPr>
                            <m:t>𝜣</m:t>
                          </m:r>
                          <m:r>
                            <a:rPr lang="en-US" altLang="zh-CN" i="1">
                              <a:latin typeface="Cambria Math" panose="02040503050406030204" pitchFamily="18" charset="0"/>
                            </a:rPr>
                            <m:t>)+</m:t>
                          </m:r>
                          <m:func>
                            <m:funcPr>
                              <m:ctrlPr>
                                <a:rPr lang="zh-CN" altLang="zh-CN" i="1">
                                  <a:latin typeface="Cambria Math" panose="02040503050406030204" pitchFamily="18" charset="0"/>
                                </a:rPr>
                              </m:ctrlPr>
                            </m:funcPr>
                            <m:fName>
                              <m:sSub>
                                <m:sSubPr>
                                  <m:ctrlPr>
                                    <a:rPr lang="zh-CN" altLang="zh-CN" i="1">
                                      <a:latin typeface="Cambria Math" panose="02040503050406030204" pitchFamily="18" charset="0"/>
                                    </a:rPr>
                                  </m:ctrlPr>
                                </m:sSubPr>
                                <m:e>
                                  <m:r>
                                    <a:rPr lang="en-US" altLang="zh-CN" i="1">
                                      <a:latin typeface="Cambria Math" panose="02040503050406030204" pitchFamily="18" charset="0"/>
                                    </a:rPr>
                                    <m:t>𝒄𝒐𝒔</m:t>
                                  </m:r>
                                  <m:r>
                                    <a:rPr lang="en-US" altLang="zh-CN" i="1">
                                      <a:latin typeface="Cambria Math" panose="02040503050406030204" pitchFamily="18" charset="0"/>
                                    </a:rPr>
                                    <m:t>𝝎</m:t>
                                  </m:r>
                                </m:e>
                                <m:sub>
                                  <m:r>
                                    <a:rPr lang="en-US" altLang="zh-CN" i="1">
                                      <a:latin typeface="Cambria Math" panose="02040503050406030204" pitchFamily="18" charset="0"/>
                                    </a:rPr>
                                    <m:t>𝟎</m:t>
                                  </m:r>
                                </m:sub>
                              </m:sSub>
                            </m:fName>
                            <m:e>
                              <m:r>
                                <a:rPr lang="en-US" altLang="zh-CN" i="1">
                                  <a:latin typeface="Cambria Math" panose="02040503050406030204" pitchFamily="18" charset="0"/>
                                </a:rPr>
                                <m:t>𝝉</m:t>
                              </m:r>
                            </m:e>
                          </m:func>
                          <m:r>
                            <a:rPr lang="en-US" altLang="zh-CN" i="1">
                              <a:latin typeface="Cambria Math" panose="02040503050406030204" pitchFamily="18" charset="0"/>
                            </a:rPr>
                            <m:t>]</m:t>
                          </m:r>
                          <m:r>
                            <a:rPr lang="en-US" altLang="zh-CN" i="1">
                              <a:latin typeface="Cambria Math" panose="02040503050406030204" pitchFamily="18" charset="0"/>
                            </a:rPr>
                            <m:t>𝒅𝒕</m:t>
                          </m:r>
                        </m:e>
                      </m:nary>
                    </m:oMath>
                    <m:oMath xmlns:m="http://schemas.openxmlformats.org/officeDocument/2006/math">
                      <m:r>
                        <a:rPr lang="en-US" altLang="zh-CN" i="1">
                          <a:latin typeface="Cambria Math" panose="02040503050406030204" pitchFamily="18" charset="0"/>
                        </a:rPr>
                        <m:t>=</m:t>
                      </m:r>
                      <m:f>
                        <m:fPr>
                          <m:ctrlPr>
                            <a:rPr lang="zh-CN" altLang="zh-CN" i="1">
                              <a:latin typeface="Cambria Math" panose="02040503050406030204" pitchFamily="18" charset="0"/>
                            </a:rPr>
                          </m:ctrlPr>
                        </m:fPr>
                        <m:num>
                          <m:sSup>
                            <m:sSupPr>
                              <m:ctrlPr>
                                <a:rPr lang="zh-CN" altLang="zh-CN" i="1">
                                  <a:latin typeface="Cambria Math" panose="02040503050406030204" pitchFamily="18" charset="0"/>
                                </a:rPr>
                              </m:ctrlPr>
                            </m:sSupPr>
                            <m:e>
                              <m:r>
                                <a:rPr lang="en-US" altLang="zh-CN" i="1">
                                  <a:latin typeface="Cambria Math" panose="02040503050406030204" pitchFamily="18" charset="0"/>
                                </a:rPr>
                                <m:t>𝒂</m:t>
                              </m:r>
                            </m:e>
                            <m:sup>
                              <m:r>
                                <a:rPr lang="en-US" altLang="zh-CN" i="1">
                                  <a:latin typeface="Cambria Math" panose="02040503050406030204" pitchFamily="18" charset="0"/>
                                </a:rPr>
                                <m:t>𝟐</m:t>
                              </m:r>
                            </m:sup>
                          </m:sSup>
                        </m:num>
                        <m:den>
                          <m:r>
                            <a:rPr lang="en-US" altLang="zh-CN" i="1">
                              <a:latin typeface="Cambria Math" panose="02040503050406030204" pitchFamily="18" charset="0"/>
                            </a:rPr>
                            <m:t>𝟐</m:t>
                          </m:r>
                        </m:den>
                      </m:f>
                      <m:func>
                        <m:funcPr>
                          <m:ctrlPr>
                            <a:rPr lang="zh-CN" altLang="zh-CN" i="1">
                              <a:latin typeface="Cambria Math" panose="02040503050406030204" pitchFamily="18" charset="0"/>
                            </a:rPr>
                          </m:ctrlPr>
                        </m:funcPr>
                        <m:fName>
                          <m:sSub>
                            <m:sSubPr>
                              <m:ctrlPr>
                                <a:rPr lang="zh-CN" altLang="zh-CN" i="1">
                                  <a:latin typeface="Cambria Math" panose="02040503050406030204" pitchFamily="18" charset="0"/>
                                </a:rPr>
                              </m:ctrlPr>
                            </m:sSubPr>
                            <m:e>
                              <m:r>
                                <a:rPr lang="en-US" altLang="zh-CN" i="1">
                                  <a:latin typeface="Cambria Math" panose="02040503050406030204" pitchFamily="18" charset="0"/>
                                </a:rPr>
                                <m:t>𝒄𝒐𝒔</m:t>
                              </m:r>
                              <m:r>
                                <a:rPr lang="en-US" altLang="zh-CN" i="1">
                                  <a:latin typeface="Cambria Math" panose="02040503050406030204" pitchFamily="18" charset="0"/>
                                </a:rPr>
                                <m:t>𝝎</m:t>
                              </m:r>
                            </m:e>
                            <m:sub>
                              <m:r>
                                <a:rPr lang="en-US" altLang="zh-CN" i="1">
                                  <a:latin typeface="Cambria Math" panose="02040503050406030204" pitchFamily="18" charset="0"/>
                                </a:rPr>
                                <m:t>𝟎</m:t>
                              </m:r>
                            </m:sub>
                          </m:sSub>
                        </m:fName>
                        <m:e>
                          <m:r>
                            <a:rPr lang="en-US" altLang="zh-CN" i="1">
                              <a:latin typeface="Cambria Math" panose="02040503050406030204" pitchFamily="18" charset="0"/>
                            </a:rPr>
                            <m:t>𝝉</m:t>
                          </m:r>
                        </m:e>
                      </m:func>
                      <m:r>
                        <a:rPr lang="en-US" altLang="zh-CN" i="1">
                          <a:latin typeface="Cambria Math" panose="02040503050406030204" pitchFamily="18" charset="0"/>
                        </a:rPr>
                        <m:t>=</m:t>
                      </m:r>
                      <m:r>
                        <a:rPr lang="en-US" altLang="zh-CN" i="1">
                          <a:latin typeface="Cambria Math" panose="02040503050406030204" pitchFamily="18" charset="0"/>
                        </a:rPr>
                        <m:t>𝑬</m:t>
                      </m:r>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𝑿</m:t>
                          </m:r>
                        </m:e>
                        <m:sup>
                          <m:r>
                            <a:rPr lang="en-US" altLang="zh-CN" i="1">
                              <a:latin typeface="Cambria Math" panose="02040503050406030204" pitchFamily="18" charset="0"/>
                            </a:rPr>
                            <m:t>∗</m:t>
                          </m:r>
                        </m:sup>
                      </m:sSup>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𝑿</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oMath>
                  </m:oMathPara>
                </a14:m>
                <a:endParaRPr lang="zh-CN" altLang="zh-CN" dirty="0"/>
              </a:p>
              <a:p>
                <a:pPr marL="0" indent="0">
                  <a:buNone/>
                </a:pPr>
                <a:endParaRPr lang="en-US" altLang="zh-CN" dirty="0"/>
              </a:p>
              <a:p>
                <a:pPr marL="0" indent="0">
                  <a:buNone/>
                </a:pPr>
                <a:r>
                  <a:rPr lang="zh-CN" altLang="en-US" dirty="0"/>
                  <a:t>结论：</a:t>
                </a:r>
                <a:r>
                  <a:rPr lang="en-US" altLang="zh-CN" dirty="0"/>
                  <a:t> </a:t>
                </a:r>
                <a14:m>
                  <m:oMath xmlns:m="http://schemas.openxmlformats.org/officeDocument/2006/math">
                    <m:r>
                      <a:rPr lang="en-US" altLang="zh-CN" i="1">
                        <a:latin typeface="Cambria Math" panose="02040503050406030204" pitchFamily="18" charset="0"/>
                      </a:rPr>
                      <m:t>𝑿</m:t>
                    </m:r>
                    <m:d>
                      <m:dPr>
                        <m:ctrlPr>
                          <a:rPr lang="en-US" altLang="zh-CN" i="1">
                            <a:latin typeface="Cambria Math" panose="02040503050406030204" pitchFamily="18" charset="0"/>
                          </a:rPr>
                        </m:ctrlPr>
                      </m:dPr>
                      <m:e>
                        <m:r>
                          <a:rPr lang="en-US" altLang="zh-CN" i="1">
                            <a:latin typeface="Cambria Math" panose="02040503050406030204" pitchFamily="18" charset="0"/>
                          </a:rPr>
                          <m:t>𝒕</m:t>
                        </m:r>
                      </m:e>
                    </m:d>
                  </m:oMath>
                </a14:m>
                <a:r>
                  <a:rPr lang="zh-CN" altLang="zh-CN" dirty="0"/>
                  <a:t>为各态历经过程。</a:t>
                </a:r>
                <a:endParaRPr lang="zh-CN" altLang="en-US" dirty="0"/>
              </a:p>
            </p:txBody>
          </p:sp>
        </mc:Choice>
        <mc:Fallback xmlns="">
          <p:sp>
            <p:nvSpPr>
              <p:cNvPr id="2" name="内容占位符 1">
                <a:extLst>
                  <a:ext uri="{FF2B5EF4-FFF2-40B4-BE49-F238E27FC236}">
                    <a16:creationId xmlns:a16="http://schemas.microsoft.com/office/drawing/2014/main" id="{E1DCF8E8-DBFF-4F8F-8CE3-4A07A5DD8A55}"/>
                  </a:ext>
                </a:extLst>
              </p:cNvPr>
              <p:cNvSpPr>
                <a:spLocks noGrp="1" noRot="1" noChangeAspect="1" noMove="1" noResize="1" noEditPoints="1" noAdjustHandles="1" noChangeArrowheads="1" noChangeShapeType="1" noTextEdit="1"/>
              </p:cNvSpPr>
              <p:nvPr>
                <p:ph idx="1"/>
              </p:nvPr>
            </p:nvSpPr>
            <p:spPr>
              <a:xfrm>
                <a:off x="684213" y="1292469"/>
                <a:ext cx="7772400" cy="4365381"/>
              </a:xfrm>
              <a:blipFill>
                <a:blip r:embed="rId2"/>
                <a:stretch>
                  <a:fillRect l="-94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65074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693CB13B-0D61-4458-AA70-8B7841805723}"/>
                  </a:ext>
                </a:extLst>
              </p:cNvPr>
              <p:cNvSpPr>
                <a:spLocks noGrp="1"/>
              </p:cNvSpPr>
              <p:nvPr>
                <p:ph idx="1"/>
              </p:nvPr>
            </p:nvSpPr>
            <p:spPr>
              <a:xfrm>
                <a:off x="633680" y="987191"/>
                <a:ext cx="8166217" cy="4641783"/>
              </a:xfrm>
            </p:spPr>
            <p:txBody>
              <a:bodyPr/>
              <a:lstStyle/>
              <a:p>
                <a:pPr marL="0" indent="0">
                  <a:lnSpc>
                    <a:spcPct val="150000"/>
                  </a:lnSpc>
                  <a:buNone/>
                </a:pPr>
                <a:r>
                  <a:rPr lang="zh-CN" altLang="zh-CN" dirty="0"/>
                  <a:t>例</a:t>
                </a:r>
                <a:r>
                  <a:rPr lang="zh-CN" altLang="en-US" dirty="0"/>
                  <a:t>：</a:t>
                </a:r>
                <a:r>
                  <a:rPr lang="zh-CN" altLang="zh-CN" dirty="0"/>
                  <a:t>随机过程</a:t>
                </a:r>
                <a14:m>
                  <m:oMath xmlns:m="http://schemas.openxmlformats.org/officeDocument/2006/math">
                    <m:r>
                      <a:rPr lang="en-US" altLang="zh-CN" i="1" smtClean="0">
                        <a:latin typeface="Cambria Math" panose="02040503050406030204" pitchFamily="18" charset="0"/>
                      </a:rPr>
                      <m:t>𝑺</m:t>
                    </m:r>
                    <m:r>
                      <a:rPr lang="en-US" altLang="zh-CN" i="1" smtClean="0">
                        <a:latin typeface="Cambria Math" panose="02040503050406030204" pitchFamily="18" charset="0"/>
                      </a:rPr>
                      <m:t>(</m:t>
                    </m:r>
                    <m:r>
                      <a:rPr lang="en-US" altLang="zh-CN" i="1" smtClean="0">
                        <a:latin typeface="Cambria Math" panose="02040503050406030204" pitchFamily="18" charset="0"/>
                      </a:rPr>
                      <m:t>𝒕</m:t>
                    </m:r>
                    <m:r>
                      <a:rPr lang="en-US" altLang="zh-CN" i="1" smtClean="0">
                        <a:latin typeface="Cambria Math" panose="02040503050406030204" pitchFamily="18" charset="0"/>
                      </a:rPr>
                      <m:t>)=</m:t>
                    </m:r>
                    <m:r>
                      <a:rPr lang="en-US" altLang="zh-CN" i="1">
                        <a:latin typeface="Cambria Math" panose="02040503050406030204" pitchFamily="18" charset="0"/>
                      </a:rPr>
                      <m:t>𝑿</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𝒀</m:t>
                    </m:r>
                  </m:oMath>
                </a14:m>
                <a:r>
                  <a:rPr lang="en-US" altLang="zh-CN" dirty="0"/>
                  <a:t>, </a:t>
                </a:r>
                <a:r>
                  <a:rPr lang="en-US" altLang="zh-CN" i="1" dirty="0"/>
                  <a:t>X</a:t>
                </a:r>
                <a:r>
                  <a:rPr lang="en-US" altLang="zh-CN" dirty="0"/>
                  <a:t>(</a:t>
                </a:r>
                <a:r>
                  <a:rPr lang="en-US" altLang="zh-CN" i="1" dirty="0"/>
                  <a:t>t</a:t>
                </a:r>
                <a:r>
                  <a:rPr lang="en-US" altLang="zh-CN" dirty="0"/>
                  <a:t>)</a:t>
                </a:r>
                <a:r>
                  <a:rPr lang="zh-CN" altLang="zh-CN" dirty="0"/>
                  <a:t>为一平稳过程，</a:t>
                </a:r>
                <a:r>
                  <a:rPr lang="en-US" altLang="zh-CN" i="1" dirty="0"/>
                  <a:t>Y</a:t>
                </a:r>
                <a:r>
                  <a:rPr lang="zh-CN" altLang="zh-CN" dirty="0"/>
                  <a:t>是</a:t>
                </a:r>
                <a:r>
                  <a:rPr lang="en-US" altLang="zh-CN" i="1" dirty="0"/>
                  <a:t>X</a:t>
                </a:r>
                <a:r>
                  <a:rPr lang="en-US" altLang="zh-CN" dirty="0"/>
                  <a:t>(</a:t>
                </a:r>
                <a:r>
                  <a:rPr lang="en-US" altLang="zh-CN" i="1" dirty="0"/>
                  <a:t>t</a:t>
                </a:r>
                <a:r>
                  <a:rPr lang="en-US" altLang="zh-CN" dirty="0"/>
                  <a:t>)</a:t>
                </a:r>
                <a:r>
                  <a:rPr lang="zh-CN" altLang="zh-CN" dirty="0"/>
                  <a:t>不相关的随机变量，讨论</a:t>
                </a:r>
                <a:r>
                  <a:rPr lang="en-US" altLang="zh-CN" i="1" dirty="0"/>
                  <a:t>S</a:t>
                </a:r>
                <a:r>
                  <a:rPr lang="en-US" altLang="zh-CN" dirty="0"/>
                  <a:t>(</a:t>
                </a:r>
                <a:r>
                  <a:rPr lang="en-US" altLang="zh-CN" i="1" dirty="0"/>
                  <a:t>t</a:t>
                </a:r>
                <a:r>
                  <a:rPr lang="en-US" altLang="zh-CN" dirty="0"/>
                  <a:t>)</a:t>
                </a:r>
                <a:r>
                  <a:rPr lang="zh-CN" altLang="zh-CN" dirty="0"/>
                  <a:t>的遍历性。</a:t>
                </a:r>
              </a:p>
              <a:p>
                <a:pPr marL="0" indent="0">
                  <a:lnSpc>
                    <a:spcPct val="150000"/>
                  </a:lnSpc>
                  <a:buNone/>
                </a:pPr>
                <a:r>
                  <a:rPr lang="zh-CN" altLang="zh-CN" dirty="0"/>
                  <a:t>解：遍历的条件首先为平稳过程，判断</a:t>
                </a:r>
                <a:r>
                  <a:rPr lang="en-US" altLang="zh-CN" i="1" dirty="0"/>
                  <a:t>S</a:t>
                </a:r>
                <a:r>
                  <a:rPr lang="en-US" altLang="zh-CN" dirty="0"/>
                  <a:t> (</a:t>
                </a:r>
                <a:r>
                  <a:rPr lang="en-US" altLang="zh-CN" i="1" dirty="0"/>
                  <a:t>t</a:t>
                </a:r>
                <a:r>
                  <a:rPr lang="en-US" altLang="zh-CN" dirty="0"/>
                  <a:t>)</a:t>
                </a:r>
                <a:r>
                  <a:rPr lang="zh-CN" altLang="zh-CN" dirty="0"/>
                  <a:t>的平稳性。</a:t>
                </a:r>
              </a:p>
              <a:p>
                <a:pPr marL="0" indent="0">
                  <a:lnSpc>
                    <a:spcPct val="150000"/>
                  </a:lnSpc>
                  <a:buNone/>
                </a:pPr>
                <a:r>
                  <a:rPr lang="en-US" altLang="zh-CN" dirty="0"/>
                  <a:t>  </a:t>
                </a:r>
                <a14:m>
                  <m:oMath xmlns:m="http://schemas.openxmlformats.org/officeDocument/2006/math">
                    <m:r>
                      <a:rPr lang="en-US" altLang="zh-CN" i="1">
                        <a:latin typeface="Cambria Math" panose="02040503050406030204" pitchFamily="18" charset="0"/>
                      </a:rPr>
                      <m:t>𝑬</m:t>
                    </m:r>
                    <m:r>
                      <a:rPr lang="en-US" altLang="zh-CN" i="1">
                        <a:latin typeface="Cambria Math" panose="02040503050406030204" pitchFamily="18" charset="0"/>
                      </a:rPr>
                      <m:t>[</m:t>
                    </m:r>
                    <m:r>
                      <a:rPr lang="en-US" altLang="zh-CN" i="1">
                        <a:latin typeface="Cambria Math" panose="02040503050406030204" pitchFamily="18" charset="0"/>
                      </a:rPr>
                      <m:t>𝑺</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𝑬</m:t>
                    </m:r>
                    <m:r>
                      <a:rPr lang="en-US" altLang="zh-CN" i="1">
                        <a:latin typeface="Cambria Math" panose="02040503050406030204" pitchFamily="18" charset="0"/>
                      </a:rPr>
                      <m:t>[</m:t>
                    </m:r>
                    <m:r>
                      <a:rPr lang="en-US" altLang="zh-CN" i="1">
                        <a:latin typeface="Cambria Math" panose="02040503050406030204" pitchFamily="18" charset="0"/>
                      </a:rPr>
                      <m:t>𝒀</m:t>
                    </m:r>
                    <m:r>
                      <a:rPr lang="en-US" altLang="zh-CN" i="1">
                        <a:latin typeface="Cambria Math" panose="02040503050406030204" pitchFamily="18" charset="0"/>
                      </a:rPr>
                      <m:t>]+</m:t>
                    </m:r>
                    <m:r>
                      <a:rPr lang="en-US" altLang="zh-CN" i="1">
                        <a:latin typeface="Cambria Math" panose="02040503050406030204" pitchFamily="18" charset="0"/>
                      </a:rPr>
                      <m:t>𝑬</m:t>
                    </m:r>
                    <m:r>
                      <a:rPr lang="en-US" altLang="zh-CN" i="1">
                        <a:latin typeface="Cambria Math" panose="02040503050406030204" pitchFamily="18" charset="0"/>
                      </a:rPr>
                      <m:t>[</m:t>
                    </m:r>
                    <m:r>
                      <a:rPr lang="en-US" altLang="zh-CN" i="1">
                        <a:latin typeface="Cambria Math" panose="02040503050406030204" pitchFamily="18" charset="0"/>
                      </a:rPr>
                      <m:t>𝑿</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𝒎</m:t>
                        </m:r>
                      </m:e>
                      <m:sub>
                        <m:r>
                          <a:rPr lang="en-US" altLang="zh-CN" i="1">
                            <a:latin typeface="Cambria Math" panose="02040503050406030204" pitchFamily="18" charset="0"/>
                          </a:rPr>
                          <m:t>𝑿</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𝒎</m:t>
                        </m:r>
                      </m:e>
                      <m:sub>
                        <m:r>
                          <a:rPr lang="en-US" altLang="zh-CN" i="1">
                            <a:latin typeface="Cambria Math" panose="02040503050406030204" pitchFamily="18" charset="0"/>
                          </a:rPr>
                          <m:t>𝒀</m:t>
                        </m:r>
                      </m:sub>
                    </m:sSub>
                  </m:oMath>
                </a14:m>
                <a:endParaRPr lang="zh-CN" altLang="zh-CN" dirty="0"/>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𝑬</m:t>
                      </m:r>
                      <m:r>
                        <a:rPr lang="en-US" altLang="zh-CN" i="1">
                          <a:latin typeface="Cambria Math" panose="02040503050406030204" pitchFamily="18" charset="0"/>
                        </a:rPr>
                        <m:t>[</m:t>
                      </m:r>
                      <m:r>
                        <a:rPr lang="en-US" altLang="zh-CN" i="1">
                          <a:latin typeface="Cambria Math" panose="02040503050406030204" pitchFamily="18" charset="0"/>
                        </a:rPr>
                        <m:t>𝑺</m:t>
                      </m:r>
                      <m:d>
                        <m:dPr>
                          <m:ctrlPr>
                            <a:rPr lang="en-US" altLang="zh-CN" i="1">
                              <a:latin typeface="Cambria Math" panose="02040503050406030204" pitchFamily="18" charset="0"/>
                            </a:rPr>
                          </m:ctrlPr>
                        </m:dPr>
                        <m:e>
                          <m:r>
                            <a:rPr lang="en-US" altLang="zh-CN" i="1">
                              <a:latin typeface="Cambria Math" panose="02040503050406030204" pitchFamily="18" charset="0"/>
                            </a:rPr>
                            <m:t>𝒕</m:t>
                          </m:r>
                        </m:e>
                      </m:d>
                      <m:r>
                        <a:rPr lang="en-US" altLang="zh-CN" i="1">
                          <a:latin typeface="Cambria Math" panose="02040503050406030204" pitchFamily="18" charset="0"/>
                        </a:rPr>
                        <m:t>𝑺</m:t>
                      </m:r>
                      <m:d>
                        <m:dPr>
                          <m:ctrlPr>
                            <a:rPr lang="en-US" altLang="zh-CN" i="1">
                              <a:latin typeface="Cambria Math" panose="02040503050406030204" pitchFamily="18" charset="0"/>
                            </a:rPr>
                          </m:ctrlPr>
                        </m:dPr>
                        <m:e>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𝝉</m:t>
                          </m:r>
                        </m:e>
                      </m:d>
                      <m:r>
                        <a:rPr lang="en-US" altLang="zh-CN" b="1" i="1" smtClean="0">
                          <a:latin typeface="Cambria Math" panose="02040503050406030204" pitchFamily="18" charset="0"/>
                        </a:rPr>
                        <m:t>]</m:t>
                      </m:r>
                      <m:r>
                        <a:rPr lang="en-US" altLang="zh-CN" i="1">
                          <a:latin typeface="Cambria Math" panose="02040503050406030204" pitchFamily="18" charset="0"/>
                        </a:rPr>
                        <m:t>=</m:t>
                      </m:r>
                      <m:r>
                        <a:rPr lang="en-US" altLang="zh-CN" i="1">
                          <a:latin typeface="Cambria Math" panose="02040503050406030204" pitchFamily="18" charset="0"/>
                        </a:rPr>
                        <m:t>𝑬</m:t>
                      </m:r>
                      <m:r>
                        <a:rPr lang="en-US" altLang="zh-CN" i="1">
                          <a:latin typeface="Cambria Math" panose="02040503050406030204" pitchFamily="18" charset="0"/>
                        </a:rPr>
                        <m:t>[(</m:t>
                      </m:r>
                      <m:r>
                        <a:rPr lang="en-US" altLang="zh-CN" i="1">
                          <a:latin typeface="Cambria Math" panose="02040503050406030204" pitchFamily="18" charset="0"/>
                        </a:rPr>
                        <m:t>𝑿</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𝒀</m:t>
                      </m:r>
                      <m:r>
                        <a:rPr lang="en-US" altLang="zh-CN" i="1">
                          <a:latin typeface="Cambria Math" panose="02040503050406030204" pitchFamily="18" charset="0"/>
                        </a:rPr>
                        <m:t>)(</m:t>
                      </m:r>
                      <m:r>
                        <a:rPr lang="en-US" altLang="zh-CN" i="1">
                          <a:latin typeface="Cambria Math" panose="02040503050406030204" pitchFamily="18" charset="0"/>
                        </a:rPr>
                        <m:t>𝑿</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r>
                        <a:rPr lang="en-US" altLang="zh-CN" i="1">
                          <a:latin typeface="Cambria Math" panose="02040503050406030204" pitchFamily="18" charset="0"/>
                        </a:rPr>
                        <m:t>𝒀</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𝑿</m:t>
                          </m:r>
                        </m:sub>
                      </m:sSub>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r>
                        <a:rPr lang="en-US" altLang="zh-CN" i="1">
                          <a:latin typeface="Cambria Math" panose="02040503050406030204" pitchFamily="18" charset="0"/>
                        </a:rPr>
                        <m:t>𝑬</m:t>
                      </m:r>
                      <m:r>
                        <a:rPr lang="en-US" altLang="zh-CN" i="1">
                          <a:latin typeface="Cambria Math" panose="02040503050406030204" pitchFamily="18" charset="0"/>
                        </a:rPr>
                        <m:t>[</m:t>
                      </m:r>
                      <m:r>
                        <a:rPr lang="en-US" altLang="zh-CN" i="1">
                          <a:latin typeface="Cambria Math" panose="02040503050406030204" pitchFamily="18" charset="0"/>
                        </a:rPr>
                        <m:t>𝒀𝑿</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r>
                        <a:rPr lang="en-US" altLang="zh-CN" i="1">
                          <a:latin typeface="Cambria Math" panose="02040503050406030204" pitchFamily="18" charset="0"/>
                        </a:rPr>
                        <m:t>𝑬</m:t>
                      </m:r>
                      <m:r>
                        <a:rPr lang="en-US" altLang="zh-CN" i="1">
                          <a:latin typeface="Cambria Math" panose="02040503050406030204" pitchFamily="18" charset="0"/>
                        </a:rPr>
                        <m:t>[</m:t>
                      </m:r>
                      <m:r>
                        <a:rPr lang="en-US" altLang="zh-CN" i="1">
                          <a:latin typeface="Cambria Math" panose="02040503050406030204" pitchFamily="18" charset="0"/>
                        </a:rPr>
                        <m:t>𝑿</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𝒀</m:t>
                      </m:r>
                      <m:r>
                        <a:rPr lang="en-US" altLang="zh-CN" i="1">
                          <a:latin typeface="Cambria Math" panose="02040503050406030204" pitchFamily="18" charset="0"/>
                        </a:rPr>
                        <m:t>]+</m:t>
                      </m:r>
                      <m:r>
                        <a:rPr lang="en-US" altLang="zh-CN" i="1">
                          <a:latin typeface="Cambria Math" panose="02040503050406030204" pitchFamily="18" charset="0"/>
                        </a:rPr>
                        <m:t>𝑬</m:t>
                      </m:r>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𝒀</m:t>
                          </m:r>
                        </m:e>
                        <m:sup>
                          <m:r>
                            <a:rPr lang="en-US" altLang="zh-CN" i="1">
                              <a:latin typeface="Cambria Math" panose="02040503050406030204" pitchFamily="18" charset="0"/>
                            </a:rPr>
                            <m:t>𝟐</m:t>
                          </m:r>
                        </m:sup>
                      </m:sSup>
                      <m:r>
                        <a:rPr lang="en-US" altLang="zh-CN" i="1">
                          <a:latin typeface="Cambria Math" panose="02040503050406030204" pitchFamily="18" charset="0"/>
                        </a:rPr>
                        <m:t>]</m:t>
                      </m:r>
                    </m:oMath>
                    <m:oMath xmlns:m="http://schemas.openxmlformats.org/officeDocument/2006/math">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𝑿</m:t>
                          </m:r>
                        </m:sub>
                      </m:sSub>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r>
                        <a:rPr lang="en-US" altLang="zh-CN" i="1">
                          <a:latin typeface="Cambria Math" panose="02040503050406030204" pitchFamily="18" charset="0"/>
                        </a:rPr>
                        <m:t>𝟐</m:t>
                      </m:r>
                      <m:r>
                        <a:rPr lang="en-US" altLang="zh-CN" i="1">
                          <a:latin typeface="Cambria Math" panose="02040503050406030204" pitchFamily="18" charset="0"/>
                        </a:rPr>
                        <m:t>𝑬</m:t>
                      </m:r>
                      <m:r>
                        <a:rPr lang="en-US" altLang="zh-CN" i="1">
                          <a:latin typeface="Cambria Math" panose="02040503050406030204" pitchFamily="18" charset="0"/>
                        </a:rPr>
                        <m:t>[</m:t>
                      </m:r>
                      <m:r>
                        <a:rPr lang="en-US" altLang="zh-CN" i="1">
                          <a:latin typeface="Cambria Math" panose="02040503050406030204" pitchFamily="18" charset="0"/>
                        </a:rPr>
                        <m:t>𝑿</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𝑬</m:t>
                      </m:r>
                      <m:r>
                        <a:rPr lang="en-US" altLang="zh-CN" i="1">
                          <a:latin typeface="Cambria Math" panose="02040503050406030204" pitchFamily="18" charset="0"/>
                        </a:rPr>
                        <m:t>[</m:t>
                      </m:r>
                      <m:r>
                        <a:rPr lang="en-US" altLang="zh-CN" i="1">
                          <a:latin typeface="Cambria Math" panose="02040503050406030204" pitchFamily="18" charset="0"/>
                        </a:rPr>
                        <m:t>𝒀</m:t>
                      </m:r>
                      <m:r>
                        <a:rPr lang="en-US" altLang="zh-CN" i="1">
                          <a:latin typeface="Cambria Math" panose="02040503050406030204" pitchFamily="18" charset="0"/>
                        </a:rPr>
                        <m:t>]+</m:t>
                      </m:r>
                      <m:r>
                        <a:rPr lang="en-US" altLang="zh-CN" i="1">
                          <a:latin typeface="Cambria Math" panose="02040503050406030204" pitchFamily="18" charset="0"/>
                        </a:rPr>
                        <m:t>𝑬</m:t>
                      </m:r>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𝒀</m:t>
                          </m:r>
                        </m:e>
                        <m:sup>
                          <m:r>
                            <a:rPr lang="en-US" altLang="zh-CN" i="1">
                              <a:latin typeface="Cambria Math" panose="02040503050406030204" pitchFamily="18" charset="0"/>
                            </a:rPr>
                            <m:t>𝟐</m:t>
                          </m:r>
                        </m:sup>
                      </m:sSup>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𝑿</m:t>
                          </m:r>
                        </m:sub>
                      </m:sSub>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r>
                        <a:rPr lang="en-US" altLang="zh-CN" i="1">
                          <a:latin typeface="Cambria Math" panose="02040503050406030204" pitchFamily="18" charset="0"/>
                        </a:rPr>
                        <m:t>𝟐</m:t>
                      </m:r>
                      <m:sSub>
                        <m:sSubPr>
                          <m:ctrlPr>
                            <a:rPr lang="zh-CN" altLang="zh-CN" i="1">
                              <a:latin typeface="Cambria Math" panose="02040503050406030204" pitchFamily="18" charset="0"/>
                            </a:rPr>
                          </m:ctrlPr>
                        </m:sSubPr>
                        <m:e>
                          <m:r>
                            <a:rPr lang="en-US" altLang="zh-CN" i="1">
                              <a:latin typeface="Cambria Math" panose="02040503050406030204" pitchFamily="18" charset="0"/>
                            </a:rPr>
                            <m:t>𝒎</m:t>
                          </m:r>
                        </m:e>
                        <m:sub>
                          <m:r>
                            <a:rPr lang="en-US" altLang="zh-CN" i="1">
                              <a:latin typeface="Cambria Math" panose="02040503050406030204" pitchFamily="18" charset="0"/>
                            </a:rPr>
                            <m:t>𝑿</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𝒎</m:t>
                          </m:r>
                        </m:e>
                        <m:sub>
                          <m:r>
                            <a:rPr lang="en-US" altLang="zh-CN" i="1">
                              <a:latin typeface="Cambria Math" panose="02040503050406030204" pitchFamily="18" charset="0"/>
                            </a:rPr>
                            <m:t>𝒀</m:t>
                          </m:r>
                        </m:sub>
                      </m:sSub>
                      <m:r>
                        <a:rPr lang="en-US" altLang="zh-CN" i="1">
                          <a:latin typeface="Cambria Math" panose="02040503050406030204" pitchFamily="18" charset="0"/>
                        </a:rPr>
                        <m:t>+</m:t>
                      </m:r>
                      <m:sSup>
                        <m:sSupPr>
                          <m:ctrlPr>
                            <a:rPr lang="zh-CN" altLang="zh-CN" i="1">
                              <a:latin typeface="Cambria Math" panose="02040503050406030204" pitchFamily="18" charset="0"/>
                            </a:rPr>
                          </m:ctrlPr>
                        </m:sSupPr>
                        <m:e>
                          <m:sSub>
                            <m:sSubPr>
                              <m:ctrlPr>
                                <a:rPr lang="zh-CN" altLang="zh-CN" i="1">
                                  <a:latin typeface="Cambria Math" panose="02040503050406030204" pitchFamily="18" charset="0"/>
                                </a:rPr>
                              </m:ctrlPr>
                            </m:sSubPr>
                            <m:e>
                              <m:r>
                                <a:rPr lang="en-US" altLang="zh-CN" i="1">
                                  <a:latin typeface="Cambria Math" panose="02040503050406030204" pitchFamily="18" charset="0"/>
                                </a:rPr>
                                <m:t>𝝈</m:t>
                              </m:r>
                            </m:e>
                            <m:sub>
                              <m:r>
                                <a:rPr lang="en-US" altLang="zh-CN" i="1">
                                  <a:latin typeface="Cambria Math" panose="02040503050406030204" pitchFamily="18" charset="0"/>
                                </a:rPr>
                                <m:t>𝒀</m:t>
                              </m:r>
                            </m:sub>
                          </m:sSub>
                        </m:e>
                        <m:sup>
                          <m:r>
                            <a:rPr lang="en-US" altLang="zh-CN" i="1">
                              <a:latin typeface="Cambria Math" panose="02040503050406030204" pitchFamily="18" charset="0"/>
                            </a:rPr>
                            <m:t>𝟐</m:t>
                          </m:r>
                        </m:sup>
                      </m:sSup>
                      <m:r>
                        <a:rPr lang="en-US" altLang="zh-CN" i="1">
                          <a:latin typeface="Cambria Math" panose="02040503050406030204" pitchFamily="18" charset="0"/>
                        </a:rPr>
                        <m:t>+</m:t>
                      </m:r>
                      <m:sSup>
                        <m:sSupPr>
                          <m:ctrlPr>
                            <a:rPr lang="zh-CN" altLang="zh-CN" i="1">
                              <a:latin typeface="Cambria Math" panose="02040503050406030204" pitchFamily="18" charset="0"/>
                            </a:rPr>
                          </m:ctrlPr>
                        </m:sSupPr>
                        <m:e>
                          <m:sSub>
                            <m:sSubPr>
                              <m:ctrlPr>
                                <a:rPr lang="zh-CN" altLang="zh-CN" i="1">
                                  <a:latin typeface="Cambria Math" panose="02040503050406030204" pitchFamily="18" charset="0"/>
                                </a:rPr>
                              </m:ctrlPr>
                            </m:sSubPr>
                            <m:e>
                              <m:r>
                                <a:rPr lang="en-US" altLang="zh-CN" i="1">
                                  <a:latin typeface="Cambria Math" panose="02040503050406030204" pitchFamily="18" charset="0"/>
                                </a:rPr>
                                <m:t>𝒎</m:t>
                              </m:r>
                            </m:e>
                            <m:sub>
                              <m:r>
                                <a:rPr lang="en-US" altLang="zh-CN" i="1">
                                  <a:latin typeface="Cambria Math" panose="02040503050406030204" pitchFamily="18" charset="0"/>
                                </a:rPr>
                                <m:t>𝒀</m:t>
                              </m:r>
                            </m:sub>
                          </m:sSub>
                        </m:e>
                        <m:sup>
                          <m:r>
                            <a:rPr lang="en-US" altLang="zh-CN" i="1">
                              <a:latin typeface="Cambria Math" panose="02040503050406030204" pitchFamily="18" charset="0"/>
                            </a:rPr>
                            <m:t>𝟐</m:t>
                          </m:r>
                        </m:sup>
                      </m:sSup>
                    </m:oMath>
                  </m:oMathPara>
                </a14:m>
                <a:endParaRPr lang="en-US" altLang="zh-CN" dirty="0"/>
              </a:p>
              <a:p>
                <a:pPr marL="0" indent="0">
                  <a:lnSpc>
                    <a:spcPct val="150000"/>
                  </a:lnSpc>
                  <a:buNone/>
                </a:pPr>
                <a:endParaRPr lang="en-US" altLang="zh-CN" dirty="0"/>
              </a:p>
              <a:p>
                <a:pPr marL="0" indent="0">
                  <a:lnSpc>
                    <a:spcPct val="150000"/>
                  </a:lnSpc>
                  <a:buNone/>
                </a:pPr>
                <a:r>
                  <a:rPr lang="zh-CN" altLang="en-US" dirty="0"/>
                  <a:t>结论：</a:t>
                </a:r>
                <a14:m>
                  <m:oMath xmlns:m="http://schemas.openxmlformats.org/officeDocument/2006/math">
                    <m:r>
                      <a:rPr lang="en-US" altLang="zh-CN" i="1">
                        <a:latin typeface="Cambria Math" panose="02040503050406030204" pitchFamily="18" charset="0"/>
                      </a:rPr>
                      <m:t>𝑺</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oMath>
                </a14:m>
                <a:r>
                  <a:rPr lang="zh-CN" altLang="zh-CN" dirty="0"/>
                  <a:t>非遍历</a:t>
                </a:r>
              </a:p>
              <a:p>
                <a:pPr marL="0" indent="0">
                  <a:buNone/>
                </a:pPr>
                <a:endParaRPr lang="zh-CN" altLang="en-US" dirty="0"/>
              </a:p>
            </p:txBody>
          </p:sp>
        </mc:Choice>
        <mc:Fallback xmlns="">
          <p:sp>
            <p:nvSpPr>
              <p:cNvPr id="2" name="内容占位符 1">
                <a:extLst>
                  <a:ext uri="{FF2B5EF4-FFF2-40B4-BE49-F238E27FC236}">
                    <a16:creationId xmlns:a16="http://schemas.microsoft.com/office/drawing/2014/main" id="{693CB13B-0D61-4458-AA70-8B7841805723}"/>
                  </a:ext>
                </a:extLst>
              </p:cNvPr>
              <p:cNvSpPr>
                <a:spLocks noGrp="1" noRot="1" noChangeAspect="1" noMove="1" noResize="1" noEditPoints="1" noAdjustHandles="1" noChangeArrowheads="1" noChangeShapeType="1" noTextEdit="1"/>
              </p:cNvSpPr>
              <p:nvPr>
                <p:ph idx="1"/>
              </p:nvPr>
            </p:nvSpPr>
            <p:spPr>
              <a:xfrm>
                <a:off x="633680" y="987191"/>
                <a:ext cx="8166217" cy="4641783"/>
              </a:xfrm>
              <a:blipFill>
                <a:blip r:embed="rId3"/>
                <a:stretch>
                  <a:fillRect l="-896" b="-1708"/>
                </a:stretch>
              </a:blipFill>
            </p:spPr>
            <p:txBody>
              <a:bodyPr/>
              <a:lstStyle/>
              <a:p>
                <a:r>
                  <a:rPr lang="zh-CN" altLang="en-US">
                    <a:noFill/>
                  </a:rPr>
                  <a:t> </a:t>
                </a:r>
              </a:p>
            </p:txBody>
          </p:sp>
        </mc:Fallback>
      </mc:AlternateContent>
      <p:sp>
        <p:nvSpPr>
          <p:cNvPr id="3" name="Rectangle 2">
            <a:extLst>
              <a:ext uri="{FF2B5EF4-FFF2-40B4-BE49-F238E27FC236}">
                <a16:creationId xmlns:a16="http://schemas.microsoft.com/office/drawing/2014/main" id="{519D834E-DD83-4323-9BB1-D59E22614E2A}"/>
              </a:ext>
            </a:extLst>
          </p:cNvPr>
          <p:cNvSpPr>
            <a:spLocks noChangeArrowheads="1"/>
          </p:cNvSpPr>
          <p:nvPr/>
        </p:nvSpPr>
        <p:spPr bwMode="auto">
          <a:xfrm>
            <a:off x="2537460" y="3934206"/>
            <a:ext cx="9307752"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zh-CN" altLang="en-US"/>
          </a:p>
        </p:txBody>
      </p:sp>
      <p:graphicFrame>
        <p:nvGraphicFramePr>
          <p:cNvPr id="4" name="对象 3">
            <a:extLst>
              <a:ext uri="{FF2B5EF4-FFF2-40B4-BE49-F238E27FC236}">
                <a16:creationId xmlns:a16="http://schemas.microsoft.com/office/drawing/2014/main" id="{C35F8BC2-BFCC-4A90-95FC-0DFD0DD4C4EB}"/>
              </a:ext>
            </a:extLst>
          </p:cNvPr>
          <p:cNvGraphicFramePr>
            <a:graphicFrameLocks noChangeAspect="1"/>
          </p:cNvGraphicFramePr>
          <p:nvPr/>
        </p:nvGraphicFramePr>
        <p:xfrm>
          <a:off x="822142" y="4552528"/>
          <a:ext cx="5952449" cy="628872"/>
        </p:xfrm>
        <a:graphic>
          <a:graphicData uri="http://schemas.openxmlformats.org/presentationml/2006/ole">
            <mc:AlternateContent xmlns:mc="http://schemas.openxmlformats.org/markup-compatibility/2006">
              <mc:Choice xmlns:v="urn:schemas-microsoft-com:vml" Requires="v">
                <p:oleObj spid="_x0000_s8225" name="Equation" r:id="rId4" imgW="4254500" imgH="457200" progId="Equation.DSMT4">
                  <p:embed/>
                </p:oleObj>
              </mc:Choice>
              <mc:Fallback>
                <p:oleObj name="Equation" r:id="rId4" imgW="4254500" imgH="457200" progId="Equation.DSMT4">
                  <p:embed/>
                  <p:pic>
                    <p:nvPicPr>
                      <p:cNvPr id="4" name="对象 3">
                        <a:extLst>
                          <a:ext uri="{FF2B5EF4-FFF2-40B4-BE49-F238E27FC236}">
                            <a16:creationId xmlns:a16="http://schemas.microsoft.com/office/drawing/2014/main" id="{C35F8BC2-BFCC-4A90-95FC-0DFD0DD4C4E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2142" y="4552528"/>
                        <a:ext cx="5952449" cy="628872"/>
                      </a:xfrm>
                      <a:prstGeom prst="rect">
                        <a:avLst/>
                      </a:prstGeom>
                      <a:solidFill>
                        <a:srgbClr val="FFFF00"/>
                      </a:solidFill>
                    </p:spPr>
                  </p:pic>
                </p:oleObj>
              </mc:Fallback>
            </mc:AlternateContent>
          </a:graphicData>
        </a:graphic>
      </p:graphicFrame>
    </p:spTree>
    <p:extLst>
      <p:ext uri="{BB962C8B-B14F-4D97-AF65-F5344CB8AC3E}">
        <p14:creationId xmlns:p14="http://schemas.microsoft.com/office/powerpoint/2010/main" val="12179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5EA1D38C-489D-44FE-A1D7-F01B3DC6A88B}"/>
                  </a:ext>
                </a:extLst>
              </p:cNvPr>
              <p:cNvSpPr>
                <a:spLocks noGrp="1"/>
              </p:cNvSpPr>
              <p:nvPr>
                <p:ph idx="1"/>
              </p:nvPr>
            </p:nvSpPr>
            <p:spPr>
              <a:xfrm>
                <a:off x="436418" y="1292470"/>
                <a:ext cx="8575964" cy="3977237"/>
              </a:xfrm>
            </p:spPr>
            <p:txBody>
              <a:bodyPr/>
              <a:lstStyle/>
              <a:p>
                <a:pPr marL="0" indent="0">
                  <a:buNone/>
                </a:pPr>
                <a:r>
                  <a:rPr lang="zh-CN" altLang="en-US" dirty="0"/>
                  <a:t>例：</a:t>
                </a:r>
                <a:endParaRPr lang="en-US" altLang="zh-CN" dirty="0"/>
              </a:p>
              <a:p>
                <a:pPr marL="0" indent="0">
                  <a:buNone/>
                </a:pPr>
                <a:r>
                  <a:rPr lang="zh-CN" altLang="en-US" dirty="0"/>
                  <a:t>试分析随机二元传输信号</a:t>
                </a:r>
                <a14:m>
                  <m:oMath xmlns:m="http://schemas.openxmlformats.org/officeDocument/2006/math">
                    <m:r>
                      <a:rPr lang="en-US" altLang="zh-CN" i="1">
                        <a:latin typeface="Cambria Math" panose="02040503050406030204" pitchFamily="18" charset="0"/>
                      </a:rPr>
                      <m:t>𝑌</m:t>
                    </m:r>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m:t>
                    </m:r>
                  </m:oMath>
                </a14:m>
                <a:r>
                  <a:rPr lang="zh-CN" altLang="en-US" dirty="0"/>
                  <a:t>的均值各态历经性。</a:t>
                </a:r>
                <a:endParaRPr lang="en-US" altLang="zh-CN" dirty="0"/>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𝑋</m:t>
                      </m:r>
                      <m:d>
                        <m:dPr>
                          <m:ctrlPr>
                            <a:rPr lang="zh-CN" altLang="zh-CN" i="1">
                              <a:latin typeface="Cambria Math" panose="02040503050406030204" pitchFamily="18" charset="0"/>
                            </a:rPr>
                          </m:ctrlPr>
                        </m:dPr>
                        <m:e>
                          <m:r>
                            <a:rPr lang="en-US" altLang="zh-CN" i="1">
                              <a:latin typeface="Cambria Math" panose="02040503050406030204" pitchFamily="18" charset="0"/>
                            </a:rPr>
                            <m:t>𝑡</m:t>
                          </m:r>
                        </m:e>
                      </m:d>
                      <m:r>
                        <a:rPr lang="en-US" altLang="zh-CN" i="1">
                          <a:latin typeface="Cambria Math" panose="02040503050406030204" pitchFamily="18" charset="0"/>
                        </a:rPr>
                        <m:t>=</m:t>
                      </m:r>
                      <m:nary>
                        <m:naryPr>
                          <m:chr m:val="∑"/>
                          <m:limLoc m:val="undOvr"/>
                          <m:ctrlPr>
                            <a:rPr lang="zh-CN" altLang="zh-CN" i="1">
                              <a:latin typeface="Cambria Math" panose="02040503050406030204" pitchFamily="18" charset="0"/>
                            </a:rPr>
                          </m:ctrlPr>
                        </m:naryPr>
                        <m:sub>
                          <m:r>
                            <a:rPr lang="en-US" altLang="zh-CN" i="1">
                              <a:latin typeface="Cambria Math" panose="02040503050406030204" pitchFamily="18" charset="0"/>
                            </a:rPr>
                            <m:t>𝑛</m:t>
                          </m:r>
                          <m:r>
                            <a:rPr lang="en-US" altLang="zh-CN" i="1">
                              <a:latin typeface="Cambria Math" panose="02040503050406030204" pitchFamily="18" charset="0"/>
                            </a:rPr>
                            <m:t>=−∞</m:t>
                          </m:r>
                        </m:sub>
                        <m:sup>
                          <m:r>
                            <a:rPr lang="en-US" altLang="zh-CN" i="1">
                              <a:latin typeface="Cambria Math" panose="02040503050406030204" pitchFamily="18" charset="0"/>
                            </a:rPr>
                            <m:t>+∞</m:t>
                          </m:r>
                        </m:sup>
                        <m:e>
                          <m:sSub>
                            <m:sSubPr>
                              <m:ctrlPr>
                                <a:rPr lang="zh-CN"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𝑛</m:t>
                              </m:r>
                            </m:sub>
                          </m:sSub>
                          <m:r>
                            <a:rPr lang="en-US" altLang="zh-CN" i="1">
                              <a:latin typeface="Cambria Math" panose="02040503050406030204" pitchFamily="18" charset="0"/>
                            </a:rPr>
                            <m:t>𝑔</m:t>
                          </m:r>
                          <m:d>
                            <m:dPr>
                              <m:ctrlPr>
                                <a:rPr lang="zh-CN" altLang="zh-CN" i="1">
                                  <a:latin typeface="Cambria Math" panose="02040503050406030204" pitchFamily="18" charset="0"/>
                                </a:rPr>
                              </m:ctrlPr>
                            </m:dPr>
                            <m:e>
                              <m:r>
                                <a:rPr lang="en-US" altLang="zh-CN" i="1">
                                  <a:latin typeface="Cambria Math" panose="02040503050406030204" pitchFamily="18" charset="0"/>
                                </a:rPr>
                                <m:t>𝑡</m:t>
                              </m:r>
                              <m:r>
                                <a:rPr lang="en-US" altLang="zh-CN" i="1">
                                  <a:latin typeface="Cambria Math" panose="02040503050406030204" pitchFamily="18" charset="0"/>
                                </a:rPr>
                                <m:t>−</m:t>
                              </m:r>
                              <m:r>
                                <a:rPr lang="en-US" altLang="zh-CN" i="1">
                                  <a:latin typeface="Cambria Math" panose="02040503050406030204" pitchFamily="18" charset="0"/>
                                </a:rPr>
                                <m:t>𝑛𝑇</m:t>
                              </m:r>
                            </m:e>
                          </m:d>
                        </m:e>
                      </m:nary>
                    </m:oMath>
                  </m:oMathPara>
                </a14:m>
                <a:endParaRPr lang="en-US" altLang="zh-CN" dirty="0"/>
              </a:p>
              <a:p>
                <a:pPr>
                  <a:spcBef>
                    <a:spcPts val="900"/>
                  </a:spcBef>
                  <a:spcAft>
                    <a:spcPts val="450"/>
                  </a:spcAft>
                  <a:buFont typeface="Arial" panose="020B0604020202020204" pitchFamily="34" charset="0"/>
                  <a:buChar char="•"/>
                </a:pPr>
                <a:r>
                  <a:rPr lang="en-US" altLang="zh-CN" dirty="0"/>
                  <a:t>{</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𝑛</m:t>
                        </m:r>
                      </m:sub>
                    </m:sSub>
                  </m:oMath>
                </a14:m>
                <a:r>
                  <a:rPr lang="en-US" altLang="zh-CN" dirty="0"/>
                  <a:t>} </a:t>
                </a:r>
                <a:r>
                  <a:rPr lang="zh-CN" altLang="zh-CN" dirty="0"/>
                  <a:t>为</a:t>
                </a:r>
                <a:r>
                  <a:rPr lang="zh-CN" altLang="en-US" dirty="0"/>
                  <a:t>双极性</a:t>
                </a:r>
                <a:r>
                  <a:rPr lang="zh-CN" altLang="zh-CN" dirty="0"/>
                  <a:t>数字随机序列，是要传输的数据序列</a:t>
                </a:r>
                <a:r>
                  <a:rPr lang="en-US" altLang="zh-CN" dirty="0"/>
                  <a:t> </a:t>
                </a:r>
                <a:r>
                  <a:rPr lang="zh-CN" altLang="en-US" dirty="0"/>
                  <a:t>。</a:t>
                </a:r>
                <a:endParaRPr lang="en-US" altLang="zh-CN" i="1" dirty="0">
                  <a:latin typeface="Cambria Math" panose="02040503050406030204" pitchFamily="18" charset="0"/>
                </a:endParaRPr>
              </a:p>
              <a:p>
                <a:pPr>
                  <a:spcBef>
                    <a:spcPts val="900"/>
                  </a:spcBef>
                  <a:spcAft>
                    <a:spcPts val="450"/>
                  </a:spcAft>
                  <a:buFont typeface="Arial" panose="020B0604020202020204" pitchFamily="34" charset="0"/>
                  <a:buChar char="•"/>
                </a:pPr>
                <a14:m>
                  <m:oMath xmlns:m="http://schemas.openxmlformats.org/officeDocument/2006/math">
                    <m:r>
                      <a:rPr lang="en-US" altLang="zh-CN" i="1" dirty="0">
                        <a:latin typeface="Cambria Math" panose="02040503050406030204" pitchFamily="18" charset="0"/>
                      </a:rPr>
                      <m:t>𝑔</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𝑡</m:t>
                        </m:r>
                      </m:e>
                    </m:d>
                    <m:r>
                      <a:rPr lang="en-US" altLang="zh-CN" b="0" i="1" dirty="0" smtClean="0">
                        <a:latin typeface="Cambria Math" panose="02040503050406030204" pitchFamily="18" charset="0"/>
                      </a:rPr>
                      <m:t>,  ( 0&lt;</m:t>
                    </m:r>
                    <m:r>
                      <a:rPr lang="en-US" altLang="zh-CN" b="0" i="1" dirty="0" smtClean="0">
                        <a:latin typeface="Cambria Math" panose="02040503050406030204" pitchFamily="18" charset="0"/>
                      </a:rPr>
                      <m:t>𝑡</m:t>
                    </m:r>
                    <m:r>
                      <a:rPr lang="en-US" altLang="zh-CN" b="0" i="1" dirty="0" smtClean="0">
                        <a:latin typeface="Cambria Math" panose="02040503050406030204" pitchFamily="18" charset="0"/>
                      </a:rPr>
                      <m:t>&lt;</m:t>
                    </m:r>
                    <m:r>
                      <a:rPr lang="en-US" altLang="zh-CN" b="0" i="1" dirty="0" smtClean="0">
                        <a:latin typeface="Cambria Math" panose="02040503050406030204" pitchFamily="18" charset="0"/>
                      </a:rPr>
                      <m:t>𝑇</m:t>
                    </m:r>
                  </m:oMath>
                </a14:m>
                <a:r>
                  <a:rPr lang="en-US" altLang="zh-CN" dirty="0"/>
                  <a:t>, </a:t>
                </a:r>
                <a:r>
                  <a:rPr lang="zh-CN" altLang="zh-CN" dirty="0"/>
                  <a:t>为某个确知的连续信号</a:t>
                </a:r>
                <a:r>
                  <a:rPr lang="zh-CN" altLang="en-US" dirty="0"/>
                  <a:t>。）（脉冲波形）</a:t>
                </a:r>
                <a:endParaRPr lang="en-US" altLang="zh-CN" dirty="0"/>
              </a:p>
              <a:p>
                <a:pPr>
                  <a:spcBef>
                    <a:spcPts val="900"/>
                  </a:spcBef>
                  <a:spcAft>
                    <a:spcPts val="450"/>
                  </a:spcAft>
                  <a:buFont typeface="Arial" panose="020B0604020202020204" pitchFamily="34" charset="0"/>
                  <a:buChar char="•"/>
                </a:pPr>
                <a14:m>
                  <m:oMath xmlns:m="http://schemas.openxmlformats.org/officeDocument/2006/math">
                    <m:r>
                      <a:rPr lang="en-US" altLang="zh-CN" i="1">
                        <a:latin typeface="Cambria Math" panose="02040503050406030204" pitchFamily="18" charset="0"/>
                      </a:rPr>
                      <m:t>𝑌</m:t>
                    </m:r>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m:t>
                    </m:r>
                    <m:r>
                      <a:rPr lang="en-US" altLang="zh-CN" i="1">
                        <a:latin typeface="Cambria Math" panose="02040503050406030204" pitchFamily="18" charset="0"/>
                      </a:rPr>
                      <m:t>𝑋</m:t>
                    </m:r>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m:t>
                    </m:r>
                    <m:r>
                      <a:rPr lang="en-US" altLang="zh-CN" i="1">
                        <a:latin typeface="Cambria Math" panose="02040503050406030204" pitchFamily="18" charset="0"/>
                      </a:rPr>
                      <m:t>𝐷</m:t>
                    </m:r>
                    <m:r>
                      <a:rPr lang="en-US" altLang="zh-CN" i="1">
                        <a:latin typeface="Cambria Math" panose="02040503050406030204" pitchFamily="18" charset="0"/>
                      </a:rPr>
                      <m:t>)</m:t>
                    </m:r>
                  </m:oMath>
                </a14:m>
                <a:r>
                  <a:rPr lang="zh-CN" altLang="zh-CN" dirty="0"/>
                  <a:t>是经随机滑动后的信号</a:t>
                </a:r>
                <a:r>
                  <a:rPr lang="en-US" altLang="zh-CN" dirty="0"/>
                  <a:t>, </a:t>
                </a:r>
              </a:p>
              <a:p>
                <a:pPr marL="0" indent="0">
                  <a:spcBef>
                    <a:spcPts val="900"/>
                  </a:spcBef>
                  <a:spcAft>
                    <a:spcPts val="450"/>
                  </a:spcAft>
                  <a:buNone/>
                </a:pPr>
                <a:r>
                  <a:rPr lang="en-US" altLang="zh-CN" dirty="0"/>
                  <a:t>        D</a:t>
                </a:r>
                <a:r>
                  <a:rPr lang="zh-CN" altLang="en-US" dirty="0"/>
                  <a:t>为在</a:t>
                </a:r>
                <a:r>
                  <a:rPr lang="en-US" altLang="zh-CN" dirty="0"/>
                  <a:t>[0,T)</a:t>
                </a:r>
                <a:r>
                  <a:rPr lang="zh-CN" altLang="en-US" dirty="0"/>
                  <a:t>均匀分布随机变量。</a:t>
                </a:r>
                <a:endParaRPr lang="en-US" altLang="zh-CN" dirty="0"/>
              </a:p>
              <a:p>
                <a:pPr marL="0" indent="0">
                  <a:spcBef>
                    <a:spcPts val="900"/>
                  </a:spcBef>
                  <a:spcAft>
                    <a:spcPts val="450"/>
                  </a:spcAft>
                  <a:buNone/>
                </a:pPr>
                <a:endParaRPr lang="zh-CN" altLang="en-US" dirty="0"/>
              </a:p>
            </p:txBody>
          </p:sp>
        </mc:Choice>
        <mc:Fallback xmlns="">
          <p:sp>
            <p:nvSpPr>
              <p:cNvPr id="2" name="内容占位符 1">
                <a:extLst>
                  <a:ext uri="{FF2B5EF4-FFF2-40B4-BE49-F238E27FC236}">
                    <a16:creationId xmlns:a16="http://schemas.microsoft.com/office/drawing/2014/main" id="{5EA1D38C-489D-44FE-A1D7-F01B3DC6A88B}"/>
                  </a:ext>
                </a:extLst>
              </p:cNvPr>
              <p:cNvSpPr>
                <a:spLocks noGrp="1" noRot="1" noChangeAspect="1" noMove="1" noResize="1" noEditPoints="1" noAdjustHandles="1" noChangeArrowheads="1" noChangeShapeType="1" noTextEdit="1"/>
              </p:cNvSpPr>
              <p:nvPr>
                <p:ph idx="1"/>
              </p:nvPr>
            </p:nvSpPr>
            <p:spPr>
              <a:xfrm>
                <a:off x="436418" y="1292470"/>
                <a:ext cx="8575964" cy="3977237"/>
              </a:xfrm>
              <a:blipFill>
                <a:blip r:embed="rId2"/>
                <a:stretch>
                  <a:fillRect l="-853" t="-138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75325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a:xfrm>
                <a:off x="207818" y="1051213"/>
                <a:ext cx="8756073" cy="4537364"/>
              </a:xfrm>
            </p:spPr>
            <p:txBody>
              <a:bodyPr>
                <a:normAutofit fontScale="92500"/>
              </a:bodyPr>
              <a:lstStyle/>
              <a:p>
                <a:pPr marL="0" indent="0">
                  <a:buNone/>
                </a:pPr>
                <a:r>
                  <a:rPr lang="zh-CN" altLang="en-US" dirty="0"/>
                  <a:t>解：</a:t>
                </a:r>
                <a:endParaRPr lang="en-US" altLang="zh-CN" dirty="0"/>
              </a:p>
              <a:p>
                <a:pPr marL="0" indent="0">
                  <a:buNone/>
                </a:pPr>
                <a:r>
                  <a:rPr lang="zh-CN" altLang="en-US" dirty="0">
                    <a:latin typeface="Cambria Math" panose="02040503050406030204" pitchFamily="18" charset="0"/>
                  </a:rPr>
                  <a:t>根据定理</a:t>
                </a:r>
                <a:r>
                  <a:rPr lang="en-US" altLang="zh-CN" dirty="0">
                    <a:latin typeface="Cambria Math" panose="02040503050406030204" pitchFamily="18" charset="0"/>
                  </a:rPr>
                  <a:t>3.5</a:t>
                </a:r>
                <a:r>
                  <a:rPr lang="zh-CN" altLang="en-US" dirty="0">
                    <a:latin typeface="Cambria Math" panose="02040503050406030204" pitchFamily="18" charset="0"/>
                  </a:rPr>
                  <a:t>，</a:t>
                </a:r>
                <a14:m>
                  <m:oMath xmlns:m="http://schemas.openxmlformats.org/officeDocument/2006/math">
                    <m:r>
                      <a:rPr lang="en-US" altLang="zh-CN" i="1">
                        <a:latin typeface="Cambria Math" panose="02040503050406030204" pitchFamily="18" charset="0"/>
                      </a:rPr>
                      <m:t>𝑌</m:t>
                    </m:r>
                    <m:d>
                      <m:dPr>
                        <m:ctrlPr>
                          <a:rPr lang="en-US" altLang="zh-CN" i="1">
                            <a:latin typeface="Cambria Math" panose="02040503050406030204" pitchFamily="18" charset="0"/>
                          </a:rPr>
                        </m:ctrlPr>
                      </m:dPr>
                      <m:e>
                        <m:r>
                          <a:rPr lang="en-US" altLang="zh-CN" i="1">
                            <a:latin typeface="Cambria Math" panose="02040503050406030204" pitchFamily="18" charset="0"/>
                          </a:rPr>
                          <m:t>𝑡</m:t>
                        </m:r>
                      </m:e>
                    </m:d>
                  </m:oMath>
                </a14:m>
                <a:r>
                  <a:rPr lang="zh-CN" altLang="en-US" dirty="0">
                    <a:latin typeface="Cambria Math" panose="02040503050406030204" pitchFamily="18" charset="0"/>
                  </a:rPr>
                  <a:t>平稳，且</a:t>
                </a:r>
                <a:endParaRPr lang="en-US" altLang="zh-CN"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𝐸</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𝑌</m:t>
                          </m:r>
                          <m:d>
                            <m:dPr>
                              <m:ctrlPr>
                                <a:rPr lang="en-US" altLang="zh-CN" i="1">
                                  <a:latin typeface="Cambria Math" panose="02040503050406030204" pitchFamily="18" charset="0"/>
                                </a:rPr>
                              </m:ctrlPr>
                            </m:dPr>
                            <m:e>
                              <m:r>
                                <a:rPr lang="en-US" altLang="zh-CN" i="1">
                                  <a:latin typeface="Cambria Math" panose="02040503050406030204" pitchFamily="18" charset="0"/>
                                </a:rPr>
                                <m:t>𝑡</m:t>
                              </m:r>
                            </m:e>
                          </m:d>
                        </m:e>
                      </m:d>
                      <m:r>
                        <a:rPr lang="en-US" altLang="zh-CN" i="1">
                          <a:latin typeface="Cambria Math" panose="02040503050406030204" pitchFamily="18" charset="0"/>
                        </a:rPr>
                        <m:t>=</m:t>
                      </m:r>
                      <m:r>
                        <a:rPr lang="en-US" altLang="zh-CN" i="1">
                          <a:latin typeface="Cambria Math" panose="02040503050406030204" pitchFamily="18" charset="0"/>
                        </a:rPr>
                        <m:t>𝑬</m:t>
                      </m:r>
                      <m:d>
                        <m:dPr>
                          <m:begChr m:val="["/>
                          <m:endChr m:val="]"/>
                          <m:ctrlPr>
                            <a:rPr lang="en-US" altLang="zh-CN" i="1">
                              <a:latin typeface="Cambria Math" panose="02040503050406030204" pitchFamily="18" charset="0"/>
                            </a:rPr>
                          </m:ctrlPr>
                        </m:dPr>
                        <m:e>
                          <m:nary>
                            <m:naryPr>
                              <m:chr m:val="∑"/>
                              <m:limLoc m:val="undOvr"/>
                              <m:ctrlPr>
                                <a:rPr lang="zh-CN" altLang="zh-CN" i="1">
                                  <a:latin typeface="Cambria Math" panose="02040503050406030204" pitchFamily="18" charset="0"/>
                                </a:rPr>
                              </m:ctrlPr>
                            </m:naryPr>
                            <m:sub>
                              <m:r>
                                <a:rPr lang="en-US" altLang="zh-CN" i="1">
                                  <a:latin typeface="Cambria Math" panose="02040503050406030204" pitchFamily="18" charset="0"/>
                                </a:rPr>
                                <m:t>𝑛</m:t>
                              </m:r>
                              <m:r>
                                <a:rPr lang="en-US" altLang="zh-CN" i="1">
                                  <a:latin typeface="Cambria Math" panose="02040503050406030204" pitchFamily="18" charset="0"/>
                                </a:rPr>
                                <m:t>=−∞</m:t>
                              </m:r>
                            </m:sub>
                            <m:sup>
                              <m:r>
                                <a:rPr lang="en-US" altLang="zh-CN" i="1">
                                  <a:latin typeface="Cambria Math" panose="02040503050406030204" pitchFamily="18" charset="0"/>
                                </a:rPr>
                                <m:t>+∞</m:t>
                              </m:r>
                            </m:sup>
                            <m:e>
                              <m:sSub>
                                <m:sSubPr>
                                  <m:ctrlPr>
                                    <a:rPr lang="zh-CN"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𝑛</m:t>
                                  </m:r>
                                </m:sub>
                              </m:sSub>
                              <m:r>
                                <a:rPr lang="en-US" altLang="zh-CN" i="1">
                                  <a:latin typeface="Cambria Math" panose="02040503050406030204" pitchFamily="18" charset="0"/>
                                </a:rPr>
                                <m:t>𝑔</m:t>
                              </m:r>
                              <m:d>
                                <m:dPr>
                                  <m:ctrlPr>
                                    <a:rPr lang="zh-CN" altLang="zh-CN" i="1">
                                      <a:latin typeface="Cambria Math" panose="02040503050406030204" pitchFamily="18" charset="0"/>
                                    </a:rPr>
                                  </m:ctrlPr>
                                </m:dPr>
                                <m:e>
                                  <m:r>
                                    <a:rPr lang="en-US" altLang="zh-CN" i="1">
                                      <a:latin typeface="Cambria Math" panose="02040503050406030204" pitchFamily="18" charset="0"/>
                                    </a:rPr>
                                    <m:t>𝑡</m:t>
                                  </m:r>
                                  <m:r>
                                    <a:rPr lang="en-US" altLang="zh-CN" i="1">
                                      <a:latin typeface="Cambria Math" panose="02040503050406030204" pitchFamily="18" charset="0"/>
                                    </a:rPr>
                                    <m:t>−</m:t>
                                  </m:r>
                                  <m:r>
                                    <a:rPr lang="en-US" altLang="zh-CN" i="1">
                                      <a:latin typeface="Cambria Math" panose="02040503050406030204" pitchFamily="18" charset="0"/>
                                    </a:rPr>
                                    <m:t>𝑛𝑇</m:t>
                                  </m:r>
                                  <m:r>
                                    <a:rPr lang="en-US" altLang="zh-CN" i="1">
                                      <a:latin typeface="Cambria Math" panose="02040503050406030204" pitchFamily="18" charset="0"/>
                                    </a:rPr>
                                    <m:t>−</m:t>
                                  </m:r>
                                  <m:r>
                                    <a:rPr lang="en-US" altLang="zh-CN" i="1">
                                      <a:latin typeface="Cambria Math" panose="02040503050406030204" pitchFamily="18" charset="0"/>
                                    </a:rPr>
                                    <m:t>𝑫</m:t>
                                  </m:r>
                                </m:e>
                              </m:d>
                            </m:e>
                          </m:nary>
                        </m:e>
                      </m:d>
                      <m:r>
                        <a:rPr lang="en-US" altLang="zh-CN" i="1">
                          <a:latin typeface="Cambria Math" panose="02040503050406030204" pitchFamily="18" charset="0"/>
                        </a:rPr>
                        <m:t>=</m:t>
                      </m:r>
                      <m:nary>
                        <m:naryPr>
                          <m:chr m:val="∑"/>
                          <m:limLoc m:val="undOvr"/>
                          <m:ctrlPr>
                            <a:rPr lang="zh-CN" altLang="zh-CN" i="1">
                              <a:latin typeface="Cambria Math" panose="02040503050406030204" pitchFamily="18" charset="0"/>
                            </a:rPr>
                          </m:ctrlPr>
                        </m:naryPr>
                        <m:sub>
                          <m:r>
                            <a:rPr lang="en-US" altLang="zh-CN" i="1">
                              <a:latin typeface="Cambria Math" panose="02040503050406030204" pitchFamily="18" charset="0"/>
                            </a:rPr>
                            <m:t>𝑛</m:t>
                          </m:r>
                          <m:r>
                            <a:rPr lang="en-US" altLang="zh-CN" i="1">
                              <a:latin typeface="Cambria Math" panose="02040503050406030204" pitchFamily="18" charset="0"/>
                            </a:rPr>
                            <m:t>=−∞</m:t>
                          </m:r>
                        </m:sub>
                        <m:sup>
                          <m:r>
                            <a:rPr lang="en-US" altLang="zh-CN" i="1">
                              <a:latin typeface="Cambria Math" panose="02040503050406030204" pitchFamily="18" charset="0"/>
                            </a:rPr>
                            <m:t>+∞</m:t>
                          </m:r>
                        </m:sup>
                        <m:e>
                          <m:r>
                            <a:rPr lang="en-US" altLang="zh-CN" i="1">
                              <a:latin typeface="Cambria Math" panose="02040503050406030204" pitchFamily="18" charset="0"/>
                            </a:rPr>
                            <m:t>𝑬</m:t>
                          </m:r>
                          <m:d>
                            <m:dPr>
                              <m:begChr m:val="["/>
                              <m:endChr m:val="]"/>
                              <m:ctrlPr>
                                <a:rPr lang="en-US"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𝑛</m:t>
                                  </m:r>
                                </m:sub>
                              </m:sSub>
                            </m:e>
                          </m:d>
                          <m:r>
                            <a:rPr lang="en-US" altLang="zh-CN" i="1">
                              <a:latin typeface="Cambria Math" panose="02040503050406030204" pitchFamily="18" charset="0"/>
                            </a:rPr>
                            <m:t>𝑬</m:t>
                          </m:r>
                          <m:r>
                            <a:rPr lang="en-US" altLang="zh-CN" i="1">
                              <a:latin typeface="Cambria Math" panose="02040503050406030204" pitchFamily="18" charset="0"/>
                            </a:rPr>
                            <m:t>[</m:t>
                          </m:r>
                          <m:r>
                            <a:rPr lang="en-US" altLang="zh-CN" i="1">
                              <a:latin typeface="Cambria Math" panose="02040503050406030204" pitchFamily="18" charset="0"/>
                            </a:rPr>
                            <m:t>𝑔</m:t>
                          </m:r>
                          <m:d>
                            <m:dPr>
                              <m:ctrlPr>
                                <a:rPr lang="zh-CN" altLang="zh-CN" i="1">
                                  <a:latin typeface="Cambria Math" panose="02040503050406030204" pitchFamily="18" charset="0"/>
                                </a:rPr>
                              </m:ctrlPr>
                            </m:dPr>
                            <m:e>
                              <m:r>
                                <a:rPr lang="en-US" altLang="zh-CN" i="1">
                                  <a:latin typeface="Cambria Math" panose="02040503050406030204" pitchFamily="18" charset="0"/>
                                </a:rPr>
                                <m:t>𝑡</m:t>
                              </m:r>
                              <m:r>
                                <a:rPr lang="en-US" altLang="zh-CN" i="1">
                                  <a:latin typeface="Cambria Math" panose="02040503050406030204" pitchFamily="18" charset="0"/>
                                </a:rPr>
                                <m:t>−</m:t>
                              </m:r>
                              <m:r>
                                <a:rPr lang="en-US" altLang="zh-CN" i="1">
                                  <a:latin typeface="Cambria Math" panose="02040503050406030204" pitchFamily="18" charset="0"/>
                                </a:rPr>
                                <m:t>𝑛𝑇</m:t>
                              </m:r>
                              <m:r>
                                <a:rPr lang="en-US" altLang="zh-CN" i="1">
                                  <a:latin typeface="Cambria Math" panose="02040503050406030204" pitchFamily="18" charset="0"/>
                                </a:rPr>
                                <m:t>−</m:t>
                              </m:r>
                              <m:r>
                                <a:rPr lang="en-US" altLang="zh-CN" i="1">
                                  <a:latin typeface="Cambria Math" panose="02040503050406030204" pitchFamily="18" charset="0"/>
                                </a:rPr>
                                <m:t>𝑫</m:t>
                              </m:r>
                            </m:e>
                          </m:d>
                          <m:r>
                            <a:rPr lang="en-US" altLang="zh-CN" i="1">
                              <a:latin typeface="Cambria Math" panose="02040503050406030204" pitchFamily="18" charset="0"/>
                            </a:rPr>
                            <m:t>]</m:t>
                          </m:r>
                        </m:e>
                      </m:nary>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𝒎</m:t>
                              </m:r>
                            </m:e>
                            <m:sub>
                              <m:r>
                                <a:rPr lang="en-US" altLang="zh-CN" i="1">
                                  <a:latin typeface="Cambria Math" panose="02040503050406030204" pitchFamily="18" charset="0"/>
                                </a:rPr>
                                <m:t>𝒂</m:t>
                              </m:r>
                            </m:sub>
                          </m:sSub>
                        </m:num>
                        <m:den>
                          <m:r>
                            <a:rPr lang="en-US" altLang="zh-CN" i="1">
                              <a:latin typeface="Cambria Math" panose="02040503050406030204" pitchFamily="18" charset="0"/>
                            </a:rPr>
                            <m:t>𝑻</m:t>
                          </m:r>
                        </m:den>
                      </m:f>
                      <m:r>
                        <a:rPr lang="en-US" altLang="zh-CN" i="1">
                          <a:latin typeface="Cambria Math" panose="02040503050406030204" pitchFamily="18" charset="0"/>
                        </a:rPr>
                        <m:t>𝑮</m:t>
                      </m:r>
                      <m:r>
                        <a:rPr lang="en-US" altLang="zh-CN" i="1">
                          <a:latin typeface="Cambria Math" panose="02040503050406030204" pitchFamily="18" charset="0"/>
                        </a:rPr>
                        <m:t>(</m:t>
                      </m:r>
                      <m:r>
                        <a:rPr lang="en-US" altLang="zh-CN" i="1">
                          <a:latin typeface="Cambria Math" panose="02040503050406030204" pitchFamily="18" charset="0"/>
                        </a:rPr>
                        <m:t>𝒋</m:t>
                      </m:r>
                      <m:r>
                        <a:rPr lang="en-US" altLang="zh-CN" i="1">
                          <a:latin typeface="Cambria Math" panose="02040503050406030204" pitchFamily="18" charset="0"/>
                        </a:rPr>
                        <m:t>𝟎</m:t>
                      </m:r>
                      <m:r>
                        <a:rPr lang="en-US" altLang="zh-CN" i="1">
                          <a:latin typeface="Cambria Math" panose="02040503050406030204" pitchFamily="18" charset="0"/>
                        </a:rPr>
                        <m:t>)</m:t>
                      </m:r>
                    </m:oMath>
                  </m:oMathPara>
                </a14:m>
                <a:endParaRPr lang="en-US" altLang="zh-CN" dirty="0"/>
              </a:p>
              <a:p>
                <a:pPr marL="0" indent="0">
                  <a:buNone/>
                </a:pPr>
                <a:r>
                  <a:rPr lang="zh-CN" altLang="en-US" dirty="0"/>
                  <a:t>当</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𝑛</m:t>
                        </m:r>
                      </m:sub>
                    </m:sSub>
                  </m:oMath>
                </a14:m>
                <a:r>
                  <a:rPr lang="zh-CN" altLang="en-US" dirty="0"/>
                  <a:t>是双极性数字序列，且</a:t>
                </a:r>
                <a14:m>
                  <m:oMath xmlns:m="http://schemas.openxmlformats.org/officeDocument/2006/math">
                    <m:r>
                      <a:rPr lang="zh-CN" altLang="en-US" i="1" dirty="0">
                        <a:latin typeface="Cambria Math" panose="02040503050406030204" pitchFamily="18" charset="0"/>
                      </a:rPr>
                      <m:t>正负</m:t>
                    </m:r>
                    <m:r>
                      <a:rPr lang="zh-CN" altLang="en-US" i="1" dirty="0" smtClean="0">
                        <a:latin typeface="Cambria Math" panose="02040503050406030204" pitchFamily="18" charset="0"/>
                      </a:rPr>
                      <m:t>极性</m:t>
                    </m:r>
                    <m:r>
                      <a:rPr lang="zh-CN" altLang="en-US" i="1" dirty="0">
                        <a:latin typeface="Cambria Math" panose="02040503050406030204" pitchFamily="18" charset="0"/>
                      </a:rPr>
                      <m:t>等概</m:t>
                    </m:r>
                    <m:r>
                      <a:rPr lang="zh-CN" altLang="en-US" i="1" dirty="0" smtClean="0">
                        <a:latin typeface="Cambria Math" panose="02040503050406030204" pitchFamily="18" charset="0"/>
                      </a:rPr>
                      <m:t>分布</m:t>
                    </m:r>
                    <m:r>
                      <a:rPr lang="zh-CN" altLang="en-US" i="1" dirty="0">
                        <a:latin typeface="Cambria Math" panose="02040503050406030204" pitchFamily="18" charset="0"/>
                      </a:rPr>
                      <m:t>时</m:t>
                    </m:r>
                    <m:r>
                      <a:rPr lang="zh-CN" altLang="en-US" i="1" dirty="0" smtClean="0">
                        <a:latin typeface="Cambria Math" panose="02040503050406030204" pitchFamily="18" charset="0"/>
                      </a:rPr>
                      <m:t>，</m:t>
                    </m:r>
                    <m:r>
                      <a:rPr lang="en-US" altLang="zh-CN" b="1" i="1" dirty="0" smtClean="0">
                        <a:latin typeface="Cambria Math" panose="02040503050406030204" pitchFamily="18" charset="0"/>
                      </a:rPr>
                      <m:t> </m:t>
                    </m:r>
                    <m:r>
                      <a:rPr lang="en-US" altLang="zh-CN" i="1">
                        <a:latin typeface="Cambria Math" panose="02040503050406030204" pitchFamily="18" charset="0"/>
                      </a:rPr>
                      <m:t>𝑬</m:t>
                    </m:r>
                    <m:d>
                      <m:dPr>
                        <m:begChr m:val="["/>
                        <m:endChr m:val="]"/>
                        <m:ctrlPr>
                          <a:rPr lang="en-US"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𝑛</m:t>
                            </m:r>
                          </m:sub>
                        </m:sSub>
                      </m:e>
                    </m:d>
                    <m:r>
                      <a:rPr lang="en-US" altLang="zh-CN" b="1" i="1" smtClean="0">
                        <a:latin typeface="Cambria Math" panose="02040503050406030204" pitchFamily="18" charset="0"/>
                      </a:rPr>
                      <m:t>=</m:t>
                    </m:r>
                    <m:r>
                      <a:rPr lang="en-US" altLang="zh-CN" b="1" i="1" smtClean="0">
                        <a:latin typeface="Cambria Math" panose="02040503050406030204" pitchFamily="18" charset="0"/>
                      </a:rPr>
                      <m:t>𝟎</m:t>
                    </m:r>
                  </m:oMath>
                </a14:m>
                <a:r>
                  <a:rPr lang="en-US" altLang="zh-CN" dirty="0"/>
                  <a:t>.</a:t>
                </a:r>
              </a:p>
              <a:p>
                <a:pPr marL="0" indent="0">
                  <a:buNone/>
                </a:pPr>
                <a14:m>
                  <m:oMathPara xmlns:m="http://schemas.openxmlformats.org/officeDocument/2006/math">
                    <m:oMathParaPr>
                      <m:jc m:val="centerGroup"/>
                    </m:oMathParaPr>
                    <m:oMath xmlns:m="http://schemas.openxmlformats.org/officeDocument/2006/math">
                      <m:d>
                        <m:dPr>
                          <m:begChr m:val="⟨"/>
                          <m:endChr m:val="⟩"/>
                          <m:ctrlPr>
                            <a:rPr lang="en-US" altLang="zh-CN" i="1" smtClean="0">
                              <a:latin typeface="Cambria Math" panose="02040503050406030204" pitchFamily="18" charset="0"/>
                            </a:rPr>
                          </m:ctrlPr>
                        </m:dPr>
                        <m:e>
                          <m:r>
                            <a:rPr lang="en-US" altLang="zh-CN" i="1">
                              <a:latin typeface="Cambria Math" panose="02040503050406030204" pitchFamily="18" charset="0"/>
                            </a:rPr>
                            <m:t>𝑌</m:t>
                          </m:r>
                          <m:d>
                            <m:dPr>
                              <m:ctrlPr>
                                <a:rPr lang="en-US" altLang="zh-CN" i="1">
                                  <a:latin typeface="Cambria Math" panose="02040503050406030204" pitchFamily="18" charset="0"/>
                                </a:rPr>
                              </m:ctrlPr>
                            </m:dPr>
                            <m:e>
                              <m:r>
                                <a:rPr lang="en-US" altLang="zh-CN" i="1">
                                  <a:latin typeface="Cambria Math" panose="02040503050406030204" pitchFamily="18" charset="0"/>
                                </a:rPr>
                                <m:t>𝑡</m:t>
                              </m:r>
                            </m:e>
                          </m:d>
                        </m:e>
                      </m:d>
                      <m:r>
                        <a:rPr lang="en-US" altLang="zh-CN" b="1" i="1" smtClean="0">
                          <a:latin typeface="Cambria Math" panose="02040503050406030204" pitchFamily="18" charset="0"/>
                        </a:rPr>
                        <m:t>=</m:t>
                      </m:r>
                      <m:limLow>
                        <m:limLowPr>
                          <m:ctrlPr>
                            <a:rPr lang="zh-CN" altLang="zh-CN" i="1">
                              <a:solidFill>
                                <a:srgbClr val="FF0000"/>
                              </a:solidFill>
                              <a:latin typeface="Cambria Math" panose="02040503050406030204" pitchFamily="18" charset="0"/>
                            </a:rPr>
                          </m:ctrlPr>
                        </m:limLowPr>
                        <m:e>
                          <m:r>
                            <a:rPr lang="en-US" altLang="zh-CN" i="1">
                              <a:solidFill>
                                <a:srgbClr val="FF0000"/>
                              </a:solidFill>
                              <a:latin typeface="Cambria Math" panose="02040503050406030204" pitchFamily="18" charset="0"/>
                            </a:rPr>
                            <m:t>𝒍</m:t>
                          </m:r>
                          <m:r>
                            <a:rPr lang="en-US" altLang="zh-CN" b="1" i="1" smtClean="0">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𝒊</m:t>
                          </m:r>
                          <m:r>
                            <a:rPr lang="en-US" altLang="zh-CN" b="1" i="1" smtClean="0">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𝒎</m:t>
                          </m:r>
                          <m:r>
                            <a:rPr lang="en-US" altLang="zh-CN" b="1" i="1" smtClean="0">
                              <a:solidFill>
                                <a:srgbClr val="FF0000"/>
                              </a:solidFill>
                              <a:latin typeface="Cambria Math" panose="02040503050406030204" pitchFamily="18" charset="0"/>
                            </a:rPr>
                            <m:t>.</m:t>
                          </m:r>
                        </m:e>
                        <m:lim>
                          <m:r>
                            <a:rPr lang="en-US" altLang="zh-CN" i="1">
                              <a:solidFill>
                                <a:srgbClr val="FF0000"/>
                              </a:solidFill>
                              <a:latin typeface="Cambria Math" panose="02040503050406030204" pitchFamily="18" charset="0"/>
                            </a:rPr>
                            <m:t>𝑻</m:t>
                          </m:r>
                          <m:r>
                            <a:rPr lang="en-US" altLang="zh-CN" i="1">
                              <a:solidFill>
                                <a:srgbClr val="FF0000"/>
                              </a:solidFill>
                              <a:latin typeface="Cambria Math" panose="02040503050406030204" pitchFamily="18" charset="0"/>
                            </a:rPr>
                            <m:t>→∞</m:t>
                          </m:r>
                        </m:lim>
                      </m:limLow>
                      <m:f>
                        <m:fPr>
                          <m:ctrlPr>
                            <a:rPr lang="zh-CN" altLang="zh-CN" i="1">
                              <a:solidFill>
                                <a:srgbClr val="FF0000"/>
                              </a:solidFill>
                              <a:latin typeface="Cambria Math" panose="02040503050406030204" pitchFamily="18" charset="0"/>
                            </a:rPr>
                          </m:ctrlPr>
                        </m:fPr>
                        <m:num>
                          <m:r>
                            <a:rPr lang="en-US" altLang="zh-CN" i="1">
                              <a:solidFill>
                                <a:srgbClr val="FF0000"/>
                              </a:solidFill>
                              <a:latin typeface="Cambria Math" panose="02040503050406030204" pitchFamily="18" charset="0"/>
                            </a:rPr>
                            <m:t>𝟏</m:t>
                          </m:r>
                        </m:num>
                        <m:den>
                          <m:r>
                            <a:rPr lang="en-US" altLang="zh-CN" i="1">
                              <a:solidFill>
                                <a:srgbClr val="FF0000"/>
                              </a:solidFill>
                              <a:latin typeface="Cambria Math" panose="02040503050406030204" pitchFamily="18" charset="0"/>
                            </a:rPr>
                            <m:t>𝟐</m:t>
                          </m:r>
                          <m:r>
                            <a:rPr lang="en-US" altLang="zh-CN" i="1">
                              <a:solidFill>
                                <a:srgbClr val="FF0000"/>
                              </a:solidFill>
                              <a:latin typeface="Cambria Math" panose="02040503050406030204" pitchFamily="18" charset="0"/>
                            </a:rPr>
                            <m:t>𝑻</m:t>
                          </m:r>
                        </m:den>
                      </m:f>
                      <m:nary>
                        <m:naryPr>
                          <m:ctrlPr>
                            <a:rPr lang="zh-CN" altLang="zh-CN" i="1">
                              <a:solidFill>
                                <a:srgbClr val="FF0000"/>
                              </a:solidFill>
                              <a:latin typeface="Cambria Math" panose="02040503050406030204" pitchFamily="18" charset="0"/>
                            </a:rPr>
                          </m:ctrlPr>
                        </m:naryPr>
                        <m:sub>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𝑻</m:t>
                          </m:r>
                        </m:sub>
                        <m:sup>
                          <m:r>
                            <a:rPr lang="en-US" altLang="zh-CN" i="1">
                              <a:solidFill>
                                <a:srgbClr val="FF0000"/>
                              </a:solidFill>
                              <a:latin typeface="Cambria Math" panose="02040503050406030204" pitchFamily="18" charset="0"/>
                            </a:rPr>
                            <m:t>𝑻</m:t>
                          </m:r>
                        </m:sup>
                        <m:e>
                          <m:r>
                            <a:rPr lang="en-US" altLang="zh-CN" b="1" i="1" smtClean="0">
                              <a:solidFill>
                                <a:srgbClr val="FF0000"/>
                              </a:solidFill>
                              <a:latin typeface="Cambria Math" panose="02040503050406030204" pitchFamily="18" charset="0"/>
                            </a:rPr>
                            <m:t>𝒀</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𝒕</m:t>
                          </m:r>
                          <m:r>
                            <a:rPr lang="en-US" altLang="zh-CN" i="1">
                              <a:solidFill>
                                <a:srgbClr val="FF0000"/>
                              </a:solidFill>
                              <a:latin typeface="Cambria Math" panose="02040503050406030204" pitchFamily="18" charset="0"/>
                            </a:rPr>
                            <m:t>)</m:t>
                          </m:r>
                        </m:e>
                      </m:nary>
                      <m:r>
                        <a:rPr lang="en-US" altLang="zh-CN" i="1">
                          <a:solidFill>
                            <a:srgbClr val="FF0000"/>
                          </a:solidFill>
                          <a:latin typeface="Cambria Math" panose="02040503050406030204" pitchFamily="18" charset="0"/>
                        </a:rPr>
                        <m:t>𝒅𝒕</m:t>
                      </m:r>
                      <m:r>
                        <a:rPr lang="en-US" altLang="zh-CN" b="1" i="1" smtClean="0">
                          <a:solidFill>
                            <a:srgbClr val="FF0000"/>
                          </a:solidFill>
                          <a:latin typeface="Cambria Math" panose="02040503050406030204" pitchFamily="18" charset="0"/>
                        </a:rPr>
                        <m:t>=</m:t>
                      </m:r>
                      <m:limLow>
                        <m:limLowPr>
                          <m:ctrlPr>
                            <a:rPr lang="zh-CN" altLang="zh-CN" i="1">
                              <a:solidFill>
                                <a:srgbClr val="FF0000"/>
                              </a:solidFill>
                              <a:latin typeface="Cambria Math" panose="02040503050406030204" pitchFamily="18" charset="0"/>
                            </a:rPr>
                          </m:ctrlPr>
                        </m:limLowPr>
                        <m:e>
                          <m:r>
                            <a:rPr lang="en-US" altLang="zh-CN" i="1">
                              <a:solidFill>
                                <a:srgbClr val="FF0000"/>
                              </a:solidFill>
                              <a:latin typeface="Cambria Math" panose="02040503050406030204" pitchFamily="18" charset="0"/>
                            </a:rPr>
                            <m:t>𝒍</m:t>
                          </m:r>
                          <m:r>
                            <a:rPr lang="en-US" altLang="zh-CN" b="1" i="1" smtClean="0">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𝒊</m:t>
                          </m:r>
                          <m:r>
                            <a:rPr lang="en-US" altLang="zh-CN" b="1" i="1" smtClean="0">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𝒎</m:t>
                          </m:r>
                          <m:r>
                            <a:rPr lang="en-US" altLang="zh-CN" b="1" i="1" smtClean="0">
                              <a:solidFill>
                                <a:srgbClr val="FF0000"/>
                              </a:solidFill>
                              <a:latin typeface="Cambria Math" panose="02040503050406030204" pitchFamily="18" charset="0"/>
                            </a:rPr>
                            <m:t>.</m:t>
                          </m:r>
                        </m:e>
                        <m:lim>
                          <m:r>
                            <a:rPr lang="en-US" altLang="zh-CN" i="1">
                              <a:solidFill>
                                <a:srgbClr val="FF0000"/>
                              </a:solidFill>
                              <a:latin typeface="Cambria Math" panose="02040503050406030204" pitchFamily="18" charset="0"/>
                            </a:rPr>
                            <m:t>𝑻</m:t>
                          </m:r>
                          <m:r>
                            <a:rPr lang="en-US" altLang="zh-CN" i="1">
                              <a:solidFill>
                                <a:srgbClr val="FF0000"/>
                              </a:solidFill>
                              <a:latin typeface="Cambria Math" panose="02040503050406030204" pitchFamily="18" charset="0"/>
                            </a:rPr>
                            <m:t>→∞</m:t>
                          </m:r>
                        </m:lim>
                      </m:limLow>
                      <m:f>
                        <m:fPr>
                          <m:ctrlPr>
                            <a:rPr lang="zh-CN" altLang="zh-CN" i="1">
                              <a:solidFill>
                                <a:srgbClr val="FF0000"/>
                              </a:solidFill>
                              <a:latin typeface="Cambria Math" panose="02040503050406030204" pitchFamily="18" charset="0"/>
                            </a:rPr>
                          </m:ctrlPr>
                        </m:fPr>
                        <m:num>
                          <m:r>
                            <a:rPr lang="en-US" altLang="zh-CN" i="1">
                              <a:solidFill>
                                <a:srgbClr val="FF0000"/>
                              </a:solidFill>
                              <a:latin typeface="Cambria Math" panose="02040503050406030204" pitchFamily="18" charset="0"/>
                            </a:rPr>
                            <m:t>𝟏</m:t>
                          </m:r>
                        </m:num>
                        <m:den>
                          <m:r>
                            <a:rPr lang="en-US" altLang="zh-CN" i="1">
                              <a:solidFill>
                                <a:srgbClr val="FF0000"/>
                              </a:solidFill>
                              <a:latin typeface="Cambria Math" panose="02040503050406030204" pitchFamily="18" charset="0"/>
                            </a:rPr>
                            <m:t>𝟐</m:t>
                          </m:r>
                          <m:r>
                            <a:rPr lang="en-US" altLang="zh-CN" i="1">
                              <a:solidFill>
                                <a:srgbClr val="FF0000"/>
                              </a:solidFill>
                              <a:latin typeface="Cambria Math" panose="02040503050406030204" pitchFamily="18" charset="0"/>
                            </a:rPr>
                            <m:t>𝑻</m:t>
                          </m:r>
                        </m:den>
                      </m:f>
                      <m:nary>
                        <m:naryPr>
                          <m:ctrlPr>
                            <a:rPr lang="zh-CN" altLang="zh-CN" i="1">
                              <a:solidFill>
                                <a:srgbClr val="FF0000"/>
                              </a:solidFill>
                              <a:latin typeface="Cambria Math" panose="02040503050406030204" pitchFamily="18" charset="0"/>
                            </a:rPr>
                          </m:ctrlPr>
                        </m:naryPr>
                        <m:sub>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𝑻</m:t>
                          </m:r>
                        </m:sub>
                        <m:sup>
                          <m:r>
                            <a:rPr lang="en-US" altLang="zh-CN" i="1">
                              <a:solidFill>
                                <a:srgbClr val="FF0000"/>
                              </a:solidFill>
                              <a:latin typeface="Cambria Math" panose="02040503050406030204" pitchFamily="18" charset="0"/>
                            </a:rPr>
                            <m:t>𝑻</m:t>
                          </m:r>
                        </m:sup>
                        <m:e>
                          <m:nary>
                            <m:naryPr>
                              <m:chr m:val="∑"/>
                              <m:limLoc m:val="undOvr"/>
                              <m:ctrlPr>
                                <a:rPr lang="zh-CN" altLang="zh-CN" i="1">
                                  <a:latin typeface="Cambria Math" panose="02040503050406030204" pitchFamily="18" charset="0"/>
                                </a:rPr>
                              </m:ctrlPr>
                            </m:naryPr>
                            <m:sub>
                              <m:r>
                                <a:rPr lang="en-US" altLang="zh-CN" i="1">
                                  <a:latin typeface="Cambria Math" panose="02040503050406030204" pitchFamily="18" charset="0"/>
                                </a:rPr>
                                <m:t>𝑛</m:t>
                              </m:r>
                              <m:r>
                                <a:rPr lang="en-US" altLang="zh-CN" i="1">
                                  <a:latin typeface="Cambria Math" panose="02040503050406030204" pitchFamily="18" charset="0"/>
                                </a:rPr>
                                <m:t>=−∞</m:t>
                              </m:r>
                            </m:sub>
                            <m:sup>
                              <m:r>
                                <a:rPr lang="en-US" altLang="zh-CN" i="1">
                                  <a:latin typeface="Cambria Math" panose="02040503050406030204" pitchFamily="18" charset="0"/>
                                </a:rPr>
                                <m:t>+∞</m:t>
                              </m:r>
                            </m:sup>
                            <m:e>
                              <m:sSub>
                                <m:sSubPr>
                                  <m:ctrlPr>
                                    <a:rPr lang="zh-CN"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𝑛</m:t>
                                  </m:r>
                                </m:sub>
                              </m:sSub>
                              <m:r>
                                <a:rPr lang="en-US" altLang="zh-CN" i="1">
                                  <a:latin typeface="Cambria Math" panose="02040503050406030204" pitchFamily="18" charset="0"/>
                                </a:rPr>
                                <m:t>𝑔</m:t>
                              </m:r>
                              <m:d>
                                <m:dPr>
                                  <m:ctrlPr>
                                    <a:rPr lang="zh-CN" altLang="zh-CN" i="1">
                                      <a:latin typeface="Cambria Math" panose="02040503050406030204" pitchFamily="18" charset="0"/>
                                    </a:rPr>
                                  </m:ctrlPr>
                                </m:dPr>
                                <m:e>
                                  <m:r>
                                    <a:rPr lang="en-US" altLang="zh-CN" i="1">
                                      <a:latin typeface="Cambria Math" panose="02040503050406030204" pitchFamily="18" charset="0"/>
                                    </a:rPr>
                                    <m:t>𝑡</m:t>
                                  </m:r>
                                  <m:r>
                                    <a:rPr lang="en-US" altLang="zh-CN" i="1">
                                      <a:latin typeface="Cambria Math" panose="02040503050406030204" pitchFamily="18" charset="0"/>
                                    </a:rPr>
                                    <m:t>−</m:t>
                                  </m:r>
                                  <m:r>
                                    <a:rPr lang="en-US" altLang="zh-CN" i="1">
                                      <a:latin typeface="Cambria Math" panose="02040503050406030204" pitchFamily="18" charset="0"/>
                                    </a:rPr>
                                    <m:t>𝑛𝑇</m:t>
                                  </m:r>
                                  <m:r>
                                    <a:rPr lang="en-US" altLang="zh-CN" i="1">
                                      <a:latin typeface="Cambria Math" panose="02040503050406030204" pitchFamily="18" charset="0"/>
                                    </a:rPr>
                                    <m:t>−</m:t>
                                  </m:r>
                                  <m:r>
                                    <a:rPr lang="en-US" altLang="zh-CN" i="1">
                                      <a:latin typeface="Cambria Math" panose="02040503050406030204" pitchFamily="18" charset="0"/>
                                    </a:rPr>
                                    <m:t>𝑫</m:t>
                                  </m:r>
                                </m:e>
                              </m:d>
                            </m:e>
                          </m:nary>
                        </m:e>
                      </m:nary>
                      <m:r>
                        <a:rPr lang="en-US" altLang="zh-CN" i="1">
                          <a:solidFill>
                            <a:srgbClr val="FF0000"/>
                          </a:solidFill>
                          <a:latin typeface="Cambria Math" panose="02040503050406030204" pitchFamily="18" charset="0"/>
                        </a:rPr>
                        <m:t>𝒅𝒕</m:t>
                      </m:r>
                      <m:r>
                        <a:rPr lang="en-US" altLang="zh-CN" i="1" dirty="0" smtClean="0">
                          <a:latin typeface="Cambria Math" panose="02040503050406030204" pitchFamily="18" charset="0"/>
                        </a:rPr>
                        <m:t>=0=</m:t>
                      </m:r>
                      <m:r>
                        <a:rPr lang="en-US" altLang="zh-CN" i="1">
                          <a:latin typeface="Cambria Math" panose="02040503050406030204" pitchFamily="18" charset="0"/>
                        </a:rPr>
                        <m:t>𝐸</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𝑌</m:t>
                          </m:r>
                          <m:d>
                            <m:dPr>
                              <m:ctrlPr>
                                <a:rPr lang="en-US" altLang="zh-CN" i="1">
                                  <a:latin typeface="Cambria Math" panose="02040503050406030204" pitchFamily="18" charset="0"/>
                                </a:rPr>
                              </m:ctrlPr>
                            </m:dPr>
                            <m:e>
                              <m:r>
                                <a:rPr lang="en-US" altLang="zh-CN" i="1">
                                  <a:latin typeface="Cambria Math" panose="02040503050406030204" pitchFamily="18" charset="0"/>
                                </a:rPr>
                                <m:t>𝑡</m:t>
                              </m:r>
                            </m:e>
                          </m:d>
                        </m:e>
                      </m:d>
                    </m:oMath>
                  </m:oMathPara>
                </a14:m>
                <a:endParaRPr lang="en-US" altLang="zh-CN" dirty="0"/>
              </a:p>
              <a:p>
                <a:pPr marL="0" indent="0">
                  <a:buNone/>
                </a:pPr>
                <a:endParaRPr lang="en-US" altLang="zh-CN" dirty="0"/>
              </a:p>
              <a:p>
                <a:pPr marL="0" indent="0">
                  <a:buNone/>
                </a:pPr>
                <a:r>
                  <a:rPr lang="zh-CN" altLang="en-US" dirty="0"/>
                  <a:t>故均值各态历经。</a:t>
                </a:r>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xfrm>
                <a:off x="207818" y="1051213"/>
                <a:ext cx="8756073" cy="4537364"/>
              </a:xfrm>
              <a:blipFill>
                <a:blip r:embed="rId2"/>
                <a:stretch>
                  <a:fillRect l="-627" t="-94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58821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总 结</a:t>
            </a:r>
          </a:p>
        </p:txBody>
      </p:sp>
      <p:sp>
        <p:nvSpPr>
          <p:cNvPr id="4" name="内容占位符 3"/>
          <p:cNvSpPr>
            <a:spLocks noGrp="1"/>
          </p:cNvSpPr>
          <p:nvPr>
            <p:ph idx="1"/>
          </p:nvPr>
        </p:nvSpPr>
        <p:spPr>
          <a:xfrm>
            <a:off x="609666" y="1712193"/>
            <a:ext cx="8075613" cy="3433614"/>
          </a:xfrm>
        </p:spPr>
        <p:txBody>
          <a:bodyPr/>
          <a:lstStyle/>
          <a:p>
            <a:pPr>
              <a:lnSpc>
                <a:spcPct val="150000"/>
              </a:lnSpc>
            </a:pPr>
            <a:r>
              <a:rPr lang="zh-CN" altLang="en-US" sz="2400" dirty="0"/>
              <a:t>各态历经定义：在一定条件下，随机信号的任何一个样本函数的时间平均，从概率意义上等于它的统计平均。这种特性称为各态历经性（</a:t>
            </a:r>
            <a:r>
              <a:rPr lang="en-US" altLang="zh-CN" sz="2400" dirty="0"/>
              <a:t>Ergodicity</a:t>
            </a:r>
            <a:r>
              <a:rPr lang="zh-CN" altLang="en-US" sz="2400" dirty="0"/>
              <a:t>）或遍历性。</a:t>
            </a:r>
            <a:endParaRPr lang="en-US" altLang="zh-CN" sz="2400" dirty="0"/>
          </a:p>
          <a:p>
            <a:pPr>
              <a:lnSpc>
                <a:spcPct val="150000"/>
              </a:lnSpc>
            </a:pPr>
            <a:r>
              <a:rPr lang="zh-CN" altLang="en-US" sz="2400" dirty="0"/>
              <a:t>平稳过程的各态历经性判断</a:t>
            </a:r>
            <a:endParaRPr lang="en-US" altLang="zh-CN" sz="2400" dirty="0"/>
          </a:p>
          <a:p>
            <a:pPr lvl="1">
              <a:lnSpc>
                <a:spcPct val="150000"/>
              </a:lnSpc>
            </a:pPr>
            <a:r>
              <a:rPr lang="zh-CN" altLang="en-US" sz="2400" dirty="0"/>
              <a:t>均值各态历经</a:t>
            </a:r>
            <a:endParaRPr lang="en-US" altLang="zh-CN" sz="2400" dirty="0"/>
          </a:p>
          <a:p>
            <a:pPr lvl="1">
              <a:lnSpc>
                <a:spcPct val="150000"/>
              </a:lnSpc>
            </a:pPr>
            <a:r>
              <a:rPr lang="zh-CN" altLang="en-US" sz="2400" dirty="0"/>
              <a:t>相关函数各态历经</a:t>
            </a:r>
            <a:endParaRPr lang="en-US" altLang="zh-CN" sz="2400" dirty="0"/>
          </a:p>
          <a:p>
            <a:endParaRPr lang="zh-CN" altLang="en-US" dirty="0"/>
          </a:p>
        </p:txBody>
      </p:sp>
    </p:spTree>
    <p:extLst>
      <p:ext uri="{BB962C8B-B14F-4D97-AF65-F5344CB8AC3E}">
        <p14:creationId xmlns:p14="http://schemas.microsoft.com/office/powerpoint/2010/main" val="2706990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0AABAD9-53E1-4611-99D7-1C2C6D4A69B2}"/>
              </a:ext>
            </a:extLst>
          </p:cNvPr>
          <p:cNvSpPr>
            <a:spLocks noGrp="1"/>
          </p:cNvSpPr>
          <p:nvPr>
            <p:ph idx="1"/>
          </p:nvPr>
        </p:nvSpPr>
        <p:spPr>
          <a:xfrm>
            <a:off x="684213" y="2078830"/>
            <a:ext cx="7772400" cy="2550320"/>
          </a:xfrm>
        </p:spPr>
        <p:txBody>
          <a:bodyPr/>
          <a:lstStyle/>
          <a:p>
            <a:pPr>
              <a:lnSpc>
                <a:spcPct val="150000"/>
              </a:lnSpc>
            </a:pPr>
            <a:r>
              <a:rPr lang="zh-CN" altLang="en-US" dirty="0">
                <a:solidFill>
                  <a:srgbClr val="FF0000"/>
                </a:solidFill>
                <a:latin typeface="华文中宋" panose="02010600040101010101" pitchFamily="2" charset="-122"/>
                <a:ea typeface="华文中宋" panose="02010600040101010101" pitchFamily="2" charset="-122"/>
              </a:rPr>
              <a:t>确定性信号：</a:t>
            </a:r>
            <a:r>
              <a:rPr lang="zh-CN" altLang="en-US" dirty="0">
                <a:latin typeface="华文中宋" panose="02010600040101010101" pitchFamily="2" charset="-122"/>
                <a:ea typeface="华文中宋" panose="02010600040101010101" pitchFamily="2" charset="-122"/>
              </a:rPr>
              <a:t>信号在某一时刻的取值是确定的，用公式或图表表示。</a:t>
            </a:r>
          </a:p>
          <a:p>
            <a:pPr>
              <a:lnSpc>
                <a:spcPct val="150000"/>
              </a:lnSpc>
            </a:pPr>
            <a:r>
              <a:rPr lang="zh-CN" altLang="en-US" dirty="0">
                <a:solidFill>
                  <a:srgbClr val="FF0000"/>
                </a:solidFill>
                <a:latin typeface="华文中宋" panose="02010600040101010101" pitchFamily="2" charset="-122"/>
                <a:ea typeface="华文中宋" panose="02010600040101010101" pitchFamily="2" charset="-122"/>
              </a:rPr>
              <a:t>随机信号</a:t>
            </a:r>
            <a:r>
              <a:rPr lang="en-US" altLang="zh-CN" dirty="0">
                <a:solidFill>
                  <a:srgbClr val="FF0000"/>
                </a:solidFill>
                <a:latin typeface="华文中宋" panose="02010600040101010101" pitchFamily="2" charset="-122"/>
                <a:ea typeface="华文中宋" panose="02010600040101010101" pitchFamily="2" charset="-122"/>
              </a:rPr>
              <a:t>: </a:t>
            </a:r>
            <a:r>
              <a:rPr lang="zh-CN" altLang="en-US" dirty="0">
                <a:latin typeface="华文中宋" panose="02010600040101010101" pitchFamily="2" charset="-122"/>
                <a:ea typeface="华文中宋" panose="02010600040101010101" pitchFamily="2" charset="-122"/>
              </a:rPr>
              <a:t>信号在某一时刻的取值是不确定的，为随机变量。</a:t>
            </a:r>
            <a:endParaRPr lang="en-US" altLang="zh-CN" dirty="0">
              <a:latin typeface="华文中宋" panose="02010600040101010101" pitchFamily="2" charset="-122"/>
              <a:ea typeface="华文中宋" panose="02010600040101010101" pitchFamily="2" charset="-122"/>
            </a:endParaRPr>
          </a:p>
          <a:p>
            <a:pPr>
              <a:lnSpc>
                <a:spcPct val="150000"/>
              </a:lnSpc>
            </a:pPr>
            <a:r>
              <a:rPr lang="zh-CN" altLang="en-US" dirty="0">
                <a:latin typeface="华文中宋" panose="02010600040101010101" pitchFamily="2" charset="-122"/>
                <a:ea typeface="华文中宋" panose="02010600040101010101" pitchFamily="2" charset="-122"/>
              </a:rPr>
              <a:t>随机信号的样本函数是确定性信号。</a:t>
            </a:r>
            <a:endParaRPr lang="en-US" altLang="zh-CN" dirty="0">
              <a:latin typeface="华文中宋" panose="02010600040101010101" pitchFamily="2" charset="-122"/>
              <a:ea typeface="华文中宋" panose="02010600040101010101" pitchFamily="2" charset="-122"/>
            </a:endParaRPr>
          </a:p>
          <a:p>
            <a:pPr>
              <a:lnSpc>
                <a:spcPct val="150000"/>
              </a:lnSpc>
            </a:pPr>
            <a:endParaRPr lang="en-US" altLang="zh-CN" dirty="0">
              <a:latin typeface="华文中宋" panose="02010600040101010101" pitchFamily="2" charset="-122"/>
              <a:ea typeface="华文中宋" panose="02010600040101010101" pitchFamily="2" charset="-122"/>
            </a:endParaRPr>
          </a:p>
          <a:p>
            <a:pPr>
              <a:lnSpc>
                <a:spcPct val="150000"/>
              </a:lnSpc>
            </a:pPr>
            <a:endParaRPr lang="en-US" altLang="zh-CN" dirty="0">
              <a:latin typeface="华文中宋" panose="02010600040101010101" pitchFamily="2" charset="-122"/>
              <a:ea typeface="华文中宋" panose="02010600040101010101" pitchFamily="2" charset="-122"/>
            </a:endParaRPr>
          </a:p>
          <a:p>
            <a:pPr marL="0" indent="0">
              <a:buNone/>
            </a:pPr>
            <a:r>
              <a:rPr lang="en-US" altLang="zh-CN" dirty="0">
                <a:latin typeface="华文中宋" panose="02010600040101010101" pitchFamily="2" charset="-122"/>
                <a:ea typeface="华文中宋" panose="02010600040101010101" pitchFamily="2" charset="-122"/>
              </a:rPr>
              <a:t>                 </a:t>
            </a:r>
            <a:endParaRPr lang="zh-CN" altLang="en-US" dirty="0">
              <a:latin typeface="华文中宋" panose="02010600040101010101" pitchFamily="2" charset="-122"/>
              <a:ea typeface="华文中宋" panose="02010600040101010101" pitchFamily="2" charset="-122"/>
            </a:endParaRPr>
          </a:p>
          <a:p>
            <a:endParaRPr lang="zh-CN" altLang="en-US" dirty="0"/>
          </a:p>
        </p:txBody>
      </p:sp>
      <p:sp>
        <p:nvSpPr>
          <p:cNvPr id="4" name="标题 3"/>
          <p:cNvSpPr>
            <a:spLocks noGrp="1"/>
          </p:cNvSpPr>
          <p:nvPr>
            <p:ph type="title"/>
          </p:nvPr>
        </p:nvSpPr>
        <p:spPr/>
        <p:txBody>
          <a:bodyPr/>
          <a:lstStyle/>
          <a:p>
            <a:r>
              <a:rPr lang="zh-CN" altLang="en-US" dirty="0"/>
              <a:t>信号分类</a:t>
            </a:r>
          </a:p>
        </p:txBody>
      </p:sp>
    </p:spTree>
    <p:extLst>
      <p:ext uri="{BB962C8B-B14F-4D97-AF65-F5344CB8AC3E}">
        <p14:creationId xmlns:p14="http://schemas.microsoft.com/office/powerpoint/2010/main" val="40577193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0AABAD9-53E1-4611-99D7-1C2C6D4A69B2}"/>
              </a:ext>
            </a:extLst>
          </p:cNvPr>
          <p:cNvSpPr>
            <a:spLocks noGrp="1"/>
          </p:cNvSpPr>
          <p:nvPr>
            <p:ph idx="1"/>
          </p:nvPr>
        </p:nvSpPr>
        <p:spPr>
          <a:xfrm>
            <a:off x="452628" y="2078831"/>
            <a:ext cx="8257032" cy="2879503"/>
          </a:xfrm>
        </p:spPr>
        <p:txBody>
          <a:bodyPr/>
          <a:lstStyle/>
          <a:p>
            <a:pPr>
              <a:buFont typeface="Arial" panose="020B0604020202020204" pitchFamily="34" charset="0"/>
              <a:buChar char="•"/>
            </a:pPr>
            <a:r>
              <a:rPr lang="zh-CN" altLang="en-US" dirty="0">
                <a:solidFill>
                  <a:srgbClr val="FF0000"/>
                </a:solidFill>
                <a:latin typeface="华文中宋" panose="02010600040101010101" pitchFamily="2" charset="-122"/>
                <a:ea typeface="华文中宋" panose="02010600040101010101" pitchFamily="2" charset="-122"/>
              </a:rPr>
              <a:t>周期信号：</a:t>
            </a:r>
            <a:r>
              <a:rPr lang="zh-CN" altLang="en-US" dirty="0">
                <a:latin typeface="华文中宋" panose="02010600040101010101" pitchFamily="2" charset="-122"/>
                <a:ea typeface="华文中宋" panose="02010600040101010101" pitchFamily="2" charset="-122"/>
              </a:rPr>
              <a:t>存在某一个正数         ，对任意</a:t>
            </a:r>
            <a:r>
              <a:rPr lang="en-US" altLang="zh-CN" i="1" dirty="0">
                <a:latin typeface="华文中宋" panose="02010600040101010101" pitchFamily="2" charset="-122"/>
                <a:ea typeface="华文中宋" panose="02010600040101010101" pitchFamily="2" charset="-122"/>
              </a:rPr>
              <a:t>t </a:t>
            </a:r>
            <a:r>
              <a:rPr lang="zh-CN" altLang="en-US" dirty="0">
                <a:latin typeface="华文中宋" panose="02010600040101010101" pitchFamily="2" charset="-122"/>
                <a:ea typeface="华文中宋" panose="02010600040101010101" pitchFamily="2" charset="-122"/>
              </a:rPr>
              <a:t>，                 成立。</a:t>
            </a:r>
          </a:p>
          <a:p>
            <a:pPr marL="0" indent="0">
              <a:buNone/>
            </a:pPr>
            <a:r>
              <a:rPr lang="zh-CN" altLang="en-US" dirty="0">
                <a:latin typeface="华文中宋" panose="02010600040101010101" pitchFamily="2" charset="-122"/>
                <a:ea typeface="华文中宋" panose="02010600040101010101" pitchFamily="2" charset="-122"/>
              </a:rPr>
              <a:t>         （               ，无头无尾）</a:t>
            </a:r>
            <a:r>
              <a:rPr lang="en-US" altLang="zh-CN" dirty="0">
                <a:latin typeface="华文中宋" panose="02010600040101010101" pitchFamily="2" charset="-122"/>
                <a:ea typeface="华文中宋" panose="02010600040101010101" pitchFamily="2" charset="-122"/>
              </a:rPr>
              <a:t>           </a:t>
            </a:r>
            <a:endParaRPr lang="zh-CN" altLang="en-US" dirty="0">
              <a:latin typeface="华文中宋" panose="02010600040101010101" pitchFamily="2" charset="-122"/>
              <a:ea typeface="华文中宋" panose="02010600040101010101" pitchFamily="2" charset="-122"/>
            </a:endParaRPr>
          </a:p>
          <a:p>
            <a:pPr>
              <a:lnSpc>
                <a:spcPct val="150000"/>
              </a:lnSpc>
            </a:pPr>
            <a:r>
              <a:rPr lang="zh-CN" altLang="zh-CN" dirty="0">
                <a:solidFill>
                  <a:srgbClr val="FF0000"/>
                </a:solidFill>
                <a:latin typeface="华文中宋" panose="02010600040101010101" pitchFamily="2" charset="-122"/>
                <a:ea typeface="华文中宋" panose="02010600040101010101" pitchFamily="2" charset="-122"/>
              </a:rPr>
              <a:t>非周期信号：</a:t>
            </a:r>
            <a:r>
              <a:rPr lang="zh-CN" altLang="en-US" dirty="0">
                <a:latin typeface="华文中宋" panose="02010600040101010101" pitchFamily="2" charset="-122"/>
                <a:ea typeface="华文中宋" panose="02010600040101010101" pitchFamily="2" charset="-122"/>
              </a:rPr>
              <a:t>不存在某一个正数         ，对任意</a:t>
            </a:r>
            <a:r>
              <a:rPr lang="en-US" altLang="zh-CN" i="1" dirty="0">
                <a:latin typeface="华文中宋" panose="02010600040101010101" pitchFamily="2" charset="-122"/>
                <a:ea typeface="华文中宋" panose="02010600040101010101" pitchFamily="2" charset="-122"/>
              </a:rPr>
              <a:t>t</a:t>
            </a:r>
            <a:r>
              <a:rPr lang="en-US" altLang="zh-CN" dirty="0">
                <a:latin typeface="华文中宋" panose="02010600040101010101" pitchFamily="2" charset="-122"/>
                <a:ea typeface="华文中宋" panose="02010600040101010101" pitchFamily="2" charset="-122"/>
              </a:rPr>
              <a:t> </a:t>
            </a:r>
            <a:r>
              <a:rPr lang="zh-CN" altLang="en-US" dirty="0">
                <a:latin typeface="华文中宋" panose="02010600040101010101" pitchFamily="2" charset="-122"/>
                <a:ea typeface="华文中宋" panose="02010600040101010101" pitchFamily="2" charset="-122"/>
              </a:rPr>
              <a:t>，                 成立。</a:t>
            </a:r>
            <a:endParaRPr lang="en-US" altLang="zh-CN" dirty="0">
              <a:latin typeface="华文中宋" panose="02010600040101010101" pitchFamily="2" charset="-122"/>
              <a:ea typeface="华文中宋" panose="02010600040101010101" pitchFamily="2" charset="-122"/>
            </a:endParaRPr>
          </a:p>
          <a:p>
            <a:pPr>
              <a:lnSpc>
                <a:spcPct val="150000"/>
              </a:lnSpc>
            </a:pPr>
            <a:r>
              <a:rPr lang="zh-CN" altLang="en-US" dirty="0">
                <a:latin typeface="华文中宋" panose="02010600040101010101" pitchFamily="2" charset="-122"/>
                <a:ea typeface="华文中宋" panose="02010600040101010101" pitchFamily="2" charset="-122"/>
              </a:rPr>
              <a:t>针对的是确定信号，随机信号一般不区分周期非周期信号。</a:t>
            </a:r>
          </a:p>
          <a:p>
            <a:endParaRPr lang="zh-CN" altLang="en-US" dirty="0">
              <a:latin typeface="华文中宋" panose="02010600040101010101" pitchFamily="2" charset="-122"/>
              <a:ea typeface="华文中宋" panose="02010600040101010101" pitchFamily="2" charset="-122"/>
            </a:endParaRPr>
          </a:p>
        </p:txBody>
      </p:sp>
      <p:sp>
        <p:nvSpPr>
          <p:cNvPr id="4" name="标题 3"/>
          <p:cNvSpPr>
            <a:spLocks noGrp="1"/>
          </p:cNvSpPr>
          <p:nvPr>
            <p:ph type="title"/>
          </p:nvPr>
        </p:nvSpPr>
        <p:spPr/>
        <p:txBody>
          <a:bodyPr/>
          <a:lstStyle/>
          <a:p>
            <a:r>
              <a:rPr lang="zh-CN" altLang="en-US" dirty="0"/>
              <a:t>信号分类</a:t>
            </a:r>
          </a:p>
        </p:txBody>
      </p:sp>
      <p:sp>
        <p:nvSpPr>
          <p:cNvPr id="11" name="Rectangle 9"/>
          <p:cNvSpPr>
            <a:spLocks noChangeArrowheads="1"/>
          </p:cNvSpPr>
          <p:nvPr/>
        </p:nvSpPr>
        <p:spPr bwMode="auto">
          <a:xfrm>
            <a:off x="0"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graphicFrame>
        <p:nvGraphicFramePr>
          <p:cNvPr id="12" name="对象 11"/>
          <p:cNvGraphicFramePr>
            <a:graphicFrameLocks noChangeAspect="1"/>
          </p:cNvGraphicFramePr>
          <p:nvPr/>
        </p:nvGraphicFramePr>
        <p:xfrm>
          <a:off x="4069795" y="2182416"/>
          <a:ext cx="590550" cy="238125"/>
        </p:xfrm>
        <a:graphic>
          <a:graphicData uri="http://schemas.openxmlformats.org/presentationml/2006/ole">
            <mc:AlternateContent xmlns:mc="http://schemas.openxmlformats.org/markup-compatibility/2006">
              <mc:Choice xmlns:v="urn:schemas-microsoft-com:vml" Requires="v">
                <p:oleObj spid="_x0000_s9303" name="Equation" r:id="rId3" imgW="787320" imgH="317160" progId="Equation.DSMT4">
                  <p:embed/>
                </p:oleObj>
              </mc:Choice>
              <mc:Fallback>
                <p:oleObj name="Equation" r:id="rId3" imgW="787320" imgH="317160" progId="Equation.DSMT4">
                  <p:embed/>
                  <p:pic>
                    <p:nvPicPr>
                      <p:cNvPr id="12" name="对象 11"/>
                      <p:cNvPicPr>
                        <a:picLocks noChangeAspect="1" noChangeArrowheads="1"/>
                      </p:cNvPicPr>
                      <p:nvPr/>
                    </p:nvPicPr>
                    <p:blipFill>
                      <a:blip r:embed="rId4"/>
                      <a:srcRect/>
                      <a:stretch>
                        <a:fillRect/>
                      </a:stretch>
                    </p:blipFill>
                    <p:spPr bwMode="auto">
                      <a:xfrm>
                        <a:off x="4069795" y="2182416"/>
                        <a:ext cx="590550" cy="238125"/>
                      </a:xfrm>
                      <a:prstGeom prst="rect">
                        <a:avLst/>
                      </a:prstGeom>
                      <a:noFill/>
                    </p:spPr>
                  </p:pic>
                </p:oleObj>
              </mc:Fallback>
            </mc:AlternateContent>
          </a:graphicData>
        </a:graphic>
      </p:graphicFrame>
      <p:sp>
        <p:nvSpPr>
          <p:cNvPr id="13" name="Rectangle 11"/>
          <p:cNvSpPr>
            <a:spLocks noChangeArrowheads="1"/>
          </p:cNvSpPr>
          <p:nvPr/>
        </p:nvSpPr>
        <p:spPr bwMode="auto">
          <a:xfrm>
            <a:off x="0"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graphicFrame>
        <p:nvGraphicFramePr>
          <p:cNvPr id="14" name="对象 13"/>
          <p:cNvGraphicFramePr>
            <a:graphicFrameLocks noChangeAspect="1"/>
          </p:cNvGraphicFramePr>
          <p:nvPr/>
        </p:nvGraphicFramePr>
        <p:xfrm>
          <a:off x="6192679" y="2153841"/>
          <a:ext cx="1524000" cy="295275"/>
        </p:xfrm>
        <a:graphic>
          <a:graphicData uri="http://schemas.openxmlformats.org/presentationml/2006/ole">
            <mc:AlternateContent xmlns:mc="http://schemas.openxmlformats.org/markup-compatibility/2006">
              <mc:Choice xmlns:v="urn:schemas-microsoft-com:vml" Requires="v">
                <p:oleObj spid="_x0000_s9304" name="Equation" r:id="rId5" imgW="2031840" imgH="393480" progId="Equation.DSMT4">
                  <p:embed/>
                </p:oleObj>
              </mc:Choice>
              <mc:Fallback>
                <p:oleObj name="Equation" r:id="rId5" imgW="2031840" imgH="393480" progId="Equation.DSMT4">
                  <p:embed/>
                  <p:pic>
                    <p:nvPicPr>
                      <p:cNvPr id="14" name="对象 13"/>
                      <p:cNvPicPr>
                        <a:picLocks noChangeAspect="1" noChangeArrowheads="1"/>
                      </p:cNvPicPr>
                      <p:nvPr/>
                    </p:nvPicPr>
                    <p:blipFill>
                      <a:blip r:embed="rId6"/>
                      <a:srcRect/>
                      <a:stretch>
                        <a:fillRect/>
                      </a:stretch>
                    </p:blipFill>
                    <p:spPr bwMode="auto">
                      <a:xfrm>
                        <a:off x="6192679" y="2153841"/>
                        <a:ext cx="1524000" cy="295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Rectangle 13"/>
          <p:cNvSpPr>
            <a:spLocks noChangeArrowheads="1"/>
          </p:cNvSpPr>
          <p:nvPr/>
        </p:nvSpPr>
        <p:spPr bwMode="auto">
          <a:xfrm>
            <a:off x="0"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graphicFrame>
        <p:nvGraphicFramePr>
          <p:cNvPr id="16" name="对象 15"/>
          <p:cNvGraphicFramePr>
            <a:graphicFrameLocks noChangeAspect="1"/>
          </p:cNvGraphicFramePr>
          <p:nvPr/>
        </p:nvGraphicFramePr>
        <p:xfrm>
          <a:off x="1558529" y="2678906"/>
          <a:ext cx="1171575" cy="200025"/>
        </p:xfrm>
        <a:graphic>
          <a:graphicData uri="http://schemas.openxmlformats.org/presentationml/2006/ole">
            <mc:AlternateContent xmlns:mc="http://schemas.openxmlformats.org/markup-compatibility/2006">
              <mc:Choice xmlns:v="urn:schemas-microsoft-com:vml" Requires="v">
                <p:oleObj spid="_x0000_s9305" name="Equation" r:id="rId7" imgW="1562040" imgH="266400" progId="Equation.DSMT4">
                  <p:embed/>
                </p:oleObj>
              </mc:Choice>
              <mc:Fallback>
                <p:oleObj name="Equation" r:id="rId7" imgW="1562040" imgH="266400" progId="Equation.DSMT4">
                  <p:embed/>
                  <p:pic>
                    <p:nvPicPr>
                      <p:cNvPr id="16" name="对象 15"/>
                      <p:cNvPicPr>
                        <a:picLocks noChangeAspect="1" noChangeArrowheads="1"/>
                      </p:cNvPicPr>
                      <p:nvPr/>
                    </p:nvPicPr>
                    <p:blipFill>
                      <a:blip r:embed="rId8"/>
                      <a:srcRect/>
                      <a:stretch>
                        <a:fillRect/>
                      </a:stretch>
                    </p:blipFill>
                    <p:spPr bwMode="auto">
                      <a:xfrm>
                        <a:off x="1558529" y="2678906"/>
                        <a:ext cx="1171575" cy="200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对象 20"/>
          <p:cNvGraphicFramePr>
            <a:graphicFrameLocks noChangeAspect="1"/>
          </p:cNvGraphicFramePr>
          <p:nvPr/>
        </p:nvGraphicFramePr>
        <p:xfrm>
          <a:off x="4558284" y="3233456"/>
          <a:ext cx="585788" cy="233363"/>
        </p:xfrm>
        <a:graphic>
          <a:graphicData uri="http://schemas.openxmlformats.org/presentationml/2006/ole">
            <mc:AlternateContent xmlns:mc="http://schemas.openxmlformats.org/markup-compatibility/2006">
              <mc:Choice xmlns:v="urn:schemas-microsoft-com:vml" Requires="v">
                <p:oleObj spid="_x0000_s9306" name="Equation" r:id="rId9" imgW="781235" imgH="311187" progId="Equation.DSMT4">
                  <p:embed/>
                </p:oleObj>
              </mc:Choice>
              <mc:Fallback>
                <p:oleObj name="Equation" r:id="rId9" imgW="781235" imgH="311187" progId="Equation.DSMT4">
                  <p:embed/>
                  <p:pic>
                    <p:nvPicPr>
                      <p:cNvPr id="21" name="对象 20"/>
                      <p:cNvPicPr/>
                      <p:nvPr/>
                    </p:nvPicPr>
                    <p:blipFill>
                      <a:blip r:embed="rId10"/>
                      <a:stretch>
                        <a:fillRect/>
                      </a:stretch>
                    </p:blipFill>
                    <p:spPr>
                      <a:xfrm>
                        <a:off x="4558284" y="3233456"/>
                        <a:ext cx="585788" cy="233363"/>
                      </a:xfrm>
                      <a:prstGeom prst="rect">
                        <a:avLst/>
                      </a:prstGeom>
                    </p:spPr>
                  </p:pic>
                </p:oleObj>
              </mc:Fallback>
            </mc:AlternateContent>
          </a:graphicData>
        </a:graphic>
      </p:graphicFrame>
      <p:graphicFrame>
        <p:nvGraphicFramePr>
          <p:cNvPr id="22" name="对象 21"/>
          <p:cNvGraphicFramePr>
            <a:graphicFrameLocks noChangeAspect="1"/>
          </p:cNvGraphicFramePr>
          <p:nvPr/>
        </p:nvGraphicFramePr>
        <p:xfrm>
          <a:off x="6727031" y="3218597"/>
          <a:ext cx="1519238" cy="290513"/>
        </p:xfrm>
        <a:graphic>
          <a:graphicData uri="http://schemas.openxmlformats.org/presentationml/2006/ole">
            <mc:AlternateContent xmlns:mc="http://schemas.openxmlformats.org/markup-compatibility/2006">
              <mc:Choice xmlns:v="urn:schemas-microsoft-com:vml" Requires="v">
                <p:oleObj spid="_x0000_s9307" name="Equation" r:id="rId11" imgW="2025687" imgH="387299" progId="Equation.DSMT4">
                  <p:embed/>
                </p:oleObj>
              </mc:Choice>
              <mc:Fallback>
                <p:oleObj name="Equation" r:id="rId11" imgW="2025687" imgH="387299" progId="Equation.DSMT4">
                  <p:embed/>
                  <p:pic>
                    <p:nvPicPr>
                      <p:cNvPr id="22" name="对象 21"/>
                      <p:cNvPicPr/>
                      <p:nvPr/>
                    </p:nvPicPr>
                    <p:blipFill>
                      <a:blip r:embed="rId12"/>
                      <a:stretch>
                        <a:fillRect/>
                      </a:stretch>
                    </p:blipFill>
                    <p:spPr>
                      <a:xfrm>
                        <a:off x="6727031" y="3218597"/>
                        <a:ext cx="1519238" cy="290513"/>
                      </a:xfrm>
                      <a:prstGeom prst="rect">
                        <a:avLst/>
                      </a:prstGeom>
                    </p:spPr>
                  </p:pic>
                </p:oleObj>
              </mc:Fallback>
            </mc:AlternateContent>
          </a:graphicData>
        </a:graphic>
      </p:graphicFrame>
    </p:spTree>
    <p:extLst>
      <p:ext uri="{BB962C8B-B14F-4D97-AF65-F5344CB8AC3E}">
        <p14:creationId xmlns:p14="http://schemas.microsoft.com/office/powerpoint/2010/main" val="16545954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0AABAD9-53E1-4611-99D7-1C2C6D4A69B2}"/>
              </a:ext>
            </a:extLst>
          </p:cNvPr>
          <p:cNvSpPr>
            <a:spLocks noGrp="1"/>
          </p:cNvSpPr>
          <p:nvPr>
            <p:ph idx="1"/>
          </p:nvPr>
        </p:nvSpPr>
        <p:spPr>
          <a:xfrm>
            <a:off x="473202" y="2078830"/>
            <a:ext cx="7983411" cy="3558446"/>
          </a:xfrm>
        </p:spPr>
        <p:txBody>
          <a:bodyPr/>
          <a:lstStyle/>
          <a:p>
            <a:pPr>
              <a:lnSpc>
                <a:spcPct val="150000"/>
              </a:lnSpc>
            </a:pPr>
            <a:r>
              <a:rPr lang="zh-CN" altLang="en-US" dirty="0">
                <a:solidFill>
                  <a:srgbClr val="FF0000"/>
                </a:solidFill>
                <a:latin typeface="华文中宋" panose="02010600040101010101" pitchFamily="2" charset="-122"/>
                <a:ea typeface="华文中宋" panose="02010600040101010101" pitchFamily="2" charset="-122"/>
              </a:rPr>
              <a:t>能量信号</a:t>
            </a:r>
            <a:r>
              <a:rPr lang="zh-CN" altLang="en-US" dirty="0">
                <a:latin typeface="华文中宋" panose="02010600040101010101" pitchFamily="2" charset="-122"/>
                <a:ea typeface="华文中宋" panose="02010600040101010101" pitchFamily="2" charset="-122"/>
              </a:rPr>
              <a:t>：信号的能量有限，平均功率为</a:t>
            </a:r>
            <a:r>
              <a:rPr lang="en-US" altLang="zh-CN" dirty="0">
                <a:latin typeface="华文中宋" panose="02010600040101010101" pitchFamily="2" charset="-122"/>
                <a:ea typeface="华文中宋" panose="02010600040101010101" pitchFamily="2" charset="-122"/>
              </a:rPr>
              <a:t>0</a:t>
            </a:r>
            <a:r>
              <a:rPr lang="zh-CN" altLang="en-US" dirty="0">
                <a:latin typeface="华文中宋" panose="02010600040101010101" pitchFamily="2" charset="-122"/>
                <a:ea typeface="华文中宋" panose="02010600040101010101" pitchFamily="2" charset="-122"/>
              </a:rPr>
              <a:t>。</a:t>
            </a:r>
          </a:p>
          <a:p>
            <a:pPr>
              <a:lnSpc>
                <a:spcPct val="150000"/>
              </a:lnSpc>
            </a:pPr>
            <a:r>
              <a:rPr lang="zh-CN" altLang="en-US" dirty="0">
                <a:solidFill>
                  <a:srgbClr val="FF0000"/>
                </a:solidFill>
                <a:latin typeface="华文中宋" panose="02010600040101010101" pitchFamily="2" charset="-122"/>
                <a:ea typeface="华文中宋" panose="02010600040101010101" pitchFamily="2" charset="-122"/>
              </a:rPr>
              <a:t>功率信号：</a:t>
            </a:r>
            <a:r>
              <a:rPr lang="zh-CN" altLang="en-US" dirty="0">
                <a:latin typeface="华文中宋" panose="02010600040101010101" pitchFamily="2" charset="-122"/>
                <a:ea typeface="华文中宋" panose="02010600040101010101" pitchFamily="2" charset="-122"/>
              </a:rPr>
              <a:t>信号的能量无穷，平均功率有限。</a:t>
            </a:r>
            <a:endParaRPr lang="en-US" altLang="zh-CN" dirty="0">
              <a:latin typeface="华文中宋" panose="02010600040101010101" pitchFamily="2" charset="-122"/>
              <a:ea typeface="华文中宋" panose="02010600040101010101" pitchFamily="2" charset="-122"/>
            </a:endParaRPr>
          </a:p>
          <a:p>
            <a:pPr>
              <a:lnSpc>
                <a:spcPct val="150000"/>
              </a:lnSpc>
            </a:pPr>
            <a:r>
              <a:rPr lang="zh-CN" altLang="en-US" dirty="0">
                <a:latin typeface="华文中宋" panose="02010600040101010101" pitchFamily="2" charset="-122"/>
                <a:ea typeface="华文中宋" panose="02010600040101010101" pitchFamily="2" charset="-122"/>
              </a:rPr>
              <a:t>能量信号一般为非周期信号。时间有限的信号一定是能量信号。</a:t>
            </a:r>
            <a:endParaRPr lang="en-US" altLang="zh-CN" dirty="0">
              <a:latin typeface="华文中宋" panose="02010600040101010101" pitchFamily="2" charset="-122"/>
              <a:ea typeface="华文中宋" panose="02010600040101010101" pitchFamily="2" charset="-122"/>
            </a:endParaRPr>
          </a:p>
          <a:p>
            <a:pPr>
              <a:lnSpc>
                <a:spcPct val="150000"/>
              </a:lnSpc>
            </a:pPr>
            <a:r>
              <a:rPr lang="zh-CN" altLang="en-US" dirty="0">
                <a:latin typeface="华文中宋" panose="02010600040101010101" pitchFamily="2" charset="-122"/>
                <a:ea typeface="华文中宋" panose="02010600040101010101" pitchFamily="2" charset="-122"/>
              </a:rPr>
              <a:t>非周期信号或是能量信号或是功率信号。</a:t>
            </a:r>
            <a:endParaRPr lang="en-US" altLang="zh-CN" dirty="0">
              <a:latin typeface="华文中宋" panose="02010600040101010101" pitchFamily="2" charset="-122"/>
              <a:ea typeface="华文中宋" panose="02010600040101010101" pitchFamily="2" charset="-122"/>
            </a:endParaRPr>
          </a:p>
          <a:p>
            <a:pPr>
              <a:lnSpc>
                <a:spcPct val="150000"/>
              </a:lnSpc>
            </a:pPr>
            <a:r>
              <a:rPr lang="zh-CN" altLang="en-US" dirty="0">
                <a:latin typeface="华文中宋" panose="02010600040101010101" pitchFamily="2" charset="-122"/>
                <a:ea typeface="华文中宋" panose="02010600040101010101" pitchFamily="2" charset="-122"/>
              </a:rPr>
              <a:t>周期信号为功率信号。</a:t>
            </a:r>
            <a:endParaRPr lang="en-US" altLang="zh-CN" dirty="0">
              <a:latin typeface="华文中宋" panose="02010600040101010101" pitchFamily="2" charset="-122"/>
              <a:ea typeface="华文中宋" panose="02010600040101010101" pitchFamily="2" charset="-122"/>
            </a:endParaRPr>
          </a:p>
          <a:p>
            <a:pPr>
              <a:lnSpc>
                <a:spcPct val="150000"/>
              </a:lnSpc>
            </a:pPr>
            <a:r>
              <a:rPr lang="zh-CN" altLang="en-US" dirty="0">
                <a:latin typeface="华文中宋" panose="02010600040101010101" pitchFamily="2" charset="-122"/>
                <a:ea typeface="华文中宋" panose="02010600040101010101" pitchFamily="2" charset="-122"/>
              </a:rPr>
              <a:t>随机信号的样本函数为功率信号，随机信号为功率信号。</a:t>
            </a:r>
            <a:endParaRPr lang="en-US" altLang="zh-CN" dirty="0">
              <a:latin typeface="华文中宋" panose="02010600040101010101" pitchFamily="2" charset="-122"/>
              <a:ea typeface="华文中宋" panose="02010600040101010101" pitchFamily="2" charset="-122"/>
            </a:endParaRPr>
          </a:p>
          <a:p>
            <a:pPr>
              <a:lnSpc>
                <a:spcPct val="150000"/>
              </a:lnSpc>
            </a:pPr>
            <a:endParaRPr lang="zh-CN" altLang="en-US" dirty="0">
              <a:latin typeface="华文中宋" panose="02010600040101010101" pitchFamily="2" charset="-122"/>
              <a:ea typeface="华文中宋" panose="02010600040101010101" pitchFamily="2" charset="-122"/>
            </a:endParaRPr>
          </a:p>
          <a:p>
            <a:pPr marL="0" indent="0">
              <a:buNone/>
            </a:pPr>
            <a:r>
              <a:rPr lang="en-US" altLang="zh-CN" dirty="0">
                <a:latin typeface="华文中宋" panose="02010600040101010101" pitchFamily="2" charset="-122"/>
                <a:ea typeface="华文中宋" panose="02010600040101010101" pitchFamily="2" charset="-122"/>
              </a:rPr>
              <a:t>                 </a:t>
            </a:r>
            <a:endParaRPr lang="zh-CN" altLang="en-US" dirty="0">
              <a:latin typeface="华文中宋" panose="02010600040101010101" pitchFamily="2" charset="-122"/>
              <a:ea typeface="华文中宋" panose="02010600040101010101" pitchFamily="2" charset="-122"/>
            </a:endParaRPr>
          </a:p>
          <a:p>
            <a:endParaRPr lang="zh-CN" altLang="en-US" dirty="0"/>
          </a:p>
        </p:txBody>
      </p:sp>
      <p:sp>
        <p:nvSpPr>
          <p:cNvPr id="4" name="标题 3"/>
          <p:cNvSpPr>
            <a:spLocks noGrp="1"/>
          </p:cNvSpPr>
          <p:nvPr>
            <p:ph type="title"/>
          </p:nvPr>
        </p:nvSpPr>
        <p:spPr/>
        <p:txBody>
          <a:bodyPr/>
          <a:lstStyle/>
          <a:p>
            <a:r>
              <a:rPr lang="zh-CN" altLang="en-US" dirty="0"/>
              <a:t>信号分类</a:t>
            </a:r>
          </a:p>
        </p:txBody>
      </p:sp>
    </p:spTree>
    <p:extLst>
      <p:ext uri="{BB962C8B-B14F-4D97-AF65-F5344CB8AC3E}">
        <p14:creationId xmlns:p14="http://schemas.microsoft.com/office/powerpoint/2010/main" val="21167951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0AABAD9-53E1-4611-99D7-1C2C6D4A69B2}"/>
              </a:ext>
            </a:extLst>
          </p:cNvPr>
          <p:cNvSpPr>
            <a:spLocks noGrp="1"/>
          </p:cNvSpPr>
          <p:nvPr>
            <p:ph idx="1"/>
          </p:nvPr>
        </p:nvSpPr>
        <p:spPr>
          <a:xfrm>
            <a:off x="684213" y="2078830"/>
            <a:ext cx="7772400" cy="3558446"/>
          </a:xfrm>
        </p:spPr>
        <p:txBody>
          <a:bodyPr/>
          <a:lstStyle/>
          <a:p>
            <a:pPr>
              <a:lnSpc>
                <a:spcPct val="150000"/>
              </a:lnSpc>
            </a:pPr>
            <a:r>
              <a:rPr lang="zh-CN" altLang="en-US" dirty="0">
                <a:solidFill>
                  <a:srgbClr val="FF0000"/>
                </a:solidFill>
                <a:latin typeface="华文中宋" panose="02010600040101010101" pitchFamily="2" charset="-122"/>
                <a:ea typeface="华文中宋" panose="02010600040101010101" pitchFamily="2" charset="-122"/>
              </a:rPr>
              <a:t>能量信号</a:t>
            </a:r>
            <a:r>
              <a:rPr lang="zh-CN" altLang="en-US" dirty="0">
                <a:latin typeface="华文中宋" panose="02010600040101010101" pitchFamily="2" charset="-122"/>
                <a:ea typeface="华文中宋" panose="02010600040101010101" pitchFamily="2" charset="-122"/>
              </a:rPr>
              <a:t>：存在傅里叶变换，傅里叶变换称为频谱。</a:t>
            </a:r>
            <a:endParaRPr lang="en-US" altLang="zh-CN" dirty="0">
              <a:latin typeface="华文中宋" panose="02010600040101010101" pitchFamily="2" charset="-122"/>
              <a:ea typeface="华文中宋" panose="02010600040101010101" pitchFamily="2" charset="-122"/>
            </a:endParaRPr>
          </a:p>
          <a:p>
            <a:pPr>
              <a:lnSpc>
                <a:spcPct val="150000"/>
              </a:lnSpc>
            </a:pPr>
            <a:r>
              <a:rPr lang="zh-CN" altLang="en-US" dirty="0">
                <a:latin typeface="华文中宋" panose="02010600040101010101" pitchFamily="2" charset="-122"/>
                <a:ea typeface="华文中宋" panose="02010600040101010101" pitchFamily="2" charset="-122"/>
              </a:rPr>
              <a:t>频谱：一般为复数，幅度谱和相位谱。</a:t>
            </a:r>
            <a:endParaRPr lang="en-US" altLang="zh-CN" dirty="0">
              <a:latin typeface="华文中宋" panose="02010600040101010101" pitchFamily="2" charset="-122"/>
              <a:ea typeface="华文中宋" panose="02010600040101010101" pitchFamily="2" charset="-122"/>
            </a:endParaRPr>
          </a:p>
          <a:p>
            <a:pPr>
              <a:lnSpc>
                <a:spcPct val="150000"/>
              </a:lnSpc>
            </a:pPr>
            <a:r>
              <a:rPr lang="zh-CN" altLang="en-US" dirty="0">
                <a:latin typeface="华文中宋" panose="02010600040101010101" pitchFamily="2" charset="-122"/>
                <a:ea typeface="华文中宋" panose="02010600040101010101" pitchFamily="2" charset="-122"/>
              </a:rPr>
              <a:t>能谱密度：幅度平方，为非负实数</a:t>
            </a:r>
            <a:endParaRPr lang="en-US" altLang="zh-CN" dirty="0">
              <a:latin typeface="华文中宋" panose="02010600040101010101" pitchFamily="2" charset="-122"/>
              <a:ea typeface="华文中宋" panose="02010600040101010101" pitchFamily="2" charset="-122"/>
            </a:endParaRPr>
          </a:p>
          <a:p>
            <a:pPr>
              <a:lnSpc>
                <a:spcPct val="150000"/>
              </a:lnSpc>
            </a:pPr>
            <a:r>
              <a:rPr lang="zh-CN" altLang="en-US" dirty="0">
                <a:latin typeface="华文中宋" panose="02010600040101010101" pitchFamily="2" charset="-122"/>
                <a:ea typeface="华文中宋" panose="02010600040101010101" pitchFamily="2" charset="-122"/>
              </a:rPr>
              <a:t>能量与能谱密度的关系</a:t>
            </a:r>
            <a:endParaRPr lang="en-US" altLang="zh-CN" dirty="0">
              <a:latin typeface="华文中宋" panose="02010600040101010101" pitchFamily="2" charset="-122"/>
              <a:ea typeface="华文中宋" panose="02010600040101010101" pitchFamily="2" charset="-122"/>
            </a:endParaRPr>
          </a:p>
          <a:p>
            <a:pPr>
              <a:lnSpc>
                <a:spcPct val="150000"/>
              </a:lnSpc>
            </a:pPr>
            <a:r>
              <a:rPr lang="zh-CN" altLang="en-US" dirty="0">
                <a:latin typeface="华文中宋" panose="02010600040101010101" pitchFamily="2" charset="-122"/>
                <a:ea typeface="华文中宋" panose="02010600040101010101" pitchFamily="2" charset="-122"/>
              </a:rPr>
              <a:t>能量信号的带宽：根据幅度谱或能谱密度定义</a:t>
            </a:r>
            <a:endParaRPr lang="en-US" altLang="zh-CN" dirty="0">
              <a:latin typeface="华文中宋" panose="02010600040101010101" pitchFamily="2" charset="-122"/>
              <a:ea typeface="华文中宋" panose="02010600040101010101" pitchFamily="2" charset="-122"/>
            </a:endParaRPr>
          </a:p>
          <a:p>
            <a:pPr>
              <a:lnSpc>
                <a:spcPct val="150000"/>
              </a:lnSpc>
            </a:pPr>
            <a:endParaRPr lang="zh-CN" altLang="en-US" dirty="0">
              <a:latin typeface="华文中宋" panose="02010600040101010101" pitchFamily="2" charset="-122"/>
              <a:ea typeface="华文中宋" panose="02010600040101010101" pitchFamily="2" charset="-122"/>
            </a:endParaRPr>
          </a:p>
          <a:p>
            <a:pPr marL="0" indent="0">
              <a:buNone/>
            </a:pPr>
            <a:r>
              <a:rPr lang="en-US" altLang="zh-CN" dirty="0">
                <a:latin typeface="华文中宋" panose="02010600040101010101" pitchFamily="2" charset="-122"/>
                <a:ea typeface="华文中宋" panose="02010600040101010101" pitchFamily="2" charset="-122"/>
              </a:rPr>
              <a:t>                 </a:t>
            </a:r>
            <a:endParaRPr lang="zh-CN" altLang="en-US" dirty="0">
              <a:latin typeface="华文中宋" panose="02010600040101010101" pitchFamily="2" charset="-122"/>
              <a:ea typeface="华文中宋" panose="02010600040101010101" pitchFamily="2" charset="-122"/>
            </a:endParaRPr>
          </a:p>
          <a:p>
            <a:endParaRPr lang="zh-CN" altLang="en-US" dirty="0"/>
          </a:p>
        </p:txBody>
      </p:sp>
      <p:sp>
        <p:nvSpPr>
          <p:cNvPr id="4" name="标题 3"/>
          <p:cNvSpPr>
            <a:spLocks noGrp="1"/>
          </p:cNvSpPr>
          <p:nvPr>
            <p:ph type="title"/>
          </p:nvPr>
        </p:nvSpPr>
        <p:spPr/>
        <p:txBody>
          <a:bodyPr/>
          <a:lstStyle/>
          <a:p>
            <a:r>
              <a:rPr lang="zh-CN" altLang="en-US" dirty="0"/>
              <a:t>信号分析方法</a:t>
            </a:r>
            <a:r>
              <a:rPr lang="en-US" altLang="zh-CN" dirty="0"/>
              <a:t>—</a:t>
            </a:r>
            <a:r>
              <a:rPr lang="zh-CN" altLang="en-US" dirty="0"/>
              <a:t>有关名词概念</a:t>
            </a:r>
          </a:p>
        </p:txBody>
      </p:sp>
    </p:spTree>
    <p:extLst>
      <p:ext uri="{BB962C8B-B14F-4D97-AF65-F5344CB8AC3E}">
        <p14:creationId xmlns:p14="http://schemas.microsoft.com/office/powerpoint/2010/main" val="15376488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0AABAD9-53E1-4611-99D7-1C2C6D4A69B2}"/>
              </a:ext>
            </a:extLst>
          </p:cNvPr>
          <p:cNvSpPr>
            <a:spLocks noGrp="1"/>
          </p:cNvSpPr>
          <p:nvPr>
            <p:ph idx="1"/>
          </p:nvPr>
        </p:nvSpPr>
        <p:spPr>
          <a:xfrm>
            <a:off x="432054" y="2078830"/>
            <a:ext cx="8024559" cy="3558446"/>
          </a:xfrm>
        </p:spPr>
        <p:txBody>
          <a:bodyPr/>
          <a:lstStyle/>
          <a:p>
            <a:pPr>
              <a:lnSpc>
                <a:spcPct val="150000"/>
              </a:lnSpc>
            </a:pPr>
            <a:r>
              <a:rPr lang="zh-CN" altLang="en-US" dirty="0">
                <a:solidFill>
                  <a:srgbClr val="FF0000"/>
                </a:solidFill>
                <a:latin typeface="华文中宋" panose="02010600040101010101" pitchFamily="2" charset="-122"/>
                <a:ea typeface="华文中宋" panose="02010600040101010101" pitchFamily="2" charset="-122"/>
              </a:rPr>
              <a:t>功率信号</a:t>
            </a:r>
            <a:r>
              <a:rPr lang="zh-CN" altLang="en-US" dirty="0">
                <a:latin typeface="华文中宋" panose="02010600040101010101" pitchFamily="2" charset="-122"/>
                <a:ea typeface="华文中宋" panose="02010600040101010101" pitchFamily="2" charset="-122"/>
              </a:rPr>
              <a:t>：周期信号或样本函数，无头无尾，为确定信号。</a:t>
            </a:r>
            <a:endParaRPr lang="en-US" altLang="zh-CN" dirty="0">
              <a:latin typeface="华文中宋" panose="02010600040101010101" pitchFamily="2" charset="-122"/>
              <a:ea typeface="华文中宋" panose="02010600040101010101" pitchFamily="2" charset="-122"/>
            </a:endParaRPr>
          </a:p>
          <a:p>
            <a:pPr>
              <a:lnSpc>
                <a:spcPct val="150000"/>
              </a:lnSpc>
            </a:pPr>
            <a:r>
              <a:rPr lang="zh-CN" altLang="en-US" dirty="0">
                <a:latin typeface="华文中宋" panose="02010600040101010101" pitchFamily="2" charset="-122"/>
                <a:ea typeface="华文中宋" panose="02010600040101010101" pitchFamily="2" charset="-122"/>
              </a:rPr>
              <a:t>周期信号：定义了</a:t>
            </a:r>
            <a:r>
              <a:rPr lang="en-US" altLang="zh-CN" dirty="0">
                <a:latin typeface="华文中宋" panose="02010600040101010101" pitchFamily="2" charset="-122"/>
                <a:ea typeface="华文中宋" panose="02010600040101010101" pitchFamily="2" charset="-122"/>
              </a:rPr>
              <a:t>delta</a:t>
            </a:r>
            <a:r>
              <a:rPr lang="zh-CN" altLang="en-US" dirty="0">
                <a:latin typeface="华文中宋" panose="02010600040101010101" pitchFamily="2" charset="-122"/>
                <a:ea typeface="华文中宋" panose="02010600040101010101" pitchFamily="2" charset="-122"/>
              </a:rPr>
              <a:t>函数，存在傅里叶变换，为频谱。同时，也可定义其功率谱密度，计算平均功率。</a:t>
            </a:r>
            <a:endParaRPr lang="en-US" altLang="zh-CN" dirty="0">
              <a:latin typeface="华文中宋" panose="02010600040101010101" pitchFamily="2" charset="-122"/>
              <a:ea typeface="华文中宋" panose="02010600040101010101" pitchFamily="2" charset="-122"/>
            </a:endParaRPr>
          </a:p>
          <a:p>
            <a:pPr>
              <a:lnSpc>
                <a:spcPct val="150000"/>
              </a:lnSpc>
            </a:pPr>
            <a:r>
              <a:rPr lang="zh-CN" altLang="en-US" dirty="0">
                <a:latin typeface="华文中宋" panose="02010600040101010101" pitchFamily="2" charset="-122"/>
                <a:ea typeface="华文中宋" panose="02010600040101010101" pitchFamily="2" charset="-122"/>
              </a:rPr>
              <a:t>样本函数：信号截短，能量守恒，定义功率谱密度函数，计算平均功率。</a:t>
            </a:r>
            <a:endParaRPr lang="en-US" altLang="zh-CN" dirty="0">
              <a:latin typeface="华文中宋" panose="02010600040101010101" pitchFamily="2" charset="-122"/>
              <a:ea typeface="华文中宋" panose="02010600040101010101" pitchFamily="2" charset="-122"/>
            </a:endParaRPr>
          </a:p>
          <a:p>
            <a:pPr>
              <a:lnSpc>
                <a:spcPct val="150000"/>
              </a:lnSpc>
            </a:pPr>
            <a:r>
              <a:rPr lang="zh-CN" altLang="en-US" dirty="0">
                <a:latin typeface="华文中宋" panose="02010600040101010101" pitchFamily="2" charset="-122"/>
                <a:ea typeface="华文中宋" panose="02010600040101010101" pitchFamily="2" charset="-122"/>
              </a:rPr>
              <a:t>信号的功率谱密度为非负实数。</a:t>
            </a:r>
            <a:endParaRPr lang="en-US" altLang="zh-CN" dirty="0">
              <a:latin typeface="华文中宋" panose="02010600040101010101" pitchFamily="2" charset="-122"/>
              <a:ea typeface="华文中宋" panose="02010600040101010101" pitchFamily="2" charset="-122"/>
            </a:endParaRPr>
          </a:p>
          <a:p>
            <a:pPr>
              <a:lnSpc>
                <a:spcPct val="150000"/>
              </a:lnSpc>
            </a:pPr>
            <a:endParaRPr lang="zh-CN" altLang="en-US" dirty="0">
              <a:latin typeface="华文中宋" panose="02010600040101010101" pitchFamily="2" charset="-122"/>
              <a:ea typeface="华文中宋" panose="02010600040101010101" pitchFamily="2" charset="-122"/>
            </a:endParaRPr>
          </a:p>
          <a:p>
            <a:pPr marL="0" indent="0">
              <a:buNone/>
            </a:pPr>
            <a:r>
              <a:rPr lang="en-US" altLang="zh-CN" dirty="0">
                <a:latin typeface="华文中宋" panose="02010600040101010101" pitchFamily="2" charset="-122"/>
                <a:ea typeface="华文中宋" panose="02010600040101010101" pitchFamily="2" charset="-122"/>
              </a:rPr>
              <a:t>                 </a:t>
            </a:r>
            <a:endParaRPr lang="zh-CN" altLang="en-US" dirty="0">
              <a:latin typeface="华文中宋" panose="02010600040101010101" pitchFamily="2" charset="-122"/>
              <a:ea typeface="华文中宋" panose="02010600040101010101" pitchFamily="2" charset="-122"/>
            </a:endParaRPr>
          </a:p>
          <a:p>
            <a:endParaRPr lang="zh-CN" altLang="en-US" dirty="0"/>
          </a:p>
        </p:txBody>
      </p:sp>
      <p:sp>
        <p:nvSpPr>
          <p:cNvPr id="4" name="标题 3"/>
          <p:cNvSpPr>
            <a:spLocks noGrp="1"/>
          </p:cNvSpPr>
          <p:nvPr>
            <p:ph type="title"/>
          </p:nvPr>
        </p:nvSpPr>
        <p:spPr/>
        <p:txBody>
          <a:bodyPr/>
          <a:lstStyle/>
          <a:p>
            <a:r>
              <a:rPr lang="zh-CN" altLang="en-US" dirty="0"/>
              <a:t>信号分析方法</a:t>
            </a:r>
            <a:r>
              <a:rPr lang="en-US" altLang="zh-CN" dirty="0"/>
              <a:t>—</a:t>
            </a:r>
            <a:r>
              <a:rPr lang="zh-CN" altLang="en-US" dirty="0"/>
              <a:t>有关名词概念</a:t>
            </a:r>
          </a:p>
        </p:txBody>
      </p:sp>
    </p:spTree>
    <p:extLst>
      <p:ext uri="{BB962C8B-B14F-4D97-AF65-F5344CB8AC3E}">
        <p14:creationId xmlns:p14="http://schemas.microsoft.com/office/powerpoint/2010/main" val="18394889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0AABAD9-53E1-4611-99D7-1C2C6D4A69B2}"/>
              </a:ext>
            </a:extLst>
          </p:cNvPr>
          <p:cNvSpPr>
            <a:spLocks noGrp="1"/>
          </p:cNvSpPr>
          <p:nvPr>
            <p:ph idx="1"/>
          </p:nvPr>
        </p:nvSpPr>
        <p:spPr>
          <a:xfrm>
            <a:off x="432054" y="2078830"/>
            <a:ext cx="8024559" cy="3558446"/>
          </a:xfrm>
        </p:spPr>
        <p:txBody>
          <a:bodyPr/>
          <a:lstStyle/>
          <a:p>
            <a:pPr>
              <a:lnSpc>
                <a:spcPct val="150000"/>
              </a:lnSpc>
            </a:pPr>
            <a:r>
              <a:rPr lang="zh-CN" altLang="en-US" dirty="0">
                <a:latin typeface="华文中宋" panose="02010600040101010101" pitchFamily="2" charset="-122"/>
                <a:ea typeface="华文中宋" panose="02010600040101010101" pitchFamily="2" charset="-122"/>
              </a:rPr>
              <a:t>随机信号：二阶矩随机过程，为功率信号。</a:t>
            </a:r>
            <a:endParaRPr lang="en-US" altLang="zh-CN" dirty="0">
              <a:latin typeface="华文中宋" panose="02010600040101010101" pitchFamily="2" charset="-122"/>
              <a:ea typeface="华文中宋" panose="02010600040101010101" pitchFamily="2" charset="-122"/>
            </a:endParaRPr>
          </a:p>
          <a:p>
            <a:pPr>
              <a:lnSpc>
                <a:spcPct val="150000"/>
              </a:lnSpc>
            </a:pPr>
            <a:r>
              <a:rPr lang="zh-CN" altLang="en-US" dirty="0">
                <a:latin typeface="华文中宋" panose="02010600040101010101" pitchFamily="2" charset="-122"/>
                <a:ea typeface="华文中宋" panose="02010600040101010101" pitchFamily="2" charset="-122"/>
              </a:rPr>
              <a:t>相关理论，维纳辛钦定理。</a:t>
            </a:r>
            <a:endParaRPr lang="en-US" altLang="zh-CN" dirty="0">
              <a:latin typeface="华文中宋" panose="02010600040101010101" pitchFamily="2" charset="-122"/>
              <a:ea typeface="华文中宋" panose="02010600040101010101" pitchFamily="2" charset="-122"/>
            </a:endParaRPr>
          </a:p>
          <a:p>
            <a:pPr>
              <a:lnSpc>
                <a:spcPct val="150000"/>
              </a:lnSpc>
            </a:pPr>
            <a:r>
              <a:rPr lang="zh-CN" altLang="en-US" dirty="0">
                <a:latin typeface="华文中宋" panose="02010600040101010101" pitchFamily="2" charset="-122"/>
                <a:ea typeface="华文中宋" panose="02010600040101010101" pitchFamily="2" charset="-122"/>
              </a:rPr>
              <a:t>时域：相关函数，广义平稳信号，非广义平稳信号（周期平稳）</a:t>
            </a:r>
            <a:endParaRPr lang="en-US" altLang="zh-CN" dirty="0">
              <a:latin typeface="华文中宋" panose="02010600040101010101" pitchFamily="2" charset="-122"/>
              <a:ea typeface="华文中宋" panose="02010600040101010101" pitchFamily="2" charset="-122"/>
            </a:endParaRPr>
          </a:p>
          <a:p>
            <a:pPr>
              <a:lnSpc>
                <a:spcPct val="150000"/>
              </a:lnSpc>
            </a:pPr>
            <a:r>
              <a:rPr lang="zh-CN" altLang="en-US" dirty="0">
                <a:latin typeface="华文中宋" panose="02010600040101010101" pitchFamily="2" charset="-122"/>
                <a:ea typeface="华文中宋" panose="02010600040101010101" pitchFamily="2" charset="-122"/>
              </a:rPr>
              <a:t>频域：功率谱密度函数</a:t>
            </a:r>
            <a:endParaRPr lang="en-US" altLang="zh-CN" dirty="0">
              <a:latin typeface="华文中宋" panose="02010600040101010101" pitchFamily="2" charset="-122"/>
              <a:ea typeface="华文中宋" panose="02010600040101010101" pitchFamily="2" charset="-122"/>
            </a:endParaRPr>
          </a:p>
          <a:p>
            <a:pPr>
              <a:lnSpc>
                <a:spcPct val="150000"/>
              </a:lnSpc>
            </a:pPr>
            <a:r>
              <a:rPr lang="zh-CN" altLang="en-US" dirty="0">
                <a:latin typeface="华文中宋" panose="02010600040101010101" pitchFamily="2" charset="-122"/>
                <a:ea typeface="华文中宋" panose="02010600040101010101" pitchFamily="2" charset="-122"/>
              </a:rPr>
              <a:t>随机信号的带宽：根据功率谱密度函数定义</a:t>
            </a:r>
            <a:endParaRPr lang="en-US" altLang="zh-CN" dirty="0">
              <a:latin typeface="华文中宋" panose="02010600040101010101" pitchFamily="2" charset="-122"/>
              <a:ea typeface="华文中宋" panose="02010600040101010101" pitchFamily="2" charset="-122"/>
            </a:endParaRPr>
          </a:p>
          <a:p>
            <a:pPr marL="0" indent="0">
              <a:lnSpc>
                <a:spcPct val="150000"/>
              </a:lnSpc>
              <a:buNone/>
            </a:pPr>
            <a:endParaRPr lang="zh-CN" altLang="en-US" dirty="0">
              <a:latin typeface="华文中宋" panose="02010600040101010101" pitchFamily="2" charset="-122"/>
              <a:ea typeface="华文中宋" panose="02010600040101010101" pitchFamily="2" charset="-122"/>
            </a:endParaRPr>
          </a:p>
          <a:p>
            <a:pPr marL="0" indent="0">
              <a:buNone/>
            </a:pPr>
            <a:r>
              <a:rPr lang="en-US" altLang="zh-CN" dirty="0">
                <a:latin typeface="华文中宋" panose="02010600040101010101" pitchFamily="2" charset="-122"/>
                <a:ea typeface="华文中宋" panose="02010600040101010101" pitchFamily="2" charset="-122"/>
              </a:rPr>
              <a:t>                 </a:t>
            </a:r>
            <a:endParaRPr lang="zh-CN" altLang="en-US" dirty="0">
              <a:latin typeface="华文中宋" panose="02010600040101010101" pitchFamily="2" charset="-122"/>
              <a:ea typeface="华文中宋" panose="02010600040101010101" pitchFamily="2" charset="-122"/>
            </a:endParaRPr>
          </a:p>
          <a:p>
            <a:endParaRPr lang="zh-CN" altLang="en-US" dirty="0"/>
          </a:p>
        </p:txBody>
      </p:sp>
      <p:sp>
        <p:nvSpPr>
          <p:cNvPr id="4" name="标题 3"/>
          <p:cNvSpPr>
            <a:spLocks noGrp="1"/>
          </p:cNvSpPr>
          <p:nvPr>
            <p:ph type="title"/>
          </p:nvPr>
        </p:nvSpPr>
        <p:spPr/>
        <p:txBody>
          <a:bodyPr/>
          <a:lstStyle/>
          <a:p>
            <a:r>
              <a:rPr lang="zh-CN" altLang="en-US" dirty="0"/>
              <a:t>信号分析方法</a:t>
            </a:r>
            <a:r>
              <a:rPr lang="en-US" altLang="zh-CN" dirty="0"/>
              <a:t>—</a:t>
            </a:r>
            <a:r>
              <a:rPr lang="zh-CN" altLang="en-US" dirty="0"/>
              <a:t>有关名词概念</a:t>
            </a:r>
          </a:p>
        </p:txBody>
      </p:sp>
    </p:spTree>
    <p:extLst>
      <p:ext uri="{BB962C8B-B14F-4D97-AF65-F5344CB8AC3E}">
        <p14:creationId xmlns:p14="http://schemas.microsoft.com/office/powerpoint/2010/main" val="41623931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0AABAD9-53E1-4611-99D7-1C2C6D4A69B2}"/>
              </a:ext>
            </a:extLst>
          </p:cNvPr>
          <p:cNvSpPr>
            <a:spLocks noGrp="1"/>
          </p:cNvSpPr>
          <p:nvPr>
            <p:ph idx="1"/>
          </p:nvPr>
        </p:nvSpPr>
        <p:spPr>
          <a:xfrm>
            <a:off x="432054" y="2078830"/>
            <a:ext cx="8024559" cy="3558446"/>
          </a:xfrm>
        </p:spPr>
        <p:txBody>
          <a:bodyPr/>
          <a:lstStyle/>
          <a:p>
            <a:pPr>
              <a:lnSpc>
                <a:spcPct val="150000"/>
              </a:lnSpc>
            </a:pPr>
            <a:r>
              <a:rPr lang="zh-CN" altLang="en-US" dirty="0">
                <a:latin typeface="华文中宋" panose="02010600040101010101" pitchFamily="2" charset="-122"/>
                <a:ea typeface="华文中宋" panose="02010600040101010101" pitchFamily="2" charset="-122"/>
              </a:rPr>
              <a:t>广义平稳信号：</a:t>
            </a:r>
            <a:endParaRPr lang="en-US" altLang="zh-CN" dirty="0">
              <a:latin typeface="华文中宋" panose="02010600040101010101" pitchFamily="2" charset="-122"/>
              <a:ea typeface="华文中宋" panose="02010600040101010101" pitchFamily="2" charset="-122"/>
            </a:endParaRPr>
          </a:p>
          <a:p>
            <a:pPr marL="0" indent="0">
              <a:lnSpc>
                <a:spcPct val="150000"/>
              </a:lnSpc>
              <a:buNone/>
            </a:pPr>
            <a:r>
              <a:rPr lang="en-US" altLang="zh-CN" dirty="0">
                <a:latin typeface="华文中宋" panose="02010600040101010101" pitchFamily="2" charset="-122"/>
                <a:ea typeface="华文中宋" panose="02010600040101010101" pitchFamily="2" charset="-122"/>
              </a:rPr>
              <a:t>    </a:t>
            </a:r>
            <a:r>
              <a:rPr lang="zh-CN" altLang="en-US" dirty="0">
                <a:latin typeface="华文中宋" panose="02010600040101010101" pitchFamily="2" charset="-122"/>
                <a:ea typeface="华文中宋" panose="02010600040101010101" pitchFamily="2" charset="-122"/>
              </a:rPr>
              <a:t>自相关函数→傅里叶变换→功率谱密度</a:t>
            </a:r>
            <a:endParaRPr lang="en-US" altLang="zh-CN" dirty="0">
              <a:latin typeface="华文中宋" panose="02010600040101010101" pitchFamily="2" charset="-122"/>
              <a:ea typeface="华文中宋" panose="02010600040101010101" pitchFamily="2" charset="-122"/>
            </a:endParaRPr>
          </a:p>
          <a:p>
            <a:pPr>
              <a:lnSpc>
                <a:spcPct val="150000"/>
              </a:lnSpc>
            </a:pPr>
            <a:r>
              <a:rPr lang="zh-CN" altLang="en-US" dirty="0">
                <a:latin typeface="华文中宋" panose="02010600040101010101" pitchFamily="2" charset="-122"/>
                <a:ea typeface="华文中宋" panose="02010600040101010101" pitchFamily="2" charset="-122"/>
              </a:rPr>
              <a:t>非广义平稳信号（周期平稳）：</a:t>
            </a:r>
            <a:endParaRPr lang="en-US" altLang="zh-CN" dirty="0">
              <a:latin typeface="华文中宋" panose="02010600040101010101" pitchFamily="2" charset="-122"/>
              <a:ea typeface="华文中宋" panose="02010600040101010101" pitchFamily="2" charset="-122"/>
            </a:endParaRPr>
          </a:p>
          <a:p>
            <a:pPr marL="0" indent="0">
              <a:lnSpc>
                <a:spcPct val="150000"/>
              </a:lnSpc>
              <a:buNone/>
            </a:pPr>
            <a:r>
              <a:rPr lang="en-US" altLang="zh-CN" dirty="0">
                <a:latin typeface="华文中宋" panose="02010600040101010101" pitchFamily="2" charset="-122"/>
                <a:ea typeface="华文中宋" panose="02010600040101010101" pitchFamily="2" charset="-122"/>
              </a:rPr>
              <a:t>    </a:t>
            </a:r>
            <a:r>
              <a:rPr lang="zh-CN" altLang="en-US" dirty="0">
                <a:latin typeface="华文中宋" panose="02010600040101010101" pitchFamily="2" charset="-122"/>
                <a:ea typeface="华文中宋" panose="02010600040101010101" pitchFamily="2" charset="-122"/>
              </a:rPr>
              <a:t>自相关函数→时间平均→傅里叶变换→功率谱密度</a:t>
            </a:r>
            <a:endParaRPr lang="en-US" altLang="zh-CN" dirty="0">
              <a:latin typeface="华文中宋" panose="02010600040101010101" pitchFamily="2" charset="-122"/>
              <a:ea typeface="华文中宋" panose="02010600040101010101" pitchFamily="2" charset="-122"/>
            </a:endParaRPr>
          </a:p>
          <a:p>
            <a:pPr marL="0" indent="0">
              <a:lnSpc>
                <a:spcPct val="150000"/>
              </a:lnSpc>
              <a:buNone/>
            </a:pPr>
            <a:endParaRPr lang="en-US" altLang="zh-CN" dirty="0">
              <a:latin typeface="华文中宋" panose="02010600040101010101" pitchFamily="2" charset="-122"/>
              <a:ea typeface="华文中宋" panose="02010600040101010101" pitchFamily="2" charset="-122"/>
            </a:endParaRPr>
          </a:p>
          <a:p>
            <a:pPr marL="0" indent="0">
              <a:lnSpc>
                <a:spcPct val="150000"/>
              </a:lnSpc>
              <a:buNone/>
            </a:pPr>
            <a:endParaRPr lang="zh-CN" altLang="en-US" dirty="0">
              <a:latin typeface="华文中宋" panose="02010600040101010101" pitchFamily="2" charset="-122"/>
              <a:ea typeface="华文中宋" panose="02010600040101010101" pitchFamily="2" charset="-122"/>
            </a:endParaRPr>
          </a:p>
          <a:p>
            <a:pPr marL="0" indent="0">
              <a:buNone/>
            </a:pPr>
            <a:r>
              <a:rPr lang="en-US" altLang="zh-CN" dirty="0">
                <a:latin typeface="华文中宋" panose="02010600040101010101" pitchFamily="2" charset="-122"/>
                <a:ea typeface="华文中宋" panose="02010600040101010101" pitchFamily="2" charset="-122"/>
              </a:rPr>
              <a:t>                 </a:t>
            </a:r>
            <a:endParaRPr lang="zh-CN" altLang="en-US" dirty="0">
              <a:latin typeface="华文中宋" panose="02010600040101010101" pitchFamily="2" charset="-122"/>
              <a:ea typeface="华文中宋" panose="02010600040101010101" pitchFamily="2" charset="-122"/>
            </a:endParaRPr>
          </a:p>
          <a:p>
            <a:endParaRPr lang="zh-CN" altLang="en-US" dirty="0"/>
          </a:p>
        </p:txBody>
      </p:sp>
      <p:sp>
        <p:nvSpPr>
          <p:cNvPr id="4" name="标题 3"/>
          <p:cNvSpPr>
            <a:spLocks noGrp="1"/>
          </p:cNvSpPr>
          <p:nvPr>
            <p:ph type="title"/>
          </p:nvPr>
        </p:nvSpPr>
        <p:spPr/>
        <p:txBody>
          <a:bodyPr/>
          <a:lstStyle/>
          <a:p>
            <a:r>
              <a:rPr lang="zh-CN" altLang="en-US" dirty="0"/>
              <a:t>信号分析方法</a:t>
            </a:r>
            <a:r>
              <a:rPr lang="en-US" altLang="zh-CN" dirty="0"/>
              <a:t>—</a:t>
            </a:r>
            <a:r>
              <a:rPr lang="zh-CN" altLang="en-US" dirty="0"/>
              <a:t>有关名词概念</a:t>
            </a:r>
          </a:p>
        </p:txBody>
      </p:sp>
    </p:spTree>
    <p:extLst>
      <p:ext uri="{BB962C8B-B14F-4D97-AF65-F5344CB8AC3E}">
        <p14:creationId xmlns:p14="http://schemas.microsoft.com/office/powerpoint/2010/main" val="3026058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0AABAD9-53E1-4611-99D7-1C2C6D4A69B2}"/>
              </a:ext>
            </a:extLst>
          </p:cNvPr>
          <p:cNvSpPr>
            <a:spLocks noGrp="1"/>
          </p:cNvSpPr>
          <p:nvPr>
            <p:ph idx="1"/>
          </p:nvPr>
        </p:nvSpPr>
        <p:spPr>
          <a:xfrm>
            <a:off x="432054" y="2078830"/>
            <a:ext cx="8024559" cy="3558446"/>
          </a:xfrm>
        </p:spPr>
        <p:txBody>
          <a:bodyPr/>
          <a:lstStyle/>
          <a:p>
            <a:pPr>
              <a:lnSpc>
                <a:spcPct val="150000"/>
              </a:lnSpc>
            </a:pPr>
            <a:r>
              <a:rPr lang="zh-CN" altLang="en-US" dirty="0">
                <a:latin typeface="华文中宋" panose="02010600040101010101" pitchFamily="2" charset="-122"/>
                <a:ea typeface="华文中宋" panose="02010600040101010101" pitchFamily="2" charset="-122"/>
              </a:rPr>
              <a:t>广义平稳信号的平均功率：</a:t>
            </a:r>
            <a:endParaRPr lang="en-US" altLang="zh-CN" dirty="0">
              <a:latin typeface="华文中宋" panose="02010600040101010101" pitchFamily="2" charset="-122"/>
              <a:ea typeface="华文中宋" panose="02010600040101010101" pitchFamily="2" charset="-122"/>
            </a:endParaRPr>
          </a:p>
          <a:p>
            <a:pPr marL="0" indent="0">
              <a:lnSpc>
                <a:spcPct val="150000"/>
              </a:lnSpc>
              <a:buNone/>
            </a:pPr>
            <a:r>
              <a:rPr lang="en-US" altLang="zh-CN" dirty="0">
                <a:latin typeface="华文中宋" panose="02010600040101010101" pitchFamily="2" charset="-122"/>
                <a:ea typeface="华文中宋" panose="02010600040101010101" pitchFamily="2" charset="-122"/>
              </a:rPr>
              <a:t>   </a:t>
            </a:r>
            <a:r>
              <a:rPr lang="zh-CN" altLang="en-US" dirty="0">
                <a:latin typeface="华文中宋" panose="02010600040101010101" pitchFamily="2" charset="-122"/>
                <a:ea typeface="华文中宋" panose="02010600040101010101" pitchFamily="2" charset="-122"/>
              </a:rPr>
              <a:t>时域为均方值或零点的自相关函数值、 频域</a:t>
            </a:r>
            <a:endParaRPr lang="en-US" altLang="zh-CN" dirty="0">
              <a:latin typeface="华文中宋" panose="02010600040101010101" pitchFamily="2" charset="-122"/>
              <a:ea typeface="华文中宋" panose="02010600040101010101" pitchFamily="2" charset="-122"/>
            </a:endParaRPr>
          </a:p>
          <a:p>
            <a:pPr>
              <a:lnSpc>
                <a:spcPct val="150000"/>
              </a:lnSpc>
            </a:pPr>
            <a:r>
              <a:rPr lang="zh-CN" altLang="en-US" dirty="0">
                <a:latin typeface="华文中宋" panose="02010600040101010101" pitchFamily="2" charset="-122"/>
                <a:ea typeface="华文中宋" panose="02010600040101010101" pitchFamily="2" charset="-122"/>
              </a:rPr>
              <a:t>非广义平稳信号（周期平稳）的平均功率：</a:t>
            </a:r>
            <a:endParaRPr lang="en-US" altLang="zh-CN" dirty="0">
              <a:latin typeface="华文中宋" panose="02010600040101010101" pitchFamily="2" charset="-122"/>
              <a:ea typeface="华文中宋" panose="02010600040101010101" pitchFamily="2" charset="-122"/>
            </a:endParaRPr>
          </a:p>
          <a:p>
            <a:pPr marL="0" indent="0">
              <a:lnSpc>
                <a:spcPct val="150000"/>
              </a:lnSpc>
              <a:buNone/>
            </a:pPr>
            <a:r>
              <a:rPr lang="en-US" altLang="zh-CN" dirty="0">
                <a:latin typeface="华文中宋" panose="02010600040101010101" pitchFamily="2" charset="-122"/>
                <a:ea typeface="华文中宋" panose="02010600040101010101" pitchFamily="2" charset="-122"/>
              </a:rPr>
              <a:t>    </a:t>
            </a:r>
            <a:r>
              <a:rPr lang="zh-CN" altLang="en-US" dirty="0">
                <a:latin typeface="华文中宋" panose="02010600040101010101" pitchFamily="2" charset="-122"/>
                <a:ea typeface="华文中宋" panose="02010600040101010101" pitchFamily="2" charset="-122"/>
              </a:rPr>
              <a:t>时域、频域</a:t>
            </a:r>
            <a:endParaRPr lang="en-US" altLang="zh-CN" dirty="0">
              <a:latin typeface="华文中宋" panose="02010600040101010101" pitchFamily="2" charset="-122"/>
              <a:ea typeface="华文中宋" panose="02010600040101010101" pitchFamily="2" charset="-122"/>
            </a:endParaRPr>
          </a:p>
          <a:p>
            <a:pPr marL="0" indent="0">
              <a:lnSpc>
                <a:spcPct val="150000"/>
              </a:lnSpc>
              <a:buNone/>
            </a:pPr>
            <a:r>
              <a:rPr lang="en-US" altLang="zh-CN" dirty="0">
                <a:latin typeface="华文中宋" panose="02010600040101010101" pitchFamily="2" charset="-122"/>
                <a:ea typeface="华文中宋" panose="02010600040101010101" pitchFamily="2" charset="-122"/>
              </a:rPr>
              <a:t>    </a:t>
            </a:r>
            <a:r>
              <a:rPr lang="zh-CN" altLang="en-US" dirty="0">
                <a:latin typeface="华文中宋" panose="02010600040101010101" pitchFamily="2" charset="-122"/>
                <a:ea typeface="华文中宋" panose="02010600040101010101" pitchFamily="2" charset="-122"/>
              </a:rPr>
              <a:t>均方函数的时间平均</a:t>
            </a:r>
            <a:endParaRPr lang="en-US" altLang="zh-CN" dirty="0">
              <a:latin typeface="华文中宋" panose="02010600040101010101" pitchFamily="2" charset="-122"/>
              <a:ea typeface="华文中宋" panose="02010600040101010101" pitchFamily="2" charset="-122"/>
            </a:endParaRPr>
          </a:p>
          <a:p>
            <a:pPr marL="0" indent="0">
              <a:lnSpc>
                <a:spcPct val="150000"/>
              </a:lnSpc>
              <a:buNone/>
            </a:pPr>
            <a:endParaRPr lang="en-US" altLang="zh-CN" dirty="0">
              <a:latin typeface="华文中宋" panose="02010600040101010101" pitchFamily="2" charset="-122"/>
              <a:ea typeface="华文中宋" panose="02010600040101010101" pitchFamily="2" charset="-122"/>
            </a:endParaRPr>
          </a:p>
          <a:p>
            <a:pPr marL="0" indent="0">
              <a:lnSpc>
                <a:spcPct val="150000"/>
              </a:lnSpc>
              <a:buNone/>
            </a:pPr>
            <a:endParaRPr lang="zh-CN" altLang="en-US" dirty="0">
              <a:latin typeface="华文中宋" panose="02010600040101010101" pitchFamily="2" charset="-122"/>
              <a:ea typeface="华文中宋" panose="02010600040101010101" pitchFamily="2" charset="-122"/>
            </a:endParaRPr>
          </a:p>
          <a:p>
            <a:pPr marL="0" indent="0">
              <a:buNone/>
            </a:pPr>
            <a:r>
              <a:rPr lang="en-US" altLang="zh-CN" dirty="0">
                <a:latin typeface="华文中宋" panose="02010600040101010101" pitchFamily="2" charset="-122"/>
                <a:ea typeface="华文中宋" panose="02010600040101010101" pitchFamily="2" charset="-122"/>
              </a:rPr>
              <a:t>                 </a:t>
            </a:r>
            <a:endParaRPr lang="zh-CN" altLang="en-US" dirty="0">
              <a:latin typeface="华文中宋" panose="02010600040101010101" pitchFamily="2" charset="-122"/>
              <a:ea typeface="华文中宋" panose="02010600040101010101" pitchFamily="2" charset="-122"/>
            </a:endParaRPr>
          </a:p>
          <a:p>
            <a:endParaRPr lang="zh-CN" altLang="en-US" dirty="0"/>
          </a:p>
        </p:txBody>
      </p:sp>
      <p:sp>
        <p:nvSpPr>
          <p:cNvPr id="4" name="标题 3"/>
          <p:cNvSpPr>
            <a:spLocks noGrp="1"/>
          </p:cNvSpPr>
          <p:nvPr>
            <p:ph type="title"/>
          </p:nvPr>
        </p:nvSpPr>
        <p:spPr/>
        <p:txBody>
          <a:bodyPr/>
          <a:lstStyle/>
          <a:p>
            <a:r>
              <a:rPr lang="zh-CN" altLang="en-US" dirty="0"/>
              <a:t>信号分析方法</a:t>
            </a:r>
            <a:r>
              <a:rPr lang="en-US" altLang="zh-CN" dirty="0"/>
              <a:t>—</a:t>
            </a:r>
            <a:r>
              <a:rPr lang="zh-CN" altLang="en-US" dirty="0"/>
              <a:t>有关名词概念</a:t>
            </a:r>
          </a:p>
        </p:txBody>
      </p:sp>
    </p:spTree>
    <p:extLst>
      <p:ext uri="{BB962C8B-B14F-4D97-AF65-F5344CB8AC3E}">
        <p14:creationId xmlns:p14="http://schemas.microsoft.com/office/powerpoint/2010/main" val="9534250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6A0A19-4259-4472-8BDE-77AEA81EF7F9}"/>
              </a:ext>
            </a:extLst>
          </p:cNvPr>
          <p:cNvSpPr>
            <a:spLocks noGrp="1"/>
          </p:cNvSpPr>
          <p:nvPr>
            <p:ph type="ctrTitle"/>
          </p:nvPr>
        </p:nvSpPr>
        <p:spPr/>
        <p:txBody>
          <a:bodyPr/>
          <a:lstStyle/>
          <a:p>
            <a:r>
              <a:rPr lang="zh-CN" altLang="en-US" dirty="0"/>
              <a:t>第五章</a:t>
            </a:r>
            <a:br>
              <a:rPr lang="en-US" altLang="zh-CN" dirty="0"/>
            </a:br>
            <a:r>
              <a:rPr lang="zh-CN" altLang="zh-CN" dirty="0"/>
              <a:t>随机信号通过线性系统</a:t>
            </a:r>
            <a:endParaRPr lang="zh-CN" altLang="en-US" dirty="0"/>
          </a:p>
        </p:txBody>
      </p:sp>
    </p:spTree>
    <p:extLst>
      <p:ext uri="{BB962C8B-B14F-4D97-AF65-F5344CB8AC3E}">
        <p14:creationId xmlns:p14="http://schemas.microsoft.com/office/powerpoint/2010/main" val="24044874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学习目标</a:t>
            </a:r>
          </a:p>
        </p:txBody>
      </p:sp>
      <p:sp>
        <p:nvSpPr>
          <p:cNvPr id="3" name="内容占位符 2"/>
          <p:cNvSpPr>
            <a:spLocks noGrp="1"/>
          </p:cNvSpPr>
          <p:nvPr>
            <p:ph idx="1"/>
          </p:nvPr>
        </p:nvSpPr>
        <p:spPr>
          <a:xfrm>
            <a:off x="684213" y="2078831"/>
            <a:ext cx="7772400" cy="2449874"/>
          </a:xfrm>
        </p:spPr>
        <p:txBody>
          <a:bodyPr/>
          <a:lstStyle/>
          <a:p>
            <a:r>
              <a:rPr lang="zh-CN" altLang="en-US" dirty="0"/>
              <a:t>解释随机信号通过线性时不变系统的输出过程；</a:t>
            </a:r>
            <a:endParaRPr lang="en-US" altLang="zh-CN" dirty="0"/>
          </a:p>
          <a:p>
            <a:r>
              <a:rPr lang="zh-CN" altLang="en-US" dirty="0"/>
              <a:t>写出并计算输出过程的均值、自相关函数和互相关函数。</a:t>
            </a:r>
            <a:endParaRPr lang="en-US" altLang="zh-CN" dirty="0"/>
          </a:p>
          <a:p>
            <a:endParaRPr lang="zh-CN" altLang="en-US" dirty="0"/>
          </a:p>
        </p:txBody>
      </p:sp>
    </p:spTree>
    <p:extLst>
      <p:ext uri="{BB962C8B-B14F-4D97-AF65-F5344CB8AC3E}">
        <p14:creationId xmlns:p14="http://schemas.microsoft.com/office/powerpoint/2010/main" val="33126983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4"/>
              <p:cNvSpPr txBox="1"/>
              <p:nvPr>
                <p:custDataLst>
                  <p:tags r:id="rId2"/>
                </p:custDataLst>
              </p:nvPr>
            </p:nvSpPr>
            <p:spPr>
              <a:xfrm>
                <a:off x="914400" y="1333500"/>
                <a:ext cx="7315200" cy="1607344"/>
              </a:xfrm>
              <a:prstGeom prst="rect">
                <a:avLst/>
              </a:prstGeom>
              <a:noFill/>
            </p:spPr>
            <p:txBody>
              <a:bodyPr vert="horz" wrap="square" rtlCol="0" anchor="ctr" anchorCtr="0">
                <a:noAutofit/>
              </a:bodyPr>
              <a:lstStyle/>
              <a:p>
                <a:pPr>
                  <a:lnSpc>
                    <a:spcPct val="150000"/>
                  </a:lnSpc>
                </a:pPr>
                <a:r>
                  <a:rPr lang="zh-CN" altLang="en-US" sz="195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已知某线性时不变系统算子</a:t>
                </a:r>
                <a14:m>
                  <m:oMath xmlns:m="http://schemas.openxmlformats.org/officeDocument/2006/math">
                    <m:r>
                      <a:rPr lang="en-US" altLang="zh-CN" sz="195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𝐿</m:t>
                    </m:r>
                    <m:d>
                      <m:dPr>
                        <m:begChr m:val="["/>
                        <m:endChr m:val="]"/>
                        <m:ctrlPr>
                          <a:rPr lang="en-US" altLang="zh-CN" sz="195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dPr>
                      <m:e>
                        <m:r>
                          <a:rPr lang="en-US" altLang="zh-CN" sz="1950" i="1">
                            <a:solidFill>
                              <a:srgbClr val="000000"/>
                            </a:solidFill>
                            <a:latin typeface="Cambria Math" panose="02040503050406030204" pitchFamily="18" charset="0"/>
                            <a:ea typeface="Cambria Math" panose="02040503050406030204" pitchFamily="18" charset="0"/>
                            <a:sym typeface="Microsoft Yahei" panose="020B0503020204020204" pitchFamily="34" charset="-122"/>
                          </a:rPr>
                          <m:t>∙</m:t>
                        </m:r>
                      </m:e>
                    </m:d>
                    <m:r>
                      <a:rPr lang="en-US" altLang="zh-CN" sz="195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  </m:t>
                    </m:r>
                    <m:r>
                      <a:rPr lang="zh-CN" altLang="en-US" sz="195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即</m:t>
                    </m:r>
                    <m:r>
                      <a:rPr lang="en-US" altLang="zh-CN" sz="195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 </m:t>
                    </m:r>
                    <m:r>
                      <a:rPr lang="en-US" altLang="zh-CN" sz="195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𝑦</m:t>
                    </m:r>
                    <m:d>
                      <m:dPr>
                        <m:ctrlPr>
                          <a:rPr lang="en-US" altLang="zh-CN" sz="195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dPr>
                      <m:e>
                        <m:r>
                          <a:rPr lang="en-US" altLang="zh-CN" sz="195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𝑡</m:t>
                        </m:r>
                      </m:e>
                    </m:d>
                    <m:r>
                      <a:rPr lang="en-US" altLang="zh-CN" sz="195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r>
                      <a:rPr lang="en-US" altLang="zh-CN" sz="195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𝐿</m:t>
                    </m:r>
                    <m:d>
                      <m:dPr>
                        <m:begChr m:val="["/>
                        <m:endChr m:val="]"/>
                        <m:ctrlPr>
                          <a:rPr lang="en-US" altLang="zh-CN" sz="195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dPr>
                      <m:e>
                        <m:r>
                          <a:rPr lang="en-US" altLang="zh-CN" sz="195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𝑥</m:t>
                        </m:r>
                        <m:r>
                          <a:rPr lang="en-US" altLang="zh-CN" sz="195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r>
                          <a:rPr lang="en-US" altLang="zh-CN" sz="195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𝑡</m:t>
                        </m:r>
                        <m:r>
                          <a:rPr lang="en-US" altLang="zh-CN" sz="195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e>
                    </m:d>
                  </m:oMath>
                </a14:m>
                <a:r>
                  <a:rPr lang="zh-CN" altLang="en-US" sz="195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，请分别写出其线性和时不变性表达式。</a:t>
                </a:r>
              </a:p>
            </p:txBody>
          </p:sp>
        </mc:Choice>
        <mc:Fallback xmlns="">
          <p:sp>
            <p:nvSpPr>
              <p:cNvPr id="5" name="文本框 4"/>
              <p:cNvSpPr txBox="1">
                <a:spLocks noRot="1" noChangeAspect="1" noMove="1" noResize="1" noEditPoints="1" noAdjustHandles="1" noChangeArrowheads="1" noChangeShapeType="1" noTextEdit="1"/>
              </p:cNvSpPr>
              <p:nvPr>
                <p:custDataLst>
                  <p:tags r:id="rId12"/>
                </p:custDataLst>
              </p:nvPr>
            </p:nvSpPr>
            <p:spPr>
              <a:xfrm>
                <a:off x="914400" y="1333500"/>
                <a:ext cx="7315200" cy="1607344"/>
              </a:xfrm>
              <a:prstGeom prst="rect">
                <a:avLst/>
              </a:prstGeom>
              <a:blipFill>
                <a:blip r:embed="rId13"/>
                <a:stretch>
                  <a:fillRect l="-833" r="-583"/>
                </a:stretch>
              </a:blipFill>
            </p:spPr>
            <p:txBody>
              <a:bodyPr/>
              <a:lstStyle/>
              <a:p>
                <a:r>
                  <a:rPr lang="zh-CN" altLang="en-US">
                    <a:noFill/>
                  </a:rPr>
                  <a:t> </a:t>
                </a:r>
              </a:p>
            </p:txBody>
          </p:sp>
        </mc:Fallback>
      </mc:AlternateContent>
      <p:sp>
        <p:nvSpPr>
          <p:cNvPr id="6" name="圆角矩形 5"/>
          <p:cNvSpPr/>
          <p:nvPr>
            <p:custDataLst>
              <p:tags r:id="rId3"/>
            </p:custDataLst>
          </p:nvPr>
        </p:nvSpPr>
        <p:spPr bwMode="auto">
          <a:xfrm>
            <a:off x="6686550" y="5518547"/>
            <a:ext cx="1157288" cy="308610"/>
          </a:xfrm>
          <a:prstGeom prst="roundRect">
            <a:avLst/>
          </a:prstGeom>
          <a:solidFill>
            <a:srgbClr val="808080"/>
          </a:solidFill>
          <a:ln w="38100" cap="flat" cmpd="sng" algn="ctr">
            <a:solidFill>
              <a:srgbClr val="00000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rtlCol="0" anchor="ctr" anchorCtr="1" compatLnSpc="1">
            <a:prstTxWarp prst="textNoShape">
              <a:avLst/>
            </a:prstTxWarp>
          </a:bodyPr>
          <a:lstStyle/>
          <a:p>
            <a:pPr defTabSz="685800"/>
            <a:r>
              <a:rPr lang="zh-CN" altLang="en-US" sz="12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2" name="矩形 11"/>
          <p:cNvSpPr/>
          <p:nvPr>
            <p:custDataLst>
              <p:tags r:id="rId4"/>
            </p:custDataLst>
          </p:nvPr>
        </p:nvSpPr>
        <p:spPr bwMode="auto">
          <a:xfrm>
            <a:off x="0" y="5152787"/>
            <a:ext cx="9144000" cy="365760"/>
          </a:xfrm>
          <a:prstGeom prst="rect">
            <a:avLst/>
          </a:prstGeom>
          <a:solidFill>
            <a:srgbClr val="FBFAEF"/>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rtlCol="0" anchor="ctr" anchorCtr="1" compatLnSpc="1">
            <a:prstTxWarp prst="textNoShape">
              <a:avLst/>
            </a:prstTxWarp>
          </a:bodyPr>
          <a:lstStyle/>
          <a:p>
            <a:pPr fontAlgn="base">
              <a:spcBef>
                <a:spcPct val="0"/>
              </a:spcBef>
              <a:spcAft>
                <a:spcPct val="0"/>
              </a:spcAft>
            </a:pP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grpSp>
        <p:nvGrpSpPr>
          <p:cNvPr id="11" name="组合 10"/>
          <p:cNvGrpSpPr/>
          <p:nvPr>
            <p:custDataLst>
              <p:tags r:id="rId5"/>
            </p:custDataLst>
          </p:nvPr>
        </p:nvGrpSpPr>
        <p:grpSpPr>
          <a:xfrm>
            <a:off x="0" y="0"/>
            <a:ext cx="9144000" cy="490220"/>
            <a:chOff x="0" y="-1143000"/>
            <a:chExt cx="12192000" cy="653627"/>
          </a:xfrm>
        </p:grpSpPr>
        <p:sp>
          <p:nvSpPr>
            <p:cNvPr id="7" name="TitleBackground"/>
            <p:cNvSpPr/>
            <p:nvPr>
              <p:custDataLst>
                <p:tags r:id="rId7"/>
              </p:custDataLst>
            </p:nvPr>
          </p:nvSpPr>
          <p:spPr bwMode="auto">
            <a:xfrm>
              <a:off x="0" y="-1143000"/>
              <a:ext cx="12192000" cy="635000"/>
            </a:xfrm>
            <a:prstGeom prst="rect">
              <a:avLst/>
            </a:prstGeom>
            <a:solidFill>
              <a:srgbClr val="F6F7F8"/>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rtlCol="0" anchor="t" anchorCtr="0" compatLnSpc="1">
              <a:prstTxWarp prst="textNoShape">
                <a:avLst/>
              </a:prstTxWarp>
            </a:bodyPr>
            <a:lstStyle/>
            <a:p>
              <a:pPr defTabSz="685800"/>
              <a:endParaRPr lang="zh-CN" altLang="en-US">
                <a:latin typeface="Arial" panose="020B0604020202020204" pitchFamily="34" charset="0"/>
                <a:ea typeface="宋体" panose="02010600030101010101" pitchFamily="2" charset="-122"/>
              </a:endParaRPr>
            </a:p>
          </p:txBody>
        </p:sp>
        <p:sp>
          <p:nvSpPr>
            <p:cNvPr id="8" name="ColorBlock"/>
            <p:cNvSpPr/>
            <p:nvPr>
              <p:custDataLst>
                <p:tags r:id="rId8"/>
              </p:custDataLst>
            </p:nvPr>
          </p:nvSpPr>
          <p:spPr bwMode="auto">
            <a:xfrm>
              <a:off x="0" y="-1143000"/>
              <a:ext cx="190500" cy="635000"/>
            </a:xfrm>
            <a:prstGeom prst="rect">
              <a:avLst/>
            </a:prstGeom>
            <a:solidFill>
              <a:srgbClr val="639EF4"/>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rtlCol="0" anchor="t" anchorCtr="0" compatLnSpc="1">
              <a:prstTxWarp prst="textNoShape">
                <a:avLst/>
              </a:prstTxWarp>
            </a:bodyPr>
            <a:lstStyle/>
            <a:p>
              <a:pPr defTabSz="685800"/>
              <a:endParaRPr lang="zh-CN" altLang="en-US">
                <a:latin typeface="Arial" panose="020B0604020202020204" pitchFamily="34" charset="0"/>
                <a:ea typeface="宋体" panose="02010600030101010101" pitchFamily="2" charset="-122"/>
              </a:endParaRPr>
            </a:p>
          </p:txBody>
        </p:sp>
        <p:sp>
          <p:nvSpPr>
            <p:cNvPr id="9" name="TypeText"/>
            <p:cNvSpPr txBox="1"/>
            <p:nvPr>
              <p:custDataLst>
                <p:tags r:id="rId9"/>
              </p:custDataLst>
            </p:nvPr>
          </p:nvSpPr>
          <p:spPr>
            <a:xfrm>
              <a:off x="338667" y="-1143000"/>
              <a:ext cx="1905000" cy="635000"/>
            </a:xfrm>
            <a:prstGeom prst="rect">
              <a:avLst/>
            </a:prstGeom>
            <a:noFill/>
          </p:spPr>
          <p:txBody>
            <a:bodyPr vert="horz" wrap="none" rtlCol="0" anchor="ctr" anchorCtr="0">
              <a:noAutofit/>
            </a:bodyPr>
            <a:lstStyle/>
            <a:p>
              <a:r>
                <a:rPr lang="zh-CN" altLang="en-US" sz="195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0" name="TipText"/>
            <p:cNvSpPr txBox="1"/>
            <p:nvPr>
              <p:custDataLst>
                <p:tags r:id="rId10"/>
              </p:custDataLst>
            </p:nvPr>
          </p:nvSpPr>
          <p:spPr>
            <a:xfrm>
              <a:off x="1670473" y="-997373"/>
              <a:ext cx="2286000" cy="508000"/>
            </a:xfrm>
            <a:prstGeom prst="rect">
              <a:avLst/>
            </a:prstGeom>
            <a:noFill/>
          </p:spPr>
          <p:txBody>
            <a:bodyPr vert="horz" wrap="none" rtlCol="0" anchor="ctr" anchorCtr="0">
              <a:noAutofit/>
            </a:bodyPr>
            <a:lstStyle/>
            <a:p>
              <a:r>
                <a:rPr lang="en-US" altLang="zh-CN" sz="15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15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4B189F00-93E8-430C-BED2-8A4B0A83B016}"/>
              </a:ext>
            </a:extLst>
          </p:cNvPr>
          <p:cNvPicPr>
            <a:picLocks/>
          </p:cNvPicPr>
          <p:nvPr>
            <p:custDataLst>
              <p:tags r:id="rId6"/>
            </p:custDataLst>
          </p:nvPr>
        </p:nvPicPr>
        <p:blipFill>
          <a:blip r:embed="rId14">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3011871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a:xfrm>
                <a:off x="684213" y="1259499"/>
                <a:ext cx="7772400" cy="3026752"/>
              </a:xfrm>
            </p:spPr>
            <p:txBody>
              <a:bodyPr/>
              <a:lstStyle/>
              <a:p>
                <a:pPr>
                  <a:lnSpc>
                    <a:spcPct val="150000"/>
                  </a:lnSpc>
                </a:pPr>
                <a:r>
                  <a:rPr lang="zh-CN" altLang="en-US" dirty="0"/>
                  <a:t>线性：</a:t>
                </a:r>
                <a:endParaRPr lang="en-US" altLang="zh-CN" dirty="0"/>
              </a:p>
              <a:p>
                <a:pPr marL="0" indent="0">
                  <a:lnSpc>
                    <a:spcPct val="150000"/>
                  </a:lnSpc>
                  <a:buNone/>
                </a:pPr>
                <a14:m>
                  <m:oMath xmlns:m="http://schemas.openxmlformats.org/officeDocument/2006/math">
                    <m:r>
                      <a:rPr lang="zh-CN" altLang="en-US" i="1" smtClean="0">
                        <a:latin typeface="Cambria Math" panose="02040503050406030204" pitchFamily="18" charset="0"/>
                      </a:rPr>
                      <m:t>∀</m:t>
                    </m:r>
                    <m:r>
                      <a:rPr lang="en-US" altLang="zh-CN" b="1" i="1" smtClean="0">
                        <a:latin typeface="Cambria Math" panose="02040503050406030204" pitchFamily="18" charset="0"/>
                      </a:rPr>
                      <m:t>𝒂</m:t>
                    </m:r>
                    <m:r>
                      <a:rPr lang="en-US" altLang="zh-CN" b="1" i="1" smtClean="0">
                        <a:latin typeface="Cambria Math" panose="02040503050406030204" pitchFamily="18" charset="0"/>
                      </a:rPr>
                      <m:t>,</m:t>
                    </m:r>
                    <m:r>
                      <a:rPr lang="en-US" altLang="zh-CN" b="1" i="1" smtClean="0">
                        <a:latin typeface="Cambria Math" panose="02040503050406030204" pitchFamily="18" charset="0"/>
                      </a:rPr>
                      <m:t>𝒃</m:t>
                    </m:r>
                    <m:r>
                      <a:rPr lang="en-US" altLang="zh-CN" b="1" i="1" smtClean="0">
                        <a:latin typeface="Cambria Math" panose="02040503050406030204" pitchFamily="18" charset="0"/>
                      </a:rPr>
                      <m:t>, </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𝟏</m:t>
                        </m:r>
                      </m:sub>
                    </m:sSub>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𝒕</m:t>
                        </m:r>
                      </m:e>
                    </m:d>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𝟐</m:t>
                        </m:r>
                      </m:sub>
                    </m:sSub>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𝒕</m:t>
                        </m:r>
                      </m:e>
                    </m:d>
                    <m:r>
                      <a:rPr lang="en-US" altLang="zh-CN" b="1" i="1" smtClean="0">
                        <a:latin typeface="Cambria Math" panose="02040503050406030204" pitchFamily="18" charset="0"/>
                      </a:rPr>
                      <m:t>, </m:t>
                    </m:r>
                  </m:oMath>
                </a14:m>
                <a:r>
                  <a:rPr lang="zh-CN" altLang="en-US" b="1" dirty="0"/>
                  <a:t>有</a:t>
                </a:r>
                <a:endParaRPr lang="en-US" altLang="zh-CN" b="1" dirty="0"/>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𝑳</m:t>
                      </m:r>
                      <m:d>
                        <m:dPr>
                          <m:begChr m:val="["/>
                          <m:endChr m:val="]"/>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𝒂</m:t>
                          </m:r>
                          <m:sSub>
                            <m:sSubPr>
                              <m:ctrlPr>
                                <a:rPr lang="en-US" altLang="zh-CN" i="1">
                                  <a:latin typeface="Cambria Math" panose="02040503050406030204" pitchFamily="18" charset="0"/>
                                </a:rPr>
                              </m:ctrlPr>
                            </m:sSubPr>
                            <m:e>
                              <m:r>
                                <a:rPr lang="en-US" altLang="zh-CN" i="1">
                                  <a:latin typeface="Cambria Math" panose="02040503050406030204" pitchFamily="18" charset="0"/>
                                </a:rPr>
                                <m:t>𝒙</m:t>
                              </m:r>
                            </m:e>
                            <m:sub>
                              <m:r>
                                <a:rPr lang="en-US" altLang="zh-CN" i="1">
                                  <a:latin typeface="Cambria Math" panose="02040503050406030204" pitchFamily="18" charset="0"/>
                                </a:rPr>
                                <m:t>𝟏</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𝒕</m:t>
                              </m:r>
                            </m:e>
                          </m:d>
                          <m:r>
                            <a:rPr lang="en-US" altLang="zh-CN" b="1" i="1" smtClean="0">
                              <a:latin typeface="Cambria Math" panose="02040503050406030204" pitchFamily="18" charset="0"/>
                            </a:rPr>
                            <m:t>+</m:t>
                          </m:r>
                          <m:r>
                            <a:rPr lang="en-US" altLang="zh-CN" b="1" i="1" smtClean="0">
                              <a:latin typeface="Cambria Math" panose="02040503050406030204" pitchFamily="18" charset="0"/>
                            </a:rPr>
                            <m:t>𝒃</m:t>
                          </m:r>
                          <m:sSub>
                            <m:sSubPr>
                              <m:ctrlPr>
                                <a:rPr lang="en-US" altLang="zh-CN" i="1">
                                  <a:latin typeface="Cambria Math" panose="02040503050406030204" pitchFamily="18" charset="0"/>
                                </a:rPr>
                              </m:ctrlPr>
                            </m:sSubPr>
                            <m:e>
                              <m:r>
                                <a:rPr lang="en-US" altLang="zh-CN" i="1">
                                  <a:latin typeface="Cambria Math" panose="02040503050406030204" pitchFamily="18" charset="0"/>
                                </a:rPr>
                                <m:t>𝒙</m:t>
                              </m:r>
                            </m:e>
                            <m:sub>
                              <m:r>
                                <a:rPr lang="en-US" altLang="zh-CN" b="1" i="1" smtClean="0">
                                  <a:latin typeface="Cambria Math" panose="02040503050406030204" pitchFamily="18" charset="0"/>
                                </a:rPr>
                                <m:t>𝟐</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𝒕</m:t>
                              </m:r>
                            </m:e>
                          </m:d>
                        </m:e>
                      </m:d>
                      <m:r>
                        <a:rPr lang="en-US" altLang="zh-CN" b="1" i="1" smtClean="0">
                          <a:latin typeface="Cambria Math" panose="02040503050406030204" pitchFamily="18" charset="0"/>
                        </a:rPr>
                        <m:t>=</m:t>
                      </m:r>
                      <m:r>
                        <a:rPr lang="en-US" altLang="zh-CN" b="1" i="1" smtClean="0">
                          <a:latin typeface="Cambria Math" panose="02040503050406030204" pitchFamily="18" charset="0"/>
                        </a:rPr>
                        <m:t>𝒂𝑳</m:t>
                      </m:r>
                      <m:d>
                        <m:dPr>
                          <m:begChr m:val="["/>
                          <m:endChr m:val="]"/>
                          <m:ctrlPr>
                            <a:rPr lang="en-US" altLang="zh-CN" b="1" i="1" smtClean="0">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𝒙</m:t>
                              </m:r>
                            </m:e>
                            <m:sub>
                              <m:r>
                                <a:rPr lang="en-US" altLang="zh-CN" i="1">
                                  <a:latin typeface="Cambria Math" panose="02040503050406030204" pitchFamily="18" charset="0"/>
                                </a:rPr>
                                <m:t>𝟏</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𝒕</m:t>
                              </m:r>
                            </m:e>
                          </m:d>
                        </m:e>
                      </m:d>
                      <m:r>
                        <a:rPr lang="en-US" altLang="zh-CN" b="1" i="1" smtClean="0">
                          <a:latin typeface="Cambria Math" panose="02040503050406030204" pitchFamily="18" charset="0"/>
                        </a:rPr>
                        <m:t>+</m:t>
                      </m:r>
                      <m:r>
                        <a:rPr lang="en-US" altLang="zh-CN" b="1" i="1" smtClean="0">
                          <a:latin typeface="Cambria Math" panose="02040503050406030204" pitchFamily="18" charset="0"/>
                        </a:rPr>
                        <m:t>𝒃𝑳</m:t>
                      </m:r>
                      <m:d>
                        <m:dPr>
                          <m:begChr m:val="["/>
                          <m:endChr m:val="]"/>
                          <m:ctrlPr>
                            <a:rPr lang="en-US" altLang="zh-CN" b="1" i="1" smtClean="0">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𝒙</m:t>
                              </m:r>
                            </m:e>
                            <m:sub>
                              <m:r>
                                <a:rPr lang="en-US" altLang="zh-CN" b="1" i="1" smtClean="0">
                                  <a:latin typeface="Cambria Math" panose="02040503050406030204" pitchFamily="18" charset="0"/>
                                </a:rPr>
                                <m:t>𝟐</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𝒕</m:t>
                              </m:r>
                            </m:e>
                          </m:d>
                        </m:e>
                      </m:d>
                      <m:r>
                        <a:rPr lang="en-US" altLang="zh-CN" b="1" i="1" smtClean="0">
                          <a:latin typeface="Cambria Math" panose="02040503050406030204" pitchFamily="18" charset="0"/>
                        </a:rPr>
                        <m:t>=</m:t>
                      </m:r>
                      <m:r>
                        <a:rPr lang="en-US" altLang="zh-CN" b="1" i="1" smtClean="0">
                          <a:latin typeface="Cambria Math" panose="02040503050406030204" pitchFamily="18" charset="0"/>
                        </a:rPr>
                        <m:t>𝒂</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𝒚</m:t>
                          </m:r>
                        </m:e>
                        <m:sub>
                          <m:r>
                            <a:rPr lang="en-US" altLang="zh-CN" b="1" i="1" smtClean="0">
                              <a:latin typeface="Cambria Math" panose="02040503050406030204" pitchFamily="18" charset="0"/>
                            </a:rPr>
                            <m:t>𝟏</m:t>
                          </m:r>
                        </m:sub>
                      </m:sSub>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𝒕</m:t>
                          </m:r>
                        </m:e>
                      </m:d>
                      <m:r>
                        <a:rPr lang="en-US" altLang="zh-CN" b="1" i="1" smtClean="0">
                          <a:latin typeface="Cambria Math" panose="02040503050406030204" pitchFamily="18" charset="0"/>
                        </a:rPr>
                        <m:t>+</m:t>
                      </m:r>
                      <m:r>
                        <a:rPr lang="en-US" altLang="zh-CN" b="1" i="1" smtClean="0">
                          <a:latin typeface="Cambria Math" panose="02040503050406030204" pitchFamily="18" charset="0"/>
                        </a:rPr>
                        <m:t>𝒃</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𝒚</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𝒕</m:t>
                      </m:r>
                      <m:r>
                        <a:rPr lang="en-US" altLang="zh-CN" b="1" i="1" smtClean="0">
                          <a:latin typeface="Cambria Math" panose="02040503050406030204" pitchFamily="18" charset="0"/>
                        </a:rPr>
                        <m:t>)</m:t>
                      </m:r>
                    </m:oMath>
                  </m:oMathPara>
                </a14:m>
                <a:endParaRPr lang="en-US" altLang="zh-CN" dirty="0"/>
              </a:p>
              <a:p>
                <a:pPr>
                  <a:lnSpc>
                    <a:spcPct val="150000"/>
                  </a:lnSpc>
                </a:pPr>
                <a:r>
                  <a:rPr lang="zh-CN" altLang="en-US" dirty="0"/>
                  <a:t>时不变性：</a:t>
                </a:r>
                <a:endParaRPr lang="en-US" altLang="zh-CN" dirty="0"/>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𝑳</m:t>
                      </m:r>
                      <m:d>
                        <m:dPr>
                          <m:begChr m:val="["/>
                          <m:endChr m:val="]"/>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𝒙</m:t>
                          </m:r>
                          <m:r>
                            <a:rPr lang="en-US" altLang="zh-CN" b="1" i="1" smtClean="0">
                              <a:latin typeface="Cambria Math" panose="02040503050406030204" pitchFamily="18" charset="0"/>
                            </a:rPr>
                            <m:t>(</m:t>
                          </m:r>
                          <m:r>
                            <a:rPr lang="en-US" altLang="zh-CN" b="1" i="1" smtClean="0">
                              <a:latin typeface="Cambria Math" panose="02040503050406030204" pitchFamily="18" charset="0"/>
                            </a:rPr>
                            <m:t>𝒕</m:t>
                          </m:r>
                          <m:r>
                            <a:rPr lang="en-US" altLang="zh-CN" b="1" i="1" smtClean="0">
                              <a:latin typeface="Cambria Math" panose="02040503050406030204" pitchFamily="18" charset="0"/>
                            </a:rPr>
                            <m:t>−</m:t>
                          </m:r>
                          <m:r>
                            <a:rPr lang="zh-CN" altLang="en-US" b="1" i="1" smtClean="0">
                              <a:latin typeface="Cambria Math" panose="02040503050406030204" pitchFamily="18" charset="0"/>
                            </a:rPr>
                            <m:t>𝝉</m:t>
                          </m:r>
                          <m:r>
                            <a:rPr lang="en-US" altLang="zh-CN" b="1" i="1" smtClean="0">
                              <a:latin typeface="Cambria Math" panose="02040503050406030204" pitchFamily="18" charset="0"/>
                            </a:rPr>
                            <m:t>)</m:t>
                          </m:r>
                        </m:e>
                      </m:d>
                      <m:r>
                        <a:rPr lang="en-US" altLang="zh-CN" b="1" i="1" smtClean="0">
                          <a:latin typeface="Cambria Math" panose="02040503050406030204" pitchFamily="18" charset="0"/>
                        </a:rPr>
                        <m:t>=</m:t>
                      </m:r>
                      <m:r>
                        <a:rPr lang="en-US" altLang="zh-CN" b="1" i="1" smtClean="0">
                          <a:latin typeface="Cambria Math" panose="02040503050406030204" pitchFamily="18" charset="0"/>
                        </a:rPr>
                        <m:t>𝒚</m:t>
                      </m:r>
                      <m:r>
                        <a:rPr lang="en-US" altLang="zh-CN" b="1" i="1" smtClean="0">
                          <a:latin typeface="Cambria Math" panose="02040503050406030204" pitchFamily="18" charset="0"/>
                        </a:rPr>
                        <m:t>(</m:t>
                      </m:r>
                      <m:r>
                        <a:rPr lang="en-US" altLang="zh-CN" b="1" i="1" smtClean="0">
                          <a:latin typeface="Cambria Math" panose="02040503050406030204" pitchFamily="18" charset="0"/>
                        </a:rPr>
                        <m:t>𝒕</m:t>
                      </m:r>
                      <m:r>
                        <a:rPr lang="en-US" altLang="zh-CN" b="1" i="1" smtClean="0">
                          <a:latin typeface="Cambria Math" panose="02040503050406030204" pitchFamily="18" charset="0"/>
                        </a:rPr>
                        <m:t>−</m:t>
                      </m:r>
                      <m:r>
                        <a:rPr lang="zh-CN" altLang="en-US" b="1" i="1" smtClean="0">
                          <a:latin typeface="Cambria Math" panose="02040503050406030204" pitchFamily="18" charset="0"/>
                        </a:rPr>
                        <m:t>𝝉</m:t>
                      </m:r>
                      <m:r>
                        <a:rPr lang="en-US" altLang="zh-CN" b="1" i="1" smtClean="0">
                          <a:latin typeface="Cambria Math" panose="02040503050406030204" pitchFamily="18" charset="0"/>
                        </a:rPr>
                        <m:t>)</m:t>
                      </m:r>
                    </m:oMath>
                  </m:oMathPara>
                </a14:m>
                <a:endParaRPr lang="en-US" altLang="zh-CN"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xfrm>
                <a:off x="684213" y="1259499"/>
                <a:ext cx="7772400" cy="3026752"/>
              </a:xfrm>
              <a:blipFill>
                <a:blip r:embed="rId2"/>
                <a:stretch>
                  <a:fillRect l="-78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511083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914400" y="1333500"/>
            <a:ext cx="7315200" cy="1607344"/>
          </a:xfrm>
          <a:prstGeom prst="rect">
            <a:avLst/>
          </a:prstGeom>
          <a:noFill/>
        </p:spPr>
        <p:txBody>
          <a:bodyPr vert="horz" wrap="square" rtlCol="0" anchor="ctr" anchorCtr="0">
            <a:noAutofit/>
          </a:bodyPr>
          <a:lstStyle/>
          <a:p>
            <a:r>
              <a:rPr lang="zh-CN" altLang="en-US" sz="195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一个线性时不变系统是一个因果稳定的系统，需要满足什么条件？</a:t>
            </a:r>
          </a:p>
        </p:txBody>
      </p:sp>
      <p:sp>
        <p:nvSpPr>
          <p:cNvPr id="5" name="圆角矩形 4"/>
          <p:cNvSpPr/>
          <p:nvPr>
            <p:custDataLst>
              <p:tags r:id="rId3"/>
            </p:custDataLst>
          </p:nvPr>
        </p:nvSpPr>
        <p:spPr bwMode="auto">
          <a:xfrm>
            <a:off x="6686550" y="5518547"/>
            <a:ext cx="1157288" cy="308610"/>
          </a:xfrm>
          <a:prstGeom prst="roundRect">
            <a:avLst/>
          </a:prstGeom>
          <a:solidFill>
            <a:srgbClr val="808080"/>
          </a:solidFill>
          <a:ln w="38100" cap="flat" cmpd="sng" algn="ctr">
            <a:solidFill>
              <a:srgbClr val="00000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rtlCol="0" anchor="ctr" anchorCtr="1" compatLnSpc="1">
            <a:prstTxWarp prst="textNoShape">
              <a:avLst/>
            </a:prstTxWarp>
          </a:bodyPr>
          <a:lstStyle/>
          <a:p>
            <a:pPr defTabSz="685800"/>
            <a:r>
              <a:rPr lang="zh-CN" altLang="en-US" sz="12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1" name="矩形 10"/>
          <p:cNvSpPr/>
          <p:nvPr>
            <p:custDataLst>
              <p:tags r:id="rId4"/>
            </p:custDataLst>
          </p:nvPr>
        </p:nvSpPr>
        <p:spPr bwMode="auto">
          <a:xfrm>
            <a:off x="0" y="5152787"/>
            <a:ext cx="9144000" cy="365760"/>
          </a:xfrm>
          <a:prstGeom prst="rect">
            <a:avLst/>
          </a:prstGeom>
          <a:solidFill>
            <a:srgbClr val="FBFAEF"/>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rtlCol="0" anchor="ctr" anchorCtr="1" compatLnSpc="1">
            <a:prstTxWarp prst="textNoShape">
              <a:avLst/>
            </a:prstTxWarp>
          </a:bodyPr>
          <a:lstStyle/>
          <a:p>
            <a:pPr fontAlgn="base">
              <a:spcBef>
                <a:spcPct val="0"/>
              </a:spcBef>
              <a:spcAft>
                <a:spcPct val="0"/>
              </a:spcAft>
            </a:pP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grpSp>
        <p:nvGrpSpPr>
          <p:cNvPr id="10" name="组合 9"/>
          <p:cNvGrpSpPr/>
          <p:nvPr>
            <p:custDataLst>
              <p:tags r:id="rId5"/>
            </p:custDataLst>
          </p:nvPr>
        </p:nvGrpSpPr>
        <p:grpSpPr>
          <a:xfrm>
            <a:off x="0" y="0"/>
            <a:ext cx="9144000" cy="490220"/>
            <a:chOff x="0" y="-1143000"/>
            <a:chExt cx="12192000" cy="653627"/>
          </a:xfrm>
        </p:grpSpPr>
        <p:sp>
          <p:nvSpPr>
            <p:cNvPr id="6" name="TitleBackground"/>
            <p:cNvSpPr/>
            <p:nvPr>
              <p:custDataLst>
                <p:tags r:id="rId7"/>
              </p:custDataLst>
            </p:nvPr>
          </p:nvSpPr>
          <p:spPr bwMode="auto">
            <a:xfrm>
              <a:off x="0" y="-1143000"/>
              <a:ext cx="12192000" cy="635000"/>
            </a:xfrm>
            <a:prstGeom prst="rect">
              <a:avLst/>
            </a:prstGeom>
            <a:solidFill>
              <a:srgbClr val="F6F7F8"/>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rtlCol="0" anchor="t" anchorCtr="0" compatLnSpc="1">
              <a:prstTxWarp prst="textNoShape">
                <a:avLst/>
              </a:prstTxWarp>
            </a:bodyPr>
            <a:lstStyle/>
            <a:p>
              <a:pPr defTabSz="685800"/>
              <a:endParaRPr lang="zh-CN" altLang="en-US">
                <a:latin typeface="Arial" panose="020B0604020202020204" pitchFamily="34" charset="0"/>
                <a:ea typeface="宋体" panose="02010600030101010101" pitchFamily="2" charset="-122"/>
              </a:endParaRPr>
            </a:p>
          </p:txBody>
        </p:sp>
        <p:sp>
          <p:nvSpPr>
            <p:cNvPr id="7" name="ColorBlock"/>
            <p:cNvSpPr/>
            <p:nvPr>
              <p:custDataLst>
                <p:tags r:id="rId8"/>
              </p:custDataLst>
            </p:nvPr>
          </p:nvSpPr>
          <p:spPr bwMode="auto">
            <a:xfrm>
              <a:off x="0" y="-1143000"/>
              <a:ext cx="190500" cy="635000"/>
            </a:xfrm>
            <a:prstGeom prst="rect">
              <a:avLst/>
            </a:prstGeom>
            <a:solidFill>
              <a:srgbClr val="639EF4"/>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rtlCol="0" anchor="t" anchorCtr="0" compatLnSpc="1">
              <a:prstTxWarp prst="textNoShape">
                <a:avLst/>
              </a:prstTxWarp>
            </a:bodyPr>
            <a:lstStyle/>
            <a:p>
              <a:pPr defTabSz="685800"/>
              <a:endParaRPr lang="zh-CN" altLang="en-US">
                <a:latin typeface="Arial" panose="020B0604020202020204" pitchFamily="34" charset="0"/>
                <a:ea typeface="宋体" panose="02010600030101010101" pitchFamily="2" charset="-122"/>
              </a:endParaRPr>
            </a:p>
          </p:txBody>
        </p:sp>
        <p:sp>
          <p:nvSpPr>
            <p:cNvPr id="8" name="TypeText"/>
            <p:cNvSpPr txBox="1"/>
            <p:nvPr>
              <p:custDataLst>
                <p:tags r:id="rId9"/>
              </p:custDataLst>
            </p:nvPr>
          </p:nvSpPr>
          <p:spPr>
            <a:xfrm>
              <a:off x="338667" y="-1143000"/>
              <a:ext cx="1905000" cy="635000"/>
            </a:xfrm>
            <a:prstGeom prst="rect">
              <a:avLst/>
            </a:prstGeom>
            <a:noFill/>
          </p:spPr>
          <p:txBody>
            <a:bodyPr vert="horz" wrap="none" rtlCol="0" anchor="ctr" anchorCtr="0">
              <a:noAutofit/>
            </a:bodyPr>
            <a:lstStyle/>
            <a:p>
              <a:r>
                <a:rPr lang="zh-CN" altLang="en-US" sz="195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9" name="TipText"/>
            <p:cNvSpPr txBox="1"/>
            <p:nvPr>
              <p:custDataLst>
                <p:tags r:id="rId10"/>
              </p:custDataLst>
            </p:nvPr>
          </p:nvSpPr>
          <p:spPr>
            <a:xfrm>
              <a:off x="1670473" y="-997373"/>
              <a:ext cx="2286000" cy="508000"/>
            </a:xfrm>
            <a:prstGeom prst="rect">
              <a:avLst/>
            </a:prstGeom>
            <a:noFill/>
          </p:spPr>
          <p:txBody>
            <a:bodyPr vert="horz" wrap="none" rtlCol="0" anchor="ctr" anchorCtr="0">
              <a:noAutofit/>
            </a:bodyPr>
            <a:lstStyle/>
            <a:p>
              <a:r>
                <a:rPr lang="en-US" altLang="zh-CN" sz="15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15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12" name="图片 11">
            <a:extLst>
              <a:ext uri="{FF2B5EF4-FFF2-40B4-BE49-F238E27FC236}">
                <a16:creationId xmlns:a16="http://schemas.microsoft.com/office/drawing/2014/main" id="{868EE752-04EB-4DB4-97F9-7074B28489F7}"/>
              </a:ext>
            </a:extLst>
          </p:cNvPr>
          <p:cNvPicPr>
            <a:picLocks/>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8774366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p:txBody>
              <a:bodyPr/>
              <a:lstStyle/>
              <a:p>
                <a:pPr>
                  <a:lnSpc>
                    <a:spcPct val="150000"/>
                  </a:lnSpc>
                </a:pPr>
                <a:r>
                  <a:rPr lang="zh-CN" altLang="en-US" dirty="0"/>
                  <a:t>因果性条件：</a:t>
                </a:r>
                <a:endParaRPr lang="en-US" altLang="zh-CN" dirty="0"/>
              </a:p>
              <a:p>
                <a:pPr marL="0" indent="0">
                  <a:lnSpc>
                    <a:spcPct val="150000"/>
                  </a:lnSpc>
                  <a:buNone/>
                </a:pPr>
                <a:r>
                  <a:rPr lang="zh-CN" altLang="en-US" dirty="0"/>
                  <a:t>系统的单位冲激响应：</a:t>
                </a:r>
                <a14:m>
                  <m:oMath xmlns:m="http://schemas.openxmlformats.org/officeDocument/2006/math">
                    <m:r>
                      <a:rPr lang="en-US" altLang="zh-CN" b="1" i="1" smtClean="0">
                        <a:latin typeface="Cambria Math" panose="02040503050406030204" pitchFamily="18" charset="0"/>
                      </a:rPr>
                      <m:t>𝒉</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𝒕</m:t>
                        </m:r>
                      </m:e>
                    </m:d>
                    <m:r>
                      <a:rPr lang="en-US" altLang="zh-CN" b="1" i="1" smtClean="0">
                        <a:latin typeface="Cambria Math" panose="02040503050406030204" pitchFamily="18" charset="0"/>
                      </a:rPr>
                      <m:t>=</m:t>
                    </m:r>
                    <m:r>
                      <a:rPr lang="en-US" altLang="zh-CN" b="1" i="1" smtClean="0">
                        <a:latin typeface="Cambria Math" panose="02040503050406030204" pitchFamily="18" charset="0"/>
                      </a:rPr>
                      <m:t>𝟎</m:t>
                    </m:r>
                    <m:r>
                      <a:rPr lang="en-US" altLang="zh-CN" b="1" i="1" smtClean="0">
                        <a:latin typeface="Cambria Math" panose="02040503050406030204" pitchFamily="18" charset="0"/>
                      </a:rPr>
                      <m:t>, </m:t>
                    </m:r>
                    <m:r>
                      <a:rPr lang="en-US" altLang="zh-CN" b="1" i="1" smtClean="0">
                        <a:latin typeface="Cambria Math" panose="02040503050406030204" pitchFamily="18" charset="0"/>
                      </a:rPr>
                      <m:t>𝒕</m:t>
                    </m:r>
                    <m:r>
                      <a:rPr lang="en-US" altLang="zh-CN" b="1" i="1" smtClean="0">
                        <a:latin typeface="Cambria Math" panose="02040503050406030204" pitchFamily="18" charset="0"/>
                      </a:rPr>
                      <m:t>&lt;</m:t>
                    </m:r>
                    <m:r>
                      <a:rPr lang="en-US" altLang="zh-CN" b="1" i="1" smtClean="0">
                        <a:latin typeface="Cambria Math" panose="02040503050406030204" pitchFamily="18" charset="0"/>
                      </a:rPr>
                      <m:t>𝟎</m:t>
                    </m:r>
                  </m:oMath>
                </a14:m>
                <a:endParaRPr lang="en-US" altLang="zh-CN" dirty="0"/>
              </a:p>
              <a:p>
                <a:pPr>
                  <a:lnSpc>
                    <a:spcPct val="150000"/>
                  </a:lnSpc>
                </a:pPr>
                <a:r>
                  <a:rPr lang="zh-CN" altLang="en-US" dirty="0"/>
                  <a:t>稳定性条件：</a:t>
                </a:r>
                <a:endParaRPr lang="en-US" altLang="zh-CN" dirty="0"/>
              </a:p>
              <a:p>
                <a:pPr marL="0" indent="0">
                  <a:lnSpc>
                    <a:spcPct val="150000"/>
                  </a:lnSpc>
                  <a:buNone/>
                </a:pPr>
                <a:r>
                  <a:rPr lang="zh-CN" altLang="en-US" dirty="0"/>
                  <a:t>系统的单位冲激响应：</a:t>
                </a:r>
                <a14:m>
                  <m:oMath xmlns:m="http://schemas.openxmlformats.org/officeDocument/2006/math">
                    <m:nary>
                      <m:naryPr>
                        <m:ctrlPr>
                          <a:rPr lang="zh-CN" altLang="en-US" i="1" smtClean="0">
                            <a:latin typeface="Cambria Math" panose="02040503050406030204" pitchFamily="18" charset="0"/>
                          </a:rPr>
                        </m:ctrlPr>
                      </m:naryPr>
                      <m:sub>
                        <m:r>
                          <m:rPr>
                            <m:brk m:alnAt="23"/>
                          </m:rPr>
                          <a:rPr lang="en-US" altLang="zh-CN" b="1" i="1" smtClean="0">
                            <a:latin typeface="Cambria Math" panose="02040503050406030204" pitchFamily="18" charset="0"/>
                          </a:rPr>
                          <m:t>−</m:t>
                        </m:r>
                        <m:r>
                          <a:rPr lang="en-US" altLang="zh-CN" b="1" i="1" smtClean="0">
                            <a:latin typeface="Cambria Math" panose="02040503050406030204" pitchFamily="18" charset="0"/>
                            <a:ea typeface="Cambria Math" panose="02040503050406030204" pitchFamily="18" charset="0"/>
                          </a:rPr>
                          <m:t>∞</m:t>
                        </m:r>
                      </m:sub>
                      <m:sup>
                        <m:r>
                          <a:rPr lang="en-US" altLang="zh-CN" b="1" i="1" smtClean="0">
                            <a:latin typeface="Cambria Math" panose="02040503050406030204" pitchFamily="18" charset="0"/>
                          </a:rPr>
                          <m:t>−</m:t>
                        </m:r>
                        <m:r>
                          <a:rPr lang="en-US" altLang="zh-CN" b="1" i="1" smtClean="0">
                            <a:latin typeface="Cambria Math" panose="02040503050406030204" pitchFamily="18" charset="0"/>
                            <a:ea typeface="Cambria Math" panose="02040503050406030204" pitchFamily="18" charset="0"/>
                          </a:rPr>
                          <m:t>∞</m:t>
                        </m:r>
                      </m:sup>
                      <m:e>
                        <m:d>
                          <m:dPr>
                            <m:begChr m:val="|"/>
                            <m:endChr m:val="|"/>
                            <m:ctrlPr>
                              <a:rPr lang="en-US" altLang="zh-CN" i="1" smtClean="0">
                                <a:latin typeface="Cambria Math" panose="02040503050406030204" pitchFamily="18" charset="0"/>
                              </a:rPr>
                            </m:ctrlPr>
                          </m:dPr>
                          <m:e>
                            <m:r>
                              <a:rPr lang="en-US" altLang="zh-CN" b="1" i="1" smtClean="0">
                                <a:latin typeface="Cambria Math" panose="02040503050406030204" pitchFamily="18" charset="0"/>
                              </a:rPr>
                              <m:t>𝒉</m:t>
                            </m:r>
                            <m:r>
                              <a:rPr lang="en-US" altLang="zh-CN" b="1" i="1" smtClean="0">
                                <a:latin typeface="Cambria Math" panose="02040503050406030204" pitchFamily="18" charset="0"/>
                              </a:rPr>
                              <m:t>(</m:t>
                            </m:r>
                            <m:r>
                              <a:rPr lang="en-US" altLang="zh-CN" b="1" i="1" smtClean="0">
                                <a:latin typeface="Cambria Math" panose="02040503050406030204" pitchFamily="18" charset="0"/>
                              </a:rPr>
                              <m:t>𝒕</m:t>
                            </m:r>
                            <m:r>
                              <a:rPr lang="en-US" altLang="zh-CN" b="1" i="1" smtClean="0">
                                <a:latin typeface="Cambria Math" panose="02040503050406030204" pitchFamily="18" charset="0"/>
                              </a:rPr>
                              <m:t>)</m:t>
                            </m:r>
                          </m:e>
                        </m:d>
                        <m:r>
                          <a:rPr lang="en-US" altLang="zh-CN" b="1" i="1" smtClean="0">
                            <a:latin typeface="Cambria Math" panose="02040503050406030204" pitchFamily="18" charset="0"/>
                          </a:rPr>
                          <m:t>𝒅𝒕</m:t>
                        </m:r>
                      </m:e>
                    </m:nary>
                    <m:r>
                      <a:rPr lang="en-US" altLang="zh-CN" b="1" i="1" smtClean="0">
                        <a:latin typeface="Cambria Math" panose="02040503050406030204" pitchFamily="18" charset="0"/>
                      </a:rPr>
                      <m:t>&lt;+</m:t>
                    </m:r>
                    <m:r>
                      <a:rPr lang="en-US" altLang="zh-CN" b="1" i="1" smtClean="0">
                        <a:latin typeface="Cambria Math" panose="02040503050406030204" pitchFamily="18" charset="0"/>
                        <a:ea typeface="Cambria Math" panose="02040503050406030204" pitchFamily="18" charset="0"/>
                      </a:rPr>
                      <m:t>∞</m:t>
                    </m:r>
                  </m:oMath>
                </a14:m>
                <a:endParaRPr lang="zh-CN" altLang="en-US"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blipFill>
                <a:blip r:embed="rId2"/>
                <a:stretch>
                  <a:fillRect l="-123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79460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3F9FF6-E09F-4489-BF2C-BF3EA6BFD321}"/>
              </a:ext>
            </a:extLst>
          </p:cNvPr>
          <p:cNvSpPr>
            <a:spLocks noGrp="1"/>
          </p:cNvSpPr>
          <p:nvPr>
            <p:ph type="title"/>
          </p:nvPr>
        </p:nvSpPr>
        <p:spPr/>
        <p:txBody>
          <a:bodyPr/>
          <a:lstStyle/>
          <a:p>
            <a:r>
              <a:rPr lang="en-US" altLang="zh-CN" dirty="0"/>
              <a:t>5.1 </a:t>
            </a:r>
            <a:r>
              <a:rPr lang="zh-CN" altLang="zh-CN" dirty="0"/>
              <a:t>具有随机输入的线性时不变系统</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C4CD91E-33D1-47F7-8255-3F2DFD2FA224}"/>
                  </a:ext>
                </a:extLst>
              </p:cNvPr>
              <p:cNvSpPr>
                <a:spLocks noGrp="1"/>
              </p:cNvSpPr>
              <p:nvPr>
                <p:ph idx="1"/>
              </p:nvPr>
            </p:nvSpPr>
            <p:spPr/>
            <p:txBody>
              <a:bodyPr/>
              <a:lstStyle/>
              <a:p>
                <a:pPr marL="0" indent="0">
                  <a:lnSpc>
                    <a:spcPct val="150000"/>
                  </a:lnSpc>
                  <a:buNone/>
                </a:pPr>
                <a:r>
                  <a:rPr lang="en-US" altLang="zh-CN" dirty="0">
                    <a:solidFill>
                      <a:srgbClr val="FF0000"/>
                    </a:solidFill>
                  </a:rPr>
                  <a:t>5.1.0 </a:t>
                </a:r>
                <a:r>
                  <a:rPr lang="zh-CN" altLang="zh-CN" dirty="0">
                    <a:solidFill>
                      <a:srgbClr val="FF0000"/>
                    </a:solidFill>
                  </a:rPr>
                  <a:t>线性时不变系统的表示</a:t>
                </a:r>
                <a:r>
                  <a:rPr lang="zh-CN" altLang="en-US" dirty="0"/>
                  <a:t>：</a:t>
                </a:r>
                <a:r>
                  <a:rPr lang="zh-CN" altLang="zh-CN" dirty="0"/>
                  <a:t>  因果稳定系统</a:t>
                </a:r>
              </a:p>
              <a:p>
                <a:pPr marL="0" indent="0">
                  <a:buNone/>
                </a:pPr>
                <a:r>
                  <a:rPr lang="en-US" altLang="zh-CN" dirty="0">
                    <a:solidFill>
                      <a:schemeClr val="accent2"/>
                    </a:solidFill>
                  </a:rPr>
                  <a:t>1</a:t>
                </a:r>
                <a:r>
                  <a:rPr lang="zh-CN" altLang="en-US" dirty="0">
                    <a:solidFill>
                      <a:schemeClr val="accent2"/>
                    </a:solidFill>
                  </a:rPr>
                  <a:t>、</a:t>
                </a:r>
                <a:r>
                  <a:rPr lang="zh-CN" altLang="zh-CN" dirty="0">
                    <a:solidFill>
                      <a:schemeClr val="accent2"/>
                    </a:solidFill>
                  </a:rPr>
                  <a:t>单位冲激响应 </a:t>
                </a: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𝜹</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𝒉</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oMath>
                    <m:oMath xmlns:m="http://schemas.openxmlformats.org/officeDocument/2006/math">
                      <m:r>
                        <a:rPr lang="en-US" altLang="zh-CN" i="1">
                          <a:latin typeface="Cambria Math" panose="02040503050406030204" pitchFamily="18" charset="0"/>
                        </a:rPr>
                        <m:t>𝒙</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𝒚</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𝒉</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𝒙</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nary>
                        <m:naryPr>
                          <m:ctrlPr>
                            <a:rPr lang="zh-CN" altLang="zh-CN" i="1">
                              <a:latin typeface="Cambria Math" panose="02040503050406030204" pitchFamily="18" charset="0"/>
                            </a:rPr>
                          </m:ctrlPr>
                        </m:naryPr>
                        <m:sub>
                          <m:r>
                            <a:rPr lang="en-US" altLang="zh-CN" i="1">
                              <a:latin typeface="Cambria Math" panose="02040503050406030204" pitchFamily="18" charset="0"/>
                            </a:rPr>
                            <m:t>−∞</m:t>
                          </m:r>
                        </m:sub>
                        <m:sup>
                          <m:r>
                            <a:rPr lang="en-US" altLang="zh-CN" i="1">
                              <a:latin typeface="Cambria Math" panose="02040503050406030204" pitchFamily="18" charset="0"/>
                            </a:rPr>
                            <m:t>∞</m:t>
                          </m:r>
                        </m:sup>
                        <m:e>
                          <m:r>
                            <a:rPr lang="en-US" altLang="zh-CN" i="1">
                              <a:latin typeface="Cambria Math" panose="02040503050406030204" pitchFamily="18" charset="0"/>
                            </a:rPr>
                            <m:t>𝒉</m:t>
                          </m:r>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r>
                            <a:rPr lang="en-US" altLang="zh-CN" i="1">
                              <a:latin typeface="Cambria Math" panose="02040503050406030204" pitchFamily="18" charset="0"/>
                            </a:rPr>
                            <m:t>𝒙</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r>
                            <a:rPr lang="en-US" altLang="zh-CN" i="1">
                              <a:latin typeface="Cambria Math" panose="02040503050406030204" pitchFamily="18" charset="0"/>
                            </a:rPr>
                            <m:t>𝒅</m:t>
                          </m:r>
                          <m:r>
                            <a:rPr lang="en-US" altLang="zh-CN" i="1">
                              <a:latin typeface="Cambria Math" panose="02040503050406030204" pitchFamily="18" charset="0"/>
                            </a:rPr>
                            <m:t>𝝉</m:t>
                          </m:r>
                          <m:r>
                            <a:rPr lang="en-US" altLang="zh-CN" i="1">
                              <a:latin typeface="Cambria Math" panose="02040503050406030204" pitchFamily="18" charset="0"/>
                            </a:rPr>
                            <m:t>=</m:t>
                          </m:r>
                        </m:e>
                      </m:nary>
                      <m:nary>
                        <m:naryPr>
                          <m:ctrlPr>
                            <a:rPr lang="zh-CN" altLang="zh-CN" i="1">
                              <a:latin typeface="Cambria Math" panose="02040503050406030204" pitchFamily="18" charset="0"/>
                            </a:rPr>
                          </m:ctrlPr>
                        </m:naryPr>
                        <m:sub>
                          <m:r>
                            <a:rPr lang="en-US" altLang="zh-CN" i="1">
                              <a:latin typeface="Cambria Math" panose="02040503050406030204" pitchFamily="18" charset="0"/>
                            </a:rPr>
                            <m:t>−∞</m:t>
                          </m:r>
                        </m:sub>
                        <m:sup>
                          <m:r>
                            <a:rPr lang="en-US" altLang="zh-CN" i="1">
                              <a:latin typeface="Cambria Math" panose="02040503050406030204" pitchFamily="18" charset="0"/>
                            </a:rPr>
                            <m:t>∞</m:t>
                          </m:r>
                        </m:sup>
                        <m:e>
                          <m:r>
                            <a:rPr lang="en-US" altLang="zh-CN" i="1">
                              <a:latin typeface="Cambria Math" panose="02040503050406030204" pitchFamily="18" charset="0"/>
                            </a:rPr>
                            <m:t>𝒙</m:t>
                          </m:r>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r>
                            <a:rPr lang="en-US" altLang="zh-CN" i="1">
                              <a:latin typeface="Cambria Math" panose="02040503050406030204" pitchFamily="18" charset="0"/>
                            </a:rPr>
                            <m:t>𝒉</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r>
                            <a:rPr lang="en-US" altLang="zh-CN" i="1">
                              <a:latin typeface="Cambria Math" panose="02040503050406030204" pitchFamily="18" charset="0"/>
                            </a:rPr>
                            <m:t>𝒅</m:t>
                          </m:r>
                          <m:r>
                            <a:rPr lang="en-US" altLang="zh-CN" i="1">
                              <a:latin typeface="Cambria Math" panose="02040503050406030204" pitchFamily="18" charset="0"/>
                            </a:rPr>
                            <m:t>𝝉</m:t>
                          </m:r>
                        </m:e>
                      </m:nary>
                    </m:oMath>
                  </m:oMathPara>
                </a14:m>
                <a:endParaRPr lang="zh-CN" altLang="zh-CN" dirty="0"/>
              </a:p>
              <a:p>
                <a:r>
                  <a:rPr lang="zh-CN" altLang="zh-CN" dirty="0"/>
                  <a:t>离散时</a:t>
                </a:r>
                <a:r>
                  <a:rPr lang="en-US" altLang="zh-CN" dirty="0"/>
                  <a:t>  </a:t>
                </a:r>
                <a14:m>
                  <m:oMath xmlns:m="http://schemas.openxmlformats.org/officeDocument/2006/math">
                    <m:r>
                      <a:rPr lang="en-US" altLang="zh-CN" i="1">
                        <a:latin typeface="Cambria Math" panose="02040503050406030204" pitchFamily="18" charset="0"/>
                      </a:rPr>
                      <m:t>𝒚</m:t>
                    </m:r>
                    <m:r>
                      <a:rPr lang="en-US" altLang="zh-CN" i="1">
                        <a:latin typeface="Cambria Math" panose="02040503050406030204" pitchFamily="18" charset="0"/>
                      </a:rPr>
                      <m:t>(</m:t>
                    </m:r>
                    <m:r>
                      <a:rPr lang="en-US" altLang="zh-CN" i="1">
                        <a:latin typeface="Cambria Math" panose="02040503050406030204" pitchFamily="18" charset="0"/>
                      </a:rPr>
                      <m:t>𝒏</m:t>
                    </m:r>
                    <m:r>
                      <a:rPr lang="en-US" altLang="zh-CN" i="1">
                        <a:latin typeface="Cambria Math" panose="02040503050406030204" pitchFamily="18" charset="0"/>
                      </a:rPr>
                      <m:t>)=</m:t>
                    </m:r>
                    <m:r>
                      <a:rPr lang="en-US" altLang="zh-CN" i="1">
                        <a:latin typeface="Cambria Math" panose="02040503050406030204" pitchFamily="18" charset="0"/>
                      </a:rPr>
                      <m:t>𝒙</m:t>
                    </m:r>
                    <m:r>
                      <a:rPr lang="en-US" altLang="zh-CN" i="1">
                        <a:latin typeface="Cambria Math" panose="02040503050406030204" pitchFamily="18" charset="0"/>
                      </a:rPr>
                      <m:t>(</m:t>
                    </m:r>
                    <m:r>
                      <a:rPr lang="en-US" altLang="zh-CN" i="1">
                        <a:latin typeface="Cambria Math" panose="02040503050406030204" pitchFamily="18" charset="0"/>
                      </a:rPr>
                      <m:t>𝒏</m:t>
                    </m:r>
                    <m:r>
                      <a:rPr lang="en-US" altLang="zh-CN" i="1">
                        <a:latin typeface="Cambria Math" panose="02040503050406030204" pitchFamily="18" charset="0"/>
                      </a:rPr>
                      <m:t>)∗</m:t>
                    </m:r>
                    <m:r>
                      <a:rPr lang="en-US" altLang="zh-CN" i="1">
                        <a:latin typeface="Cambria Math" panose="02040503050406030204" pitchFamily="18" charset="0"/>
                      </a:rPr>
                      <m:t>𝒉</m:t>
                    </m:r>
                    <m:r>
                      <a:rPr lang="en-US" altLang="zh-CN" i="1">
                        <a:latin typeface="Cambria Math" panose="02040503050406030204" pitchFamily="18" charset="0"/>
                      </a:rPr>
                      <m:t>(</m:t>
                    </m:r>
                    <m:r>
                      <a:rPr lang="en-US" altLang="zh-CN" i="1">
                        <a:latin typeface="Cambria Math" panose="02040503050406030204" pitchFamily="18" charset="0"/>
                      </a:rPr>
                      <m:t>𝒏</m:t>
                    </m:r>
                    <m:r>
                      <a:rPr lang="en-US" altLang="zh-CN" i="1">
                        <a:latin typeface="Cambria Math" panose="02040503050406030204" pitchFamily="18" charset="0"/>
                      </a:rPr>
                      <m:t>)=</m:t>
                    </m:r>
                    <m:nary>
                      <m:naryPr>
                        <m:chr m:val="∑"/>
                        <m:supHide m:val="on"/>
                        <m:ctrlPr>
                          <a:rPr lang="zh-CN" altLang="zh-CN" i="1">
                            <a:latin typeface="Cambria Math" panose="02040503050406030204" pitchFamily="18" charset="0"/>
                          </a:rPr>
                        </m:ctrlPr>
                      </m:naryPr>
                      <m:sub>
                        <m:r>
                          <a:rPr lang="en-US" altLang="zh-CN" i="1">
                            <a:latin typeface="Cambria Math" panose="02040503050406030204" pitchFamily="18" charset="0"/>
                          </a:rPr>
                          <m:t>𝒎</m:t>
                        </m:r>
                      </m:sub>
                      <m:sup/>
                      <m:e>
                        <m:r>
                          <a:rPr lang="en-US" altLang="zh-CN" i="1">
                            <a:latin typeface="Cambria Math" panose="02040503050406030204" pitchFamily="18" charset="0"/>
                          </a:rPr>
                          <m:t>𝒙</m:t>
                        </m:r>
                        <m:r>
                          <a:rPr lang="en-US" altLang="zh-CN" i="1">
                            <a:latin typeface="Cambria Math" panose="02040503050406030204" pitchFamily="18" charset="0"/>
                          </a:rPr>
                          <m:t>(</m:t>
                        </m:r>
                        <m:r>
                          <a:rPr lang="en-US" altLang="zh-CN" i="1">
                            <a:latin typeface="Cambria Math" panose="02040503050406030204" pitchFamily="18" charset="0"/>
                          </a:rPr>
                          <m:t>𝒎</m:t>
                        </m:r>
                        <m:r>
                          <a:rPr lang="en-US" altLang="zh-CN" i="1">
                            <a:latin typeface="Cambria Math" panose="02040503050406030204" pitchFamily="18" charset="0"/>
                          </a:rPr>
                          <m:t>)</m:t>
                        </m:r>
                        <m:r>
                          <a:rPr lang="en-US" altLang="zh-CN" i="1">
                            <a:latin typeface="Cambria Math" panose="02040503050406030204" pitchFamily="18" charset="0"/>
                          </a:rPr>
                          <m:t>𝒉</m:t>
                        </m:r>
                        <m:r>
                          <a:rPr lang="en-US" altLang="zh-CN" i="1">
                            <a:latin typeface="Cambria Math" panose="02040503050406030204" pitchFamily="18" charset="0"/>
                          </a:rPr>
                          <m:t>(</m:t>
                        </m:r>
                        <m:r>
                          <a:rPr lang="en-US" altLang="zh-CN" i="1">
                            <a:latin typeface="Cambria Math" panose="02040503050406030204" pitchFamily="18" charset="0"/>
                          </a:rPr>
                          <m:t>𝒏</m:t>
                        </m:r>
                        <m:r>
                          <a:rPr lang="en-US" altLang="zh-CN" i="1">
                            <a:latin typeface="Cambria Math" panose="02040503050406030204" pitchFamily="18" charset="0"/>
                          </a:rPr>
                          <m:t>−</m:t>
                        </m:r>
                        <m:r>
                          <a:rPr lang="en-US" altLang="zh-CN" i="1">
                            <a:latin typeface="Cambria Math" panose="02040503050406030204" pitchFamily="18" charset="0"/>
                          </a:rPr>
                          <m:t>𝒎</m:t>
                        </m:r>
                        <m:r>
                          <a:rPr lang="en-US" altLang="zh-CN" i="1">
                            <a:latin typeface="Cambria Math" panose="02040503050406030204" pitchFamily="18" charset="0"/>
                          </a:rPr>
                          <m:t>)</m:t>
                        </m:r>
                      </m:e>
                    </m:nary>
                  </m:oMath>
                </a14:m>
                <a:endParaRPr lang="zh-CN" altLang="zh-CN" dirty="0"/>
              </a:p>
              <a:p>
                <a:pPr marL="0" indent="0">
                  <a:buNone/>
                </a:pPr>
                <a:endParaRPr lang="zh-CN" altLang="en-US" dirty="0"/>
              </a:p>
            </p:txBody>
          </p:sp>
        </mc:Choice>
        <mc:Fallback xmlns="">
          <p:sp>
            <p:nvSpPr>
              <p:cNvPr id="3" name="内容占位符 2">
                <a:extLst>
                  <a:ext uri="{FF2B5EF4-FFF2-40B4-BE49-F238E27FC236}">
                    <a16:creationId xmlns:a16="http://schemas.microsoft.com/office/drawing/2014/main" id="{8C4CD91E-33D1-47F7-8255-3F2DFD2FA224}"/>
                  </a:ext>
                </a:extLst>
              </p:cNvPr>
              <p:cNvSpPr>
                <a:spLocks noGrp="1" noRot="1" noChangeAspect="1" noMove="1" noResize="1" noEditPoints="1" noAdjustHandles="1" noChangeArrowheads="1" noChangeShapeType="1" noTextEdit="1"/>
              </p:cNvSpPr>
              <p:nvPr>
                <p:ph idx="1"/>
              </p:nvPr>
            </p:nvSpPr>
            <p:spPr>
              <a:blipFill>
                <a:blip r:embed="rId2"/>
                <a:stretch>
                  <a:fillRect l="-123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793493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3">
                <a:extLst>
                  <a:ext uri="{FF2B5EF4-FFF2-40B4-BE49-F238E27FC236}">
                    <a16:creationId xmlns:a16="http://schemas.microsoft.com/office/drawing/2014/main" id="{69F53A74-A732-48C5-A955-5BBD24032427}"/>
                  </a:ext>
                </a:extLst>
              </p:cNvPr>
              <p:cNvSpPr>
                <a:spLocks noGrp="1"/>
              </p:cNvSpPr>
              <p:nvPr>
                <p:ph idx="1"/>
              </p:nvPr>
            </p:nvSpPr>
            <p:spPr/>
            <p:txBody>
              <a:bodyPr/>
              <a:lstStyle/>
              <a:p>
                <a:pPr marL="0" indent="0">
                  <a:lnSpc>
                    <a:spcPct val="150000"/>
                  </a:lnSpc>
                  <a:buNone/>
                </a:pPr>
                <a:r>
                  <a:rPr lang="x-none" altLang="zh-CN" dirty="0">
                    <a:solidFill>
                      <a:schemeClr val="accent2"/>
                    </a:solidFill>
                  </a:rPr>
                  <a:t>2.  </a:t>
                </a:r>
                <a:r>
                  <a:rPr lang="zh-CN" altLang="en-US" dirty="0">
                    <a:solidFill>
                      <a:schemeClr val="accent2"/>
                    </a:solidFill>
                  </a:rPr>
                  <a:t>频率</a:t>
                </a:r>
                <a:r>
                  <a:rPr lang="zh-CN" altLang="zh-CN" dirty="0">
                    <a:solidFill>
                      <a:schemeClr val="accent2"/>
                    </a:solidFill>
                  </a:rPr>
                  <a:t>传输函数</a:t>
                </a:r>
                <a:r>
                  <a:rPr lang="zh-CN" altLang="en-US" dirty="0">
                    <a:solidFill>
                      <a:schemeClr val="accent2"/>
                    </a:solidFill>
                  </a:rPr>
                  <a:t>（频率响应）</a:t>
                </a:r>
                <a:endParaRPr lang="zh-CN" altLang="zh-CN" dirty="0">
                  <a:solidFill>
                    <a:schemeClr val="accent2"/>
                  </a:solidFill>
                </a:endParaRPr>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𝑯</m:t>
                      </m:r>
                      <m:r>
                        <a:rPr lang="en-US" altLang="zh-CN" i="1">
                          <a:latin typeface="Cambria Math" panose="02040503050406030204" pitchFamily="18" charset="0"/>
                        </a:rPr>
                        <m:t>(</m:t>
                      </m:r>
                      <m:r>
                        <a:rPr lang="en-US" altLang="zh-CN" b="1" i="1" smtClean="0">
                          <a:latin typeface="Cambria Math" panose="02040503050406030204" pitchFamily="18" charset="0"/>
                        </a:rPr>
                        <m:t>𝒋</m:t>
                      </m:r>
                      <m:r>
                        <a:rPr lang="en-US" altLang="zh-CN" i="1">
                          <a:latin typeface="Cambria Math" panose="02040503050406030204" pitchFamily="18" charset="0"/>
                        </a:rPr>
                        <m:t>𝝎</m:t>
                      </m:r>
                      <m:r>
                        <a:rPr lang="en-US" altLang="zh-CN" i="1">
                          <a:latin typeface="Cambria Math" panose="02040503050406030204" pitchFamily="18" charset="0"/>
                        </a:rPr>
                        <m:t>)=</m:t>
                      </m:r>
                      <m:nary>
                        <m:naryPr>
                          <m:ctrlPr>
                            <a:rPr lang="zh-CN" altLang="zh-CN" i="1">
                              <a:latin typeface="Cambria Math" panose="02040503050406030204" pitchFamily="18" charset="0"/>
                            </a:rPr>
                          </m:ctrlPr>
                        </m:naryPr>
                        <m:sub>
                          <m:r>
                            <a:rPr lang="en-US" altLang="zh-CN" i="1">
                              <a:latin typeface="Cambria Math" panose="02040503050406030204" pitchFamily="18" charset="0"/>
                            </a:rPr>
                            <m:t>−∞</m:t>
                          </m:r>
                        </m:sub>
                        <m:sup>
                          <m:r>
                            <a:rPr lang="en-US" altLang="zh-CN" i="1">
                              <a:latin typeface="Cambria Math" panose="02040503050406030204" pitchFamily="18" charset="0"/>
                            </a:rPr>
                            <m:t>∞</m:t>
                          </m:r>
                        </m:sup>
                        <m:e>
                          <m:r>
                            <a:rPr lang="en-US" altLang="zh-CN" i="1">
                              <a:latin typeface="Cambria Math" panose="02040503050406030204" pitchFamily="18" charset="0"/>
                            </a:rPr>
                            <m:t>𝒉</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𝒆</m:t>
                              </m:r>
                            </m:e>
                            <m:sup>
                              <m:r>
                                <a:rPr lang="en-US" altLang="zh-CN" i="1">
                                  <a:latin typeface="Cambria Math" panose="02040503050406030204" pitchFamily="18" charset="0"/>
                                </a:rPr>
                                <m:t>−</m:t>
                              </m:r>
                              <m:r>
                                <a:rPr lang="en-US" altLang="zh-CN" i="1">
                                  <a:latin typeface="Cambria Math" panose="02040503050406030204" pitchFamily="18" charset="0"/>
                                </a:rPr>
                                <m:t>𝒋</m:t>
                              </m:r>
                              <m:r>
                                <a:rPr lang="en-US" altLang="zh-CN" i="1">
                                  <a:latin typeface="Cambria Math" panose="02040503050406030204" pitchFamily="18" charset="0"/>
                                </a:rPr>
                                <m:t>𝝎</m:t>
                              </m:r>
                              <m:r>
                                <a:rPr lang="en-US" altLang="zh-CN" i="1">
                                  <a:latin typeface="Cambria Math" panose="02040503050406030204" pitchFamily="18" charset="0"/>
                                </a:rPr>
                                <m:t>𝒕</m:t>
                              </m:r>
                            </m:sup>
                          </m:sSup>
                          <m:r>
                            <a:rPr lang="en-US" altLang="zh-CN" i="1">
                              <a:latin typeface="Cambria Math" panose="02040503050406030204" pitchFamily="18" charset="0"/>
                            </a:rPr>
                            <m:t>𝒅𝒕</m:t>
                          </m:r>
                          <m:r>
                            <a:rPr lang="en-US" altLang="zh-CN" i="1">
                              <a:latin typeface="Cambria Math" panose="02040503050406030204" pitchFamily="18" charset="0"/>
                            </a:rPr>
                            <m:t>,</m:t>
                          </m:r>
                          <m:r>
                            <m:rPr>
                              <m:nor/>
                            </m:rPr>
                            <a:rPr lang="en-US" altLang="zh-CN"/>
                            <m:t> </m:t>
                          </m:r>
                        </m:e>
                      </m:nary>
                    </m:oMath>
                  </m:oMathPara>
                </a14:m>
                <a:endParaRPr lang="en-US" altLang="zh-CN" dirty="0"/>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𝒀</m:t>
                      </m:r>
                      <m:r>
                        <a:rPr lang="en-US" altLang="zh-CN">
                          <a:latin typeface="Cambria Math" panose="02040503050406030204" pitchFamily="18" charset="0"/>
                        </a:rPr>
                        <m:t>(</m:t>
                      </m:r>
                      <m:r>
                        <a:rPr lang="en-US" altLang="zh-CN" b="1" i="1" smtClean="0">
                          <a:latin typeface="Cambria Math" panose="02040503050406030204" pitchFamily="18" charset="0"/>
                        </a:rPr>
                        <m:t>𝒋</m:t>
                      </m:r>
                      <m:r>
                        <a:rPr lang="en-US" altLang="zh-CN" i="1">
                          <a:latin typeface="Cambria Math" panose="02040503050406030204" pitchFamily="18" charset="0"/>
                        </a:rPr>
                        <m:t>𝝎</m:t>
                      </m:r>
                      <m:r>
                        <a:rPr lang="en-US" altLang="zh-CN">
                          <a:latin typeface="Cambria Math" panose="02040503050406030204" pitchFamily="18" charset="0"/>
                        </a:rPr>
                        <m:t>)=</m:t>
                      </m:r>
                      <m:r>
                        <a:rPr lang="en-US" altLang="zh-CN" i="1">
                          <a:latin typeface="Cambria Math" panose="02040503050406030204" pitchFamily="18" charset="0"/>
                        </a:rPr>
                        <m:t>𝑯</m:t>
                      </m:r>
                      <m:r>
                        <a:rPr lang="en-US" altLang="zh-CN">
                          <a:latin typeface="Cambria Math" panose="02040503050406030204" pitchFamily="18" charset="0"/>
                        </a:rPr>
                        <m:t>(</m:t>
                      </m:r>
                      <m:r>
                        <a:rPr lang="en-US" altLang="zh-CN" b="1" i="1" smtClean="0">
                          <a:latin typeface="Cambria Math" panose="02040503050406030204" pitchFamily="18" charset="0"/>
                        </a:rPr>
                        <m:t>𝒋</m:t>
                      </m:r>
                      <m:r>
                        <a:rPr lang="en-US" altLang="zh-CN" i="1">
                          <a:latin typeface="Cambria Math" panose="02040503050406030204" pitchFamily="18" charset="0"/>
                        </a:rPr>
                        <m:t>𝝎</m:t>
                      </m:r>
                      <m:r>
                        <a:rPr lang="en-US" altLang="zh-CN">
                          <a:latin typeface="Cambria Math" panose="02040503050406030204" pitchFamily="18" charset="0"/>
                        </a:rPr>
                        <m:t>)</m:t>
                      </m:r>
                      <m:r>
                        <a:rPr lang="en-US" altLang="zh-CN" i="1">
                          <a:latin typeface="Cambria Math" panose="02040503050406030204" pitchFamily="18" charset="0"/>
                        </a:rPr>
                        <m:t>𝑿</m:t>
                      </m:r>
                      <m:r>
                        <a:rPr lang="en-US" altLang="zh-CN">
                          <a:latin typeface="Cambria Math" panose="02040503050406030204" pitchFamily="18" charset="0"/>
                        </a:rPr>
                        <m:t>(</m:t>
                      </m:r>
                      <m:r>
                        <a:rPr lang="en-US" altLang="zh-CN" b="1" i="1" smtClean="0">
                          <a:latin typeface="Cambria Math" panose="02040503050406030204" pitchFamily="18" charset="0"/>
                        </a:rPr>
                        <m:t>𝒋</m:t>
                      </m:r>
                      <m:r>
                        <a:rPr lang="en-US" altLang="zh-CN" i="1">
                          <a:latin typeface="Cambria Math" panose="02040503050406030204" pitchFamily="18" charset="0"/>
                        </a:rPr>
                        <m:t>𝝎</m:t>
                      </m:r>
                      <m:r>
                        <a:rPr lang="en-US" altLang="zh-CN">
                          <a:latin typeface="Cambria Math" panose="02040503050406030204" pitchFamily="18" charset="0"/>
                        </a:rPr>
                        <m:t>)</m:t>
                      </m:r>
                    </m:oMath>
                  </m:oMathPara>
                </a14:m>
                <a:endParaRPr lang="zh-CN" altLang="zh-CN" dirty="0"/>
              </a:p>
              <a:p>
                <a:pPr>
                  <a:lnSpc>
                    <a:spcPct val="150000"/>
                  </a:lnSpc>
                  <a:buFont typeface="Arial" panose="020B0604020202020204" pitchFamily="34" charset="0"/>
                  <a:buChar char="•"/>
                </a:pPr>
                <a:r>
                  <a:rPr lang="zh-CN" altLang="zh-CN" dirty="0"/>
                  <a:t>离散时</a:t>
                </a:r>
                <a:r>
                  <a:rPr lang="en-US" altLang="zh-CN" dirty="0"/>
                  <a:t> </a:t>
                </a:r>
              </a:p>
              <a:p>
                <a:pPr marL="0" indent="0" algn="ctr">
                  <a:lnSpc>
                    <a:spcPct val="150000"/>
                  </a:lnSpc>
                  <a:buNone/>
                </a:pPr>
                <a:r>
                  <a:rPr lang="en-US" altLang="zh-CN" dirty="0"/>
                  <a:t> </a:t>
                </a:r>
                <a14:m>
                  <m:oMath xmlns:m="http://schemas.openxmlformats.org/officeDocument/2006/math">
                    <m:r>
                      <a:rPr lang="en-US" altLang="zh-CN" i="1">
                        <a:latin typeface="Cambria Math" panose="02040503050406030204" pitchFamily="18" charset="0"/>
                      </a:rPr>
                      <m:t>𝑯</m:t>
                    </m:r>
                    <m:r>
                      <a:rPr lang="en-US" altLang="zh-CN" i="1">
                        <a:latin typeface="Cambria Math" panose="02040503050406030204" pitchFamily="18" charset="0"/>
                      </a:rPr>
                      <m:t>(</m:t>
                    </m:r>
                    <m:sSup>
                      <m:sSupPr>
                        <m:ctrlPr>
                          <a:rPr lang="en-US" altLang="zh-CN" i="1" smtClean="0">
                            <a:latin typeface="Cambria Math" panose="02040503050406030204" pitchFamily="18" charset="0"/>
                          </a:rPr>
                        </m:ctrlPr>
                      </m:sSupPr>
                      <m:e>
                        <m:r>
                          <a:rPr lang="en-US" altLang="zh-CN" b="1" i="1" smtClean="0">
                            <a:latin typeface="Cambria Math" panose="02040503050406030204" pitchFamily="18" charset="0"/>
                          </a:rPr>
                          <m:t>𝒆</m:t>
                        </m:r>
                      </m:e>
                      <m:sup>
                        <m:r>
                          <a:rPr lang="en-US" altLang="zh-CN" i="1">
                            <a:latin typeface="Cambria Math" panose="02040503050406030204" pitchFamily="18" charset="0"/>
                          </a:rPr>
                          <m:t>𝒋</m:t>
                        </m:r>
                        <m:r>
                          <a:rPr lang="en-US" altLang="zh-CN" i="1">
                            <a:latin typeface="Cambria Math" panose="02040503050406030204" pitchFamily="18" charset="0"/>
                          </a:rPr>
                          <m:t>𝝎</m:t>
                        </m:r>
                      </m:sup>
                    </m:sSup>
                    <m:r>
                      <a:rPr lang="en-US" altLang="zh-CN" i="1">
                        <a:latin typeface="Cambria Math" panose="02040503050406030204" pitchFamily="18" charset="0"/>
                      </a:rPr>
                      <m:t>)=</m:t>
                    </m:r>
                    <m:nary>
                      <m:naryPr>
                        <m:chr m:val="∑"/>
                        <m:supHide m:val="on"/>
                        <m:ctrlPr>
                          <a:rPr lang="zh-CN" altLang="zh-CN" i="1">
                            <a:latin typeface="Cambria Math" panose="02040503050406030204" pitchFamily="18" charset="0"/>
                          </a:rPr>
                        </m:ctrlPr>
                      </m:naryPr>
                      <m:sub>
                        <m:r>
                          <a:rPr lang="en-US" altLang="zh-CN" i="1">
                            <a:latin typeface="Cambria Math" panose="02040503050406030204" pitchFamily="18" charset="0"/>
                          </a:rPr>
                          <m:t>𝒏</m:t>
                        </m:r>
                      </m:sub>
                      <m:sup/>
                      <m:e>
                        <m:r>
                          <a:rPr lang="en-US" altLang="zh-CN" i="1">
                            <a:latin typeface="Cambria Math" panose="02040503050406030204" pitchFamily="18" charset="0"/>
                          </a:rPr>
                          <m:t>𝒉</m:t>
                        </m:r>
                        <m:r>
                          <a:rPr lang="en-US" altLang="zh-CN" i="1">
                            <a:latin typeface="Cambria Math" panose="02040503050406030204" pitchFamily="18" charset="0"/>
                          </a:rPr>
                          <m:t>(</m:t>
                        </m:r>
                        <m:r>
                          <a:rPr lang="en-US" altLang="zh-CN" i="1">
                            <a:latin typeface="Cambria Math" panose="02040503050406030204" pitchFamily="18" charset="0"/>
                          </a:rPr>
                          <m:t>𝒏</m:t>
                        </m:r>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𝒆</m:t>
                            </m:r>
                          </m:e>
                          <m:sup>
                            <m:r>
                              <a:rPr lang="en-US" altLang="zh-CN" i="1">
                                <a:latin typeface="Cambria Math" panose="02040503050406030204" pitchFamily="18" charset="0"/>
                              </a:rPr>
                              <m:t>𝒋</m:t>
                            </m:r>
                            <m:r>
                              <a:rPr lang="en-US" altLang="zh-CN" i="1">
                                <a:latin typeface="Cambria Math" panose="02040503050406030204" pitchFamily="18" charset="0"/>
                              </a:rPr>
                              <m:t>𝝎</m:t>
                            </m:r>
                            <m:r>
                              <a:rPr lang="en-US" altLang="zh-CN" i="1">
                                <a:latin typeface="Cambria Math" panose="02040503050406030204" pitchFamily="18" charset="0"/>
                              </a:rPr>
                              <m:t>𝒏</m:t>
                            </m:r>
                          </m:sup>
                        </m:sSup>
                      </m:e>
                    </m:nary>
                  </m:oMath>
                </a14:m>
                <a:endParaRPr lang="en-US" altLang="zh-CN" dirty="0"/>
              </a:p>
              <a:p>
                <a:pPr marL="0" indent="0" algn="ctr">
                  <a:lnSpc>
                    <a:spcPct val="150000"/>
                  </a:lnSpc>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𝒀</m:t>
                      </m:r>
                      <m:r>
                        <a:rPr lang="en-US" altLang="zh-CN">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𝒆</m:t>
                          </m:r>
                        </m:e>
                        <m:sup>
                          <m:r>
                            <a:rPr lang="en-US" altLang="zh-CN" i="1">
                              <a:latin typeface="Cambria Math" panose="02040503050406030204" pitchFamily="18" charset="0"/>
                            </a:rPr>
                            <m:t>𝒋</m:t>
                          </m:r>
                          <m:r>
                            <a:rPr lang="en-US" altLang="zh-CN" i="1">
                              <a:latin typeface="Cambria Math" panose="02040503050406030204" pitchFamily="18" charset="0"/>
                            </a:rPr>
                            <m:t>𝝎</m:t>
                          </m:r>
                        </m:sup>
                      </m:sSup>
                      <m:r>
                        <a:rPr lang="en-US" altLang="zh-CN">
                          <a:latin typeface="Cambria Math" panose="02040503050406030204" pitchFamily="18" charset="0"/>
                        </a:rPr>
                        <m:t>)=</m:t>
                      </m:r>
                      <m:r>
                        <a:rPr lang="en-US" altLang="zh-CN" i="1">
                          <a:latin typeface="Cambria Math" panose="02040503050406030204" pitchFamily="18" charset="0"/>
                        </a:rPr>
                        <m:t>𝑿</m:t>
                      </m:r>
                      <m:r>
                        <a:rPr lang="en-US" altLang="zh-CN">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𝒆</m:t>
                          </m:r>
                        </m:e>
                        <m:sup>
                          <m:r>
                            <a:rPr lang="en-US" altLang="zh-CN" i="1">
                              <a:latin typeface="Cambria Math" panose="02040503050406030204" pitchFamily="18" charset="0"/>
                            </a:rPr>
                            <m:t>𝒋</m:t>
                          </m:r>
                          <m:r>
                            <a:rPr lang="en-US" altLang="zh-CN" i="1">
                              <a:latin typeface="Cambria Math" panose="02040503050406030204" pitchFamily="18" charset="0"/>
                            </a:rPr>
                            <m:t>𝝎</m:t>
                          </m:r>
                        </m:sup>
                      </m:sSup>
                      <m:r>
                        <a:rPr lang="en-US" altLang="zh-CN">
                          <a:latin typeface="Cambria Math" panose="02040503050406030204" pitchFamily="18" charset="0"/>
                        </a:rPr>
                        <m:t>)</m:t>
                      </m:r>
                      <m:r>
                        <a:rPr lang="en-US" altLang="zh-CN" i="1">
                          <a:latin typeface="Cambria Math" panose="02040503050406030204" pitchFamily="18" charset="0"/>
                        </a:rPr>
                        <m:t>𝑯</m:t>
                      </m:r>
                      <m:r>
                        <a:rPr lang="en-US" altLang="zh-CN">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𝒆</m:t>
                          </m:r>
                        </m:e>
                        <m:sup>
                          <m:r>
                            <a:rPr lang="en-US" altLang="zh-CN" i="1">
                              <a:latin typeface="Cambria Math" panose="02040503050406030204" pitchFamily="18" charset="0"/>
                            </a:rPr>
                            <m:t>𝒋</m:t>
                          </m:r>
                          <m:r>
                            <a:rPr lang="en-US" altLang="zh-CN" i="1">
                              <a:latin typeface="Cambria Math" panose="02040503050406030204" pitchFamily="18" charset="0"/>
                            </a:rPr>
                            <m:t>𝝎</m:t>
                          </m:r>
                        </m:sup>
                      </m:sSup>
                      <m:r>
                        <a:rPr lang="en-US" altLang="zh-CN">
                          <a:latin typeface="Cambria Math" panose="02040503050406030204" pitchFamily="18" charset="0"/>
                        </a:rPr>
                        <m:t>)</m:t>
                      </m:r>
                    </m:oMath>
                  </m:oMathPara>
                </a14:m>
                <a:endParaRPr lang="zh-CN" altLang="zh-CN" dirty="0"/>
              </a:p>
              <a:p>
                <a:pPr marL="0" indent="0" algn="ctr">
                  <a:lnSpc>
                    <a:spcPct val="150000"/>
                  </a:lnSpc>
                  <a:buNone/>
                </a:pPr>
                <a:endParaRPr lang="en-US" altLang="zh-CN" dirty="0"/>
              </a:p>
              <a:p>
                <a:pPr marL="0" indent="0">
                  <a:buNone/>
                </a:pPr>
                <a:endParaRPr lang="zh-CN" altLang="en-US" dirty="0"/>
              </a:p>
            </p:txBody>
          </p:sp>
        </mc:Choice>
        <mc:Fallback xmlns="">
          <p:sp>
            <p:nvSpPr>
              <p:cNvPr id="4" name="内容占位符 3">
                <a:extLst>
                  <a:ext uri="{FF2B5EF4-FFF2-40B4-BE49-F238E27FC236}">
                    <a16:creationId xmlns:a16="http://schemas.microsoft.com/office/drawing/2014/main" id="{69F53A74-A732-48C5-A955-5BBD24032427}"/>
                  </a:ext>
                </a:extLst>
              </p:cNvPr>
              <p:cNvSpPr>
                <a:spLocks noGrp="1" noRot="1" noChangeAspect="1" noMove="1" noResize="1" noEditPoints="1" noAdjustHandles="1" noChangeArrowheads="1" noChangeShapeType="1" noTextEdit="1"/>
              </p:cNvSpPr>
              <p:nvPr>
                <p:ph idx="1"/>
              </p:nvPr>
            </p:nvSpPr>
            <p:spPr>
              <a:blipFill>
                <a:blip r:embed="rId2"/>
                <a:stretch>
                  <a:fillRect l="-123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470866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170B5FAE-8B23-44C7-8AAE-ED1593781218}"/>
                  </a:ext>
                </a:extLst>
              </p:cNvPr>
              <p:cNvSpPr>
                <a:spLocks noGrp="1"/>
              </p:cNvSpPr>
              <p:nvPr>
                <p:ph idx="1"/>
              </p:nvPr>
            </p:nvSpPr>
            <p:spPr>
              <a:xfrm>
                <a:off x="284018" y="1016578"/>
                <a:ext cx="8652164" cy="4440380"/>
              </a:xfrm>
            </p:spPr>
            <p:txBody>
              <a:bodyPr/>
              <a:lstStyle/>
              <a:p>
                <a:pPr marL="0" indent="0">
                  <a:lnSpc>
                    <a:spcPct val="150000"/>
                  </a:lnSpc>
                  <a:buNone/>
                </a:pPr>
                <a:r>
                  <a:rPr lang="en-US" altLang="zh-CN" dirty="0">
                    <a:solidFill>
                      <a:srgbClr val="FF0000"/>
                    </a:solidFill>
                  </a:rPr>
                  <a:t>5.1.1 </a:t>
                </a:r>
                <a:r>
                  <a:rPr lang="zh-CN" altLang="zh-CN" dirty="0">
                    <a:solidFill>
                      <a:srgbClr val="FF0000"/>
                    </a:solidFill>
                  </a:rPr>
                  <a:t>系统的输出信号</a:t>
                </a:r>
              </a:p>
              <a:p>
                <a:pPr marL="0" indent="0">
                  <a:lnSpc>
                    <a:spcPct val="150000"/>
                  </a:lnSpc>
                  <a:buNone/>
                </a:pPr>
                <a:r>
                  <a:rPr lang="x-none" altLang="zh-CN" dirty="0">
                    <a:solidFill>
                      <a:schemeClr val="accent2"/>
                    </a:solidFill>
                  </a:rPr>
                  <a:t>1. </a:t>
                </a:r>
                <a:r>
                  <a:rPr lang="zh-CN" altLang="zh-CN" dirty="0">
                    <a:solidFill>
                      <a:schemeClr val="accent2"/>
                    </a:solidFill>
                  </a:rPr>
                  <a:t>输出信号的表达式</a:t>
                </a:r>
              </a:p>
              <a:p>
                <a:pPr marL="0" indent="0">
                  <a:lnSpc>
                    <a:spcPct val="150000"/>
                  </a:lnSpc>
                  <a:buNone/>
                </a:pPr>
                <a:r>
                  <a:rPr lang="zh-CN" altLang="en-US" dirty="0"/>
                  <a:t>已知：</a:t>
                </a:r>
                <a:r>
                  <a:rPr lang="zh-CN" altLang="zh-CN" dirty="0"/>
                  <a:t>线性时不变</a:t>
                </a:r>
                <a:r>
                  <a:rPr lang="zh-CN" altLang="en-US" dirty="0"/>
                  <a:t>、实、</a:t>
                </a:r>
                <a:r>
                  <a:rPr lang="zh-CN" altLang="zh-CN" dirty="0"/>
                  <a:t>稳定系统，</a:t>
                </a:r>
                <a14:m>
                  <m:oMath xmlns:m="http://schemas.openxmlformats.org/officeDocument/2006/math">
                    <m:r>
                      <a:rPr lang="en-US" altLang="zh-CN" i="1">
                        <a:latin typeface="Cambria Math" panose="02040503050406030204" pitchFamily="18" charset="0"/>
                      </a:rPr>
                      <m:t>𝒉</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m:rPr>
                        <m:nor/>
                      </m:rPr>
                      <a:rPr lang="en-US" altLang="zh-CN"/>
                      <m:t>   </m:t>
                    </m:r>
                    <m:r>
                      <a:rPr lang="en-US" altLang="zh-CN" i="1">
                        <a:latin typeface="Cambria Math" panose="02040503050406030204" pitchFamily="18" charset="0"/>
                      </a:rPr>
                      <m:t>𝑯</m:t>
                    </m:r>
                    <m:r>
                      <a:rPr lang="en-US" altLang="zh-CN">
                        <a:latin typeface="Cambria Math" panose="02040503050406030204" pitchFamily="18" charset="0"/>
                      </a:rPr>
                      <m:t>(</m:t>
                    </m:r>
                    <m:r>
                      <a:rPr lang="en-US" altLang="zh-CN" i="1">
                        <a:latin typeface="Cambria Math" panose="02040503050406030204" pitchFamily="18" charset="0"/>
                      </a:rPr>
                      <m:t>𝒋</m:t>
                    </m:r>
                    <m:r>
                      <a:rPr lang="en-US" altLang="zh-CN" i="1">
                        <a:latin typeface="Cambria Math" panose="02040503050406030204" pitchFamily="18" charset="0"/>
                      </a:rPr>
                      <m:t>𝝎</m:t>
                    </m:r>
                    <m:r>
                      <a:rPr lang="en-US" altLang="zh-CN">
                        <a:latin typeface="Cambria Math" panose="02040503050406030204" pitchFamily="18" charset="0"/>
                      </a:rPr>
                      <m:t>)</m:t>
                    </m:r>
                  </m:oMath>
                </a14:m>
                <a:r>
                  <a:rPr lang="en-US" altLang="zh-CN" dirty="0"/>
                  <a:t> </a:t>
                </a:r>
                <a:endParaRPr lang="zh-CN" altLang="zh-CN" dirty="0">
                  <a:solidFill>
                    <a:srgbClr val="FF0000"/>
                  </a:solidFill>
                </a:endParaRPr>
              </a:p>
              <a:p>
                <a:pPr marL="0" indent="0">
                  <a:lnSpc>
                    <a:spcPct val="150000"/>
                  </a:lnSpc>
                  <a:buNone/>
                </a:pPr>
                <a:r>
                  <a:rPr lang="zh-CN" altLang="zh-CN" dirty="0"/>
                  <a:t>实</a:t>
                </a:r>
                <a:r>
                  <a:rPr lang="zh-CN" altLang="en-US" dirty="0"/>
                  <a:t>、宽</a:t>
                </a:r>
                <a:r>
                  <a:rPr lang="zh-CN" altLang="zh-CN" dirty="0"/>
                  <a:t>平稳输入信号</a:t>
                </a:r>
                <a:r>
                  <a:rPr lang="en-US" altLang="zh-CN" i="1" dirty="0"/>
                  <a:t>X</a:t>
                </a:r>
                <a:r>
                  <a:rPr lang="en-US" altLang="zh-CN" dirty="0"/>
                  <a:t>(</a:t>
                </a:r>
                <a:r>
                  <a:rPr lang="en-US" altLang="zh-CN" i="1" dirty="0"/>
                  <a:t>t</a:t>
                </a:r>
                <a:r>
                  <a:rPr lang="en-US" altLang="zh-CN" dirty="0"/>
                  <a:t>)</a:t>
                </a:r>
                <a:r>
                  <a:rPr lang="zh-CN" altLang="en-US" dirty="0"/>
                  <a:t>，</a:t>
                </a:r>
                <a:r>
                  <a:rPr lang="zh-CN" altLang="zh-CN" dirty="0"/>
                  <a:t>统计特性</a:t>
                </a:r>
                <a:r>
                  <a:rPr lang="zh-CN" altLang="en-US" dirty="0"/>
                  <a:t>为</a:t>
                </a:r>
                <a:endParaRPr lang="en-US" altLang="zh-CN" i="1" dirty="0">
                  <a:latin typeface="Cambria Math" panose="02040503050406030204" pitchFamily="18" charset="0"/>
                </a:endParaRPr>
              </a:p>
              <a:p>
                <a:pPr marL="0" indent="0">
                  <a:lnSpc>
                    <a:spcPct val="150000"/>
                  </a:lnSpc>
                  <a:buNone/>
                </a:pPr>
                <a14:m>
                  <m:oMath xmlns:m="http://schemas.openxmlformats.org/officeDocument/2006/math">
                    <m:r>
                      <a:rPr lang="en-US" altLang="zh-CN" b="1" i="1" smtClean="0">
                        <a:latin typeface="Cambria Math" panose="02040503050406030204" pitchFamily="18" charset="0"/>
                      </a:rPr>
                      <m:t>       </m:t>
                    </m:r>
                    <m:r>
                      <a:rPr lang="en-US" altLang="zh-CN" i="1">
                        <a:latin typeface="Cambria Math" panose="02040503050406030204" pitchFamily="18" charset="0"/>
                      </a:rPr>
                      <m:t>𝑬</m:t>
                    </m:r>
                    <m:r>
                      <a:rPr lang="en-US" altLang="zh-CN" i="1">
                        <a:latin typeface="Cambria Math" panose="02040503050406030204" pitchFamily="18" charset="0"/>
                      </a:rPr>
                      <m:t>[</m:t>
                    </m:r>
                    <m:r>
                      <a:rPr lang="en-US" altLang="zh-CN" i="1">
                        <a:latin typeface="Cambria Math" panose="02040503050406030204" pitchFamily="18" charset="0"/>
                      </a:rPr>
                      <m:t>𝑿</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𝒎</m:t>
                        </m:r>
                      </m:e>
                      <m:sub>
                        <m:r>
                          <a:rPr lang="en-US" altLang="zh-CN" i="1">
                            <a:latin typeface="Cambria Math" panose="02040503050406030204" pitchFamily="18" charset="0"/>
                          </a:rPr>
                          <m:t>𝑿</m:t>
                        </m:r>
                      </m:sub>
                    </m:sSub>
                  </m:oMath>
                </a14:m>
                <a:r>
                  <a:rPr lang="en-US" altLang="zh-CN" dirty="0"/>
                  <a:t> </a:t>
                </a:r>
                <a:r>
                  <a:rPr lang="zh-CN" altLang="zh-CN" dirty="0"/>
                  <a:t>， </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𝑿</m:t>
                        </m:r>
                      </m:sub>
                    </m:sSub>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r>
                      <a:rPr lang="en-US" altLang="zh-CN" i="1">
                        <a:latin typeface="Cambria Math" panose="02040503050406030204" pitchFamily="18" charset="0"/>
                      </a:rPr>
                      <m:t>𝑬</m:t>
                    </m:r>
                    <m:r>
                      <a:rPr lang="en-US" altLang="zh-CN" i="1">
                        <a:latin typeface="Cambria Math" panose="02040503050406030204" pitchFamily="18" charset="0"/>
                      </a:rPr>
                      <m:t>[</m:t>
                    </m:r>
                    <m:r>
                      <a:rPr lang="en-US" altLang="zh-CN" i="1">
                        <a:latin typeface="Cambria Math" panose="02040503050406030204" pitchFamily="18" charset="0"/>
                      </a:rPr>
                      <m:t>𝑿</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𝑿</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oMath>
                </a14:m>
                <a:r>
                  <a:rPr lang="en-US" altLang="zh-CN" dirty="0"/>
                  <a:t> </a:t>
                </a:r>
                <a:r>
                  <a:rPr lang="zh-CN" altLang="zh-CN" dirty="0"/>
                  <a:t>，</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𝑺</m:t>
                        </m:r>
                      </m:e>
                      <m:sub>
                        <m:r>
                          <a:rPr lang="en-US" altLang="zh-CN" i="1">
                            <a:latin typeface="Cambria Math" panose="02040503050406030204" pitchFamily="18" charset="0"/>
                          </a:rPr>
                          <m:t>𝑿</m:t>
                        </m:r>
                      </m:sub>
                    </m:sSub>
                    <m:r>
                      <a:rPr lang="en-US" altLang="zh-CN" i="1">
                        <a:latin typeface="Cambria Math" panose="02040503050406030204" pitchFamily="18" charset="0"/>
                      </a:rPr>
                      <m:t>(</m:t>
                    </m:r>
                    <m:r>
                      <a:rPr lang="en-US" altLang="zh-CN" i="1">
                        <a:latin typeface="Cambria Math" panose="02040503050406030204" pitchFamily="18" charset="0"/>
                      </a:rPr>
                      <m:t>𝝎</m:t>
                    </m:r>
                    <m:r>
                      <a:rPr lang="en-US" altLang="zh-CN" i="1">
                        <a:latin typeface="Cambria Math" panose="02040503050406030204" pitchFamily="18" charset="0"/>
                      </a:rPr>
                      <m:t>)</m:t>
                    </m:r>
                  </m:oMath>
                </a14:m>
                <a:endParaRPr lang="en-US" altLang="zh-CN" dirty="0"/>
              </a:p>
              <a:p>
                <a:pPr marL="0" indent="0">
                  <a:lnSpc>
                    <a:spcPct val="150000"/>
                  </a:lnSpc>
                  <a:buNone/>
                </a:pPr>
                <a:r>
                  <a:rPr lang="zh-CN" altLang="zh-CN" dirty="0"/>
                  <a:t>输出</a:t>
                </a:r>
                <a:r>
                  <a:rPr lang="zh-CN" altLang="en-US" dirty="0"/>
                  <a:t>信号：</a:t>
                </a:r>
                <a14:m>
                  <m:oMath xmlns:m="http://schemas.openxmlformats.org/officeDocument/2006/math">
                    <m:r>
                      <a:rPr lang="en-US" altLang="zh-CN" i="1" smtClean="0">
                        <a:solidFill>
                          <a:srgbClr val="FF0000"/>
                        </a:solidFill>
                        <a:latin typeface="Cambria Math" panose="02040503050406030204" pitchFamily="18" charset="0"/>
                      </a:rPr>
                      <m:t>𝒀</m:t>
                    </m:r>
                    <m:r>
                      <a:rPr lang="en-US" altLang="zh-CN" i="1" smtClean="0">
                        <a:solidFill>
                          <a:srgbClr val="FF0000"/>
                        </a:solidFill>
                        <a:latin typeface="Cambria Math" panose="02040503050406030204" pitchFamily="18" charset="0"/>
                      </a:rPr>
                      <m:t>(</m:t>
                    </m:r>
                    <m:r>
                      <a:rPr lang="en-US" altLang="zh-CN" i="1" smtClean="0">
                        <a:solidFill>
                          <a:srgbClr val="FF0000"/>
                        </a:solidFill>
                        <a:latin typeface="Cambria Math" panose="02040503050406030204" pitchFamily="18" charset="0"/>
                      </a:rPr>
                      <m:t>𝒕</m:t>
                    </m:r>
                    <m:r>
                      <a:rPr lang="en-US" altLang="zh-CN" i="1" smtClean="0">
                        <a:solidFill>
                          <a:srgbClr val="FF0000"/>
                        </a:solidFill>
                        <a:latin typeface="Cambria Math" panose="02040503050406030204" pitchFamily="18" charset="0"/>
                      </a:rPr>
                      <m:t>)=</m:t>
                    </m:r>
                    <m:r>
                      <a:rPr lang="en-US" altLang="zh-CN" i="1" smtClean="0">
                        <a:solidFill>
                          <a:srgbClr val="FF0000"/>
                        </a:solidFill>
                        <a:latin typeface="Cambria Math" panose="02040503050406030204" pitchFamily="18" charset="0"/>
                      </a:rPr>
                      <m:t>𝑿</m:t>
                    </m:r>
                    <m:r>
                      <a:rPr lang="en-US" altLang="zh-CN" i="1" smtClean="0">
                        <a:solidFill>
                          <a:srgbClr val="FF0000"/>
                        </a:solidFill>
                        <a:latin typeface="Cambria Math" panose="02040503050406030204" pitchFamily="18" charset="0"/>
                      </a:rPr>
                      <m:t>(</m:t>
                    </m:r>
                    <m:r>
                      <a:rPr lang="en-US" altLang="zh-CN" i="1" smtClean="0">
                        <a:solidFill>
                          <a:srgbClr val="FF0000"/>
                        </a:solidFill>
                        <a:latin typeface="Cambria Math" panose="02040503050406030204" pitchFamily="18" charset="0"/>
                      </a:rPr>
                      <m:t>𝒕</m:t>
                    </m:r>
                    <m:r>
                      <a:rPr lang="en-US" altLang="zh-CN" i="1" smtClean="0">
                        <a:solidFill>
                          <a:srgbClr val="FF0000"/>
                        </a:solidFill>
                        <a:latin typeface="Cambria Math" panose="02040503050406030204" pitchFamily="18" charset="0"/>
                      </a:rPr>
                      <m:t>)∗</m:t>
                    </m:r>
                    <m:r>
                      <a:rPr lang="en-US" altLang="zh-CN" i="1" smtClean="0">
                        <a:solidFill>
                          <a:srgbClr val="FF0000"/>
                        </a:solidFill>
                        <a:latin typeface="Cambria Math" panose="02040503050406030204" pitchFamily="18" charset="0"/>
                      </a:rPr>
                      <m:t>𝒉</m:t>
                    </m:r>
                    <m:r>
                      <a:rPr lang="en-US" altLang="zh-CN" i="1" smtClean="0">
                        <a:solidFill>
                          <a:srgbClr val="FF0000"/>
                        </a:solidFill>
                        <a:latin typeface="Cambria Math" panose="02040503050406030204" pitchFamily="18" charset="0"/>
                      </a:rPr>
                      <m:t>(</m:t>
                    </m:r>
                    <m:r>
                      <a:rPr lang="en-US" altLang="zh-CN" i="1" smtClean="0">
                        <a:solidFill>
                          <a:srgbClr val="FF0000"/>
                        </a:solidFill>
                        <a:latin typeface="Cambria Math" panose="02040503050406030204" pitchFamily="18" charset="0"/>
                      </a:rPr>
                      <m:t>𝒕</m:t>
                    </m:r>
                    <m:r>
                      <a:rPr lang="en-US" altLang="zh-CN" i="1" smtClean="0">
                        <a:solidFill>
                          <a:srgbClr val="FF0000"/>
                        </a:solidFill>
                        <a:latin typeface="Cambria Math" panose="02040503050406030204" pitchFamily="18" charset="0"/>
                      </a:rPr>
                      <m:t>)=</m:t>
                    </m:r>
                    <m:nary>
                      <m:naryPr>
                        <m:ctrlPr>
                          <a:rPr lang="zh-CN" altLang="zh-CN" i="1">
                            <a:solidFill>
                              <a:srgbClr val="FF0000"/>
                            </a:solidFill>
                            <a:latin typeface="Cambria Math" panose="02040503050406030204" pitchFamily="18" charset="0"/>
                          </a:rPr>
                        </m:ctrlPr>
                      </m:naryPr>
                      <m:sub>
                        <m:r>
                          <a:rPr lang="en-US" altLang="zh-CN" i="1">
                            <a:solidFill>
                              <a:srgbClr val="FF0000"/>
                            </a:solidFill>
                            <a:latin typeface="Cambria Math" panose="02040503050406030204" pitchFamily="18" charset="0"/>
                          </a:rPr>
                          <m:t>−∞</m:t>
                        </m:r>
                      </m:sub>
                      <m:sup>
                        <m:r>
                          <a:rPr lang="en-US" altLang="zh-CN" i="1">
                            <a:solidFill>
                              <a:srgbClr val="FF0000"/>
                            </a:solidFill>
                            <a:latin typeface="Cambria Math" panose="02040503050406030204" pitchFamily="18" charset="0"/>
                          </a:rPr>
                          <m:t>∞</m:t>
                        </m:r>
                      </m:sup>
                      <m:e>
                        <m:r>
                          <a:rPr lang="en-US" altLang="zh-CN" i="1">
                            <a:solidFill>
                              <a:srgbClr val="FF0000"/>
                            </a:solidFill>
                            <a:latin typeface="Cambria Math" panose="02040503050406030204" pitchFamily="18" charset="0"/>
                          </a:rPr>
                          <m:t>𝒉</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𝝉</m:t>
                        </m:r>
                        <m:r>
                          <a:rPr lang="en-US" altLang="zh-CN" i="1">
                            <a:solidFill>
                              <a:srgbClr val="FF0000"/>
                            </a:solidFill>
                            <a:latin typeface="Cambria Math" panose="02040503050406030204" pitchFamily="18" charset="0"/>
                          </a:rPr>
                          <m:t>)</m:t>
                        </m:r>
                      </m:e>
                    </m:nary>
                    <m:r>
                      <a:rPr lang="en-US" altLang="zh-CN" i="1">
                        <a:solidFill>
                          <a:srgbClr val="FF0000"/>
                        </a:solidFill>
                        <a:latin typeface="Cambria Math" panose="02040503050406030204" pitchFamily="18" charset="0"/>
                      </a:rPr>
                      <m:t>𝑿</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𝒕</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𝝉</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𝒅</m:t>
                    </m:r>
                    <m:r>
                      <a:rPr lang="en-US" altLang="zh-CN" i="1">
                        <a:solidFill>
                          <a:srgbClr val="FF0000"/>
                        </a:solidFill>
                        <a:latin typeface="Cambria Math" panose="02040503050406030204" pitchFamily="18" charset="0"/>
                      </a:rPr>
                      <m:t>𝝉</m:t>
                    </m:r>
                  </m:oMath>
                </a14:m>
                <a:endParaRPr lang="en-US" altLang="zh-CN" dirty="0">
                  <a:solidFill>
                    <a:srgbClr val="FF0000"/>
                  </a:solidFill>
                </a:endParaRPr>
              </a:p>
              <a:p>
                <a:pPr marL="0" indent="0">
                  <a:lnSpc>
                    <a:spcPct val="150000"/>
                  </a:lnSpc>
                  <a:buNone/>
                </a:pPr>
                <a:r>
                  <a:rPr lang="zh-CN" altLang="zh-CN" dirty="0"/>
                  <a:t>求</a:t>
                </a:r>
                <a:r>
                  <a:rPr lang="zh-CN" altLang="en-US" dirty="0"/>
                  <a:t>：</a:t>
                </a:r>
                <a:r>
                  <a:rPr lang="en-US" altLang="zh-CN" dirty="0"/>
                  <a:t>  </a:t>
                </a:r>
                <a14:m>
                  <m:oMath xmlns:m="http://schemas.openxmlformats.org/officeDocument/2006/math">
                    <m:r>
                      <a:rPr lang="en-US" altLang="zh-CN" i="1">
                        <a:latin typeface="Cambria Math" panose="02040503050406030204" pitchFamily="18" charset="0"/>
                      </a:rPr>
                      <m:t>𝑬</m:t>
                    </m:r>
                    <m:r>
                      <a:rPr lang="en-US" altLang="zh-CN" i="1">
                        <a:latin typeface="Cambria Math" panose="02040503050406030204" pitchFamily="18" charset="0"/>
                      </a:rPr>
                      <m:t>[</m:t>
                    </m:r>
                    <m:r>
                      <a:rPr lang="en-US" altLang="zh-CN" i="1">
                        <a:latin typeface="Cambria Math" panose="02040503050406030204" pitchFamily="18" charset="0"/>
                      </a:rPr>
                      <m:t>𝒀</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m:rPr>
                        <m:nor/>
                      </m:rPr>
                      <a:rPr lang="en-US" altLang="zh-CN"/>
                      <m:t>   </m:t>
                    </m:r>
                    <m:sSub>
                      <m:sSubPr>
                        <m:ctrlPr>
                          <a:rPr lang="zh-CN"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𝒀</m:t>
                        </m:r>
                      </m:sub>
                    </m:sSub>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r>
                      <m:rPr>
                        <m:nor/>
                      </m:rPr>
                      <a:rPr lang="en-US" altLang="zh-CN"/>
                      <m:t>   </m:t>
                    </m:r>
                    <m:sSub>
                      <m:sSubPr>
                        <m:ctrlPr>
                          <a:rPr lang="zh-CN" altLang="zh-CN" i="1">
                            <a:latin typeface="Cambria Math" panose="02040503050406030204" pitchFamily="18" charset="0"/>
                          </a:rPr>
                        </m:ctrlPr>
                      </m:sSubPr>
                      <m:e>
                        <m:r>
                          <a:rPr lang="en-US" altLang="zh-CN" i="1">
                            <a:latin typeface="Cambria Math" panose="02040503050406030204" pitchFamily="18" charset="0"/>
                          </a:rPr>
                          <m:t>𝑺</m:t>
                        </m:r>
                      </m:e>
                      <m:sub>
                        <m:r>
                          <a:rPr lang="en-US" altLang="zh-CN" i="1">
                            <a:latin typeface="Cambria Math" panose="02040503050406030204" pitchFamily="18" charset="0"/>
                          </a:rPr>
                          <m:t>𝒀</m:t>
                        </m:r>
                      </m:sub>
                    </m:sSub>
                    <m:r>
                      <a:rPr lang="en-US" altLang="zh-CN" i="1">
                        <a:latin typeface="Cambria Math" panose="02040503050406030204" pitchFamily="18" charset="0"/>
                      </a:rPr>
                      <m:t>(</m:t>
                    </m:r>
                    <m:r>
                      <a:rPr lang="en-US" altLang="zh-CN" i="1">
                        <a:latin typeface="Cambria Math" panose="02040503050406030204" pitchFamily="18" charset="0"/>
                      </a:rPr>
                      <m:t>𝝎</m:t>
                    </m:r>
                    <m:r>
                      <a:rPr lang="en-US" altLang="zh-CN" i="1">
                        <a:latin typeface="Cambria Math" panose="02040503050406030204" pitchFamily="18" charset="0"/>
                      </a:rPr>
                      <m:t>),</m:t>
                    </m:r>
                    <m:r>
                      <m:rPr>
                        <m:nor/>
                      </m:rPr>
                      <a:rPr lang="en-US" altLang="zh-CN"/>
                      <m:t>   </m:t>
                    </m:r>
                    <m:sSub>
                      <m:sSubPr>
                        <m:ctrlPr>
                          <a:rPr lang="zh-CN"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𝑿𝒀</m:t>
                        </m:r>
                      </m:sub>
                    </m:sSub>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oMath>
                </a14:m>
                <a:r>
                  <a:rPr lang="zh-CN" altLang="zh-CN" dirty="0"/>
                  <a:t>。</a:t>
                </a:r>
              </a:p>
              <a:p>
                <a:endParaRPr lang="zh-CN" altLang="en-US" dirty="0"/>
              </a:p>
            </p:txBody>
          </p:sp>
        </mc:Choice>
        <mc:Fallback xmlns="">
          <p:sp>
            <p:nvSpPr>
              <p:cNvPr id="2" name="内容占位符 1">
                <a:extLst>
                  <a:ext uri="{FF2B5EF4-FFF2-40B4-BE49-F238E27FC236}">
                    <a16:creationId xmlns:a16="http://schemas.microsoft.com/office/drawing/2014/main" id="{170B5FAE-8B23-44C7-8AAE-ED1593781218}"/>
                  </a:ext>
                </a:extLst>
              </p:cNvPr>
              <p:cNvSpPr>
                <a:spLocks noGrp="1" noRot="1" noChangeAspect="1" noMove="1" noResize="1" noEditPoints="1" noAdjustHandles="1" noChangeArrowheads="1" noChangeShapeType="1" noTextEdit="1"/>
              </p:cNvSpPr>
              <p:nvPr>
                <p:ph idx="1"/>
              </p:nvPr>
            </p:nvSpPr>
            <p:spPr>
              <a:xfrm>
                <a:off x="284018" y="1016578"/>
                <a:ext cx="8652164" cy="4440380"/>
              </a:xfrm>
              <a:blipFill>
                <a:blip r:embed="rId2"/>
                <a:stretch>
                  <a:fillRect l="-84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242496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2AB0F08-2753-4129-8595-380D6EB0DF7C}"/>
              </a:ext>
            </a:extLst>
          </p:cNvPr>
          <p:cNvSpPr>
            <a:spLocks noGrp="1"/>
          </p:cNvSpPr>
          <p:nvPr>
            <p:ph idx="1"/>
          </p:nvPr>
        </p:nvSpPr>
        <p:spPr/>
        <p:txBody>
          <a:bodyPr/>
          <a:lstStyle/>
          <a:p>
            <a:pPr marL="0" indent="0">
              <a:lnSpc>
                <a:spcPct val="150000"/>
              </a:lnSpc>
              <a:buNone/>
            </a:pPr>
            <a:r>
              <a:rPr lang="en-US" altLang="zh-CN" dirty="0">
                <a:solidFill>
                  <a:schemeClr val="accent2"/>
                </a:solidFill>
              </a:rPr>
              <a:t>2</a:t>
            </a:r>
            <a:r>
              <a:rPr lang="zh-CN" altLang="en-US" dirty="0">
                <a:solidFill>
                  <a:schemeClr val="accent2"/>
                </a:solidFill>
              </a:rPr>
              <a:t>、</a:t>
            </a:r>
            <a:r>
              <a:rPr lang="zh-CN" altLang="zh-CN" dirty="0">
                <a:solidFill>
                  <a:schemeClr val="accent2"/>
                </a:solidFill>
              </a:rPr>
              <a:t>输出信号的概率分布</a:t>
            </a:r>
          </a:p>
          <a:p>
            <a:pPr marL="0" indent="0">
              <a:lnSpc>
                <a:spcPct val="150000"/>
              </a:lnSpc>
              <a:buNone/>
            </a:pPr>
            <a:r>
              <a:rPr lang="zh-CN" altLang="zh-CN" dirty="0"/>
              <a:t>一般很难计算 </a:t>
            </a:r>
            <a:r>
              <a:rPr lang="zh-CN" altLang="en-US" dirty="0"/>
              <a:t>。</a:t>
            </a:r>
            <a:endParaRPr lang="zh-CN" altLang="zh-CN" dirty="0"/>
          </a:p>
          <a:p>
            <a:pPr marL="0" indent="0">
              <a:lnSpc>
                <a:spcPct val="150000"/>
              </a:lnSpc>
              <a:buNone/>
            </a:pPr>
            <a:r>
              <a:rPr lang="zh-CN" altLang="en-US" dirty="0">
                <a:highlight>
                  <a:srgbClr val="FFFF00"/>
                </a:highlight>
              </a:rPr>
              <a:t>特例：</a:t>
            </a:r>
            <a:r>
              <a:rPr lang="zh-CN" altLang="zh-CN" dirty="0">
                <a:highlight>
                  <a:srgbClr val="FFFF00"/>
                </a:highlight>
              </a:rPr>
              <a:t>输入信号为高斯时，输出信号也是高斯的</a:t>
            </a:r>
            <a:r>
              <a:rPr lang="zh-CN" altLang="zh-CN" dirty="0"/>
              <a:t>，</a:t>
            </a:r>
            <a:endParaRPr lang="en-US" altLang="zh-CN" dirty="0"/>
          </a:p>
          <a:p>
            <a:pPr marL="0" indent="0">
              <a:lnSpc>
                <a:spcPct val="150000"/>
              </a:lnSpc>
              <a:buNone/>
            </a:pPr>
            <a:r>
              <a:rPr lang="zh-CN" altLang="zh-CN" dirty="0"/>
              <a:t>可以通过计算均值和协方差获得概率分布。</a:t>
            </a:r>
            <a:endParaRPr lang="en-US" altLang="zh-CN" dirty="0"/>
          </a:p>
          <a:p>
            <a:pPr marL="0" indent="0">
              <a:lnSpc>
                <a:spcPct val="150000"/>
              </a:lnSpc>
              <a:buNone/>
            </a:pPr>
            <a:r>
              <a:rPr lang="zh-CN" altLang="en-US" dirty="0"/>
              <a:t>但是均值、自相关、功率谱以及与输入过程的互相关、互谱密度可以获得。</a:t>
            </a:r>
          </a:p>
        </p:txBody>
      </p:sp>
    </p:spTree>
    <p:extLst>
      <p:ext uri="{BB962C8B-B14F-4D97-AF65-F5344CB8AC3E}">
        <p14:creationId xmlns:p14="http://schemas.microsoft.com/office/powerpoint/2010/main" val="33963972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4.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Compressive Sensing">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Pres_in_sample">
  <a:themeElements>
    <a:clrScheme name="1_Pres_in_sampl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Pres_in_sample">
      <a:majorFont>
        <a:latin typeface="黑体"/>
        <a:ea typeface="黑体"/>
        <a:cs typeface=""/>
      </a:majorFont>
      <a:minorFont>
        <a:latin typeface="仿宋_GB2312"/>
        <a:ea typeface="仿宋_GB2312"/>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Pres_in_sampl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Pres_in_sampl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Pres_in_sampl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Pres_in_sampl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Pres_in_sampl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Pres_in_sampl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Pres_in_sampl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Pres_in_sample">
  <a:themeElements>
    <a:clrScheme name="1_Pres_in_sampl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Pres_in_sample">
      <a:majorFont>
        <a:latin typeface="黑体"/>
        <a:ea typeface="黑体"/>
        <a:cs typeface=""/>
      </a:majorFont>
      <a:minorFont>
        <a:latin typeface="仿宋_GB2312"/>
        <a:ea typeface="仿宋_GB2312"/>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Pres_in_sampl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Pres_in_sampl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Pres_in_sampl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Pres_in_sampl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Pres_in_sampl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Pres_in_sampl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Pres_in_sampl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Compressive Sensing</Template>
  <TotalTime>8452</TotalTime>
  <Words>2080</Words>
  <Application>Microsoft Office PowerPoint</Application>
  <PresentationFormat>全屏显示(4:3)</PresentationFormat>
  <Paragraphs>210</Paragraphs>
  <Slides>34</Slides>
  <Notes>3</Notes>
  <HiddenSlides>0</HiddenSlides>
  <MMClips>0</MMClips>
  <ScaleCrop>false</ScaleCrop>
  <HeadingPairs>
    <vt:vector size="8" baseType="variant">
      <vt:variant>
        <vt:lpstr>已用的字体</vt:lpstr>
      </vt:variant>
      <vt:variant>
        <vt:i4>14</vt:i4>
      </vt:variant>
      <vt:variant>
        <vt:lpstr>主题</vt:lpstr>
      </vt:variant>
      <vt:variant>
        <vt:i4>5</vt:i4>
      </vt:variant>
      <vt:variant>
        <vt:lpstr>嵌入 OLE 服务器</vt:lpstr>
      </vt:variant>
      <vt:variant>
        <vt:i4>2</vt:i4>
      </vt:variant>
      <vt:variant>
        <vt:lpstr>幻灯片标题</vt:lpstr>
      </vt:variant>
      <vt:variant>
        <vt:i4>34</vt:i4>
      </vt:variant>
    </vt:vector>
  </HeadingPairs>
  <TitlesOfParts>
    <vt:vector size="55" baseType="lpstr">
      <vt:lpstr>Arial Unicode MS</vt:lpstr>
      <vt:lpstr>黑体</vt:lpstr>
      <vt:lpstr>华文中宋</vt:lpstr>
      <vt:lpstr>楷体</vt:lpstr>
      <vt:lpstr>宋体</vt:lpstr>
      <vt:lpstr>Microsoft Yahei</vt:lpstr>
      <vt:lpstr>Arial</vt:lpstr>
      <vt:lpstr>Arial Black</vt:lpstr>
      <vt:lpstr>Calibri</vt:lpstr>
      <vt:lpstr>Cambria Math</vt:lpstr>
      <vt:lpstr>Comic Sans MS</vt:lpstr>
      <vt:lpstr>Tahoma</vt:lpstr>
      <vt:lpstr>Times New Roman</vt:lpstr>
      <vt:lpstr>Wingdings</vt:lpstr>
      <vt:lpstr>1_自定义设计方案</vt:lpstr>
      <vt:lpstr>自定义设计方案</vt:lpstr>
      <vt:lpstr>1_Compressive Sensing</vt:lpstr>
      <vt:lpstr>1_Pres_in_sample</vt:lpstr>
      <vt:lpstr>2_Pres_in_sample</vt:lpstr>
      <vt:lpstr>公式</vt:lpstr>
      <vt:lpstr>Equation</vt:lpstr>
      <vt:lpstr>PowerPoint 演示文稿</vt:lpstr>
      <vt:lpstr>第四章各态历经性与随机实验</vt:lpstr>
      <vt:lpstr>各态历经性的定义</vt:lpstr>
      <vt:lpstr>均方极限和均方收敛</vt:lpstr>
      <vt:lpstr>4.1  均值各态历经性</vt:lpstr>
      <vt:lpstr>PowerPoint 演示文稿</vt:lpstr>
      <vt:lpstr>4.2  自相关各态历经</vt:lpstr>
      <vt:lpstr>4.3  各态历经信号和特性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总 结</vt:lpstr>
      <vt:lpstr>信号分类</vt:lpstr>
      <vt:lpstr>信号分类</vt:lpstr>
      <vt:lpstr>信号分类</vt:lpstr>
      <vt:lpstr>信号分析方法—有关名词概念</vt:lpstr>
      <vt:lpstr>信号分析方法—有关名词概念</vt:lpstr>
      <vt:lpstr>信号分析方法—有关名词概念</vt:lpstr>
      <vt:lpstr>信号分析方法—有关名词概念</vt:lpstr>
      <vt:lpstr>信号分析方法—有关名词概念</vt:lpstr>
      <vt:lpstr>第五章 随机信号通过线性系统</vt:lpstr>
      <vt:lpstr>学习目标</vt:lpstr>
      <vt:lpstr>PowerPoint 演示文稿</vt:lpstr>
      <vt:lpstr>PowerPoint 演示文稿</vt:lpstr>
      <vt:lpstr>PowerPoint 演示文稿</vt:lpstr>
      <vt:lpstr>PowerPoint 演示文稿</vt:lpstr>
      <vt:lpstr>5.1 具有随机输入的线性时不变系统</vt:lpstr>
      <vt:lpstr>PowerPoint 演示文稿</vt:lpstr>
      <vt:lpstr>PowerPoint 演示文稿</vt:lpstr>
      <vt:lpstr>PowerPoint 演示文稿</vt:lpstr>
    </vt:vector>
  </TitlesOfParts>
  <Company>Keio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Wensheng Zhang</dc:creator>
  <cp:lastModifiedBy>Wensheng Zhang</cp:lastModifiedBy>
  <cp:revision>877</cp:revision>
  <dcterms:created xsi:type="dcterms:W3CDTF">2012-07-10T00:46:24Z</dcterms:created>
  <dcterms:modified xsi:type="dcterms:W3CDTF">2024-11-29T00:26:44Z</dcterms:modified>
</cp:coreProperties>
</file>