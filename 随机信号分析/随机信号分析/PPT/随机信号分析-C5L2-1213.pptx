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60" r:id="rId2"/>
    <p:sldMasterId id="2147483686" r:id="rId3"/>
    <p:sldMasterId id="2147483690" r:id="rId4"/>
    <p:sldMasterId id="2147483708" r:id="rId5"/>
  </p:sldMasterIdLst>
  <p:notesMasterIdLst>
    <p:notesMasterId r:id="rId36"/>
  </p:notesMasterIdLst>
  <p:handoutMasterIdLst>
    <p:handoutMasterId r:id="rId37"/>
  </p:handoutMasterIdLst>
  <p:sldIdLst>
    <p:sldId id="360" r:id="rId6"/>
    <p:sldId id="279" r:id="rId7"/>
    <p:sldId id="323" r:id="rId8"/>
    <p:sldId id="367" r:id="rId9"/>
    <p:sldId id="284" r:id="rId10"/>
    <p:sldId id="368" r:id="rId11"/>
    <p:sldId id="286" r:id="rId12"/>
    <p:sldId id="377" r:id="rId13"/>
    <p:sldId id="378" r:id="rId14"/>
    <p:sldId id="379" r:id="rId15"/>
    <p:sldId id="380" r:id="rId16"/>
    <p:sldId id="291" r:id="rId17"/>
    <p:sldId id="344" r:id="rId18"/>
    <p:sldId id="292" r:id="rId19"/>
    <p:sldId id="293" r:id="rId20"/>
    <p:sldId id="294" r:id="rId21"/>
    <p:sldId id="295" r:id="rId22"/>
    <p:sldId id="296" r:id="rId23"/>
    <p:sldId id="299" r:id="rId24"/>
    <p:sldId id="300" r:id="rId25"/>
    <p:sldId id="301" r:id="rId26"/>
    <p:sldId id="302" r:id="rId27"/>
    <p:sldId id="310" r:id="rId28"/>
    <p:sldId id="311" r:id="rId29"/>
    <p:sldId id="317" r:id="rId30"/>
    <p:sldId id="324" r:id="rId31"/>
    <p:sldId id="303" r:id="rId32"/>
    <p:sldId id="374" r:id="rId33"/>
    <p:sldId id="375" r:id="rId34"/>
    <p:sldId id="376" r:id="rId35"/>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ENOVO USER" initials="LU"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305"/>
    <a:srgbClr val="D09E00"/>
    <a:srgbClr val="FFD347"/>
    <a:srgbClr val="B88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96" autoAdjust="0"/>
    <p:restoredTop sz="88102" autoAdjust="0"/>
  </p:normalViewPr>
  <p:slideViewPr>
    <p:cSldViewPr>
      <p:cViewPr varScale="1">
        <p:scale>
          <a:sx n="68" d="100"/>
          <a:sy n="68" d="100"/>
        </p:scale>
        <p:origin x="1277" y="37"/>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1302"/>
    </p:cViewPr>
  </p:sorterViewPr>
  <p:notesViewPr>
    <p:cSldViewPr>
      <p:cViewPr varScale="1">
        <p:scale>
          <a:sx n="66" d="100"/>
          <a:sy n="66" d="100"/>
        </p:scale>
        <p:origin x="1579" y="53"/>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image" Target="../media/image20.png"/></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image" Target="../media/image22.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4.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1.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57215D6-64B5-4D81-A068-018BC9D15C70}" type="datetimeFigureOut">
              <a:rPr lang="zh-CN" altLang="en-US" smtClean="0"/>
              <a:pPr/>
              <a:t>2024/12/13</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7B1B2BF-B727-4E7D-871C-58E4727485FE}" type="slidenum">
              <a:rPr lang="zh-CN" altLang="en-US" smtClean="0"/>
              <a:pPr/>
              <a:t>‹#›</a:t>
            </a:fld>
            <a:endParaRPr lang="zh-CN" altLang="en-US"/>
          </a:p>
        </p:txBody>
      </p:sp>
    </p:spTree>
    <p:extLst>
      <p:ext uri="{BB962C8B-B14F-4D97-AF65-F5344CB8AC3E}">
        <p14:creationId xmlns:p14="http://schemas.microsoft.com/office/powerpoint/2010/main" val="2216034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634918-EEE7-4DA3-9986-E691913FFCBE}" type="datetimeFigureOut">
              <a:rPr lang="zh-CN" altLang="en-US" smtClean="0"/>
              <a:pPr/>
              <a:t>2024/12/13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1544D2F-56DD-4976-9716-D18248F9480C}" type="slidenum">
              <a:rPr lang="zh-CN" altLang="en-US" smtClean="0"/>
              <a:pPr/>
              <a:t>‹#›</a:t>
            </a:fld>
            <a:endParaRPr lang="zh-CN" altLang="en-US"/>
          </a:p>
        </p:txBody>
      </p:sp>
    </p:spTree>
    <p:extLst>
      <p:ext uri="{BB962C8B-B14F-4D97-AF65-F5344CB8AC3E}">
        <p14:creationId xmlns:p14="http://schemas.microsoft.com/office/powerpoint/2010/main" val="825873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544D2F-56DD-4976-9716-D18248F9480C}"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4094225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检查。系统直流增益，冲击响应</a:t>
            </a:r>
            <a:r>
              <a:rPr lang="en-US" altLang="zh-CN" dirty="0"/>
              <a:t>h(t), </a:t>
            </a:r>
            <a:r>
              <a:rPr lang="zh-CN" altLang="en-US" dirty="0"/>
              <a:t>传输函数，功率传输函数</a:t>
            </a:r>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3</a:t>
            </a:fld>
            <a:endParaRPr lang="zh-CN" altLang="en-US"/>
          </a:p>
        </p:txBody>
      </p:sp>
    </p:spTree>
    <p:extLst>
      <p:ext uri="{BB962C8B-B14F-4D97-AF65-F5344CB8AC3E}">
        <p14:creationId xmlns:p14="http://schemas.microsoft.com/office/powerpoint/2010/main" val="3429483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zh-CN" altLang="en-US" dirty="0"/>
              <a:t>估计系统  </a:t>
            </a:r>
            <a:r>
              <a:rPr lang="en-US" altLang="zh-CN" dirty="0"/>
              <a:t>2. </a:t>
            </a:r>
            <a:r>
              <a:rPr lang="zh-CN" altLang="en-US" dirty="0"/>
              <a:t>构造信号  读书</a:t>
            </a:r>
            <a:r>
              <a:rPr lang="en-US" altLang="zh-CN" dirty="0"/>
              <a:t>P111</a:t>
            </a:r>
            <a:r>
              <a:rPr lang="zh-CN" altLang="en-US" dirty="0"/>
              <a:t>，系统的辨识 例</a:t>
            </a:r>
            <a:r>
              <a:rPr lang="en-US" altLang="zh-CN" dirty="0"/>
              <a:t>5.4</a:t>
            </a:r>
            <a:endParaRPr lang="zh-CN" altLang="en-US" dirty="0"/>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6</a:t>
            </a:fld>
            <a:endParaRPr lang="zh-CN" altLang="en-US"/>
          </a:p>
        </p:txBody>
      </p:sp>
    </p:spTree>
    <p:extLst>
      <p:ext uri="{BB962C8B-B14F-4D97-AF65-F5344CB8AC3E}">
        <p14:creationId xmlns:p14="http://schemas.microsoft.com/office/powerpoint/2010/main" val="93390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例</a:t>
            </a:r>
            <a:r>
              <a:rPr lang="en-US" altLang="zh-CN" dirty="0"/>
              <a:t>5.2</a:t>
            </a:r>
            <a:r>
              <a:rPr lang="zh-CN" altLang="en-US" dirty="0"/>
              <a:t>随机正弦信号 </a:t>
            </a:r>
            <a:r>
              <a:rPr lang="en-US" altLang="zh-CN" dirty="0"/>
              <a:t>P108</a:t>
            </a:r>
            <a:endParaRPr lang="zh-CN" altLang="en-US" dirty="0"/>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7</a:t>
            </a:fld>
            <a:endParaRPr lang="zh-CN" altLang="en-US"/>
          </a:p>
        </p:txBody>
      </p:sp>
    </p:spTree>
    <p:extLst>
      <p:ext uri="{BB962C8B-B14F-4D97-AF65-F5344CB8AC3E}">
        <p14:creationId xmlns:p14="http://schemas.microsoft.com/office/powerpoint/2010/main" val="4129606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仅了解该方法即可！</a:t>
            </a:r>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11</a:t>
            </a:fld>
            <a:endParaRPr lang="zh-CN" altLang="en-US"/>
          </a:p>
        </p:txBody>
      </p:sp>
    </p:spTree>
    <p:extLst>
      <p:ext uri="{BB962C8B-B14F-4D97-AF65-F5344CB8AC3E}">
        <p14:creationId xmlns:p14="http://schemas.microsoft.com/office/powerpoint/2010/main" val="4833786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如何计算？ 为何自相关函数和协方差函数相等？</a:t>
            </a:r>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14</a:t>
            </a:fld>
            <a:endParaRPr lang="zh-CN" altLang="en-US"/>
          </a:p>
        </p:txBody>
      </p:sp>
    </p:spTree>
    <p:extLst>
      <p:ext uri="{BB962C8B-B14F-4D97-AF65-F5344CB8AC3E}">
        <p14:creationId xmlns:p14="http://schemas.microsoft.com/office/powerpoint/2010/main" val="3428707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a:t>
            </a:r>
            <a:r>
              <a:rPr lang="zh-CN" altLang="en-US" dirty="0"/>
              <a:t>面积大小。 </a:t>
            </a:r>
            <a:r>
              <a:rPr lang="en-US" altLang="zh-CN" dirty="0"/>
              <a:t>P=R_Y(0)   Sa(x)</a:t>
            </a:r>
            <a:endParaRPr lang="zh-CN" altLang="en-US" dirty="0"/>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15</a:t>
            </a:fld>
            <a:endParaRPr lang="zh-CN" altLang="en-US"/>
          </a:p>
        </p:txBody>
      </p:sp>
    </p:spTree>
    <p:extLst>
      <p:ext uri="{BB962C8B-B14F-4D97-AF65-F5344CB8AC3E}">
        <p14:creationId xmlns:p14="http://schemas.microsoft.com/office/powerpoint/2010/main" val="250767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低通和带通结果一致！频谱搬移，宽度翻倍，高度减半</a:t>
            </a:r>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20</a:t>
            </a:fld>
            <a:endParaRPr lang="zh-CN" altLang="en-US"/>
          </a:p>
        </p:txBody>
      </p:sp>
    </p:spTree>
    <p:extLst>
      <p:ext uri="{BB962C8B-B14F-4D97-AF65-F5344CB8AC3E}">
        <p14:creationId xmlns:p14="http://schemas.microsoft.com/office/powerpoint/2010/main" val="18924742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读书</a:t>
            </a:r>
            <a:r>
              <a:rPr lang="en-US" altLang="zh-CN" dirty="0"/>
              <a:t>P114</a:t>
            </a:r>
            <a:r>
              <a:rPr lang="zh-CN" altLang="en-US" dirty="0"/>
              <a:t>，</a:t>
            </a:r>
            <a:r>
              <a:rPr lang="en-US" altLang="zh-CN" dirty="0"/>
              <a:t>5.2.3</a:t>
            </a:r>
            <a:endParaRPr lang="zh-CN" altLang="en-US" dirty="0"/>
          </a:p>
        </p:txBody>
      </p:sp>
      <p:sp>
        <p:nvSpPr>
          <p:cNvPr id="4" name="灯片编号占位符 3"/>
          <p:cNvSpPr>
            <a:spLocks noGrp="1"/>
          </p:cNvSpPr>
          <p:nvPr>
            <p:ph type="sldNum" sz="quarter" idx="5"/>
          </p:nvPr>
        </p:nvSpPr>
        <p:spPr/>
        <p:txBody>
          <a:bodyPr/>
          <a:lstStyle/>
          <a:p>
            <a:fld id="{B1544D2F-56DD-4976-9716-D18248F9480C}" type="slidenum">
              <a:rPr lang="zh-CN" altLang="en-US" smtClean="0"/>
              <a:pPr/>
              <a:t>21</a:t>
            </a:fld>
            <a:endParaRPr lang="zh-CN" altLang="en-US"/>
          </a:p>
        </p:txBody>
      </p:sp>
    </p:spTree>
    <p:extLst>
      <p:ext uri="{BB962C8B-B14F-4D97-AF65-F5344CB8AC3E}">
        <p14:creationId xmlns:p14="http://schemas.microsoft.com/office/powerpoint/2010/main" val="500975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19FDD8F-1499-4C79-8BBC-577CD559A01B}" type="datetimeFigureOut">
              <a:rPr lang="zh-CN" altLang="en-US" smtClean="0"/>
              <a:pPr/>
              <a:t>2024/12/13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608100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19FDD8F-1499-4C79-8BBC-577CD559A01B}" type="datetimeFigureOut">
              <a:rPr lang="zh-CN" altLang="en-US" smtClean="0"/>
              <a:pPr/>
              <a:t>2024/12/13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2060645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19FDD8F-1499-4C79-8BBC-577CD559A01B}" type="datetimeFigureOut">
              <a:rPr lang="zh-CN" altLang="en-US" smtClean="0"/>
              <a:pPr/>
              <a:t>2024/12/13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4157325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19FDD8F-1499-4C79-8BBC-577CD559A01B}" type="datetimeFigureOut">
              <a:rPr lang="zh-CN" altLang="en-US" smtClean="0"/>
              <a:pPr/>
              <a:t>2024/12/13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1229563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19FDD8F-1499-4C79-8BBC-577CD559A01B}" type="datetimeFigureOut">
              <a:rPr lang="zh-CN" altLang="en-US" smtClean="0"/>
              <a:pPr/>
              <a:t>2024/12/13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805227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19FDD8F-1499-4C79-8BBC-577CD559A01B}" type="datetimeFigureOut">
              <a:rPr lang="zh-CN" altLang="en-US" smtClean="0"/>
              <a:pPr/>
              <a:t>2024/12/13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351970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19FDD8F-1499-4C79-8BBC-577CD559A01B}" type="datetimeFigureOut">
              <a:rPr lang="zh-CN" altLang="en-US" smtClean="0"/>
              <a:pPr/>
              <a:t>2024/12/13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2690190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19FDD8F-1499-4C79-8BBC-577CD559A01B}" type="datetimeFigureOut">
              <a:rPr lang="zh-CN" altLang="en-US" smtClean="0"/>
              <a:pPr/>
              <a:t>2024/12/13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2650785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19FDD8F-1499-4C79-8BBC-577CD559A01B}" type="datetimeFigureOut">
              <a:rPr lang="zh-CN" altLang="en-US" smtClean="0"/>
              <a:pPr/>
              <a:t>2024/12/13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3461102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19FDD8F-1499-4C79-8BBC-577CD559A01B}" type="datetimeFigureOut">
              <a:rPr lang="zh-CN" altLang="en-US" smtClean="0"/>
              <a:pPr/>
              <a:t>2024/12/13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978355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19FDD8F-1499-4C79-8BBC-577CD559A01B}" type="datetimeFigureOut">
              <a:rPr lang="zh-CN" altLang="en-US" smtClean="0"/>
              <a:pPr/>
              <a:t>2024/12/13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2518791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D139855-D108-4DFB-8CB9-5769378610FC}" type="datetimeFigureOut">
              <a:rPr lang="zh-CN" altLang="en-US" smtClean="0"/>
              <a:pPr/>
              <a:t>2024/12/13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1062518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D139855-D108-4DFB-8CB9-5769378610FC}" type="datetimeFigureOut">
              <a:rPr lang="zh-CN" altLang="en-US" smtClean="0"/>
              <a:pPr/>
              <a:t>2024/12/13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16714900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D139855-D108-4DFB-8CB9-5769378610FC}" type="datetimeFigureOut">
              <a:rPr lang="zh-CN" altLang="en-US" smtClean="0"/>
              <a:pPr/>
              <a:t>2024/12/13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22528297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2D139855-D108-4DFB-8CB9-5769378610FC}" type="datetimeFigureOut">
              <a:rPr lang="zh-CN" altLang="en-US" smtClean="0"/>
              <a:pPr/>
              <a:t>2024/12/13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35488879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2D139855-D108-4DFB-8CB9-5769378610FC}" type="datetimeFigureOut">
              <a:rPr lang="zh-CN" altLang="en-US" smtClean="0"/>
              <a:pPr/>
              <a:t>2024/12/13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28115047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D139855-D108-4DFB-8CB9-5769378610FC}" type="datetimeFigureOut">
              <a:rPr lang="zh-CN" altLang="en-US" smtClean="0"/>
              <a:pPr/>
              <a:t>2024/12/13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9958882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D139855-D108-4DFB-8CB9-5769378610FC}" type="datetimeFigureOut">
              <a:rPr lang="zh-CN" altLang="en-US" smtClean="0"/>
              <a:pPr/>
              <a:t>2024/12/13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20247844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D139855-D108-4DFB-8CB9-5769378610FC}" type="datetimeFigureOut">
              <a:rPr lang="zh-CN" altLang="en-US" smtClean="0"/>
              <a:pPr/>
              <a:t>2024/12/13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20003969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D139855-D108-4DFB-8CB9-5769378610FC}" type="datetimeFigureOut">
              <a:rPr lang="zh-CN" altLang="en-US" smtClean="0"/>
              <a:pPr/>
              <a:t>2024/12/13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28296364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D139855-D108-4DFB-8CB9-5769378610FC}" type="datetimeFigureOut">
              <a:rPr lang="zh-CN" altLang="en-US" smtClean="0"/>
              <a:pPr/>
              <a:t>2024/12/13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4501754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D139855-D108-4DFB-8CB9-5769378610FC}" type="datetimeFigureOut">
              <a:rPr lang="zh-CN" altLang="en-US" smtClean="0"/>
              <a:pPr/>
              <a:t>2024/12/13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10321565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es-ES"/>
          </a:p>
        </p:txBody>
      </p:sp>
      <p:sp>
        <p:nvSpPr>
          <p:cNvPr id="3" name="2 Subtítulo"/>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s-ES"/>
          </a:p>
        </p:txBody>
      </p:sp>
      <p:sp>
        <p:nvSpPr>
          <p:cNvPr id="4" name="3 Marcador de fecha"/>
          <p:cNvSpPr>
            <a:spLocks noGrp="1"/>
          </p:cNvSpPr>
          <p:nvPr>
            <p:ph type="dt" sz="half" idx="10"/>
          </p:nvPr>
        </p:nvSpPr>
        <p:spPr>
          <a:xfrm>
            <a:off x="457200" y="6356350"/>
            <a:ext cx="1306488" cy="365125"/>
          </a:xfrm>
          <a:prstGeom prst="rect">
            <a:avLst/>
          </a:prstGeom>
        </p:spPr>
        <p:txBody>
          <a:bodyPr/>
          <a:lstStyle>
            <a:lvl1pPr>
              <a:defRPr/>
            </a:lvl1pPr>
          </a:lstStyle>
          <a:p>
            <a:pPr>
              <a:defRPr/>
            </a:pPr>
            <a:fld id="{7500E5B7-4980-4DCB-B895-755E41E90C37}" type="datetime1">
              <a:rPr lang="es-ES" altLang="zh-CN" smtClean="0">
                <a:solidFill>
                  <a:prstClr val="black"/>
                </a:solidFill>
              </a:rPr>
              <a:pPr>
                <a:defRPr/>
              </a:pPr>
              <a:t>13/12/2024</a:t>
            </a:fld>
            <a:endParaRPr lang="es-ES" dirty="0">
              <a:solidFill>
                <a:prstClr val="black"/>
              </a:solidFill>
            </a:endParaRPr>
          </a:p>
        </p:txBody>
      </p:sp>
      <p:sp>
        <p:nvSpPr>
          <p:cNvPr id="5" name="4 Marcador de pie de página"/>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s-ES">
              <a:solidFill>
                <a:prstClr val="black"/>
              </a:solidFill>
            </a:endParaRPr>
          </a:p>
        </p:txBody>
      </p:sp>
      <p:sp>
        <p:nvSpPr>
          <p:cNvPr id="6" name="5 Marcador de número de diapositiva"/>
          <p:cNvSpPr>
            <a:spLocks noGrp="1"/>
          </p:cNvSpPr>
          <p:nvPr>
            <p:ph type="sldNum" sz="quarter" idx="12"/>
          </p:nvPr>
        </p:nvSpPr>
        <p:spPr/>
        <p:txBody>
          <a:bodyPr/>
          <a:lstStyle>
            <a:lvl1pPr>
              <a:defRPr/>
            </a:lvl1pPr>
          </a:lstStyle>
          <a:p>
            <a:pPr>
              <a:defRPr/>
            </a:pPr>
            <a:fld id="{C089EF8F-819D-4663-82E4-C10ECE9AAC28}" type="slidenum">
              <a:rPr lang="es-ES">
                <a:solidFill>
                  <a:prstClr val="black">
                    <a:tint val="75000"/>
                  </a:prstClr>
                </a:solidFill>
              </a:rPr>
              <a:pPr>
                <a:defRPr/>
              </a:pPr>
              <a:t>‹#›</a:t>
            </a:fld>
            <a:endParaRPr lang="es-ES" dirty="0">
              <a:solidFill>
                <a:prstClr val="black">
                  <a:tint val="75000"/>
                </a:prstClr>
              </a:solidFill>
            </a:endParaRPr>
          </a:p>
        </p:txBody>
      </p:sp>
    </p:spTree>
    <p:extLst>
      <p:ext uri="{BB962C8B-B14F-4D97-AF65-F5344CB8AC3E}">
        <p14:creationId xmlns:p14="http://schemas.microsoft.com/office/powerpoint/2010/main" val="17490180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灯片编号占位符 2"/>
          <p:cNvSpPr>
            <a:spLocks noGrp="1"/>
          </p:cNvSpPr>
          <p:nvPr>
            <p:ph type="sldNum" sz="quarter" idx="10"/>
          </p:nvPr>
        </p:nvSpPr>
        <p:spPr/>
        <p:txBody>
          <a:bodyPr/>
          <a:lstStyle/>
          <a:p>
            <a:pPr>
              <a:defRPr/>
            </a:pPr>
            <a:endParaRPr lang="es-ES" dirty="0">
              <a:solidFill>
                <a:prstClr val="black">
                  <a:tint val="75000"/>
                </a:prstClr>
              </a:solidFill>
            </a:endParaRPr>
          </a:p>
        </p:txBody>
      </p:sp>
      <p:sp>
        <p:nvSpPr>
          <p:cNvPr id="4" name="日期占位符 3"/>
          <p:cNvSpPr>
            <a:spLocks noGrp="1"/>
          </p:cNvSpPr>
          <p:nvPr>
            <p:ph type="dt" sz="half" idx="11"/>
          </p:nvPr>
        </p:nvSpPr>
        <p:spPr>
          <a:xfrm>
            <a:off x="0" y="6425952"/>
            <a:ext cx="1691680" cy="432048"/>
          </a:xfrm>
          <a:prstGeom prst="rect">
            <a:avLst/>
          </a:prstGeom>
        </p:spPr>
        <p:txBody>
          <a:bodyPr/>
          <a:lstStyle/>
          <a:p>
            <a:pPr>
              <a:defRPr/>
            </a:pPr>
            <a:r>
              <a:rPr lang="es-ES" altLang="zh-CN">
                <a:solidFill>
                  <a:prstClr val="black"/>
                </a:solidFill>
              </a:rPr>
              <a:t>Wensheng Zhang</a:t>
            </a:r>
            <a:endParaRPr lang="es-ES" dirty="0">
              <a:solidFill>
                <a:prstClr val="black"/>
              </a:solidFill>
            </a:endParaRPr>
          </a:p>
        </p:txBody>
      </p:sp>
    </p:spTree>
    <p:extLst>
      <p:ext uri="{BB962C8B-B14F-4D97-AF65-F5344CB8AC3E}">
        <p14:creationId xmlns:p14="http://schemas.microsoft.com/office/powerpoint/2010/main" val="10935885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0" y="0"/>
            <a:ext cx="8173156" cy="1417638"/>
          </a:xfrm>
          <a:prstGeom prst="rect">
            <a:avLst/>
          </a:prstGeom>
        </p:spPr>
        <p:txBody>
          <a:bodyPr/>
          <a:lstStyle/>
          <a:p>
            <a:r>
              <a:rPr lang="zh-CN" altLang="en-US"/>
              <a:t>单击此处编辑母版标题样式</a:t>
            </a:r>
            <a:endParaRPr lang="es-ES" dirty="0"/>
          </a:p>
        </p:txBody>
      </p:sp>
      <p:sp>
        <p:nvSpPr>
          <p:cNvPr id="3" name="2 Marcador de contenido"/>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s-ES" dirty="0"/>
          </a:p>
        </p:txBody>
      </p:sp>
      <p:sp>
        <p:nvSpPr>
          <p:cNvPr id="4" name="3 Marcador de fecha"/>
          <p:cNvSpPr>
            <a:spLocks noGrp="1"/>
          </p:cNvSpPr>
          <p:nvPr>
            <p:ph type="dt" sz="half" idx="10"/>
          </p:nvPr>
        </p:nvSpPr>
        <p:spPr>
          <a:xfrm>
            <a:off x="457200" y="6356350"/>
            <a:ext cx="1306488" cy="365125"/>
          </a:xfrm>
          <a:prstGeom prst="rect">
            <a:avLst/>
          </a:prstGeom>
        </p:spPr>
        <p:txBody>
          <a:bodyPr/>
          <a:lstStyle>
            <a:lvl1pPr>
              <a:defRPr/>
            </a:lvl1pPr>
          </a:lstStyle>
          <a:p>
            <a:pPr>
              <a:defRPr/>
            </a:pPr>
            <a:fld id="{139C957B-D1FD-480F-B320-0EDA5B29C51F}" type="datetime1">
              <a:rPr lang="es-ES" altLang="zh-CN" smtClean="0">
                <a:solidFill>
                  <a:prstClr val="black"/>
                </a:solidFill>
              </a:rPr>
              <a:pPr>
                <a:defRPr/>
              </a:pPr>
              <a:t>13/12/2024</a:t>
            </a:fld>
            <a:endParaRPr lang="es-ES" dirty="0">
              <a:solidFill>
                <a:prstClr val="black"/>
              </a:solidFill>
            </a:endParaRPr>
          </a:p>
        </p:txBody>
      </p:sp>
      <p:sp>
        <p:nvSpPr>
          <p:cNvPr id="5" name="4 Marcador de pie de página"/>
          <p:cNvSpPr>
            <a:spLocks noGrp="1"/>
          </p:cNvSpPr>
          <p:nvPr>
            <p:ph type="ftr" sz="quarter" idx="11"/>
          </p:nvPr>
        </p:nvSpPr>
        <p:spPr>
          <a:xfrm>
            <a:off x="2627784" y="6381328"/>
            <a:ext cx="2895600" cy="365125"/>
          </a:xfrm>
          <a:prstGeom prst="rect">
            <a:avLst/>
          </a:prstGeom>
        </p:spPr>
        <p:txBody>
          <a:bodyPr/>
          <a:lstStyle>
            <a:lvl1pPr>
              <a:defRPr/>
            </a:lvl1pPr>
          </a:lstStyle>
          <a:p>
            <a:pPr>
              <a:defRPr/>
            </a:pPr>
            <a:endParaRPr lang="es-ES" dirty="0">
              <a:solidFill>
                <a:prstClr val="black"/>
              </a:solidFill>
            </a:endParaRPr>
          </a:p>
        </p:txBody>
      </p:sp>
      <p:sp>
        <p:nvSpPr>
          <p:cNvPr id="6" name="5 Marcador de número de diapositiva"/>
          <p:cNvSpPr>
            <a:spLocks noGrp="1"/>
          </p:cNvSpPr>
          <p:nvPr>
            <p:ph type="sldNum" sz="quarter" idx="12"/>
          </p:nvPr>
        </p:nvSpPr>
        <p:spPr/>
        <p:txBody>
          <a:bodyPr/>
          <a:lstStyle>
            <a:lvl1pPr>
              <a:defRPr/>
            </a:lvl1pPr>
          </a:lstStyle>
          <a:p>
            <a:pPr>
              <a:defRPr/>
            </a:pPr>
            <a:fld id="{2FECF0F2-C070-45F9-912E-4BD4A0D78506}" type="slidenum">
              <a:rPr lang="es-ES">
                <a:solidFill>
                  <a:prstClr val="black">
                    <a:tint val="75000"/>
                  </a:prstClr>
                </a:solidFill>
              </a:rPr>
              <a:pPr>
                <a:defRPr/>
              </a:pPr>
              <a:t>‹#›</a:t>
            </a:fld>
            <a:endParaRPr lang="es-ES" dirty="0">
              <a:solidFill>
                <a:prstClr val="black">
                  <a:tint val="75000"/>
                </a:prstClr>
              </a:solidFill>
            </a:endParaRPr>
          </a:p>
        </p:txBody>
      </p:sp>
    </p:spTree>
    <p:extLst>
      <p:ext uri="{BB962C8B-B14F-4D97-AF65-F5344CB8AC3E}">
        <p14:creationId xmlns:p14="http://schemas.microsoft.com/office/powerpoint/2010/main" val="5527464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solidFill>
                  <a:srgbClr val="FF0000"/>
                </a:solidFill>
              </a:defRPr>
            </a:lvl1pPr>
          </a:lstStyle>
          <a:p>
            <a:r>
              <a:rPr lang="zh-CN" altLang="en-US" dirty="0"/>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p>
        </p:txBody>
      </p:sp>
    </p:spTree>
    <p:extLst>
      <p:ext uri="{BB962C8B-B14F-4D97-AF65-F5344CB8AC3E}">
        <p14:creationId xmlns:p14="http://schemas.microsoft.com/office/powerpoint/2010/main" val="19918050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119659"/>
          </a:xfrm>
        </p:spPr>
        <p:txBody>
          <a:bodyPr>
            <a:normAutofit/>
          </a:bodyPr>
          <a:lstStyle>
            <a:lvl1pPr algn="ctr">
              <a:defRPr sz="2700" b="1" baseline="0">
                <a:solidFill>
                  <a:srgbClr val="FF0000"/>
                </a:solidFill>
                <a:latin typeface="Times New Roman" panose="02020603050405020304" pitchFamily="18" charset="0"/>
                <a:ea typeface="隶书" panose="02010509060101010101"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lnSpc>
                <a:spcPct val="110000"/>
              </a:lnSpc>
              <a:spcBef>
                <a:spcPts val="900"/>
              </a:spcBef>
              <a:defRPr sz="2100" b="1" baseline="0">
                <a:solidFill>
                  <a:schemeClr val="tx1"/>
                </a:solidFill>
                <a:latin typeface="Times New Roman" panose="02020603050405020304" pitchFamily="18" charset="0"/>
                <a:ea typeface="楷体" panose="02010609060101010101" pitchFamily="49" charset="-122"/>
              </a:defRPr>
            </a:lvl1pPr>
            <a:lvl2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2pPr>
            <a:lvl3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3pPr>
            <a:lvl4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4pPr>
            <a:lvl5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1515631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75204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0743" y="234841"/>
            <a:ext cx="8229600" cy="674320"/>
          </a:xfrm>
        </p:spPr>
        <p:txBody>
          <a:bodyPr/>
          <a:lstStyle/>
          <a:p>
            <a:r>
              <a:rPr lang="zh-CN" altLang="en-US"/>
              <a:t>单击此处编辑母版标题样式</a:t>
            </a:r>
          </a:p>
        </p:txBody>
      </p:sp>
    </p:spTree>
    <p:extLst>
      <p:ext uri="{BB962C8B-B14F-4D97-AF65-F5344CB8AC3E}">
        <p14:creationId xmlns:p14="http://schemas.microsoft.com/office/powerpoint/2010/main" val="19876686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00114" y="1484313"/>
            <a:ext cx="3775075" cy="5040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27588" y="1484313"/>
            <a:ext cx="3776662" cy="5040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11189" y="6381750"/>
            <a:ext cx="2447925" cy="40005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r>
              <a:rPr lang="en-US" altLang="zh-CN"/>
              <a:t>Copyrights Zhu, Weihong</a:t>
            </a:r>
            <a:r>
              <a:rPr lang="en-US" altLang="zh-CN">
                <a:latin typeface="Tahoma" panose="020B0604030504040204" pitchFamily="34" charset="0"/>
              </a:rPr>
              <a:t> </a:t>
            </a:r>
          </a:p>
        </p:txBody>
      </p:sp>
      <p:sp>
        <p:nvSpPr>
          <p:cNvPr id="6" name="页脚占位符 5"/>
          <p:cNvSpPr>
            <a:spLocks noGrp="1"/>
          </p:cNvSpPr>
          <p:nvPr>
            <p:ph type="ftr" sz="quarter" idx="11"/>
          </p:nvPr>
        </p:nvSpPr>
        <p:spPr>
          <a:xfrm>
            <a:off x="3352800" y="6324600"/>
            <a:ext cx="2895600" cy="45720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dirty="0"/>
          </a:p>
        </p:txBody>
      </p:sp>
    </p:spTree>
    <p:extLst>
      <p:ext uri="{BB962C8B-B14F-4D97-AF65-F5344CB8AC3E}">
        <p14:creationId xmlns:p14="http://schemas.microsoft.com/office/powerpoint/2010/main" val="25697970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4213" y="404815"/>
            <a:ext cx="8134350" cy="828675"/>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412877"/>
            <a:ext cx="37719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412877"/>
            <a:ext cx="37719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1371600" y="6248400"/>
            <a:ext cx="1905000" cy="45720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a:p>
        </p:txBody>
      </p:sp>
      <p:sp>
        <p:nvSpPr>
          <p:cNvPr id="6" name="页脚占位符 5"/>
          <p:cNvSpPr>
            <a:spLocks noGrp="1"/>
          </p:cNvSpPr>
          <p:nvPr>
            <p:ph type="ftr" sz="quarter" idx="11"/>
          </p:nvPr>
        </p:nvSpPr>
        <p:spPr>
          <a:xfrm>
            <a:off x="3549073" y="6400800"/>
            <a:ext cx="2895600" cy="45720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dirty="0"/>
          </a:p>
        </p:txBody>
      </p:sp>
    </p:spTree>
    <p:extLst>
      <p:ext uri="{BB962C8B-B14F-4D97-AF65-F5344CB8AC3E}">
        <p14:creationId xmlns:p14="http://schemas.microsoft.com/office/powerpoint/2010/main" val="9209834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40"/>
            <a:ext cx="8229600" cy="814387"/>
          </a:xfrm>
        </p:spPr>
        <p:txBody>
          <a:bodyPr/>
          <a:lstStyle/>
          <a:p>
            <a:r>
              <a:rPr lang="zh-CN" altLang="en-US"/>
              <a:t>单击此处编辑母版标题样式</a:t>
            </a:r>
          </a:p>
        </p:txBody>
      </p:sp>
      <p:sp>
        <p:nvSpPr>
          <p:cNvPr id="3" name="文本占位符 2"/>
          <p:cNvSpPr>
            <a:spLocks noGrp="1"/>
          </p:cNvSpPr>
          <p:nvPr>
            <p:ph type="body" sz="half" idx="1"/>
          </p:nvPr>
        </p:nvSpPr>
        <p:spPr>
          <a:xfrm>
            <a:off x="466725" y="1196977"/>
            <a:ext cx="4046538" cy="48228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65664" y="1196977"/>
            <a:ext cx="4046537" cy="23352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65664" y="3684588"/>
            <a:ext cx="4046537" cy="23352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3"/>
          <p:cNvSpPr>
            <a:spLocks noGrp="1" noChangeArrowheads="1"/>
          </p:cNvSpPr>
          <p:nvPr>
            <p:ph type="ftr" sz="quarter" idx="10"/>
          </p:nvPr>
        </p:nvSpPr>
        <p:spPr>
          <a:xfrm>
            <a:off x="3028950" y="6356352"/>
            <a:ext cx="3086100" cy="365125"/>
          </a:xfrm>
          <a:prstGeom prst="rect">
            <a:avLst/>
          </a:prstGeom>
        </p:spPr>
        <p:txBody>
          <a:bodyPr wrap="square" numCol="1" anchorCtr="0" compatLnSpc="1">
            <a:prstTxWarp prst="textNoShape">
              <a:avLst/>
            </a:prstTxWarp>
          </a:bodyPr>
          <a:lstStyle>
            <a:lvl1pPr eaLnBrk="1" fontAlgn="base" hangingPunct="1">
              <a:spcBef>
                <a:spcPct val="0"/>
              </a:spcBef>
              <a:spcAft>
                <a:spcPct val="0"/>
              </a:spcAft>
              <a:defRPr>
                <a:solidFill>
                  <a:srgbClr val="898989"/>
                </a:solidFill>
                <a:latin typeface="Comic Sans MS" panose="030F0702030302020204" pitchFamily="66" charset="0"/>
              </a:defRPr>
            </a:lvl1pPr>
          </a:lstStyle>
          <a:p>
            <a:pPr>
              <a:defRPr/>
            </a:pPr>
            <a:r>
              <a:rPr lang="en-US" altLang="zh-CN"/>
              <a:t>	                                                                </a:t>
            </a:r>
            <a:fld id="{2ABEFC1A-4DB4-4CD2-A93A-BB13247C28F4}" type="slidenum">
              <a:rPr lang="en-US" altLang="zh-CN"/>
              <a:pPr>
                <a:defRPr/>
              </a:pPr>
              <a:t>‹#›</a:t>
            </a:fld>
            <a:endParaRPr lang="en-US" altLang="zh-CN"/>
          </a:p>
        </p:txBody>
      </p:sp>
      <p:sp>
        <p:nvSpPr>
          <p:cNvPr id="7" name="Rectangle 8"/>
          <p:cNvSpPr>
            <a:spLocks noGrp="1" noChangeArrowheads="1"/>
          </p:cNvSpPr>
          <p:nvPr>
            <p:ph type="dt" sz="half" idx="11"/>
          </p:nvPr>
        </p:nvSpPr>
        <p:spPr>
          <a:xfrm>
            <a:off x="628650" y="6356352"/>
            <a:ext cx="2057400" cy="365125"/>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a:p>
        </p:txBody>
      </p:sp>
    </p:spTree>
    <p:extLst>
      <p:ext uri="{BB962C8B-B14F-4D97-AF65-F5344CB8AC3E}">
        <p14:creationId xmlns:p14="http://schemas.microsoft.com/office/powerpoint/2010/main" val="12457134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277201"/>
            <a:ext cx="7772400" cy="712546"/>
          </a:xfrm>
        </p:spPr>
        <p:txBody>
          <a:bodyPr/>
          <a:lstStyle/>
          <a:p>
            <a:r>
              <a:rPr lang="zh-CN" altLang="en-US" dirty="0"/>
              <a:t>单击此处编辑母版标题样式</a:t>
            </a:r>
          </a:p>
        </p:txBody>
      </p:sp>
      <p:sp>
        <p:nvSpPr>
          <p:cNvPr id="3" name="日期占位符 3"/>
          <p:cNvSpPr>
            <a:spLocks noGrp="1"/>
          </p:cNvSpPr>
          <p:nvPr>
            <p:ph type="dt" sz="half" idx="10"/>
          </p:nvPr>
        </p:nvSpPr>
        <p:spPr>
          <a:xfrm>
            <a:off x="628650" y="6356352"/>
            <a:ext cx="2057400" cy="365125"/>
          </a:xfrm>
          <a:prstGeom prst="rect">
            <a:avLst/>
          </a:prstGeom>
        </p:spPr>
        <p:txBody>
          <a:bodyPr/>
          <a:lstStyle>
            <a:lvl1pPr eaLnBrk="1" hangingPunct="1">
              <a:defRPr/>
            </a:lvl1pPr>
          </a:lstStyle>
          <a:p>
            <a:pPr>
              <a:defRPr/>
            </a:pPr>
            <a:endParaRPr lang="en-US" altLang="zh-CN"/>
          </a:p>
        </p:txBody>
      </p:sp>
      <p:sp>
        <p:nvSpPr>
          <p:cNvPr id="4" name="页脚占位符 4"/>
          <p:cNvSpPr>
            <a:spLocks noGrp="1"/>
          </p:cNvSpPr>
          <p:nvPr>
            <p:ph type="ftr" sz="quarter" idx="11"/>
          </p:nvPr>
        </p:nvSpPr>
        <p:spPr>
          <a:xfrm>
            <a:off x="3028950" y="6356352"/>
            <a:ext cx="3086100" cy="365125"/>
          </a:xfrm>
          <a:prstGeom prst="rect">
            <a:avLst/>
          </a:prstGeom>
        </p:spPr>
        <p:txBody>
          <a:bodyPr/>
          <a:lstStyle>
            <a:lvl1pPr eaLnBrk="1" hangingPunct="1">
              <a:defRPr/>
            </a:lvl1pPr>
          </a:lstStyle>
          <a:p>
            <a:pPr>
              <a:defRPr/>
            </a:pPr>
            <a:endParaRPr lang="en-US" altLang="zh-CN"/>
          </a:p>
        </p:txBody>
      </p:sp>
      <p:sp>
        <p:nvSpPr>
          <p:cNvPr id="5" name="灯片编号占位符 5"/>
          <p:cNvSpPr>
            <a:spLocks noGrp="1"/>
          </p:cNvSpPr>
          <p:nvPr>
            <p:ph type="sldNum" sz="quarter" idx="12"/>
          </p:nvPr>
        </p:nvSpPr>
        <p:spPr>
          <a:xfrm>
            <a:off x="6457950" y="6356352"/>
            <a:ext cx="2057400" cy="365125"/>
          </a:xfrm>
          <a:prstGeom prst="rect">
            <a:avLst/>
          </a:prstGeom>
        </p:spPr>
        <p:txBody>
          <a:bodyPr/>
          <a:lstStyle>
            <a:lvl1pPr eaLnBrk="1" hangingPunct="1">
              <a:defRPr/>
            </a:lvl1pPr>
          </a:lstStyle>
          <a:p>
            <a:pPr>
              <a:defRPr/>
            </a:pPr>
            <a:fld id="{BF47E86D-3368-47CB-907D-8EA39BDBA846}" type="slidenum">
              <a:rPr lang="en-US" altLang="zh-CN"/>
              <a:pPr>
                <a:defRPr/>
              </a:pPr>
              <a:t>‹#›</a:t>
            </a:fld>
            <a:endParaRPr lang="en-US" altLang="zh-CN"/>
          </a:p>
        </p:txBody>
      </p:sp>
    </p:spTree>
    <p:extLst>
      <p:ext uri="{BB962C8B-B14F-4D97-AF65-F5344CB8AC3E}">
        <p14:creationId xmlns:p14="http://schemas.microsoft.com/office/powerpoint/2010/main" val="39166170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1" y="624254"/>
            <a:ext cx="8255000" cy="5395546"/>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2647829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bl" preserve="1">
  <p:cSld name="1_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81063" y="214313"/>
            <a:ext cx="8062912" cy="919162"/>
          </a:xfrm>
        </p:spPr>
        <p:txBody>
          <a:bodyPr/>
          <a:lstStyle/>
          <a:p>
            <a:r>
              <a:rPr lang="zh-CN" altLang="en-US"/>
              <a:t>单击此处编辑母版标题样式</a:t>
            </a:r>
          </a:p>
        </p:txBody>
      </p:sp>
      <p:sp>
        <p:nvSpPr>
          <p:cNvPr id="3" name="表格占位符 2"/>
          <p:cNvSpPr>
            <a:spLocks noGrp="1"/>
          </p:cNvSpPr>
          <p:nvPr>
            <p:ph type="tbl" idx="1"/>
          </p:nvPr>
        </p:nvSpPr>
        <p:spPr>
          <a:xfrm>
            <a:off x="576264" y="1368427"/>
            <a:ext cx="8351837" cy="5300663"/>
          </a:xfrm>
        </p:spPr>
        <p:txBody>
          <a:bodyPr/>
          <a:lstStyle/>
          <a:p>
            <a:pPr lvl="0"/>
            <a:endParaRPr lang="zh-CN" altLang="en-US" noProof="0"/>
          </a:p>
        </p:txBody>
      </p:sp>
      <p:sp>
        <p:nvSpPr>
          <p:cNvPr id="4" name="Rectangle 12"/>
          <p:cNvSpPr>
            <a:spLocks noGrp="1" noChangeArrowheads="1"/>
          </p:cNvSpPr>
          <p:nvPr>
            <p:ph type="dt" sz="half" idx="10"/>
          </p:nvPr>
        </p:nvSpPr>
        <p:spPr>
          <a:xfrm>
            <a:off x="1162050" y="6243638"/>
            <a:ext cx="1905000" cy="457200"/>
          </a:xfrm>
          <a:prstGeom prst="rect">
            <a:avLst/>
          </a:prstGeom>
        </p:spPr>
        <p:txBody>
          <a:bodyPr/>
          <a:lstStyle>
            <a:lvl1pPr eaLnBrk="1" hangingPunct="1">
              <a:defRPr/>
            </a:lvl1pPr>
          </a:lstStyle>
          <a:p>
            <a:pPr>
              <a:defRPr/>
            </a:pPr>
            <a:endParaRPr lang="en-US" altLang="zh-CN"/>
          </a:p>
        </p:txBody>
      </p:sp>
      <p:sp>
        <p:nvSpPr>
          <p:cNvPr id="5" name="Rectangle 13"/>
          <p:cNvSpPr>
            <a:spLocks noGrp="1" noChangeArrowheads="1"/>
          </p:cNvSpPr>
          <p:nvPr>
            <p:ph type="ftr" sz="quarter" idx="11"/>
          </p:nvPr>
        </p:nvSpPr>
        <p:spPr>
          <a:xfrm>
            <a:off x="3671888" y="6400800"/>
            <a:ext cx="2895600" cy="457200"/>
          </a:xfrm>
          <a:prstGeom prst="rect">
            <a:avLst/>
          </a:prstGeom>
        </p:spPr>
        <p:txBody>
          <a:bodyPr/>
          <a:lstStyle>
            <a:lvl1pPr eaLnBrk="1" hangingPunct="1">
              <a:defRPr/>
            </a:lvl1pPr>
          </a:lstStyle>
          <a:p>
            <a:pPr>
              <a:defRPr/>
            </a:pPr>
            <a:r>
              <a:rPr lang="en-US" altLang="zh-CN"/>
              <a:t>copyright  </a:t>
            </a:r>
            <a:r>
              <a:rPr lang="zh-CN" altLang="en-US"/>
              <a:t>朱维红</a:t>
            </a:r>
            <a:endParaRPr lang="en-US" altLang="zh-CN"/>
          </a:p>
        </p:txBody>
      </p:sp>
      <p:sp>
        <p:nvSpPr>
          <p:cNvPr id="6" name="Rectangle 14"/>
          <p:cNvSpPr>
            <a:spLocks noGrp="1" noChangeArrowheads="1"/>
          </p:cNvSpPr>
          <p:nvPr>
            <p:ph type="sldNum" sz="quarter" idx="12"/>
          </p:nvPr>
        </p:nvSpPr>
        <p:spPr>
          <a:xfrm>
            <a:off x="7042150" y="6243638"/>
            <a:ext cx="1905000" cy="457200"/>
          </a:xfrm>
          <a:prstGeom prst="rect">
            <a:avLst/>
          </a:prstGeom>
        </p:spPr>
        <p:txBody>
          <a:bodyPr/>
          <a:lstStyle>
            <a:lvl1pPr eaLnBrk="1" hangingPunct="1">
              <a:defRPr/>
            </a:lvl1pPr>
          </a:lstStyle>
          <a:p>
            <a:pPr>
              <a:defRPr/>
            </a:pPr>
            <a:fld id="{8D6CB5DB-820B-4257-AA8E-6DE44A776946}" type="slidenum">
              <a:rPr lang="zh-CN" altLang="en-US"/>
              <a:pPr>
                <a:defRPr/>
              </a:pPr>
              <a:t>‹#›</a:t>
            </a:fld>
            <a:endParaRPr lang="en-US" altLang="zh-CN"/>
          </a:p>
        </p:txBody>
      </p:sp>
    </p:spTree>
    <p:extLst>
      <p:ext uri="{BB962C8B-B14F-4D97-AF65-F5344CB8AC3E}">
        <p14:creationId xmlns:p14="http://schemas.microsoft.com/office/powerpoint/2010/main" val="38500959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2"/>
          <p:cNvSpPr>
            <a:spLocks noGrp="1" noChangeArrowheads="1"/>
          </p:cNvSpPr>
          <p:nvPr>
            <p:ph type="dt" sz="half" idx="10"/>
          </p:nvPr>
        </p:nvSpPr>
        <p:spPr>
          <a:xfrm>
            <a:off x="1162050" y="6243638"/>
            <a:ext cx="1905000" cy="457200"/>
          </a:xfrm>
          <a:prstGeom prst="rect">
            <a:avLst/>
          </a:prstGeom>
        </p:spPr>
        <p:txBody>
          <a:bodyPr/>
          <a:lstStyle>
            <a:lvl1pPr eaLnBrk="1" hangingPunct="1">
              <a:defRPr/>
            </a:lvl1pPr>
          </a:lstStyle>
          <a:p>
            <a:pPr>
              <a:defRPr/>
            </a:pPr>
            <a:endParaRPr lang="en-US" altLang="zh-CN"/>
          </a:p>
        </p:txBody>
      </p:sp>
      <p:sp>
        <p:nvSpPr>
          <p:cNvPr id="5" name="Rectangle 13"/>
          <p:cNvSpPr>
            <a:spLocks noGrp="1" noChangeArrowheads="1"/>
          </p:cNvSpPr>
          <p:nvPr>
            <p:ph type="ftr" sz="quarter" idx="11"/>
          </p:nvPr>
        </p:nvSpPr>
        <p:spPr>
          <a:xfrm>
            <a:off x="3671888" y="6400800"/>
            <a:ext cx="2895600" cy="457200"/>
          </a:xfrm>
          <a:prstGeom prst="rect">
            <a:avLst/>
          </a:prstGeom>
        </p:spPr>
        <p:txBody>
          <a:bodyPr/>
          <a:lstStyle>
            <a:lvl1pPr eaLnBrk="1" hangingPunct="1">
              <a:defRPr/>
            </a:lvl1pPr>
          </a:lstStyle>
          <a:p>
            <a:pPr>
              <a:defRPr/>
            </a:pPr>
            <a:r>
              <a:rPr lang="en-US" altLang="zh-CN"/>
              <a:t>copyright  </a:t>
            </a:r>
            <a:r>
              <a:rPr lang="zh-CN" altLang="en-US"/>
              <a:t>朱维红</a:t>
            </a:r>
            <a:endParaRPr lang="en-US" altLang="zh-CN"/>
          </a:p>
        </p:txBody>
      </p:sp>
      <p:sp>
        <p:nvSpPr>
          <p:cNvPr id="6" name="Rectangle 14"/>
          <p:cNvSpPr>
            <a:spLocks noGrp="1" noChangeArrowheads="1"/>
          </p:cNvSpPr>
          <p:nvPr>
            <p:ph type="sldNum" sz="quarter" idx="12"/>
          </p:nvPr>
        </p:nvSpPr>
        <p:spPr>
          <a:xfrm>
            <a:off x="7042150" y="6243638"/>
            <a:ext cx="1905000" cy="457200"/>
          </a:xfrm>
          <a:prstGeom prst="rect">
            <a:avLst/>
          </a:prstGeom>
        </p:spPr>
        <p:txBody>
          <a:bodyPr/>
          <a:lstStyle>
            <a:lvl1pPr eaLnBrk="1" hangingPunct="1">
              <a:defRPr/>
            </a:lvl1pPr>
          </a:lstStyle>
          <a:p>
            <a:pPr>
              <a:defRPr/>
            </a:pPr>
            <a:fld id="{5ED79246-7E55-4F6D-9798-0975818FCCC0}" type="slidenum">
              <a:rPr lang="zh-CN" altLang="en-US"/>
              <a:pPr>
                <a:defRPr/>
              </a:pPr>
              <a:t>‹#›</a:t>
            </a:fld>
            <a:endParaRPr lang="en-US" altLang="zh-CN"/>
          </a:p>
        </p:txBody>
      </p:sp>
    </p:spTree>
    <p:extLst>
      <p:ext uri="{BB962C8B-B14F-4D97-AF65-F5344CB8AC3E}">
        <p14:creationId xmlns:p14="http://schemas.microsoft.com/office/powerpoint/2010/main" val="4466624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881063" y="214313"/>
            <a:ext cx="8062912" cy="919162"/>
          </a:xfrm>
        </p:spPr>
        <p:txBody>
          <a:bodyPr/>
          <a:lstStyle/>
          <a:p>
            <a:r>
              <a:rPr lang="zh-CN" altLang="en-US"/>
              <a:t>单击此处编辑母版标题样式</a:t>
            </a:r>
          </a:p>
        </p:txBody>
      </p:sp>
      <p:sp>
        <p:nvSpPr>
          <p:cNvPr id="3" name="内容占位符 2"/>
          <p:cNvSpPr>
            <a:spLocks noGrp="1"/>
          </p:cNvSpPr>
          <p:nvPr>
            <p:ph sz="quarter" idx="1"/>
          </p:nvPr>
        </p:nvSpPr>
        <p:spPr>
          <a:xfrm>
            <a:off x="576264" y="1368425"/>
            <a:ext cx="4098925" cy="2573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827588" y="1368425"/>
            <a:ext cx="4100512" cy="2573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76264" y="4094165"/>
            <a:ext cx="4098925" cy="25749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827588" y="4094165"/>
            <a:ext cx="4100512" cy="25749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2"/>
          <p:cNvSpPr>
            <a:spLocks noGrp="1" noChangeArrowheads="1"/>
          </p:cNvSpPr>
          <p:nvPr>
            <p:ph type="dt" sz="half" idx="10"/>
          </p:nvPr>
        </p:nvSpPr>
        <p:spPr>
          <a:xfrm>
            <a:off x="1162050" y="6243638"/>
            <a:ext cx="1905000" cy="457200"/>
          </a:xfrm>
          <a:prstGeom prst="rect">
            <a:avLst/>
          </a:prstGeom>
        </p:spPr>
        <p:txBody>
          <a:bodyPr/>
          <a:lstStyle>
            <a:lvl1pPr eaLnBrk="1" hangingPunct="1">
              <a:defRPr/>
            </a:lvl1pPr>
          </a:lstStyle>
          <a:p>
            <a:pPr>
              <a:defRPr/>
            </a:pPr>
            <a:endParaRPr lang="en-US" altLang="zh-CN"/>
          </a:p>
        </p:txBody>
      </p:sp>
      <p:sp>
        <p:nvSpPr>
          <p:cNvPr id="8" name="Rectangle 13"/>
          <p:cNvSpPr>
            <a:spLocks noGrp="1" noChangeArrowheads="1"/>
          </p:cNvSpPr>
          <p:nvPr>
            <p:ph type="ftr" sz="quarter" idx="11"/>
          </p:nvPr>
        </p:nvSpPr>
        <p:spPr>
          <a:xfrm>
            <a:off x="3671888" y="6400800"/>
            <a:ext cx="2895600" cy="457200"/>
          </a:xfrm>
          <a:prstGeom prst="rect">
            <a:avLst/>
          </a:prstGeom>
        </p:spPr>
        <p:txBody>
          <a:bodyPr/>
          <a:lstStyle>
            <a:lvl1pPr eaLnBrk="1" hangingPunct="1">
              <a:defRPr/>
            </a:lvl1pPr>
          </a:lstStyle>
          <a:p>
            <a:pPr>
              <a:defRPr/>
            </a:pPr>
            <a:r>
              <a:rPr lang="en-US" altLang="zh-CN"/>
              <a:t>copyright  </a:t>
            </a:r>
            <a:r>
              <a:rPr lang="zh-CN" altLang="en-US"/>
              <a:t>朱维红</a:t>
            </a:r>
            <a:endParaRPr lang="en-US" altLang="zh-CN"/>
          </a:p>
        </p:txBody>
      </p:sp>
      <p:sp>
        <p:nvSpPr>
          <p:cNvPr id="9" name="Rectangle 14"/>
          <p:cNvSpPr>
            <a:spLocks noGrp="1" noChangeArrowheads="1"/>
          </p:cNvSpPr>
          <p:nvPr>
            <p:ph type="sldNum" sz="quarter" idx="12"/>
          </p:nvPr>
        </p:nvSpPr>
        <p:spPr>
          <a:xfrm>
            <a:off x="7042150" y="6243638"/>
            <a:ext cx="1905000" cy="457200"/>
          </a:xfrm>
          <a:prstGeom prst="rect">
            <a:avLst/>
          </a:prstGeom>
        </p:spPr>
        <p:txBody>
          <a:bodyPr/>
          <a:lstStyle>
            <a:lvl1pPr eaLnBrk="1" hangingPunct="1">
              <a:defRPr/>
            </a:lvl1pPr>
          </a:lstStyle>
          <a:p>
            <a:pPr>
              <a:defRPr/>
            </a:pPr>
            <a:fld id="{448E00CF-70E6-4210-B23A-8272C8897EC1}" type="slidenum">
              <a:rPr lang="zh-CN" altLang="en-US"/>
              <a:pPr>
                <a:defRPr/>
              </a:pPr>
              <a:t>‹#›</a:t>
            </a:fld>
            <a:endParaRPr lang="en-US" altLang="zh-CN"/>
          </a:p>
        </p:txBody>
      </p:sp>
    </p:spTree>
    <p:extLst>
      <p:ext uri="{BB962C8B-B14F-4D97-AF65-F5344CB8AC3E}">
        <p14:creationId xmlns:p14="http://schemas.microsoft.com/office/powerpoint/2010/main" val="17662702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536331"/>
            <a:ext cx="7772400" cy="534694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569345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386863"/>
            <a:ext cx="7772400" cy="54964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15518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457201"/>
            <a:ext cx="7772400" cy="542607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8653302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430823"/>
            <a:ext cx="7772400" cy="545245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922463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580293"/>
            <a:ext cx="7772400" cy="530298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3013288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solidFill>
                  <a:srgbClr val="FF0000"/>
                </a:solidFill>
              </a:defRPr>
            </a:lvl1pPr>
          </a:lstStyle>
          <a:p>
            <a:r>
              <a:rPr lang="zh-CN" altLang="en-US" dirty="0"/>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p>
        </p:txBody>
      </p:sp>
    </p:spTree>
    <p:extLst>
      <p:ext uri="{BB962C8B-B14F-4D97-AF65-F5344CB8AC3E}">
        <p14:creationId xmlns:p14="http://schemas.microsoft.com/office/powerpoint/2010/main" val="29299126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119659"/>
          </a:xfrm>
        </p:spPr>
        <p:txBody>
          <a:bodyPr>
            <a:normAutofit/>
          </a:bodyPr>
          <a:lstStyle>
            <a:lvl1pPr algn="ctr">
              <a:defRPr sz="2700" b="1" baseline="0">
                <a:solidFill>
                  <a:srgbClr val="FF0000"/>
                </a:solidFill>
                <a:latin typeface="Times New Roman" panose="02020603050405020304" pitchFamily="18" charset="0"/>
                <a:ea typeface="隶书" panose="02010509060101010101"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lnSpc>
                <a:spcPct val="110000"/>
              </a:lnSpc>
              <a:spcBef>
                <a:spcPts val="900"/>
              </a:spcBef>
              <a:defRPr sz="2100" b="1" baseline="0">
                <a:solidFill>
                  <a:schemeClr val="tx1"/>
                </a:solidFill>
                <a:latin typeface="Times New Roman" panose="02020603050405020304" pitchFamily="18" charset="0"/>
                <a:ea typeface="楷体" panose="02010609060101010101" pitchFamily="49" charset="-122"/>
              </a:defRPr>
            </a:lvl1pPr>
            <a:lvl2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2pPr>
            <a:lvl3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3pPr>
            <a:lvl4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4pPr>
            <a:lvl5pPr>
              <a:lnSpc>
                <a:spcPct val="110000"/>
              </a:lnSpc>
              <a:spcBef>
                <a:spcPts val="900"/>
              </a:spcBef>
              <a:defRPr sz="1800" b="1" baseline="0">
                <a:solidFill>
                  <a:schemeClr val="tx1"/>
                </a:solidFill>
                <a:latin typeface="Times New Roman" panose="02020603050405020304" pitchFamily="18" charset="0"/>
                <a:ea typeface="楷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30273999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029615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0743" y="234841"/>
            <a:ext cx="8229600" cy="674320"/>
          </a:xfrm>
        </p:spPr>
        <p:txBody>
          <a:bodyPr/>
          <a:lstStyle/>
          <a:p>
            <a:r>
              <a:rPr lang="zh-CN" altLang="en-US"/>
              <a:t>单击此处编辑母版标题样式</a:t>
            </a:r>
          </a:p>
        </p:txBody>
      </p:sp>
    </p:spTree>
    <p:extLst>
      <p:ext uri="{BB962C8B-B14F-4D97-AF65-F5344CB8AC3E}">
        <p14:creationId xmlns:p14="http://schemas.microsoft.com/office/powerpoint/2010/main" val="333063572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00114" y="1484313"/>
            <a:ext cx="3775075" cy="5040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27588" y="1484313"/>
            <a:ext cx="3776662" cy="5040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11189" y="6381750"/>
            <a:ext cx="2447925" cy="40005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r>
              <a:rPr lang="en-US" altLang="zh-CN"/>
              <a:t>Copyrights Zhu, Weihong</a:t>
            </a:r>
            <a:r>
              <a:rPr lang="en-US" altLang="zh-CN">
                <a:latin typeface="Tahoma" panose="020B0604030504040204" pitchFamily="34" charset="0"/>
              </a:rPr>
              <a:t> </a:t>
            </a:r>
          </a:p>
        </p:txBody>
      </p:sp>
      <p:sp>
        <p:nvSpPr>
          <p:cNvPr id="6" name="页脚占位符 5"/>
          <p:cNvSpPr>
            <a:spLocks noGrp="1"/>
          </p:cNvSpPr>
          <p:nvPr>
            <p:ph type="ftr" sz="quarter" idx="11"/>
          </p:nvPr>
        </p:nvSpPr>
        <p:spPr>
          <a:xfrm>
            <a:off x="3352800" y="6324600"/>
            <a:ext cx="2895600" cy="45720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a:p>
        </p:txBody>
      </p:sp>
    </p:spTree>
    <p:extLst>
      <p:ext uri="{BB962C8B-B14F-4D97-AF65-F5344CB8AC3E}">
        <p14:creationId xmlns:p14="http://schemas.microsoft.com/office/powerpoint/2010/main" val="24565599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4213" y="404815"/>
            <a:ext cx="8134350" cy="828675"/>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412877"/>
            <a:ext cx="37719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412877"/>
            <a:ext cx="37719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1371600" y="6248400"/>
            <a:ext cx="1905000" cy="45720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a:p>
        </p:txBody>
      </p:sp>
      <p:sp>
        <p:nvSpPr>
          <p:cNvPr id="6" name="页脚占位符 5"/>
          <p:cNvSpPr>
            <a:spLocks noGrp="1"/>
          </p:cNvSpPr>
          <p:nvPr>
            <p:ph type="ftr" sz="quarter" idx="11"/>
          </p:nvPr>
        </p:nvSpPr>
        <p:spPr>
          <a:xfrm>
            <a:off x="3549073" y="6400800"/>
            <a:ext cx="2895600" cy="457200"/>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dirty="0"/>
          </a:p>
        </p:txBody>
      </p:sp>
    </p:spTree>
    <p:extLst>
      <p:ext uri="{BB962C8B-B14F-4D97-AF65-F5344CB8AC3E}">
        <p14:creationId xmlns:p14="http://schemas.microsoft.com/office/powerpoint/2010/main" val="56278610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40"/>
            <a:ext cx="8229600" cy="814387"/>
          </a:xfrm>
        </p:spPr>
        <p:txBody>
          <a:bodyPr/>
          <a:lstStyle/>
          <a:p>
            <a:r>
              <a:rPr lang="zh-CN" altLang="en-US"/>
              <a:t>单击此处编辑母版标题样式</a:t>
            </a:r>
          </a:p>
        </p:txBody>
      </p:sp>
      <p:sp>
        <p:nvSpPr>
          <p:cNvPr id="3" name="文本占位符 2"/>
          <p:cNvSpPr>
            <a:spLocks noGrp="1"/>
          </p:cNvSpPr>
          <p:nvPr>
            <p:ph type="body" sz="half" idx="1"/>
          </p:nvPr>
        </p:nvSpPr>
        <p:spPr>
          <a:xfrm>
            <a:off x="466725" y="1196977"/>
            <a:ext cx="4046538" cy="48228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65664" y="1196977"/>
            <a:ext cx="4046537" cy="23352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65664" y="3684588"/>
            <a:ext cx="4046537" cy="23352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3"/>
          <p:cNvSpPr>
            <a:spLocks noGrp="1" noChangeArrowheads="1"/>
          </p:cNvSpPr>
          <p:nvPr>
            <p:ph type="ftr" sz="quarter" idx="10"/>
          </p:nvPr>
        </p:nvSpPr>
        <p:spPr>
          <a:xfrm>
            <a:off x="3028950" y="6356352"/>
            <a:ext cx="3086100" cy="365125"/>
          </a:xfrm>
          <a:prstGeom prst="rect">
            <a:avLst/>
          </a:prstGeom>
        </p:spPr>
        <p:txBody>
          <a:bodyPr wrap="square" numCol="1" anchorCtr="0" compatLnSpc="1">
            <a:prstTxWarp prst="textNoShape">
              <a:avLst/>
            </a:prstTxWarp>
          </a:bodyPr>
          <a:lstStyle>
            <a:lvl1pPr eaLnBrk="1" fontAlgn="base" hangingPunct="1">
              <a:spcBef>
                <a:spcPct val="0"/>
              </a:spcBef>
              <a:spcAft>
                <a:spcPct val="0"/>
              </a:spcAft>
              <a:defRPr>
                <a:solidFill>
                  <a:srgbClr val="898989"/>
                </a:solidFill>
                <a:latin typeface="Comic Sans MS" panose="030F0702030302020204" pitchFamily="66" charset="0"/>
              </a:defRPr>
            </a:lvl1pPr>
          </a:lstStyle>
          <a:p>
            <a:pPr>
              <a:defRPr/>
            </a:pPr>
            <a:r>
              <a:rPr lang="en-US" altLang="zh-CN"/>
              <a:t>	                                                                </a:t>
            </a:r>
            <a:fld id="{2ABEFC1A-4DB4-4CD2-A93A-BB13247C28F4}" type="slidenum">
              <a:rPr lang="en-US" altLang="zh-CN"/>
              <a:pPr>
                <a:defRPr/>
              </a:pPr>
              <a:t>‹#›</a:t>
            </a:fld>
            <a:endParaRPr lang="en-US" altLang="zh-CN"/>
          </a:p>
        </p:txBody>
      </p:sp>
      <p:sp>
        <p:nvSpPr>
          <p:cNvPr id="7" name="Rectangle 8"/>
          <p:cNvSpPr>
            <a:spLocks noGrp="1" noChangeArrowheads="1"/>
          </p:cNvSpPr>
          <p:nvPr>
            <p:ph type="dt" sz="half" idx="11"/>
          </p:nvPr>
        </p:nvSpPr>
        <p:spPr>
          <a:xfrm>
            <a:off x="628650" y="6356352"/>
            <a:ext cx="2057400" cy="365125"/>
          </a:xfrm>
          <a:prstGeom prst="rect">
            <a:avLst/>
          </a:prstGeom>
        </p:spPr>
        <p:txBody>
          <a:bodyPr/>
          <a:lstStyle>
            <a:lvl1pPr eaLnBrk="1" hangingPunct="1">
              <a:defRPr>
                <a:solidFill>
                  <a:srgbClr val="000000"/>
                </a:solidFill>
                <a:latin typeface="Comic Sans MS" panose="030F0702030302020204" pitchFamily="66" charset="0"/>
              </a:defRPr>
            </a:lvl1pPr>
          </a:lstStyle>
          <a:p>
            <a:pPr>
              <a:defRPr/>
            </a:pPr>
            <a:endParaRPr lang="en-US" altLang="zh-CN"/>
          </a:p>
        </p:txBody>
      </p:sp>
    </p:spTree>
    <p:extLst>
      <p:ext uri="{BB962C8B-B14F-4D97-AF65-F5344CB8AC3E}">
        <p14:creationId xmlns:p14="http://schemas.microsoft.com/office/powerpoint/2010/main" val="171106709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277201"/>
            <a:ext cx="7772400" cy="712546"/>
          </a:xfrm>
        </p:spPr>
        <p:txBody>
          <a:bodyPr/>
          <a:lstStyle/>
          <a:p>
            <a:r>
              <a:rPr lang="zh-CN" altLang="en-US" dirty="0"/>
              <a:t>单击此处编辑母版标题样式</a:t>
            </a:r>
          </a:p>
        </p:txBody>
      </p:sp>
      <p:sp>
        <p:nvSpPr>
          <p:cNvPr id="3" name="日期占位符 3"/>
          <p:cNvSpPr>
            <a:spLocks noGrp="1"/>
          </p:cNvSpPr>
          <p:nvPr>
            <p:ph type="dt" sz="half" idx="10"/>
          </p:nvPr>
        </p:nvSpPr>
        <p:spPr>
          <a:xfrm>
            <a:off x="628650" y="6356352"/>
            <a:ext cx="2057400" cy="365125"/>
          </a:xfrm>
          <a:prstGeom prst="rect">
            <a:avLst/>
          </a:prstGeom>
        </p:spPr>
        <p:txBody>
          <a:bodyPr/>
          <a:lstStyle>
            <a:lvl1pPr eaLnBrk="1" hangingPunct="1">
              <a:defRPr/>
            </a:lvl1pPr>
          </a:lstStyle>
          <a:p>
            <a:pPr>
              <a:defRPr/>
            </a:pPr>
            <a:endParaRPr lang="en-US" altLang="zh-CN"/>
          </a:p>
        </p:txBody>
      </p:sp>
      <p:sp>
        <p:nvSpPr>
          <p:cNvPr id="4" name="页脚占位符 4"/>
          <p:cNvSpPr>
            <a:spLocks noGrp="1"/>
          </p:cNvSpPr>
          <p:nvPr>
            <p:ph type="ftr" sz="quarter" idx="11"/>
          </p:nvPr>
        </p:nvSpPr>
        <p:spPr>
          <a:xfrm>
            <a:off x="3028950" y="6356352"/>
            <a:ext cx="3086100" cy="365125"/>
          </a:xfrm>
          <a:prstGeom prst="rect">
            <a:avLst/>
          </a:prstGeom>
        </p:spPr>
        <p:txBody>
          <a:bodyPr/>
          <a:lstStyle>
            <a:lvl1pPr eaLnBrk="1" hangingPunct="1">
              <a:defRPr/>
            </a:lvl1pPr>
          </a:lstStyle>
          <a:p>
            <a:pPr>
              <a:defRPr/>
            </a:pPr>
            <a:endParaRPr lang="en-US" altLang="zh-CN"/>
          </a:p>
        </p:txBody>
      </p:sp>
      <p:sp>
        <p:nvSpPr>
          <p:cNvPr id="5" name="灯片编号占位符 5"/>
          <p:cNvSpPr>
            <a:spLocks noGrp="1"/>
          </p:cNvSpPr>
          <p:nvPr>
            <p:ph type="sldNum" sz="quarter" idx="12"/>
          </p:nvPr>
        </p:nvSpPr>
        <p:spPr>
          <a:xfrm>
            <a:off x="6457950" y="6356352"/>
            <a:ext cx="2057400" cy="365125"/>
          </a:xfrm>
          <a:prstGeom prst="rect">
            <a:avLst/>
          </a:prstGeom>
        </p:spPr>
        <p:txBody>
          <a:bodyPr/>
          <a:lstStyle>
            <a:lvl1pPr eaLnBrk="1" hangingPunct="1">
              <a:defRPr/>
            </a:lvl1pPr>
          </a:lstStyle>
          <a:p>
            <a:pPr>
              <a:defRPr/>
            </a:pPr>
            <a:fld id="{BF47E86D-3368-47CB-907D-8EA39BDBA846}" type="slidenum">
              <a:rPr lang="en-US" altLang="zh-CN"/>
              <a:pPr>
                <a:defRPr/>
              </a:pPr>
              <a:t>‹#›</a:t>
            </a:fld>
            <a:endParaRPr lang="en-US" altLang="zh-CN"/>
          </a:p>
        </p:txBody>
      </p:sp>
    </p:spTree>
    <p:extLst>
      <p:ext uri="{BB962C8B-B14F-4D97-AF65-F5344CB8AC3E}">
        <p14:creationId xmlns:p14="http://schemas.microsoft.com/office/powerpoint/2010/main" val="10733370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1" y="624254"/>
            <a:ext cx="8255000" cy="5395546"/>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Rectangle 3"/>
          <p:cNvSpPr>
            <a:spLocks noGrp="1" noChangeArrowheads="1"/>
          </p:cNvSpPr>
          <p:nvPr>
            <p:ph type="ftr" sz="quarter" idx="10"/>
          </p:nvPr>
        </p:nvSpPr>
        <p:spPr>
          <a:xfrm>
            <a:off x="3028950" y="6356352"/>
            <a:ext cx="3086100" cy="365125"/>
          </a:xfrm>
          <a:prstGeom prst="rect">
            <a:avLst/>
          </a:prstGeom>
        </p:spPr>
        <p:txBody>
          <a:bodyPr/>
          <a:lstStyle>
            <a:lvl1pPr eaLnBrk="1" hangingPunct="1">
              <a:defRPr/>
            </a:lvl1pPr>
          </a:lstStyle>
          <a:p>
            <a:pPr>
              <a:defRPr/>
            </a:pPr>
            <a:r>
              <a:rPr lang="en-US" altLang="zh-CN"/>
              <a:t>Copyright by Hailiang Xiong</a:t>
            </a:r>
            <a:r>
              <a:rPr lang="zh-CN" altLang="en-US"/>
              <a:t>山东大学</a:t>
            </a:r>
            <a:r>
              <a:rPr lang="en-US" altLang="zh-CN">
                <a:latin typeface="Arial" panose="020B0604020202020204" pitchFamily="34" charset="0"/>
              </a:rPr>
              <a:t>	                                                                </a:t>
            </a:r>
            <a:fld id="{8FBAAC0D-07A3-4AB9-A234-A9E9A2F0A6FD}" type="slidenum">
              <a:rPr lang="en-US" altLang="zh-CN">
                <a:latin typeface="Arial" panose="020B0604020202020204" pitchFamily="34" charset="0"/>
              </a:rPr>
              <a:pPr>
                <a:defRPr/>
              </a:pPr>
              <a:t>‹#›</a:t>
            </a:fld>
            <a:endParaRPr lang="en-US" altLang="zh-CN">
              <a:latin typeface="Arial" panose="020B0604020202020204" pitchFamily="34" charset="0"/>
            </a:endParaRPr>
          </a:p>
        </p:txBody>
      </p:sp>
    </p:spTree>
    <p:extLst>
      <p:ext uri="{BB962C8B-B14F-4D97-AF65-F5344CB8AC3E}">
        <p14:creationId xmlns:p14="http://schemas.microsoft.com/office/powerpoint/2010/main" val="26581336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bl" preserve="1">
  <p:cSld name="1_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81063" y="214313"/>
            <a:ext cx="8062912" cy="919162"/>
          </a:xfrm>
        </p:spPr>
        <p:txBody>
          <a:bodyPr/>
          <a:lstStyle/>
          <a:p>
            <a:r>
              <a:rPr lang="zh-CN" altLang="en-US"/>
              <a:t>单击此处编辑母版标题样式</a:t>
            </a:r>
          </a:p>
        </p:txBody>
      </p:sp>
      <p:sp>
        <p:nvSpPr>
          <p:cNvPr id="3" name="表格占位符 2"/>
          <p:cNvSpPr>
            <a:spLocks noGrp="1"/>
          </p:cNvSpPr>
          <p:nvPr>
            <p:ph type="tbl" idx="1"/>
          </p:nvPr>
        </p:nvSpPr>
        <p:spPr>
          <a:xfrm>
            <a:off x="576264" y="1368427"/>
            <a:ext cx="8351837" cy="5300663"/>
          </a:xfrm>
        </p:spPr>
        <p:txBody>
          <a:bodyPr/>
          <a:lstStyle/>
          <a:p>
            <a:pPr lvl="0"/>
            <a:endParaRPr lang="zh-CN" altLang="en-US" noProof="0"/>
          </a:p>
        </p:txBody>
      </p:sp>
      <p:sp>
        <p:nvSpPr>
          <p:cNvPr id="4" name="Rectangle 12"/>
          <p:cNvSpPr>
            <a:spLocks noGrp="1" noChangeArrowheads="1"/>
          </p:cNvSpPr>
          <p:nvPr>
            <p:ph type="dt" sz="half" idx="10"/>
          </p:nvPr>
        </p:nvSpPr>
        <p:spPr>
          <a:xfrm>
            <a:off x="1162050" y="6243638"/>
            <a:ext cx="1905000" cy="457200"/>
          </a:xfrm>
          <a:prstGeom prst="rect">
            <a:avLst/>
          </a:prstGeom>
        </p:spPr>
        <p:txBody>
          <a:bodyPr/>
          <a:lstStyle>
            <a:lvl1pPr eaLnBrk="1" hangingPunct="1">
              <a:defRPr/>
            </a:lvl1pPr>
          </a:lstStyle>
          <a:p>
            <a:pPr>
              <a:defRPr/>
            </a:pPr>
            <a:endParaRPr lang="en-US" altLang="zh-CN"/>
          </a:p>
        </p:txBody>
      </p:sp>
      <p:sp>
        <p:nvSpPr>
          <p:cNvPr id="5" name="Rectangle 13"/>
          <p:cNvSpPr>
            <a:spLocks noGrp="1" noChangeArrowheads="1"/>
          </p:cNvSpPr>
          <p:nvPr>
            <p:ph type="ftr" sz="quarter" idx="11"/>
          </p:nvPr>
        </p:nvSpPr>
        <p:spPr>
          <a:xfrm>
            <a:off x="3671888" y="6400800"/>
            <a:ext cx="2895600" cy="457200"/>
          </a:xfrm>
          <a:prstGeom prst="rect">
            <a:avLst/>
          </a:prstGeom>
        </p:spPr>
        <p:txBody>
          <a:bodyPr/>
          <a:lstStyle>
            <a:lvl1pPr eaLnBrk="1" hangingPunct="1">
              <a:defRPr/>
            </a:lvl1pPr>
          </a:lstStyle>
          <a:p>
            <a:pPr>
              <a:defRPr/>
            </a:pPr>
            <a:r>
              <a:rPr lang="en-US" altLang="zh-CN"/>
              <a:t>copyright  </a:t>
            </a:r>
            <a:r>
              <a:rPr lang="zh-CN" altLang="en-US"/>
              <a:t>朱维红</a:t>
            </a:r>
            <a:endParaRPr lang="en-US" altLang="zh-CN"/>
          </a:p>
        </p:txBody>
      </p:sp>
      <p:sp>
        <p:nvSpPr>
          <p:cNvPr id="6" name="Rectangle 14"/>
          <p:cNvSpPr>
            <a:spLocks noGrp="1" noChangeArrowheads="1"/>
          </p:cNvSpPr>
          <p:nvPr>
            <p:ph type="sldNum" sz="quarter" idx="12"/>
          </p:nvPr>
        </p:nvSpPr>
        <p:spPr>
          <a:xfrm>
            <a:off x="7042150" y="6243638"/>
            <a:ext cx="1905000" cy="457200"/>
          </a:xfrm>
          <a:prstGeom prst="rect">
            <a:avLst/>
          </a:prstGeom>
        </p:spPr>
        <p:txBody>
          <a:bodyPr/>
          <a:lstStyle>
            <a:lvl1pPr eaLnBrk="1" hangingPunct="1">
              <a:defRPr/>
            </a:lvl1pPr>
          </a:lstStyle>
          <a:p>
            <a:pPr>
              <a:defRPr/>
            </a:pPr>
            <a:fld id="{8D6CB5DB-820B-4257-AA8E-6DE44A776946}" type="slidenum">
              <a:rPr lang="zh-CN" altLang="en-US"/>
              <a:pPr>
                <a:defRPr/>
              </a:pPr>
              <a:t>‹#›</a:t>
            </a:fld>
            <a:endParaRPr lang="en-US" altLang="zh-CN"/>
          </a:p>
        </p:txBody>
      </p:sp>
    </p:spTree>
    <p:extLst>
      <p:ext uri="{BB962C8B-B14F-4D97-AF65-F5344CB8AC3E}">
        <p14:creationId xmlns:p14="http://schemas.microsoft.com/office/powerpoint/2010/main" val="10679253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2"/>
          <p:cNvSpPr>
            <a:spLocks noGrp="1" noChangeArrowheads="1"/>
          </p:cNvSpPr>
          <p:nvPr>
            <p:ph type="dt" sz="half" idx="10"/>
          </p:nvPr>
        </p:nvSpPr>
        <p:spPr>
          <a:xfrm>
            <a:off x="1162050" y="6243638"/>
            <a:ext cx="1905000" cy="457200"/>
          </a:xfrm>
          <a:prstGeom prst="rect">
            <a:avLst/>
          </a:prstGeom>
        </p:spPr>
        <p:txBody>
          <a:bodyPr/>
          <a:lstStyle>
            <a:lvl1pPr eaLnBrk="1" hangingPunct="1">
              <a:defRPr/>
            </a:lvl1pPr>
          </a:lstStyle>
          <a:p>
            <a:pPr>
              <a:defRPr/>
            </a:pPr>
            <a:endParaRPr lang="en-US" altLang="zh-CN"/>
          </a:p>
        </p:txBody>
      </p:sp>
      <p:sp>
        <p:nvSpPr>
          <p:cNvPr id="5" name="Rectangle 13"/>
          <p:cNvSpPr>
            <a:spLocks noGrp="1" noChangeArrowheads="1"/>
          </p:cNvSpPr>
          <p:nvPr>
            <p:ph type="ftr" sz="quarter" idx="11"/>
          </p:nvPr>
        </p:nvSpPr>
        <p:spPr>
          <a:xfrm>
            <a:off x="3671888" y="6400800"/>
            <a:ext cx="2895600" cy="457200"/>
          </a:xfrm>
          <a:prstGeom prst="rect">
            <a:avLst/>
          </a:prstGeom>
        </p:spPr>
        <p:txBody>
          <a:bodyPr/>
          <a:lstStyle>
            <a:lvl1pPr eaLnBrk="1" hangingPunct="1">
              <a:defRPr/>
            </a:lvl1pPr>
          </a:lstStyle>
          <a:p>
            <a:pPr>
              <a:defRPr/>
            </a:pPr>
            <a:r>
              <a:rPr lang="en-US" altLang="zh-CN"/>
              <a:t>copyright  </a:t>
            </a:r>
            <a:r>
              <a:rPr lang="zh-CN" altLang="en-US"/>
              <a:t>朱维红</a:t>
            </a:r>
            <a:endParaRPr lang="en-US" altLang="zh-CN"/>
          </a:p>
        </p:txBody>
      </p:sp>
      <p:sp>
        <p:nvSpPr>
          <p:cNvPr id="6" name="Rectangle 14"/>
          <p:cNvSpPr>
            <a:spLocks noGrp="1" noChangeArrowheads="1"/>
          </p:cNvSpPr>
          <p:nvPr>
            <p:ph type="sldNum" sz="quarter" idx="12"/>
          </p:nvPr>
        </p:nvSpPr>
        <p:spPr>
          <a:xfrm>
            <a:off x="7042150" y="6243638"/>
            <a:ext cx="1905000" cy="457200"/>
          </a:xfrm>
          <a:prstGeom prst="rect">
            <a:avLst/>
          </a:prstGeom>
        </p:spPr>
        <p:txBody>
          <a:bodyPr/>
          <a:lstStyle>
            <a:lvl1pPr eaLnBrk="1" hangingPunct="1">
              <a:defRPr/>
            </a:lvl1pPr>
          </a:lstStyle>
          <a:p>
            <a:pPr>
              <a:defRPr/>
            </a:pPr>
            <a:fld id="{5ED79246-7E55-4F6D-9798-0975818FCCC0}" type="slidenum">
              <a:rPr lang="zh-CN" altLang="en-US"/>
              <a:pPr>
                <a:defRPr/>
              </a:pPr>
              <a:t>‹#›</a:t>
            </a:fld>
            <a:endParaRPr lang="en-US" altLang="zh-CN"/>
          </a:p>
        </p:txBody>
      </p:sp>
    </p:spTree>
    <p:extLst>
      <p:ext uri="{BB962C8B-B14F-4D97-AF65-F5344CB8AC3E}">
        <p14:creationId xmlns:p14="http://schemas.microsoft.com/office/powerpoint/2010/main" val="30447978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881063" y="214313"/>
            <a:ext cx="8062912" cy="919162"/>
          </a:xfrm>
        </p:spPr>
        <p:txBody>
          <a:bodyPr/>
          <a:lstStyle/>
          <a:p>
            <a:r>
              <a:rPr lang="zh-CN" altLang="en-US"/>
              <a:t>单击此处编辑母版标题样式</a:t>
            </a:r>
          </a:p>
        </p:txBody>
      </p:sp>
      <p:sp>
        <p:nvSpPr>
          <p:cNvPr id="3" name="内容占位符 2"/>
          <p:cNvSpPr>
            <a:spLocks noGrp="1"/>
          </p:cNvSpPr>
          <p:nvPr>
            <p:ph sz="quarter" idx="1"/>
          </p:nvPr>
        </p:nvSpPr>
        <p:spPr>
          <a:xfrm>
            <a:off x="576264" y="1368425"/>
            <a:ext cx="4098925" cy="2573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827588" y="1368425"/>
            <a:ext cx="4100512" cy="2573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76264" y="4094165"/>
            <a:ext cx="4098925" cy="25749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827588" y="4094165"/>
            <a:ext cx="4100512" cy="25749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2"/>
          <p:cNvSpPr>
            <a:spLocks noGrp="1" noChangeArrowheads="1"/>
          </p:cNvSpPr>
          <p:nvPr>
            <p:ph type="dt" sz="half" idx="10"/>
          </p:nvPr>
        </p:nvSpPr>
        <p:spPr>
          <a:xfrm>
            <a:off x="1162050" y="6243638"/>
            <a:ext cx="1905000" cy="457200"/>
          </a:xfrm>
          <a:prstGeom prst="rect">
            <a:avLst/>
          </a:prstGeom>
        </p:spPr>
        <p:txBody>
          <a:bodyPr/>
          <a:lstStyle>
            <a:lvl1pPr eaLnBrk="1" hangingPunct="1">
              <a:defRPr/>
            </a:lvl1pPr>
          </a:lstStyle>
          <a:p>
            <a:pPr>
              <a:defRPr/>
            </a:pPr>
            <a:endParaRPr lang="en-US" altLang="zh-CN"/>
          </a:p>
        </p:txBody>
      </p:sp>
      <p:sp>
        <p:nvSpPr>
          <p:cNvPr id="8" name="Rectangle 13"/>
          <p:cNvSpPr>
            <a:spLocks noGrp="1" noChangeArrowheads="1"/>
          </p:cNvSpPr>
          <p:nvPr>
            <p:ph type="ftr" sz="quarter" idx="11"/>
          </p:nvPr>
        </p:nvSpPr>
        <p:spPr>
          <a:xfrm>
            <a:off x="3671888" y="6400800"/>
            <a:ext cx="2895600" cy="457200"/>
          </a:xfrm>
          <a:prstGeom prst="rect">
            <a:avLst/>
          </a:prstGeom>
        </p:spPr>
        <p:txBody>
          <a:bodyPr/>
          <a:lstStyle>
            <a:lvl1pPr eaLnBrk="1" hangingPunct="1">
              <a:defRPr/>
            </a:lvl1pPr>
          </a:lstStyle>
          <a:p>
            <a:pPr>
              <a:defRPr/>
            </a:pPr>
            <a:r>
              <a:rPr lang="en-US" altLang="zh-CN"/>
              <a:t>copyright  </a:t>
            </a:r>
            <a:r>
              <a:rPr lang="zh-CN" altLang="en-US"/>
              <a:t>朱维红</a:t>
            </a:r>
            <a:endParaRPr lang="en-US" altLang="zh-CN"/>
          </a:p>
        </p:txBody>
      </p:sp>
      <p:sp>
        <p:nvSpPr>
          <p:cNvPr id="9" name="Rectangle 14"/>
          <p:cNvSpPr>
            <a:spLocks noGrp="1" noChangeArrowheads="1"/>
          </p:cNvSpPr>
          <p:nvPr>
            <p:ph type="sldNum" sz="quarter" idx="12"/>
          </p:nvPr>
        </p:nvSpPr>
        <p:spPr>
          <a:xfrm>
            <a:off x="7042150" y="6243638"/>
            <a:ext cx="1905000" cy="457200"/>
          </a:xfrm>
          <a:prstGeom prst="rect">
            <a:avLst/>
          </a:prstGeom>
        </p:spPr>
        <p:txBody>
          <a:bodyPr/>
          <a:lstStyle>
            <a:lvl1pPr eaLnBrk="1" hangingPunct="1">
              <a:defRPr/>
            </a:lvl1pPr>
          </a:lstStyle>
          <a:p>
            <a:pPr>
              <a:defRPr/>
            </a:pPr>
            <a:fld id="{448E00CF-70E6-4210-B23A-8272C8897EC1}" type="slidenum">
              <a:rPr lang="zh-CN" altLang="en-US"/>
              <a:pPr>
                <a:defRPr/>
              </a:pPr>
              <a:t>‹#›</a:t>
            </a:fld>
            <a:endParaRPr lang="en-US" altLang="zh-CN"/>
          </a:p>
        </p:txBody>
      </p:sp>
    </p:spTree>
    <p:extLst>
      <p:ext uri="{BB962C8B-B14F-4D97-AF65-F5344CB8AC3E}">
        <p14:creationId xmlns:p14="http://schemas.microsoft.com/office/powerpoint/2010/main" val="259450212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536331"/>
            <a:ext cx="7772400" cy="534694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3339054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386863"/>
            <a:ext cx="7772400" cy="54964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9526853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457201"/>
            <a:ext cx="7772400" cy="542607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32658019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430823"/>
            <a:ext cx="7772400" cy="545245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0079967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580293"/>
            <a:ext cx="7772400" cy="530298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9568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theme" Target="../theme/theme4.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10" Type="http://schemas.openxmlformats.org/officeDocument/2006/relationships/slideLayout" Target="../slideLayouts/slideLayout35.xml"/><Relationship Id="rId19" Type="http://schemas.openxmlformats.org/officeDocument/2006/relationships/image" Target="../media/image3.png"/><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18" Type="http://schemas.openxmlformats.org/officeDocument/2006/relationships/theme" Target="../theme/theme5.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5" Type="http://schemas.openxmlformats.org/officeDocument/2006/relationships/slideLayout" Target="../slideLayouts/slideLayout5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9FDD8F-1499-4C79-8BBC-577CD559A01B}" type="datetimeFigureOut">
              <a:rPr lang="zh-CN" altLang="en-US" smtClean="0"/>
              <a:pPr/>
              <a:t>2024/12/13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6A5207-5CB9-460F-BBB4-8E3511E54304}" type="slidenum">
              <a:rPr lang="zh-CN" altLang="en-US" smtClean="0"/>
              <a:pPr/>
              <a:t>‹#›</a:t>
            </a:fld>
            <a:endParaRPr lang="zh-CN" altLang="en-US"/>
          </a:p>
        </p:txBody>
      </p:sp>
    </p:spTree>
    <p:extLst>
      <p:ext uri="{BB962C8B-B14F-4D97-AF65-F5344CB8AC3E}">
        <p14:creationId xmlns:p14="http://schemas.microsoft.com/office/powerpoint/2010/main" val="405463660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139855-D108-4DFB-8CB9-5769378610FC}" type="datetimeFigureOut">
              <a:rPr lang="zh-CN" altLang="en-US" smtClean="0"/>
              <a:pPr/>
              <a:t>2024/12/13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15CB5F-3147-4421-AB17-7961083DEE83}" type="slidenum">
              <a:rPr lang="zh-CN" altLang="en-US" smtClean="0"/>
              <a:pPr/>
              <a:t>‹#›</a:t>
            </a:fld>
            <a:endParaRPr lang="zh-CN" altLang="en-US"/>
          </a:p>
        </p:txBody>
      </p:sp>
    </p:spTree>
    <p:extLst>
      <p:ext uri="{BB962C8B-B14F-4D97-AF65-F5344CB8AC3E}">
        <p14:creationId xmlns:p14="http://schemas.microsoft.com/office/powerpoint/2010/main" val="1497910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5 Marcador de número de diapositiva"/>
          <p:cNvSpPr>
            <a:spLocks noGrp="1"/>
          </p:cNvSpPr>
          <p:nvPr>
            <p:ph type="sldNum" sz="quarter" idx="4"/>
          </p:nvPr>
        </p:nvSpPr>
        <p:spPr>
          <a:xfrm>
            <a:off x="8460432" y="6460772"/>
            <a:ext cx="718346"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endParaRPr lang="es-ES" dirty="0">
              <a:solidFill>
                <a:prstClr val="black">
                  <a:tint val="75000"/>
                </a:prstClr>
              </a:solidFill>
            </a:endParaRPr>
          </a:p>
        </p:txBody>
      </p:sp>
      <p:pic>
        <p:nvPicPr>
          <p:cNvPr id="7" name="Picture 2" descr="C:\Users\Administrator\Downloads\SDU.jpg"/>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8080080" y="3235"/>
            <a:ext cx="880064" cy="83671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接连接符 7"/>
          <p:cNvCxnSpPr/>
          <p:nvPr userDrawn="1"/>
        </p:nvCxnSpPr>
        <p:spPr>
          <a:xfrm>
            <a:off x="0" y="1124744"/>
            <a:ext cx="914302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pic>
        <p:nvPicPr>
          <p:cNvPr id="2" name="Picture 2"/>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7896225" y="839047"/>
            <a:ext cx="124777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632999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de-DE" altLang="zh-CN" dirty="0"/>
              <a:t>Klicken Sie, um das Titelformat zu bearbeiten</a:t>
            </a:r>
          </a:p>
        </p:txBody>
      </p:sp>
      <p:sp>
        <p:nvSpPr>
          <p:cNvPr id="1027" name="Rectangle 3"/>
          <p:cNvSpPr>
            <a:spLocks noGrp="1" noChangeArrowheads="1"/>
          </p:cNvSpPr>
          <p:nvPr>
            <p:ph type="body" idx="1"/>
          </p:nvPr>
        </p:nvSpPr>
        <p:spPr bwMode="auto">
          <a:xfrm>
            <a:off x="684213" y="1628775"/>
            <a:ext cx="7772400" cy="425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DE" altLang="zh-CN" dirty="0"/>
              <a:t>Klicken Sie, um die Formate des Vorlagentextes zu bearbeiten</a:t>
            </a:r>
          </a:p>
          <a:p>
            <a:pPr lvl="1"/>
            <a:r>
              <a:rPr lang="de-DE" altLang="zh-CN" dirty="0"/>
              <a:t>Zweite Ebene</a:t>
            </a:r>
          </a:p>
          <a:p>
            <a:pPr lvl="2"/>
            <a:r>
              <a:rPr lang="de-DE" altLang="zh-CN" dirty="0"/>
              <a:t>Dritte Ebene</a:t>
            </a:r>
          </a:p>
          <a:p>
            <a:pPr lvl="3"/>
            <a:r>
              <a:rPr lang="de-DE" altLang="zh-CN" dirty="0"/>
              <a:t>Vierte Ebene</a:t>
            </a:r>
          </a:p>
        </p:txBody>
      </p:sp>
      <p:sp>
        <p:nvSpPr>
          <p:cNvPr id="1028" name="Line 4"/>
          <p:cNvSpPr>
            <a:spLocks noChangeShapeType="1"/>
          </p:cNvSpPr>
          <p:nvPr/>
        </p:nvSpPr>
        <p:spPr bwMode="auto">
          <a:xfrm flipV="1">
            <a:off x="591247" y="6389505"/>
            <a:ext cx="806450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029" name="Rectangle 5"/>
          <p:cNvSpPr>
            <a:spLocks noChangeArrowheads="1"/>
          </p:cNvSpPr>
          <p:nvPr/>
        </p:nvSpPr>
        <p:spPr bwMode="auto">
          <a:xfrm>
            <a:off x="289062" y="6415221"/>
            <a:ext cx="10668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r" eaLnBrk="1" hangingPunct="1">
              <a:defRPr/>
            </a:pPr>
            <a:r>
              <a:rPr lang="de-DE" altLang="zh-CN" sz="900" dirty="0">
                <a:solidFill>
                  <a:srgbClr val="808080"/>
                </a:solidFill>
                <a:latin typeface="Arial" panose="020B0604020202020204" pitchFamily="34" charset="0"/>
              </a:rPr>
              <a:t>Slide </a:t>
            </a:r>
            <a:fld id="{ED94CCA2-7169-4BB5-975E-E6CC90B66E06}" type="slidenum">
              <a:rPr lang="de-DE" altLang="zh-CN" sz="900" smtClean="0">
                <a:solidFill>
                  <a:srgbClr val="808080"/>
                </a:solidFill>
                <a:latin typeface="Arial" panose="020B0604020202020204" pitchFamily="34" charset="0"/>
              </a:rPr>
              <a:pPr algn="r" eaLnBrk="1" hangingPunct="1">
                <a:defRPr/>
              </a:pPr>
              <a:t>‹#›</a:t>
            </a:fld>
            <a:endParaRPr lang="de-DE" altLang="zh-CN" sz="1050" dirty="0">
              <a:solidFill>
                <a:srgbClr val="000000"/>
              </a:solidFill>
              <a:latin typeface="Arial Black" panose="020B0A04020102020204" pitchFamily="34" charset="0"/>
            </a:endParaRPr>
          </a:p>
        </p:txBody>
      </p:sp>
      <p:sp>
        <p:nvSpPr>
          <p:cNvPr id="1030" name="Text Box 6"/>
          <p:cNvSpPr txBox="1">
            <a:spLocks noChangeArrowheads="1"/>
          </p:cNvSpPr>
          <p:nvPr/>
        </p:nvSpPr>
        <p:spPr bwMode="auto">
          <a:xfrm>
            <a:off x="2612555" y="6521901"/>
            <a:ext cx="3124200"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050" b="1" kern="1200" dirty="0">
                <a:solidFill>
                  <a:schemeClr val="accent1">
                    <a:lumMod val="75000"/>
                  </a:schemeClr>
                </a:solidFill>
                <a:effectLst/>
                <a:latin typeface="Tahoma" panose="020B0604030504040204" pitchFamily="34" charset="0"/>
                <a:ea typeface="宋体" panose="02010600030101010101" pitchFamily="2" charset="-122"/>
                <a:cs typeface="+mn-cs"/>
              </a:rPr>
              <a:t>随机信号分析   </a:t>
            </a:r>
            <a:r>
              <a:rPr lang="de-DE" altLang="zh-CN" sz="1050" dirty="0">
                <a:solidFill>
                  <a:schemeClr val="accent1">
                    <a:lumMod val="75000"/>
                  </a:schemeClr>
                </a:solidFill>
                <a:latin typeface="Arial" panose="020B0604020202020204" pitchFamily="34" charset="0"/>
              </a:rPr>
              <a:t>2022 </a:t>
            </a:r>
            <a:r>
              <a:rPr lang="en-US" altLang="zh-CN" sz="1050" dirty="0">
                <a:solidFill>
                  <a:schemeClr val="accent1">
                    <a:lumMod val="75000"/>
                  </a:schemeClr>
                </a:solidFill>
                <a:latin typeface="Arial" panose="020B0604020202020204" pitchFamily="34" charset="0"/>
              </a:rPr>
              <a:t>Fall</a:t>
            </a:r>
            <a:endParaRPr lang="zh-CN" altLang="de-DE" sz="1050" dirty="0">
              <a:solidFill>
                <a:schemeClr val="accent1">
                  <a:lumMod val="75000"/>
                </a:schemeClr>
              </a:solidFill>
              <a:latin typeface="Arial" panose="020B0604020202020204" pitchFamily="34" charset="0"/>
            </a:endParaRPr>
          </a:p>
        </p:txBody>
      </p:sp>
      <p:sp>
        <p:nvSpPr>
          <p:cNvPr id="208903" name="Text Box 7"/>
          <p:cNvSpPr txBox="1">
            <a:spLocks noChangeArrowheads="1"/>
          </p:cNvSpPr>
          <p:nvPr/>
        </p:nvSpPr>
        <p:spPr bwMode="auto">
          <a:xfrm>
            <a:off x="7808913" y="6461125"/>
            <a:ext cx="1295400"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s-ES" sz="1500" b="1" dirty="0">
                <a:solidFill>
                  <a:srgbClr val="0000FF"/>
                </a:solidFill>
                <a:effectLst>
                  <a:outerShdw blurRad="38100" dist="38100" dir="2700000" algn="tl">
                    <a:srgbClr val="C0C0C0"/>
                  </a:outerShdw>
                </a:effectLst>
                <a:latin typeface="Arial" panose="020B0604020202020204" pitchFamily="34" charset="0"/>
                <a:ea typeface="幼圆" panose="02010509060101010101" pitchFamily="49" charset="-122"/>
              </a:rPr>
              <a:t>山东大学</a:t>
            </a:r>
            <a:endParaRPr lang="zh-CN" altLang="en-US" sz="1500" b="1" dirty="0">
              <a:solidFill>
                <a:srgbClr val="0000FF"/>
              </a:solidFill>
              <a:effectLst>
                <a:outerShdw blurRad="38100" dist="38100" dir="2700000" algn="tl">
                  <a:srgbClr val="C0C0C0"/>
                </a:outerShdw>
              </a:effectLst>
              <a:latin typeface="Arial" panose="020B0604020202020204" pitchFamily="34" charset="0"/>
              <a:ea typeface="幼圆" panose="02010509060101010101" pitchFamily="49" charset="-122"/>
            </a:endParaRPr>
          </a:p>
        </p:txBody>
      </p:sp>
      <p:sp>
        <p:nvSpPr>
          <p:cNvPr id="208904" name="Text Box 8"/>
          <p:cNvSpPr txBox="1">
            <a:spLocks noChangeArrowheads="1"/>
          </p:cNvSpPr>
          <p:nvPr/>
        </p:nvSpPr>
        <p:spPr bwMode="auto">
          <a:xfrm>
            <a:off x="5720272" y="6461126"/>
            <a:ext cx="2546350"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s-ES" sz="1500" i="1" dirty="0">
                <a:solidFill>
                  <a:srgbClr val="0000FF"/>
                </a:solidFill>
                <a:effectLst>
                  <a:outerShdw blurRad="38100" dist="38100" dir="2700000" algn="tl">
                    <a:srgbClr val="C0C0C0"/>
                  </a:outerShdw>
                </a:effectLst>
                <a:latin typeface="Arial" panose="020B0604020202020204" pitchFamily="34" charset="0"/>
                <a:ea typeface="华文彩云" panose="02010800040101010101" pitchFamily="2" charset="-122"/>
              </a:rPr>
              <a:t>信息科学与工程学院</a:t>
            </a:r>
            <a:endParaRPr lang="zh-CN" altLang="en-US" sz="1500" i="1" dirty="0">
              <a:solidFill>
                <a:srgbClr val="0000FF"/>
              </a:solidFill>
              <a:effectLst>
                <a:outerShdw blurRad="38100" dist="38100" dir="2700000" algn="tl">
                  <a:srgbClr val="C0C0C0"/>
                </a:outerShdw>
              </a:effectLst>
              <a:latin typeface="Arial" panose="020B0604020202020204" pitchFamily="34" charset="0"/>
              <a:ea typeface="华文彩云" panose="02010800040101010101" pitchFamily="2" charset="-122"/>
            </a:endParaRPr>
          </a:p>
        </p:txBody>
      </p:sp>
      <p:pic>
        <p:nvPicPr>
          <p:cNvPr id="1033" name="Picture 9"/>
          <p:cNvPicPr preferRelativeResize="0">
            <a:picLocks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51246" y="58913"/>
            <a:ext cx="540000" cy="720000"/>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197915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ctr" rtl="0" eaLnBrk="0" fontAlgn="base" hangingPunct="0">
        <a:spcBef>
          <a:spcPct val="0"/>
        </a:spcBef>
        <a:spcAft>
          <a:spcPct val="0"/>
        </a:spcAft>
        <a:defRPr sz="2400" b="1" kern="1200" baseline="0">
          <a:solidFill>
            <a:srgbClr val="FF0000"/>
          </a:solidFill>
          <a:latin typeface="Times New Roman" panose="02020603050405020304" pitchFamily="18" charset="0"/>
          <a:ea typeface="隶书" panose="02010509060101010101" pitchFamily="49" charset="-122"/>
          <a:cs typeface="+mj-cs"/>
        </a:defRPr>
      </a:lvl1pPr>
      <a:lvl2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5pPr>
      <a:lvl6pPr marL="3429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6pPr>
      <a:lvl7pPr marL="6858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7pPr>
      <a:lvl8pPr marL="10287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8pPr>
      <a:lvl9pPr marL="13716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9pPr>
    </p:titleStyle>
    <p:bodyStyle>
      <a:lvl1pPr marL="257175" indent="-257175" algn="l" rtl="0" eaLnBrk="0" fontAlgn="base" hangingPunct="0">
        <a:spcBef>
          <a:spcPct val="20000"/>
        </a:spcBef>
        <a:spcAft>
          <a:spcPct val="0"/>
        </a:spcAft>
        <a:buChar char="•"/>
        <a:defRPr sz="2100" b="1" kern="1200" baseline="0">
          <a:solidFill>
            <a:schemeClr val="tx1"/>
          </a:solidFill>
          <a:latin typeface="Times New Roman" panose="02020603050405020304" pitchFamily="18" charset="0"/>
          <a:ea typeface="楷体" panose="02010609060101010101" pitchFamily="49" charset="-122"/>
          <a:cs typeface="+mn-cs"/>
        </a:defRPr>
      </a:lvl1pPr>
      <a:lvl2pPr marL="557213" indent="-214313" algn="l" rtl="0" eaLnBrk="0" fontAlgn="base" hangingPunct="0">
        <a:spcBef>
          <a:spcPct val="20000"/>
        </a:spcBef>
        <a:spcAft>
          <a:spcPct val="0"/>
        </a:spcAft>
        <a:buChar char="–"/>
        <a:defRPr sz="1800" b="1" kern="1200" baseline="0">
          <a:solidFill>
            <a:schemeClr val="tx1"/>
          </a:solidFill>
          <a:latin typeface="Times New Roman" panose="02020603050405020304" pitchFamily="18" charset="0"/>
          <a:ea typeface="楷体" panose="02010609060101010101" pitchFamily="49" charset="-122"/>
          <a:cs typeface="+mn-cs"/>
        </a:defRPr>
      </a:lvl2pPr>
      <a:lvl3pPr marL="857250" indent="-171450" algn="l" rtl="0" eaLnBrk="0" fontAlgn="base" hangingPunct="0">
        <a:spcBef>
          <a:spcPct val="20000"/>
        </a:spcBef>
        <a:spcAft>
          <a:spcPct val="0"/>
        </a:spcAft>
        <a:buChar char="•"/>
        <a:defRPr sz="1500" b="1" kern="1200" baseline="0">
          <a:solidFill>
            <a:schemeClr val="tx1"/>
          </a:solidFill>
          <a:latin typeface="Times New Roman" panose="02020603050405020304" pitchFamily="18" charset="0"/>
          <a:ea typeface="楷体" panose="02010609060101010101" pitchFamily="49" charset="-122"/>
          <a:cs typeface="+mn-cs"/>
        </a:defRPr>
      </a:lvl3pPr>
      <a:lvl4pPr marL="1200150" indent="-171450" algn="l" rtl="0" eaLnBrk="0" fontAlgn="base" hangingPunct="0">
        <a:spcBef>
          <a:spcPct val="20000"/>
        </a:spcBef>
        <a:spcAft>
          <a:spcPct val="0"/>
        </a:spcAft>
        <a:buChar char="–"/>
        <a:defRPr sz="1500" b="1" kern="1200" baseline="0">
          <a:solidFill>
            <a:schemeClr val="tx1"/>
          </a:solidFill>
          <a:latin typeface="Times New Roman" panose="02020603050405020304" pitchFamily="18" charset="0"/>
          <a:ea typeface="楷体" panose="02010609060101010101" pitchFamily="49" charset="-122"/>
          <a:cs typeface="+mn-cs"/>
        </a:defRPr>
      </a:lvl4pPr>
      <a:lvl5pPr marL="1543050" indent="-171450" algn="l" rtl="0" eaLnBrk="0" fontAlgn="base" hangingPunct="0">
        <a:spcBef>
          <a:spcPct val="20000"/>
        </a:spcBef>
        <a:spcAft>
          <a:spcPct val="0"/>
        </a:spcAft>
        <a:buChar char="»"/>
        <a:defRPr sz="150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de-DE" altLang="zh-CN" dirty="0"/>
              <a:t>Klicken Sie, um das Titelformat zu bearbeiten</a:t>
            </a:r>
          </a:p>
        </p:txBody>
      </p:sp>
      <p:sp>
        <p:nvSpPr>
          <p:cNvPr id="1027" name="Rectangle 3"/>
          <p:cNvSpPr>
            <a:spLocks noGrp="1" noChangeArrowheads="1"/>
          </p:cNvSpPr>
          <p:nvPr>
            <p:ph type="body" idx="1"/>
          </p:nvPr>
        </p:nvSpPr>
        <p:spPr bwMode="auto">
          <a:xfrm>
            <a:off x="684213" y="1628775"/>
            <a:ext cx="7772400" cy="425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DE" altLang="zh-CN" dirty="0"/>
              <a:t>Klicken Sie, um die Formate des Vorlagentextes zu bearbeiten</a:t>
            </a:r>
          </a:p>
          <a:p>
            <a:pPr lvl="1"/>
            <a:r>
              <a:rPr lang="de-DE" altLang="zh-CN" dirty="0"/>
              <a:t>Zweite Ebene</a:t>
            </a:r>
          </a:p>
          <a:p>
            <a:pPr lvl="2"/>
            <a:r>
              <a:rPr lang="de-DE" altLang="zh-CN" dirty="0"/>
              <a:t>Dritte Ebene</a:t>
            </a:r>
          </a:p>
          <a:p>
            <a:pPr lvl="3"/>
            <a:r>
              <a:rPr lang="de-DE" altLang="zh-CN" dirty="0"/>
              <a:t>Vierte Ebene</a:t>
            </a:r>
          </a:p>
        </p:txBody>
      </p:sp>
      <p:sp>
        <p:nvSpPr>
          <p:cNvPr id="1028" name="Line 4"/>
          <p:cNvSpPr>
            <a:spLocks noChangeShapeType="1"/>
          </p:cNvSpPr>
          <p:nvPr/>
        </p:nvSpPr>
        <p:spPr bwMode="auto">
          <a:xfrm flipV="1">
            <a:off x="591247" y="6389505"/>
            <a:ext cx="806450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029" name="Rectangle 5"/>
          <p:cNvSpPr>
            <a:spLocks noChangeArrowheads="1"/>
          </p:cNvSpPr>
          <p:nvPr/>
        </p:nvSpPr>
        <p:spPr bwMode="auto">
          <a:xfrm>
            <a:off x="611560" y="6415220"/>
            <a:ext cx="504056" cy="307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r" eaLnBrk="1" hangingPunct="1">
              <a:defRPr/>
            </a:pPr>
            <a:fld id="{ED94CCA2-7169-4BB5-975E-E6CC90B66E06}" type="slidenum">
              <a:rPr lang="de-DE" altLang="zh-CN" sz="1800" smtClean="0">
                <a:solidFill>
                  <a:srgbClr val="808080"/>
                </a:solidFill>
                <a:latin typeface="Arial" panose="020B0604020202020204" pitchFamily="34" charset="0"/>
              </a:rPr>
              <a:pPr algn="r" eaLnBrk="1" hangingPunct="1">
                <a:defRPr/>
              </a:pPr>
              <a:t>‹#›</a:t>
            </a:fld>
            <a:endParaRPr lang="de-DE" altLang="zh-CN" sz="1800" dirty="0">
              <a:solidFill>
                <a:srgbClr val="000000"/>
              </a:solidFill>
              <a:latin typeface="Arial Black" panose="020B0A04020102020204" pitchFamily="34" charset="0"/>
            </a:endParaRPr>
          </a:p>
        </p:txBody>
      </p:sp>
      <p:sp>
        <p:nvSpPr>
          <p:cNvPr id="1030" name="Text Box 6"/>
          <p:cNvSpPr txBox="1">
            <a:spLocks noChangeArrowheads="1"/>
          </p:cNvSpPr>
          <p:nvPr/>
        </p:nvSpPr>
        <p:spPr bwMode="auto">
          <a:xfrm>
            <a:off x="3190419" y="6422607"/>
            <a:ext cx="258843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600" b="1" kern="1200" dirty="0">
                <a:solidFill>
                  <a:schemeClr val="accent1">
                    <a:lumMod val="75000"/>
                  </a:schemeClr>
                </a:solidFill>
                <a:effectLst/>
                <a:latin typeface="Tahoma" panose="020B0604030504040204" pitchFamily="34" charset="0"/>
                <a:ea typeface="宋体" panose="02010600030101010101" pitchFamily="2" charset="-122"/>
                <a:cs typeface="+mn-cs"/>
              </a:rPr>
              <a:t>随机信号分析   </a:t>
            </a:r>
            <a:r>
              <a:rPr lang="de-DE" altLang="zh-CN" sz="1600" dirty="0">
                <a:solidFill>
                  <a:schemeClr val="accent1">
                    <a:lumMod val="75000"/>
                  </a:schemeClr>
                </a:solidFill>
                <a:latin typeface="Arial" panose="020B0604020202020204" pitchFamily="34" charset="0"/>
              </a:rPr>
              <a:t>2024 </a:t>
            </a:r>
            <a:r>
              <a:rPr lang="en-US" altLang="zh-CN" sz="1600" dirty="0">
                <a:solidFill>
                  <a:schemeClr val="accent1">
                    <a:lumMod val="75000"/>
                  </a:schemeClr>
                </a:solidFill>
                <a:latin typeface="Arial" panose="020B0604020202020204" pitchFamily="34" charset="0"/>
              </a:rPr>
              <a:t>Fall</a:t>
            </a:r>
            <a:endParaRPr lang="zh-CN" altLang="de-DE" sz="1600" dirty="0">
              <a:solidFill>
                <a:schemeClr val="accent1">
                  <a:lumMod val="75000"/>
                </a:schemeClr>
              </a:solidFill>
              <a:latin typeface="Arial" panose="020B0604020202020204" pitchFamily="34" charset="0"/>
            </a:endParaRPr>
          </a:p>
        </p:txBody>
      </p:sp>
      <p:sp>
        <p:nvSpPr>
          <p:cNvPr id="208903" name="Text Box 7"/>
          <p:cNvSpPr txBox="1">
            <a:spLocks noChangeArrowheads="1"/>
          </p:cNvSpPr>
          <p:nvPr/>
        </p:nvSpPr>
        <p:spPr bwMode="auto">
          <a:xfrm>
            <a:off x="7596336" y="6439619"/>
            <a:ext cx="12954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s-ES" sz="1600" b="1" dirty="0">
                <a:solidFill>
                  <a:srgbClr val="0000FF"/>
                </a:solidFill>
                <a:effectLst>
                  <a:outerShdw blurRad="38100" dist="38100" dir="2700000" algn="tl">
                    <a:srgbClr val="C0C0C0"/>
                  </a:outerShdw>
                </a:effectLst>
                <a:latin typeface="Arial" panose="020B0604020202020204" pitchFamily="34" charset="0"/>
                <a:ea typeface="幼圆" panose="02010509060101010101" pitchFamily="49" charset="-122"/>
              </a:rPr>
              <a:t>山东大学</a:t>
            </a:r>
            <a:endParaRPr lang="zh-CN" altLang="en-US" sz="1600" b="1" dirty="0">
              <a:solidFill>
                <a:srgbClr val="0000FF"/>
              </a:solidFill>
              <a:effectLst>
                <a:outerShdw blurRad="38100" dist="38100" dir="2700000" algn="tl">
                  <a:srgbClr val="C0C0C0"/>
                </a:outerShdw>
              </a:effectLst>
              <a:latin typeface="Arial" panose="020B0604020202020204" pitchFamily="34" charset="0"/>
              <a:ea typeface="幼圆" panose="02010509060101010101" pitchFamily="49" charset="-122"/>
            </a:endParaRPr>
          </a:p>
        </p:txBody>
      </p:sp>
    </p:spTree>
    <p:extLst>
      <p:ext uri="{BB962C8B-B14F-4D97-AF65-F5344CB8AC3E}">
        <p14:creationId xmlns:p14="http://schemas.microsoft.com/office/powerpoint/2010/main" val="864867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ctr" rtl="0" eaLnBrk="0" fontAlgn="base" hangingPunct="0">
        <a:spcBef>
          <a:spcPct val="0"/>
        </a:spcBef>
        <a:spcAft>
          <a:spcPct val="0"/>
        </a:spcAft>
        <a:defRPr sz="2400" b="1" kern="1200" baseline="0">
          <a:solidFill>
            <a:srgbClr val="FF0000"/>
          </a:solidFill>
          <a:latin typeface="Times New Roman" panose="02020603050405020304" pitchFamily="18" charset="0"/>
          <a:ea typeface="隶书" panose="02010509060101010101" pitchFamily="49" charset="-122"/>
          <a:cs typeface="+mj-cs"/>
        </a:defRPr>
      </a:lvl1pPr>
      <a:lvl2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2400">
          <a:solidFill>
            <a:schemeClr val="tx2"/>
          </a:solidFill>
          <a:latin typeface="黑体" panose="02010609060101010101" pitchFamily="49" charset="-122"/>
          <a:ea typeface="黑体" panose="02010609060101010101" pitchFamily="49" charset="-122"/>
        </a:defRPr>
      </a:lvl5pPr>
      <a:lvl6pPr marL="3429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6pPr>
      <a:lvl7pPr marL="6858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7pPr>
      <a:lvl8pPr marL="10287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8pPr>
      <a:lvl9pPr marL="1371600" algn="ctr" rtl="0" fontAlgn="base">
        <a:spcBef>
          <a:spcPct val="0"/>
        </a:spcBef>
        <a:spcAft>
          <a:spcPct val="0"/>
        </a:spcAft>
        <a:defRPr sz="2400">
          <a:solidFill>
            <a:schemeClr val="tx2"/>
          </a:solidFill>
          <a:latin typeface="黑体" panose="02010609060101010101" pitchFamily="49" charset="-122"/>
          <a:ea typeface="黑体" panose="02010609060101010101" pitchFamily="49" charset="-122"/>
        </a:defRPr>
      </a:lvl9pPr>
    </p:titleStyle>
    <p:bodyStyle>
      <a:lvl1pPr marL="257175" indent="-257175" algn="l" rtl="0" eaLnBrk="0" fontAlgn="base" hangingPunct="0">
        <a:spcBef>
          <a:spcPct val="20000"/>
        </a:spcBef>
        <a:spcAft>
          <a:spcPct val="0"/>
        </a:spcAft>
        <a:buChar char="•"/>
        <a:defRPr sz="2100" b="1" kern="1200" baseline="0">
          <a:solidFill>
            <a:schemeClr val="tx1"/>
          </a:solidFill>
          <a:latin typeface="Times New Roman" panose="02020603050405020304" pitchFamily="18" charset="0"/>
          <a:ea typeface="楷体" panose="02010609060101010101" pitchFamily="49" charset="-122"/>
          <a:cs typeface="+mn-cs"/>
        </a:defRPr>
      </a:lvl1pPr>
      <a:lvl2pPr marL="557213" indent="-214313" algn="l" rtl="0" eaLnBrk="0" fontAlgn="base" hangingPunct="0">
        <a:spcBef>
          <a:spcPct val="20000"/>
        </a:spcBef>
        <a:spcAft>
          <a:spcPct val="0"/>
        </a:spcAft>
        <a:buChar char="–"/>
        <a:defRPr sz="1800" b="1" kern="1200" baseline="0">
          <a:solidFill>
            <a:schemeClr val="tx1"/>
          </a:solidFill>
          <a:latin typeface="Times New Roman" panose="02020603050405020304" pitchFamily="18" charset="0"/>
          <a:ea typeface="楷体" panose="02010609060101010101" pitchFamily="49" charset="-122"/>
          <a:cs typeface="+mn-cs"/>
        </a:defRPr>
      </a:lvl2pPr>
      <a:lvl3pPr marL="857250" indent="-171450" algn="l" rtl="0" eaLnBrk="0" fontAlgn="base" hangingPunct="0">
        <a:spcBef>
          <a:spcPct val="20000"/>
        </a:spcBef>
        <a:spcAft>
          <a:spcPct val="0"/>
        </a:spcAft>
        <a:buChar char="•"/>
        <a:defRPr sz="1500" b="1" kern="1200" baseline="0">
          <a:solidFill>
            <a:schemeClr val="tx1"/>
          </a:solidFill>
          <a:latin typeface="Times New Roman" panose="02020603050405020304" pitchFamily="18" charset="0"/>
          <a:ea typeface="楷体" panose="02010609060101010101" pitchFamily="49" charset="-122"/>
          <a:cs typeface="+mn-cs"/>
        </a:defRPr>
      </a:lvl3pPr>
      <a:lvl4pPr marL="1200150" indent="-171450" algn="l" rtl="0" eaLnBrk="0" fontAlgn="base" hangingPunct="0">
        <a:spcBef>
          <a:spcPct val="20000"/>
        </a:spcBef>
        <a:spcAft>
          <a:spcPct val="0"/>
        </a:spcAft>
        <a:buChar char="–"/>
        <a:defRPr sz="1500" b="1" kern="1200" baseline="0">
          <a:solidFill>
            <a:schemeClr val="tx1"/>
          </a:solidFill>
          <a:latin typeface="Times New Roman" panose="02020603050405020304" pitchFamily="18" charset="0"/>
          <a:ea typeface="楷体" panose="02010609060101010101" pitchFamily="49" charset="-122"/>
          <a:cs typeface="+mn-cs"/>
        </a:defRPr>
      </a:lvl4pPr>
      <a:lvl5pPr marL="1543050" indent="-171450" algn="l" rtl="0" eaLnBrk="0" fontAlgn="base" hangingPunct="0">
        <a:spcBef>
          <a:spcPct val="20000"/>
        </a:spcBef>
        <a:spcAft>
          <a:spcPct val="0"/>
        </a:spcAft>
        <a:buChar char="»"/>
        <a:defRPr sz="150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4.xml"/><Relationship Id="rId1" Type="http://schemas.openxmlformats.org/officeDocument/2006/relationships/vmlDrawing" Target="../drawings/vmlDrawing1.v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4.xml"/><Relationship Id="rId1" Type="http://schemas.openxmlformats.org/officeDocument/2006/relationships/vmlDrawing" Target="../drawings/vmlDrawing2.vml"/><Relationship Id="rId5" Type="http://schemas.openxmlformats.org/officeDocument/2006/relationships/image" Target="../media/image8.png"/><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4.xml"/><Relationship Id="rId1" Type="http://schemas.openxmlformats.org/officeDocument/2006/relationships/vmlDrawing" Target="../drawings/vmlDrawing3.v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4.xml"/><Relationship Id="rId1" Type="http://schemas.openxmlformats.org/officeDocument/2006/relationships/vmlDrawing" Target="../drawings/vmlDrawing4.v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4.xml"/><Relationship Id="rId1" Type="http://schemas.openxmlformats.org/officeDocument/2006/relationships/vmlDrawing" Target="../drawings/vmlDrawing5.v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4.xml"/><Relationship Id="rId1" Type="http://schemas.openxmlformats.org/officeDocument/2006/relationships/vmlDrawing" Target="../drawings/vmlDrawing6.vml"/><Relationship Id="rId5" Type="http://schemas.openxmlformats.org/officeDocument/2006/relationships/image" Target="../media/image12.png"/><Relationship Id="rId4" Type="http://schemas.openxmlformats.org/officeDocument/2006/relationships/oleObject" Target="../embeddings/oleObject6.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4.xml"/><Relationship Id="rId1" Type="http://schemas.openxmlformats.org/officeDocument/2006/relationships/vmlDrawing" Target="../drawings/vmlDrawing7.v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4.xml"/><Relationship Id="rId1" Type="http://schemas.openxmlformats.org/officeDocument/2006/relationships/vmlDrawing" Target="../drawings/vmlDrawing8.vml"/><Relationship Id="rId5" Type="http://schemas.openxmlformats.org/officeDocument/2006/relationships/image" Target="../media/image15.png"/><Relationship Id="rId4" Type="http://schemas.openxmlformats.org/officeDocument/2006/relationships/oleObject" Target="../embeddings/oleObject8.bin"/></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notesSlide" Target="../notesSlides/notesSlide7.xml"/><Relationship Id="rId7" Type="http://schemas.openxmlformats.org/officeDocument/2006/relationships/image" Target="../media/image18.png"/><Relationship Id="rId2" Type="http://schemas.openxmlformats.org/officeDocument/2006/relationships/slideLayout" Target="../slideLayouts/slideLayout44.xml"/><Relationship Id="rId1" Type="http://schemas.openxmlformats.org/officeDocument/2006/relationships/vmlDrawing" Target="../drawings/vmlDrawing9.vml"/><Relationship Id="rId6" Type="http://schemas.openxmlformats.org/officeDocument/2006/relationships/image" Target="../media/image17.emf"/><Relationship Id="rId5" Type="http://schemas.openxmlformats.org/officeDocument/2006/relationships/image" Target="../media/image16.png"/><Relationship Id="rId4" Type="http://schemas.openxmlformats.org/officeDocument/2006/relationships/oleObject" Target="../embeddings/oleObject9.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7.xml"/><Relationship Id="rId1" Type="http://schemas.openxmlformats.org/officeDocument/2006/relationships/vmlDrawing" Target="../drawings/vmlDrawing10.vml"/><Relationship Id="rId6" Type="http://schemas.openxmlformats.org/officeDocument/2006/relationships/image" Target="../media/image21.png"/><Relationship Id="rId5" Type="http://schemas.openxmlformats.org/officeDocument/2006/relationships/oleObject" Target="../embeddings/oleObject11.bin"/><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47.xml"/><Relationship Id="rId1" Type="http://schemas.openxmlformats.org/officeDocument/2006/relationships/vmlDrawing" Target="../drawings/vmlDrawing11.vml"/><Relationship Id="rId6" Type="http://schemas.openxmlformats.org/officeDocument/2006/relationships/image" Target="../media/image23.png"/><Relationship Id="rId5" Type="http://schemas.openxmlformats.org/officeDocument/2006/relationships/oleObject" Target="../embeddings/oleObject13.bin"/><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44.xml"/><Relationship Id="rId1" Type="http://schemas.openxmlformats.org/officeDocument/2006/relationships/vmlDrawing" Target="../drawings/vmlDrawing12.vml"/><Relationship Id="rId6" Type="http://schemas.openxmlformats.org/officeDocument/2006/relationships/image" Target="../media/image33.png"/><Relationship Id="rId5" Type="http://schemas.openxmlformats.org/officeDocument/2006/relationships/image" Target="../media/image25.emf"/><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9.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47.xml"/><Relationship Id="rId6" Type="http://schemas.openxmlformats.org/officeDocument/2006/relationships/image" Target="../media/image30.png"/><Relationship Id="rId5" Type="http://schemas.openxmlformats.org/officeDocument/2006/relationships/image" Target="../media/image27.emf"/><Relationship Id="rId4" Type="http://schemas.openxmlformats.org/officeDocument/2006/relationships/image" Target="../media/image26.emf"/></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51.xml"/><Relationship Id="rId4" Type="http://schemas.openxmlformats.org/officeDocument/2006/relationships/image" Target="../media/image28.emf"/></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4.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4.xml"/><Relationship Id="rId1" Type="http://schemas.openxmlformats.org/officeDocument/2006/relationships/vmlDrawing" Target="../drawings/vmlDrawing13.v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4.xml"/><Relationship Id="rId1" Type="http://schemas.openxmlformats.org/officeDocument/2006/relationships/vmlDrawing" Target="../drawings/vmlDrawing14.v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1.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4.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1.xml"/></Relationships>
</file>

<file path=ppt/slides/_rels/slide28.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NULL"/><Relationship Id="rId1" Type="http://schemas.openxmlformats.org/officeDocument/2006/relationships/slideLayout" Target="../slideLayouts/slideLayout51.xml"/></Relationships>
</file>

<file path=ppt/slides/_rels/slide2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5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1 Título"/>
          <p:cNvSpPr txBox="1">
            <a:spLocks/>
          </p:cNvSpPr>
          <p:nvPr/>
        </p:nvSpPr>
        <p:spPr>
          <a:xfrm>
            <a:off x="179512" y="512180"/>
            <a:ext cx="8496944" cy="1224136"/>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a:solidFill>
                  <a:srgbClr val="C00000"/>
                </a:solidFill>
                <a:latin typeface="宋体"/>
              </a:rPr>
              <a:t>随机信号分析</a:t>
            </a:r>
            <a:endParaRPr lang="en-US" altLang="zh-CN" b="1" dirty="0">
              <a:solidFill>
                <a:srgbClr val="C00000"/>
              </a:solidFill>
              <a:latin typeface="宋体"/>
            </a:endParaRPr>
          </a:p>
          <a:p>
            <a:pPr fontAlgn="auto">
              <a:lnSpc>
                <a:spcPts val="5760"/>
              </a:lnSpc>
              <a:spcBef>
                <a:spcPts val="0"/>
              </a:spcBef>
              <a:spcAft>
                <a:spcPts val="0"/>
              </a:spcAft>
              <a:defRPr/>
            </a:pPr>
            <a:r>
              <a:rPr lang="en-US" altLang="zh-CN" b="1" dirty="0">
                <a:solidFill>
                  <a:srgbClr val="C00000"/>
                </a:solidFill>
                <a:latin typeface="Arial" panose="020B0604020202020204" pitchFamily="34" charset="0"/>
                <a:cs typeface="Arial" panose="020B0604020202020204" pitchFamily="34" charset="0"/>
              </a:rPr>
              <a:t>Random signal analysis</a:t>
            </a:r>
            <a:endParaRPr lang="es-HN" b="1" dirty="0">
              <a:solidFill>
                <a:srgbClr val="C00000"/>
              </a:solidFill>
              <a:latin typeface="Arial" panose="020B0604020202020204" pitchFamily="34" charset="0"/>
              <a:cs typeface="Arial" panose="020B0604020202020204" pitchFamily="34" charset="0"/>
            </a:endParaRPr>
          </a:p>
        </p:txBody>
      </p:sp>
      <p:sp>
        <p:nvSpPr>
          <p:cNvPr id="5" name="矩形 4"/>
          <p:cNvSpPr/>
          <p:nvPr/>
        </p:nvSpPr>
        <p:spPr>
          <a:xfrm>
            <a:off x="1115616" y="3933056"/>
            <a:ext cx="7488832" cy="2862322"/>
          </a:xfrm>
          <a:prstGeom prst="rect">
            <a:avLst/>
          </a:prstGeom>
        </p:spPr>
        <p:txBody>
          <a:bodyPr wrap="square">
            <a:spAutoFit/>
          </a:bodyPr>
          <a:lstStyle/>
          <a:p>
            <a:pPr algn="ctr"/>
            <a:r>
              <a:rPr lang="zh-CN" altLang="en-US" sz="3600" b="1" dirty="0">
                <a:solidFill>
                  <a:prstClr val="white"/>
                </a:solidFill>
                <a:latin typeface="宋体"/>
              </a:rPr>
              <a:t>张文胜 </a:t>
            </a:r>
            <a:endParaRPr lang="en-US" altLang="zh-CN" sz="3600" b="1" dirty="0">
              <a:solidFill>
                <a:prstClr val="white"/>
              </a:solidFill>
              <a:latin typeface="宋体"/>
            </a:endParaRPr>
          </a:p>
          <a:p>
            <a:pPr algn="ctr"/>
            <a:r>
              <a:rPr lang="zh-CN" altLang="en-US" sz="2800" b="1" dirty="0">
                <a:solidFill>
                  <a:prstClr val="white"/>
                </a:solidFill>
                <a:latin typeface="宋体"/>
              </a:rPr>
              <a:t>微信：</a:t>
            </a:r>
            <a:r>
              <a:rPr lang="en-US" altLang="zh-CN" sz="2800" b="1" dirty="0">
                <a:solidFill>
                  <a:prstClr val="white"/>
                </a:solidFill>
                <a:latin typeface="宋体"/>
              </a:rPr>
              <a:t>15063339795  QQ:762329090</a:t>
            </a:r>
          </a:p>
          <a:p>
            <a:pPr algn="ctr"/>
            <a:r>
              <a:rPr lang="en-US" altLang="zh-CN" sz="2400" b="1" dirty="0">
                <a:solidFill>
                  <a:prstClr val="white"/>
                </a:solidFill>
                <a:latin typeface="Arial Unicode MS" pitchFamily="34" charset="-122"/>
                <a:ea typeface="Arial Unicode MS" pitchFamily="34" charset="-122"/>
                <a:cs typeface="Arial Unicode MS" pitchFamily="34" charset="-122"/>
              </a:rPr>
              <a:t>zhangwsh@sdu.edu.cn</a:t>
            </a:r>
          </a:p>
          <a:p>
            <a:pPr algn="ctr"/>
            <a:r>
              <a:rPr lang="en-US" altLang="zh-HK" sz="2400" b="1" dirty="0">
                <a:solidFill>
                  <a:prstClr val="white"/>
                </a:solidFill>
                <a:latin typeface="Arial Unicode MS" pitchFamily="34" charset="-122"/>
                <a:ea typeface="Arial Unicode MS" pitchFamily="34" charset="-122"/>
                <a:cs typeface="Arial Unicode MS" pitchFamily="34" charset="-122"/>
              </a:rPr>
              <a:t>zhang8181@gmail.com</a:t>
            </a:r>
          </a:p>
          <a:p>
            <a:pPr algn="ctr"/>
            <a:r>
              <a:rPr lang="en-US" altLang="zh-HK" sz="2000" b="1" dirty="0">
                <a:solidFill>
                  <a:prstClr val="white"/>
                </a:solidFill>
                <a:latin typeface="Arial Unicode MS" pitchFamily="34" charset="-122"/>
                <a:ea typeface="Arial Unicode MS" pitchFamily="34" charset="-122"/>
                <a:cs typeface="Arial Unicode MS" pitchFamily="34" charset="-122"/>
              </a:rPr>
              <a:t>School of Information Science and Engineering</a:t>
            </a:r>
          </a:p>
          <a:p>
            <a:pPr algn="ctr"/>
            <a:r>
              <a:rPr lang="en-US" altLang="zh-HK" sz="2400" b="1" dirty="0">
                <a:solidFill>
                  <a:prstClr val="white"/>
                </a:solidFill>
                <a:latin typeface="Arial Unicode MS" pitchFamily="34" charset="-122"/>
                <a:ea typeface="Arial Unicode MS" pitchFamily="34" charset="-122"/>
                <a:cs typeface="Arial Unicode MS" pitchFamily="34" charset="-122"/>
              </a:rPr>
              <a:t>Shandong University</a:t>
            </a:r>
            <a:endParaRPr lang="zh-TW" altLang="zh-HK" sz="2800" dirty="0">
              <a:solidFill>
                <a:prstClr val="white"/>
              </a:solidFill>
              <a:latin typeface="Arial Unicode MS" pitchFamily="34" charset="-122"/>
              <a:ea typeface="Arial Unicode MS" pitchFamily="34" charset="-122"/>
              <a:cs typeface="Arial Unicode MS" pitchFamily="34" charset="-122"/>
            </a:endParaRPr>
          </a:p>
          <a:p>
            <a:endParaRPr lang="zh-TW" altLang="zh-HK" sz="2400" dirty="0">
              <a:solidFill>
                <a:prstClr val="white"/>
              </a:solidFill>
              <a:latin typeface="Arial Unicode MS" pitchFamily="34" charset="-122"/>
              <a:ea typeface="Arial Unicode MS" pitchFamily="34" charset="-122"/>
              <a:cs typeface="Arial Unicode MS" pitchFamily="34" charset="-122"/>
            </a:endParaRPr>
          </a:p>
        </p:txBody>
      </p:sp>
      <p:sp>
        <p:nvSpPr>
          <p:cNvPr id="6" name="1 Título"/>
          <p:cNvSpPr txBox="1">
            <a:spLocks/>
          </p:cNvSpPr>
          <p:nvPr/>
        </p:nvSpPr>
        <p:spPr>
          <a:xfrm>
            <a:off x="827584" y="2248402"/>
            <a:ext cx="7488832" cy="647576"/>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2800" b="1" dirty="0">
                <a:cs typeface="Arial Unicode MS" pitchFamily="34" charset="-122"/>
              </a:rPr>
              <a:t>课程号</a:t>
            </a:r>
            <a:r>
              <a:rPr lang="en-US" altLang="zh-CN" sz="2800" b="1" dirty="0">
                <a:cs typeface="Arial Unicode MS" pitchFamily="34" charset="-122"/>
              </a:rPr>
              <a:t>: </a:t>
            </a:r>
            <a:r>
              <a:rPr lang="en-US" altLang="zh-CN" sz="2800" b="1" dirty="0"/>
              <a:t>sd01234090-1    </a:t>
            </a:r>
            <a:r>
              <a:rPr lang="zh-CN" altLang="en-US" sz="2800" b="1" dirty="0"/>
              <a:t>周五</a:t>
            </a:r>
            <a:r>
              <a:rPr lang="en-US" altLang="zh-CN" sz="2800" b="1" dirty="0"/>
              <a:t>5-6</a:t>
            </a:r>
            <a:r>
              <a:rPr lang="zh-CN" altLang="en-US" sz="2800" b="1" dirty="0"/>
              <a:t>节  </a:t>
            </a:r>
            <a:endParaRPr lang="en-US" altLang="zh-CN" sz="2800" b="1" dirty="0"/>
          </a:p>
          <a:p>
            <a:pPr fontAlgn="auto">
              <a:lnSpc>
                <a:spcPts val="5760"/>
              </a:lnSpc>
              <a:spcBef>
                <a:spcPts val="0"/>
              </a:spcBef>
              <a:spcAft>
                <a:spcPts val="0"/>
              </a:spcAft>
              <a:defRPr/>
            </a:pPr>
            <a:r>
              <a:rPr lang="zh-CN" altLang="en-US" sz="2800" b="1" dirty="0">
                <a:cs typeface="Arial Unicode MS" pitchFamily="34" charset="-122"/>
              </a:rPr>
              <a:t>振声苑</a:t>
            </a:r>
            <a:r>
              <a:rPr lang="en-US" altLang="zh-CN" sz="2800" b="1" dirty="0">
                <a:cs typeface="Arial Unicode MS" pitchFamily="34" charset="-122"/>
              </a:rPr>
              <a:t>W106</a:t>
            </a:r>
            <a:r>
              <a:rPr lang="zh-CN" altLang="en-US" sz="2800" b="1" dirty="0">
                <a:cs typeface="Arial Unicode MS" pitchFamily="34" charset="-122"/>
              </a:rPr>
              <a:t>，通信</a:t>
            </a:r>
            <a:r>
              <a:rPr lang="en-US" altLang="zh-CN" sz="2800" b="1" dirty="0">
                <a:cs typeface="Arial Unicode MS" pitchFamily="34" charset="-122"/>
              </a:rPr>
              <a:t>23[2-3]</a:t>
            </a:r>
            <a:r>
              <a:rPr lang="zh-CN" altLang="en-US" sz="2800" b="1" dirty="0">
                <a:cs typeface="Arial Unicode MS" pitchFamily="34" charset="-122"/>
              </a:rPr>
              <a:t>班，</a:t>
            </a:r>
            <a:r>
              <a:rPr lang="en-US" altLang="zh-CN" sz="2800" b="1" dirty="0">
                <a:cs typeface="Arial Unicode MS" pitchFamily="34" charset="-122"/>
              </a:rPr>
              <a:t>2024</a:t>
            </a:r>
            <a:r>
              <a:rPr lang="zh-CN" altLang="en-US" sz="2800" b="1" dirty="0">
                <a:cs typeface="Arial Unicode MS" pitchFamily="34" charset="-122"/>
              </a:rPr>
              <a:t>年秋</a:t>
            </a:r>
            <a:endParaRPr lang="es-HN" sz="2800" b="1" dirty="0">
              <a:cs typeface="Arial Unicode MS" pitchFamily="34" charset="-122"/>
            </a:endParaRPr>
          </a:p>
        </p:txBody>
      </p:sp>
    </p:spTree>
    <p:extLst>
      <p:ext uri="{BB962C8B-B14F-4D97-AF65-F5344CB8AC3E}">
        <p14:creationId xmlns:p14="http://schemas.microsoft.com/office/powerpoint/2010/main" val="2670101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上次课总结</a:t>
            </a:r>
          </a:p>
        </p:txBody>
      </p:sp>
      <p:sp>
        <p:nvSpPr>
          <p:cNvPr id="4" name="内容占位符 3"/>
          <p:cNvSpPr>
            <a:spLocks noGrp="1"/>
          </p:cNvSpPr>
          <p:nvPr>
            <p:ph idx="1"/>
          </p:nvPr>
        </p:nvSpPr>
        <p:spPr>
          <a:xfrm>
            <a:off x="684213" y="1628775"/>
            <a:ext cx="7772400" cy="2376289"/>
          </a:xfrm>
        </p:spPr>
        <p:txBody>
          <a:bodyPr/>
          <a:lstStyle/>
          <a:p>
            <a:r>
              <a:rPr lang="zh-CN" altLang="en-US" sz="2400" dirty="0"/>
              <a:t>随机信号通过</a:t>
            </a:r>
            <a:r>
              <a:rPr lang="en-US" altLang="zh-CN" sz="2400" dirty="0"/>
              <a:t>LTI</a:t>
            </a:r>
            <a:r>
              <a:rPr lang="zh-CN" altLang="en-US" sz="2400" dirty="0"/>
              <a:t>系统的特性</a:t>
            </a:r>
            <a:endParaRPr lang="en-US" altLang="zh-CN" sz="2400" dirty="0"/>
          </a:p>
          <a:p>
            <a:pPr marL="0" indent="0">
              <a:buNone/>
            </a:pPr>
            <a:r>
              <a:rPr lang="en-US" altLang="zh-CN" sz="2400" dirty="0"/>
              <a:t>    </a:t>
            </a:r>
            <a:r>
              <a:rPr lang="zh-CN" altLang="en-US" sz="2400" dirty="0"/>
              <a:t>均值，相关函数，功率谱密度</a:t>
            </a:r>
            <a:endParaRPr lang="en-US" altLang="zh-CN" sz="2400" dirty="0"/>
          </a:p>
          <a:p>
            <a:r>
              <a:rPr lang="zh-CN" altLang="en-US" sz="2400" dirty="0"/>
              <a:t>输入平稳，输出平稳</a:t>
            </a:r>
            <a:endParaRPr lang="en-US" altLang="zh-CN" sz="2400" dirty="0"/>
          </a:p>
          <a:p>
            <a:r>
              <a:rPr lang="zh-CN" altLang="en-US" sz="2400" dirty="0"/>
              <a:t>输入各态历经，输出各态历经</a:t>
            </a:r>
          </a:p>
        </p:txBody>
      </p:sp>
    </p:spTree>
    <p:extLst>
      <p:ext uri="{BB962C8B-B14F-4D97-AF65-F5344CB8AC3E}">
        <p14:creationId xmlns:p14="http://schemas.microsoft.com/office/powerpoint/2010/main" val="459630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28650" y="692696"/>
            <a:ext cx="7886700" cy="839744"/>
          </a:xfrm>
        </p:spPr>
        <p:txBody>
          <a:bodyPr/>
          <a:lstStyle/>
          <a:p>
            <a:r>
              <a:rPr lang="zh-CN" altLang="en-US" dirty="0"/>
              <a:t>公 式 总  结</a:t>
            </a:r>
          </a:p>
        </p:txBody>
      </p:sp>
      <mc:AlternateContent xmlns:mc="http://schemas.openxmlformats.org/markup-compatibility/2006">
        <mc:Choice xmlns:a14="http://schemas.microsoft.com/office/drawing/2010/main" Requires="a14">
          <p:sp>
            <p:nvSpPr>
              <p:cNvPr id="4" name="内容占位符 3"/>
              <p:cNvSpPr>
                <a:spLocks noGrp="1"/>
              </p:cNvSpPr>
              <p:nvPr>
                <p:ph idx="1"/>
              </p:nvPr>
            </p:nvSpPr>
            <p:spPr>
              <a:xfrm>
                <a:off x="683568" y="1556792"/>
                <a:ext cx="7905605" cy="3811703"/>
              </a:xfrm>
            </p:spPr>
            <p:txBody>
              <a:bodyPr/>
              <a:lstStyle/>
              <a:p>
                <a14:m>
                  <m:oMath xmlns:m="http://schemas.openxmlformats.org/officeDocument/2006/math">
                    <m:r>
                      <a:rPr lang="en-US" altLang="zh-CN" i="1" smtClean="0">
                        <a:solidFill>
                          <a:schemeClr val="tx1"/>
                        </a:solidFill>
                        <a:latin typeface="Cambria Math" panose="02040503050406030204" pitchFamily="18" charset="0"/>
                      </a:rPr>
                      <m:t>𝑬</m:t>
                    </m:r>
                    <m:r>
                      <a:rPr lang="en-US" altLang="zh-CN" i="1" smtClean="0">
                        <a:solidFill>
                          <a:schemeClr val="tx1"/>
                        </a:solidFill>
                        <a:latin typeface="Cambria Math" panose="02040503050406030204" pitchFamily="18" charset="0"/>
                      </a:rPr>
                      <m:t>[</m:t>
                    </m:r>
                    <m:r>
                      <a:rPr lang="en-US" altLang="zh-CN" i="1" smtClean="0">
                        <a:solidFill>
                          <a:schemeClr val="tx1"/>
                        </a:solidFill>
                        <a:latin typeface="Cambria Math" panose="02040503050406030204" pitchFamily="18" charset="0"/>
                      </a:rPr>
                      <m:t>𝒀</m:t>
                    </m:r>
                    <m:r>
                      <a:rPr lang="en-US" altLang="zh-CN" i="1" smtClean="0">
                        <a:solidFill>
                          <a:schemeClr val="tx1"/>
                        </a:solidFill>
                        <a:latin typeface="Cambria Math" panose="02040503050406030204" pitchFamily="18" charset="0"/>
                      </a:rPr>
                      <m:t>(</m:t>
                    </m:r>
                    <m:r>
                      <a:rPr lang="en-US" altLang="zh-CN" i="1" smtClean="0">
                        <a:solidFill>
                          <a:schemeClr val="tx1"/>
                        </a:solidFill>
                        <a:latin typeface="Cambria Math" panose="02040503050406030204" pitchFamily="18" charset="0"/>
                      </a:rPr>
                      <m:t>𝒕</m:t>
                    </m:r>
                    <m:r>
                      <a:rPr lang="en-US" altLang="zh-CN" i="1" smtClean="0">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𝒎</m:t>
                        </m:r>
                      </m:e>
                      <m:sub>
                        <m:r>
                          <a:rPr lang="en-US" altLang="zh-CN" i="1">
                            <a:solidFill>
                              <a:schemeClr val="tx1"/>
                            </a:solidFill>
                            <a:latin typeface="Cambria Math" panose="02040503050406030204" pitchFamily="18" charset="0"/>
                          </a:rPr>
                          <m:t>𝑿</m:t>
                        </m:r>
                      </m:sub>
                    </m:sSub>
                    <m:nary>
                      <m:naryPr>
                        <m:ctrlPr>
                          <a:rPr lang="zh-CN" altLang="zh-CN" i="1">
                            <a:solidFill>
                              <a:schemeClr val="tx1"/>
                            </a:solidFill>
                            <a:latin typeface="Cambria Math" panose="02040503050406030204" pitchFamily="18" charset="0"/>
                          </a:rPr>
                        </m:ctrlPr>
                      </m:naryPr>
                      <m:sub>
                        <m:r>
                          <a:rPr lang="en-US" altLang="zh-CN" i="1">
                            <a:solidFill>
                              <a:schemeClr val="tx1"/>
                            </a:solidFill>
                            <a:latin typeface="Cambria Math" panose="02040503050406030204" pitchFamily="18" charset="0"/>
                          </a:rPr>
                          <m:t>−∞</m:t>
                        </m:r>
                      </m:sub>
                      <m:sup>
                        <m:r>
                          <a:rPr lang="en-US" altLang="zh-CN" i="1">
                            <a:solidFill>
                              <a:schemeClr val="tx1"/>
                            </a:solidFill>
                            <a:latin typeface="Cambria Math" panose="02040503050406030204" pitchFamily="18" charset="0"/>
                          </a:rPr>
                          <m:t>∞</m:t>
                        </m:r>
                      </m:sup>
                      <m:e>
                        <m:r>
                          <a:rPr lang="en-US" altLang="zh-CN" i="1">
                            <a:solidFill>
                              <a:schemeClr val="tx1"/>
                            </a:solidFill>
                            <a:latin typeface="Cambria Math" panose="02040503050406030204" pitchFamily="18" charset="0"/>
                          </a:rPr>
                          <m:t>𝒉</m:t>
                        </m:r>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𝝉</m:t>
                            </m:r>
                          </m:e>
                        </m:d>
                        <m:r>
                          <a:rPr lang="en-US" altLang="zh-CN" i="1">
                            <a:solidFill>
                              <a:schemeClr val="tx1"/>
                            </a:solidFill>
                            <a:latin typeface="Cambria Math" panose="02040503050406030204" pitchFamily="18" charset="0"/>
                          </a:rPr>
                          <m:t>𝒅</m:t>
                        </m:r>
                        <m:r>
                          <a:rPr lang="en-US" altLang="zh-CN" i="1">
                            <a:solidFill>
                              <a:schemeClr val="tx1"/>
                            </a:solidFill>
                            <a:latin typeface="Cambria Math" panose="02040503050406030204" pitchFamily="18" charset="0"/>
                          </a:rPr>
                          <m:t>𝝉</m:t>
                        </m:r>
                        <m:r>
                          <a:rPr lang="en-US" altLang="zh-CN" i="1">
                            <a:solidFill>
                              <a:schemeClr val="tx1"/>
                            </a:solidFill>
                            <a:latin typeface="Cambria Math" panose="02040503050406030204" pitchFamily="18" charset="0"/>
                          </a:rPr>
                          <m:t>=</m:t>
                        </m:r>
                      </m:e>
                    </m:nary>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𝒎</m:t>
                        </m:r>
                      </m:e>
                      <m:sub>
                        <m:r>
                          <a:rPr lang="en-US" altLang="zh-CN" i="1">
                            <a:solidFill>
                              <a:schemeClr val="tx1"/>
                            </a:solidFill>
                            <a:latin typeface="Cambria Math" panose="02040503050406030204" pitchFamily="18" charset="0"/>
                          </a:rPr>
                          <m:t>𝑿</m:t>
                        </m:r>
                      </m:sub>
                    </m:sSub>
                    <m:r>
                      <a:rPr lang="en-US" altLang="zh-CN" i="1">
                        <a:solidFill>
                          <a:schemeClr val="tx1"/>
                        </a:solidFill>
                        <a:latin typeface="Cambria Math" panose="02040503050406030204" pitchFamily="18" charset="0"/>
                      </a:rPr>
                      <m:t> </m:t>
                    </m:r>
                    <m:r>
                      <a:rPr lang="en-US" altLang="zh-CN" i="1">
                        <a:solidFill>
                          <a:schemeClr val="tx1"/>
                        </a:solidFill>
                        <a:latin typeface="Cambria Math" panose="02040503050406030204" pitchFamily="18" charset="0"/>
                      </a:rPr>
                      <m:t>𝑯</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𝒋</m:t>
                    </m:r>
                    <m:r>
                      <a:rPr lang="en-US" altLang="zh-CN" i="1">
                        <a:solidFill>
                          <a:schemeClr val="tx1"/>
                        </a:solidFill>
                        <a:latin typeface="Cambria Math" panose="02040503050406030204" pitchFamily="18" charset="0"/>
                      </a:rPr>
                      <m:t>𝟎</m:t>
                    </m:r>
                    <m:r>
                      <a:rPr lang="en-US" altLang="zh-CN" i="1">
                        <a:solidFill>
                          <a:schemeClr val="tx1"/>
                        </a:solidFill>
                        <a:latin typeface="Cambria Math" panose="02040503050406030204" pitchFamily="18" charset="0"/>
                      </a:rPr>
                      <m:t>)</m:t>
                    </m:r>
                  </m:oMath>
                </a14:m>
                <a:r>
                  <a:rPr lang="en-US" altLang="zh-CN" dirty="0">
                    <a:solidFill>
                      <a:schemeClr val="tx1"/>
                    </a:solidFill>
                  </a:rPr>
                  <a:t> </a:t>
                </a:r>
                <a14:m>
                  <m:oMath xmlns:m="http://schemas.openxmlformats.org/officeDocument/2006/math">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𝒎</m:t>
                        </m:r>
                      </m:e>
                      <m:sub>
                        <m:r>
                          <a:rPr lang="en-US" altLang="zh-CN" b="1" i="1" smtClean="0">
                            <a:solidFill>
                              <a:schemeClr val="tx1"/>
                            </a:solidFill>
                            <a:latin typeface="Cambria Math" panose="02040503050406030204" pitchFamily="18" charset="0"/>
                          </a:rPr>
                          <m:t>𝒀</m:t>
                        </m:r>
                      </m:sub>
                    </m:sSub>
                  </m:oMath>
                </a14:m>
                <a:endParaRPr lang="en-US" altLang="zh-CN" dirty="0">
                  <a:solidFill>
                    <a:schemeClr val="tx1"/>
                  </a:solidFill>
                </a:endParaRPr>
              </a:p>
              <a:p>
                <a14:m>
                  <m:oMath xmlns:m="http://schemas.openxmlformats.org/officeDocument/2006/math">
                    <m:sSub>
                      <m:sSubPr>
                        <m:ctrlPr>
                          <a:rPr lang="zh-CN" altLang="zh-CN" i="1">
                            <a:solidFill>
                              <a:schemeClr val="tx1"/>
                            </a:solidFill>
                            <a:latin typeface="Cambria Math" panose="02040503050406030204" pitchFamily="18" charset="0"/>
                          </a:rPr>
                        </m:ctrlPr>
                      </m:sSubPr>
                      <m:e>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𝑹</m:t>
                            </m:r>
                          </m:e>
                          <m:sub>
                            <m:r>
                              <a:rPr lang="en-US" altLang="zh-CN" i="1">
                                <a:solidFill>
                                  <a:schemeClr val="tx1"/>
                                </a:solidFill>
                                <a:latin typeface="Cambria Math" panose="02040503050406030204" pitchFamily="18" charset="0"/>
                              </a:rPr>
                              <m:t>𝒀</m:t>
                            </m:r>
                          </m:sub>
                        </m:sSub>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𝒕</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𝒕</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𝝉</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𝑬</m:t>
                        </m:r>
                        <m:d>
                          <m:dPr>
                            <m:begChr m:val="["/>
                            <m:endChr m:val="]"/>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𝒀</m:t>
                            </m:r>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𝒕</m:t>
                                </m:r>
                              </m:e>
                            </m:d>
                            <m:r>
                              <a:rPr lang="en-US" altLang="zh-CN" i="1">
                                <a:solidFill>
                                  <a:schemeClr val="tx1"/>
                                </a:solidFill>
                                <a:latin typeface="Cambria Math" panose="02040503050406030204" pitchFamily="18" charset="0"/>
                              </a:rPr>
                              <m:t>𝒀</m:t>
                            </m:r>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𝒕</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𝝉</m:t>
                                </m:r>
                              </m:e>
                            </m:d>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𝑹</m:t>
                        </m:r>
                      </m:e>
                      <m:sub>
                        <m:r>
                          <a:rPr lang="en-US" altLang="zh-CN" i="1">
                            <a:solidFill>
                              <a:schemeClr val="tx1"/>
                            </a:solidFill>
                            <a:latin typeface="Cambria Math" panose="02040503050406030204" pitchFamily="18" charset="0"/>
                          </a:rPr>
                          <m:t>𝑿</m:t>
                        </m:r>
                      </m:sub>
                    </m:sSub>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𝝉</m:t>
                        </m:r>
                      </m:e>
                    </m:d>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𝑹</m:t>
                        </m:r>
                      </m:e>
                      <m:sub>
                        <m:r>
                          <a:rPr lang="en-US" altLang="zh-CN" i="1">
                            <a:solidFill>
                              <a:schemeClr val="tx1"/>
                            </a:solidFill>
                            <a:latin typeface="Cambria Math" panose="02040503050406030204" pitchFamily="18" charset="0"/>
                          </a:rPr>
                          <m:t>𝒉</m:t>
                        </m:r>
                      </m:sub>
                    </m:sSub>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𝝉</m:t>
                        </m:r>
                      </m:e>
                    </m:d>
                  </m:oMath>
                </a14:m>
                <a:endParaRPr lang="en-US" altLang="zh-CN" i="1" dirty="0">
                  <a:solidFill>
                    <a:schemeClr val="tx1"/>
                  </a:solidFill>
                  <a:latin typeface="Cambria Math" panose="02040503050406030204" pitchFamily="18" charset="0"/>
                </a:endParaRPr>
              </a:p>
              <a:p>
                <a:pPr marL="0" indent="0">
                  <a:buNone/>
                </a:pPr>
                <a:r>
                  <a:rPr lang="en-US" altLang="zh-CN" dirty="0">
                    <a:solidFill>
                      <a:schemeClr val="tx1"/>
                    </a:solidFill>
                  </a:rPr>
                  <a:t>                        </a:t>
                </a:r>
                <a14:m>
                  <m:oMath xmlns:m="http://schemas.openxmlformats.org/officeDocument/2006/math">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𝑹</m:t>
                        </m:r>
                      </m:e>
                      <m:sub>
                        <m:r>
                          <a:rPr lang="en-US" altLang="zh-CN" i="1">
                            <a:solidFill>
                              <a:schemeClr val="tx1"/>
                            </a:solidFill>
                            <a:latin typeface="Cambria Math" panose="02040503050406030204" pitchFamily="18" charset="0"/>
                          </a:rPr>
                          <m:t>𝑿</m:t>
                        </m:r>
                      </m:sub>
                    </m:sSub>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𝝉</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𝒉</m:t>
                    </m:r>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𝝉</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𝒉</m:t>
                    </m:r>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𝝉</m:t>
                        </m:r>
                      </m:e>
                    </m:d>
                    <m:r>
                      <a:rPr lang="en-US" altLang="zh-CN" b="1" i="1" smtClean="0">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𝑹</m:t>
                        </m:r>
                      </m:e>
                      <m:sub>
                        <m:r>
                          <a:rPr lang="en-US" altLang="zh-CN" b="1" i="1" smtClean="0">
                            <a:solidFill>
                              <a:schemeClr val="tx1"/>
                            </a:solidFill>
                            <a:latin typeface="Cambria Math" panose="02040503050406030204" pitchFamily="18" charset="0"/>
                          </a:rPr>
                          <m:t>𝒀</m:t>
                        </m:r>
                      </m:sub>
                    </m:sSub>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𝝉</m:t>
                        </m:r>
                      </m:e>
                    </m:d>
                  </m:oMath>
                </a14:m>
                <a:endParaRPr lang="en-US" altLang="zh-CN" dirty="0">
                  <a:solidFill>
                    <a:schemeClr val="tx1"/>
                  </a:solidFill>
                </a:endParaRPr>
              </a:p>
              <a:p>
                <a14:m>
                  <m:oMath xmlns:m="http://schemas.openxmlformats.org/officeDocument/2006/math">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𝑹</m:t>
                        </m:r>
                      </m:e>
                      <m:sub>
                        <m:r>
                          <a:rPr lang="en-US" altLang="zh-CN" i="1">
                            <a:solidFill>
                              <a:schemeClr val="tx1"/>
                            </a:solidFill>
                            <a:latin typeface="Cambria Math" panose="02040503050406030204" pitchFamily="18" charset="0"/>
                          </a:rPr>
                          <m:t>𝒉</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𝝉</m:t>
                    </m:r>
                    <m:r>
                      <a:rPr lang="en-US" altLang="zh-CN" i="1">
                        <a:solidFill>
                          <a:schemeClr val="tx1"/>
                        </a:solidFill>
                        <a:latin typeface="Cambria Math" panose="02040503050406030204" pitchFamily="18" charset="0"/>
                      </a:rPr>
                      <m:t>)</m:t>
                    </m:r>
                    <m:r>
                      <a:rPr lang="zh-CN"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𝒉</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𝝉</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𝒉</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𝝉</m:t>
                    </m:r>
                    <m:r>
                      <a:rPr lang="en-US" altLang="zh-CN" i="1">
                        <a:solidFill>
                          <a:schemeClr val="tx1"/>
                        </a:solidFill>
                        <a:latin typeface="Cambria Math" panose="02040503050406030204" pitchFamily="18" charset="0"/>
                      </a:rPr>
                      <m:t>)</m:t>
                    </m:r>
                  </m:oMath>
                </a14:m>
                <a:r>
                  <a:rPr lang="en-US" altLang="zh-CN" dirty="0">
                    <a:solidFill>
                      <a:schemeClr val="tx1"/>
                    </a:solidFill>
                  </a:rPr>
                  <a:t>,      </a:t>
                </a:r>
                <a14:m>
                  <m:oMath xmlns:m="http://schemas.openxmlformats.org/officeDocument/2006/math">
                    <m:r>
                      <a:rPr lang="en-US" altLang="zh-CN" b="1" i="0" smtClean="0">
                        <a:solidFill>
                          <a:schemeClr val="tx1"/>
                        </a:solidFill>
                        <a:latin typeface="Cambria Math" panose="02040503050406030204" pitchFamily="18" charset="0"/>
                      </a:rPr>
                      <m:t> </m:t>
                    </m:r>
                    <m:r>
                      <a:rPr lang="en-US" altLang="zh-CN" i="1">
                        <a:solidFill>
                          <a:schemeClr val="tx1"/>
                        </a:solidFill>
                        <a:latin typeface="Cambria Math" panose="02040503050406030204" pitchFamily="18" charset="0"/>
                      </a:rPr>
                      <m:t>𝑯</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𝒋</m:t>
                    </m:r>
                    <m:r>
                      <a:rPr lang="en-US" altLang="zh-CN" i="1">
                        <a:solidFill>
                          <a:schemeClr val="tx1"/>
                        </a:solidFill>
                        <a:latin typeface="Cambria Math" panose="02040503050406030204" pitchFamily="18" charset="0"/>
                      </a:rPr>
                      <m:t>𝝎</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𝑯</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𝒋</m:t>
                    </m:r>
                    <m:r>
                      <a:rPr lang="en-US" altLang="zh-CN" i="1">
                        <a:solidFill>
                          <a:schemeClr val="tx1"/>
                        </a:solidFill>
                        <a:latin typeface="Cambria Math" panose="02040503050406030204" pitchFamily="18" charset="0"/>
                      </a:rPr>
                      <m:t>𝝎</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𝑯</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𝒋</m:t>
                    </m:r>
                    <m:r>
                      <a:rPr lang="en-US" altLang="zh-CN" i="1">
                        <a:solidFill>
                          <a:schemeClr val="tx1"/>
                        </a:solidFill>
                        <a:latin typeface="Cambria Math" panose="02040503050406030204" pitchFamily="18" charset="0"/>
                      </a:rPr>
                      <m:t>𝝎</m:t>
                    </m:r>
                    <m:r>
                      <a:rPr lang="en-US" altLang="zh-CN" i="1">
                        <a:solidFill>
                          <a:schemeClr val="tx1"/>
                        </a:solidFill>
                        <a:latin typeface="Cambria Math" panose="02040503050406030204" pitchFamily="18" charset="0"/>
                      </a:rPr>
                      <m:t>)</m:t>
                    </m:r>
                    <m:sSup>
                      <m:sSupPr>
                        <m:ctrlPr>
                          <a:rPr lang="zh-CN" altLang="zh-CN" i="1">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m:t>
                        </m:r>
                      </m:e>
                      <m:sup>
                        <m:r>
                          <a:rPr lang="en-US" altLang="zh-CN" i="1">
                            <a:solidFill>
                              <a:schemeClr val="tx1"/>
                            </a:solidFill>
                            <a:latin typeface="Cambria Math" panose="02040503050406030204" pitchFamily="18" charset="0"/>
                          </a:rPr>
                          <m:t>𝟐</m:t>
                        </m:r>
                      </m:sup>
                    </m:sSup>
                  </m:oMath>
                </a14:m>
                <a:r>
                  <a:rPr lang="en-US" altLang="zh-CN" dirty="0">
                    <a:solidFill>
                      <a:schemeClr val="tx1"/>
                    </a:solidFill>
                  </a:rPr>
                  <a:t> </a:t>
                </a:r>
              </a:p>
              <a:p>
                <a14:m>
                  <m:oMath xmlns:m="http://schemas.openxmlformats.org/officeDocument/2006/math">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𝑺</m:t>
                        </m:r>
                      </m:e>
                      <m:sub>
                        <m:r>
                          <a:rPr lang="en-US" altLang="zh-CN" i="1">
                            <a:solidFill>
                              <a:schemeClr val="tx1"/>
                            </a:solidFill>
                            <a:latin typeface="Cambria Math" panose="02040503050406030204" pitchFamily="18" charset="0"/>
                          </a:rPr>
                          <m:t>𝒀</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𝝎</m:t>
                    </m:r>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𝑺</m:t>
                        </m:r>
                      </m:e>
                      <m:sub>
                        <m:r>
                          <a:rPr lang="en-US" altLang="zh-CN" i="1">
                            <a:solidFill>
                              <a:schemeClr val="tx1"/>
                            </a:solidFill>
                            <a:latin typeface="Cambria Math" panose="02040503050406030204" pitchFamily="18" charset="0"/>
                          </a:rPr>
                          <m:t>𝑿</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𝝎</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𝑯</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𝒋</m:t>
                    </m:r>
                    <m:r>
                      <a:rPr lang="en-US" altLang="zh-CN" i="1">
                        <a:solidFill>
                          <a:schemeClr val="tx1"/>
                        </a:solidFill>
                        <a:latin typeface="Cambria Math" panose="02040503050406030204" pitchFamily="18" charset="0"/>
                      </a:rPr>
                      <m:t>𝝎</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𝑯</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𝒋</m:t>
                    </m:r>
                    <m:r>
                      <a:rPr lang="en-US" altLang="zh-CN" i="1">
                        <a:solidFill>
                          <a:schemeClr val="tx1"/>
                        </a:solidFill>
                        <a:latin typeface="Cambria Math" panose="02040503050406030204" pitchFamily="18" charset="0"/>
                      </a:rPr>
                      <m:t>𝝎</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𝑯</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𝒋</m:t>
                    </m:r>
                    <m:r>
                      <a:rPr lang="en-US" altLang="zh-CN" i="1">
                        <a:solidFill>
                          <a:schemeClr val="tx1"/>
                        </a:solidFill>
                        <a:latin typeface="Cambria Math" panose="02040503050406030204" pitchFamily="18" charset="0"/>
                      </a:rPr>
                      <m:t>𝝎</m:t>
                    </m:r>
                    <m:r>
                      <a:rPr lang="en-US" altLang="zh-CN" i="1">
                        <a:solidFill>
                          <a:schemeClr val="tx1"/>
                        </a:solidFill>
                        <a:latin typeface="Cambria Math" panose="02040503050406030204" pitchFamily="18" charset="0"/>
                      </a:rPr>
                      <m:t>)</m:t>
                    </m:r>
                    <m:sSup>
                      <m:sSupPr>
                        <m:ctrlPr>
                          <a:rPr lang="zh-CN" altLang="zh-CN" i="1">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m:t>
                        </m:r>
                      </m:e>
                      <m:sup>
                        <m:r>
                          <a:rPr lang="en-US" altLang="zh-CN" i="1">
                            <a:solidFill>
                              <a:schemeClr val="tx1"/>
                            </a:solidFill>
                            <a:latin typeface="Cambria Math" panose="02040503050406030204" pitchFamily="18" charset="0"/>
                          </a:rPr>
                          <m:t>𝟐</m:t>
                        </m:r>
                      </m:sup>
                    </m:sSup>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𝑺</m:t>
                        </m:r>
                      </m:e>
                      <m:sub>
                        <m:r>
                          <a:rPr lang="en-US" altLang="zh-CN" i="1">
                            <a:solidFill>
                              <a:schemeClr val="tx1"/>
                            </a:solidFill>
                            <a:latin typeface="Cambria Math" panose="02040503050406030204" pitchFamily="18" charset="0"/>
                          </a:rPr>
                          <m:t>𝑿</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𝝎</m:t>
                    </m:r>
                    <m:r>
                      <a:rPr lang="en-US" altLang="zh-CN" i="1">
                        <a:solidFill>
                          <a:schemeClr val="tx1"/>
                        </a:solidFill>
                        <a:latin typeface="Cambria Math" panose="02040503050406030204" pitchFamily="18" charset="0"/>
                      </a:rPr>
                      <m:t>)</m:t>
                    </m:r>
                  </m:oMath>
                </a14:m>
                <a:r>
                  <a:rPr lang="en-US" altLang="zh-CN" dirty="0">
                    <a:solidFill>
                      <a:schemeClr val="tx1"/>
                    </a:solidFill>
                  </a:rPr>
                  <a:t>  </a:t>
                </a:r>
              </a:p>
              <a:p>
                <a14:m>
                  <m:oMath xmlns:m="http://schemas.openxmlformats.org/officeDocument/2006/math">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𝑹</m:t>
                        </m:r>
                      </m:e>
                      <m:sub>
                        <m:r>
                          <a:rPr lang="en-US" altLang="zh-CN" i="1">
                            <a:solidFill>
                              <a:schemeClr val="tx1"/>
                            </a:solidFill>
                            <a:latin typeface="Cambria Math" panose="02040503050406030204" pitchFamily="18" charset="0"/>
                          </a:rPr>
                          <m:t>𝑿𝒀</m:t>
                        </m:r>
                      </m:sub>
                    </m:sSub>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𝒕</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𝒕</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𝝉</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𝑬</m:t>
                    </m:r>
                    <m:d>
                      <m:dPr>
                        <m:begChr m:val="["/>
                        <m:endChr m:val="]"/>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𝑿</m:t>
                        </m:r>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𝒕</m:t>
                            </m:r>
                          </m:e>
                        </m:d>
                        <m:r>
                          <a:rPr lang="en-US" altLang="zh-CN" i="1">
                            <a:solidFill>
                              <a:schemeClr val="tx1"/>
                            </a:solidFill>
                            <a:latin typeface="Cambria Math" panose="02040503050406030204" pitchFamily="18" charset="0"/>
                          </a:rPr>
                          <m:t>𝒀</m:t>
                        </m:r>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𝒕</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𝝉</m:t>
                            </m:r>
                          </m:e>
                        </m:d>
                      </m:e>
                    </m:d>
                    <m:r>
                      <a:rPr lang="en-US" altLang="zh-CN" b="1" i="1" smtClean="0">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𝒉</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𝝉</m:t>
                    </m:r>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𝑹</m:t>
                        </m:r>
                      </m:e>
                      <m:sub>
                        <m:r>
                          <a:rPr lang="en-US" altLang="zh-CN" i="1">
                            <a:solidFill>
                              <a:schemeClr val="tx1"/>
                            </a:solidFill>
                            <a:latin typeface="Cambria Math" panose="02040503050406030204" pitchFamily="18" charset="0"/>
                          </a:rPr>
                          <m:t>𝑿</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𝝉</m:t>
                    </m:r>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𝑹</m:t>
                        </m:r>
                      </m:e>
                      <m:sub>
                        <m:r>
                          <a:rPr lang="en-US" altLang="zh-CN" i="1">
                            <a:solidFill>
                              <a:schemeClr val="tx1"/>
                            </a:solidFill>
                            <a:latin typeface="Cambria Math" panose="02040503050406030204" pitchFamily="18" charset="0"/>
                          </a:rPr>
                          <m:t>𝑿𝒀</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𝝉</m:t>
                    </m:r>
                    <m:r>
                      <a:rPr lang="en-US" altLang="zh-CN" i="1">
                        <a:solidFill>
                          <a:schemeClr val="tx1"/>
                        </a:solidFill>
                        <a:latin typeface="Cambria Math" panose="02040503050406030204" pitchFamily="18" charset="0"/>
                      </a:rPr>
                      <m:t>)</m:t>
                    </m:r>
                  </m:oMath>
                </a14:m>
                <a:endParaRPr lang="en-US" altLang="zh-CN" i="1" dirty="0">
                  <a:solidFill>
                    <a:schemeClr val="tx1"/>
                  </a:solidFill>
                  <a:latin typeface="Cambria Math" panose="02040503050406030204" pitchFamily="18" charset="0"/>
                </a:endParaRPr>
              </a:p>
              <a:p>
                <a14:m>
                  <m:oMath xmlns:m="http://schemas.openxmlformats.org/officeDocument/2006/math">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𝑹</m:t>
                        </m:r>
                      </m:e>
                      <m:sub>
                        <m:r>
                          <a:rPr lang="en-US" altLang="zh-CN" i="1">
                            <a:solidFill>
                              <a:schemeClr val="tx1"/>
                            </a:solidFill>
                            <a:latin typeface="Cambria Math" panose="02040503050406030204" pitchFamily="18" charset="0"/>
                          </a:rPr>
                          <m:t>𝒀𝑿</m:t>
                        </m:r>
                      </m:sub>
                    </m:sSub>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𝝉</m:t>
                        </m:r>
                      </m:e>
                    </m:d>
                    <m:r>
                      <a:rPr lang="en-US" altLang="zh-CN">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𝑹</m:t>
                        </m:r>
                      </m:e>
                      <m:sub>
                        <m:r>
                          <a:rPr lang="en-US" altLang="zh-CN" i="1">
                            <a:solidFill>
                              <a:schemeClr val="tx1"/>
                            </a:solidFill>
                            <a:latin typeface="Cambria Math" panose="02040503050406030204" pitchFamily="18" charset="0"/>
                          </a:rPr>
                          <m:t>𝑿𝒀</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𝝉</m:t>
                    </m:r>
                    <m:r>
                      <a:rPr lang="en-US" altLang="zh-CN" i="1">
                        <a:solidFill>
                          <a:schemeClr val="tx1"/>
                        </a:solidFill>
                        <a:latin typeface="Cambria Math" panose="02040503050406030204" pitchFamily="18" charset="0"/>
                      </a:rPr>
                      <m:t>)=</m:t>
                    </m:r>
                  </m:oMath>
                </a14:m>
                <a:r>
                  <a:rPr lang="en-US" altLang="zh-CN" dirty="0">
                    <a:solidFill>
                      <a:schemeClr val="tx1"/>
                    </a:solidFill>
                  </a:rPr>
                  <a:t> </a:t>
                </a:r>
                <a14:m>
                  <m:oMath xmlns:m="http://schemas.openxmlformats.org/officeDocument/2006/math">
                    <m:r>
                      <a:rPr lang="en-US" altLang="zh-CN" i="1">
                        <a:solidFill>
                          <a:schemeClr val="tx1"/>
                        </a:solidFill>
                        <a:latin typeface="Cambria Math" panose="02040503050406030204" pitchFamily="18" charset="0"/>
                      </a:rPr>
                      <m:t>𝒉</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𝝉</m:t>
                    </m:r>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𝑹</m:t>
                        </m:r>
                      </m:e>
                      <m:sub>
                        <m:r>
                          <a:rPr lang="en-US" altLang="zh-CN" i="1">
                            <a:solidFill>
                              <a:schemeClr val="tx1"/>
                            </a:solidFill>
                            <a:latin typeface="Cambria Math" panose="02040503050406030204" pitchFamily="18" charset="0"/>
                          </a:rPr>
                          <m:t>𝑿</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𝝉</m:t>
                    </m:r>
                    <m:r>
                      <a:rPr lang="en-US" altLang="zh-CN" i="1">
                        <a:solidFill>
                          <a:schemeClr val="tx1"/>
                        </a:solidFill>
                        <a:latin typeface="Cambria Math" panose="02040503050406030204" pitchFamily="18" charset="0"/>
                      </a:rPr>
                      <m:t>)=</m:t>
                    </m:r>
                  </m:oMath>
                </a14:m>
                <a:r>
                  <a:rPr lang="en-US" altLang="zh-CN" dirty="0">
                    <a:solidFill>
                      <a:schemeClr val="tx1"/>
                    </a:solidFill>
                  </a:rPr>
                  <a:t> </a:t>
                </a:r>
                <a14:m>
                  <m:oMath xmlns:m="http://schemas.openxmlformats.org/officeDocument/2006/math">
                    <m:r>
                      <a:rPr lang="en-US" altLang="zh-CN" i="1">
                        <a:solidFill>
                          <a:schemeClr val="tx1"/>
                        </a:solidFill>
                        <a:latin typeface="Cambria Math" panose="02040503050406030204" pitchFamily="18" charset="0"/>
                      </a:rPr>
                      <m:t>𝒉</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𝝉</m:t>
                    </m:r>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𝑹</m:t>
                        </m:r>
                      </m:e>
                      <m:sub>
                        <m:r>
                          <a:rPr lang="en-US" altLang="zh-CN" i="1">
                            <a:solidFill>
                              <a:schemeClr val="tx1"/>
                            </a:solidFill>
                            <a:latin typeface="Cambria Math" panose="02040503050406030204" pitchFamily="18" charset="0"/>
                          </a:rPr>
                          <m:t>𝑿</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𝝉</m:t>
                    </m:r>
                    <m:r>
                      <a:rPr lang="en-US" altLang="zh-CN" i="1">
                        <a:solidFill>
                          <a:schemeClr val="tx1"/>
                        </a:solidFill>
                        <a:latin typeface="Cambria Math" panose="02040503050406030204" pitchFamily="18" charset="0"/>
                      </a:rPr>
                      <m:t>)</m:t>
                    </m:r>
                  </m:oMath>
                </a14:m>
                <a:endParaRPr lang="zh-CN" altLang="zh-CN" dirty="0">
                  <a:solidFill>
                    <a:schemeClr val="tx1"/>
                  </a:solidFill>
                </a:endParaRPr>
              </a:p>
              <a:p>
                <a14:m>
                  <m:oMath xmlns:m="http://schemas.openxmlformats.org/officeDocument/2006/math">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𝑺</m:t>
                        </m:r>
                      </m:e>
                      <m:sub>
                        <m:r>
                          <a:rPr lang="en-US" altLang="zh-CN" i="1">
                            <a:solidFill>
                              <a:schemeClr val="tx1"/>
                            </a:solidFill>
                            <a:latin typeface="Cambria Math" panose="02040503050406030204" pitchFamily="18" charset="0"/>
                          </a:rPr>
                          <m:t>𝑿𝒀</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𝝎</m:t>
                    </m:r>
                    <m:r>
                      <a:rPr lang="en-US" altLang="zh-CN" i="1">
                        <a:solidFill>
                          <a:schemeClr val="tx1"/>
                        </a:solidFill>
                        <a:latin typeface="Cambria Math" panose="02040503050406030204" pitchFamily="18" charset="0"/>
                      </a:rPr>
                      <m:t>)</m:t>
                    </m:r>
                    <m:r>
                      <a:rPr lang="zh-CN"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𝑯</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𝒋</m:t>
                    </m:r>
                    <m:r>
                      <a:rPr lang="en-US" altLang="zh-CN" i="1">
                        <a:solidFill>
                          <a:schemeClr val="tx1"/>
                        </a:solidFill>
                        <a:latin typeface="Cambria Math" panose="02040503050406030204" pitchFamily="18" charset="0"/>
                      </a:rPr>
                      <m:t>𝝎</m:t>
                    </m:r>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𝑺</m:t>
                        </m:r>
                      </m:e>
                      <m:sub>
                        <m:r>
                          <a:rPr lang="en-US" altLang="zh-CN" i="1">
                            <a:solidFill>
                              <a:schemeClr val="tx1"/>
                            </a:solidFill>
                            <a:latin typeface="Cambria Math" panose="02040503050406030204" pitchFamily="18" charset="0"/>
                          </a:rPr>
                          <m:t>𝑿</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𝝎</m:t>
                    </m:r>
                    <m:r>
                      <a:rPr lang="en-US" altLang="zh-CN" i="1">
                        <a:solidFill>
                          <a:schemeClr val="tx1"/>
                        </a:solidFill>
                        <a:latin typeface="Cambria Math" panose="02040503050406030204" pitchFamily="18" charset="0"/>
                      </a:rPr>
                      <m:t>)</m:t>
                    </m:r>
                  </m:oMath>
                </a14:m>
                <a:r>
                  <a:rPr lang="zh-CN" altLang="en-US" dirty="0">
                    <a:solidFill>
                      <a:schemeClr val="tx1"/>
                    </a:solidFill>
                  </a:rPr>
                  <a:t>，</a:t>
                </a:r>
                <a14:m>
                  <m:oMath xmlns:m="http://schemas.openxmlformats.org/officeDocument/2006/math">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𝑺</m:t>
                        </m:r>
                      </m:e>
                      <m:sub>
                        <m:r>
                          <a:rPr lang="en-US" altLang="zh-CN" i="1">
                            <a:solidFill>
                              <a:schemeClr val="tx1"/>
                            </a:solidFill>
                            <a:latin typeface="Cambria Math" panose="02040503050406030204" pitchFamily="18" charset="0"/>
                          </a:rPr>
                          <m:t>𝒀𝑿</m:t>
                        </m:r>
                      </m:sub>
                    </m:sSub>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𝝎</m:t>
                        </m:r>
                      </m:e>
                    </m:d>
                    <m:r>
                      <a:rPr lang="zh-CN" altLang="zh-CN" i="1">
                        <a:solidFill>
                          <a:schemeClr val="tx1"/>
                        </a:solidFill>
                        <a:latin typeface="Cambria Math" panose="02040503050406030204" pitchFamily="18" charset="0"/>
                      </a:rPr>
                      <m:t>＝</m:t>
                    </m:r>
                    <m:sSup>
                      <m:sSupPr>
                        <m:ctrlPr>
                          <a:rPr lang="en-US" altLang="zh-CN" i="1">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𝑯</m:t>
                        </m:r>
                      </m:e>
                      <m:sup>
                        <m:r>
                          <a:rPr lang="en-US" altLang="zh-CN" i="1">
                            <a:solidFill>
                              <a:schemeClr val="tx1"/>
                            </a:solidFill>
                            <a:latin typeface="Cambria Math" panose="02040503050406030204" pitchFamily="18" charset="0"/>
                          </a:rPr>
                          <m:t>∗</m:t>
                        </m:r>
                      </m:sup>
                    </m:sSup>
                    <m:r>
                      <a:rPr lang="en-US" altLang="zh-CN" i="1">
                        <a:solidFill>
                          <a:schemeClr val="tx1"/>
                        </a:solidFill>
                        <a:latin typeface="Cambria Math" panose="02040503050406030204" pitchFamily="18" charset="0"/>
                      </a:rPr>
                      <m:t> (</m:t>
                    </m:r>
                    <m:r>
                      <a:rPr lang="en-US" altLang="zh-CN" i="1">
                        <a:solidFill>
                          <a:schemeClr val="tx1"/>
                        </a:solidFill>
                        <a:latin typeface="Cambria Math" panose="02040503050406030204" pitchFamily="18" charset="0"/>
                      </a:rPr>
                      <m:t>𝒋</m:t>
                    </m:r>
                    <m:r>
                      <a:rPr lang="en-US" altLang="zh-CN" i="1">
                        <a:solidFill>
                          <a:schemeClr val="tx1"/>
                        </a:solidFill>
                        <a:latin typeface="Cambria Math" panose="02040503050406030204" pitchFamily="18" charset="0"/>
                      </a:rPr>
                      <m:t>𝝎</m:t>
                    </m:r>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𝑺</m:t>
                        </m:r>
                      </m:e>
                      <m:sub>
                        <m:r>
                          <a:rPr lang="en-US" altLang="zh-CN" i="1">
                            <a:solidFill>
                              <a:schemeClr val="tx1"/>
                            </a:solidFill>
                            <a:latin typeface="Cambria Math" panose="02040503050406030204" pitchFamily="18" charset="0"/>
                          </a:rPr>
                          <m:t>𝑿</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𝝎</m:t>
                    </m:r>
                    <m:r>
                      <a:rPr lang="en-US" altLang="zh-CN" i="1">
                        <a:solidFill>
                          <a:schemeClr val="tx1"/>
                        </a:solidFill>
                        <a:latin typeface="Cambria Math" panose="02040503050406030204" pitchFamily="18" charset="0"/>
                      </a:rPr>
                      <m:t>)=</m:t>
                    </m:r>
                  </m:oMath>
                </a14:m>
                <a:r>
                  <a:rPr lang="zh-CN" altLang="zh-CN" dirty="0">
                    <a:solidFill>
                      <a:schemeClr val="tx1"/>
                    </a:solidFill>
                  </a:rPr>
                  <a:t> </a:t>
                </a:r>
                <a14:m>
                  <m:oMath xmlns:m="http://schemas.openxmlformats.org/officeDocument/2006/math">
                    <m:sSub>
                      <m:sSubPr>
                        <m:ctrlPr>
                          <a:rPr lang="zh-CN" altLang="zh-CN" i="1">
                            <a:solidFill>
                              <a:schemeClr val="tx1"/>
                            </a:solidFill>
                            <a:latin typeface="Cambria Math" panose="02040503050406030204" pitchFamily="18" charset="0"/>
                          </a:rPr>
                        </m:ctrlPr>
                      </m:sSubPr>
                      <m:e>
                        <m:sSup>
                          <m:sSupPr>
                            <m:ctrlPr>
                              <a:rPr lang="en-US" altLang="zh-CN" i="1">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𝑺</m:t>
                            </m:r>
                          </m:e>
                          <m:sup>
                            <m:r>
                              <a:rPr lang="en-US" altLang="zh-CN" i="1">
                                <a:solidFill>
                                  <a:schemeClr val="tx1"/>
                                </a:solidFill>
                                <a:latin typeface="Cambria Math" panose="02040503050406030204" pitchFamily="18" charset="0"/>
                              </a:rPr>
                              <m:t>∗</m:t>
                            </m:r>
                          </m:sup>
                        </m:sSup>
                      </m:e>
                      <m:sub>
                        <m:r>
                          <a:rPr lang="en-US" altLang="zh-CN" i="1">
                            <a:solidFill>
                              <a:schemeClr val="tx1"/>
                            </a:solidFill>
                            <a:latin typeface="Cambria Math" panose="02040503050406030204" pitchFamily="18" charset="0"/>
                          </a:rPr>
                          <m:t>𝑿𝒀</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𝝎</m:t>
                    </m:r>
                    <m:r>
                      <a:rPr lang="en-US" altLang="zh-CN" i="1">
                        <a:solidFill>
                          <a:schemeClr val="tx1"/>
                        </a:solidFill>
                        <a:latin typeface="Cambria Math" panose="02040503050406030204" pitchFamily="18" charset="0"/>
                      </a:rPr>
                      <m:t>)</m:t>
                    </m:r>
                  </m:oMath>
                </a14:m>
                <a:br>
                  <a:rPr lang="en-US" altLang="zh-CN" i="1" dirty="0">
                    <a:latin typeface="Cambria Math" panose="02040503050406030204" pitchFamily="18" charset="0"/>
                  </a:rPr>
                </a:br>
                <a:endParaRPr lang="en-US" altLang="zh-CN" dirty="0"/>
              </a:p>
              <a:p>
                <a:endParaRPr lang="zh-CN" altLang="en-US" dirty="0"/>
              </a:p>
            </p:txBody>
          </p:sp>
        </mc:Choice>
        <mc:Fallback>
          <p:sp>
            <p:nvSpPr>
              <p:cNvPr id="4" name="内容占位符 3"/>
              <p:cNvSpPr>
                <a:spLocks noGrp="1" noRot="1" noChangeAspect="1" noMove="1" noResize="1" noEditPoints="1" noAdjustHandles="1" noChangeArrowheads="1" noChangeShapeType="1" noTextEdit="1"/>
              </p:cNvSpPr>
              <p:nvPr>
                <p:ph idx="1"/>
              </p:nvPr>
            </p:nvSpPr>
            <p:spPr>
              <a:xfrm>
                <a:off x="683568" y="1556792"/>
                <a:ext cx="7905605" cy="3811703"/>
              </a:xfrm>
              <a:blipFill>
                <a:blip r:embed="rId3"/>
                <a:stretch>
                  <a:fillRect l="-848" t="-15335" b="-23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92006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EA8DD6-2FCD-4575-9932-ACD3F9F55BAF}"/>
              </a:ext>
            </a:extLst>
          </p:cNvPr>
          <p:cNvSpPr>
            <a:spLocks noGrp="1"/>
          </p:cNvSpPr>
          <p:nvPr>
            <p:ph type="title"/>
          </p:nvPr>
        </p:nvSpPr>
        <p:spPr>
          <a:xfrm>
            <a:off x="628650" y="412609"/>
            <a:ext cx="7886700" cy="839744"/>
          </a:xfrm>
        </p:spPr>
        <p:txBody>
          <a:bodyPr/>
          <a:lstStyle/>
          <a:p>
            <a:r>
              <a:rPr lang="en-US" altLang="zh-CN" dirty="0"/>
              <a:t>5.2  </a:t>
            </a:r>
            <a:r>
              <a:rPr lang="zh-CN" altLang="zh-CN" dirty="0"/>
              <a:t>白噪声通过线性系统</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EDBCD82A-C314-45CB-A0A1-23B40CC56025}"/>
                  </a:ext>
                </a:extLst>
              </p:cNvPr>
              <p:cNvSpPr>
                <a:spLocks noGrp="1"/>
              </p:cNvSpPr>
              <p:nvPr>
                <p:ph idx="1"/>
              </p:nvPr>
            </p:nvSpPr>
            <p:spPr>
              <a:xfrm>
                <a:off x="387929" y="1340768"/>
                <a:ext cx="8576560" cy="4752528"/>
              </a:xfrm>
            </p:spPr>
            <p:txBody>
              <a:bodyPr>
                <a:normAutofit fontScale="62500" lnSpcReduction="20000"/>
              </a:bodyPr>
              <a:lstStyle/>
              <a:p>
                <a:pPr marL="0" indent="0">
                  <a:lnSpc>
                    <a:spcPct val="120000"/>
                  </a:lnSpc>
                  <a:buNone/>
                </a:pPr>
                <a:r>
                  <a:rPr lang="en-US" altLang="zh-CN" sz="3000" dirty="0">
                    <a:solidFill>
                      <a:srgbClr val="FF0000"/>
                    </a:solidFill>
                  </a:rPr>
                  <a:t>5.2.1 </a:t>
                </a:r>
                <a:r>
                  <a:rPr lang="zh-CN" altLang="zh-CN" sz="3000" dirty="0">
                    <a:solidFill>
                      <a:srgbClr val="FF0000"/>
                    </a:solidFill>
                  </a:rPr>
                  <a:t>白噪声通过</a:t>
                </a:r>
                <a:r>
                  <a:rPr lang="en-US" altLang="zh-CN" sz="3000" dirty="0">
                    <a:solidFill>
                      <a:srgbClr val="FF0000"/>
                    </a:solidFill>
                  </a:rPr>
                  <a:t>LTI</a:t>
                </a:r>
                <a:r>
                  <a:rPr lang="zh-CN" altLang="zh-CN" sz="3000" dirty="0">
                    <a:solidFill>
                      <a:srgbClr val="FF0000"/>
                    </a:solidFill>
                  </a:rPr>
                  <a:t>系统</a:t>
                </a:r>
              </a:p>
              <a:p>
                <a:pPr marL="0" indent="0">
                  <a:lnSpc>
                    <a:spcPct val="120000"/>
                  </a:lnSpc>
                  <a:buNone/>
                </a:pPr>
                <a:r>
                  <a:rPr lang="zh-CN" altLang="en-US" sz="2900" dirty="0"/>
                  <a:t>线性系统冲激响应</a:t>
                </a:r>
                <a:r>
                  <a:rPr lang="en-US" altLang="zh-CN" sz="2900" dirty="0"/>
                  <a:t> </a:t>
                </a:r>
                <a14:m>
                  <m:oMath xmlns:m="http://schemas.openxmlformats.org/officeDocument/2006/math">
                    <m:r>
                      <a:rPr lang="en-US" altLang="zh-CN" sz="2900" i="1">
                        <a:latin typeface="Cambria Math" panose="02040503050406030204" pitchFamily="18" charset="0"/>
                      </a:rPr>
                      <m:t>𝒉</m:t>
                    </m:r>
                    <m:r>
                      <a:rPr lang="en-US" altLang="zh-CN" sz="2900" i="1">
                        <a:latin typeface="Cambria Math" panose="02040503050406030204" pitchFamily="18" charset="0"/>
                      </a:rPr>
                      <m:t>(</m:t>
                    </m:r>
                    <m:r>
                      <a:rPr lang="en-US" altLang="zh-CN" sz="2900" i="1">
                        <a:latin typeface="Cambria Math" panose="02040503050406030204" pitchFamily="18" charset="0"/>
                      </a:rPr>
                      <m:t>𝒕</m:t>
                    </m:r>
                    <m:r>
                      <a:rPr lang="en-US" altLang="zh-CN" sz="2900" i="1">
                        <a:latin typeface="Cambria Math" panose="02040503050406030204" pitchFamily="18" charset="0"/>
                      </a:rPr>
                      <m:t>),</m:t>
                    </m:r>
                  </m:oMath>
                </a14:m>
                <a:r>
                  <a:rPr lang="zh-CN" altLang="en-US" sz="2900" dirty="0"/>
                  <a:t>传输函数 </a:t>
                </a:r>
                <a14:m>
                  <m:oMath xmlns:m="http://schemas.openxmlformats.org/officeDocument/2006/math">
                    <m:r>
                      <a:rPr lang="en-US" altLang="zh-CN" sz="2900" i="1">
                        <a:latin typeface="Cambria Math" panose="02040503050406030204" pitchFamily="18" charset="0"/>
                      </a:rPr>
                      <m:t>𝑯</m:t>
                    </m:r>
                    <m:r>
                      <a:rPr lang="en-US" altLang="zh-CN" sz="2900">
                        <a:latin typeface="Cambria Math" panose="02040503050406030204" pitchFamily="18" charset="0"/>
                      </a:rPr>
                      <m:t>(</m:t>
                    </m:r>
                    <m:r>
                      <a:rPr lang="en-US" altLang="zh-CN" sz="2900" i="1">
                        <a:latin typeface="Cambria Math" panose="02040503050406030204" pitchFamily="18" charset="0"/>
                      </a:rPr>
                      <m:t>𝒋</m:t>
                    </m:r>
                    <m:r>
                      <a:rPr lang="en-US" altLang="zh-CN" sz="2900" i="1">
                        <a:latin typeface="Cambria Math" panose="02040503050406030204" pitchFamily="18" charset="0"/>
                      </a:rPr>
                      <m:t>𝝎</m:t>
                    </m:r>
                    <m:r>
                      <a:rPr lang="en-US" altLang="zh-CN" sz="2900">
                        <a:latin typeface="Cambria Math" panose="02040503050406030204" pitchFamily="18" charset="0"/>
                      </a:rPr>
                      <m:t>)</m:t>
                    </m:r>
                  </m:oMath>
                </a14:m>
                <a:r>
                  <a:rPr lang="zh-CN" altLang="en-US" sz="2900" i="1" dirty="0"/>
                  <a:t>，</a:t>
                </a:r>
                <a:r>
                  <a:rPr lang="zh-CN" altLang="en-US" sz="2900" dirty="0"/>
                  <a:t>输入信号</a:t>
                </a:r>
                <a14:m>
                  <m:oMath xmlns:m="http://schemas.openxmlformats.org/officeDocument/2006/math">
                    <m:r>
                      <a:rPr lang="en-US" altLang="zh-CN" sz="2900" i="1">
                        <a:latin typeface="Cambria Math" panose="02040503050406030204" pitchFamily="18" charset="0"/>
                      </a:rPr>
                      <m:t>𝑿</m:t>
                    </m:r>
                    <m:r>
                      <a:rPr lang="en-US" altLang="zh-CN" sz="2900" i="1">
                        <a:latin typeface="Cambria Math" panose="02040503050406030204" pitchFamily="18" charset="0"/>
                      </a:rPr>
                      <m:t>(</m:t>
                    </m:r>
                    <m:r>
                      <a:rPr lang="en-US" altLang="zh-CN" sz="2900" i="1">
                        <a:latin typeface="Cambria Math" panose="02040503050406030204" pitchFamily="18" charset="0"/>
                      </a:rPr>
                      <m:t>𝒕</m:t>
                    </m:r>
                    <m:r>
                      <a:rPr lang="en-US" altLang="zh-CN" sz="2900" i="1">
                        <a:latin typeface="Cambria Math" panose="02040503050406030204" pitchFamily="18" charset="0"/>
                      </a:rPr>
                      <m:t>)</m:t>
                    </m:r>
                  </m:oMath>
                </a14:m>
                <a:r>
                  <a:rPr lang="zh-CN" altLang="en-US" sz="2900" dirty="0"/>
                  <a:t>的特性：</a:t>
                </a:r>
                <a:endParaRPr lang="en-US" altLang="zh-CN" sz="2900" dirty="0"/>
              </a:p>
              <a:p>
                <a:pPr marL="0" indent="0">
                  <a:lnSpc>
                    <a:spcPct val="120000"/>
                  </a:lnSpc>
                  <a:buNone/>
                </a:pPr>
                <a14:m>
                  <m:oMathPara xmlns:m="http://schemas.openxmlformats.org/officeDocument/2006/math">
                    <m:oMathParaPr>
                      <m:jc m:val="left"/>
                    </m:oMathParaPr>
                    <m:oMath xmlns:m="http://schemas.openxmlformats.org/officeDocument/2006/math">
                      <m:sSub>
                        <m:sSubPr>
                          <m:ctrlPr>
                            <a:rPr lang="zh-CN" altLang="zh-CN" sz="2900" i="1">
                              <a:latin typeface="Cambria Math" panose="02040503050406030204" pitchFamily="18" charset="0"/>
                            </a:rPr>
                          </m:ctrlPr>
                        </m:sSubPr>
                        <m:e>
                          <m:r>
                            <a:rPr lang="en-US" altLang="zh-CN" sz="2900" i="1">
                              <a:latin typeface="Cambria Math" panose="02040503050406030204" pitchFamily="18" charset="0"/>
                            </a:rPr>
                            <m:t>  </m:t>
                          </m:r>
                          <m:r>
                            <a:rPr lang="en-US" altLang="zh-CN" sz="2900" i="1">
                              <a:latin typeface="Cambria Math" panose="02040503050406030204" pitchFamily="18" charset="0"/>
                            </a:rPr>
                            <m:t>𝑺</m:t>
                          </m:r>
                        </m:e>
                        <m:sub>
                          <m:r>
                            <a:rPr lang="en-US" altLang="zh-CN" sz="2900" i="1">
                              <a:latin typeface="Cambria Math" panose="02040503050406030204" pitchFamily="18" charset="0"/>
                            </a:rPr>
                            <m:t>𝑿</m:t>
                          </m:r>
                        </m:sub>
                      </m:sSub>
                      <m:r>
                        <a:rPr lang="en-US" altLang="zh-CN" sz="2900" i="1">
                          <a:latin typeface="Cambria Math" panose="02040503050406030204" pitchFamily="18" charset="0"/>
                        </a:rPr>
                        <m:t>(</m:t>
                      </m:r>
                      <m:r>
                        <a:rPr lang="en-US" altLang="zh-CN" sz="2900" i="1">
                          <a:latin typeface="Cambria Math" panose="02040503050406030204" pitchFamily="18" charset="0"/>
                        </a:rPr>
                        <m:t>𝝎</m:t>
                      </m:r>
                      <m:r>
                        <a:rPr lang="en-US" altLang="zh-CN" sz="2900" i="1">
                          <a:latin typeface="Cambria Math" panose="02040503050406030204" pitchFamily="18" charset="0"/>
                        </a:rPr>
                        <m:t>)=</m:t>
                      </m:r>
                      <m:f>
                        <m:fPr>
                          <m:ctrlPr>
                            <a:rPr lang="zh-CN" altLang="zh-CN" sz="2900" i="1">
                              <a:latin typeface="Cambria Math" panose="02040503050406030204" pitchFamily="18" charset="0"/>
                            </a:rPr>
                          </m:ctrlPr>
                        </m:fPr>
                        <m:num>
                          <m:sSub>
                            <m:sSubPr>
                              <m:ctrlPr>
                                <a:rPr lang="zh-CN" altLang="zh-CN" sz="2900" i="1">
                                  <a:latin typeface="Cambria Math" panose="02040503050406030204" pitchFamily="18" charset="0"/>
                                </a:rPr>
                              </m:ctrlPr>
                            </m:sSubPr>
                            <m:e>
                              <m:r>
                                <a:rPr lang="en-US" altLang="zh-CN" sz="2900" i="1">
                                  <a:latin typeface="Cambria Math" panose="02040503050406030204" pitchFamily="18" charset="0"/>
                                </a:rPr>
                                <m:t>𝑵</m:t>
                              </m:r>
                            </m:e>
                            <m:sub>
                              <m:r>
                                <a:rPr lang="en-US" altLang="zh-CN" sz="2900" i="1">
                                  <a:latin typeface="Cambria Math" panose="02040503050406030204" pitchFamily="18" charset="0"/>
                                </a:rPr>
                                <m:t>𝟎</m:t>
                              </m:r>
                            </m:sub>
                          </m:sSub>
                        </m:num>
                        <m:den>
                          <m:r>
                            <a:rPr lang="en-US" altLang="zh-CN" sz="2900" i="1">
                              <a:latin typeface="Cambria Math" panose="02040503050406030204" pitchFamily="18" charset="0"/>
                            </a:rPr>
                            <m:t>𝟐</m:t>
                          </m:r>
                        </m:den>
                      </m:f>
                      <m:r>
                        <m:rPr>
                          <m:nor/>
                        </m:rPr>
                        <a:rPr lang="en-US" altLang="zh-CN" sz="2900"/>
                        <m:t> </m:t>
                      </m:r>
                      <m:r>
                        <a:rPr lang="en-US" altLang="zh-CN" sz="2900">
                          <a:latin typeface="Cambria Math" panose="02040503050406030204" pitchFamily="18" charset="0"/>
                        </a:rPr>
                        <m:t>(</m:t>
                      </m:r>
                      <m:r>
                        <a:rPr lang="en-US" altLang="zh-CN" sz="2900" i="1">
                          <a:latin typeface="Cambria Math" panose="02040503050406030204" pitchFamily="18" charset="0"/>
                        </a:rPr>
                        <m:t>−</m:t>
                      </m:r>
                      <m:r>
                        <a:rPr lang="en-US" altLang="zh-CN" sz="2900">
                          <a:latin typeface="Cambria Math" panose="02040503050406030204" pitchFamily="18" charset="0"/>
                        </a:rPr>
                        <m:t>∞&lt;</m:t>
                      </m:r>
                      <m:r>
                        <a:rPr lang="en-US" altLang="zh-CN" sz="2900" i="1">
                          <a:latin typeface="Cambria Math" panose="02040503050406030204" pitchFamily="18" charset="0"/>
                        </a:rPr>
                        <m:t>𝝎</m:t>
                      </m:r>
                      <m:r>
                        <a:rPr lang="en-US" altLang="zh-CN" sz="2900">
                          <a:latin typeface="Cambria Math" panose="02040503050406030204" pitchFamily="18" charset="0"/>
                        </a:rPr>
                        <m:t>&lt;∞),</m:t>
                      </m:r>
                      <m:r>
                        <m:rPr>
                          <m:nor/>
                        </m:rPr>
                        <a:rPr lang="zh-CN" altLang="en-US" sz="2900" dirty="0"/>
                        <m:t>（</m:t>
                      </m:r>
                      <m:r>
                        <m:rPr>
                          <m:nor/>
                        </m:rPr>
                        <a:rPr lang="zh-CN" altLang="zh-CN" sz="2900" dirty="0"/>
                        <m:t> </m:t>
                      </m:r>
                      <m:r>
                        <a:rPr lang="zh-CN" altLang="en-US" sz="2900" i="1" dirty="0">
                          <a:latin typeface="Cambria Math" panose="02040503050406030204" pitchFamily="18" charset="0"/>
                        </a:rPr>
                        <m:t>或</m:t>
                      </m:r>
                      <m:sSub>
                        <m:sSubPr>
                          <m:ctrlPr>
                            <a:rPr lang="zh-CN" altLang="zh-CN" sz="2900" i="1">
                              <a:latin typeface="Cambria Math" panose="02040503050406030204" pitchFamily="18" charset="0"/>
                            </a:rPr>
                          </m:ctrlPr>
                        </m:sSubPr>
                        <m:e>
                          <m:r>
                            <a:rPr lang="en-US" altLang="zh-CN" sz="2900" i="1">
                              <a:latin typeface="Cambria Math" panose="02040503050406030204" pitchFamily="18" charset="0"/>
                            </a:rPr>
                            <m:t>  </m:t>
                          </m:r>
                          <m:r>
                            <a:rPr lang="en-US" altLang="zh-CN" sz="2900" i="1">
                              <a:latin typeface="Cambria Math" panose="02040503050406030204" pitchFamily="18" charset="0"/>
                            </a:rPr>
                            <m:t>𝑺</m:t>
                          </m:r>
                        </m:e>
                        <m:sub>
                          <m:r>
                            <a:rPr lang="en-US" altLang="zh-CN" sz="2900" i="1">
                              <a:latin typeface="Cambria Math" panose="02040503050406030204" pitchFamily="18" charset="0"/>
                            </a:rPr>
                            <m:t>𝑿</m:t>
                          </m:r>
                        </m:sub>
                      </m:sSub>
                      <m:r>
                        <a:rPr lang="en-US" altLang="zh-CN" sz="2900" i="1">
                          <a:latin typeface="Cambria Math" panose="02040503050406030204" pitchFamily="18" charset="0"/>
                        </a:rPr>
                        <m:t>(</m:t>
                      </m:r>
                      <m:r>
                        <a:rPr lang="en-US" altLang="zh-CN" sz="2900" i="1">
                          <a:latin typeface="Cambria Math" panose="02040503050406030204" pitchFamily="18" charset="0"/>
                        </a:rPr>
                        <m:t>𝒇</m:t>
                      </m:r>
                      <m:r>
                        <a:rPr lang="en-US" altLang="zh-CN" sz="2900" i="1">
                          <a:latin typeface="Cambria Math" panose="02040503050406030204" pitchFamily="18" charset="0"/>
                        </a:rPr>
                        <m:t>)=</m:t>
                      </m:r>
                      <m:f>
                        <m:fPr>
                          <m:ctrlPr>
                            <a:rPr lang="zh-CN" altLang="zh-CN" sz="2900" i="1">
                              <a:latin typeface="Cambria Math" panose="02040503050406030204" pitchFamily="18" charset="0"/>
                            </a:rPr>
                          </m:ctrlPr>
                        </m:fPr>
                        <m:num>
                          <m:sSub>
                            <m:sSubPr>
                              <m:ctrlPr>
                                <a:rPr lang="zh-CN" altLang="zh-CN" sz="2900" i="1">
                                  <a:latin typeface="Cambria Math" panose="02040503050406030204" pitchFamily="18" charset="0"/>
                                </a:rPr>
                              </m:ctrlPr>
                            </m:sSubPr>
                            <m:e>
                              <m:r>
                                <a:rPr lang="en-US" altLang="zh-CN" sz="2900" i="1">
                                  <a:latin typeface="Cambria Math" panose="02040503050406030204" pitchFamily="18" charset="0"/>
                                </a:rPr>
                                <m:t>𝑵</m:t>
                              </m:r>
                            </m:e>
                            <m:sub>
                              <m:r>
                                <a:rPr lang="en-US" altLang="zh-CN" sz="2900" i="1">
                                  <a:latin typeface="Cambria Math" panose="02040503050406030204" pitchFamily="18" charset="0"/>
                                </a:rPr>
                                <m:t>𝟎</m:t>
                              </m:r>
                            </m:sub>
                          </m:sSub>
                        </m:num>
                        <m:den>
                          <m:r>
                            <a:rPr lang="en-US" altLang="zh-CN" sz="2900" i="1">
                              <a:latin typeface="Cambria Math" panose="02040503050406030204" pitchFamily="18" charset="0"/>
                            </a:rPr>
                            <m:t>𝟐</m:t>
                          </m:r>
                        </m:den>
                      </m:f>
                      <m:r>
                        <m:rPr>
                          <m:nor/>
                        </m:rPr>
                        <a:rPr lang="en-US" altLang="zh-CN" sz="2900"/>
                        <m:t> </m:t>
                      </m:r>
                      <m:r>
                        <a:rPr lang="en-US" altLang="zh-CN" sz="2900">
                          <a:latin typeface="Cambria Math" panose="02040503050406030204" pitchFamily="18" charset="0"/>
                        </a:rPr>
                        <m:t>(</m:t>
                      </m:r>
                      <m:r>
                        <a:rPr lang="en-US" altLang="zh-CN" sz="2900" i="1">
                          <a:latin typeface="Cambria Math" panose="02040503050406030204" pitchFamily="18" charset="0"/>
                        </a:rPr>
                        <m:t>−</m:t>
                      </m:r>
                      <m:r>
                        <a:rPr lang="en-US" altLang="zh-CN" sz="2900">
                          <a:latin typeface="Cambria Math" panose="02040503050406030204" pitchFamily="18" charset="0"/>
                        </a:rPr>
                        <m:t>∞&lt;</m:t>
                      </m:r>
                      <m:r>
                        <a:rPr lang="en-US" altLang="zh-CN" sz="2900" i="1">
                          <a:latin typeface="Cambria Math" panose="02040503050406030204" pitchFamily="18" charset="0"/>
                        </a:rPr>
                        <m:t>𝒇</m:t>
                      </m:r>
                      <m:r>
                        <a:rPr lang="en-US" altLang="zh-CN" sz="2900">
                          <a:latin typeface="Cambria Math" panose="02040503050406030204" pitchFamily="18" charset="0"/>
                        </a:rPr>
                        <m:t>&lt;∞</m:t>
                      </m:r>
                      <m:r>
                        <a:rPr lang="en-US" altLang="zh-CN" sz="2900" i="1">
                          <a:latin typeface="Cambria Math" panose="02040503050406030204" pitchFamily="18" charset="0"/>
                        </a:rPr>
                        <m:t> </m:t>
                      </m:r>
                      <m:r>
                        <m:rPr>
                          <m:nor/>
                        </m:rPr>
                        <a:rPr lang="zh-CN" altLang="en-US" sz="2900" dirty="0"/>
                        <m:t>））</m:t>
                      </m:r>
                    </m:oMath>
                  </m:oMathPara>
                </a14:m>
                <a:endParaRPr lang="en-US" altLang="zh-CN" sz="2900" dirty="0"/>
              </a:p>
              <a:p>
                <a:pPr marL="0" indent="0">
                  <a:lnSpc>
                    <a:spcPct val="120000"/>
                  </a:lnSpc>
                  <a:buNone/>
                </a:pPr>
                <a14:m>
                  <m:oMathPara xmlns:m="http://schemas.openxmlformats.org/officeDocument/2006/math">
                    <m:oMathParaPr>
                      <m:jc m:val="left"/>
                    </m:oMathParaPr>
                    <m:oMath xmlns:m="http://schemas.openxmlformats.org/officeDocument/2006/math">
                      <m:r>
                        <a:rPr lang="en-US" altLang="zh-CN" sz="2900" b="1" i="1" smtClean="0">
                          <a:latin typeface="Cambria Math" panose="02040503050406030204" pitchFamily="18" charset="0"/>
                        </a:rPr>
                        <m:t>  </m:t>
                      </m:r>
                      <m:sSub>
                        <m:sSubPr>
                          <m:ctrlPr>
                            <a:rPr lang="zh-CN" altLang="zh-CN" sz="2900" i="1">
                              <a:latin typeface="Cambria Math" panose="02040503050406030204" pitchFamily="18" charset="0"/>
                            </a:rPr>
                          </m:ctrlPr>
                        </m:sSubPr>
                        <m:e>
                          <m:r>
                            <a:rPr lang="en-US" altLang="zh-CN" sz="2900" i="1">
                              <a:latin typeface="Cambria Math" panose="02040503050406030204" pitchFamily="18" charset="0"/>
                            </a:rPr>
                            <m:t>𝑹</m:t>
                          </m:r>
                        </m:e>
                        <m:sub>
                          <m:r>
                            <a:rPr lang="en-US" altLang="zh-CN" sz="2900" i="1">
                              <a:latin typeface="Cambria Math" panose="02040503050406030204" pitchFamily="18" charset="0"/>
                            </a:rPr>
                            <m:t>𝑿</m:t>
                          </m:r>
                        </m:sub>
                      </m:sSub>
                      <m:r>
                        <a:rPr lang="en-US" altLang="zh-CN" sz="2900" i="1">
                          <a:latin typeface="Cambria Math" panose="02040503050406030204" pitchFamily="18" charset="0"/>
                        </a:rPr>
                        <m:t>(</m:t>
                      </m:r>
                      <m:r>
                        <a:rPr lang="en-US" altLang="zh-CN" sz="2900" i="1">
                          <a:latin typeface="Cambria Math" panose="02040503050406030204" pitchFamily="18" charset="0"/>
                        </a:rPr>
                        <m:t>𝝉</m:t>
                      </m:r>
                      <m:r>
                        <a:rPr lang="en-US" altLang="zh-CN" sz="2900" i="1">
                          <a:latin typeface="Cambria Math" panose="02040503050406030204" pitchFamily="18" charset="0"/>
                        </a:rPr>
                        <m:t>)=</m:t>
                      </m:r>
                      <m:f>
                        <m:fPr>
                          <m:ctrlPr>
                            <a:rPr lang="zh-CN" altLang="zh-CN" sz="2900" i="1">
                              <a:latin typeface="Cambria Math" panose="02040503050406030204" pitchFamily="18" charset="0"/>
                            </a:rPr>
                          </m:ctrlPr>
                        </m:fPr>
                        <m:num>
                          <m:sSub>
                            <m:sSubPr>
                              <m:ctrlPr>
                                <a:rPr lang="zh-CN" altLang="zh-CN" sz="2900" i="1">
                                  <a:latin typeface="Cambria Math" panose="02040503050406030204" pitchFamily="18" charset="0"/>
                                </a:rPr>
                              </m:ctrlPr>
                            </m:sSubPr>
                            <m:e>
                              <m:r>
                                <a:rPr lang="en-US" altLang="zh-CN" sz="2900" i="1">
                                  <a:latin typeface="Cambria Math" panose="02040503050406030204" pitchFamily="18" charset="0"/>
                                </a:rPr>
                                <m:t>𝑵</m:t>
                              </m:r>
                            </m:e>
                            <m:sub>
                              <m:r>
                                <a:rPr lang="en-US" altLang="zh-CN" sz="2900" i="1">
                                  <a:latin typeface="Cambria Math" panose="02040503050406030204" pitchFamily="18" charset="0"/>
                                </a:rPr>
                                <m:t>𝟎</m:t>
                              </m:r>
                            </m:sub>
                          </m:sSub>
                        </m:num>
                        <m:den>
                          <m:r>
                            <a:rPr lang="en-US" altLang="zh-CN" sz="2900" i="1">
                              <a:latin typeface="Cambria Math" panose="02040503050406030204" pitchFamily="18" charset="0"/>
                            </a:rPr>
                            <m:t>𝟐</m:t>
                          </m:r>
                        </m:den>
                      </m:f>
                      <m:r>
                        <a:rPr lang="en-US" altLang="zh-CN" sz="2900" i="1">
                          <a:latin typeface="Cambria Math" panose="02040503050406030204" pitchFamily="18" charset="0"/>
                        </a:rPr>
                        <m:t>𝜹</m:t>
                      </m:r>
                      <m:r>
                        <a:rPr lang="en-US" altLang="zh-CN" sz="2900" i="1">
                          <a:latin typeface="Cambria Math" panose="02040503050406030204" pitchFamily="18" charset="0"/>
                        </a:rPr>
                        <m:t>(</m:t>
                      </m:r>
                      <m:r>
                        <a:rPr lang="en-US" altLang="zh-CN" sz="2900" i="1">
                          <a:latin typeface="Cambria Math" panose="02040503050406030204" pitchFamily="18" charset="0"/>
                        </a:rPr>
                        <m:t>𝝉</m:t>
                      </m:r>
                      <m:r>
                        <a:rPr lang="en-US" altLang="zh-CN" sz="2900" i="1">
                          <a:latin typeface="Cambria Math" panose="02040503050406030204" pitchFamily="18" charset="0"/>
                        </a:rPr>
                        <m:t>)</m:t>
                      </m:r>
                    </m:oMath>
                  </m:oMathPara>
                </a14:m>
                <a:endParaRPr lang="zh-CN" altLang="zh-CN" sz="2900" dirty="0"/>
              </a:p>
              <a:p>
                <a:pPr marL="0" indent="0">
                  <a:lnSpc>
                    <a:spcPct val="120000"/>
                  </a:lnSpc>
                  <a:buNone/>
                </a:pPr>
                <a:r>
                  <a:rPr lang="zh-CN" altLang="zh-CN" sz="2900" dirty="0"/>
                  <a:t>则</a:t>
                </a:r>
                <a:r>
                  <a:rPr lang="zh-CN" altLang="en-US" sz="2900" dirty="0"/>
                  <a:t>对</a:t>
                </a:r>
                <a:r>
                  <a:rPr lang="zh-CN" altLang="zh-CN" sz="2900" dirty="0"/>
                  <a:t>输出过程</a:t>
                </a:r>
                <a:r>
                  <a:rPr lang="en-US" altLang="zh-CN" sz="2900" i="1" dirty="0"/>
                  <a:t>Y</a:t>
                </a:r>
                <a:r>
                  <a:rPr lang="en-US" altLang="zh-CN" sz="2900" dirty="0"/>
                  <a:t>(</a:t>
                </a:r>
                <a:r>
                  <a:rPr lang="en-US" altLang="zh-CN" sz="2900" i="1" dirty="0"/>
                  <a:t>t</a:t>
                </a:r>
                <a:r>
                  <a:rPr lang="en-US" altLang="zh-CN" sz="2900" dirty="0"/>
                  <a:t>)</a:t>
                </a:r>
              </a:p>
              <a:p>
                <a:pPr marL="0" indent="0">
                  <a:lnSpc>
                    <a:spcPct val="120000"/>
                  </a:lnSpc>
                  <a:buNone/>
                </a:pPr>
                <a:r>
                  <a:rPr lang="zh-CN" altLang="zh-CN" sz="2900" dirty="0"/>
                  <a:t>自相关</a:t>
                </a:r>
                <a:r>
                  <a:rPr lang="zh-CN" altLang="en-US" sz="2900" dirty="0"/>
                  <a:t>函数</a:t>
                </a:r>
                <a:r>
                  <a:rPr lang="en-US" altLang="zh-CN" sz="2900" dirty="0"/>
                  <a:t>:	   </a:t>
                </a:r>
                <a14:m>
                  <m:oMath xmlns:m="http://schemas.openxmlformats.org/officeDocument/2006/math">
                    <m:sSub>
                      <m:sSubPr>
                        <m:ctrlPr>
                          <a:rPr lang="zh-CN" altLang="zh-CN" sz="2900" i="1">
                            <a:solidFill>
                              <a:srgbClr val="FF0000"/>
                            </a:solidFill>
                            <a:latin typeface="Cambria Math" panose="02040503050406030204" pitchFamily="18" charset="0"/>
                          </a:rPr>
                        </m:ctrlPr>
                      </m:sSubPr>
                      <m:e>
                        <m:r>
                          <a:rPr lang="en-US" altLang="zh-CN" sz="2900" i="1">
                            <a:solidFill>
                              <a:srgbClr val="FF0000"/>
                            </a:solidFill>
                            <a:latin typeface="Cambria Math" panose="02040503050406030204" pitchFamily="18" charset="0"/>
                          </a:rPr>
                          <m:t>𝑹</m:t>
                        </m:r>
                      </m:e>
                      <m:sub>
                        <m:r>
                          <a:rPr lang="en-US" altLang="zh-CN" sz="2900" i="1">
                            <a:solidFill>
                              <a:srgbClr val="FF0000"/>
                            </a:solidFill>
                            <a:latin typeface="Cambria Math" panose="02040503050406030204" pitchFamily="18" charset="0"/>
                          </a:rPr>
                          <m:t>𝒀</m:t>
                        </m:r>
                      </m:sub>
                    </m:sSub>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𝝉</m:t>
                    </m:r>
                    <m:r>
                      <a:rPr lang="en-US" altLang="zh-CN" sz="2900" i="1">
                        <a:solidFill>
                          <a:srgbClr val="FF0000"/>
                        </a:solidFill>
                        <a:latin typeface="Cambria Math" panose="02040503050406030204" pitchFamily="18" charset="0"/>
                      </a:rPr>
                      <m:t>)=</m:t>
                    </m:r>
                    <m:f>
                      <m:fPr>
                        <m:ctrlPr>
                          <a:rPr lang="zh-CN" altLang="zh-CN" sz="2900" i="1">
                            <a:solidFill>
                              <a:srgbClr val="FF0000"/>
                            </a:solidFill>
                            <a:latin typeface="Cambria Math" panose="02040503050406030204" pitchFamily="18" charset="0"/>
                          </a:rPr>
                        </m:ctrlPr>
                      </m:fPr>
                      <m:num>
                        <m:sSub>
                          <m:sSubPr>
                            <m:ctrlPr>
                              <a:rPr lang="zh-CN" altLang="zh-CN" sz="2900" i="1">
                                <a:solidFill>
                                  <a:srgbClr val="FF0000"/>
                                </a:solidFill>
                                <a:latin typeface="Cambria Math" panose="02040503050406030204" pitchFamily="18" charset="0"/>
                              </a:rPr>
                            </m:ctrlPr>
                          </m:sSubPr>
                          <m:e>
                            <m:r>
                              <a:rPr lang="en-US" altLang="zh-CN" sz="2900" i="1">
                                <a:solidFill>
                                  <a:srgbClr val="FF0000"/>
                                </a:solidFill>
                                <a:latin typeface="Cambria Math" panose="02040503050406030204" pitchFamily="18" charset="0"/>
                              </a:rPr>
                              <m:t>𝑵</m:t>
                            </m:r>
                          </m:e>
                          <m:sub>
                            <m:r>
                              <a:rPr lang="en-US" altLang="zh-CN" sz="2900" i="1">
                                <a:solidFill>
                                  <a:srgbClr val="FF0000"/>
                                </a:solidFill>
                                <a:latin typeface="Cambria Math" panose="02040503050406030204" pitchFamily="18" charset="0"/>
                              </a:rPr>
                              <m:t>𝟎</m:t>
                            </m:r>
                          </m:sub>
                        </m:sSub>
                      </m:num>
                      <m:den>
                        <m:r>
                          <a:rPr lang="en-US" altLang="zh-CN" sz="2900" i="1">
                            <a:solidFill>
                              <a:srgbClr val="FF0000"/>
                            </a:solidFill>
                            <a:latin typeface="Cambria Math" panose="02040503050406030204" pitchFamily="18" charset="0"/>
                          </a:rPr>
                          <m:t>𝟐</m:t>
                        </m:r>
                      </m:den>
                    </m:f>
                    <m:r>
                      <a:rPr lang="en-US" altLang="zh-CN" sz="2900" i="1">
                        <a:solidFill>
                          <a:srgbClr val="FF0000"/>
                        </a:solidFill>
                        <a:latin typeface="Cambria Math" panose="02040503050406030204" pitchFamily="18" charset="0"/>
                      </a:rPr>
                      <m:t>𝒉</m:t>
                    </m:r>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𝝉</m:t>
                    </m:r>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𝒉</m:t>
                    </m:r>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𝝉</m:t>
                    </m:r>
                    <m:r>
                      <a:rPr lang="en-US" altLang="zh-CN" sz="2900" i="1">
                        <a:solidFill>
                          <a:srgbClr val="FF0000"/>
                        </a:solidFill>
                        <a:latin typeface="Cambria Math" panose="02040503050406030204" pitchFamily="18" charset="0"/>
                      </a:rPr>
                      <m:t>)</m:t>
                    </m:r>
                  </m:oMath>
                </a14:m>
                <a:r>
                  <a:rPr lang="zh-CN" altLang="en-US" sz="2900" dirty="0">
                    <a:solidFill>
                      <a:srgbClr val="FF0000"/>
                    </a:solidFill>
                  </a:rPr>
                  <a:t>，</a:t>
                </a:r>
                <a14:m>
                  <m:oMath xmlns:m="http://schemas.openxmlformats.org/officeDocument/2006/math">
                    <m:sSub>
                      <m:sSubPr>
                        <m:ctrlPr>
                          <a:rPr lang="en-US" altLang="zh-CN" sz="2900" i="1">
                            <a:solidFill>
                              <a:srgbClr val="FF0000"/>
                            </a:solidFill>
                            <a:latin typeface="Cambria Math" panose="02040503050406030204" pitchFamily="18" charset="0"/>
                          </a:rPr>
                        </m:ctrlPr>
                      </m:sSubPr>
                      <m:e>
                        <m:r>
                          <a:rPr lang="en-US" altLang="zh-CN" sz="2900" i="1">
                            <a:solidFill>
                              <a:srgbClr val="FF0000"/>
                            </a:solidFill>
                            <a:latin typeface="Cambria Math" panose="02040503050406030204" pitchFamily="18" charset="0"/>
                          </a:rPr>
                          <m:t>𝑹</m:t>
                        </m:r>
                      </m:e>
                      <m:sub>
                        <m:r>
                          <a:rPr lang="en-US" altLang="zh-CN" sz="2900" i="1">
                            <a:solidFill>
                              <a:srgbClr val="FF0000"/>
                            </a:solidFill>
                            <a:latin typeface="Cambria Math" panose="02040503050406030204" pitchFamily="18" charset="0"/>
                          </a:rPr>
                          <m:t>𝒉</m:t>
                        </m:r>
                      </m:sub>
                    </m:sSub>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𝝉</m:t>
                    </m:r>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𝒉</m:t>
                    </m:r>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𝝉</m:t>
                    </m:r>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𝒉</m:t>
                    </m:r>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𝝉</m:t>
                    </m:r>
                    <m:r>
                      <a:rPr lang="en-US" altLang="zh-CN" sz="2900" i="1">
                        <a:solidFill>
                          <a:srgbClr val="FF0000"/>
                        </a:solidFill>
                        <a:latin typeface="Cambria Math" panose="02040503050406030204" pitchFamily="18" charset="0"/>
                      </a:rPr>
                      <m:t>)</m:t>
                    </m:r>
                  </m:oMath>
                </a14:m>
                <a:endParaRPr lang="zh-CN" altLang="zh-CN" sz="2900" dirty="0">
                  <a:solidFill>
                    <a:srgbClr val="FF0000"/>
                  </a:solidFill>
                </a:endParaRPr>
              </a:p>
              <a:p>
                <a:pPr marL="0" indent="0">
                  <a:lnSpc>
                    <a:spcPct val="120000"/>
                  </a:lnSpc>
                  <a:buNone/>
                </a:pPr>
                <a:r>
                  <a:rPr lang="zh-CN" altLang="zh-CN" sz="2900" dirty="0"/>
                  <a:t>功率谱</a:t>
                </a:r>
                <a:r>
                  <a:rPr lang="zh-CN" altLang="en-US" sz="2900" dirty="0"/>
                  <a:t>密度</a:t>
                </a:r>
                <a:r>
                  <a:rPr lang="en-US" altLang="zh-CN" sz="2900" dirty="0"/>
                  <a:t>:	    </a:t>
                </a:r>
                <a14:m>
                  <m:oMath xmlns:m="http://schemas.openxmlformats.org/officeDocument/2006/math">
                    <m:sSub>
                      <m:sSubPr>
                        <m:ctrlPr>
                          <a:rPr lang="zh-CN" altLang="zh-CN" sz="2900" i="1">
                            <a:solidFill>
                              <a:srgbClr val="FF0000"/>
                            </a:solidFill>
                            <a:latin typeface="Cambria Math" panose="02040503050406030204" pitchFamily="18" charset="0"/>
                          </a:rPr>
                        </m:ctrlPr>
                      </m:sSubPr>
                      <m:e>
                        <m:r>
                          <a:rPr lang="en-US" altLang="zh-CN" sz="2900" i="1">
                            <a:solidFill>
                              <a:srgbClr val="FF0000"/>
                            </a:solidFill>
                            <a:latin typeface="Cambria Math" panose="02040503050406030204" pitchFamily="18" charset="0"/>
                          </a:rPr>
                          <m:t>𝑺</m:t>
                        </m:r>
                      </m:e>
                      <m:sub>
                        <m:r>
                          <a:rPr lang="en-US" altLang="zh-CN" sz="2900" i="1">
                            <a:solidFill>
                              <a:srgbClr val="FF0000"/>
                            </a:solidFill>
                            <a:latin typeface="Cambria Math" panose="02040503050406030204" pitchFamily="18" charset="0"/>
                          </a:rPr>
                          <m:t>𝒀</m:t>
                        </m:r>
                      </m:sub>
                    </m:sSub>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𝝎</m:t>
                    </m:r>
                    <m:r>
                      <a:rPr lang="en-US" altLang="zh-CN" sz="2900" i="1">
                        <a:solidFill>
                          <a:srgbClr val="FF0000"/>
                        </a:solidFill>
                        <a:latin typeface="Cambria Math" panose="02040503050406030204" pitchFamily="18" charset="0"/>
                      </a:rPr>
                      <m:t>)=</m:t>
                    </m:r>
                    <m:f>
                      <m:fPr>
                        <m:ctrlPr>
                          <a:rPr lang="zh-CN" altLang="zh-CN" sz="2900" i="1">
                            <a:solidFill>
                              <a:srgbClr val="FF0000"/>
                            </a:solidFill>
                            <a:latin typeface="Cambria Math" panose="02040503050406030204" pitchFamily="18" charset="0"/>
                          </a:rPr>
                        </m:ctrlPr>
                      </m:fPr>
                      <m:num>
                        <m:sSub>
                          <m:sSubPr>
                            <m:ctrlPr>
                              <a:rPr lang="zh-CN" altLang="zh-CN" sz="2900" i="1">
                                <a:solidFill>
                                  <a:srgbClr val="FF0000"/>
                                </a:solidFill>
                                <a:latin typeface="Cambria Math" panose="02040503050406030204" pitchFamily="18" charset="0"/>
                              </a:rPr>
                            </m:ctrlPr>
                          </m:sSubPr>
                          <m:e>
                            <m:r>
                              <a:rPr lang="en-US" altLang="zh-CN" sz="2900" i="1">
                                <a:solidFill>
                                  <a:srgbClr val="FF0000"/>
                                </a:solidFill>
                                <a:latin typeface="Cambria Math" panose="02040503050406030204" pitchFamily="18" charset="0"/>
                              </a:rPr>
                              <m:t>𝑵</m:t>
                            </m:r>
                          </m:e>
                          <m:sub>
                            <m:r>
                              <a:rPr lang="en-US" altLang="zh-CN" sz="2900" i="1">
                                <a:solidFill>
                                  <a:srgbClr val="FF0000"/>
                                </a:solidFill>
                                <a:latin typeface="Cambria Math" panose="02040503050406030204" pitchFamily="18" charset="0"/>
                              </a:rPr>
                              <m:t>𝟎</m:t>
                            </m:r>
                          </m:sub>
                        </m:sSub>
                      </m:num>
                      <m:den>
                        <m:r>
                          <a:rPr lang="en-US" altLang="zh-CN" sz="2900" i="1">
                            <a:solidFill>
                              <a:srgbClr val="FF0000"/>
                            </a:solidFill>
                            <a:latin typeface="Cambria Math" panose="02040503050406030204" pitchFamily="18" charset="0"/>
                          </a:rPr>
                          <m:t>𝟐</m:t>
                        </m:r>
                      </m:den>
                    </m:f>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𝑯</m:t>
                    </m:r>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𝒋</m:t>
                    </m:r>
                    <m:r>
                      <a:rPr lang="en-US" altLang="zh-CN" sz="2900" i="1">
                        <a:solidFill>
                          <a:srgbClr val="FF0000"/>
                        </a:solidFill>
                        <a:latin typeface="Cambria Math" panose="02040503050406030204" pitchFamily="18" charset="0"/>
                      </a:rPr>
                      <m:t>𝝎</m:t>
                    </m:r>
                    <m:r>
                      <a:rPr lang="en-US" altLang="zh-CN" sz="2900" i="1">
                        <a:solidFill>
                          <a:srgbClr val="FF0000"/>
                        </a:solidFill>
                        <a:latin typeface="Cambria Math" panose="02040503050406030204" pitchFamily="18" charset="0"/>
                      </a:rPr>
                      <m:t>)</m:t>
                    </m:r>
                    <m:sSup>
                      <m:sSupPr>
                        <m:ctrlPr>
                          <a:rPr lang="zh-CN" altLang="zh-CN" sz="2900" i="1">
                            <a:solidFill>
                              <a:srgbClr val="FF0000"/>
                            </a:solidFill>
                            <a:latin typeface="Cambria Math" panose="02040503050406030204" pitchFamily="18" charset="0"/>
                          </a:rPr>
                        </m:ctrlPr>
                      </m:sSupPr>
                      <m:e>
                        <m:r>
                          <a:rPr lang="en-US" altLang="zh-CN" sz="2900" i="1">
                            <a:solidFill>
                              <a:srgbClr val="FF0000"/>
                            </a:solidFill>
                            <a:latin typeface="Cambria Math" panose="02040503050406030204" pitchFamily="18" charset="0"/>
                          </a:rPr>
                          <m:t>|</m:t>
                        </m:r>
                      </m:e>
                      <m:sup>
                        <m:r>
                          <a:rPr lang="en-US" altLang="zh-CN" sz="2900" i="1">
                            <a:solidFill>
                              <a:srgbClr val="FF0000"/>
                            </a:solidFill>
                            <a:latin typeface="Cambria Math" panose="02040503050406030204" pitchFamily="18" charset="0"/>
                          </a:rPr>
                          <m:t>𝟐</m:t>
                        </m:r>
                      </m:sup>
                    </m:sSup>
                  </m:oMath>
                </a14:m>
                <a:r>
                  <a:rPr lang="en-US" altLang="zh-CN" sz="2900" dirty="0"/>
                  <a:t>     </a:t>
                </a:r>
                <a:r>
                  <a:rPr lang="zh-CN" altLang="en-US" sz="2900" dirty="0"/>
                  <a:t>或 </a:t>
                </a:r>
                <a14:m>
                  <m:oMath xmlns:m="http://schemas.openxmlformats.org/officeDocument/2006/math">
                    <m:sSub>
                      <m:sSubPr>
                        <m:ctrlPr>
                          <a:rPr lang="zh-CN" altLang="zh-CN" sz="2900" i="1">
                            <a:solidFill>
                              <a:srgbClr val="FF0000"/>
                            </a:solidFill>
                            <a:latin typeface="Cambria Math" panose="02040503050406030204" pitchFamily="18" charset="0"/>
                          </a:rPr>
                        </m:ctrlPr>
                      </m:sSubPr>
                      <m:e>
                        <m:r>
                          <a:rPr lang="en-US" altLang="zh-CN" sz="2900" i="1">
                            <a:solidFill>
                              <a:srgbClr val="FF0000"/>
                            </a:solidFill>
                            <a:latin typeface="Cambria Math" panose="02040503050406030204" pitchFamily="18" charset="0"/>
                          </a:rPr>
                          <m:t>   </m:t>
                        </m:r>
                        <m:r>
                          <a:rPr lang="en-US" altLang="zh-CN" sz="2900" i="1">
                            <a:solidFill>
                              <a:srgbClr val="FF0000"/>
                            </a:solidFill>
                            <a:latin typeface="Cambria Math" panose="02040503050406030204" pitchFamily="18" charset="0"/>
                          </a:rPr>
                          <m:t>𝑺</m:t>
                        </m:r>
                      </m:e>
                      <m:sub>
                        <m:r>
                          <a:rPr lang="en-US" altLang="zh-CN" sz="2900" i="1">
                            <a:solidFill>
                              <a:srgbClr val="FF0000"/>
                            </a:solidFill>
                            <a:latin typeface="Cambria Math" panose="02040503050406030204" pitchFamily="18" charset="0"/>
                          </a:rPr>
                          <m:t>𝒀</m:t>
                        </m:r>
                      </m:sub>
                    </m:sSub>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𝒇</m:t>
                    </m:r>
                    <m:r>
                      <a:rPr lang="en-US" altLang="zh-CN" sz="2900" i="1">
                        <a:solidFill>
                          <a:srgbClr val="FF0000"/>
                        </a:solidFill>
                        <a:latin typeface="Cambria Math" panose="02040503050406030204" pitchFamily="18" charset="0"/>
                      </a:rPr>
                      <m:t>)=</m:t>
                    </m:r>
                    <m:f>
                      <m:fPr>
                        <m:ctrlPr>
                          <a:rPr lang="zh-CN" altLang="zh-CN" sz="2900" i="1">
                            <a:solidFill>
                              <a:srgbClr val="FF0000"/>
                            </a:solidFill>
                            <a:latin typeface="Cambria Math" panose="02040503050406030204" pitchFamily="18" charset="0"/>
                          </a:rPr>
                        </m:ctrlPr>
                      </m:fPr>
                      <m:num>
                        <m:sSub>
                          <m:sSubPr>
                            <m:ctrlPr>
                              <a:rPr lang="zh-CN" altLang="zh-CN" sz="2900" i="1">
                                <a:solidFill>
                                  <a:srgbClr val="FF0000"/>
                                </a:solidFill>
                                <a:latin typeface="Cambria Math" panose="02040503050406030204" pitchFamily="18" charset="0"/>
                              </a:rPr>
                            </m:ctrlPr>
                          </m:sSubPr>
                          <m:e>
                            <m:r>
                              <a:rPr lang="en-US" altLang="zh-CN" sz="2900" i="1">
                                <a:solidFill>
                                  <a:srgbClr val="FF0000"/>
                                </a:solidFill>
                                <a:latin typeface="Cambria Math" panose="02040503050406030204" pitchFamily="18" charset="0"/>
                              </a:rPr>
                              <m:t>𝑵</m:t>
                            </m:r>
                          </m:e>
                          <m:sub>
                            <m:r>
                              <a:rPr lang="en-US" altLang="zh-CN" sz="2900" i="1">
                                <a:solidFill>
                                  <a:srgbClr val="FF0000"/>
                                </a:solidFill>
                                <a:latin typeface="Cambria Math" panose="02040503050406030204" pitchFamily="18" charset="0"/>
                              </a:rPr>
                              <m:t>𝟎</m:t>
                            </m:r>
                          </m:sub>
                        </m:sSub>
                      </m:num>
                      <m:den>
                        <m:r>
                          <a:rPr lang="en-US" altLang="zh-CN" sz="2900" i="1">
                            <a:solidFill>
                              <a:srgbClr val="FF0000"/>
                            </a:solidFill>
                            <a:latin typeface="Cambria Math" panose="02040503050406030204" pitchFamily="18" charset="0"/>
                          </a:rPr>
                          <m:t>𝟐</m:t>
                        </m:r>
                      </m:den>
                    </m:f>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𝑯</m:t>
                    </m:r>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𝒋𝒇</m:t>
                    </m:r>
                    <m:r>
                      <a:rPr lang="en-US" altLang="zh-CN" sz="2900" i="1">
                        <a:solidFill>
                          <a:srgbClr val="FF0000"/>
                        </a:solidFill>
                        <a:latin typeface="Cambria Math" panose="02040503050406030204" pitchFamily="18" charset="0"/>
                      </a:rPr>
                      <m:t>)</m:t>
                    </m:r>
                    <m:sSup>
                      <m:sSupPr>
                        <m:ctrlPr>
                          <a:rPr lang="zh-CN" altLang="zh-CN" sz="2900" i="1">
                            <a:solidFill>
                              <a:srgbClr val="FF0000"/>
                            </a:solidFill>
                            <a:latin typeface="Cambria Math" panose="02040503050406030204" pitchFamily="18" charset="0"/>
                          </a:rPr>
                        </m:ctrlPr>
                      </m:sSupPr>
                      <m:e>
                        <m:r>
                          <a:rPr lang="en-US" altLang="zh-CN" sz="2900" i="1">
                            <a:solidFill>
                              <a:srgbClr val="FF0000"/>
                            </a:solidFill>
                            <a:latin typeface="Cambria Math" panose="02040503050406030204" pitchFamily="18" charset="0"/>
                          </a:rPr>
                          <m:t>|</m:t>
                        </m:r>
                      </m:e>
                      <m:sup>
                        <m:r>
                          <a:rPr lang="en-US" altLang="zh-CN" sz="2900" i="1">
                            <a:solidFill>
                              <a:srgbClr val="FF0000"/>
                            </a:solidFill>
                            <a:latin typeface="Cambria Math" panose="02040503050406030204" pitchFamily="18" charset="0"/>
                          </a:rPr>
                          <m:t>𝟐</m:t>
                        </m:r>
                      </m:sup>
                    </m:sSup>
                  </m:oMath>
                </a14:m>
                <a:endParaRPr lang="en-US" altLang="zh-CN" sz="2900" dirty="0"/>
              </a:p>
              <a:p>
                <a:pPr marL="0" indent="0">
                  <a:lnSpc>
                    <a:spcPct val="120000"/>
                  </a:lnSpc>
                  <a:buNone/>
                </a:pPr>
                <a:r>
                  <a:rPr lang="zh-CN" altLang="en-US" sz="2900" dirty="0"/>
                  <a:t>输出噪声功率：</a:t>
                </a:r>
                <a14:m>
                  <m:oMath xmlns:m="http://schemas.openxmlformats.org/officeDocument/2006/math">
                    <m:sSub>
                      <m:sSubPr>
                        <m:ctrlPr>
                          <a:rPr lang="en-US" altLang="zh-CN" sz="2900" i="1">
                            <a:solidFill>
                              <a:srgbClr val="FF0000"/>
                            </a:solidFill>
                            <a:latin typeface="Cambria Math" panose="02040503050406030204" pitchFamily="18" charset="0"/>
                          </a:rPr>
                        </m:ctrlPr>
                      </m:sSubPr>
                      <m:e>
                        <m:r>
                          <a:rPr lang="en-US" altLang="zh-CN" sz="2900" i="1">
                            <a:solidFill>
                              <a:srgbClr val="FF0000"/>
                            </a:solidFill>
                            <a:latin typeface="Cambria Math" panose="02040503050406030204" pitchFamily="18" charset="0"/>
                          </a:rPr>
                          <m:t>𝑷</m:t>
                        </m:r>
                      </m:e>
                      <m:sub>
                        <m:r>
                          <a:rPr lang="en-US" altLang="zh-CN" sz="2900" i="1">
                            <a:solidFill>
                              <a:srgbClr val="FF0000"/>
                            </a:solidFill>
                            <a:latin typeface="Cambria Math" panose="02040503050406030204" pitchFamily="18" charset="0"/>
                          </a:rPr>
                          <m:t>𝒀</m:t>
                        </m:r>
                      </m:sub>
                    </m:sSub>
                    <m:r>
                      <a:rPr lang="en-US" altLang="zh-CN" sz="2900" i="1">
                        <a:solidFill>
                          <a:srgbClr val="FF0000"/>
                        </a:solidFill>
                        <a:latin typeface="Cambria Math" panose="02040503050406030204" pitchFamily="18" charset="0"/>
                      </a:rPr>
                      <m:t>=</m:t>
                    </m:r>
                    <m:sSub>
                      <m:sSubPr>
                        <m:ctrlPr>
                          <a:rPr lang="zh-CN" altLang="zh-CN" sz="2900" i="1">
                            <a:solidFill>
                              <a:srgbClr val="FF0000"/>
                            </a:solidFill>
                            <a:latin typeface="Cambria Math" panose="02040503050406030204" pitchFamily="18" charset="0"/>
                          </a:rPr>
                        </m:ctrlPr>
                      </m:sSubPr>
                      <m:e>
                        <m:r>
                          <a:rPr lang="en-US" altLang="zh-CN" sz="2900" i="1">
                            <a:solidFill>
                              <a:srgbClr val="FF0000"/>
                            </a:solidFill>
                            <a:latin typeface="Cambria Math" panose="02040503050406030204" pitchFamily="18" charset="0"/>
                          </a:rPr>
                          <m:t>𝑹</m:t>
                        </m:r>
                      </m:e>
                      <m:sub>
                        <m:r>
                          <a:rPr lang="en-US" altLang="zh-CN" sz="2900" i="1">
                            <a:solidFill>
                              <a:srgbClr val="FF0000"/>
                            </a:solidFill>
                            <a:latin typeface="Cambria Math" panose="02040503050406030204" pitchFamily="18" charset="0"/>
                          </a:rPr>
                          <m:t>𝒀</m:t>
                        </m:r>
                      </m:sub>
                    </m:sSub>
                    <m:d>
                      <m:dPr>
                        <m:ctrlPr>
                          <a:rPr lang="en-US" altLang="zh-CN" sz="2900" i="1">
                            <a:solidFill>
                              <a:srgbClr val="FF0000"/>
                            </a:solidFill>
                            <a:latin typeface="Cambria Math" panose="02040503050406030204" pitchFamily="18" charset="0"/>
                          </a:rPr>
                        </m:ctrlPr>
                      </m:dPr>
                      <m:e>
                        <m:r>
                          <a:rPr lang="en-US" altLang="zh-CN" sz="2900" i="1">
                            <a:solidFill>
                              <a:srgbClr val="FF0000"/>
                            </a:solidFill>
                            <a:latin typeface="Cambria Math" panose="02040503050406030204" pitchFamily="18" charset="0"/>
                          </a:rPr>
                          <m:t>𝟎</m:t>
                        </m:r>
                      </m:e>
                    </m:d>
                    <m:r>
                      <a:rPr lang="en-US" altLang="zh-CN" sz="2900" i="1">
                        <a:solidFill>
                          <a:srgbClr val="FF0000"/>
                        </a:solidFill>
                        <a:latin typeface="Cambria Math" panose="02040503050406030204" pitchFamily="18" charset="0"/>
                      </a:rPr>
                      <m:t>=</m:t>
                    </m:r>
                    <m:f>
                      <m:fPr>
                        <m:ctrlPr>
                          <a:rPr lang="zh-CN" altLang="zh-CN" sz="2900" i="1">
                            <a:solidFill>
                              <a:srgbClr val="FF0000"/>
                            </a:solidFill>
                            <a:latin typeface="Cambria Math" panose="02040503050406030204" pitchFamily="18" charset="0"/>
                          </a:rPr>
                        </m:ctrlPr>
                      </m:fPr>
                      <m:num>
                        <m:sSub>
                          <m:sSubPr>
                            <m:ctrlPr>
                              <a:rPr lang="zh-CN" altLang="zh-CN" sz="2900" i="1">
                                <a:solidFill>
                                  <a:srgbClr val="FF0000"/>
                                </a:solidFill>
                                <a:latin typeface="Cambria Math" panose="02040503050406030204" pitchFamily="18" charset="0"/>
                              </a:rPr>
                            </m:ctrlPr>
                          </m:sSubPr>
                          <m:e>
                            <m:r>
                              <a:rPr lang="en-US" altLang="zh-CN" sz="2900" i="1">
                                <a:solidFill>
                                  <a:srgbClr val="FF0000"/>
                                </a:solidFill>
                                <a:latin typeface="Cambria Math" panose="02040503050406030204" pitchFamily="18" charset="0"/>
                              </a:rPr>
                              <m:t>𝑵</m:t>
                            </m:r>
                          </m:e>
                          <m:sub>
                            <m:r>
                              <a:rPr lang="en-US" altLang="zh-CN" sz="2900" i="1">
                                <a:solidFill>
                                  <a:srgbClr val="FF0000"/>
                                </a:solidFill>
                                <a:latin typeface="Cambria Math" panose="02040503050406030204" pitchFamily="18" charset="0"/>
                              </a:rPr>
                              <m:t>𝟎</m:t>
                            </m:r>
                          </m:sub>
                        </m:sSub>
                      </m:num>
                      <m:den>
                        <m:r>
                          <a:rPr lang="en-US" altLang="zh-CN" sz="2900" i="1">
                            <a:solidFill>
                              <a:srgbClr val="FF0000"/>
                            </a:solidFill>
                            <a:latin typeface="Cambria Math" panose="02040503050406030204" pitchFamily="18" charset="0"/>
                          </a:rPr>
                          <m:t>𝟐</m:t>
                        </m:r>
                      </m:den>
                    </m:f>
                    <m:sSub>
                      <m:sSubPr>
                        <m:ctrlPr>
                          <a:rPr lang="en-US" altLang="zh-CN" sz="2900" i="1">
                            <a:solidFill>
                              <a:srgbClr val="FF0000"/>
                            </a:solidFill>
                            <a:latin typeface="Cambria Math" panose="02040503050406030204" pitchFamily="18" charset="0"/>
                          </a:rPr>
                        </m:ctrlPr>
                      </m:sSubPr>
                      <m:e>
                        <m:r>
                          <a:rPr lang="en-US" altLang="zh-CN" sz="2900" i="1">
                            <a:solidFill>
                              <a:srgbClr val="FF0000"/>
                            </a:solidFill>
                            <a:latin typeface="Cambria Math" panose="02040503050406030204" pitchFamily="18" charset="0"/>
                          </a:rPr>
                          <m:t>𝑹</m:t>
                        </m:r>
                      </m:e>
                      <m:sub>
                        <m:r>
                          <a:rPr lang="en-US" altLang="zh-CN" sz="2900" i="1">
                            <a:solidFill>
                              <a:srgbClr val="FF0000"/>
                            </a:solidFill>
                            <a:latin typeface="Cambria Math" panose="02040503050406030204" pitchFamily="18" charset="0"/>
                          </a:rPr>
                          <m:t>𝒉</m:t>
                        </m:r>
                      </m:sub>
                    </m:sSub>
                    <m:d>
                      <m:dPr>
                        <m:ctrlPr>
                          <a:rPr lang="en-US" altLang="zh-CN" sz="2900" i="1">
                            <a:solidFill>
                              <a:srgbClr val="FF0000"/>
                            </a:solidFill>
                            <a:latin typeface="Cambria Math" panose="02040503050406030204" pitchFamily="18" charset="0"/>
                          </a:rPr>
                        </m:ctrlPr>
                      </m:dPr>
                      <m:e>
                        <m:r>
                          <a:rPr lang="en-US" altLang="zh-CN" sz="2900" i="1">
                            <a:solidFill>
                              <a:srgbClr val="FF0000"/>
                            </a:solidFill>
                            <a:latin typeface="Cambria Math" panose="02040503050406030204" pitchFamily="18" charset="0"/>
                          </a:rPr>
                          <m:t>𝟎</m:t>
                        </m:r>
                      </m:e>
                    </m:d>
                  </m:oMath>
                </a14:m>
                <a:endParaRPr lang="en-US" altLang="zh-CN" sz="2900" i="1" dirty="0">
                  <a:solidFill>
                    <a:srgbClr val="FF0000"/>
                  </a:solidFill>
                  <a:latin typeface="Cambria Math" panose="02040503050406030204" pitchFamily="18" charset="0"/>
                </a:endParaRPr>
              </a:p>
              <a:p>
                <a:pPr marL="0" indent="0">
                  <a:lnSpc>
                    <a:spcPct val="120000"/>
                  </a:lnSpc>
                  <a:buNone/>
                </a:pPr>
                <a:r>
                  <a:rPr lang="en-US" altLang="zh-CN" sz="2900" dirty="0">
                    <a:solidFill>
                      <a:srgbClr val="FF0000"/>
                    </a:solidFill>
                  </a:rPr>
                  <a:t>                                  </a:t>
                </a:r>
                <a14:m>
                  <m:oMath xmlns:m="http://schemas.openxmlformats.org/officeDocument/2006/math">
                    <m:r>
                      <a:rPr lang="en-US" altLang="zh-CN" sz="2900">
                        <a:solidFill>
                          <a:srgbClr val="FF0000"/>
                        </a:solidFill>
                        <a:latin typeface="Cambria Math" panose="02040503050406030204" pitchFamily="18" charset="0"/>
                      </a:rPr>
                      <m:t>=</m:t>
                    </m:r>
                    <m:f>
                      <m:fPr>
                        <m:ctrlPr>
                          <a:rPr lang="zh-CN" altLang="zh-CN" sz="2900" i="1">
                            <a:solidFill>
                              <a:srgbClr val="FF0000"/>
                            </a:solidFill>
                            <a:latin typeface="Cambria Math" panose="02040503050406030204" pitchFamily="18" charset="0"/>
                          </a:rPr>
                        </m:ctrlPr>
                      </m:fPr>
                      <m:num>
                        <m:r>
                          <a:rPr lang="en-US" altLang="zh-CN" sz="2900" i="1">
                            <a:solidFill>
                              <a:srgbClr val="FF0000"/>
                            </a:solidFill>
                            <a:latin typeface="Cambria Math" panose="02040503050406030204" pitchFamily="18" charset="0"/>
                          </a:rPr>
                          <m:t>𝟏</m:t>
                        </m:r>
                      </m:num>
                      <m:den>
                        <m:r>
                          <a:rPr lang="en-US" altLang="zh-CN" sz="2900" i="1">
                            <a:solidFill>
                              <a:srgbClr val="FF0000"/>
                            </a:solidFill>
                            <a:latin typeface="Cambria Math" panose="02040503050406030204" pitchFamily="18" charset="0"/>
                          </a:rPr>
                          <m:t>𝟐</m:t>
                        </m:r>
                        <m:r>
                          <a:rPr lang="zh-CN" altLang="en-US" sz="2900" i="1">
                            <a:solidFill>
                              <a:srgbClr val="FF0000"/>
                            </a:solidFill>
                            <a:latin typeface="Cambria Math" panose="02040503050406030204" pitchFamily="18" charset="0"/>
                          </a:rPr>
                          <m:t>𝝅</m:t>
                        </m:r>
                      </m:den>
                    </m:f>
                    <m:nary>
                      <m:naryPr>
                        <m:ctrlPr>
                          <a:rPr lang="en-US" altLang="zh-CN" sz="2900" i="1">
                            <a:solidFill>
                              <a:srgbClr val="FF0000"/>
                            </a:solidFill>
                            <a:latin typeface="Cambria Math" panose="02040503050406030204" pitchFamily="18" charset="0"/>
                          </a:rPr>
                        </m:ctrlPr>
                      </m:naryPr>
                      <m:sub>
                        <m:r>
                          <m:rPr>
                            <m:brk m:alnAt="23"/>
                          </m:rP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ea typeface="Cambria Math" panose="02040503050406030204" pitchFamily="18" charset="0"/>
                          </a:rPr>
                          <m:t>∞</m:t>
                        </m:r>
                      </m:sub>
                      <m:sup>
                        <m:r>
                          <a:rPr lang="en-US" altLang="zh-CN" sz="2900" i="1">
                            <a:solidFill>
                              <a:srgbClr val="FF0000"/>
                            </a:solidFill>
                            <a:latin typeface="Cambria Math" panose="02040503050406030204" pitchFamily="18" charset="0"/>
                            <a:ea typeface="Cambria Math" panose="02040503050406030204" pitchFamily="18" charset="0"/>
                          </a:rPr>
                          <m:t>∞</m:t>
                        </m:r>
                      </m:sup>
                      <m:e>
                        <m:f>
                          <m:fPr>
                            <m:ctrlPr>
                              <a:rPr lang="zh-CN" altLang="zh-CN" sz="2900" i="1">
                                <a:solidFill>
                                  <a:srgbClr val="FF0000"/>
                                </a:solidFill>
                                <a:latin typeface="Cambria Math" panose="02040503050406030204" pitchFamily="18" charset="0"/>
                              </a:rPr>
                            </m:ctrlPr>
                          </m:fPr>
                          <m:num>
                            <m:sSub>
                              <m:sSubPr>
                                <m:ctrlPr>
                                  <a:rPr lang="zh-CN" altLang="zh-CN" sz="2900" i="1">
                                    <a:solidFill>
                                      <a:srgbClr val="FF0000"/>
                                    </a:solidFill>
                                    <a:latin typeface="Cambria Math" panose="02040503050406030204" pitchFamily="18" charset="0"/>
                                  </a:rPr>
                                </m:ctrlPr>
                              </m:sSubPr>
                              <m:e>
                                <m:r>
                                  <a:rPr lang="en-US" altLang="zh-CN" sz="2900" i="1">
                                    <a:solidFill>
                                      <a:srgbClr val="FF0000"/>
                                    </a:solidFill>
                                    <a:latin typeface="Cambria Math" panose="02040503050406030204" pitchFamily="18" charset="0"/>
                                  </a:rPr>
                                  <m:t>𝑵</m:t>
                                </m:r>
                              </m:e>
                              <m:sub>
                                <m:r>
                                  <a:rPr lang="en-US" altLang="zh-CN" sz="2900" i="1">
                                    <a:solidFill>
                                      <a:srgbClr val="FF0000"/>
                                    </a:solidFill>
                                    <a:latin typeface="Cambria Math" panose="02040503050406030204" pitchFamily="18" charset="0"/>
                                  </a:rPr>
                                  <m:t>𝟎</m:t>
                                </m:r>
                              </m:sub>
                            </m:sSub>
                          </m:num>
                          <m:den>
                            <m:r>
                              <a:rPr lang="en-US" altLang="zh-CN" sz="2900" i="1">
                                <a:solidFill>
                                  <a:srgbClr val="FF0000"/>
                                </a:solidFill>
                                <a:latin typeface="Cambria Math" panose="02040503050406030204" pitchFamily="18" charset="0"/>
                              </a:rPr>
                              <m:t>𝟐</m:t>
                            </m:r>
                          </m:den>
                        </m:f>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𝑯</m:t>
                        </m:r>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𝒋</m:t>
                        </m:r>
                        <m:r>
                          <a:rPr lang="en-US" altLang="zh-CN" sz="2900" i="1">
                            <a:solidFill>
                              <a:srgbClr val="FF0000"/>
                            </a:solidFill>
                            <a:latin typeface="Cambria Math" panose="02040503050406030204" pitchFamily="18" charset="0"/>
                          </a:rPr>
                          <m:t>𝝎</m:t>
                        </m:r>
                        <m:r>
                          <a:rPr lang="en-US" altLang="zh-CN" sz="2900" i="1">
                            <a:solidFill>
                              <a:srgbClr val="FF0000"/>
                            </a:solidFill>
                            <a:latin typeface="Cambria Math" panose="02040503050406030204" pitchFamily="18" charset="0"/>
                          </a:rPr>
                          <m:t>)</m:t>
                        </m:r>
                        <m:sSup>
                          <m:sSupPr>
                            <m:ctrlPr>
                              <a:rPr lang="zh-CN" altLang="zh-CN" sz="2900" i="1">
                                <a:solidFill>
                                  <a:srgbClr val="FF0000"/>
                                </a:solidFill>
                                <a:latin typeface="Cambria Math" panose="02040503050406030204" pitchFamily="18" charset="0"/>
                              </a:rPr>
                            </m:ctrlPr>
                          </m:sSupPr>
                          <m:e>
                            <m:r>
                              <a:rPr lang="en-US" altLang="zh-CN" sz="2900" i="1">
                                <a:solidFill>
                                  <a:srgbClr val="FF0000"/>
                                </a:solidFill>
                                <a:latin typeface="Cambria Math" panose="02040503050406030204" pitchFamily="18" charset="0"/>
                              </a:rPr>
                              <m:t>|</m:t>
                            </m:r>
                          </m:e>
                          <m:sup>
                            <m:r>
                              <a:rPr lang="en-US" altLang="zh-CN" sz="2900" i="1">
                                <a:solidFill>
                                  <a:srgbClr val="FF0000"/>
                                </a:solidFill>
                                <a:latin typeface="Cambria Math" panose="02040503050406030204" pitchFamily="18" charset="0"/>
                              </a:rPr>
                              <m:t>𝟐</m:t>
                            </m:r>
                          </m:sup>
                        </m:sSup>
                        <m:r>
                          <a:rPr lang="en-US" altLang="zh-CN" sz="2900" i="1">
                            <a:solidFill>
                              <a:srgbClr val="FF0000"/>
                            </a:solidFill>
                            <a:latin typeface="Cambria Math" panose="02040503050406030204" pitchFamily="18" charset="0"/>
                          </a:rPr>
                          <m:t>𝒅</m:t>
                        </m:r>
                        <m:r>
                          <a:rPr lang="zh-CN" altLang="en-US" sz="2900" i="1">
                            <a:solidFill>
                              <a:srgbClr val="FF0000"/>
                            </a:solidFill>
                            <a:latin typeface="Cambria Math" panose="02040503050406030204" pitchFamily="18" charset="0"/>
                          </a:rPr>
                          <m:t>𝝎</m:t>
                        </m:r>
                      </m:e>
                    </m:nary>
                    <m:r>
                      <a:rPr lang="en-US" altLang="zh-CN" sz="2900" i="1">
                        <a:solidFill>
                          <a:srgbClr val="FF0000"/>
                        </a:solidFill>
                        <a:latin typeface="Cambria Math" panose="02040503050406030204" pitchFamily="18" charset="0"/>
                      </a:rPr>
                      <m:t>=</m:t>
                    </m:r>
                    <m:nary>
                      <m:naryPr>
                        <m:ctrlPr>
                          <a:rPr lang="en-US" altLang="zh-CN" sz="2900" i="1">
                            <a:solidFill>
                              <a:srgbClr val="FF0000"/>
                            </a:solidFill>
                            <a:latin typeface="Cambria Math" panose="02040503050406030204" pitchFamily="18" charset="0"/>
                          </a:rPr>
                        </m:ctrlPr>
                      </m:naryPr>
                      <m:sub>
                        <m:r>
                          <m:rPr>
                            <m:brk m:alnAt="23"/>
                          </m:rP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ea typeface="Cambria Math" panose="02040503050406030204" pitchFamily="18" charset="0"/>
                          </a:rPr>
                          <m:t>∞</m:t>
                        </m:r>
                      </m:sub>
                      <m:sup>
                        <m:r>
                          <a:rPr lang="en-US" altLang="zh-CN" sz="2900" i="1">
                            <a:solidFill>
                              <a:srgbClr val="FF0000"/>
                            </a:solidFill>
                            <a:latin typeface="Cambria Math" panose="02040503050406030204" pitchFamily="18" charset="0"/>
                            <a:ea typeface="Cambria Math" panose="02040503050406030204" pitchFamily="18" charset="0"/>
                          </a:rPr>
                          <m:t>∞</m:t>
                        </m:r>
                      </m:sup>
                      <m:e>
                        <m:f>
                          <m:fPr>
                            <m:ctrlPr>
                              <a:rPr lang="zh-CN" altLang="zh-CN" sz="2900" i="1">
                                <a:solidFill>
                                  <a:srgbClr val="FF0000"/>
                                </a:solidFill>
                                <a:latin typeface="Cambria Math" panose="02040503050406030204" pitchFamily="18" charset="0"/>
                              </a:rPr>
                            </m:ctrlPr>
                          </m:fPr>
                          <m:num>
                            <m:sSub>
                              <m:sSubPr>
                                <m:ctrlPr>
                                  <a:rPr lang="zh-CN" altLang="zh-CN" sz="2900" i="1">
                                    <a:solidFill>
                                      <a:srgbClr val="FF0000"/>
                                    </a:solidFill>
                                    <a:latin typeface="Cambria Math" panose="02040503050406030204" pitchFamily="18" charset="0"/>
                                  </a:rPr>
                                </m:ctrlPr>
                              </m:sSubPr>
                              <m:e>
                                <m:r>
                                  <a:rPr lang="en-US" altLang="zh-CN" sz="2900" i="1">
                                    <a:solidFill>
                                      <a:srgbClr val="FF0000"/>
                                    </a:solidFill>
                                    <a:latin typeface="Cambria Math" panose="02040503050406030204" pitchFamily="18" charset="0"/>
                                  </a:rPr>
                                  <m:t>𝑵</m:t>
                                </m:r>
                              </m:e>
                              <m:sub>
                                <m:r>
                                  <a:rPr lang="en-US" altLang="zh-CN" sz="2900" i="1">
                                    <a:solidFill>
                                      <a:srgbClr val="FF0000"/>
                                    </a:solidFill>
                                    <a:latin typeface="Cambria Math" panose="02040503050406030204" pitchFamily="18" charset="0"/>
                                  </a:rPr>
                                  <m:t>𝟎</m:t>
                                </m:r>
                              </m:sub>
                            </m:sSub>
                          </m:num>
                          <m:den>
                            <m:r>
                              <a:rPr lang="en-US" altLang="zh-CN" sz="2900" i="1">
                                <a:solidFill>
                                  <a:srgbClr val="FF0000"/>
                                </a:solidFill>
                                <a:latin typeface="Cambria Math" panose="02040503050406030204" pitchFamily="18" charset="0"/>
                              </a:rPr>
                              <m:t>𝟐</m:t>
                            </m:r>
                          </m:den>
                        </m:f>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𝑯</m:t>
                        </m:r>
                        <m:r>
                          <a:rPr lang="en-US" altLang="zh-CN" sz="2900" i="1">
                            <a:solidFill>
                              <a:srgbClr val="FF0000"/>
                            </a:solidFill>
                            <a:latin typeface="Cambria Math" panose="02040503050406030204" pitchFamily="18" charset="0"/>
                          </a:rPr>
                          <m:t>(</m:t>
                        </m:r>
                        <m:r>
                          <a:rPr lang="en-US" altLang="zh-CN" sz="2900" i="1">
                            <a:solidFill>
                              <a:srgbClr val="FF0000"/>
                            </a:solidFill>
                            <a:latin typeface="Cambria Math" panose="02040503050406030204" pitchFamily="18" charset="0"/>
                          </a:rPr>
                          <m:t>𝒋𝒇</m:t>
                        </m:r>
                        <m:r>
                          <a:rPr lang="en-US" altLang="zh-CN" sz="2900" i="1">
                            <a:solidFill>
                              <a:srgbClr val="FF0000"/>
                            </a:solidFill>
                            <a:latin typeface="Cambria Math" panose="02040503050406030204" pitchFamily="18" charset="0"/>
                          </a:rPr>
                          <m:t>)</m:t>
                        </m:r>
                        <m:sSup>
                          <m:sSupPr>
                            <m:ctrlPr>
                              <a:rPr lang="zh-CN" altLang="zh-CN" sz="2900" i="1">
                                <a:solidFill>
                                  <a:srgbClr val="FF0000"/>
                                </a:solidFill>
                                <a:latin typeface="Cambria Math" panose="02040503050406030204" pitchFamily="18" charset="0"/>
                              </a:rPr>
                            </m:ctrlPr>
                          </m:sSupPr>
                          <m:e>
                            <m:r>
                              <a:rPr lang="en-US" altLang="zh-CN" sz="2900" i="1">
                                <a:solidFill>
                                  <a:srgbClr val="FF0000"/>
                                </a:solidFill>
                                <a:latin typeface="Cambria Math" panose="02040503050406030204" pitchFamily="18" charset="0"/>
                              </a:rPr>
                              <m:t>|</m:t>
                            </m:r>
                          </m:e>
                          <m:sup>
                            <m:r>
                              <a:rPr lang="en-US" altLang="zh-CN" sz="2900" i="1">
                                <a:solidFill>
                                  <a:srgbClr val="FF0000"/>
                                </a:solidFill>
                                <a:latin typeface="Cambria Math" panose="02040503050406030204" pitchFamily="18" charset="0"/>
                              </a:rPr>
                              <m:t>𝟐</m:t>
                            </m:r>
                          </m:sup>
                        </m:sSup>
                        <m:r>
                          <a:rPr lang="en-US" altLang="zh-CN" sz="2900" i="1">
                            <a:solidFill>
                              <a:srgbClr val="FF0000"/>
                            </a:solidFill>
                            <a:latin typeface="Cambria Math" panose="02040503050406030204" pitchFamily="18" charset="0"/>
                          </a:rPr>
                          <m:t>𝒅𝒇</m:t>
                        </m:r>
                      </m:e>
                    </m:nary>
                  </m:oMath>
                </a14:m>
                <a:r>
                  <a:rPr lang="zh-CN" altLang="en-US" sz="2900" dirty="0">
                    <a:solidFill>
                      <a:srgbClr val="FF0000"/>
                    </a:solidFill>
                  </a:rPr>
                  <a:t>，</a:t>
                </a:r>
                <a:endParaRPr lang="zh-CN" altLang="zh-CN" sz="2900" dirty="0">
                  <a:solidFill>
                    <a:srgbClr val="FF0000"/>
                  </a:solidFill>
                </a:endParaRPr>
              </a:p>
              <a:p>
                <a:endParaRPr lang="zh-CN" altLang="en-US" sz="2325" dirty="0"/>
              </a:p>
            </p:txBody>
          </p:sp>
        </mc:Choice>
        <mc:Fallback>
          <p:sp>
            <p:nvSpPr>
              <p:cNvPr id="3" name="内容占位符 2">
                <a:extLst>
                  <a:ext uri="{FF2B5EF4-FFF2-40B4-BE49-F238E27FC236}">
                    <a16:creationId xmlns:a16="http://schemas.microsoft.com/office/drawing/2014/main" id="{EDBCD82A-C314-45CB-A0A1-23B40CC56025}"/>
                  </a:ext>
                </a:extLst>
              </p:cNvPr>
              <p:cNvSpPr>
                <a:spLocks noGrp="1" noRot="1" noChangeAspect="1" noMove="1" noResize="1" noEditPoints="1" noAdjustHandles="1" noChangeArrowheads="1" noChangeShapeType="1" noTextEdit="1"/>
              </p:cNvSpPr>
              <p:nvPr>
                <p:ph idx="1"/>
              </p:nvPr>
            </p:nvSpPr>
            <p:spPr>
              <a:xfrm>
                <a:off x="387929" y="1340768"/>
                <a:ext cx="8576560" cy="4752528"/>
              </a:xfrm>
              <a:blipFill>
                <a:blip r:embed="rId2"/>
                <a:stretch>
                  <a:fillRect l="-711" t="-897" b="-9359"/>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259F98B0-2D05-479D-AE8F-B44BDA29806F}"/>
              </a:ext>
            </a:extLst>
          </p:cNvPr>
          <p:cNvSpPr txBox="1"/>
          <p:nvPr/>
        </p:nvSpPr>
        <p:spPr>
          <a:xfrm>
            <a:off x="4229100" y="3120391"/>
            <a:ext cx="65" cy="276999"/>
          </a:xfrm>
          <a:prstGeom prst="rect">
            <a:avLst/>
          </a:prstGeom>
          <a:noFill/>
        </p:spPr>
        <p:txBody>
          <a:bodyPr wrap="none" lIns="0" tIns="0" rIns="0" bIns="0" rtlCol="0">
            <a:spAutoFit/>
          </a:bodyPr>
          <a:lstStyle/>
          <a:p>
            <a:endParaRPr lang="zh-CN" altLang="en-US" dirty="0"/>
          </a:p>
        </p:txBody>
      </p:sp>
    </p:spTree>
    <p:extLst>
      <p:ext uri="{BB962C8B-B14F-4D97-AF65-F5344CB8AC3E}">
        <p14:creationId xmlns:p14="http://schemas.microsoft.com/office/powerpoint/2010/main" val="3459406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731" name="内容占位符 73730"/>
          <p:cNvGraphicFramePr>
            <a:graphicFrameLocks noGrp="1"/>
          </p:cNvGraphicFramePr>
          <p:nvPr>
            <p:ph idx="1"/>
            <p:extLst>
              <p:ext uri="{D42A27DB-BD31-4B8C-83A1-F6EECF244321}">
                <p14:modId xmlns:p14="http://schemas.microsoft.com/office/powerpoint/2010/main" val="2343013170"/>
              </p:ext>
            </p:extLst>
          </p:nvPr>
        </p:nvGraphicFramePr>
        <p:xfrm>
          <a:off x="611188" y="1088231"/>
          <a:ext cx="7559675" cy="4645025"/>
        </p:xfrm>
        <a:graphic>
          <a:graphicData uri="http://schemas.openxmlformats.org/presentationml/2006/ole">
            <mc:AlternateContent xmlns:mc="http://schemas.openxmlformats.org/markup-compatibility/2006">
              <mc:Choice xmlns:v="urn:schemas-microsoft-com:vml" Requires="v">
                <p:oleObj spid="_x0000_s1095" r:id="rId3" imgW="8331200" imgH="5118100" progId="Photoshop.Image.7">
                  <p:embed/>
                </p:oleObj>
              </mc:Choice>
              <mc:Fallback>
                <p:oleObj r:id="rId3" imgW="8331200" imgH="5118100" progId="Photoshop.Image.7">
                  <p:embed/>
                  <p:pic>
                    <p:nvPicPr>
                      <p:cNvPr id="73731" name="内容占位符 73730"/>
                      <p:cNvPicPr/>
                      <p:nvPr/>
                    </p:nvPicPr>
                    <p:blipFill>
                      <a:blip r:embed="rId4"/>
                      <a:stretch>
                        <a:fillRect/>
                      </a:stretch>
                    </p:blipFill>
                    <p:spPr>
                      <a:xfrm>
                        <a:off x="611188" y="1088231"/>
                        <a:ext cx="7559675" cy="4645025"/>
                      </a:xfrm>
                      <a:prstGeom prst="rect">
                        <a:avLst/>
                      </a:prstGeom>
                      <a:noFill/>
                      <a:ln w="38100">
                        <a:miter/>
                      </a:ln>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2CA1293-61EA-4E9F-B13B-A9ECC93EA5F4}"/>
              </a:ext>
            </a:extLst>
          </p:cNvPr>
          <p:cNvSpPr>
            <a:spLocks noGrp="1"/>
          </p:cNvSpPr>
          <p:nvPr>
            <p:ph idx="1"/>
          </p:nvPr>
        </p:nvSpPr>
        <p:spPr>
          <a:xfrm>
            <a:off x="611560" y="1292470"/>
            <a:ext cx="8158367" cy="3977237"/>
          </a:xfrm>
        </p:spPr>
        <p:txBody>
          <a:bodyPr/>
          <a:lstStyle/>
          <a:p>
            <a:pPr>
              <a:lnSpc>
                <a:spcPct val="150000"/>
              </a:lnSpc>
              <a:buFont typeface="Wingdings" panose="05000000000000000000" pitchFamily="2" charset="2"/>
              <a:buChar char="p"/>
            </a:pPr>
            <a:r>
              <a:rPr lang="zh-CN" altLang="zh-CN" dirty="0"/>
              <a:t>白噪声通过线性系统后，输出为一随机过程，完全由线性系统的特性决定。</a:t>
            </a:r>
            <a:r>
              <a:rPr lang="zh-CN" altLang="en-US" dirty="0"/>
              <a:t>因此可用来</a:t>
            </a:r>
            <a:endParaRPr lang="zh-CN" altLang="zh-CN" dirty="0"/>
          </a:p>
          <a:p>
            <a:pPr marL="0" indent="0">
              <a:lnSpc>
                <a:spcPct val="150000"/>
              </a:lnSpc>
              <a:buNone/>
            </a:pPr>
            <a:r>
              <a:rPr lang="en-US" altLang="zh-CN" dirty="0"/>
              <a:t>①</a:t>
            </a:r>
            <a:r>
              <a:rPr lang="zh-CN" altLang="zh-CN" dirty="0">
                <a:highlight>
                  <a:srgbClr val="FFFF00"/>
                </a:highlight>
              </a:rPr>
              <a:t>估计</a:t>
            </a:r>
            <a:r>
              <a:rPr lang="zh-CN" altLang="zh-CN" dirty="0"/>
              <a:t>未知系统的频率响应特性</a:t>
            </a:r>
            <a:r>
              <a:rPr lang="zh-CN" altLang="en-US" dirty="0"/>
              <a:t>（幅度响应或功率传输函数）。</a:t>
            </a:r>
            <a:endParaRPr lang="zh-CN" altLang="zh-CN" dirty="0"/>
          </a:p>
          <a:p>
            <a:pPr marL="0" indent="0">
              <a:lnSpc>
                <a:spcPct val="150000"/>
              </a:lnSpc>
              <a:buNone/>
            </a:pPr>
            <a:r>
              <a:rPr lang="en-US" altLang="zh-CN" dirty="0"/>
              <a:t>②</a:t>
            </a:r>
            <a:r>
              <a:rPr lang="zh-CN" altLang="zh-CN" dirty="0"/>
              <a:t>利用白噪声通过线性系统</a:t>
            </a:r>
            <a:r>
              <a:rPr lang="zh-CN" altLang="zh-CN" dirty="0">
                <a:highlight>
                  <a:srgbClr val="FFFF00"/>
                </a:highlight>
              </a:rPr>
              <a:t>产生</a:t>
            </a:r>
            <a:r>
              <a:rPr lang="zh-CN" altLang="zh-CN" dirty="0"/>
              <a:t>所需要的特定随机</a:t>
            </a:r>
            <a:r>
              <a:rPr lang="zh-CN" altLang="en-US" dirty="0"/>
              <a:t>信号</a:t>
            </a:r>
            <a:r>
              <a:rPr lang="zh-CN" altLang="zh-CN" dirty="0"/>
              <a:t>。</a:t>
            </a:r>
          </a:p>
          <a:p>
            <a:pPr marL="0" indent="0">
              <a:lnSpc>
                <a:spcPct val="150000"/>
              </a:lnSpc>
              <a:buNone/>
            </a:pPr>
            <a:r>
              <a:rPr lang="en-US" altLang="zh-CN" dirty="0"/>
              <a:t>  </a:t>
            </a:r>
            <a:r>
              <a:rPr lang="zh-CN" altLang="zh-CN" dirty="0"/>
              <a:t>（任意实过程的功率谱形式与白噪声通过线性系统后的谱形式完全相同）</a:t>
            </a:r>
          </a:p>
          <a:p>
            <a:pPr marL="0" indent="0">
              <a:buNone/>
            </a:pPr>
            <a:endParaRPr lang="zh-CN" altLang="en-US" dirty="0"/>
          </a:p>
        </p:txBody>
      </p:sp>
    </p:spTree>
    <p:extLst>
      <p:ext uri="{BB962C8B-B14F-4D97-AF65-F5344CB8AC3E}">
        <p14:creationId xmlns:p14="http://schemas.microsoft.com/office/powerpoint/2010/main" val="318160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779" name="内容占位符 75778"/>
          <p:cNvGraphicFramePr>
            <a:graphicFrameLocks noGrp="1"/>
          </p:cNvGraphicFramePr>
          <p:nvPr>
            <p:ph idx="1"/>
            <p:extLst>
              <p:ext uri="{D42A27DB-BD31-4B8C-83A1-F6EECF244321}">
                <p14:modId xmlns:p14="http://schemas.microsoft.com/office/powerpoint/2010/main" val="670891937"/>
              </p:ext>
            </p:extLst>
          </p:nvPr>
        </p:nvGraphicFramePr>
        <p:xfrm>
          <a:off x="144463" y="598239"/>
          <a:ext cx="8820150" cy="5279033"/>
        </p:xfrm>
        <a:graphic>
          <a:graphicData uri="http://schemas.openxmlformats.org/presentationml/2006/ole">
            <mc:AlternateContent xmlns:mc="http://schemas.openxmlformats.org/markup-compatibility/2006">
              <mc:Choice xmlns:v="urn:schemas-microsoft-com:vml" Requires="v">
                <p:oleObj spid="_x0000_s2118" r:id="rId4" imgW="8089900" imgH="3784600" progId="Photoshop.Image.7">
                  <p:embed/>
                </p:oleObj>
              </mc:Choice>
              <mc:Fallback>
                <p:oleObj r:id="rId4" imgW="8089900" imgH="3784600" progId="Photoshop.Image.7">
                  <p:embed/>
                  <p:pic>
                    <p:nvPicPr>
                      <p:cNvPr id="75779" name="内容占位符 75778"/>
                      <p:cNvPicPr/>
                      <p:nvPr/>
                    </p:nvPicPr>
                    <p:blipFill>
                      <a:blip r:embed="rId5"/>
                      <a:stretch>
                        <a:fillRect/>
                      </a:stretch>
                    </p:blipFill>
                    <p:spPr>
                      <a:xfrm>
                        <a:off x="144463" y="598239"/>
                        <a:ext cx="8820150" cy="5279033"/>
                      </a:xfrm>
                      <a:prstGeom prst="rect">
                        <a:avLst/>
                      </a:prstGeom>
                      <a:noFill/>
                      <a:ln w="38100">
                        <a:miter/>
                      </a:ln>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803" name="内容占位符 76802"/>
          <p:cNvGraphicFramePr>
            <a:graphicFrameLocks noGrp="1"/>
          </p:cNvGraphicFramePr>
          <p:nvPr>
            <p:ph idx="1"/>
            <p:extLst>
              <p:ext uri="{D42A27DB-BD31-4B8C-83A1-F6EECF244321}">
                <p14:modId xmlns:p14="http://schemas.microsoft.com/office/powerpoint/2010/main" val="3691745368"/>
              </p:ext>
            </p:extLst>
          </p:nvPr>
        </p:nvGraphicFramePr>
        <p:xfrm>
          <a:off x="1239085" y="381040"/>
          <a:ext cx="6408737" cy="5180012"/>
        </p:xfrm>
        <a:graphic>
          <a:graphicData uri="http://schemas.openxmlformats.org/presentationml/2006/ole">
            <mc:AlternateContent xmlns:mc="http://schemas.openxmlformats.org/markup-compatibility/2006">
              <mc:Choice xmlns:v="urn:schemas-microsoft-com:vml" Requires="v">
                <p:oleObj spid="_x0000_s3142" r:id="rId3" imgW="7213600" imgH="5829300" progId="Photoshop.Image.7">
                  <p:embed/>
                </p:oleObj>
              </mc:Choice>
              <mc:Fallback>
                <p:oleObj r:id="rId3" imgW="7213600" imgH="5829300" progId="Photoshop.Image.7">
                  <p:embed/>
                  <p:pic>
                    <p:nvPicPr>
                      <p:cNvPr id="76803" name="内容占位符 76802"/>
                      <p:cNvPicPr/>
                      <p:nvPr/>
                    </p:nvPicPr>
                    <p:blipFill>
                      <a:blip r:embed="rId4"/>
                      <a:stretch>
                        <a:fillRect/>
                      </a:stretch>
                    </p:blipFill>
                    <p:spPr>
                      <a:xfrm>
                        <a:off x="1239085" y="381040"/>
                        <a:ext cx="6408737" cy="5180012"/>
                      </a:xfrm>
                      <a:prstGeom prst="rect">
                        <a:avLst/>
                      </a:prstGeom>
                      <a:noFill/>
                      <a:ln w="38100">
                        <a:miter/>
                      </a:ln>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827" name="内容占位符 77826"/>
          <p:cNvGraphicFramePr>
            <a:graphicFrameLocks noGrp="1"/>
          </p:cNvGraphicFramePr>
          <p:nvPr>
            <p:ph idx="1"/>
            <p:extLst>
              <p:ext uri="{D42A27DB-BD31-4B8C-83A1-F6EECF244321}">
                <p14:modId xmlns:p14="http://schemas.microsoft.com/office/powerpoint/2010/main" val="2548418707"/>
              </p:ext>
            </p:extLst>
          </p:nvPr>
        </p:nvGraphicFramePr>
        <p:xfrm>
          <a:off x="1070095" y="908720"/>
          <a:ext cx="5806162" cy="4608512"/>
        </p:xfrm>
        <a:graphic>
          <a:graphicData uri="http://schemas.openxmlformats.org/presentationml/2006/ole">
            <mc:AlternateContent xmlns:mc="http://schemas.openxmlformats.org/markup-compatibility/2006">
              <mc:Choice xmlns:v="urn:schemas-microsoft-com:vml" Requires="v">
                <p:oleObj spid="_x0000_s4166" r:id="rId3" imgW="4254500" imgH="3657600" progId="Photoshop.Image.7">
                  <p:embed/>
                </p:oleObj>
              </mc:Choice>
              <mc:Fallback>
                <p:oleObj r:id="rId3" imgW="4254500" imgH="3657600" progId="Photoshop.Image.7">
                  <p:embed/>
                  <p:pic>
                    <p:nvPicPr>
                      <p:cNvPr id="77827" name="内容占位符 77826"/>
                      <p:cNvPicPr/>
                      <p:nvPr/>
                    </p:nvPicPr>
                    <p:blipFill>
                      <a:blip r:embed="rId4"/>
                      <a:stretch>
                        <a:fillRect/>
                      </a:stretch>
                    </p:blipFill>
                    <p:spPr>
                      <a:xfrm>
                        <a:off x="1070095" y="908720"/>
                        <a:ext cx="5806162" cy="4608512"/>
                      </a:xfrm>
                      <a:prstGeom prst="rect">
                        <a:avLst/>
                      </a:prstGeom>
                      <a:noFill/>
                      <a:ln w="38100">
                        <a:miter/>
                      </a:ln>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851" name="内容占位符 78850"/>
          <p:cNvGraphicFramePr>
            <a:graphicFrameLocks noGrp="1"/>
          </p:cNvGraphicFramePr>
          <p:nvPr>
            <p:ph idx="1"/>
            <p:extLst>
              <p:ext uri="{D42A27DB-BD31-4B8C-83A1-F6EECF244321}">
                <p14:modId xmlns:p14="http://schemas.microsoft.com/office/powerpoint/2010/main" val="4120305690"/>
              </p:ext>
            </p:extLst>
          </p:nvPr>
        </p:nvGraphicFramePr>
        <p:xfrm>
          <a:off x="322424" y="620688"/>
          <a:ext cx="8351837" cy="4536504"/>
        </p:xfrm>
        <a:graphic>
          <a:graphicData uri="http://schemas.openxmlformats.org/presentationml/2006/ole">
            <mc:AlternateContent xmlns:mc="http://schemas.openxmlformats.org/markup-compatibility/2006">
              <mc:Choice xmlns:v="urn:schemas-microsoft-com:vml" Requires="v">
                <p:oleObj spid="_x0000_s5188" r:id="rId3" imgW="8077200" imgH="3810000" progId="Photoshop.Image.7">
                  <p:embed/>
                </p:oleObj>
              </mc:Choice>
              <mc:Fallback>
                <p:oleObj r:id="rId3" imgW="8077200" imgH="3810000" progId="Photoshop.Image.7">
                  <p:embed/>
                  <p:pic>
                    <p:nvPicPr>
                      <p:cNvPr id="78851" name="内容占位符 78850"/>
                      <p:cNvPicPr/>
                      <p:nvPr/>
                    </p:nvPicPr>
                    <p:blipFill>
                      <a:blip r:embed="rId4"/>
                      <a:stretch>
                        <a:fillRect/>
                      </a:stretch>
                    </p:blipFill>
                    <p:spPr>
                      <a:xfrm>
                        <a:off x="322424" y="620688"/>
                        <a:ext cx="8351837" cy="4536504"/>
                      </a:xfrm>
                      <a:prstGeom prst="rect">
                        <a:avLst/>
                      </a:prstGeom>
                      <a:noFill/>
                      <a:ln w="38100">
                        <a:miter/>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875" name="内容占位符 79874"/>
          <p:cNvGraphicFramePr>
            <a:graphicFrameLocks noGrp="1"/>
          </p:cNvGraphicFramePr>
          <p:nvPr>
            <p:ph idx="1"/>
            <p:extLst>
              <p:ext uri="{D42A27DB-BD31-4B8C-83A1-F6EECF244321}">
                <p14:modId xmlns:p14="http://schemas.microsoft.com/office/powerpoint/2010/main" val="3748857590"/>
              </p:ext>
            </p:extLst>
          </p:nvPr>
        </p:nvGraphicFramePr>
        <p:xfrm>
          <a:off x="1691680" y="1196752"/>
          <a:ext cx="5400675" cy="4054475"/>
        </p:xfrm>
        <a:graphic>
          <a:graphicData uri="http://schemas.openxmlformats.org/presentationml/2006/ole">
            <mc:AlternateContent xmlns:mc="http://schemas.openxmlformats.org/markup-compatibility/2006">
              <mc:Choice xmlns:v="urn:schemas-microsoft-com:vml" Requires="v">
                <p:oleObj spid="_x0000_s6212" r:id="rId4" imgW="4635500" imgH="3479800" progId="Photoshop.Image.7">
                  <p:embed/>
                </p:oleObj>
              </mc:Choice>
              <mc:Fallback>
                <p:oleObj r:id="rId4" imgW="4635500" imgH="3479800" progId="Photoshop.Image.7">
                  <p:embed/>
                  <p:pic>
                    <p:nvPicPr>
                      <p:cNvPr id="79875" name="内容占位符 79874"/>
                      <p:cNvPicPr/>
                      <p:nvPr/>
                    </p:nvPicPr>
                    <p:blipFill>
                      <a:blip r:embed="rId5"/>
                      <a:stretch>
                        <a:fillRect/>
                      </a:stretch>
                    </p:blipFill>
                    <p:spPr>
                      <a:xfrm>
                        <a:off x="1691680" y="1196752"/>
                        <a:ext cx="5400675" cy="4054475"/>
                      </a:xfrm>
                      <a:prstGeom prst="rect">
                        <a:avLst/>
                      </a:prstGeom>
                      <a:noFill/>
                      <a:ln w="38100">
                        <a:miter/>
                      </a:ln>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80897"/>
          <p:cNvSpPr>
            <a:spLocks noGrp="1"/>
          </p:cNvSpPr>
          <p:nvPr>
            <p:ph type="title"/>
          </p:nvPr>
        </p:nvSpPr>
        <p:spPr>
          <a:ln/>
        </p:spPr>
        <p:txBody>
          <a:bodyPr anchor="ctr" anchorCtr="0"/>
          <a:lstStyle/>
          <a:p>
            <a:r>
              <a:rPr lang="en-US" altLang="zh-CN" sz="4000" b="1">
                <a:latin typeface="黑体" panose="02010609060101010101" pitchFamily="2" charset="-122"/>
                <a:ea typeface="黑体" panose="02010609060101010101" pitchFamily="2" charset="-122"/>
              </a:rPr>
              <a:t>5.2 </a:t>
            </a:r>
            <a:r>
              <a:rPr lang="zh-CN" altLang="en-US" sz="4000" b="1" dirty="0">
                <a:latin typeface="黑体" panose="02010609060101010101" pitchFamily="2" charset="-122"/>
                <a:ea typeface="黑体" panose="02010609060101010101" pitchFamily="2" charset="-122"/>
              </a:rPr>
              <a:t>平稳白噪声通过</a:t>
            </a:r>
            <a:r>
              <a:rPr lang="en-US" altLang="zh-CN" sz="4000" b="1">
                <a:latin typeface="黑体" panose="02010609060101010101" pitchFamily="2" charset="-122"/>
                <a:ea typeface="黑体" panose="02010609060101010101" pitchFamily="2" charset="-122"/>
              </a:rPr>
              <a:t>LTI</a:t>
            </a:r>
            <a:r>
              <a:rPr lang="zh-CN" altLang="en-US" sz="4000" b="1" dirty="0">
                <a:latin typeface="黑体" panose="02010609060101010101" pitchFamily="2" charset="-122"/>
                <a:ea typeface="黑体" panose="02010609060101010101" pitchFamily="2" charset="-122"/>
              </a:rPr>
              <a:t>系统</a:t>
            </a:r>
          </a:p>
        </p:txBody>
      </p:sp>
      <p:graphicFrame>
        <p:nvGraphicFramePr>
          <p:cNvPr id="80899" name="内容占位符 80898"/>
          <p:cNvGraphicFramePr>
            <a:graphicFrameLocks noGrp="1"/>
          </p:cNvGraphicFramePr>
          <p:nvPr>
            <p:ph idx="1"/>
            <p:extLst>
              <p:ext uri="{D42A27DB-BD31-4B8C-83A1-F6EECF244321}">
                <p14:modId xmlns:p14="http://schemas.microsoft.com/office/powerpoint/2010/main" val="3645101801"/>
              </p:ext>
            </p:extLst>
          </p:nvPr>
        </p:nvGraphicFramePr>
        <p:xfrm>
          <a:off x="827584" y="1556792"/>
          <a:ext cx="7560840" cy="4174232"/>
        </p:xfrm>
        <a:graphic>
          <a:graphicData uri="http://schemas.openxmlformats.org/presentationml/2006/ole">
            <mc:AlternateContent xmlns:mc="http://schemas.openxmlformats.org/markup-compatibility/2006">
              <mc:Choice xmlns:v="urn:schemas-microsoft-com:vml" Requires="v">
                <p:oleObj spid="_x0000_s7230" r:id="rId3" imgW="8178800" imgH="4724400" progId="Photoshop.Image.7">
                  <p:embed/>
                </p:oleObj>
              </mc:Choice>
              <mc:Fallback>
                <p:oleObj r:id="rId3" imgW="8178800" imgH="4724400" progId="Photoshop.Image.7">
                  <p:embed/>
                  <p:pic>
                    <p:nvPicPr>
                      <p:cNvPr id="80899" name="内容占位符 80898"/>
                      <p:cNvPicPr/>
                      <p:nvPr/>
                    </p:nvPicPr>
                    <p:blipFill>
                      <a:blip r:embed="rId4"/>
                      <a:stretch>
                        <a:fillRect/>
                      </a:stretch>
                    </p:blipFill>
                    <p:spPr>
                      <a:xfrm>
                        <a:off x="827584" y="1556792"/>
                        <a:ext cx="7560840" cy="4174232"/>
                      </a:xfrm>
                      <a:prstGeom prst="rect">
                        <a:avLst/>
                      </a:prstGeom>
                      <a:noFill/>
                      <a:ln w="38100">
                        <a:miter/>
                      </a:ln>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5" name="文本占位符 136194"/>
          <p:cNvSpPr>
            <a:spLocks noGrp="1"/>
          </p:cNvSpPr>
          <p:nvPr>
            <p:ph type="body" idx="1"/>
          </p:nvPr>
        </p:nvSpPr>
        <p:spPr>
          <a:ln/>
        </p:spPr>
        <p:txBody>
          <a:bodyPr/>
          <a:lstStyle/>
          <a:p>
            <a:endParaRPr dirty="0"/>
          </a:p>
        </p:txBody>
      </p:sp>
      <p:pic>
        <p:nvPicPr>
          <p:cNvPr id="136196" name="图片 136195"/>
          <p:cNvPicPr>
            <a:picLocks noChangeAspect="1"/>
          </p:cNvPicPr>
          <p:nvPr/>
        </p:nvPicPr>
        <p:blipFill>
          <a:blip r:embed="rId2"/>
          <a:stretch>
            <a:fillRect/>
          </a:stretch>
        </p:blipFill>
        <p:spPr>
          <a:xfrm>
            <a:off x="395536" y="794544"/>
            <a:ext cx="8640763" cy="5268912"/>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81921"/>
          <p:cNvSpPr>
            <a:spLocks noGrp="1"/>
          </p:cNvSpPr>
          <p:nvPr>
            <p:ph type="title"/>
          </p:nvPr>
        </p:nvSpPr>
        <p:spPr>
          <a:ln/>
        </p:spPr>
        <p:txBody>
          <a:bodyPr anchor="ctr" anchorCtr="0"/>
          <a:lstStyle/>
          <a:p>
            <a:r>
              <a:rPr lang="en-US" altLang="zh-CN" sz="4000" b="1">
                <a:latin typeface="黑体" panose="02010609060101010101" pitchFamily="2" charset="-122"/>
                <a:ea typeface="黑体" panose="02010609060101010101" pitchFamily="2" charset="-122"/>
              </a:rPr>
              <a:t>5.2 </a:t>
            </a:r>
            <a:r>
              <a:rPr lang="zh-CN" altLang="en-US" sz="4000" b="1" dirty="0">
                <a:latin typeface="黑体" panose="02010609060101010101" pitchFamily="2" charset="-122"/>
                <a:ea typeface="黑体" panose="02010609060101010101" pitchFamily="2" charset="-122"/>
              </a:rPr>
              <a:t>平稳白噪声通过</a:t>
            </a:r>
            <a:r>
              <a:rPr lang="en-US" altLang="zh-CN" sz="4000" b="1">
                <a:latin typeface="黑体" panose="02010609060101010101" pitchFamily="2" charset="-122"/>
                <a:ea typeface="黑体" panose="02010609060101010101" pitchFamily="2" charset="-122"/>
              </a:rPr>
              <a:t>LTI</a:t>
            </a:r>
            <a:r>
              <a:rPr lang="zh-CN" altLang="en-US" sz="4000" b="1" dirty="0">
                <a:latin typeface="黑体" panose="02010609060101010101" pitchFamily="2" charset="-122"/>
                <a:ea typeface="黑体" panose="02010609060101010101" pitchFamily="2" charset="-122"/>
              </a:rPr>
              <a:t>系统</a:t>
            </a:r>
          </a:p>
        </p:txBody>
      </p:sp>
      <p:graphicFrame>
        <p:nvGraphicFramePr>
          <p:cNvPr id="81923" name="内容占位符 81922"/>
          <p:cNvGraphicFramePr>
            <a:graphicFrameLocks noGrp="1"/>
          </p:cNvGraphicFramePr>
          <p:nvPr>
            <p:ph idx="1"/>
          </p:nvPr>
        </p:nvGraphicFramePr>
        <p:xfrm>
          <a:off x="1619250" y="1989138"/>
          <a:ext cx="5173663" cy="3886200"/>
        </p:xfrm>
        <a:graphic>
          <a:graphicData uri="http://schemas.openxmlformats.org/presentationml/2006/ole">
            <mc:AlternateContent xmlns:mc="http://schemas.openxmlformats.org/markup-compatibility/2006">
              <mc:Choice xmlns:v="urn:schemas-microsoft-com:vml" Requires="v">
                <p:oleObj spid="_x0000_s8254" r:id="rId4" imgW="5969000" imgH="4483100" progId="Photoshop.Image.7">
                  <p:embed/>
                </p:oleObj>
              </mc:Choice>
              <mc:Fallback>
                <p:oleObj r:id="rId4" imgW="5969000" imgH="4483100" progId="Photoshop.Image.7">
                  <p:embed/>
                  <p:pic>
                    <p:nvPicPr>
                      <p:cNvPr id="81923" name="内容占位符 81922"/>
                      <p:cNvPicPr/>
                      <p:nvPr/>
                    </p:nvPicPr>
                    <p:blipFill>
                      <a:blip r:embed="rId5"/>
                      <a:stretch>
                        <a:fillRect/>
                      </a:stretch>
                    </p:blipFill>
                    <p:spPr>
                      <a:xfrm>
                        <a:off x="1619250" y="1989138"/>
                        <a:ext cx="5173663" cy="3886200"/>
                      </a:xfrm>
                      <a:prstGeom prst="rect">
                        <a:avLst/>
                      </a:prstGeom>
                      <a:noFill/>
                      <a:ln w="38100">
                        <a:miter/>
                      </a:ln>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947" name="内容占位符 82946"/>
          <p:cNvGraphicFramePr>
            <a:graphicFrameLocks noGrp="1"/>
          </p:cNvGraphicFramePr>
          <p:nvPr>
            <p:ph idx="1"/>
            <p:extLst>
              <p:ext uri="{D42A27DB-BD31-4B8C-83A1-F6EECF244321}">
                <p14:modId xmlns:p14="http://schemas.microsoft.com/office/powerpoint/2010/main" val="2032651395"/>
              </p:ext>
            </p:extLst>
          </p:nvPr>
        </p:nvGraphicFramePr>
        <p:xfrm>
          <a:off x="395536" y="383316"/>
          <a:ext cx="8064500" cy="3460750"/>
        </p:xfrm>
        <a:graphic>
          <a:graphicData uri="http://schemas.openxmlformats.org/presentationml/2006/ole">
            <mc:AlternateContent xmlns:mc="http://schemas.openxmlformats.org/markup-compatibility/2006">
              <mc:Choice xmlns:v="urn:schemas-microsoft-com:vml" Requires="v">
                <p:oleObj spid="_x0000_s9278" r:id="rId4" imgW="7607300" imgH="3263900" progId="Photoshop.Image.7">
                  <p:embed/>
                </p:oleObj>
              </mc:Choice>
              <mc:Fallback>
                <p:oleObj r:id="rId4" imgW="7607300" imgH="3263900" progId="Photoshop.Image.7">
                  <p:embed/>
                  <p:pic>
                    <p:nvPicPr>
                      <p:cNvPr id="82947" name="内容占位符 82946"/>
                      <p:cNvPicPr/>
                      <p:nvPr/>
                    </p:nvPicPr>
                    <p:blipFill>
                      <a:blip r:embed="rId5"/>
                      <a:stretch>
                        <a:fillRect/>
                      </a:stretch>
                    </p:blipFill>
                    <p:spPr>
                      <a:xfrm>
                        <a:off x="395536" y="383316"/>
                        <a:ext cx="8064500" cy="3460750"/>
                      </a:xfrm>
                      <a:prstGeom prst="rect">
                        <a:avLst/>
                      </a:prstGeom>
                      <a:noFill/>
                      <a:ln w="38100">
                        <a:miter/>
                      </a:ln>
                    </p:spPr>
                  </p:pic>
                </p:oleObj>
              </mc:Fallback>
            </mc:AlternateContent>
          </a:graphicData>
        </a:graphic>
      </p:graphicFrame>
      <p:grpSp>
        <p:nvGrpSpPr>
          <p:cNvPr id="6" name="组合 5">
            <a:extLst>
              <a:ext uri="{FF2B5EF4-FFF2-40B4-BE49-F238E27FC236}">
                <a16:creationId xmlns:a16="http://schemas.microsoft.com/office/drawing/2014/main" id="{D30B6F9C-ACEA-4D64-BE22-661E076D76A7}"/>
              </a:ext>
            </a:extLst>
          </p:cNvPr>
          <p:cNvGrpSpPr/>
          <p:nvPr/>
        </p:nvGrpSpPr>
        <p:grpSpPr>
          <a:xfrm>
            <a:off x="5096397" y="3556019"/>
            <a:ext cx="3580059" cy="2825309"/>
            <a:chOff x="7566006" y="2574810"/>
            <a:chExt cx="4452257" cy="3504350"/>
          </a:xfrm>
        </p:grpSpPr>
        <p:pic>
          <p:nvPicPr>
            <p:cNvPr id="7" name="图片 6">
              <a:extLst>
                <a:ext uri="{FF2B5EF4-FFF2-40B4-BE49-F238E27FC236}">
                  <a16:creationId xmlns:a16="http://schemas.microsoft.com/office/drawing/2014/main" id="{A43930D5-8F14-4711-BCB2-A38D472BCE77}"/>
                </a:ext>
              </a:extLst>
            </p:cNvPr>
            <p:cNvPicPr>
              <a:picLocks noChangeAspect="1"/>
            </p:cNvPicPr>
            <p:nvPr/>
          </p:nvPicPr>
          <p:blipFill>
            <a:blip r:embed="rId6"/>
            <a:stretch>
              <a:fillRect/>
            </a:stretch>
          </p:blipFill>
          <p:spPr>
            <a:xfrm>
              <a:off x="7566006" y="2739967"/>
              <a:ext cx="4452257" cy="3339193"/>
            </a:xfrm>
            <a:prstGeom prst="rect">
              <a:avLst/>
            </a:prstGeom>
          </p:spPr>
        </p:pic>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AFD694B7-8C96-465C-8D40-D0294E69E5B9}"/>
                    </a:ext>
                  </a:extLst>
                </p:cNvPr>
                <p:cNvSpPr/>
                <p:nvPr/>
              </p:nvSpPr>
              <p:spPr>
                <a:xfrm>
                  <a:off x="8346669" y="2574810"/>
                  <a:ext cx="3186000" cy="492443"/>
                </a:xfrm>
                <a:prstGeom prst="rect">
                  <a:avLst/>
                </a:prstGeom>
              </p:spPr>
              <p:txBody>
                <a:bodyPr wrap="none">
                  <a:spAutoFit/>
                </a:bodyPr>
                <a:lstStyle/>
                <a:p>
                  <a14:m>
                    <m:oMath xmlns:m="http://schemas.openxmlformats.org/officeDocument/2006/math">
                      <m:sSub>
                        <m:sSubPr>
                          <m:ctrlPr>
                            <a:rPr lang="en-US" altLang="zh-CN" i="1" smtClean="0">
                              <a:solidFill>
                                <a:schemeClr val="accent2"/>
                              </a:solidFill>
                              <a:latin typeface="Cambria Math" panose="02040503050406030204" pitchFamily="18" charset="0"/>
                            </a:rPr>
                          </m:ctrlPr>
                        </m:sSubPr>
                        <m:e>
                          <m:r>
                            <a:rPr lang="en-US" altLang="zh-CN" b="1" i="1">
                              <a:solidFill>
                                <a:schemeClr val="accent2"/>
                              </a:solidFill>
                              <a:latin typeface="Cambria Math" panose="02040503050406030204" pitchFamily="18" charset="0"/>
                            </a:rPr>
                            <m:t>𝑹</m:t>
                          </m:r>
                        </m:e>
                        <m:sub>
                          <m:r>
                            <a:rPr lang="en-US" altLang="zh-CN" b="1" i="1">
                              <a:solidFill>
                                <a:schemeClr val="accent2"/>
                              </a:solidFill>
                              <a:latin typeface="Cambria Math" panose="02040503050406030204" pitchFamily="18" charset="0"/>
                            </a:rPr>
                            <m:t>𝒀</m:t>
                          </m:r>
                        </m:sub>
                      </m:sSub>
                      <m:d>
                        <m:dPr>
                          <m:ctrlPr>
                            <a:rPr lang="en-US" altLang="zh-CN" b="1" i="1">
                              <a:solidFill>
                                <a:schemeClr val="accent2"/>
                              </a:solidFill>
                              <a:latin typeface="Cambria Math" panose="02040503050406030204" pitchFamily="18" charset="0"/>
                            </a:rPr>
                          </m:ctrlPr>
                        </m:dPr>
                        <m:e>
                          <m:r>
                            <a:rPr lang="zh-CN" altLang="en-US" b="1" i="1">
                              <a:solidFill>
                                <a:schemeClr val="accent2"/>
                              </a:solidFill>
                              <a:latin typeface="Cambria Math" panose="02040503050406030204" pitchFamily="18" charset="0"/>
                            </a:rPr>
                            <m:t>𝝉</m:t>
                          </m:r>
                        </m:e>
                      </m:d>
                    </m:oMath>
                  </a14:m>
                  <a:r>
                    <a:rPr lang="zh-CN" altLang="en-US" dirty="0"/>
                    <a:t> ，</a:t>
                  </a:r>
                  <a:r>
                    <a:rPr lang="en-US" altLang="zh-CN" dirty="0"/>
                    <a:t>W=1</a:t>
                  </a:r>
                  <a:r>
                    <a:rPr lang="zh-CN" altLang="en-US" dirty="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𝑵</m:t>
                          </m:r>
                        </m:e>
                        <m:sub>
                          <m:r>
                            <a:rPr lang="en-US" altLang="zh-CN" i="1">
                              <a:latin typeface="Cambria Math" panose="02040503050406030204" pitchFamily="18" charset="0"/>
                            </a:rPr>
                            <m:t>𝟎</m:t>
                          </m:r>
                        </m:sub>
                      </m:sSub>
                    </m:oMath>
                  </a14:m>
                  <a:r>
                    <a:rPr lang="en-US" altLang="zh-CN" dirty="0"/>
                    <a:t>=1</a:t>
                  </a:r>
                  <a:endParaRPr lang="zh-CN" altLang="en-US" dirty="0"/>
                </a:p>
              </p:txBody>
            </p:sp>
          </mc:Choice>
          <mc:Fallback xmlns="">
            <p:sp>
              <p:nvSpPr>
                <p:cNvPr id="8" name="矩形 7">
                  <a:extLst>
                    <a:ext uri="{FF2B5EF4-FFF2-40B4-BE49-F238E27FC236}">
                      <a16:creationId xmlns:a16="http://schemas.microsoft.com/office/drawing/2014/main" id="{AFD694B7-8C96-465C-8D40-D0294E69E5B9}"/>
                    </a:ext>
                  </a:extLst>
                </p:cNvPr>
                <p:cNvSpPr>
                  <a:spLocks noRot="1" noChangeAspect="1" noMove="1" noResize="1" noEditPoints="1" noAdjustHandles="1" noChangeArrowheads="1" noChangeShapeType="1" noTextEdit="1"/>
                </p:cNvSpPr>
                <p:nvPr/>
              </p:nvSpPr>
              <p:spPr>
                <a:xfrm>
                  <a:off x="8346669" y="2574810"/>
                  <a:ext cx="3186000" cy="492443"/>
                </a:xfrm>
                <a:prstGeom prst="rect">
                  <a:avLst/>
                </a:prstGeom>
                <a:blipFill>
                  <a:blip r:embed="rId7"/>
                  <a:stretch>
                    <a:fillRect t="-7692" b="-16923"/>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A43EF221-3AB1-4AFD-9054-4F54466216EA}"/>
                  </a:ext>
                </a:extLst>
              </p:cNvPr>
              <p:cNvSpPr txBox="1"/>
              <p:nvPr/>
            </p:nvSpPr>
            <p:spPr>
              <a:xfrm>
                <a:off x="899592" y="4625971"/>
                <a:ext cx="3672408" cy="818557"/>
              </a:xfrm>
              <a:prstGeom prst="rect">
                <a:avLst/>
              </a:prstGeom>
              <a:noFill/>
            </p:spPr>
            <p:txBody>
              <a:bodyPr wrap="square">
                <a:spAutoFit/>
              </a:bodyPr>
              <a:lstStyle/>
              <a:p>
                <a:pPr marL="0" indent="0">
                  <a:buNone/>
                </a:pPr>
                <a:r>
                  <a:rPr lang="zh-CN" altLang="en-US" dirty="0"/>
                  <a:t>注：</a:t>
                </a:r>
                <a14:m>
                  <m:oMath xmlns:m="http://schemas.openxmlformats.org/officeDocument/2006/math">
                    <m:r>
                      <a:rPr lang="en-US" altLang="zh-CN" b="1" i="1" smtClean="0">
                        <a:latin typeface="Cambria Math" panose="02040503050406030204" pitchFamily="18" charset="0"/>
                      </a:rPr>
                      <m:t>𝒔𝒊𝒏𝒄</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𝒔𝒊𝒏</m:t>
                        </m:r>
                        <m:r>
                          <a:rPr lang="en-US" altLang="zh-CN" b="1" i="1" smtClean="0">
                            <a:latin typeface="Cambria Math" panose="02040503050406030204" pitchFamily="18" charset="0"/>
                          </a:rPr>
                          <m:t>(</m:t>
                        </m:r>
                        <m:r>
                          <a:rPr lang="zh-CN" altLang="en-US" b="1" i="1" smtClean="0">
                            <a:latin typeface="Cambria Math" panose="02040503050406030204" pitchFamily="18" charset="0"/>
                          </a:rPr>
                          <m:t>𝝅</m:t>
                        </m:r>
                        <m:r>
                          <a:rPr lang="en-US" altLang="zh-CN" b="1" i="1" smtClean="0">
                            <a:latin typeface="Cambria Math" panose="02040503050406030204" pitchFamily="18" charset="0"/>
                          </a:rPr>
                          <m:t>𝒙</m:t>
                        </m:r>
                        <m:r>
                          <a:rPr lang="en-US" altLang="zh-CN" b="1" i="1" smtClean="0">
                            <a:latin typeface="Cambria Math" panose="02040503050406030204" pitchFamily="18" charset="0"/>
                          </a:rPr>
                          <m:t>)</m:t>
                        </m:r>
                      </m:num>
                      <m:den>
                        <m:r>
                          <a:rPr lang="zh-CN" altLang="en-US" b="1" i="1" smtClean="0">
                            <a:latin typeface="Cambria Math" panose="02040503050406030204" pitchFamily="18" charset="0"/>
                          </a:rPr>
                          <m:t>𝝅</m:t>
                        </m:r>
                        <m:r>
                          <a:rPr lang="en-US" altLang="zh-CN" b="1" i="1" smtClean="0">
                            <a:latin typeface="Cambria Math" panose="02040503050406030204" pitchFamily="18" charset="0"/>
                          </a:rPr>
                          <m:t>𝒙</m:t>
                        </m:r>
                      </m:den>
                    </m:f>
                  </m:oMath>
                </a14:m>
                <a:r>
                  <a:rPr lang="zh-CN" altLang="en-US" dirty="0"/>
                  <a:t>，</a:t>
                </a:r>
                <a:endParaRPr lang="en-US" altLang="zh-CN" dirty="0"/>
              </a:p>
              <a:p>
                <a:pPr marL="0" indent="0">
                  <a:buNone/>
                </a:pPr>
                <a:r>
                  <a:rPr lang="en-US" altLang="zh-CN" sz="1400" dirty="0"/>
                  <a:t>          </a:t>
                </a:r>
                <a14:m>
                  <m:oMath xmlns:m="http://schemas.openxmlformats.org/officeDocument/2006/math">
                    <m:nary>
                      <m:naryPr>
                        <m:ctrlPr>
                          <a:rPr lang="en-US" altLang="zh-CN" sz="1400" i="1">
                            <a:latin typeface="Cambria Math" panose="02040503050406030204" pitchFamily="18" charset="0"/>
                          </a:rPr>
                        </m:ctrlPr>
                      </m:naryPr>
                      <m:sub>
                        <m:r>
                          <m:rPr>
                            <m:brk m:alnAt="23"/>
                          </m:rPr>
                          <a:rPr lang="en-US" altLang="zh-CN" sz="1400" i="1">
                            <a:latin typeface="Cambria Math" panose="02040503050406030204" pitchFamily="18" charset="0"/>
                          </a:rPr>
                          <m:t>𝟎</m:t>
                        </m:r>
                      </m:sub>
                      <m:sup>
                        <m:r>
                          <a:rPr lang="en-US" altLang="zh-CN" sz="1400" i="1">
                            <a:latin typeface="Cambria Math" panose="02040503050406030204" pitchFamily="18" charset="0"/>
                            <a:ea typeface="Cambria Math" panose="02040503050406030204" pitchFamily="18" charset="0"/>
                          </a:rPr>
                          <m:t>∞</m:t>
                        </m:r>
                      </m:sup>
                      <m:e>
                        <m:f>
                          <m:fPr>
                            <m:ctrlPr>
                              <a:rPr lang="en-US" altLang="zh-CN" sz="1400" i="1">
                                <a:latin typeface="Cambria Math" panose="02040503050406030204" pitchFamily="18" charset="0"/>
                              </a:rPr>
                            </m:ctrlPr>
                          </m:fPr>
                          <m:num>
                            <m:r>
                              <a:rPr lang="en-US" altLang="zh-CN" sz="1400" i="1">
                                <a:latin typeface="Cambria Math" panose="02040503050406030204" pitchFamily="18" charset="0"/>
                              </a:rPr>
                              <m:t>𝒔𝒊𝒏</m:t>
                            </m:r>
                            <m:d>
                              <m:dPr>
                                <m:ctrlPr>
                                  <a:rPr lang="en-US" altLang="zh-CN" sz="1400" i="1">
                                    <a:latin typeface="Cambria Math" panose="02040503050406030204" pitchFamily="18" charset="0"/>
                                  </a:rPr>
                                </m:ctrlPr>
                              </m:dPr>
                              <m:e>
                                <m:r>
                                  <a:rPr lang="en-US" altLang="zh-CN" sz="1400" i="1">
                                    <a:latin typeface="Cambria Math" panose="02040503050406030204" pitchFamily="18" charset="0"/>
                                  </a:rPr>
                                  <m:t>𝒂𝒙</m:t>
                                </m:r>
                              </m:e>
                            </m:d>
                          </m:num>
                          <m:den>
                            <m:r>
                              <a:rPr lang="en-US" altLang="zh-CN" sz="1400" i="1">
                                <a:latin typeface="Cambria Math" panose="02040503050406030204" pitchFamily="18" charset="0"/>
                              </a:rPr>
                              <m:t>𝒙</m:t>
                            </m:r>
                          </m:den>
                        </m:f>
                        <m:r>
                          <a:rPr lang="en-US" altLang="zh-CN" sz="1400" i="1">
                            <a:latin typeface="Cambria Math" panose="02040503050406030204" pitchFamily="18" charset="0"/>
                          </a:rPr>
                          <m:t>𝒅𝒙</m:t>
                        </m:r>
                        <m:r>
                          <a:rPr lang="en-US" altLang="zh-CN" sz="1400" i="1">
                            <a:latin typeface="Cambria Math" panose="02040503050406030204" pitchFamily="18" charset="0"/>
                          </a:rPr>
                          <m:t>=</m:t>
                        </m:r>
                        <m:f>
                          <m:fPr>
                            <m:ctrlPr>
                              <a:rPr lang="en-US" altLang="zh-CN" sz="1400" i="1">
                                <a:latin typeface="Cambria Math" panose="02040503050406030204" pitchFamily="18" charset="0"/>
                              </a:rPr>
                            </m:ctrlPr>
                          </m:fPr>
                          <m:num>
                            <m:r>
                              <a:rPr lang="zh-CN" altLang="en-US" sz="1400" i="1">
                                <a:latin typeface="Cambria Math" panose="02040503050406030204" pitchFamily="18" charset="0"/>
                              </a:rPr>
                              <m:t>𝝅</m:t>
                            </m:r>
                          </m:num>
                          <m:den>
                            <m:r>
                              <a:rPr lang="en-US" altLang="zh-CN" sz="1400" i="1">
                                <a:latin typeface="Cambria Math" panose="02040503050406030204" pitchFamily="18" charset="0"/>
                              </a:rPr>
                              <m:t>𝟐</m:t>
                            </m:r>
                          </m:den>
                        </m:f>
                      </m:e>
                    </m:nary>
                    <m:d>
                      <m:dPr>
                        <m:ctrlPr>
                          <a:rPr lang="en-US" altLang="zh-CN" sz="1400" i="1">
                            <a:latin typeface="Cambria Math" panose="02040503050406030204" pitchFamily="18" charset="0"/>
                          </a:rPr>
                        </m:ctrlPr>
                      </m:dPr>
                      <m:e>
                        <m:r>
                          <a:rPr lang="en-US" altLang="zh-CN" sz="1400" i="1">
                            <a:latin typeface="Cambria Math" panose="02040503050406030204" pitchFamily="18" charset="0"/>
                          </a:rPr>
                          <m:t>𝒂</m:t>
                        </m:r>
                        <m:r>
                          <a:rPr lang="en-US" altLang="zh-CN" sz="1400" i="1">
                            <a:latin typeface="Cambria Math" panose="02040503050406030204" pitchFamily="18" charset="0"/>
                          </a:rPr>
                          <m:t>&gt;</m:t>
                        </m:r>
                        <m:r>
                          <a:rPr lang="en-US" altLang="zh-CN" sz="1400" i="1">
                            <a:latin typeface="Cambria Math" panose="02040503050406030204" pitchFamily="18" charset="0"/>
                          </a:rPr>
                          <m:t>𝟎</m:t>
                        </m:r>
                      </m:e>
                    </m:d>
                  </m:oMath>
                </a14:m>
                <a:endParaRPr lang="zh-CN" altLang="en-US" dirty="0"/>
              </a:p>
            </p:txBody>
          </p:sp>
        </mc:Choice>
        <mc:Fallback xmlns="">
          <p:sp>
            <p:nvSpPr>
              <p:cNvPr id="10" name="文本框 9">
                <a:extLst>
                  <a:ext uri="{FF2B5EF4-FFF2-40B4-BE49-F238E27FC236}">
                    <a16:creationId xmlns:a16="http://schemas.microsoft.com/office/drawing/2014/main" id="{A43EF221-3AB1-4AFD-9054-4F54466216EA}"/>
                  </a:ext>
                </a:extLst>
              </p:cNvPr>
              <p:cNvSpPr txBox="1">
                <a:spLocks noRot="1" noChangeAspect="1" noMove="1" noResize="1" noEditPoints="1" noAdjustHandles="1" noChangeArrowheads="1" noChangeShapeType="1" noTextEdit="1"/>
              </p:cNvSpPr>
              <p:nvPr/>
            </p:nvSpPr>
            <p:spPr>
              <a:xfrm>
                <a:off x="899592" y="4625971"/>
                <a:ext cx="3672408" cy="818557"/>
              </a:xfrm>
              <a:prstGeom prst="rect">
                <a:avLst/>
              </a:prstGeom>
              <a:blipFill>
                <a:blip r:embed="rId8"/>
                <a:stretch>
                  <a:fillRect l="-1495" b="-70149"/>
                </a:stretch>
              </a:blipFill>
            </p:spPr>
            <p:txBody>
              <a:bodyPr/>
              <a:lstStyle/>
              <a:p>
                <a:r>
                  <a:rPr lang="zh-CN"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971" name="内容占位符 83970"/>
          <p:cNvGraphicFramePr>
            <a:graphicFrameLocks noGrp="1"/>
          </p:cNvGraphicFramePr>
          <p:nvPr>
            <p:ph sz="half" idx="2"/>
            <p:extLst>
              <p:ext uri="{D42A27DB-BD31-4B8C-83A1-F6EECF244321}">
                <p14:modId xmlns:p14="http://schemas.microsoft.com/office/powerpoint/2010/main" val="2902801302"/>
              </p:ext>
            </p:extLst>
          </p:nvPr>
        </p:nvGraphicFramePr>
        <p:xfrm>
          <a:off x="2339975" y="3284984"/>
          <a:ext cx="4464050" cy="2449513"/>
        </p:xfrm>
        <a:graphic>
          <a:graphicData uri="http://schemas.openxmlformats.org/presentationml/2006/ole">
            <mc:AlternateContent xmlns:mc="http://schemas.openxmlformats.org/markup-compatibility/2006">
              <mc:Choice xmlns:v="urn:schemas-microsoft-com:vml" Requires="v">
                <p:oleObj spid="_x0000_s10342" r:id="rId3" imgW="4813300" imgH="2641600" progId="Photoshop.Image.7">
                  <p:embed/>
                </p:oleObj>
              </mc:Choice>
              <mc:Fallback>
                <p:oleObj r:id="rId3" imgW="4813300" imgH="2641600" progId="Photoshop.Image.7">
                  <p:embed/>
                  <p:pic>
                    <p:nvPicPr>
                      <p:cNvPr id="83971" name="内容占位符 83970"/>
                      <p:cNvPicPr/>
                      <p:nvPr/>
                    </p:nvPicPr>
                    <p:blipFill>
                      <a:blip r:embed="rId4"/>
                      <a:stretch>
                        <a:fillRect/>
                      </a:stretch>
                    </p:blipFill>
                    <p:spPr>
                      <a:xfrm>
                        <a:off x="2339975" y="3284984"/>
                        <a:ext cx="4464050" cy="2449513"/>
                      </a:xfrm>
                      <a:prstGeom prst="rect">
                        <a:avLst/>
                      </a:prstGeom>
                      <a:noFill/>
                      <a:ln w="38100">
                        <a:miter/>
                      </a:ln>
                    </p:spPr>
                  </p:pic>
                </p:oleObj>
              </mc:Fallback>
            </mc:AlternateContent>
          </a:graphicData>
        </a:graphic>
      </p:graphicFrame>
      <p:graphicFrame>
        <p:nvGraphicFramePr>
          <p:cNvPr id="83972" name="内容占位符 83971"/>
          <p:cNvGraphicFramePr>
            <a:graphicFrameLocks noGrp="1"/>
          </p:cNvGraphicFramePr>
          <p:nvPr>
            <p:ph sz="half" idx="1"/>
            <p:extLst>
              <p:ext uri="{D42A27DB-BD31-4B8C-83A1-F6EECF244321}">
                <p14:modId xmlns:p14="http://schemas.microsoft.com/office/powerpoint/2010/main" val="744670047"/>
              </p:ext>
            </p:extLst>
          </p:nvPr>
        </p:nvGraphicFramePr>
        <p:xfrm>
          <a:off x="683568" y="476672"/>
          <a:ext cx="7632700" cy="2524125"/>
        </p:xfrm>
        <a:graphic>
          <a:graphicData uri="http://schemas.openxmlformats.org/presentationml/2006/ole">
            <mc:AlternateContent xmlns:mc="http://schemas.openxmlformats.org/markup-compatibility/2006">
              <mc:Choice xmlns:v="urn:schemas-microsoft-com:vml" Requires="v">
                <p:oleObj spid="_x0000_s10343" r:id="rId5" imgW="7950200" imgH="2628900" progId="Photoshop.Image.7">
                  <p:embed/>
                </p:oleObj>
              </mc:Choice>
              <mc:Fallback>
                <p:oleObj r:id="rId5" imgW="7950200" imgH="2628900" progId="Photoshop.Image.7">
                  <p:embed/>
                  <p:pic>
                    <p:nvPicPr>
                      <p:cNvPr id="83972" name="内容占位符 83971"/>
                      <p:cNvPicPr/>
                      <p:nvPr/>
                    </p:nvPicPr>
                    <p:blipFill>
                      <a:blip r:embed="rId6"/>
                      <a:stretch>
                        <a:fillRect/>
                      </a:stretch>
                    </p:blipFill>
                    <p:spPr>
                      <a:xfrm>
                        <a:off x="683568" y="476672"/>
                        <a:ext cx="7632700" cy="2524125"/>
                      </a:xfrm>
                      <a:prstGeom prst="rect">
                        <a:avLst/>
                      </a:prstGeom>
                      <a:noFill/>
                      <a:ln w="38100">
                        <a:miter/>
                      </a:ln>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995" name="内容占位符 84994"/>
          <p:cNvGraphicFramePr>
            <a:graphicFrameLocks noGrp="1"/>
          </p:cNvGraphicFramePr>
          <p:nvPr>
            <p:ph sz="half" idx="1"/>
            <p:extLst>
              <p:ext uri="{D42A27DB-BD31-4B8C-83A1-F6EECF244321}">
                <p14:modId xmlns:p14="http://schemas.microsoft.com/office/powerpoint/2010/main" val="1206581391"/>
              </p:ext>
            </p:extLst>
          </p:nvPr>
        </p:nvGraphicFramePr>
        <p:xfrm>
          <a:off x="1043781" y="764704"/>
          <a:ext cx="7056438" cy="2152650"/>
        </p:xfrm>
        <a:graphic>
          <a:graphicData uri="http://schemas.openxmlformats.org/presentationml/2006/ole">
            <mc:AlternateContent xmlns:mc="http://schemas.openxmlformats.org/markup-compatibility/2006">
              <mc:Choice xmlns:v="urn:schemas-microsoft-com:vml" Requires="v">
                <p:oleObj spid="_x0000_s11366" r:id="rId3" imgW="7874000" imgH="2400300" progId="Photoshop.Image.7">
                  <p:embed/>
                </p:oleObj>
              </mc:Choice>
              <mc:Fallback>
                <p:oleObj r:id="rId3" imgW="7874000" imgH="2400300" progId="Photoshop.Image.7">
                  <p:embed/>
                  <p:pic>
                    <p:nvPicPr>
                      <p:cNvPr id="84995" name="内容占位符 84994"/>
                      <p:cNvPicPr/>
                      <p:nvPr/>
                    </p:nvPicPr>
                    <p:blipFill>
                      <a:blip r:embed="rId4"/>
                      <a:stretch>
                        <a:fillRect/>
                      </a:stretch>
                    </p:blipFill>
                    <p:spPr>
                      <a:xfrm>
                        <a:off x="1043781" y="764704"/>
                        <a:ext cx="7056438" cy="2152650"/>
                      </a:xfrm>
                      <a:prstGeom prst="rect">
                        <a:avLst/>
                      </a:prstGeom>
                      <a:noFill/>
                      <a:ln w="38100">
                        <a:miter/>
                      </a:ln>
                    </p:spPr>
                  </p:pic>
                </p:oleObj>
              </mc:Fallback>
            </mc:AlternateContent>
          </a:graphicData>
        </a:graphic>
      </p:graphicFrame>
      <p:graphicFrame>
        <p:nvGraphicFramePr>
          <p:cNvPr id="84996" name="内容占位符 84995"/>
          <p:cNvGraphicFramePr>
            <a:graphicFrameLocks noGrp="1"/>
          </p:cNvGraphicFramePr>
          <p:nvPr>
            <p:ph sz="half" idx="2"/>
            <p:extLst>
              <p:ext uri="{D42A27DB-BD31-4B8C-83A1-F6EECF244321}">
                <p14:modId xmlns:p14="http://schemas.microsoft.com/office/powerpoint/2010/main" val="1388500044"/>
              </p:ext>
            </p:extLst>
          </p:nvPr>
        </p:nvGraphicFramePr>
        <p:xfrm>
          <a:off x="2447925" y="3068960"/>
          <a:ext cx="4248150" cy="2822575"/>
        </p:xfrm>
        <a:graphic>
          <a:graphicData uri="http://schemas.openxmlformats.org/presentationml/2006/ole">
            <mc:AlternateContent xmlns:mc="http://schemas.openxmlformats.org/markup-compatibility/2006">
              <mc:Choice xmlns:v="urn:schemas-microsoft-com:vml" Requires="v">
                <p:oleObj spid="_x0000_s11367" r:id="rId5" imgW="5257800" imgH="3492500" progId="Photoshop.Image.7">
                  <p:embed/>
                </p:oleObj>
              </mc:Choice>
              <mc:Fallback>
                <p:oleObj r:id="rId5" imgW="5257800" imgH="3492500" progId="Photoshop.Image.7">
                  <p:embed/>
                  <p:pic>
                    <p:nvPicPr>
                      <p:cNvPr id="84996" name="内容占位符 84995"/>
                      <p:cNvPicPr/>
                      <p:nvPr/>
                    </p:nvPicPr>
                    <p:blipFill>
                      <a:blip r:embed="rId6"/>
                      <a:stretch>
                        <a:fillRect/>
                      </a:stretch>
                    </p:blipFill>
                    <p:spPr>
                      <a:xfrm>
                        <a:off x="2447925" y="3068960"/>
                        <a:ext cx="4248150" cy="2822575"/>
                      </a:xfrm>
                      <a:prstGeom prst="rect">
                        <a:avLst/>
                      </a:prstGeom>
                      <a:noFill/>
                      <a:ln w="38100">
                        <a:miter/>
                      </a:ln>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019" name="内容占位符 86018"/>
          <p:cNvGraphicFramePr>
            <a:graphicFrameLocks noGrp="1"/>
          </p:cNvGraphicFramePr>
          <p:nvPr>
            <p:ph idx="1"/>
            <p:extLst>
              <p:ext uri="{D42A27DB-BD31-4B8C-83A1-F6EECF244321}">
                <p14:modId xmlns:p14="http://schemas.microsoft.com/office/powerpoint/2010/main" val="1187095498"/>
              </p:ext>
            </p:extLst>
          </p:nvPr>
        </p:nvGraphicFramePr>
        <p:xfrm>
          <a:off x="686594" y="248260"/>
          <a:ext cx="7770812" cy="3672408"/>
        </p:xfrm>
        <a:graphic>
          <a:graphicData uri="http://schemas.openxmlformats.org/presentationml/2006/ole">
            <mc:AlternateContent xmlns:mc="http://schemas.openxmlformats.org/markup-compatibility/2006">
              <mc:Choice xmlns:v="urn:schemas-microsoft-com:vml" Requires="v">
                <p:oleObj spid="_x0000_s12340" r:id="rId3" imgW="7772400" imgH="3492500" progId="Photoshop.Image.7">
                  <p:embed/>
                </p:oleObj>
              </mc:Choice>
              <mc:Fallback>
                <p:oleObj r:id="rId3" imgW="7772400" imgH="3492500" progId="Photoshop.Image.7">
                  <p:embed/>
                  <p:pic>
                    <p:nvPicPr>
                      <p:cNvPr id="86019" name="内容占位符 86018"/>
                      <p:cNvPicPr/>
                      <p:nvPr/>
                    </p:nvPicPr>
                    <p:blipFill>
                      <a:blip r:embed="rId4"/>
                      <a:stretch>
                        <a:fillRect/>
                      </a:stretch>
                    </p:blipFill>
                    <p:spPr>
                      <a:xfrm>
                        <a:off x="686594" y="248260"/>
                        <a:ext cx="7770812" cy="3672408"/>
                      </a:xfrm>
                      <a:prstGeom prst="rect">
                        <a:avLst/>
                      </a:prstGeom>
                      <a:noFill/>
                      <a:ln w="38100">
                        <a:miter/>
                      </a:ln>
                    </p:spPr>
                  </p:pic>
                </p:oleObj>
              </mc:Fallback>
            </mc:AlternateContent>
          </a:graphicData>
        </a:graphic>
      </p:graphicFrame>
      <p:grpSp>
        <p:nvGrpSpPr>
          <p:cNvPr id="7" name="组合 6">
            <a:extLst>
              <a:ext uri="{FF2B5EF4-FFF2-40B4-BE49-F238E27FC236}">
                <a16:creationId xmlns:a16="http://schemas.microsoft.com/office/drawing/2014/main" id="{CD3EC06C-ACBB-4866-8DD0-6671AF204AE3}"/>
              </a:ext>
            </a:extLst>
          </p:cNvPr>
          <p:cNvGrpSpPr/>
          <p:nvPr/>
        </p:nvGrpSpPr>
        <p:grpSpPr>
          <a:xfrm>
            <a:off x="1547664" y="3886057"/>
            <a:ext cx="4968552" cy="2446568"/>
            <a:chOff x="5664326" y="2926733"/>
            <a:chExt cx="6426877" cy="3256117"/>
          </a:xfrm>
        </p:grpSpPr>
        <p:pic>
          <p:nvPicPr>
            <p:cNvPr id="8" name="图片 7">
              <a:extLst>
                <a:ext uri="{FF2B5EF4-FFF2-40B4-BE49-F238E27FC236}">
                  <a16:creationId xmlns:a16="http://schemas.microsoft.com/office/drawing/2014/main" id="{026A9F8D-DB6D-46D6-9416-C8826396A626}"/>
                </a:ext>
              </a:extLst>
            </p:cNvPr>
            <p:cNvPicPr>
              <a:picLocks noChangeAspect="1"/>
            </p:cNvPicPr>
            <p:nvPr/>
          </p:nvPicPr>
          <p:blipFill>
            <a:blip r:embed="rId5"/>
            <a:stretch>
              <a:fillRect/>
            </a:stretch>
          </p:blipFill>
          <p:spPr>
            <a:xfrm>
              <a:off x="5664326" y="2926733"/>
              <a:ext cx="6426877" cy="3256117"/>
            </a:xfrm>
            <a:prstGeom prst="rect">
              <a:avLst/>
            </a:prstGeom>
          </p:spPr>
        </p:pic>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1BF4F516-D9D8-4D5B-9ED2-ACA25C901595}"/>
                    </a:ext>
                  </a:extLst>
                </p:cNvPr>
                <p:cNvSpPr/>
                <p:nvPr/>
              </p:nvSpPr>
              <p:spPr>
                <a:xfrm>
                  <a:off x="7417332" y="4300778"/>
                  <a:ext cx="4437676" cy="491541"/>
                </a:xfrm>
                <a:prstGeom prst="rect">
                  <a:avLst/>
                </a:prstGeom>
              </p:spPr>
              <p:txBody>
                <a:bodyPr wrap="none">
                  <a:spAutoFit/>
                </a:bodyPr>
                <a:lstStyle/>
                <a:p>
                  <a14:m>
                    <m:oMath xmlns:m="http://schemas.openxmlformats.org/officeDocument/2006/math">
                      <m:sSub>
                        <m:sSubPr>
                          <m:ctrlPr>
                            <a:rPr lang="en-US" altLang="zh-CN" i="1" smtClean="0">
                              <a:solidFill>
                                <a:schemeClr val="accent2"/>
                              </a:solidFill>
                              <a:latin typeface="Cambria Math" panose="02040503050406030204" pitchFamily="18" charset="0"/>
                            </a:rPr>
                          </m:ctrlPr>
                        </m:sSubPr>
                        <m:e>
                          <m:r>
                            <a:rPr lang="en-US" altLang="zh-CN" b="1" i="1">
                              <a:solidFill>
                                <a:schemeClr val="accent2"/>
                              </a:solidFill>
                              <a:latin typeface="Cambria Math" panose="02040503050406030204" pitchFamily="18" charset="0"/>
                            </a:rPr>
                            <m:t>𝑹</m:t>
                          </m:r>
                        </m:e>
                        <m:sub>
                          <m:r>
                            <a:rPr lang="en-US" altLang="zh-CN" b="1" i="1">
                              <a:solidFill>
                                <a:schemeClr val="accent2"/>
                              </a:solidFill>
                              <a:latin typeface="Cambria Math" panose="02040503050406030204" pitchFamily="18" charset="0"/>
                            </a:rPr>
                            <m:t>𝒀</m:t>
                          </m:r>
                        </m:sub>
                      </m:sSub>
                      <m:d>
                        <m:dPr>
                          <m:ctrlPr>
                            <a:rPr lang="en-US" altLang="zh-CN" b="1" i="1">
                              <a:solidFill>
                                <a:schemeClr val="accent2"/>
                              </a:solidFill>
                              <a:latin typeface="Cambria Math" panose="02040503050406030204" pitchFamily="18" charset="0"/>
                            </a:rPr>
                          </m:ctrlPr>
                        </m:dPr>
                        <m:e>
                          <m:r>
                            <a:rPr lang="zh-CN" altLang="en-US" b="1" i="1">
                              <a:solidFill>
                                <a:schemeClr val="accent2"/>
                              </a:solidFill>
                              <a:latin typeface="Cambria Math" panose="02040503050406030204" pitchFamily="18" charset="0"/>
                            </a:rPr>
                            <m:t>𝝉</m:t>
                          </m:r>
                        </m:e>
                      </m:d>
                    </m:oMath>
                  </a14:m>
                  <a:r>
                    <a:rPr lang="zh-CN" altLang="en-US" dirty="0"/>
                    <a:t> ，</a:t>
                  </a:r>
                  <a:r>
                    <a:rPr lang="en-US" altLang="zh-CN" i="1" dirty="0"/>
                    <a:t>W </a:t>
                  </a:r>
                  <a:r>
                    <a:rPr lang="en-US" altLang="zh-CN" dirty="0"/>
                    <a:t>=1</a:t>
                  </a:r>
                  <a:r>
                    <a:rPr lang="zh-CN" altLang="en-US" dirty="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𝑵</m:t>
                          </m:r>
                        </m:e>
                        <m:sub>
                          <m:r>
                            <a:rPr lang="en-US" altLang="zh-CN" i="1">
                              <a:latin typeface="Cambria Math" panose="02040503050406030204" pitchFamily="18" charset="0"/>
                            </a:rPr>
                            <m:t>𝟎</m:t>
                          </m:r>
                        </m:sub>
                      </m:sSub>
                    </m:oMath>
                  </a14:m>
                  <a:r>
                    <a:rPr lang="en-US" altLang="zh-CN" dirty="0"/>
                    <a:t>=1,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=10</m:t>
                      </m:r>
                    </m:oMath>
                  </a14:m>
                  <a:endParaRPr lang="zh-CN" altLang="en-US" dirty="0"/>
                </a:p>
              </p:txBody>
            </p:sp>
          </mc:Choice>
          <mc:Fallback xmlns="">
            <p:sp>
              <p:nvSpPr>
                <p:cNvPr id="4" name="矩形 3">
                  <a:extLst>
                    <a:ext uri="{FF2B5EF4-FFF2-40B4-BE49-F238E27FC236}">
                      <a16:creationId xmlns:a16="http://schemas.microsoft.com/office/drawing/2014/main" id="{8FB28003-9E77-4BF1-9B93-742F3D98CA70}"/>
                    </a:ext>
                  </a:extLst>
                </p:cNvPr>
                <p:cNvSpPr>
                  <a:spLocks noRot="1" noChangeAspect="1" noMove="1" noResize="1" noEditPoints="1" noAdjustHandles="1" noChangeArrowheads="1" noChangeShapeType="1" noTextEdit="1"/>
                </p:cNvSpPr>
                <p:nvPr/>
              </p:nvSpPr>
              <p:spPr>
                <a:xfrm>
                  <a:off x="7417332" y="4300778"/>
                  <a:ext cx="4437676" cy="491541"/>
                </a:xfrm>
                <a:prstGeom prst="rect">
                  <a:avLst/>
                </a:prstGeom>
                <a:blipFill>
                  <a:blip r:embed="rId6"/>
                  <a:stretch>
                    <a:fillRect t="-10000" b="-26667"/>
                  </a:stretch>
                </a:blipFill>
              </p:spPr>
              <p:txBody>
                <a:bodyPr/>
                <a:lstStyle/>
                <a:p>
                  <a:r>
                    <a:rPr lang="zh-CN" altLang="en-US">
                      <a:noFill/>
                    </a:rPr>
                    <a:t> </a:t>
                  </a:r>
                </a:p>
              </p:txBody>
            </p:sp>
          </mc:Fallback>
        </mc:AlternateContent>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4EFA3039-ADD7-4D95-B9A8-2BADCA89E942}"/>
                  </a:ext>
                </a:extLst>
              </p:cNvPr>
              <p:cNvSpPr>
                <a:spLocks noGrp="1"/>
              </p:cNvSpPr>
              <p:nvPr>
                <p:ph idx="1"/>
              </p:nvPr>
            </p:nvSpPr>
            <p:spPr>
              <a:xfrm>
                <a:off x="256309" y="973814"/>
                <a:ext cx="8541328" cy="4815654"/>
              </a:xfrm>
            </p:spPr>
            <p:txBody>
              <a:bodyPr/>
              <a:lstStyle/>
              <a:p>
                <a:pPr marL="0" indent="0">
                  <a:lnSpc>
                    <a:spcPct val="150000"/>
                  </a:lnSpc>
                  <a:buNone/>
                </a:pPr>
                <a:r>
                  <a:rPr lang="en-US" altLang="zh-CN" dirty="0">
                    <a:solidFill>
                      <a:srgbClr val="FF0000"/>
                    </a:solidFill>
                  </a:rPr>
                  <a:t>5.2.3 </a:t>
                </a:r>
                <a:r>
                  <a:rPr lang="zh-CN" altLang="en-US" dirty="0">
                    <a:solidFill>
                      <a:srgbClr val="FF0000"/>
                    </a:solidFill>
                  </a:rPr>
                  <a:t>系统的等效噪声带宽（根据系统的功率传输函数计算）</a:t>
                </a:r>
                <a:endParaRPr lang="en-US" altLang="zh-CN" dirty="0">
                  <a:solidFill>
                    <a:srgbClr val="FF0000"/>
                  </a:solidFill>
                </a:endParaRPr>
              </a:p>
              <a:p>
                <a:pPr>
                  <a:lnSpc>
                    <a:spcPct val="150000"/>
                  </a:lnSpc>
                  <a:buFont typeface="Wingdings" panose="05000000000000000000" pitchFamily="2" charset="2"/>
                  <a:buChar char="p"/>
                </a:pPr>
                <a:r>
                  <a:rPr lang="zh-CN" altLang="en-US" dirty="0"/>
                  <a:t>若</a:t>
                </a:r>
                <a:r>
                  <a:rPr lang="en-US" altLang="zh-CN" dirty="0"/>
                  <a:t>LTI</a:t>
                </a:r>
                <a:r>
                  <a:rPr lang="zh-CN" altLang="en-US" dirty="0"/>
                  <a:t>系统不是理想滤波器，系统输入为白噪声时，则输出信号的功率为</a:t>
                </a: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𝑷</m:t>
                        </m:r>
                      </m:e>
                      <m:sub>
                        <m:r>
                          <a:rPr lang="en-US" altLang="zh-CN" i="1">
                            <a:solidFill>
                              <a:schemeClr val="tx1"/>
                            </a:solidFill>
                            <a:latin typeface="Cambria Math" panose="02040503050406030204" pitchFamily="18" charset="0"/>
                          </a:rPr>
                          <m:t>𝒀</m:t>
                        </m:r>
                      </m:sub>
                    </m:sSub>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𝑹</m:t>
                        </m:r>
                      </m:e>
                      <m:sub>
                        <m:r>
                          <a:rPr lang="en-US" altLang="zh-CN" i="1">
                            <a:solidFill>
                              <a:schemeClr val="tx1"/>
                            </a:solidFill>
                            <a:latin typeface="Cambria Math" panose="02040503050406030204" pitchFamily="18" charset="0"/>
                          </a:rPr>
                          <m:t>𝒀</m:t>
                        </m:r>
                      </m:sub>
                    </m:sSub>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𝟎</m:t>
                        </m:r>
                      </m:e>
                    </m:d>
                    <m:r>
                      <a:rPr lang="en-US" altLang="zh-CN"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𝑵</m:t>
                            </m:r>
                          </m:e>
                          <m:sub>
                            <m:r>
                              <a:rPr lang="en-US" altLang="zh-CN" i="1">
                                <a:solidFill>
                                  <a:schemeClr val="tx1"/>
                                </a:solidFill>
                                <a:latin typeface="Cambria Math" panose="02040503050406030204" pitchFamily="18" charset="0"/>
                              </a:rPr>
                              <m:t>𝟎</m:t>
                            </m:r>
                          </m:sub>
                        </m:sSub>
                      </m:num>
                      <m:den>
                        <m:r>
                          <a:rPr lang="en-US" altLang="zh-CN" i="1">
                            <a:solidFill>
                              <a:schemeClr val="tx1"/>
                            </a:solidFill>
                            <a:latin typeface="Cambria Math" panose="02040503050406030204" pitchFamily="18" charset="0"/>
                          </a:rPr>
                          <m:t>𝟐</m:t>
                        </m:r>
                      </m:den>
                    </m:f>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𝑹</m:t>
                        </m:r>
                      </m:e>
                      <m:sub>
                        <m:r>
                          <a:rPr lang="en-US" altLang="zh-CN" i="1">
                            <a:solidFill>
                              <a:schemeClr val="tx1"/>
                            </a:solidFill>
                            <a:latin typeface="Cambria Math" panose="02040503050406030204" pitchFamily="18" charset="0"/>
                          </a:rPr>
                          <m:t>𝒉</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𝟎</m:t>
                    </m:r>
                    <m:r>
                      <a:rPr lang="en-US" altLang="zh-CN" i="1">
                        <a:solidFill>
                          <a:schemeClr val="tx1"/>
                        </a:solidFill>
                        <a:latin typeface="Cambria Math" panose="02040503050406030204" pitchFamily="18" charset="0"/>
                      </a:rPr>
                      <m:t>)</m:t>
                    </m:r>
                  </m:oMath>
                </a14:m>
                <a:r>
                  <a:rPr lang="zh-CN" altLang="en-US" dirty="0">
                    <a:solidFill>
                      <a:schemeClr val="tx1"/>
                    </a:solidFill>
                  </a:rPr>
                  <a:t>，</a:t>
                </a:r>
                <a14:m>
                  <m:oMath xmlns:m="http://schemas.openxmlformats.org/officeDocument/2006/math">
                    <m:sSub>
                      <m:sSubPr>
                        <m:ctrlPr>
                          <a:rPr lang="en-US"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𝑹</m:t>
                        </m:r>
                      </m:e>
                      <m:sub>
                        <m:r>
                          <a:rPr lang="en-US" altLang="zh-CN" i="1">
                            <a:solidFill>
                              <a:srgbClr val="FF0000"/>
                            </a:solidFill>
                            <a:latin typeface="Cambria Math" panose="02040503050406030204" pitchFamily="18" charset="0"/>
                          </a:rPr>
                          <m:t>𝒉</m:t>
                        </m:r>
                      </m:sub>
                    </m:sSub>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𝝉</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𝒉</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𝝉</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𝒉</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𝝉</m:t>
                    </m:r>
                    <m:r>
                      <a:rPr lang="en-US" altLang="zh-CN" i="1">
                        <a:solidFill>
                          <a:srgbClr val="FF0000"/>
                        </a:solidFill>
                        <a:latin typeface="Cambria Math" panose="02040503050406030204" pitchFamily="18" charset="0"/>
                      </a:rPr>
                      <m:t>)</m:t>
                    </m:r>
                  </m:oMath>
                </a14:m>
                <a:endParaRPr lang="en-US" altLang="zh-CN" dirty="0">
                  <a:solidFill>
                    <a:schemeClr val="tx1"/>
                  </a:solidFill>
                </a:endParaRPr>
              </a:p>
              <a:p>
                <a:pPr>
                  <a:lnSpc>
                    <a:spcPct val="150000"/>
                  </a:lnSpc>
                  <a:buFont typeface="Wingdings" panose="05000000000000000000" pitchFamily="2" charset="2"/>
                  <a:buChar char="p"/>
                </a:pPr>
                <a:r>
                  <a:rPr lang="zh-CN" altLang="en-US" dirty="0">
                    <a:solidFill>
                      <a:schemeClr val="tx1"/>
                    </a:solidFill>
                  </a:rPr>
                  <a:t>为快速计算功率，等效为理想滤波器，定义</a:t>
                </a:r>
                <a:r>
                  <a:rPr lang="zh-CN" altLang="en-US" dirty="0">
                    <a:solidFill>
                      <a:schemeClr val="tx1"/>
                    </a:solidFill>
                    <a:highlight>
                      <a:srgbClr val="FFFF00"/>
                    </a:highlight>
                  </a:rPr>
                  <a:t>等效噪声带宽 </a:t>
                </a:r>
                <a14:m>
                  <m:oMath xmlns:m="http://schemas.openxmlformats.org/officeDocument/2006/math">
                    <m:sSub>
                      <m:sSubPr>
                        <m:ctrlPr>
                          <a:rPr lang="en-US" altLang="zh-CN" i="1" smtClean="0">
                            <a:solidFill>
                              <a:schemeClr val="tx1"/>
                            </a:solidFill>
                            <a:highlight>
                              <a:srgbClr val="FFFF00"/>
                            </a:highlight>
                            <a:latin typeface="Cambria Math" panose="02040503050406030204" pitchFamily="18" charset="0"/>
                          </a:rPr>
                        </m:ctrlPr>
                      </m:sSubPr>
                      <m:e>
                        <m:r>
                          <m:rPr>
                            <m:nor/>
                          </m:rPr>
                          <a:rPr lang="en-US" altLang="zh-CN" dirty="0">
                            <a:solidFill>
                              <a:schemeClr val="tx1"/>
                            </a:solidFill>
                            <a:highlight>
                              <a:srgbClr val="FFFF00"/>
                            </a:highlight>
                          </a:rPr>
                          <m:t>B</m:t>
                        </m:r>
                      </m:e>
                      <m:sub>
                        <m:r>
                          <a:rPr lang="en-US" altLang="zh-CN" b="1" i="1" smtClean="0">
                            <a:solidFill>
                              <a:schemeClr val="tx1"/>
                            </a:solidFill>
                            <a:highlight>
                              <a:srgbClr val="FFFF00"/>
                            </a:highlight>
                            <a:latin typeface="Cambria Math" panose="02040503050406030204" pitchFamily="18" charset="0"/>
                          </a:rPr>
                          <m:t>𝑵</m:t>
                        </m:r>
                      </m:sub>
                    </m:sSub>
                  </m:oMath>
                </a14:m>
                <a:r>
                  <a:rPr lang="zh-CN" altLang="en-US" dirty="0">
                    <a:solidFill>
                      <a:schemeClr val="tx1"/>
                    </a:solidFill>
                  </a:rPr>
                  <a:t> </a:t>
                </a:r>
                <a:r>
                  <a:rPr lang="zh-CN" altLang="en-US" dirty="0">
                    <a:solidFill>
                      <a:schemeClr val="tx1"/>
                    </a:solidFill>
                    <a:highlight>
                      <a:srgbClr val="FFFF00"/>
                    </a:highlight>
                  </a:rPr>
                  <a:t>（正频率）</a:t>
                </a:r>
                <a:r>
                  <a:rPr lang="zh-CN" altLang="en-US" dirty="0">
                    <a:solidFill>
                      <a:schemeClr val="tx1"/>
                    </a:solidFill>
                  </a:rPr>
                  <a:t>，功率表示为   </a:t>
                </a: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𝑷</m:t>
                        </m:r>
                      </m:e>
                      <m:sub>
                        <m:r>
                          <a:rPr lang="en-US" altLang="zh-CN" b="1" i="1" smtClean="0">
                            <a:solidFill>
                              <a:schemeClr val="tx1"/>
                            </a:solidFill>
                            <a:latin typeface="Cambria Math" panose="02040503050406030204" pitchFamily="18" charset="0"/>
                          </a:rPr>
                          <m:t>𝒀</m:t>
                        </m:r>
                      </m:sub>
                    </m:sSub>
                    <m:r>
                      <a:rPr lang="en-US" altLang="zh-CN" b="1" i="1" smtClean="0">
                        <a:solidFill>
                          <a:schemeClr val="tx1"/>
                        </a:solidFill>
                        <a:latin typeface="Cambria Math" panose="02040503050406030204" pitchFamily="18" charset="0"/>
                      </a:rPr>
                      <m:t>=</m:t>
                    </m:r>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𝑵</m:t>
                        </m:r>
                      </m:e>
                      <m:sub>
                        <m:r>
                          <a:rPr lang="en-US" altLang="zh-CN" b="1" i="1" smtClean="0">
                            <a:solidFill>
                              <a:schemeClr val="tx1"/>
                            </a:solidFill>
                            <a:latin typeface="Cambria Math" panose="02040503050406030204" pitchFamily="18" charset="0"/>
                          </a:rPr>
                          <m:t>𝟎</m:t>
                        </m:r>
                      </m:sub>
                    </m:sSub>
                    <m:sSub>
                      <m:sSubPr>
                        <m:ctrlPr>
                          <a:rPr lang="en-US" altLang="zh-CN" b="1"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𝑩</m:t>
                        </m:r>
                      </m:e>
                      <m:sub>
                        <m:r>
                          <a:rPr lang="en-US" altLang="zh-CN" b="1" i="1" smtClean="0">
                            <a:solidFill>
                              <a:schemeClr val="tx1"/>
                            </a:solidFill>
                            <a:latin typeface="Cambria Math" panose="02040503050406030204" pitchFamily="18" charset="0"/>
                          </a:rPr>
                          <m:t>𝑵</m:t>
                        </m:r>
                      </m:sub>
                    </m:sSub>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𝑮</m:t>
                        </m:r>
                      </m:e>
                      <m:sub>
                        <m:r>
                          <a:rPr lang="en-US" altLang="zh-CN" b="1" i="1" smtClean="0">
                            <a:solidFill>
                              <a:schemeClr val="tx1"/>
                            </a:solidFill>
                            <a:latin typeface="Cambria Math" panose="02040503050406030204" pitchFamily="18" charset="0"/>
                          </a:rPr>
                          <m:t>𝟎</m:t>
                        </m:r>
                      </m:sub>
                    </m:sSub>
                  </m:oMath>
                </a14:m>
                <a:endParaRPr lang="en-US" altLang="zh-CN" b="1" dirty="0">
                  <a:solidFill>
                    <a:schemeClr val="tx1"/>
                  </a:solidFill>
                </a:endParaRPr>
              </a:p>
              <a:p>
                <a:pPr marL="0" indent="0">
                  <a:lnSpc>
                    <a:spcPct val="150000"/>
                  </a:lnSpc>
                  <a:buNone/>
                </a:pPr>
                <a:r>
                  <a:rPr lang="zh-CN" altLang="en-US" dirty="0">
                    <a:solidFill>
                      <a:schemeClr val="tx1"/>
                    </a:solidFill>
                  </a:rPr>
                  <a:t>其中</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𝑮</m:t>
                        </m:r>
                      </m:e>
                      <m:sub>
                        <m:r>
                          <a:rPr lang="en-US" altLang="zh-CN" i="1">
                            <a:solidFill>
                              <a:schemeClr val="tx1"/>
                            </a:solidFill>
                            <a:latin typeface="Cambria Math" panose="02040503050406030204" pitchFamily="18" charset="0"/>
                          </a:rPr>
                          <m:t>𝟎</m:t>
                        </m:r>
                      </m:sub>
                    </m:sSub>
                    <m:r>
                      <a:rPr lang="en-US" altLang="zh-CN" b="1" i="1" smtClean="0">
                        <a:solidFill>
                          <a:schemeClr val="tx1"/>
                        </a:solidFill>
                        <a:latin typeface="Cambria Math" panose="02040503050406030204" pitchFamily="18" charset="0"/>
                      </a:rPr>
                      <m:t>=</m:t>
                    </m:r>
                    <m:sSup>
                      <m:sSupPr>
                        <m:ctrlPr>
                          <a:rPr lang="en-US" altLang="zh-CN" b="1" i="1" smtClean="0">
                            <a:solidFill>
                              <a:schemeClr val="tx1"/>
                            </a:solidFill>
                            <a:latin typeface="Cambria Math" panose="02040503050406030204" pitchFamily="18" charset="0"/>
                          </a:rPr>
                        </m:ctrlPr>
                      </m:sSupPr>
                      <m:e>
                        <m:d>
                          <m:dPr>
                            <m:begChr m:val="|"/>
                            <m:endChr m:val="|"/>
                            <m:ctrlPr>
                              <a:rPr lang="en-US" altLang="zh-CN" b="1"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𝑯</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𝒋</m:t>
                            </m:r>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𝝎</m:t>
                                </m:r>
                              </m:e>
                              <m:sub>
                                <m:r>
                                  <a:rPr lang="en-US" altLang="zh-CN" b="1" i="1" smtClean="0">
                                    <a:solidFill>
                                      <a:schemeClr val="tx1"/>
                                    </a:solidFill>
                                    <a:latin typeface="Cambria Math" panose="02040503050406030204" pitchFamily="18" charset="0"/>
                                  </a:rPr>
                                  <m:t>𝟎</m:t>
                                </m:r>
                              </m:sub>
                            </m:sSub>
                            <m:r>
                              <a:rPr lang="en-US" altLang="zh-CN" b="1" i="1" smtClean="0">
                                <a:solidFill>
                                  <a:schemeClr val="tx1"/>
                                </a:solidFill>
                                <a:latin typeface="Cambria Math" panose="02040503050406030204" pitchFamily="18" charset="0"/>
                              </a:rPr>
                              <m:t>)</m:t>
                            </m:r>
                          </m:e>
                        </m:d>
                      </m:e>
                      <m:sup>
                        <m:r>
                          <a:rPr lang="en-US" altLang="zh-CN" b="1" i="1" smtClean="0">
                            <a:solidFill>
                              <a:schemeClr val="tx1"/>
                            </a:solidFill>
                            <a:latin typeface="Cambria Math" panose="02040503050406030204" pitchFamily="18" charset="0"/>
                          </a:rPr>
                          <m:t>𝟐</m:t>
                        </m:r>
                      </m:sup>
                    </m:sSup>
                  </m:oMath>
                </a14:m>
                <a:r>
                  <a:rPr lang="zh-CN" altLang="en-US" dirty="0"/>
                  <a:t>功率增益</a:t>
                </a:r>
                <a:r>
                  <a:rPr lang="zh-CN" altLang="en-US" dirty="0">
                    <a:solidFill>
                      <a:schemeClr val="tx1"/>
                    </a:solidFill>
                  </a:rPr>
                  <a:t>，</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𝝎</m:t>
                        </m:r>
                      </m:e>
                      <m:sub>
                        <m:r>
                          <a:rPr lang="en-US" altLang="zh-CN" i="1">
                            <a:latin typeface="Cambria Math" panose="02040503050406030204" pitchFamily="18" charset="0"/>
                          </a:rPr>
                          <m:t>𝟎</m:t>
                        </m:r>
                      </m:sub>
                    </m:sSub>
                  </m:oMath>
                </a14:m>
                <a:r>
                  <a:rPr lang="zh-CN" altLang="en-US" dirty="0">
                    <a:solidFill>
                      <a:schemeClr val="tx1"/>
                    </a:solidFill>
                  </a:rPr>
                  <a:t>：带通系统为中心频率，低通系统为</a:t>
                </a:r>
                <a:r>
                  <a:rPr lang="en-US" altLang="zh-CN" dirty="0">
                    <a:solidFill>
                      <a:schemeClr val="tx1"/>
                    </a:solidFill>
                  </a:rPr>
                  <a:t>0</a:t>
                </a:r>
                <a:r>
                  <a:rPr lang="zh-CN" altLang="en-US" dirty="0">
                    <a:solidFill>
                      <a:schemeClr val="tx1"/>
                    </a:solidFill>
                  </a:rPr>
                  <a:t>。</a:t>
                </a:r>
                <a:r>
                  <a:rPr lang="zh-CN" altLang="en-US" dirty="0"/>
                  <a:t>从而</a:t>
                </a:r>
                <a:endParaRPr lang="en-US" altLang="zh-CN"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𝑩</m:t>
                          </m:r>
                        </m:e>
                        <m:sub>
                          <m:r>
                            <a:rPr lang="en-US" altLang="zh-CN" i="1">
                              <a:latin typeface="Cambria Math" panose="02040503050406030204" pitchFamily="18" charset="0"/>
                            </a:rPr>
                            <m:t>𝑵</m:t>
                          </m:r>
                        </m:sub>
                      </m:sSub>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𝑷</m:t>
                              </m:r>
                            </m:e>
                            <m:sub>
                              <m:r>
                                <a:rPr lang="en-US" altLang="zh-CN" i="1">
                                  <a:latin typeface="Cambria Math" panose="02040503050406030204" pitchFamily="18" charset="0"/>
                                </a:rPr>
                                <m:t>𝒀</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𝑵</m:t>
                              </m:r>
                            </m:e>
                            <m:sub>
                              <m:r>
                                <a:rPr lang="en-US" altLang="zh-CN" i="1">
                                  <a:latin typeface="Cambria Math" panose="02040503050406030204" pitchFamily="18" charset="0"/>
                                </a:rPr>
                                <m:t>𝟎</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𝑮</m:t>
                              </m:r>
                            </m:e>
                            <m:sub>
                              <m:r>
                                <a:rPr lang="en-US" altLang="zh-CN" i="1">
                                  <a:latin typeface="Cambria Math" panose="02040503050406030204" pitchFamily="18" charset="0"/>
                                </a:rPr>
                                <m:t>𝟎</m:t>
                              </m:r>
                            </m:sub>
                          </m:sSub>
                        </m:den>
                      </m:f>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𝒉</m:t>
                              </m:r>
                            </m:sub>
                          </m:sSub>
                          <m:r>
                            <a:rPr lang="en-US" altLang="zh-CN" i="1">
                              <a:latin typeface="Cambria Math" panose="02040503050406030204" pitchFamily="18" charset="0"/>
                            </a:rPr>
                            <m:t>(</m:t>
                          </m:r>
                          <m:r>
                            <a:rPr lang="en-US" altLang="zh-CN" i="1">
                              <a:latin typeface="Cambria Math" panose="02040503050406030204" pitchFamily="18" charset="0"/>
                            </a:rPr>
                            <m:t>𝟎</m:t>
                          </m:r>
                          <m:r>
                            <a:rPr lang="en-US" altLang="zh-CN" i="1">
                              <a:latin typeface="Cambria Math" panose="02040503050406030204" pitchFamily="18" charset="0"/>
                            </a:rPr>
                            <m:t>)</m:t>
                          </m:r>
                          <m:r>
                            <m:rPr>
                              <m:nor/>
                            </m:rPr>
                            <a:rPr lang="en-US" altLang="zh-CN" dirty="0"/>
                            <m:t> </m:t>
                          </m:r>
                        </m:num>
                        <m:den>
                          <m:r>
                            <a:rPr lang="en-US" altLang="zh-CN" b="1" i="1" smtClean="0">
                              <a:latin typeface="Cambria Math" panose="02040503050406030204" pitchFamily="18" charset="0"/>
                            </a:rPr>
                            <m:t>𝟐</m:t>
                          </m:r>
                          <m:sSub>
                            <m:sSubPr>
                              <m:ctrlPr>
                                <a:rPr lang="en-US" altLang="zh-CN" i="1">
                                  <a:latin typeface="Cambria Math" panose="02040503050406030204" pitchFamily="18" charset="0"/>
                                </a:rPr>
                              </m:ctrlPr>
                            </m:sSubPr>
                            <m:e>
                              <m:r>
                                <a:rPr lang="en-US" altLang="zh-CN" i="1">
                                  <a:latin typeface="Cambria Math" panose="02040503050406030204" pitchFamily="18" charset="0"/>
                                </a:rPr>
                                <m:t>𝑮</m:t>
                              </m:r>
                            </m:e>
                            <m:sub>
                              <m:r>
                                <a:rPr lang="en-US" altLang="zh-CN" i="1">
                                  <a:latin typeface="Cambria Math" panose="02040503050406030204" pitchFamily="18" charset="0"/>
                                </a:rPr>
                                <m:t>𝟎</m:t>
                              </m:r>
                            </m:sub>
                          </m:sSub>
                        </m:den>
                      </m:f>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𝒉</m:t>
                              </m:r>
                            </m:sub>
                          </m:sSub>
                          <m:r>
                            <a:rPr lang="en-US" altLang="zh-CN" i="1">
                              <a:latin typeface="Cambria Math" panose="02040503050406030204" pitchFamily="18" charset="0"/>
                            </a:rPr>
                            <m:t>(</m:t>
                          </m:r>
                          <m:r>
                            <a:rPr lang="en-US" altLang="zh-CN" i="1">
                              <a:latin typeface="Cambria Math" panose="02040503050406030204" pitchFamily="18" charset="0"/>
                            </a:rPr>
                            <m:t>𝟎</m:t>
                          </m:r>
                          <m:r>
                            <a:rPr lang="en-US" altLang="zh-CN" i="1">
                              <a:latin typeface="Cambria Math" panose="02040503050406030204" pitchFamily="18" charset="0"/>
                            </a:rPr>
                            <m:t>)</m:t>
                          </m:r>
                        </m:num>
                        <m:den>
                          <m:r>
                            <a:rPr lang="en-US" altLang="zh-CN" b="1" i="1" smtClean="0">
                              <a:latin typeface="Cambria Math" panose="02040503050406030204" pitchFamily="18" charset="0"/>
                            </a:rPr>
                            <m:t>𝟐</m:t>
                          </m:r>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𝑯</m:t>
                                  </m:r>
                                  <m:r>
                                    <a:rPr lang="en-US" altLang="zh-CN" i="1">
                                      <a:latin typeface="Cambria Math" panose="02040503050406030204" pitchFamily="18" charset="0"/>
                                    </a:rPr>
                                    <m:t>(</m:t>
                                  </m:r>
                                  <m:r>
                                    <a:rPr lang="en-US" altLang="zh-CN" i="1">
                                      <a:latin typeface="Cambria Math" panose="02040503050406030204" pitchFamily="18" charset="0"/>
                                    </a:rPr>
                                    <m:t>𝒋</m:t>
                                  </m:r>
                                  <m:sSub>
                                    <m:sSubPr>
                                      <m:ctrlPr>
                                        <a:rPr lang="en-US" altLang="zh-CN" i="1">
                                          <a:latin typeface="Cambria Math" panose="02040503050406030204" pitchFamily="18" charset="0"/>
                                        </a:rPr>
                                      </m:ctrlPr>
                                    </m:sSubPr>
                                    <m:e>
                                      <m:r>
                                        <a:rPr lang="zh-CN" altLang="en-US" i="1">
                                          <a:latin typeface="Cambria Math" panose="02040503050406030204" pitchFamily="18" charset="0"/>
                                        </a:rPr>
                                        <m:t>𝝎</m:t>
                                      </m:r>
                                    </m:e>
                                    <m:sub>
                                      <m:r>
                                        <a:rPr lang="en-US" altLang="zh-CN" i="1">
                                          <a:latin typeface="Cambria Math" panose="02040503050406030204" pitchFamily="18" charset="0"/>
                                        </a:rPr>
                                        <m:t>𝟎</m:t>
                                      </m:r>
                                    </m:sub>
                                  </m:sSub>
                                  <m:r>
                                    <a:rPr lang="en-US" altLang="zh-CN" b="1" i="1" smtClean="0">
                                      <a:latin typeface="Cambria Math" panose="02040503050406030204" pitchFamily="18" charset="0"/>
                                    </a:rPr>
                                    <m:t>)</m:t>
                                  </m:r>
                                </m:e>
                              </m:d>
                            </m:e>
                            <m:sup>
                              <m:r>
                                <a:rPr lang="en-US" altLang="zh-CN" i="1">
                                  <a:latin typeface="Cambria Math" panose="02040503050406030204" pitchFamily="18" charset="0"/>
                                </a:rPr>
                                <m:t>𝟐</m:t>
                              </m:r>
                            </m:sup>
                          </m:sSup>
                        </m:den>
                      </m:f>
                      <m:r>
                        <a:rPr lang="en-US" altLang="zh-CN" b="1" i="1" smtClean="0">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𝒉</m:t>
                              </m:r>
                            </m:sub>
                          </m:sSub>
                          <m:r>
                            <a:rPr lang="en-US" altLang="zh-CN" i="1">
                              <a:latin typeface="Cambria Math" panose="02040503050406030204" pitchFamily="18" charset="0"/>
                            </a:rPr>
                            <m:t>(</m:t>
                          </m:r>
                          <m:r>
                            <a:rPr lang="en-US" altLang="zh-CN" i="1">
                              <a:latin typeface="Cambria Math" panose="02040503050406030204" pitchFamily="18" charset="0"/>
                            </a:rPr>
                            <m:t>𝟎</m:t>
                          </m:r>
                          <m:r>
                            <a:rPr lang="en-US" altLang="zh-CN" i="1">
                              <a:latin typeface="Cambria Math" panose="02040503050406030204" pitchFamily="18" charset="0"/>
                            </a:rPr>
                            <m:t>)</m:t>
                          </m:r>
                        </m:num>
                        <m:den>
                          <m:r>
                            <a:rPr lang="en-US" altLang="zh-CN" i="1">
                              <a:latin typeface="Cambria Math" panose="02040503050406030204" pitchFamily="18" charset="0"/>
                            </a:rPr>
                            <m:t>𝟐</m:t>
                          </m:r>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𝑯</m:t>
                                  </m:r>
                                  <m:r>
                                    <a:rPr lang="en-US" altLang="zh-CN" b="1" i="1" smtClean="0">
                                      <a:latin typeface="Cambria Math" panose="02040503050406030204" pitchFamily="18" charset="0"/>
                                    </a:rPr>
                                    <m:t>(</m:t>
                                  </m:r>
                                  <m:r>
                                    <a:rPr lang="en-US" altLang="zh-CN" i="1">
                                      <a:latin typeface="Cambria Math" panose="02040503050406030204" pitchFamily="18" charset="0"/>
                                    </a:rPr>
                                    <m:t>𝒋</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i="1">
                                          <a:latin typeface="Cambria Math" panose="02040503050406030204" pitchFamily="18" charset="0"/>
                                        </a:rPr>
                                        <m:t>𝟎</m:t>
                                      </m:r>
                                    </m:sub>
                                  </m:sSub>
                                  <m:r>
                                    <a:rPr lang="en-US" altLang="zh-CN" b="1" i="1" smtClean="0">
                                      <a:latin typeface="Cambria Math" panose="02040503050406030204" pitchFamily="18" charset="0"/>
                                    </a:rPr>
                                    <m:t>)</m:t>
                                  </m:r>
                                </m:e>
                              </m:d>
                            </m:e>
                            <m:sup>
                              <m:r>
                                <a:rPr lang="en-US" altLang="zh-CN" i="1">
                                  <a:latin typeface="Cambria Math" panose="02040503050406030204" pitchFamily="18" charset="0"/>
                                </a:rPr>
                                <m:t>𝟐</m:t>
                              </m:r>
                            </m:sup>
                          </m:sSup>
                        </m:den>
                      </m:f>
                    </m:oMath>
                  </m:oMathPara>
                </a14:m>
                <a:endParaRPr lang="zh-CN" altLang="zh-CN" dirty="0">
                  <a:solidFill>
                    <a:srgbClr val="FF0000"/>
                  </a:solidFill>
                </a:endParaRPr>
              </a:p>
              <a:p>
                <a:pPr marL="0" indent="0">
                  <a:buNone/>
                </a:pPr>
                <a:endParaRPr lang="en-US" altLang="zh-CN" dirty="0"/>
              </a:p>
              <a:p>
                <a:pPr marL="0" indent="0">
                  <a:buNone/>
                </a:pPr>
                <a:endParaRPr lang="zh-CN" altLang="en-US" dirty="0"/>
              </a:p>
            </p:txBody>
          </p:sp>
        </mc:Choice>
        <mc:Fallback xmlns="">
          <p:sp>
            <p:nvSpPr>
              <p:cNvPr id="2" name="内容占位符 1">
                <a:extLst>
                  <a:ext uri="{FF2B5EF4-FFF2-40B4-BE49-F238E27FC236}">
                    <a16:creationId xmlns:a16="http://schemas.microsoft.com/office/drawing/2014/main" id="{4EFA3039-ADD7-4D95-B9A8-2BADCA89E942}"/>
                  </a:ext>
                </a:extLst>
              </p:cNvPr>
              <p:cNvSpPr>
                <a:spLocks noGrp="1" noRot="1" noChangeAspect="1" noMove="1" noResize="1" noEditPoints="1" noAdjustHandles="1" noChangeArrowheads="1" noChangeShapeType="1" noTextEdit="1"/>
              </p:cNvSpPr>
              <p:nvPr>
                <p:ph idx="1"/>
              </p:nvPr>
            </p:nvSpPr>
            <p:spPr>
              <a:xfrm>
                <a:off x="256309" y="973814"/>
                <a:ext cx="8541328" cy="4815654"/>
              </a:xfrm>
              <a:blipFill>
                <a:blip r:embed="rId2"/>
                <a:stretch>
                  <a:fillRect l="-857" r="-5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69549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标题 2">
                <a:extLst>
                  <a:ext uri="{FF2B5EF4-FFF2-40B4-BE49-F238E27FC236}">
                    <a16:creationId xmlns:a16="http://schemas.microsoft.com/office/drawing/2014/main" id="{0D4FF3A5-B08B-43E8-B26B-077001F5E120}"/>
                  </a:ext>
                </a:extLst>
              </p:cNvPr>
              <p:cNvSpPr>
                <a:spLocks noGrp="1"/>
              </p:cNvSpPr>
              <p:nvPr>
                <p:ph type="title"/>
              </p:nvPr>
            </p:nvSpPr>
            <p:spPr>
              <a:xfrm>
                <a:off x="691228" y="606821"/>
                <a:ext cx="7772400" cy="857250"/>
              </a:xfrm>
            </p:spPr>
            <p:txBody>
              <a:bodyPr/>
              <a:lstStyle/>
              <a:p>
                <a14:m>
                  <m:oMath xmlns:m="http://schemas.openxmlformats.org/officeDocument/2006/math">
                    <m:r>
                      <m:rPr>
                        <m:nor/>
                      </m:rPr>
                      <a:rPr lang="zh-CN" altLang="en-US" dirty="0"/>
                      <m:t>等效矩形带宽</m:t>
                    </m:r>
                    <m:sSub>
                      <m:sSubPr>
                        <m:ctrlPr>
                          <a:rPr lang="en-US" altLang="zh-CN" i="1">
                            <a:latin typeface="Cambria Math" panose="02040503050406030204" pitchFamily="18" charset="0"/>
                          </a:rPr>
                        </m:ctrlPr>
                      </m:sSubPr>
                      <m:e>
                        <m:r>
                          <a:rPr lang="en-US" altLang="zh-CN" i="1">
                            <a:latin typeface="Cambria Math" panose="02040503050406030204" pitchFamily="18" charset="0"/>
                          </a:rPr>
                          <m:t>𝑩</m:t>
                        </m:r>
                      </m:e>
                      <m:sub>
                        <m:r>
                          <a:rPr lang="en-US" altLang="zh-CN" i="1">
                            <a:latin typeface="Cambria Math" panose="02040503050406030204" pitchFamily="18" charset="0"/>
                          </a:rPr>
                          <m:t>𝑵</m:t>
                        </m:r>
                      </m:sub>
                    </m:sSub>
                  </m:oMath>
                </a14:m>
                <a:r>
                  <a:rPr lang="zh-CN" altLang="en-US" dirty="0"/>
                  <a:t>的含义</a:t>
                </a:r>
                <a:br>
                  <a:rPr lang="en-US" altLang="zh-CN" dirty="0"/>
                </a:br>
                <a:r>
                  <a:rPr lang="zh-CN" altLang="en-US" dirty="0"/>
                  <a:t>（低通系统和带通系统具有相同的形式）</a:t>
                </a:r>
              </a:p>
            </p:txBody>
          </p:sp>
        </mc:Choice>
        <mc:Fallback xmlns="">
          <p:sp>
            <p:nvSpPr>
              <p:cNvPr id="3" name="标题 2">
                <a:extLst>
                  <a:ext uri="{FF2B5EF4-FFF2-40B4-BE49-F238E27FC236}">
                    <a16:creationId xmlns:a16="http://schemas.microsoft.com/office/drawing/2014/main" id="{0D4FF3A5-B08B-43E8-B26B-077001F5E120}"/>
                  </a:ext>
                </a:extLst>
              </p:cNvPr>
              <p:cNvSpPr>
                <a:spLocks noGrp="1" noRot="1" noChangeAspect="1" noMove="1" noResize="1" noEditPoints="1" noAdjustHandles="1" noChangeArrowheads="1" noChangeShapeType="1" noTextEdit="1"/>
              </p:cNvSpPr>
              <p:nvPr>
                <p:ph type="title"/>
              </p:nvPr>
            </p:nvSpPr>
            <p:spPr>
              <a:xfrm>
                <a:off x="691228" y="606821"/>
                <a:ext cx="7772400" cy="857250"/>
              </a:xfrm>
              <a:blipFill>
                <a:blip r:embed="rId3"/>
                <a:stretch>
                  <a:fillRect t="-6429" b="-12143"/>
                </a:stretch>
              </a:blipFill>
            </p:spPr>
            <p:txBody>
              <a:bodyPr/>
              <a:lstStyle/>
              <a:p>
                <a:r>
                  <a:rPr lang="zh-CN" altLang="en-US">
                    <a:noFill/>
                  </a:rPr>
                  <a:t> </a:t>
                </a:r>
              </a:p>
            </p:txBody>
          </p:sp>
        </mc:Fallback>
      </mc:AlternateContent>
      <p:pic>
        <p:nvPicPr>
          <p:cNvPr id="11" name="内容占位符 10">
            <a:extLst>
              <a:ext uri="{FF2B5EF4-FFF2-40B4-BE49-F238E27FC236}">
                <a16:creationId xmlns:a16="http://schemas.microsoft.com/office/drawing/2014/main" id="{CBEFF72A-EC40-4F62-8432-8D7FE593D46B}"/>
              </a:ext>
            </a:extLst>
          </p:cNvPr>
          <p:cNvPicPr>
            <a:picLocks noGrp="1" noChangeAspect="1"/>
          </p:cNvPicPr>
          <p:nvPr>
            <p:ph sz="half" idx="1"/>
          </p:nvPr>
        </p:nvPicPr>
        <p:blipFill>
          <a:blip r:embed="rId4"/>
          <a:stretch>
            <a:fillRect/>
          </a:stretch>
        </p:blipFill>
        <p:spPr>
          <a:xfrm>
            <a:off x="984600" y="1989709"/>
            <a:ext cx="2602271" cy="2177411"/>
          </a:xfrm>
          <a:prstGeom prst="rect">
            <a:avLst/>
          </a:prstGeom>
        </p:spPr>
      </p:pic>
      <p:pic>
        <p:nvPicPr>
          <p:cNvPr id="14" name="内容占位符 13">
            <a:extLst>
              <a:ext uri="{FF2B5EF4-FFF2-40B4-BE49-F238E27FC236}">
                <a16:creationId xmlns:a16="http://schemas.microsoft.com/office/drawing/2014/main" id="{216301FE-C76E-48ED-AD21-A1D064DE9505}"/>
              </a:ext>
            </a:extLst>
          </p:cNvPr>
          <p:cNvPicPr>
            <a:picLocks noGrp="1" noChangeAspect="1"/>
          </p:cNvPicPr>
          <p:nvPr>
            <p:ph sz="half" idx="2"/>
          </p:nvPr>
        </p:nvPicPr>
        <p:blipFill>
          <a:blip r:embed="rId5"/>
          <a:stretch>
            <a:fillRect/>
          </a:stretch>
        </p:blipFill>
        <p:spPr>
          <a:xfrm>
            <a:off x="4117033" y="1989709"/>
            <a:ext cx="4233240" cy="2177411"/>
          </a:xfrm>
          <a:prstGeom prst="rect">
            <a:avLst/>
          </a:prstGeom>
        </p:spPr>
      </p:pic>
      <mc:AlternateContent xmlns:mc="http://schemas.openxmlformats.org/markup-compatibility/2006" xmlns:a14="http://schemas.microsoft.com/office/drawing/2010/main">
        <mc:Choice Requires="a14">
          <p:sp>
            <p:nvSpPr>
              <p:cNvPr id="2" name="矩形 1"/>
              <p:cNvSpPr/>
              <p:nvPr/>
            </p:nvSpPr>
            <p:spPr>
              <a:xfrm>
                <a:off x="848591" y="4298368"/>
                <a:ext cx="7446818" cy="2186817"/>
              </a:xfrm>
              <a:prstGeom prst="rect">
                <a:avLst/>
              </a:prstGeom>
            </p:spPr>
            <p:txBody>
              <a:bodyPr wrap="square">
                <a:spAutoFit/>
              </a:bodyPr>
              <a:lstStyle/>
              <a:p>
                <a:pPr>
                  <a:lnSpc>
                    <a:spcPct val="150000"/>
                  </a:lnSpc>
                </a:pP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原：</m:t>
                        </m:r>
                        <m:r>
                          <a:rPr lang="en-US" altLang="zh-CN" b="1" i="1">
                            <a:solidFill>
                              <a:schemeClr val="tx1"/>
                            </a:solidFill>
                            <a:latin typeface="Cambria Math" panose="02040503050406030204" pitchFamily="18" charset="0"/>
                          </a:rPr>
                          <m:t>𝑷</m:t>
                        </m:r>
                      </m:e>
                      <m:sub>
                        <m:r>
                          <a:rPr lang="en-US" altLang="zh-CN" b="1" i="1">
                            <a:solidFill>
                              <a:schemeClr val="tx1"/>
                            </a:solidFill>
                            <a:latin typeface="Cambria Math" panose="02040503050406030204" pitchFamily="18" charset="0"/>
                          </a:rPr>
                          <m:t>𝒀</m:t>
                        </m:r>
                      </m:sub>
                    </m:sSub>
                    <m:r>
                      <a:rPr lang="en-US" altLang="zh-CN" b="1"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𝑹</m:t>
                        </m:r>
                      </m:e>
                      <m:sub>
                        <m:r>
                          <a:rPr lang="en-US" altLang="zh-CN" i="1">
                            <a:solidFill>
                              <a:schemeClr val="tx1"/>
                            </a:solidFill>
                            <a:latin typeface="Cambria Math" panose="02040503050406030204" pitchFamily="18" charset="0"/>
                          </a:rPr>
                          <m:t>𝒀</m:t>
                        </m:r>
                      </m:sub>
                    </m:sSub>
                    <m:d>
                      <m:dPr>
                        <m:ctrlPr>
                          <a:rPr lang="en-US" altLang="zh-CN" i="1">
                            <a:solidFill>
                              <a:schemeClr val="tx1"/>
                            </a:solidFill>
                            <a:latin typeface="Cambria Math" panose="02040503050406030204" pitchFamily="18" charset="0"/>
                          </a:rPr>
                        </m:ctrlPr>
                      </m:dPr>
                      <m:e>
                        <m:r>
                          <a:rPr lang="en-US" altLang="zh-CN" b="1" i="1">
                            <a:solidFill>
                              <a:schemeClr val="tx1"/>
                            </a:solidFill>
                            <a:latin typeface="Cambria Math" panose="02040503050406030204" pitchFamily="18" charset="0"/>
                          </a:rPr>
                          <m:t>𝟎</m:t>
                        </m:r>
                      </m:e>
                    </m:d>
                    <m:r>
                      <a:rPr lang="en-US" altLang="zh-CN" b="1"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𝑵</m:t>
                            </m:r>
                          </m:e>
                          <m:sub>
                            <m:r>
                              <a:rPr lang="en-US" altLang="zh-CN" i="1">
                                <a:solidFill>
                                  <a:schemeClr val="tx1"/>
                                </a:solidFill>
                                <a:latin typeface="Cambria Math" panose="02040503050406030204" pitchFamily="18" charset="0"/>
                              </a:rPr>
                              <m:t>𝟎</m:t>
                            </m:r>
                          </m:sub>
                        </m:sSub>
                      </m:num>
                      <m:den>
                        <m:r>
                          <a:rPr lang="en-US" altLang="zh-CN" i="1">
                            <a:solidFill>
                              <a:schemeClr val="tx1"/>
                            </a:solidFill>
                            <a:latin typeface="Cambria Math" panose="02040503050406030204" pitchFamily="18" charset="0"/>
                          </a:rPr>
                          <m:t>𝟐</m:t>
                        </m:r>
                      </m:den>
                    </m:f>
                    <m:sSub>
                      <m:sSubPr>
                        <m:ctrlPr>
                          <a:rPr lang="en-US" altLang="zh-CN"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𝑹</m:t>
                        </m:r>
                      </m:e>
                      <m:sub>
                        <m:r>
                          <a:rPr lang="en-US" altLang="zh-CN" b="1" i="1">
                            <a:solidFill>
                              <a:schemeClr val="tx1"/>
                            </a:solidFill>
                            <a:latin typeface="Cambria Math" panose="02040503050406030204" pitchFamily="18" charset="0"/>
                          </a:rPr>
                          <m:t>𝒉</m:t>
                        </m:r>
                      </m:sub>
                    </m:sSub>
                    <m:d>
                      <m:dPr>
                        <m:ctrlPr>
                          <a:rPr lang="en-US" altLang="zh-CN" b="1" i="1">
                            <a:solidFill>
                              <a:schemeClr val="tx1"/>
                            </a:solidFill>
                            <a:latin typeface="Cambria Math" panose="02040503050406030204" pitchFamily="18" charset="0"/>
                          </a:rPr>
                        </m:ctrlPr>
                      </m:dPr>
                      <m:e>
                        <m:r>
                          <a:rPr lang="en-US" altLang="zh-CN" b="1" i="1">
                            <a:solidFill>
                              <a:schemeClr val="tx1"/>
                            </a:solidFill>
                            <a:latin typeface="Cambria Math" panose="02040503050406030204" pitchFamily="18" charset="0"/>
                          </a:rPr>
                          <m:t>𝟎</m:t>
                        </m:r>
                      </m:e>
                    </m:d>
                    <m:r>
                      <a:rPr lang="en-US" altLang="zh-CN" b="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𝟏</m:t>
                        </m:r>
                      </m:num>
                      <m:den>
                        <m:r>
                          <a:rPr lang="en-US" altLang="zh-CN" i="1">
                            <a:solidFill>
                              <a:schemeClr val="tx1"/>
                            </a:solidFill>
                            <a:latin typeface="Cambria Math" panose="02040503050406030204" pitchFamily="18" charset="0"/>
                          </a:rPr>
                          <m:t>𝟐</m:t>
                        </m:r>
                        <m:r>
                          <a:rPr lang="zh-CN" altLang="en-US" i="1">
                            <a:solidFill>
                              <a:schemeClr val="tx1"/>
                            </a:solidFill>
                            <a:latin typeface="Cambria Math" panose="02040503050406030204" pitchFamily="18" charset="0"/>
                          </a:rPr>
                          <m:t>𝝅</m:t>
                        </m:r>
                      </m:den>
                    </m:f>
                    <m:nary>
                      <m:naryPr>
                        <m:ctrlPr>
                          <a:rPr lang="en-US" altLang="zh-CN" b="1" i="1">
                            <a:solidFill>
                              <a:schemeClr val="tx1"/>
                            </a:solidFill>
                            <a:latin typeface="Cambria Math" panose="02040503050406030204" pitchFamily="18" charset="0"/>
                          </a:rPr>
                        </m:ctrlPr>
                      </m:naryPr>
                      <m:sub>
                        <m:r>
                          <m:rPr>
                            <m:brk m:alnAt="23"/>
                          </m:rPr>
                          <a:rPr lang="en-US" altLang="zh-CN" b="1" i="1">
                            <a:solidFill>
                              <a:schemeClr val="tx1"/>
                            </a:solidFill>
                            <a:latin typeface="Cambria Math" panose="02040503050406030204" pitchFamily="18" charset="0"/>
                          </a:rPr>
                          <m:t>−</m:t>
                        </m:r>
                        <m:r>
                          <a:rPr lang="en-US" altLang="zh-CN" b="1" i="1">
                            <a:solidFill>
                              <a:schemeClr val="tx1"/>
                            </a:solidFill>
                            <a:latin typeface="Cambria Math" panose="02040503050406030204" pitchFamily="18" charset="0"/>
                            <a:ea typeface="Cambria Math" panose="02040503050406030204" pitchFamily="18" charset="0"/>
                          </a:rPr>
                          <m:t>∞</m:t>
                        </m:r>
                      </m:sub>
                      <m:sup>
                        <m:r>
                          <a:rPr lang="en-US" altLang="zh-CN" b="1" i="1">
                            <a:solidFill>
                              <a:schemeClr val="tx1"/>
                            </a:solidFill>
                            <a:latin typeface="Cambria Math" panose="02040503050406030204" pitchFamily="18" charset="0"/>
                            <a:ea typeface="Cambria Math" panose="02040503050406030204" pitchFamily="18" charset="0"/>
                          </a:rPr>
                          <m:t>∞</m:t>
                        </m:r>
                      </m:sup>
                      <m:e>
                        <m:f>
                          <m:fPr>
                            <m:ctrlPr>
                              <a:rPr lang="zh-CN" altLang="zh-CN" i="1">
                                <a:solidFill>
                                  <a:schemeClr val="tx1"/>
                                </a:solidFill>
                                <a:latin typeface="Cambria Math" panose="02040503050406030204" pitchFamily="18" charset="0"/>
                              </a:rPr>
                            </m:ctrlPr>
                          </m:fPr>
                          <m:num>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𝑵</m:t>
                                </m:r>
                              </m:e>
                              <m:sub>
                                <m:r>
                                  <a:rPr lang="en-US" altLang="zh-CN" i="1">
                                    <a:solidFill>
                                      <a:schemeClr val="tx1"/>
                                    </a:solidFill>
                                    <a:latin typeface="Cambria Math" panose="02040503050406030204" pitchFamily="18" charset="0"/>
                                  </a:rPr>
                                  <m:t>𝟎</m:t>
                                </m:r>
                              </m:sub>
                            </m:sSub>
                          </m:num>
                          <m:den>
                            <m:r>
                              <a:rPr lang="en-US" altLang="zh-CN" i="1">
                                <a:solidFill>
                                  <a:schemeClr val="tx1"/>
                                </a:solidFill>
                                <a:latin typeface="Cambria Math" panose="02040503050406030204" pitchFamily="18" charset="0"/>
                              </a:rPr>
                              <m:t>𝟐</m:t>
                            </m:r>
                          </m:den>
                        </m:f>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𝑯</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𝒋</m:t>
                        </m:r>
                        <m:r>
                          <a:rPr lang="en-US" altLang="zh-CN" i="1">
                            <a:solidFill>
                              <a:schemeClr val="tx1"/>
                            </a:solidFill>
                            <a:latin typeface="Cambria Math" panose="02040503050406030204" pitchFamily="18" charset="0"/>
                          </a:rPr>
                          <m:t>𝝎</m:t>
                        </m:r>
                        <m:r>
                          <a:rPr lang="en-US" altLang="zh-CN" i="1">
                            <a:solidFill>
                              <a:schemeClr val="tx1"/>
                            </a:solidFill>
                            <a:latin typeface="Cambria Math" panose="02040503050406030204" pitchFamily="18" charset="0"/>
                          </a:rPr>
                          <m:t>)</m:t>
                        </m:r>
                        <m:sSup>
                          <m:sSupPr>
                            <m:ctrlPr>
                              <a:rPr lang="zh-CN" altLang="zh-CN" i="1">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m:t>
                            </m:r>
                          </m:e>
                          <m:sup>
                            <m:r>
                              <a:rPr lang="en-US" altLang="zh-CN" i="1">
                                <a:solidFill>
                                  <a:schemeClr val="tx1"/>
                                </a:solidFill>
                                <a:latin typeface="Cambria Math" panose="02040503050406030204" pitchFamily="18" charset="0"/>
                              </a:rPr>
                              <m:t>𝟐</m:t>
                            </m:r>
                          </m:sup>
                        </m:sSup>
                        <m:r>
                          <a:rPr lang="en-US" altLang="zh-CN" b="1" i="1">
                            <a:solidFill>
                              <a:schemeClr val="tx1"/>
                            </a:solidFill>
                            <a:latin typeface="Cambria Math" panose="02040503050406030204" pitchFamily="18" charset="0"/>
                          </a:rPr>
                          <m:t>𝒅</m:t>
                        </m:r>
                        <m:r>
                          <a:rPr lang="zh-CN" altLang="en-US" b="1" i="1">
                            <a:solidFill>
                              <a:schemeClr val="tx1"/>
                            </a:solidFill>
                            <a:latin typeface="Cambria Math" panose="02040503050406030204" pitchFamily="18" charset="0"/>
                          </a:rPr>
                          <m:t>𝝎</m:t>
                        </m:r>
                      </m:e>
                    </m:nary>
                    <m:r>
                      <a:rPr lang="en-US" altLang="zh-CN" i="1">
                        <a:solidFill>
                          <a:schemeClr val="tx1"/>
                        </a:solidFill>
                        <a:latin typeface="Cambria Math" panose="02040503050406030204" pitchFamily="18" charset="0"/>
                      </a:rPr>
                      <m:t>=</m:t>
                    </m:r>
                    <m:nary>
                      <m:naryPr>
                        <m:ctrlPr>
                          <a:rPr lang="en-US" altLang="zh-CN" i="1">
                            <a:solidFill>
                              <a:schemeClr val="tx1"/>
                            </a:solidFill>
                            <a:latin typeface="Cambria Math" panose="02040503050406030204" pitchFamily="18" charset="0"/>
                          </a:rPr>
                        </m:ctrlPr>
                      </m:naryPr>
                      <m:sub>
                        <m:r>
                          <m:rPr>
                            <m:brk m:alnAt="23"/>
                          </m:rP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ea typeface="Cambria Math" panose="02040503050406030204" pitchFamily="18" charset="0"/>
                          </a:rPr>
                          <m:t>∞</m:t>
                        </m:r>
                      </m:sub>
                      <m:sup>
                        <m:r>
                          <a:rPr lang="en-US" altLang="zh-CN" i="1">
                            <a:solidFill>
                              <a:schemeClr val="tx1"/>
                            </a:solidFill>
                            <a:latin typeface="Cambria Math" panose="02040503050406030204" pitchFamily="18" charset="0"/>
                            <a:ea typeface="Cambria Math" panose="02040503050406030204" pitchFamily="18" charset="0"/>
                          </a:rPr>
                          <m:t>∞</m:t>
                        </m:r>
                      </m:sup>
                      <m:e>
                        <m:f>
                          <m:fPr>
                            <m:ctrlPr>
                              <a:rPr lang="zh-CN" altLang="zh-CN" i="1">
                                <a:solidFill>
                                  <a:schemeClr val="tx1"/>
                                </a:solidFill>
                                <a:latin typeface="Cambria Math" panose="02040503050406030204" pitchFamily="18" charset="0"/>
                              </a:rPr>
                            </m:ctrlPr>
                          </m:fPr>
                          <m:num>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𝑵</m:t>
                                </m:r>
                              </m:e>
                              <m:sub>
                                <m:r>
                                  <a:rPr lang="en-US" altLang="zh-CN" i="1">
                                    <a:solidFill>
                                      <a:schemeClr val="tx1"/>
                                    </a:solidFill>
                                    <a:latin typeface="Cambria Math" panose="02040503050406030204" pitchFamily="18" charset="0"/>
                                  </a:rPr>
                                  <m:t>𝟎</m:t>
                                </m:r>
                              </m:sub>
                            </m:sSub>
                          </m:num>
                          <m:den>
                            <m:r>
                              <a:rPr lang="en-US" altLang="zh-CN" i="1">
                                <a:solidFill>
                                  <a:schemeClr val="tx1"/>
                                </a:solidFill>
                                <a:latin typeface="Cambria Math" panose="02040503050406030204" pitchFamily="18" charset="0"/>
                              </a:rPr>
                              <m:t>𝟐</m:t>
                            </m:r>
                          </m:den>
                        </m:f>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𝑯</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𝒋</m:t>
                        </m:r>
                        <m:r>
                          <a:rPr lang="en-US" altLang="zh-CN" b="1" i="1">
                            <a:solidFill>
                              <a:schemeClr val="tx1"/>
                            </a:solidFill>
                            <a:latin typeface="Cambria Math" panose="02040503050406030204" pitchFamily="18" charset="0"/>
                          </a:rPr>
                          <m:t>𝒇</m:t>
                        </m:r>
                        <m:r>
                          <a:rPr lang="en-US" altLang="zh-CN" i="1">
                            <a:solidFill>
                              <a:schemeClr val="tx1"/>
                            </a:solidFill>
                            <a:latin typeface="Cambria Math" panose="02040503050406030204" pitchFamily="18" charset="0"/>
                          </a:rPr>
                          <m:t>)</m:t>
                        </m:r>
                        <m:sSup>
                          <m:sSupPr>
                            <m:ctrlPr>
                              <a:rPr lang="zh-CN" altLang="zh-CN" i="1">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m:t>
                            </m:r>
                          </m:e>
                          <m:sup>
                            <m:r>
                              <a:rPr lang="en-US" altLang="zh-CN" i="1">
                                <a:solidFill>
                                  <a:schemeClr val="tx1"/>
                                </a:solidFill>
                                <a:latin typeface="Cambria Math" panose="02040503050406030204" pitchFamily="18" charset="0"/>
                              </a:rPr>
                              <m:t>𝟐</m:t>
                            </m:r>
                          </m:sup>
                        </m:sSup>
                        <m:r>
                          <a:rPr lang="en-US" altLang="zh-CN" i="1">
                            <a:solidFill>
                              <a:schemeClr val="tx1"/>
                            </a:solidFill>
                            <a:latin typeface="Cambria Math" panose="02040503050406030204" pitchFamily="18" charset="0"/>
                          </a:rPr>
                          <m:t>𝒅</m:t>
                        </m:r>
                        <m:r>
                          <a:rPr lang="en-US" altLang="zh-CN" b="1" i="1">
                            <a:solidFill>
                              <a:schemeClr val="tx1"/>
                            </a:solidFill>
                            <a:latin typeface="Cambria Math" panose="02040503050406030204" pitchFamily="18" charset="0"/>
                          </a:rPr>
                          <m:t>𝒇</m:t>
                        </m:r>
                      </m:e>
                    </m:nary>
                  </m:oMath>
                </a14:m>
                <a:r>
                  <a:rPr lang="zh-CN" altLang="en-US" dirty="0">
                    <a:solidFill>
                      <a:schemeClr val="tx1"/>
                    </a:solidFill>
                  </a:rPr>
                  <a:t>，</a:t>
                </a:r>
                <a:endParaRPr lang="en-US" altLang="zh-CN" dirty="0">
                  <a:solidFill>
                    <a:schemeClr val="tx1"/>
                  </a:solidFill>
                </a:endParaRPr>
              </a:p>
              <a:p>
                <a:pPr>
                  <a:lnSpc>
                    <a:spcPct val="150000"/>
                  </a:lnSpc>
                </a:pPr>
                <a:r>
                  <a:rPr lang="zh-CN" altLang="en-US" dirty="0">
                    <a:solidFill>
                      <a:schemeClr val="tx1"/>
                    </a:solidFill>
                  </a:rPr>
                  <a:t>等效矩形：</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𝑷</m:t>
                        </m:r>
                      </m:e>
                      <m:sub>
                        <m:r>
                          <a:rPr lang="en-US" altLang="zh-CN" b="1" i="1">
                            <a:solidFill>
                              <a:schemeClr val="tx1"/>
                            </a:solidFill>
                            <a:latin typeface="Cambria Math" panose="02040503050406030204" pitchFamily="18" charset="0"/>
                          </a:rPr>
                          <m:t>𝒀</m:t>
                        </m:r>
                      </m:sub>
                    </m:sSub>
                    <m:r>
                      <a:rPr lang="en-US" altLang="zh-CN" b="1" i="1">
                        <a:solidFill>
                          <a:schemeClr val="tx1"/>
                        </a:solidFill>
                        <a:latin typeface="Cambria Math" panose="02040503050406030204" pitchFamily="18" charset="0"/>
                      </a:rPr>
                      <m:t>=</m:t>
                    </m:r>
                    <m:f>
                      <m:fPr>
                        <m:ctrlPr>
                          <a:rPr lang="zh-CN" altLang="zh-CN" i="1">
                            <a:solidFill>
                              <a:schemeClr val="tx1"/>
                            </a:solidFill>
                            <a:latin typeface="Cambria Math" panose="02040503050406030204" pitchFamily="18" charset="0"/>
                          </a:rPr>
                        </m:ctrlPr>
                      </m:fPr>
                      <m:num>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𝑵</m:t>
                            </m:r>
                          </m:e>
                          <m:sub>
                            <m:r>
                              <a:rPr lang="en-US" altLang="zh-CN" i="1">
                                <a:solidFill>
                                  <a:schemeClr val="tx1"/>
                                </a:solidFill>
                                <a:latin typeface="Cambria Math" panose="02040503050406030204" pitchFamily="18" charset="0"/>
                              </a:rPr>
                              <m:t>𝟎</m:t>
                            </m:r>
                          </m:sub>
                        </m:sSub>
                      </m:num>
                      <m:den>
                        <m:r>
                          <a:rPr lang="en-US" altLang="zh-CN" i="1">
                            <a:solidFill>
                              <a:schemeClr val="tx1"/>
                            </a:solidFill>
                            <a:latin typeface="Cambria Math" panose="02040503050406030204" pitchFamily="18" charset="0"/>
                          </a:rPr>
                          <m:t>𝟐</m:t>
                        </m:r>
                      </m:den>
                    </m:f>
                    <m:r>
                      <a:rPr lang="en-US" altLang="zh-CN" b="1" i="1">
                        <a:solidFill>
                          <a:schemeClr val="tx1"/>
                        </a:solidFill>
                        <a:latin typeface="Cambria Math" panose="02040503050406030204" pitchFamily="18" charset="0"/>
                      </a:rPr>
                      <m:t>∗</m:t>
                    </m:r>
                    <m:sSub>
                      <m:sSubPr>
                        <m:ctrlPr>
                          <a:rPr lang="en-US" altLang="zh-CN" b="1"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2</m:t>
                        </m:r>
                        <m:r>
                          <a:rPr lang="en-US" altLang="zh-CN" i="1">
                            <a:solidFill>
                              <a:schemeClr val="tx1"/>
                            </a:solidFill>
                            <a:latin typeface="Cambria Math" panose="02040503050406030204" pitchFamily="18" charset="0"/>
                          </a:rPr>
                          <m:t>𝑩</m:t>
                        </m:r>
                      </m:e>
                      <m:sub>
                        <m:r>
                          <a:rPr lang="en-US" altLang="zh-CN" b="1" i="1">
                            <a:solidFill>
                              <a:schemeClr val="tx1"/>
                            </a:solidFill>
                            <a:latin typeface="Cambria Math" panose="02040503050406030204" pitchFamily="18" charset="0"/>
                          </a:rPr>
                          <m:t>𝑵</m:t>
                        </m:r>
                      </m:sub>
                    </m:sSub>
                    <m:r>
                      <a:rPr lang="en-US" altLang="zh-CN" b="1" i="1">
                        <a:solidFill>
                          <a:schemeClr val="tx1"/>
                        </a:solidFill>
                        <a:latin typeface="Cambria Math" panose="02040503050406030204" pitchFamily="18" charset="0"/>
                      </a:rPr>
                      <m:t>∗</m:t>
                    </m:r>
                    <m:sSup>
                      <m:sSupPr>
                        <m:ctrlPr>
                          <a:rPr lang="en-US" altLang="zh-CN" b="1" i="1">
                            <a:solidFill>
                              <a:schemeClr val="tx1"/>
                            </a:solidFill>
                            <a:latin typeface="Cambria Math" panose="02040503050406030204" pitchFamily="18" charset="0"/>
                          </a:rPr>
                        </m:ctrlPr>
                      </m:sSupPr>
                      <m:e>
                        <m:d>
                          <m:dPr>
                            <m:begChr m:val="|"/>
                            <m:endChr m:val="|"/>
                            <m:ctrlPr>
                              <a:rPr lang="en-US" altLang="zh-CN" b="1" i="1">
                                <a:solidFill>
                                  <a:schemeClr val="tx1"/>
                                </a:solidFill>
                                <a:latin typeface="Cambria Math" panose="02040503050406030204" pitchFamily="18" charset="0"/>
                              </a:rPr>
                            </m:ctrlPr>
                          </m:dPr>
                          <m:e>
                            <m:r>
                              <a:rPr lang="en-US" altLang="zh-CN" b="1" i="1">
                                <a:solidFill>
                                  <a:schemeClr val="tx1"/>
                                </a:solidFill>
                                <a:latin typeface="Cambria Math" panose="02040503050406030204" pitchFamily="18" charset="0"/>
                              </a:rPr>
                              <m:t>𝑯</m:t>
                            </m:r>
                            <m:r>
                              <a:rPr lang="en-US" altLang="zh-CN" b="1" i="1">
                                <a:solidFill>
                                  <a:schemeClr val="tx1"/>
                                </a:solidFill>
                                <a:latin typeface="Cambria Math" panose="02040503050406030204" pitchFamily="18" charset="0"/>
                              </a:rPr>
                              <m:t>(</m:t>
                            </m:r>
                            <m:r>
                              <a:rPr lang="en-US" altLang="zh-CN" b="1" i="1">
                                <a:solidFill>
                                  <a:schemeClr val="tx1"/>
                                </a:solidFill>
                                <a:latin typeface="Cambria Math" panose="02040503050406030204" pitchFamily="18" charset="0"/>
                              </a:rPr>
                              <m:t>𝒋</m:t>
                            </m:r>
                            <m:sSub>
                              <m:sSubPr>
                                <m:ctrlPr>
                                  <a:rPr lang="en-US" altLang="zh-CN" b="1"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𝒇</m:t>
                                </m:r>
                              </m:e>
                              <m:sub>
                                <m:r>
                                  <a:rPr lang="en-US" altLang="zh-CN" b="1" i="1">
                                    <a:solidFill>
                                      <a:schemeClr val="tx1"/>
                                    </a:solidFill>
                                    <a:latin typeface="Cambria Math" panose="02040503050406030204" pitchFamily="18" charset="0"/>
                                  </a:rPr>
                                  <m:t>𝟎</m:t>
                                </m:r>
                              </m:sub>
                            </m:sSub>
                          </m:e>
                        </m:d>
                      </m:e>
                      <m:sup>
                        <m:r>
                          <a:rPr lang="en-US" altLang="zh-CN" b="1" i="1">
                            <a:solidFill>
                              <a:schemeClr val="tx1"/>
                            </a:solidFill>
                            <a:latin typeface="Cambria Math" panose="02040503050406030204" pitchFamily="18" charset="0"/>
                          </a:rPr>
                          <m:t>𝟐</m:t>
                        </m:r>
                      </m:sup>
                    </m:sSup>
                    <m:r>
                      <a:rPr lang="en-US" altLang="zh-CN">
                        <a:solidFill>
                          <a:schemeClr val="tx1"/>
                        </a:solidFill>
                        <a:latin typeface="Cambria Math" panose="02040503050406030204" pitchFamily="18" charset="0"/>
                      </a:rPr>
                      <m:t>=</m:t>
                    </m:r>
                  </m:oMath>
                </a14:m>
                <a:r>
                  <a:rPr lang="zh-CN" altLang="en-US" dirty="0">
                    <a:solidFill>
                      <a:schemeClr val="tx1"/>
                    </a:solidFill>
                  </a:rPr>
                  <a:t> </a:t>
                </a:r>
                <a14:m>
                  <m:oMath xmlns:m="http://schemas.openxmlformats.org/officeDocument/2006/math">
                    <m:sSub>
                      <m:sSubPr>
                        <m:ctrlPr>
                          <a:rPr lang="en-US" altLang="zh-CN" b="1"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𝑵</m:t>
                        </m:r>
                      </m:e>
                      <m:sub>
                        <m:r>
                          <a:rPr lang="en-US" altLang="zh-CN" b="1" i="1">
                            <a:solidFill>
                              <a:schemeClr val="tx1"/>
                            </a:solidFill>
                            <a:latin typeface="Cambria Math" panose="02040503050406030204" pitchFamily="18" charset="0"/>
                          </a:rPr>
                          <m:t>𝟎</m:t>
                        </m:r>
                      </m:sub>
                    </m:sSub>
                    <m:sSub>
                      <m:sSubPr>
                        <m:ctrlPr>
                          <a:rPr lang="en-US" altLang="zh-CN" b="1"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𝑩</m:t>
                        </m:r>
                      </m:e>
                      <m:sub>
                        <m:r>
                          <a:rPr lang="en-US" altLang="zh-CN" b="1" i="1">
                            <a:solidFill>
                              <a:schemeClr val="tx1"/>
                            </a:solidFill>
                            <a:latin typeface="Cambria Math" panose="02040503050406030204" pitchFamily="18" charset="0"/>
                          </a:rPr>
                          <m:t>𝑵</m:t>
                        </m:r>
                      </m:sub>
                    </m:sSub>
                    <m:sSub>
                      <m:sSubPr>
                        <m:ctrlPr>
                          <a:rPr lang="en-US" altLang="zh-CN" b="1"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𝑮</m:t>
                        </m:r>
                      </m:e>
                      <m:sub>
                        <m:r>
                          <a:rPr lang="en-US" altLang="zh-CN" b="1" i="1">
                            <a:solidFill>
                              <a:schemeClr val="tx1"/>
                            </a:solidFill>
                            <a:latin typeface="Cambria Math" panose="02040503050406030204" pitchFamily="18" charset="0"/>
                          </a:rPr>
                          <m:t>𝟎</m:t>
                        </m:r>
                      </m:sub>
                    </m:sSub>
                  </m:oMath>
                </a14:m>
                <a:endParaRPr lang="en-US" altLang="zh-CN" dirty="0">
                  <a:solidFill>
                    <a:srgbClr val="FF0000"/>
                  </a:solidFill>
                </a:endParaRPr>
              </a:p>
              <a:p>
                <a:pPr>
                  <a:lnSpc>
                    <a:spcPct val="120000"/>
                  </a:lnSpc>
                </a:pPr>
                <a:endParaRPr lang="zh-CN" altLang="zh-CN" dirty="0">
                  <a:solidFill>
                    <a:srgbClr val="FF0000"/>
                  </a:solidFill>
                </a:endParaRPr>
              </a:p>
            </p:txBody>
          </p:sp>
        </mc:Choice>
        <mc:Fallback xmlns="">
          <p:sp>
            <p:nvSpPr>
              <p:cNvPr id="2" name="矩形 1"/>
              <p:cNvSpPr>
                <a:spLocks noRot="1" noChangeAspect="1" noMove="1" noResize="1" noEditPoints="1" noAdjustHandles="1" noChangeArrowheads="1" noChangeShapeType="1" noTextEdit="1"/>
              </p:cNvSpPr>
              <p:nvPr/>
            </p:nvSpPr>
            <p:spPr>
              <a:xfrm>
                <a:off x="848591" y="4298368"/>
                <a:ext cx="7446818" cy="2186817"/>
              </a:xfrm>
              <a:prstGeom prst="rect">
                <a:avLst/>
              </a:prstGeom>
              <a:blipFill>
                <a:blip r:embed="rId6"/>
                <a:stretch>
                  <a:fillRect l="-5483" t="-15599"/>
                </a:stretch>
              </a:blipFill>
            </p:spPr>
            <p:txBody>
              <a:bodyPr/>
              <a:lstStyle/>
              <a:p>
                <a:r>
                  <a:rPr lang="zh-CN" altLang="en-US">
                    <a:noFill/>
                  </a:rPr>
                  <a:t> </a:t>
                </a:r>
              </a:p>
            </p:txBody>
          </p:sp>
        </mc:Fallback>
      </mc:AlternateContent>
      <p:sp>
        <p:nvSpPr>
          <p:cNvPr id="4" name="矩形 3"/>
          <p:cNvSpPr/>
          <p:nvPr/>
        </p:nvSpPr>
        <p:spPr bwMode="auto">
          <a:xfrm>
            <a:off x="150901" y="2604003"/>
            <a:ext cx="1080654" cy="457200"/>
          </a:xfrm>
          <a:prstGeom prst="rect">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t" anchorCtr="0" compatLnSpc="1">
            <a:prstTxWarp prst="textNoShape">
              <a:avLst/>
            </a:prstTxWarp>
          </a:bodyPr>
          <a:lstStyle/>
          <a:p>
            <a:pPr defTabSz="685800"/>
            <a:r>
              <a:rPr lang="zh-CN" altLang="en-US" dirty="0">
                <a:latin typeface="Arial" panose="020B0604020202020204" pitchFamily="34" charset="0"/>
                <a:ea typeface="宋体" panose="02010600030101010101" pitchFamily="2" charset="-122"/>
              </a:rPr>
              <a:t>低通系统</a:t>
            </a:r>
          </a:p>
        </p:txBody>
      </p:sp>
      <p:sp>
        <p:nvSpPr>
          <p:cNvPr id="7" name="矩形 6"/>
          <p:cNvSpPr/>
          <p:nvPr/>
        </p:nvSpPr>
        <p:spPr bwMode="auto">
          <a:xfrm>
            <a:off x="7615037" y="2604003"/>
            <a:ext cx="1080654" cy="457200"/>
          </a:xfrm>
          <a:prstGeom prst="rect">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t" anchorCtr="0" compatLnSpc="1">
            <a:prstTxWarp prst="textNoShape">
              <a:avLst/>
            </a:prstTxWarp>
          </a:bodyPr>
          <a:lstStyle/>
          <a:p>
            <a:pPr defTabSz="685800"/>
            <a:r>
              <a:rPr lang="zh-CN" altLang="en-US" dirty="0">
                <a:latin typeface="Arial" panose="020B0604020202020204" pitchFamily="34" charset="0"/>
                <a:ea typeface="宋体" panose="02010600030101010101" pitchFamily="2" charset="-122"/>
              </a:rPr>
              <a:t>带通系统</a:t>
            </a:r>
          </a:p>
        </p:txBody>
      </p:sp>
    </p:spTree>
    <p:extLst>
      <p:ext uri="{BB962C8B-B14F-4D97-AF65-F5344CB8AC3E}">
        <p14:creationId xmlns:p14="http://schemas.microsoft.com/office/powerpoint/2010/main" val="3529928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E31E42BF-04F1-443E-8B73-621627CB8F96}"/>
                  </a:ext>
                </a:extLst>
              </p:cNvPr>
              <p:cNvSpPr>
                <a:spLocks noGrp="1"/>
              </p:cNvSpPr>
              <p:nvPr>
                <p:ph/>
              </p:nvPr>
            </p:nvSpPr>
            <p:spPr>
              <a:xfrm>
                <a:off x="457201" y="857250"/>
                <a:ext cx="8255000" cy="4662055"/>
              </a:xfrm>
            </p:spPr>
            <p:txBody>
              <a:bodyPr/>
              <a:lstStyle/>
              <a:p>
                <a:pPr marL="0" indent="0">
                  <a:lnSpc>
                    <a:spcPct val="150000"/>
                  </a:lnSpc>
                  <a:buNone/>
                </a:pPr>
                <a:r>
                  <a:rPr lang="zh-CN" altLang="en-US" dirty="0"/>
                  <a:t>例</a:t>
                </a:r>
                <a:r>
                  <a:rPr lang="en-US" altLang="zh-CN" dirty="0"/>
                  <a:t>:</a:t>
                </a:r>
                <a:r>
                  <a:rPr lang="zh-CN" altLang="en-US" dirty="0"/>
                  <a:t>求</a:t>
                </a:r>
                <a:r>
                  <a:rPr lang="en-US" altLang="zh-CN" dirty="0"/>
                  <a:t>RC</a:t>
                </a:r>
                <a:r>
                  <a:rPr lang="zh-CN" altLang="en-US" dirty="0"/>
                  <a:t>滤波器的等效噪声带宽。</a:t>
                </a:r>
                <a:endParaRPr lang="en-US" altLang="zh-CN" dirty="0"/>
              </a:p>
              <a:p>
                <a:pPr marL="0" indent="0">
                  <a:buNone/>
                </a:pPr>
                <a:r>
                  <a:rPr lang="zh-CN" altLang="en-US" dirty="0"/>
                  <a:t>解</a:t>
                </a:r>
                <a:r>
                  <a:rPr lang="en-US" altLang="zh-CN" dirty="0"/>
                  <a:t>: </a:t>
                </a:r>
                <a14:m>
                  <m:oMath xmlns:m="http://schemas.openxmlformats.org/officeDocument/2006/math">
                    <m:r>
                      <a:rPr lang="en-US" altLang="zh-CN" b="1" i="0" smtClean="0">
                        <a:latin typeface="Cambria Math" panose="02040503050406030204" pitchFamily="18" charset="0"/>
                      </a:rPr>
                      <m:t>    </m:t>
                    </m:r>
                    <m:r>
                      <a:rPr lang="en-US" altLang="zh-CN" i="1">
                        <a:latin typeface="Cambria Math" panose="02040503050406030204" pitchFamily="18" charset="0"/>
                      </a:rPr>
                      <m:t>𝑯</m:t>
                    </m:r>
                    <m:d>
                      <m:dPr>
                        <m:ctrlPr>
                          <a:rPr lang="en-US" altLang="zh-CN" i="1">
                            <a:latin typeface="Cambria Math" panose="02040503050406030204" pitchFamily="18" charset="0"/>
                          </a:rPr>
                        </m:ctrlPr>
                      </m:dPr>
                      <m:e>
                        <m:r>
                          <a:rPr lang="en-US" altLang="zh-CN" b="1" i="1" smtClean="0">
                            <a:latin typeface="Cambria Math" panose="02040503050406030204" pitchFamily="18" charset="0"/>
                          </a:rPr>
                          <m:t>𝒋</m:t>
                        </m:r>
                        <m:r>
                          <a:rPr lang="en-US" altLang="zh-CN" i="1">
                            <a:latin typeface="Cambria Math" panose="02040503050406030204" pitchFamily="18" charset="0"/>
                          </a:rPr>
                          <m:t>𝒇</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𝟏</m:t>
                        </m:r>
                      </m:num>
                      <m:den>
                        <m:r>
                          <a:rPr lang="en-US" altLang="zh-CN" i="1">
                            <a:latin typeface="Cambria Math" panose="02040503050406030204" pitchFamily="18" charset="0"/>
                          </a:rPr>
                          <m:t>𝟏</m:t>
                        </m:r>
                        <m:r>
                          <a:rPr lang="en-US" altLang="zh-CN" i="1">
                            <a:latin typeface="Cambria Math" panose="02040503050406030204" pitchFamily="18" charset="0"/>
                          </a:rPr>
                          <m:t>+</m:t>
                        </m:r>
                        <m:r>
                          <a:rPr lang="en-US" altLang="zh-CN" i="1">
                            <a:latin typeface="Cambria Math" panose="02040503050406030204" pitchFamily="18" charset="0"/>
                          </a:rPr>
                          <m:t>𝒋</m:t>
                        </m:r>
                        <m:r>
                          <a:rPr lang="en-US" altLang="zh-CN" i="1">
                            <a:latin typeface="Cambria Math" panose="02040503050406030204" pitchFamily="18" charset="0"/>
                          </a:rPr>
                          <m:t>𝟐</m:t>
                        </m:r>
                        <m:r>
                          <a:rPr lang="zh-CN" altLang="en-US" i="1">
                            <a:latin typeface="Cambria Math" panose="02040503050406030204" pitchFamily="18" charset="0"/>
                          </a:rPr>
                          <m:t>𝝅</m:t>
                        </m:r>
                        <m:r>
                          <a:rPr lang="en-US" altLang="zh-CN" i="1">
                            <a:latin typeface="Cambria Math" panose="02040503050406030204" pitchFamily="18" charset="0"/>
                          </a:rPr>
                          <m:t>𝒇𝑹𝑪</m:t>
                        </m:r>
                      </m:den>
                    </m:f>
                  </m:oMath>
                </a14:m>
                <a:endParaRPr lang="en-US" altLang="zh-CN" i="1" dirty="0">
                  <a:latin typeface="Cambria Math" panose="02040503050406030204" pitchFamily="18" charset="0"/>
                </a:endParaRPr>
              </a:p>
              <a:p>
                <a:pPr marL="0" indent="0">
                  <a:lnSpc>
                    <a:spcPct val="150000"/>
                  </a:lnSpc>
                  <a:buNone/>
                </a:pPr>
                <a14:m>
                  <m:oMath xmlns:m="http://schemas.openxmlformats.org/officeDocument/2006/math">
                    <m:d>
                      <m:dPr>
                        <m:begChr m:val="|"/>
                        <m:endChr m:val="|"/>
                        <m:ctrlPr>
                          <a:rPr lang="en-US" altLang="zh-CN" i="1" smtClean="0">
                            <a:latin typeface="Cambria Math" panose="02040503050406030204" pitchFamily="18" charset="0"/>
                          </a:rPr>
                        </m:ctrlPr>
                      </m:dPr>
                      <m:e>
                        <m:r>
                          <a:rPr lang="en-US" altLang="zh-CN" b="1" i="1" smtClean="0">
                            <a:latin typeface="Cambria Math" panose="02040503050406030204" pitchFamily="18" charset="0"/>
                          </a:rPr>
                          <m:t>𝑯</m:t>
                        </m:r>
                        <m:r>
                          <a:rPr lang="en-US" altLang="zh-CN" b="1" i="1" smtClean="0">
                            <a:latin typeface="Cambria Math" panose="02040503050406030204" pitchFamily="18" charset="0"/>
                          </a:rPr>
                          <m:t>(</m:t>
                        </m:r>
                        <m:r>
                          <a:rPr lang="en-US" altLang="zh-CN" b="1" i="1" smtClean="0">
                            <a:latin typeface="Cambria Math" panose="02040503050406030204" pitchFamily="18" charset="0"/>
                          </a:rPr>
                          <m:t>𝒋</m:t>
                        </m:r>
                        <m:r>
                          <a:rPr lang="en-US" altLang="zh-CN" b="1" i="1" smtClean="0">
                            <a:latin typeface="Cambria Math" panose="02040503050406030204" pitchFamily="18" charset="0"/>
                          </a:rPr>
                          <m:t>𝟎</m:t>
                        </m:r>
                        <m:r>
                          <a:rPr lang="en-US" altLang="zh-CN" b="1" i="1" smtClean="0">
                            <a:latin typeface="Cambria Math" panose="02040503050406030204" pitchFamily="18" charset="0"/>
                          </a:rPr>
                          <m:t>)</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𝟏</m:t>
                    </m:r>
                  </m:oMath>
                </a14:m>
                <a:r>
                  <a:rPr lang="zh-CN" altLang="en-US" i="1" dirty="0">
                    <a:latin typeface="Cambria Math" panose="02040503050406030204" pitchFamily="18" charset="0"/>
                  </a:rPr>
                  <a:t>，</a:t>
                </a:r>
                <a:r>
                  <a:rPr lang="zh-CN" altLang="en-US" dirty="0">
                    <a:latin typeface="Cambria Math" panose="02040503050406030204" pitchFamily="18" charset="0"/>
                  </a:rPr>
                  <a:t>故</a:t>
                </a:r>
                <a14:m>
                  <m:oMath xmlns:m="http://schemas.openxmlformats.org/officeDocument/2006/math">
                    <m:sSup>
                      <m:sSupPr>
                        <m:ctrlPr>
                          <a:rPr lang="en-US" altLang="zh-CN" i="1" smtClean="0">
                            <a:latin typeface="Cambria Math" panose="02040503050406030204" pitchFamily="18" charset="0"/>
                          </a:rPr>
                        </m:ctrlPr>
                      </m:sSupPr>
                      <m:e>
                        <m:d>
                          <m:dPr>
                            <m:begChr m:val="|"/>
                            <m:endChr m:val="|"/>
                            <m:ctrlPr>
                              <a:rPr lang="en-US" altLang="zh-CN" i="1" smtClean="0">
                                <a:latin typeface="Cambria Math" panose="02040503050406030204" pitchFamily="18" charset="0"/>
                              </a:rPr>
                            </m:ctrlPr>
                          </m:dPr>
                          <m:e>
                            <m:r>
                              <a:rPr lang="en-US" altLang="zh-CN" b="1" i="1" smtClean="0">
                                <a:latin typeface="Cambria Math" panose="02040503050406030204" pitchFamily="18" charset="0"/>
                              </a:rPr>
                              <m:t>𝑯</m:t>
                            </m:r>
                            <m:r>
                              <a:rPr lang="en-US" altLang="zh-CN" b="1" i="1" smtClean="0">
                                <a:latin typeface="Cambria Math" panose="02040503050406030204" pitchFamily="18" charset="0"/>
                              </a:rPr>
                              <m:t>(</m:t>
                            </m:r>
                            <m:r>
                              <a:rPr lang="en-US" altLang="zh-CN" b="1" i="1" smtClean="0">
                                <a:latin typeface="Cambria Math" panose="02040503050406030204" pitchFamily="18" charset="0"/>
                              </a:rPr>
                              <m:t>𝒋</m:t>
                            </m:r>
                            <m:r>
                              <a:rPr lang="en-US" altLang="zh-CN" b="1" i="1" smtClean="0">
                                <a:latin typeface="Cambria Math" panose="02040503050406030204" pitchFamily="18" charset="0"/>
                              </a:rPr>
                              <m:t>𝟎</m:t>
                            </m:r>
                            <m:r>
                              <a:rPr lang="en-US" altLang="zh-CN" b="1" i="1" smtClean="0">
                                <a:latin typeface="Cambria Math" panose="02040503050406030204" pitchFamily="18" charset="0"/>
                              </a:rPr>
                              <m:t>)</m:t>
                            </m:r>
                          </m:e>
                        </m:d>
                      </m:e>
                      <m:sup>
                        <m:r>
                          <a:rPr lang="en-US" altLang="zh-CN" b="1" i="1" smtClean="0">
                            <a:latin typeface="Cambria Math" panose="02040503050406030204" pitchFamily="18" charset="0"/>
                          </a:rPr>
                          <m:t>𝟐</m:t>
                        </m:r>
                      </m:sup>
                    </m:sSup>
                    <m:r>
                      <a:rPr lang="en-US" altLang="zh-CN" b="1" i="1" smtClean="0">
                        <a:latin typeface="Cambria Math" panose="02040503050406030204" pitchFamily="18" charset="0"/>
                      </a:rPr>
                      <m:t>=</m:t>
                    </m:r>
                    <m:r>
                      <a:rPr lang="en-US" altLang="zh-CN" b="1" i="1" smtClean="0">
                        <a:latin typeface="Cambria Math" panose="02040503050406030204" pitchFamily="18" charset="0"/>
                      </a:rPr>
                      <m:t>𝟏</m:t>
                    </m:r>
                  </m:oMath>
                </a14:m>
                <a:r>
                  <a:rPr lang="zh-CN" altLang="en-US" dirty="0">
                    <a:latin typeface="Cambria Math" panose="02040503050406030204" pitchFamily="18" charset="0"/>
                  </a:rPr>
                  <a:t>。   （低通？  带通？）</a:t>
                </a:r>
                <a:endParaRPr lang="en-US" altLang="zh-CN" dirty="0">
                  <a:latin typeface="Cambria Math" panose="02040503050406030204" pitchFamily="18" charset="0"/>
                </a:endParaRPr>
              </a:p>
              <a:p>
                <a:pPr marL="0" indent="0">
                  <a:lnSpc>
                    <a:spcPct val="150000"/>
                  </a:lnSpc>
                  <a:buNone/>
                </a:pP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b="1" i="1" smtClean="0">
                            <a:latin typeface="Cambria Math" panose="02040503050406030204" pitchFamily="18" charset="0"/>
                          </a:rPr>
                          <m:t>𝒉</m:t>
                        </m:r>
                      </m:sub>
                    </m:sSub>
                    <m:d>
                      <m:dPr>
                        <m:ctrlPr>
                          <a:rPr lang="en-US" altLang="zh-CN" i="1">
                            <a:latin typeface="Cambria Math" panose="02040503050406030204" pitchFamily="18" charset="0"/>
                          </a:rPr>
                        </m:ctrlPr>
                      </m:dPr>
                      <m:e>
                        <m:r>
                          <a:rPr lang="zh-CN" altLang="en-US" i="1">
                            <a:latin typeface="Cambria Math" panose="02040503050406030204" pitchFamily="18" charset="0"/>
                          </a:rPr>
                          <m:t>𝝉</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𝟐</m:t>
                        </m:r>
                        <m:r>
                          <a:rPr lang="en-US" altLang="zh-CN" i="1">
                            <a:latin typeface="Cambria Math" panose="02040503050406030204" pitchFamily="18" charset="0"/>
                          </a:rPr>
                          <m:t>𝑹𝑪</m:t>
                        </m:r>
                      </m:den>
                    </m:f>
                    <m:r>
                      <a:rPr lang="en-US" altLang="zh-CN" i="1">
                        <a:latin typeface="Cambria Math" panose="02040503050406030204" pitchFamily="18" charset="0"/>
                      </a:rPr>
                      <m:t>𝒆𝒙𝒑</m:t>
                    </m:r>
                    <m:d>
                      <m:dPr>
                        <m:ctrlPr>
                          <a:rPr lang="en-US" altLang="zh-CN" i="1">
                            <a:latin typeface="Cambria Math" panose="02040503050406030204" pitchFamily="18" charset="0"/>
                          </a:rPr>
                        </m:ctrlPr>
                      </m:dPr>
                      <m:e>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b="1" i="1" smtClean="0">
                                <a:latin typeface="Cambria Math" panose="02040503050406030204" pitchFamily="18" charset="0"/>
                              </a:rPr>
                              <m:t>|</m:t>
                            </m:r>
                            <m:r>
                              <a:rPr lang="zh-CN" altLang="en-US" i="1">
                                <a:latin typeface="Cambria Math" panose="02040503050406030204" pitchFamily="18" charset="0"/>
                              </a:rPr>
                              <m:t>𝝉</m:t>
                            </m:r>
                            <m:r>
                              <a:rPr lang="en-US" altLang="zh-CN" b="1" i="1" smtClean="0">
                                <a:latin typeface="Cambria Math" panose="02040503050406030204" pitchFamily="18" charset="0"/>
                              </a:rPr>
                              <m:t>|</m:t>
                            </m:r>
                          </m:num>
                          <m:den>
                            <m:r>
                              <a:rPr lang="en-US" altLang="zh-CN" i="1">
                                <a:latin typeface="Cambria Math" panose="02040503050406030204" pitchFamily="18" charset="0"/>
                              </a:rPr>
                              <m:t>𝑹𝑪</m:t>
                            </m:r>
                          </m:den>
                        </m:f>
                      </m:e>
                    </m:d>
                  </m:oMath>
                </a14:m>
                <a:r>
                  <a:rPr lang="en-US" altLang="zh-CN" dirty="0"/>
                  <a:t>           (</a:t>
                </a:r>
                <a:r>
                  <a:rPr lang="zh-CN" altLang="en-US" dirty="0"/>
                  <a:t>思路？</a:t>
                </a:r>
                <a:r>
                  <a:rPr lang="en-US" altLang="zh-CN" dirty="0"/>
                  <a:t>)</a:t>
                </a:r>
              </a:p>
              <a:p>
                <a:pPr marL="0" indent="0">
                  <a:buNone/>
                </a:pPr>
                <a:r>
                  <a:rPr lang="zh-CN" altLang="en-US" dirty="0"/>
                  <a:t>设白噪声具有单位的双边功率谱密度</a:t>
                </a:r>
                <a:endParaRPr lang="en-US" altLang="zh-CN" dirty="0"/>
              </a:p>
              <a:p>
                <a:pPr marL="0" indent="0">
                  <a:buNone/>
                </a:pPr>
                <a:r>
                  <a:rPr lang="en-US" altLang="zh-CN" dirty="0">
                    <a:solidFill>
                      <a:srgbClr val="FF0000"/>
                    </a:solidFill>
                  </a:rPr>
                  <a:t>                     </a:t>
                </a:r>
                <a14:m>
                  <m:oMath xmlns:m="http://schemas.openxmlformats.org/officeDocument/2006/math">
                    <m:f>
                      <m:fPr>
                        <m:ctrlPr>
                          <a:rPr lang="zh-CN" altLang="zh-CN" i="1">
                            <a:latin typeface="Cambria Math" panose="02040503050406030204" pitchFamily="18" charset="0"/>
                          </a:rPr>
                        </m:ctrlPr>
                      </m:fPr>
                      <m:num>
                        <m:sSub>
                          <m:sSubPr>
                            <m:ctrlPr>
                              <a:rPr lang="zh-CN" altLang="zh-CN" i="1">
                                <a:latin typeface="Cambria Math" panose="02040503050406030204" pitchFamily="18" charset="0"/>
                              </a:rPr>
                            </m:ctrlPr>
                          </m:sSubPr>
                          <m:e>
                            <m:r>
                              <a:rPr lang="en-US" altLang="zh-CN" i="1">
                                <a:latin typeface="Cambria Math" panose="02040503050406030204" pitchFamily="18" charset="0"/>
                              </a:rPr>
                              <m:t>𝑵</m:t>
                            </m:r>
                          </m:e>
                          <m:sub>
                            <m:r>
                              <a:rPr lang="en-US" altLang="zh-CN" i="1">
                                <a:latin typeface="Cambria Math" panose="02040503050406030204" pitchFamily="18" charset="0"/>
                              </a:rPr>
                              <m:t>𝟎</m:t>
                            </m:r>
                          </m:sub>
                        </m:sSub>
                      </m:num>
                      <m:den>
                        <m:r>
                          <a:rPr lang="en-US" altLang="zh-CN" i="1">
                            <a:latin typeface="Cambria Math" panose="02040503050406030204" pitchFamily="18" charset="0"/>
                          </a:rPr>
                          <m:t>𝟐</m:t>
                        </m:r>
                      </m:den>
                    </m:f>
                    <m:r>
                      <a:rPr lang="en-US" altLang="zh-CN" i="1">
                        <a:latin typeface="Cambria Math" panose="02040503050406030204" pitchFamily="18" charset="0"/>
                      </a:rPr>
                      <m:t>=</m:t>
                    </m:r>
                    <m:r>
                      <a:rPr lang="en-US" altLang="zh-CN" i="1">
                        <a:latin typeface="Cambria Math" panose="02040503050406030204" pitchFamily="18" charset="0"/>
                      </a:rPr>
                      <m:t>𝟏</m:t>
                    </m:r>
                    <m:r>
                      <a:rPr lang="zh-CN" altLang="en-US"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𝑵</m:t>
                        </m:r>
                      </m:e>
                      <m:sub>
                        <m:r>
                          <a:rPr lang="en-US" altLang="zh-CN" i="1">
                            <a:latin typeface="Cambria Math" panose="02040503050406030204" pitchFamily="18" charset="0"/>
                          </a:rPr>
                          <m:t>𝟎</m:t>
                        </m:r>
                      </m:sub>
                    </m:sSub>
                  </m:oMath>
                </a14:m>
                <a:r>
                  <a:rPr lang="en-US" altLang="zh-CN" dirty="0">
                    <a:latin typeface="Cambria Math" panose="02040503050406030204" pitchFamily="18" charset="0"/>
                  </a:rPr>
                  <a:t>= 2</a:t>
                </a:r>
              </a:p>
              <a:p>
                <a:pPr marL="0" indent="0">
                  <a:buNone/>
                </a:pPr>
                <a:r>
                  <a:rPr lang="zh-CN" altLang="en-US" dirty="0"/>
                  <a:t>故等效噪声带宽为：</a:t>
                </a:r>
                <a:endParaRPr lang="en-US" altLang="zh-CN" dirty="0"/>
              </a:p>
              <a:p>
                <a:pPr marL="0" indent="0">
                  <a:buNone/>
                </a:pPr>
                <a:r>
                  <a:rPr lang="en-US" altLang="zh-CN" dirty="0"/>
                  <a:t>                   </a:t>
                </a:r>
                <a14:m>
                  <m:oMath xmlns:m="http://schemas.openxmlformats.org/officeDocument/2006/math">
                    <m:r>
                      <a:rPr lang="en-US" altLang="zh-CN">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𝑩</m:t>
                        </m:r>
                      </m:e>
                      <m:sub>
                        <m:r>
                          <a:rPr lang="en-US" altLang="zh-CN" i="1">
                            <a:latin typeface="Cambria Math" panose="02040503050406030204" pitchFamily="18" charset="0"/>
                          </a:rPr>
                          <m:t>𝑵</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𝒉</m:t>
                            </m:r>
                          </m:sub>
                        </m:sSub>
                        <m:r>
                          <a:rPr lang="en-US" altLang="zh-CN" i="1">
                            <a:latin typeface="Cambria Math" panose="02040503050406030204" pitchFamily="18" charset="0"/>
                          </a:rPr>
                          <m:t>(</m:t>
                        </m:r>
                        <m:r>
                          <a:rPr lang="en-US" altLang="zh-CN" i="1">
                            <a:latin typeface="Cambria Math" panose="02040503050406030204" pitchFamily="18" charset="0"/>
                          </a:rPr>
                          <m:t>𝟎</m:t>
                        </m:r>
                        <m:r>
                          <a:rPr lang="en-US" altLang="zh-CN" i="1">
                            <a:latin typeface="Cambria Math" panose="02040503050406030204" pitchFamily="18" charset="0"/>
                          </a:rPr>
                          <m:t>)</m:t>
                        </m:r>
                      </m:num>
                      <m:den>
                        <m:r>
                          <a:rPr lang="en-US" altLang="zh-CN" i="1">
                            <a:latin typeface="Cambria Math" panose="02040503050406030204" pitchFamily="18" charset="0"/>
                          </a:rPr>
                          <m:t>𝟐</m:t>
                        </m:r>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𝑯</m:t>
                                </m:r>
                                <m:r>
                                  <a:rPr lang="en-US" altLang="zh-CN" i="1">
                                    <a:latin typeface="Cambria Math" panose="02040503050406030204" pitchFamily="18" charset="0"/>
                                  </a:rPr>
                                  <m:t>(</m:t>
                                </m:r>
                                <m:r>
                                  <a:rPr lang="en-US" altLang="zh-CN" i="1">
                                    <a:latin typeface="Cambria Math" panose="02040503050406030204" pitchFamily="18" charset="0"/>
                                  </a:rPr>
                                  <m:t>𝒋</m:t>
                                </m:r>
                                <m:r>
                                  <a:rPr lang="en-US" altLang="zh-CN" i="1">
                                    <a:latin typeface="Cambria Math" panose="02040503050406030204" pitchFamily="18" charset="0"/>
                                  </a:rPr>
                                  <m:t>𝟎</m:t>
                                </m:r>
                                <m:r>
                                  <a:rPr lang="en-US" altLang="zh-CN" i="1">
                                    <a:latin typeface="Cambria Math" panose="02040503050406030204" pitchFamily="18" charset="0"/>
                                  </a:rPr>
                                  <m:t>)</m:t>
                                </m:r>
                              </m:e>
                            </m:d>
                          </m:e>
                          <m:sup>
                            <m:r>
                              <a:rPr lang="en-US" altLang="zh-CN" i="1">
                                <a:latin typeface="Cambria Math" panose="02040503050406030204" pitchFamily="18" charset="0"/>
                              </a:rPr>
                              <m:t>𝟐</m:t>
                            </m:r>
                          </m:sup>
                        </m:sSup>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𝟏</m:t>
                        </m:r>
                      </m:num>
                      <m:den>
                        <m:r>
                          <a:rPr lang="en-US" altLang="zh-CN" i="1">
                            <a:latin typeface="Cambria Math" panose="02040503050406030204" pitchFamily="18" charset="0"/>
                          </a:rPr>
                          <m:t>𝟒</m:t>
                        </m:r>
                        <m:r>
                          <a:rPr lang="en-US" altLang="zh-CN" i="1">
                            <a:latin typeface="Cambria Math" panose="02040503050406030204" pitchFamily="18" charset="0"/>
                          </a:rPr>
                          <m:t>𝑹𝑪</m:t>
                        </m:r>
                      </m:den>
                    </m:f>
                  </m:oMath>
                </a14:m>
                <a:r>
                  <a:rPr lang="zh-CN" altLang="en-US" dirty="0"/>
                  <a:t> （</a:t>
                </a:r>
                <a:r>
                  <a:rPr lang="en-US" altLang="zh-CN" dirty="0"/>
                  <a:t>Hz</a:t>
                </a:r>
                <a:r>
                  <a:rPr lang="zh-CN" altLang="en-US" dirty="0"/>
                  <a:t>）</a:t>
                </a:r>
              </a:p>
            </p:txBody>
          </p:sp>
        </mc:Choice>
        <mc:Fallback xmlns="">
          <p:sp>
            <p:nvSpPr>
              <p:cNvPr id="5" name="内容占位符 4">
                <a:extLst>
                  <a:ext uri="{FF2B5EF4-FFF2-40B4-BE49-F238E27FC236}">
                    <a16:creationId xmlns:a16="http://schemas.microsoft.com/office/drawing/2014/main" id="{E31E42BF-04F1-443E-8B73-621627CB8F96}"/>
                  </a:ext>
                </a:extLst>
              </p:cNvPr>
              <p:cNvSpPr>
                <a:spLocks noGrp="1" noRot="1" noChangeAspect="1" noMove="1" noResize="1" noEditPoints="1" noAdjustHandles="1" noChangeArrowheads="1" noChangeShapeType="1" noTextEdit="1"/>
              </p:cNvSpPr>
              <p:nvPr>
                <p:ph/>
              </p:nvPr>
            </p:nvSpPr>
            <p:spPr>
              <a:xfrm>
                <a:off x="457201" y="857250"/>
                <a:ext cx="8255000" cy="4662055"/>
              </a:xfrm>
              <a:blipFill>
                <a:blip r:embed="rId3"/>
                <a:stretch>
                  <a:fillRect l="-886"/>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68FE382B-37ED-483F-99CC-212E5F7F2BC6}"/>
              </a:ext>
            </a:extLst>
          </p:cNvPr>
          <p:cNvPicPr>
            <a:picLocks noChangeAspect="1"/>
          </p:cNvPicPr>
          <p:nvPr/>
        </p:nvPicPr>
        <p:blipFill>
          <a:blip r:embed="rId4"/>
          <a:stretch>
            <a:fillRect/>
          </a:stretch>
        </p:blipFill>
        <p:spPr>
          <a:xfrm>
            <a:off x="5746981" y="1083158"/>
            <a:ext cx="3101357" cy="993292"/>
          </a:xfrm>
          <a:prstGeom prst="rect">
            <a:avLst/>
          </a:prstGeom>
        </p:spPr>
      </p:pic>
    </p:spTree>
    <p:extLst>
      <p:ext uri="{BB962C8B-B14F-4D97-AF65-F5344CB8AC3E}">
        <p14:creationId xmlns:p14="http://schemas.microsoft.com/office/powerpoint/2010/main" val="4089714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844010C-0AEC-4402-B4B4-45494BAB8B6B}"/>
              </a:ext>
            </a:extLst>
          </p:cNvPr>
          <p:cNvSpPr>
            <a:spLocks noGrp="1"/>
          </p:cNvSpPr>
          <p:nvPr>
            <p:ph type="title"/>
          </p:nvPr>
        </p:nvSpPr>
        <p:spPr>
          <a:xfrm>
            <a:off x="467544" y="401969"/>
            <a:ext cx="7886700" cy="839744"/>
          </a:xfrm>
        </p:spPr>
        <p:txBody>
          <a:bodyPr/>
          <a:lstStyle/>
          <a:p>
            <a:r>
              <a:rPr lang="en-US" altLang="zh-CN" dirty="0"/>
              <a:t>5.3  </a:t>
            </a:r>
            <a:r>
              <a:rPr lang="zh-CN" altLang="en-US" dirty="0"/>
              <a:t>随机信号的带宽</a:t>
            </a:r>
          </a:p>
        </p:txBody>
      </p:sp>
      <mc:AlternateContent xmlns:mc="http://schemas.openxmlformats.org/markup-compatibility/2006">
        <mc:Choice xmlns:a14="http://schemas.microsoft.com/office/drawing/2010/main" Requires="a14">
          <p:sp>
            <p:nvSpPr>
              <p:cNvPr id="4" name="内容占位符 3">
                <a:extLst>
                  <a:ext uri="{FF2B5EF4-FFF2-40B4-BE49-F238E27FC236}">
                    <a16:creationId xmlns:a16="http://schemas.microsoft.com/office/drawing/2014/main" id="{3728F5BB-4E6A-411C-9357-5AAFB4031D3C}"/>
                  </a:ext>
                </a:extLst>
              </p:cNvPr>
              <p:cNvSpPr>
                <a:spLocks noGrp="1"/>
              </p:cNvSpPr>
              <p:nvPr>
                <p:ph idx="1"/>
              </p:nvPr>
            </p:nvSpPr>
            <p:spPr>
              <a:xfrm>
                <a:off x="624078" y="1484784"/>
                <a:ext cx="8277606" cy="4131503"/>
              </a:xfrm>
            </p:spPr>
            <p:txBody>
              <a:bodyPr/>
              <a:lstStyle/>
              <a:p>
                <a:pPr>
                  <a:buFont typeface="Wingdings" panose="05000000000000000000" pitchFamily="2" charset="2"/>
                  <a:buChar char="l"/>
                </a:pPr>
                <a:r>
                  <a:rPr lang="zh-CN" altLang="en-US" dirty="0"/>
                  <a:t>信号频带宽度（带宽）用于描述功率所占据的有效频带范围。</a:t>
                </a:r>
                <a:endParaRPr lang="en-US" altLang="zh-CN" dirty="0"/>
              </a:p>
              <a:p>
                <a:pPr>
                  <a:buFont typeface="Wingdings" panose="05000000000000000000" pitchFamily="2" charset="2"/>
                  <a:buChar char="l"/>
                </a:pPr>
                <a:r>
                  <a:rPr lang="zh-CN" altLang="en-US" dirty="0"/>
                  <a:t>根据功率谱密度</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𝑿</m:t>
                        </m:r>
                      </m:sub>
                    </m:sSub>
                    <m:d>
                      <m:dPr>
                        <m:ctrlPr>
                          <a:rPr lang="en-US" altLang="zh-CN" i="1">
                            <a:latin typeface="Cambria Math" panose="02040503050406030204" pitchFamily="18" charset="0"/>
                          </a:rPr>
                        </m:ctrlPr>
                      </m:dPr>
                      <m:e>
                        <m:r>
                          <a:rPr lang="zh-CN" altLang="en-US" i="1">
                            <a:latin typeface="Cambria Math" panose="02040503050406030204" pitchFamily="18" charset="0"/>
                          </a:rPr>
                          <m:t>𝝎</m:t>
                        </m:r>
                      </m:e>
                    </m:d>
                  </m:oMath>
                </a14:m>
                <a:r>
                  <a:rPr lang="zh-CN" altLang="en-US" dirty="0"/>
                  <a:t>，进行定义。</a:t>
                </a:r>
                <a:endParaRPr lang="en-US" altLang="zh-CN" dirty="0"/>
              </a:p>
              <a:p>
                <a:pPr>
                  <a:buFont typeface="Wingdings" panose="05000000000000000000" pitchFamily="2" charset="2"/>
                  <a:buChar char="l"/>
                </a:pPr>
                <a:r>
                  <a:rPr lang="zh-CN" altLang="en-US" dirty="0"/>
                  <a:t>功率谱密度</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𝑿</m:t>
                        </m:r>
                      </m:sub>
                    </m:sSub>
                    <m:d>
                      <m:dPr>
                        <m:ctrlPr>
                          <a:rPr lang="en-US" altLang="zh-CN" i="1">
                            <a:latin typeface="Cambria Math" panose="02040503050406030204" pitchFamily="18" charset="0"/>
                          </a:rPr>
                        </m:ctrlPr>
                      </m:dPr>
                      <m:e>
                        <m:r>
                          <a:rPr lang="zh-CN" altLang="en-US" i="1">
                            <a:latin typeface="Cambria Math" panose="02040503050406030204" pitchFamily="18" charset="0"/>
                          </a:rPr>
                          <m:t>𝝎</m:t>
                        </m:r>
                      </m:e>
                    </m:d>
                  </m:oMath>
                </a14:m>
                <a:r>
                  <a:rPr lang="zh-CN" altLang="en-US" dirty="0"/>
                  <a:t>具有偶对称性质，</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𝑿</m:t>
                        </m:r>
                      </m:sub>
                    </m:sSub>
                    <m:d>
                      <m:dPr>
                        <m:ctrlPr>
                          <a:rPr lang="en-US" altLang="zh-CN" i="1">
                            <a:latin typeface="Cambria Math" panose="02040503050406030204" pitchFamily="18" charset="0"/>
                          </a:rPr>
                        </m:ctrlPr>
                      </m:dPr>
                      <m:e>
                        <m:r>
                          <a:rPr lang="zh-CN" altLang="en-US" i="1">
                            <a:latin typeface="Cambria Math" panose="02040503050406030204" pitchFamily="18" charset="0"/>
                          </a:rPr>
                          <m:t>𝝎</m:t>
                        </m:r>
                      </m:e>
                    </m:d>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m:t>
                        </m:r>
                        <m:r>
                          <a:rPr lang="en-US" altLang="zh-CN" i="1">
                            <a:latin typeface="Cambria Math" panose="02040503050406030204" pitchFamily="18" charset="0"/>
                          </a:rPr>
                          <m:t>𝑺</m:t>
                        </m:r>
                      </m:e>
                      <m:sub>
                        <m:r>
                          <a:rPr lang="en-US" altLang="zh-CN" i="1">
                            <a:latin typeface="Cambria Math" panose="02040503050406030204" pitchFamily="18" charset="0"/>
                          </a:rPr>
                          <m:t>𝑿</m:t>
                        </m:r>
                      </m:sub>
                    </m:sSub>
                    <m:d>
                      <m:dPr>
                        <m:ctrlPr>
                          <a:rPr lang="en-US" altLang="zh-CN" i="1">
                            <a:latin typeface="Cambria Math" panose="02040503050406030204" pitchFamily="18" charset="0"/>
                          </a:rPr>
                        </m:ctrlPr>
                      </m:dPr>
                      <m:e>
                        <m:r>
                          <a:rPr lang="en-US" altLang="zh-CN" b="1" i="1" smtClean="0">
                            <a:latin typeface="Cambria Math" panose="02040503050406030204" pitchFamily="18" charset="0"/>
                          </a:rPr>
                          <m:t>−</m:t>
                        </m:r>
                        <m:r>
                          <a:rPr lang="zh-CN" altLang="en-US" i="1">
                            <a:latin typeface="Cambria Math" panose="02040503050406030204" pitchFamily="18" charset="0"/>
                          </a:rPr>
                          <m:t>𝝎</m:t>
                        </m:r>
                      </m:e>
                    </m:d>
                  </m:oMath>
                </a14:m>
                <a:endParaRPr lang="en-US" altLang="zh-CN" dirty="0"/>
              </a:p>
              <a:p>
                <a:pPr>
                  <a:buFont typeface="Wingdings" panose="05000000000000000000" pitchFamily="2" charset="2"/>
                  <a:buChar char="l"/>
                </a:pPr>
                <a:r>
                  <a:rPr lang="zh-CN" altLang="en-US" dirty="0">
                    <a:solidFill>
                      <a:schemeClr val="tx1"/>
                    </a:solidFill>
                  </a:rPr>
                  <a:t>信号的总功率为 </a:t>
                </a:r>
                <a14:m>
                  <m:oMath xmlns:m="http://schemas.openxmlformats.org/officeDocument/2006/math">
                    <m:sSub>
                      <m:sSubPr>
                        <m:ctrlPr>
                          <a:rPr lang="en-US" altLang="zh-CN" i="1">
                            <a:solidFill>
                              <a:schemeClr val="tx1"/>
                            </a:solidFill>
                            <a:latin typeface="Cambria Math" panose="02040503050406030204" pitchFamily="18" charset="0"/>
                          </a:rPr>
                        </m:ctrlPr>
                      </m:sSubPr>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𝑷</m:t>
                            </m:r>
                          </m:e>
                          <m:sub>
                            <m:r>
                              <a:rPr lang="en-US" altLang="zh-CN" i="1">
                                <a:solidFill>
                                  <a:schemeClr val="tx1"/>
                                </a:solidFill>
                                <a:latin typeface="Cambria Math" panose="02040503050406030204" pitchFamily="18" charset="0"/>
                              </a:rPr>
                              <m:t>𝑿</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𝑹</m:t>
                        </m:r>
                      </m:e>
                      <m:sub>
                        <m:r>
                          <a:rPr lang="en-US" altLang="zh-CN" i="1">
                            <a:solidFill>
                              <a:schemeClr val="tx1"/>
                            </a:solidFill>
                            <a:latin typeface="Cambria Math" panose="02040503050406030204" pitchFamily="18" charset="0"/>
                          </a:rPr>
                          <m:t>𝑿</m:t>
                        </m:r>
                      </m:sub>
                    </m:sSub>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𝟎</m:t>
                        </m:r>
                      </m:e>
                    </m:d>
                    <m:r>
                      <a:rPr lang="en-US" altLang="zh-CN" b="1" i="1" smtClean="0">
                        <a:solidFill>
                          <a:schemeClr val="tx1"/>
                        </a:solidFill>
                        <a:latin typeface="Cambria Math" panose="02040503050406030204" pitchFamily="18" charset="0"/>
                      </a:rPr>
                      <m:t>=</m:t>
                    </m:r>
                    <m:f>
                      <m:fPr>
                        <m:ctrlPr>
                          <a:rPr lang="en-US"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𝟏</m:t>
                        </m:r>
                      </m:num>
                      <m:den>
                        <m:r>
                          <a:rPr lang="en-US" altLang="zh-CN" i="1">
                            <a:solidFill>
                              <a:schemeClr val="tx1"/>
                            </a:solidFill>
                            <a:latin typeface="Cambria Math" panose="02040503050406030204" pitchFamily="18" charset="0"/>
                          </a:rPr>
                          <m:t>𝟐</m:t>
                        </m:r>
                        <m:r>
                          <a:rPr lang="zh-CN" altLang="en-US" i="1">
                            <a:solidFill>
                              <a:schemeClr val="tx1"/>
                            </a:solidFill>
                            <a:latin typeface="Cambria Math" panose="02040503050406030204" pitchFamily="18" charset="0"/>
                          </a:rPr>
                          <m:t>𝝅</m:t>
                        </m:r>
                      </m:den>
                    </m:f>
                    <m:nary>
                      <m:naryPr>
                        <m:ctrlPr>
                          <a:rPr lang="en-US" altLang="zh-CN" i="1">
                            <a:solidFill>
                              <a:schemeClr val="tx1"/>
                            </a:solidFill>
                            <a:latin typeface="Cambria Math" panose="02040503050406030204" pitchFamily="18" charset="0"/>
                          </a:rPr>
                        </m:ctrlPr>
                      </m:naryPr>
                      <m: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ea typeface="Cambria Math" panose="02040503050406030204" pitchFamily="18" charset="0"/>
                          </a:rPr>
                          <m:t>∞</m:t>
                        </m:r>
                      </m:sub>
                      <m:sup>
                        <m:r>
                          <a:rPr lang="en-US" altLang="zh-CN" i="1">
                            <a:solidFill>
                              <a:schemeClr val="tx1"/>
                            </a:solidFill>
                            <a:latin typeface="Cambria Math" panose="02040503050406030204" pitchFamily="18" charset="0"/>
                            <a:ea typeface="Cambria Math" panose="02040503050406030204" pitchFamily="18" charset="0"/>
                          </a:rPr>
                          <m:t>∞</m:t>
                        </m:r>
                      </m:sup>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𝑺</m:t>
                            </m:r>
                          </m:e>
                          <m:sub>
                            <m:r>
                              <a:rPr lang="en-US" altLang="zh-CN" i="1">
                                <a:solidFill>
                                  <a:schemeClr val="tx1"/>
                                </a:solidFill>
                                <a:latin typeface="Cambria Math" panose="02040503050406030204" pitchFamily="18" charset="0"/>
                              </a:rPr>
                              <m:t>𝑿</m:t>
                            </m:r>
                          </m:sub>
                        </m:sSub>
                        <m:d>
                          <m:dPr>
                            <m:ctrlPr>
                              <a:rPr lang="en-US" altLang="zh-CN" i="1">
                                <a:solidFill>
                                  <a:schemeClr val="tx1"/>
                                </a:solidFill>
                                <a:latin typeface="Cambria Math" panose="02040503050406030204" pitchFamily="18" charset="0"/>
                              </a:rPr>
                            </m:ctrlPr>
                          </m:dPr>
                          <m:e>
                            <m:r>
                              <a:rPr lang="zh-CN" altLang="en-US" i="1">
                                <a:solidFill>
                                  <a:schemeClr val="tx1"/>
                                </a:solidFill>
                                <a:latin typeface="Cambria Math" panose="02040503050406030204" pitchFamily="18" charset="0"/>
                              </a:rPr>
                              <m:t>𝝎</m:t>
                            </m:r>
                          </m:e>
                        </m:d>
                        <m:r>
                          <a:rPr lang="en-US" altLang="zh-CN" i="1">
                            <a:solidFill>
                              <a:schemeClr val="tx1"/>
                            </a:solidFill>
                            <a:latin typeface="Cambria Math" panose="02040503050406030204" pitchFamily="18" charset="0"/>
                          </a:rPr>
                          <m:t>𝒅</m:t>
                        </m:r>
                        <m:r>
                          <a:rPr lang="zh-CN" altLang="en-US" i="1">
                            <a:solidFill>
                              <a:schemeClr val="tx1"/>
                            </a:solidFill>
                            <a:latin typeface="Cambria Math" panose="02040503050406030204" pitchFamily="18" charset="0"/>
                          </a:rPr>
                          <m:t>𝝎</m:t>
                        </m:r>
                      </m:e>
                    </m:nary>
                  </m:oMath>
                </a14:m>
                <a:endParaRPr lang="en-US" altLang="zh-CN" dirty="0">
                  <a:solidFill>
                    <a:schemeClr val="tx1"/>
                  </a:solidFill>
                </a:endParaRPr>
              </a:p>
              <a:p>
                <a:pPr>
                  <a:buFont typeface="Wingdings" panose="05000000000000000000" pitchFamily="2" charset="2"/>
                  <a:buChar char="l"/>
                </a:pPr>
                <a:r>
                  <a:rPr lang="zh-CN" altLang="en-US" dirty="0">
                    <a:solidFill>
                      <a:schemeClr val="tx1"/>
                    </a:solidFill>
                  </a:rPr>
                  <a:t>低通信号，功率谱密度</a:t>
                </a:r>
                <a:r>
                  <a:rPr lang="zh-CN" altLang="en-US" dirty="0"/>
                  <a:t>最大值在</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𝑿</m:t>
                        </m:r>
                      </m:sub>
                    </m:sSub>
                    <m:d>
                      <m:dPr>
                        <m:ctrlPr>
                          <a:rPr lang="en-US" altLang="zh-CN" i="1">
                            <a:latin typeface="Cambria Math" panose="02040503050406030204" pitchFamily="18" charset="0"/>
                          </a:rPr>
                        </m:ctrlPr>
                      </m:dPr>
                      <m:e>
                        <m:r>
                          <a:rPr lang="en-US" altLang="zh-CN" b="1" i="1" smtClean="0">
                            <a:latin typeface="Cambria Math" panose="02040503050406030204" pitchFamily="18" charset="0"/>
                          </a:rPr>
                          <m:t>𝟎</m:t>
                        </m:r>
                      </m:e>
                    </m:d>
                  </m:oMath>
                </a14:m>
                <a:endParaRPr lang="en-US" altLang="zh-CN" dirty="0"/>
              </a:p>
              <a:p>
                <a:pPr>
                  <a:buFont typeface="Wingdings" panose="05000000000000000000" pitchFamily="2" charset="2"/>
                  <a:buChar char="l"/>
                </a:pPr>
                <a:r>
                  <a:rPr lang="zh-CN" altLang="en-US" dirty="0"/>
                  <a:t>带通信号，功率谱密度最大值在</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𝑿</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zh-CN" altLang="en-US" i="1">
                                <a:latin typeface="Cambria Math" panose="02040503050406030204" pitchFamily="18" charset="0"/>
                              </a:rPr>
                              <m:t>𝝎</m:t>
                            </m:r>
                          </m:e>
                          <m:sub>
                            <m:r>
                              <a:rPr lang="en-US" altLang="zh-CN" i="1">
                                <a:latin typeface="Cambria Math" panose="02040503050406030204" pitchFamily="18" charset="0"/>
                              </a:rPr>
                              <m:t>𝟎</m:t>
                            </m:r>
                          </m:sub>
                        </m:sSub>
                      </m:e>
                    </m:d>
                    <m:r>
                      <a:rPr lang="zh-CN" altLang="en-US" i="1" smtClean="0">
                        <a:latin typeface="Cambria Math" panose="02040503050406030204" pitchFamily="18" charset="0"/>
                      </a:rPr>
                      <m:t>，</m:t>
                    </m:r>
                  </m:oMath>
                </a14:m>
                <a:r>
                  <a:rPr lang="zh-CN" altLang="en-US" dirty="0"/>
                  <a:t>是低通信号调制得到。</a:t>
                </a:r>
                <a:endParaRPr lang="en-US" altLang="zh-CN" dirty="0"/>
              </a:p>
              <a:p>
                <a:pPr>
                  <a:buFont typeface="Wingdings" panose="05000000000000000000" pitchFamily="2" charset="2"/>
                  <a:buChar char="l"/>
                </a:pPr>
                <a:r>
                  <a:rPr lang="zh-CN" altLang="en-US" dirty="0">
                    <a:solidFill>
                      <a:srgbClr val="FF0000"/>
                    </a:solidFill>
                  </a:rPr>
                  <a:t>带宽只计算正频率部分。</a:t>
                </a:r>
                <a:endParaRPr lang="en-US" altLang="zh-CN" dirty="0">
                  <a:solidFill>
                    <a:srgbClr val="FF0000"/>
                  </a:solidFill>
                </a:endParaRPr>
              </a:p>
              <a:p>
                <a:pPr>
                  <a:buFont typeface="Wingdings" panose="05000000000000000000" pitchFamily="2" charset="2"/>
                  <a:buChar char="l"/>
                </a:pPr>
                <a:endParaRPr lang="en-US" altLang="zh-CN" dirty="0"/>
              </a:p>
              <a:p>
                <a:pPr marL="0" indent="0">
                  <a:buNone/>
                </a:pPr>
                <a:endParaRPr lang="zh-CN" altLang="en-US" dirty="0"/>
              </a:p>
            </p:txBody>
          </p:sp>
        </mc:Choice>
        <mc:Fallback>
          <p:sp>
            <p:nvSpPr>
              <p:cNvPr id="4" name="内容占位符 3">
                <a:extLst>
                  <a:ext uri="{FF2B5EF4-FFF2-40B4-BE49-F238E27FC236}">
                    <a16:creationId xmlns:a16="http://schemas.microsoft.com/office/drawing/2014/main" id="{3728F5BB-4E6A-411C-9357-5AAFB4031D3C}"/>
                  </a:ext>
                </a:extLst>
              </p:cNvPr>
              <p:cNvSpPr>
                <a:spLocks noGrp="1" noRot="1" noChangeAspect="1" noMove="1" noResize="1" noEditPoints="1" noAdjustHandles="1" noChangeArrowheads="1" noChangeShapeType="1" noTextEdit="1"/>
              </p:cNvSpPr>
              <p:nvPr>
                <p:ph idx="1"/>
              </p:nvPr>
            </p:nvSpPr>
            <p:spPr>
              <a:xfrm>
                <a:off x="624078" y="1484784"/>
                <a:ext cx="8277606" cy="4131503"/>
              </a:xfrm>
              <a:blipFill>
                <a:blip r:embed="rId2"/>
                <a:stretch>
                  <a:fillRect l="-736" t="-14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35915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1379" name="内容占位符 101378"/>
          <p:cNvGraphicFramePr>
            <a:graphicFrameLocks noGrp="1"/>
          </p:cNvGraphicFramePr>
          <p:nvPr>
            <p:ph idx="1"/>
            <p:extLst>
              <p:ext uri="{D42A27DB-BD31-4B8C-83A1-F6EECF244321}">
                <p14:modId xmlns:p14="http://schemas.microsoft.com/office/powerpoint/2010/main" val="3673001489"/>
              </p:ext>
            </p:extLst>
          </p:nvPr>
        </p:nvGraphicFramePr>
        <p:xfrm>
          <a:off x="719137" y="836712"/>
          <a:ext cx="7705725" cy="4349750"/>
        </p:xfrm>
        <a:graphic>
          <a:graphicData uri="http://schemas.openxmlformats.org/presentationml/2006/ole">
            <mc:AlternateContent xmlns:mc="http://schemas.openxmlformats.org/markup-compatibility/2006">
              <mc:Choice xmlns:v="urn:schemas-microsoft-com:vml" Requires="v">
                <p:oleObj spid="_x0000_s13352" r:id="rId3" imgW="7899400" imgH="4457700" progId="Photoshop.Image.7">
                  <p:embed/>
                </p:oleObj>
              </mc:Choice>
              <mc:Fallback>
                <p:oleObj r:id="rId3" imgW="7899400" imgH="4457700" progId="Photoshop.Image.7">
                  <p:embed/>
                  <p:pic>
                    <p:nvPicPr>
                      <p:cNvPr id="101379" name="内容占位符 101378"/>
                      <p:cNvPicPr/>
                      <p:nvPr/>
                    </p:nvPicPr>
                    <p:blipFill>
                      <a:blip r:embed="rId4"/>
                      <a:stretch>
                        <a:fillRect/>
                      </a:stretch>
                    </p:blipFill>
                    <p:spPr>
                      <a:xfrm>
                        <a:off x="719137" y="836712"/>
                        <a:ext cx="7705725" cy="4349750"/>
                      </a:xfrm>
                      <a:prstGeom prst="rect">
                        <a:avLst/>
                      </a:prstGeom>
                      <a:noFill/>
                      <a:ln w="38100">
                        <a:miter/>
                      </a:ln>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03" name="内容占位符 102402"/>
          <p:cNvGraphicFramePr>
            <a:graphicFrameLocks noGrp="1"/>
          </p:cNvGraphicFramePr>
          <p:nvPr>
            <p:ph idx="1"/>
            <p:extLst>
              <p:ext uri="{D42A27DB-BD31-4B8C-83A1-F6EECF244321}">
                <p14:modId xmlns:p14="http://schemas.microsoft.com/office/powerpoint/2010/main" val="793251966"/>
              </p:ext>
            </p:extLst>
          </p:nvPr>
        </p:nvGraphicFramePr>
        <p:xfrm>
          <a:off x="467544" y="980728"/>
          <a:ext cx="7991475" cy="4408487"/>
        </p:xfrm>
        <a:graphic>
          <a:graphicData uri="http://schemas.openxmlformats.org/presentationml/2006/ole">
            <mc:AlternateContent xmlns:mc="http://schemas.openxmlformats.org/markup-compatibility/2006">
              <mc:Choice xmlns:v="urn:schemas-microsoft-com:vml" Requires="v">
                <p:oleObj spid="_x0000_s14376" r:id="rId3" imgW="8013700" imgH="4419600" progId="Photoshop.Image.7">
                  <p:embed/>
                </p:oleObj>
              </mc:Choice>
              <mc:Fallback>
                <p:oleObj r:id="rId3" imgW="8013700" imgH="4419600" progId="Photoshop.Image.7">
                  <p:embed/>
                  <p:pic>
                    <p:nvPicPr>
                      <p:cNvPr id="102403" name="内容占位符 102402"/>
                      <p:cNvPicPr/>
                      <p:nvPr/>
                    </p:nvPicPr>
                    <p:blipFill>
                      <a:blip r:embed="rId4"/>
                      <a:stretch>
                        <a:fillRect/>
                      </a:stretch>
                    </p:blipFill>
                    <p:spPr>
                      <a:xfrm>
                        <a:off x="467544" y="980728"/>
                        <a:ext cx="7991475" cy="4408487"/>
                      </a:xfrm>
                      <a:prstGeom prst="rect">
                        <a:avLst/>
                      </a:prstGeom>
                      <a:noFill/>
                      <a:ln w="38100">
                        <a:miter/>
                      </a:ln>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AEA8FE0D-94A9-48A1-9AEB-C24E8D3B3E38}"/>
                  </a:ext>
                </a:extLst>
              </p:cNvPr>
              <p:cNvSpPr>
                <a:spLocks noGrp="1"/>
              </p:cNvSpPr>
              <p:nvPr>
                <p:ph/>
              </p:nvPr>
            </p:nvSpPr>
            <p:spPr>
              <a:xfrm>
                <a:off x="484633" y="1119700"/>
                <a:ext cx="7511795" cy="4119812"/>
              </a:xfrm>
            </p:spPr>
            <p:txBody>
              <a:bodyPr/>
              <a:lstStyle/>
              <a:p>
                <a:pPr marL="0" indent="0">
                  <a:lnSpc>
                    <a:spcPct val="150000"/>
                  </a:lnSpc>
                  <a:buNone/>
                </a:pPr>
                <a:r>
                  <a:rPr lang="en-US" altLang="zh-CN" dirty="0">
                    <a:solidFill>
                      <a:srgbClr val="FF0000"/>
                    </a:solidFill>
                  </a:rPr>
                  <a:t>3</a:t>
                </a:r>
                <a:r>
                  <a:rPr lang="zh-CN" altLang="en-US" dirty="0">
                    <a:solidFill>
                      <a:srgbClr val="FF0000"/>
                    </a:solidFill>
                  </a:rPr>
                  <a:t>、</a:t>
                </a:r>
                <a:r>
                  <a:rPr lang="en-US" altLang="zh-CN" dirty="0">
                    <a:solidFill>
                      <a:srgbClr val="FF0000"/>
                    </a:solidFill>
                  </a:rPr>
                  <a:t>3dB</a:t>
                </a:r>
                <a:r>
                  <a:rPr lang="zh-CN" altLang="en-US" dirty="0">
                    <a:solidFill>
                      <a:srgbClr val="FF0000"/>
                    </a:solidFill>
                  </a:rPr>
                  <a:t>带宽</a:t>
                </a:r>
                <a:endParaRPr lang="en-US" altLang="zh-CN" dirty="0">
                  <a:solidFill>
                    <a:srgbClr val="FF0000"/>
                  </a:solidFill>
                </a:endParaRPr>
              </a:p>
              <a:p>
                <a:pPr marL="0" indent="0">
                  <a:lnSpc>
                    <a:spcPct val="150000"/>
                  </a:lnSpc>
                  <a:buNone/>
                </a:pPr>
                <a:r>
                  <a:rPr lang="zh-CN" altLang="en-US" dirty="0"/>
                  <a:t>低通信号</a:t>
                </a:r>
                <a14:m>
                  <m:oMath xmlns:m="http://schemas.openxmlformats.org/officeDocument/2006/math">
                    <m:r>
                      <a:rPr lang="zh-CN" altLang="en-US" b="1" i="1" dirty="0">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𝝎</m:t>
                        </m:r>
                      </m:e>
                      <m:sub>
                        <m:r>
                          <a:rPr lang="en-US" altLang="zh-CN" b="0">
                            <a:latin typeface="Cambria Math" panose="02040503050406030204" pitchFamily="18" charset="0"/>
                          </a:rPr>
                          <m:t>3</m:t>
                        </m:r>
                        <m:r>
                          <m:rPr>
                            <m:sty m:val="p"/>
                          </m:rPr>
                          <a:rPr lang="en-US" altLang="zh-CN" i="1">
                            <a:latin typeface="Cambria Math" panose="02040503050406030204" pitchFamily="18" charset="0"/>
                          </a:rPr>
                          <m:t>db</m:t>
                        </m:r>
                      </m:sub>
                    </m:sSub>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zh-CN" altLang="en-US" i="1">
                                <a:latin typeface="Cambria Math" panose="02040503050406030204" pitchFamily="18" charset="0"/>
                              </a:rPr>
                              <m:t>𝝎</m:t>
                            </m:r>
                            <m:r>
                              <a:rPr lang="en-US" altLang="zh-CN" i="1">
                                <a:latin typeface="Cambria Math" panose="02040503050406030204" pitchFamily="18" charset="0"/>
                                <a:ea typeface="Cambria Math" panose="02040503050406030204" pitchFamily="18" charset="0"/>
                              </a:rPr>
                              <m:t>&gt;</m:t>
                            </m:r>
                            <m:r>
                              <a:rPr lang="en-US" altLang="zh-CN" i="1">
                                <a:latin typeface="Cambria Math" panose="02040503050406030204" pitchFamily="18" charset="0"/>
                                <a:ea typeface="Cambria Math" panose="02040503050406030204" pitchFamily="18" charset="0"/>
                              </a:rPr>
                              <m:t>𝟎</m:t>
                            </m:r>
                            <m:r>
                              <a:rPr lang="en-US" altLang="zh-CN" i="1">
                                <a:latin typeface="Cambria Math" panose="02040503050406030204" pitchFamily="18" charset="0"/>
                              </a:rPr>
                              <m:t>|</m:t>
                            </m:r>
                            <m:r>
                              <a:rPr lang="en-US" altLang="zh-CN" i="1">
                                <a:latin typeface="Cambria Math" panose="02040503050406030204" pitchFamily="18" charset="0"/>
                              </a:rPr>
                              <m:t>𝑺</m:t>
                            </m:r>
                          </m:e>
                          <m:sub>
                            <m:r>
                              <a:rPr lang="en-US" altLang="zh-CN" i="1">
                                <a:latin typeface="Cambria Math" panose="02040503050406030204" pitchFamily="18" charset="0"/>
                              </a:rPr>
                              <m:t>𝑿</m:t>
                            </m:r>
                          </m:sub>
                        </m:sSub>
                        <m:d>
                          <m:dPr>
                            <m:ctrlPr>
                              <a:rPr lang="en-US" altLang="zh-CN" i="1">
                                <a:latin typeface="Cambria Math" panose="02040503050406030204" pitchFamily="18" charset="0"/>
                              </a:rPr>
                            </m:ctrlPr>
                          </m:dPr>
                          <m:e>
                            <m:r>
                              <a:rPr lang="zh-CN" altLang="en-US" i="1">
                                <a:latin typeface="Cambria Math" panose="02040503050406030204" pitchFamily="18" charset="0"/>
                              </a:rPr>
                              <m:t>𝝎</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f>
                              <m:fPr>
                                <m:ctrlPr>
                                  <a:rPr lang="en-US" altLang="zh-CN" i="1">
                                    <a:latin typeface="Cambria Math" panose="02040503050406030204" pitchFamily="18" charset="0"/>
                                  </a:rPr>
                                </m:ctrlPr>
                              </m:fPr>
                              <m:num>
                                <m:r>
                                  <a:rPr lang="en-US" altLang="zh-CN" i="1">
                                    <a:latin typeface="Cambria Math" panose="02040503050406030204" pitchFamily="18" charset="0"/>
                                  </a:rPr>
                                  <m:t>𝟏</m:t>
                                </m:r>
                              </m:num>
                              <m:den>
                                <m:r>
                                  <a:rPr lang="en-US" altLang="zh-CN" i="1">
                                    <a:latin typeface="Cambria Math" panose="02040503050406030204" pitchFamily="18" charset="0"/>
                                  </a:rPr>
                                  <m:t>𝟐</m:t>
                                </m:r>
                              </m:den>
                            </m:f>
                            <m:r>
                              <a:rPr lang="en-US" altLang="zh-CN" i="1">
                                <a:latin typeface="Cambria Math" panose="02040503050406030204" pitchFamily="18" charset="0"/>
                              </a:rPr>
                              <m:t>𝑺</m:t>
                            </m:r>
                          </m:e>
                          <m:sub>
                            <m:r>
                              <a:rPr lang="en-US" altLang="zh-CN" i="1">
                                <a:latin typeface="Cambria Math" panose="02040503050406030204" pitchFamily="18" charset="0"/>
                              </a:rPr>
                              <m:t>𝑿</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𝟎</m:t>
                            </m:r>
                          </m:e>
                        </m:d>
                      </m:e>
                    </m:d>
                  </m:oMath>
                </a14:m>
                <a:endParaRPr lang="en-US" altLang="zh-CN" i="1" dirty="0">
                  <a:latin typeface="Cambria Math" panose="02040503050406030204" pitchFamily="18" charset="0"/>
                </a:endParaRPr>
              </a:p>
              <a:p>
                <a:pPr marL="0" indent="0">
                  <a:lnSpc>
                    <a:spcPct val="150000"/>
                  </a:lnSpc>
                  <a:buNone/>
                </a:pPr>
                <a:r>
                  <a:rPr lang="zh-CN" altLang="en-US" dirty="0">
                    <a:solidFill>
                      <a:schemeClr val="tx1"/>
                    </a:solidFill>
                  </a:rPr>
                  <a:t>带通信号</a:t>
                </a:r>
                <a14:m>
                  <m:oMath xmlns:m="http://schemas.openxmlformats.org/officeDocument/2006/math">
                    <m:r>
                      <a:rPr lang="zh-CN" altLang="en-US" i="1" dirty="0">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𝝎</m:t>
                        </m:r>
                      </m:e>
                      <m:sub>
                        <m:r>
                          <a:rPr lang="en-US" altLang="zh-CN" b="0">
                            <a:solidFill>
                              <a:schemeClr val="tx1"/>
                            </a:solidFill>
                            <a:latin typeface="Cambria Math" panose="02040503050406030204" pitchFamily="18" charset="0"/>
                          </a:rPr>
                          <m:t>3</m:t>
                        </m:r>
                        <m:r>
                          <m:rPr>
                            <m:sty m:val="p"/>
                          </m:rPr>
                          <a:rPr lang="en-US" altLang="zh-CN" i="1">
                            <a:solidFill>
                              <a:schemeClr val="tx1"/>
                            </a:solidFill>
                            <a:latin typeface="Cambria Math" panose="02040503050406030204" pitchFamily="18" charset="0"/>
                          </a:rPr>
                          <m:t>db</m:t>
                        </m:r>
                      </m:sub>
                    </m:sSub>
                    <m:r>
                      <a:rPr lang="en-US" altLang="zh-CN" i="1">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𝟐</m:t>
                    </m:r>
                    <m:r>
                      <a:rPr lang="en-US" altLang="zh-CN" i="1">
                        <a:solidFill>
                          <a:schemeClr val="tx1"/>
                        </a:solidFill>
                        <a:latin typeface="Cambria Math" panose="02040503050406030204" pitchFamily="18" charset="0"/>
                      </a:rPr>
                      <m:t>×</m:t>
                    </m:r>
                    <m:d>
                      <m:dPr>
                        <m:begChr m:val="["/>
                        <m:endChr m:val="]"/>
                        <m:ctrlPr>
                          <a:rPr lang="en-US" altLang="zh-CN" i="1" smtClean="0">
                            <a:solidFill>
                              <a:schemeClr val="tx1"/>
                            </a:solidFill>
                            <a:latin typeface="Cambria Math" panose="02040503050406030204" pitchFamily="18" charset="0"/>
                          </a:rPr>
                        </m:ctrlPr>
                      </m:dPr>
                      <m:e>
                        <m:d>
                          <m:dPr>
                            <m:begChr m:val="{"/>
                            <m:endChr m:val="}"/>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𝝎</m:t>
                                </m:r>
                                <m:r>
                                  <a:rPr lang="en-US" altLang="zh-CN" i="1">
                                    <a:solidFill>
                                      <a:schemeClr val="tx1"/>
                                    </a:solidFill>
                                    <a:latin typeface="Cambria Math" panose="02040503050406030204" pitchFamily="18" charset="0"/>
                                    <a:ea typeface="Cambria Math" panose="02040503050406030204" pitchFamily="18" charset="0"/>
                                  </a:rPr>
                                  <m:t>&gt;</m:t>
                                </m:r>
                                <m:sSub>
                                  <m:sSubPr>
                                    <m:ctrlPr>
                                      <a:rPr lang="en-US" altLang="zh-CN"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𝝎</m:t>
                                    </m:r>
                                  </m:e>
                                  <m:sub>
                                    <m:r>
                                      <a:rPr lang="en-US" altLang="zh-CN" i="1">
                                        <a:solidFill>
                                          <a:schemeClr val="tx1"/>
                                        </a:solidFill>
                                        <a:latin typeface="Cambria Math" panose="02040503050406030204" pitchFamily="18" charset="0"/>
                                      </a:rPr>
                                      <m:t>𝟎</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𝑺</m:t>
                                </m:r>
                              </m:e>
                              <m:sub>
                                <m:r>
                                  <a:rPr lang="en-US" altLang="zh-CN" i="1">
                                    <a:solidFill>
                                      <a:schemeClr val="tx1"/>
                                    </a:solidFill>
                                    <a:latin typeface="Cambria Math" panose="02040503050406030204" pitchFamily="18" charset="0"/>
                                  </a:rPr>
                                  <m:t>𝑿</m:t>
                                </m:r>
                              </m:sub>
                            </m:sSub>
                            <m:d>
                              <m:dPr>
                                <m:ctrlPr>
                                  <a:rPr lang="en-US" altLang="zh-CN" i="1">
                                    <a:solidFill>
                                      <a:schemeClr val="tx1"/>
                                    </a:solidFill>
                                    <a:latin typeface="Cambria Math" panose="02040503050406030204" pitchFamily="18" charset="0"/>
                                  </a:rPr>
                                </m:ctrlPr>
                              </m:dPr>
                              <m:e>
                                <m:r>
                                  <a:rPr lang="zh-CN" altLang="en-US" i="1">
                                    <a:solidFill>
                                      <a:schemeClr val="tx1"/>
                                    </a:solidFill>
                                    <a:latin typeface="Cambria Math" panose="02040503050406030204" pitchFamily="18" charset="0"/>
                                  </a:rPr>
                                  <m:t>𝝎</m:t>
                                </m:r>
                              </m:e>
                            </m:d>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f>
                                  <m:fPr>
                                    <m:ctrlPr>
                                      <a:rPr lang="en-US"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𝟏</m:t>
                                    </m:r>
                                  </m:num>
                                  <m:den>
                                    <m:r>
                                      <a:rPr lang="en-US" altLang="zh-CN" i="1">
                                        <a:solidFill>
                                          <a:schemeClr val="tx1"/>
                                        </a:solidFill>
                                        <a:latin typeface="Cambria Math" panose="02040503050406030204" pitchFamily="18" charset="0"/>
                                      </a:rPr>
                                      <m:t>𝟐</m:t>
                                    </m:r>
                                  </m:den>
                                </m:f>
                                <m:r>
                                  <a:rPr lang="en-US" altLang="zh-CN" i="1">
                                    <a:solidFill>
                                      <a:schemeClr val="tx1"/>
                                    </a:solidFill>
                                    <a:latin typeface="Cambria Math" panose="02040503050406030204" pitchFamily="18" charset="0"/>
                                  </a:rPr>
                                  <m:t>𝑺</m:t>
                                </m:r>
                              </m:e>
                              <m:sub>
                                <m:r>
                                  <a:rPr lang="en-US" altLang="zh-CN" i="1">
                                    <a:solidFill>
                                      <a:schemeClr val="tx1"/>
                                    </a:solidFill>
                                    <a:latin typeface="Cambria Math" panose="02040503050406030204" pitchFamily="18" charset="0"/>
                                  </a:rPr>
                                  <m:t>𝑿</m:t>
                                </m:r>
                              </m:sub>
                            </m:sSub>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𝝎</m:t>
                                    </m:r>
                                  </m:e>
                                  <m:sub>
                                    <m:r>
                                      <a:rPr lang="en-US" altLang="zh-CN" i="1">
                                        <a:solidFill>
                                          <a:schemeClr val="tx1"/>
                                        </a:solidFill>
                                        <a:latin typeface="Cambria Math" panose="02040503050406030204" pitchFamily="18" charset="0"/>
                                      </a:rPr>
                                      <m:t>𝟎</m:t>
                                    </m:r>
                                  </m:sub>
                                </m:sSub>
                              </m:e>
                            </m:d>
                          </m:e>
                        </m:d>
                        <m:r>
                          <a:rPr lang="en-US" altLang="zh-CN">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𝝎</m:t>
                            </m:r>
                          </m:e>
                          <m:sub>
                            <m:r>
                              <a:rPr lang="en-US" altLang="zh-CN" i="1">
                                <a:solidFill>
                                  <a:schemeClr val="tx1"/>
                                </a:solidFill>
                                <a:latin typeface="Cambria Math" panose="02040503050406030204" pitchFamily="18" charset="0"/>
                              </a:rPr>
                              <m:t>𝟎</m:t>
                            </m:r>
                          </m:sub>
                        </m:sSub>
                      </m:e>
                    </m:d>
                  </m:oMath>
                </a14:m>
                <a:endParaRPr lang="en-US" altLang="zh-CN" dirty="0">
                  <a:solidFill>
                    <a:schemeClr val="tx1"/>
                  </a:solidFill>
                </a:endParaRPr>
              </a:p>
              <a:p>
                <a:pPr marL="0" indent="0">
                  <a:lnSpc>
                    <a:spcPct val="150000"/>
                  </a:lnSpc>
                  <a:buNone/>
                </a:pPr>
                <a:r>
                  <a:rPr lang="en-US" altLang="zh-CN" dirty="0">
                    <a:solidFill>
                      <a:srgbClr val="FF0000"/>
                    </a:solidFill>
                  </a:rPr>
                  <a:t>4</a:t>
                </a:r>
                <a:r>
                  <a:rPr lang="zh-CN" altLang="en-US" dirty="0">
                    <a:solidFill>
                      <a:srgbClr val="FF0000"/>
                    </a:solidFill>
                  </a:rPr>
                  <a:t>、第一零点带宽</a:t>
                </a:r>
                <a:endParaRPr lang="en-US" altLang="zh-CN" dirty="0">
                  <a:solidFill>
                    <a:srgbClr val="FF0000"/>
                  </a:solidFill>
                </a:endParaRPr>
              </a:p>
              <a:p>
                <a:pPr marL="0" indent="0">
                  <a:lnSpc>
                    <a:spcPct val="150000"/>
                  </a:lnSpc>
                  <a:buNone/>
                </a:pPr>
                <a:r>
                  <a:rPr lang="zh-CN" altLang="en-US" dirty="0">
                    <a:solidFill>
                      <a:schemeClr val="tx1"/>
                    </a:solidFill>
                  </a:rPr>
                  <a:t>低通信号：</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𝝎</m:t>
                        </m:r>
                      </m:e>
                      <m:sub>
                        <m:r>
                          <m:rPr>
                            <m:sty m:val="p"/>
                          </m:rPr>
                          <a:rPr lang="en-US" altLang="zh-CN" i="1">
                            <a:solidFill>
                              <a:schemeClr val="tx1"/>
                            </a:solidFill>
                            <a:latin typeface="Cambria Math" panose="02040503050406030204" pitchFamily="18" charset="0"/>
                          </a:rPr>
                          <m:t>fz</m:t>
                        </m:r>
                      </m:sub>
                    </m:sSub>
                  </m:oMath>
                </a14:m>
                <a:r>
                  <a:rPr lang="en-US" altLang="zh-CN" dirty="0">
                    <a:solidFill>
                      <a:schemeClr val="tx1"/>
                    </a:solidFill>
                  </a:rPr>
                  <a:t> </a:t>
                </a:r>
                <a14:m>
                  <m:oMath xmlns:m="http://schemas.openxmlformats.org/officeDocument/2006/math">
                    <m:r>
                      <a:rPr lang="en-US" altLang="zh-CN" i="1" dirty="0">
                        <a:latin typeface="Cambria Math" panose="02040503050406030204" pitchFamily="18" charset="0"/>
                      </a:rPr>
                      <m:t>=</m:t>
                    </m:r>
                    <m:r>
                      <a:rPr lang="en-US" altLang="zh-CN" i="1">
                        <a:solidFill>
                          <a:schemeClr val="tx1"/>
                        </a:solidFill>
                        <a:latin typeface="Cambria Math" panose="02040503050406030204" pitchFamily="18" charset="0"/>
                      </a:rPr>
                      <m:t>𝒎𝒊𝒏</m:t>
                    </m:r>
                  </m:oMath>
                </a14:m>
                <a:r>
                  <a:rPr lang="en-US" altLang="zh-CN" dirty="0">
                    <a:solidFill>
                      <a:schemeClr val="tx1"/>
                    </a:solidFill>
                  </a:rPr>
                  <a:t> </a:t>
                </a:r>
                <a14:m>
                  <m:oMath xmlns:m="http://schemas.openxmlformats.org/officeDocument/2006/math">
                    <m:d>
                      <m:dPr>
                        <m:begChr m:val="{"/>
                        <m:endChr m:val="}"/>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𝝎</m:t>
                            </m:r>
                            <m:r>
                              <a:rPr lang="zh-CN" altLang="en-US" i="1">
                                <a:solidFill>
                                  <a:schemeClr val="tx1"/>
                                </a:solidFill>
                                <a:latin typeface="Cambria Math" panose="02040503050406030204" pitchFamily="18" charset="0"/>
                              </a:rPr>
                              <m:t>&gt;</m:t>
                            </m:r>
                            <m:r>
                              <a:rPr lang="en-US" altLang="zh-CN" b="1" i="1" smtClean="0">
                                <a:solidFill>
                                  <a:schemeClr val="tx1"/>
                                </a:solidFill>
                                <a:latin typeface="Cambria Math" panose="02040503050406030204" pitchFamily="18" charset="0"/>
                              </a:rPr>
                              <m:t>𝟎</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𝑺</m:t>
                            </m:r>
                          </m:e>
                          <m:sub>
                            <m:r>
                              <a:rPr lang="en-US" altLang="zh-CN" i="1">
                                <a:solidFill>
                                  <a:schemeClr val="tx1"/>
                                </a:solidFill>
                                <a:latin typeface="Cambria Math" panose="02040503050406030204" pitchFamily="18" charset="0"/>
                              </a:rPr>
                              <m:t>𝑿</m:t>
                            </m:r>
                          </m:sub>
                        </m:sSub>
                        <m:d>
                          <m:dPr>
                            <m:ctrlPr>
                              <a:rPr lang="en-US" altLang="zh-CN" i="1">
                                <a:solidFill>
                                  <a:schemeClr val="tx1"/>
                                </a:solidFill>
                                <a:latin typeface="Cambria Math" panose="02040503050406030204" pitchFamily="18" charset="0"/>
                              </a:rPr>
                            </m:ctrlPr>
                          </m:dPr>
                          <m:e>
                            <m:r>
                              <a:rPr lang="zh-CN" altLang="en-US" i="1">
                                <a:solidFill>
                                  <a:schemeClr val="tx1"/>
                                </a:solidFill>
                                <a:latin typeface="Cambria Math" panose="02040503050406030204" pitchFamily="18" charset="0"/>
                              </a:rPr>
                              <m:t>𝝎</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𝟎</m:t>
                        </m:r>
                      </m:e>
                    </m:d>
                  </m:oMath>
                </a14:m>
                <a:endParaRPr lang="en-US" altLang="zh-CN" dirty="0">
                  <a:solidFill>
                    <a:schemeClr val="tx1"/>
                  </a:solidFill>
                </a:endParaRPr>
              </a:p>
              <a:p>
                <a:pPr marL="0" indent="0">
                  <a:lnSpc>
                    <a:spcPct val="150000"/>
                  </a:lnSpc>
                  <a:buNone/>
                </a:pPr>
                <a:r>
                  <a:rPr lang="zh-CN" altLang="en-US" dirty="0">
                    <a:solidFill>
                      <a:schemeClr val="tx1"/>
                    </a:solidFill>
                  </a:rPr>
                  <a:t>带通信号：</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𝝎</m:t>
                        </m:r>
                      </m:e>
                      <m:sub>
                        <m:r>
                          <m:rPr>
                            <m:sty m:val="p"/>
                          </m:rPr>
                          <a:rPr lang="en-US" altLang="zh-CN" i="1">
                            <a:solidFill>
                              <a:schemeClr val="tx1"/>
                            </a:solidFill>
                            <a:latin typeface="Cambria Math" panose="02040503050406030204" pitchFamily="18" charset="0"/>
                          </a:rPr>
                          <m:t>fz</m:t>
                        </m:r>
                      </m:sub>
                    </m:sSub>
                  </m:oMath>
                </a14:m>
                <a:r>
                  <a:rPr lang="en-US" altLang="zh-CN" dirty="0">
                    <a:solidFill>
                      <a:schemeClr val="tx1"/>
                    </a:solidFill>
                  </a:rPr>
                  <a:t> </a:t>
                </a:r>
                <a14:m>
                  <m:oMath xmlns:m="http://schemas.openxmlformats.org/officeDocument/2006/math">
                    <m:r>
                      <a:rPr lang="en-US" altLang="zh-CN" i="1" dirty="0">
                        <a:latin typeface="Cambria Math" panose="02040503050406030204" pitchFamily="18" charset="0"/>
                      </a:rPr>
                      <m:t>=</m:t>
                    </m:r>
                    <m:r>
                      <a:rPr lang="en-US" altLang="zh-CN" i="1">
                        <a:latin typeface="Cambria Math" panose="02040503050406030204" pitchFamily="18" charset="0"/>
                      </a:rPr>
                      <m:t>𝟐</m:t>
                    </m:r>
                    <m:r>
                      <a:rPr lang="en-US" altLang="zh-CN" i="1">
                        <a:latin typeface="Cambria Math" panose="02040503050406030204" pitchFamily="18" charset="0"/>
                      </a:rPr>
                      <m:t>× </m:t>
                    </m:r>
                    <m:d>
                      <m:dPr>
                        <m:begChr m:val="["/>
                        <m:endChr m:val="]"/>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𝒎𝒊𝒏</m:t>
                        </m:r>
                        <m:r>
                          <m:rPr>
                            <m:nor/>
                          </m:rPr>
                          <a:rPr lang="en-US" altLang="zh-CN" dirty="0">
                            <a:solidFill>
                              <a:schemeClr val="tx1"/>
                            </a:solidFill>
                          </a:rPr>
                          <m:t> </m:t>
                        </m:r>
                        <m:d>
                          <m:dPr>
                            <m:begChr m:val="{"/>
                            <m:endChr m:val="}"/>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𝝎</m:t>
                                </m:r>
                                <m:r>
                                  <a:rPr lang="zh-CN" altLang="en-US" i="1">
                                    <a:solidFill>
                                      <a:schemeClr val="tx1"/>
                                    </a:solidFill>
                                    <a:latin typeface="Cambria Math" panose="02040503050406030204" pitchFamily="18" charset="0"/>
                                  </a:rPr>
                                  <m:t>&gt;</m:t>
                                </m:r>
                                <m:sSub>
                                  <m:sSubPr>
                                    <m:ctrlPr>
                                      <a:rPr lang="en-US" altLang="zh-CN"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𝝎</m:t>
                                    </m:r>
                                  </m:e>
                                  <m:sub>
                                    <m:r>
                                      <a:rPr lang="en-US" altLang="zh-CN" i="1">
                                        <a:solidFill>
                                          <a:schemeClr val="tx1"/>
                                        </a:solidFill>
                                        <a:latin typeface="Cambria Math" panose="02040503050406030204" pitchFamily="18" charset="0"/>
                                      </a:rPr>
                                      <m:t>𝟎</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𝑺</m:t>
                                </m:r>
                              </m:e>
                              <m:sub>
                                <m:r>
                                  <a:rPr lang="en-US" altLang="zh-CN" i="1">
                                    <a:solidFill>
                                      <a:schemeClr val="tx1"/>
                                    </a:solidFill>
                                    <a:latin typeface="Cambria Math" panose="02040503050406030204" pitchFamily="18" charset="0"/>
                                  </a:rPr>
                                  <m:t>𝑿</m:t>
                                </m:r>
                              </m:sub>
                            </m:sSub>
                            <m:d>
                              <m:dPr>
                                <m:ctrlPr>
                                  <a:rPr lang="en-US" altLang="zh-CN" i="1">
                                    <a:solidFill>
                                      <a:schemeClr val="tx1"/>
                                    </a:solidFill>
                                    <a:latin typeface="Cambria Math" panose="02040503050406030204" pitchFamily="18" charset="0"/>
                                  </a:rPr>
                                </m:ctrlPr>
                              </m:dPr>
                              <m:e>
                                <m:r>
                                  <a:rPr lang="zh-CN" altLang="en-US" i="1">
                                    <a:solidFill>
                                      <a:schemeClr val="tx1"/>
                                    </a:solidFill>
                                    <a:latin typeface="Cambria Math" panose="02040503050406030204" pitchFamily="18" charset="0"/>
                                  </a:rPr>
                                  <m:t>𝝎</m:t>
                                </m:r>
                              </m:e>
                            </m:d>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𝟎</m:t>
                            </m:r>
                          </m:e>
                        </m:d>
                        <m:r>
                          <a:rPr lang="en-US" altLang="zh-CN">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𝝎</m:t>
                            </m:r>
                          </m:e>
                          <m:sub>
                            <m:r>
                              <a:rPr lang="en-US" altLang="zh-CN" i="1">
                                <a:solidFill>
                                  <a:schemeClr val="tx1"/>
                                </a:solidFill>
                                <a:latin typeface="Cambria Math" panose="02040503050406030204" pitchFamily="18" charset="0"/>
                              </a:rPr>
                              <m:t>𝟎</m:t>
                            </m:r>
                          </m:sub>
                        </m:sSub>
                      </m:e>
                    </m:d>
                  </m:oMath>
                </a14:m>
                <a:endParaRPr lang="en-US" altLang="zh-CN" dirty="0">
                  <a:solidFill>
                    <a:srgbClr val="FF0000"/>
                  </a:solidFill>
                </a:endParaRPr>
              </a:p>
            </p:txBody>
          </p:sp>
        </mc:Choice>
        <mc:Fallback xmlns="">
          <p:sp>
            <p:nvSpPr>
              <p:cNvPr id="4" name="内容占位符 3">
                <a:extLst>
                  <a:ext uri="{FF2B5EF4-FFF2-40B4-BE49-F238E27FC236}">
                    <a16:creationId xmlns:a16="http://schemas.microsoft.com/office/drawing/2014/main" id="{AEA8FE0D-94A9-48A1-9AEB-C24E8D3B3E38}"/>
                  </a:ext>
                </a:extLst>
              </p:cNvPr>
              <p:cNvSpPr>
                <a:spLocks noGrp="1" noRot="1" noChangeAspect="1" noMove="1" noResize="1" noEditPoints="1" noAdjustHandles="1" noChangeArrowheads="1" noChangeShapeType="1" noTextEdit="1"/>
              </p:cNvSpPr>
              <p:nvPr>
                <p:ph/>
              </p:nvPr>
            </p:nvSpPr>
            <p:spPr>
              <a:xfrm>
                <a:off x="484633" y="1119700"/>
                <a:ext cx="7511795" cy="4119812"/>
              </a:xfrm>
              <a:blipFill>
                <a:blip r:embed="rId2"/>
                <a:stretch>
                  <a:fillRect l="-9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29295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3FBF9E58-85B4-47B2-A813-B94ADAE6BB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3224" y="887523"/>
            <a:ext cx="6623031" cy="4714909"/>
          </a:xfrm>
          <a:prstGeom prst="rect">
            <a:avLst/>
          </a:prstGeom>
        </p:spPr>
      </p:pic>
    </p:spTree>
    <p:extLst>
      <p:ext uri="{BB962C8B-B14F-4D97-AF65-F5344CB8AC3E}">
        <p14:creationId xmlns:p14="http://schemas.microsoft.com/office/powerpoint/2010/main" val="1365408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AEA8FE0D-94A9-48A1-9AEB-C24E8D3B3E38}"/>
                  </a:ext>
                </a:extLst>
              </p:cNvPr>
              <p:cNvSpPr>
                <a:spLocks noGrp="1"/>
              </p:cNvSpPr>
              <p:nvPr>
                <p:ph/>
              </p:nvPr>
            </p:nvSpPr>
            <p:spPr>
              <a:xfrm>
                <a:off x="464059" y="975682"/>
                <a:ext cx="8255000" cy="4627304"/>
              </a:xfrm>
            </p:spPr>
            <p:txBody>
              <a:bodyPr/>
              <a:lstStyle/>
              <a:p>
                <a:pPr marL="0" indent="0">
                  <a:lnSpc>
                    <a:spcPct val="150000"/>
                  </a:lnSpc>
                  <a:buNone/>
                </a:pPr>
                <a:r>
                  <a:rPr lang="en-US" altLang="zh-CN" dirty="0">
                    <a:solidFill>
                      <a:srgbClr val="FF0000"/>
                    </a:solidFill>
                  </a:rPr>
                  <a:t>5</a:t>
                </a:r>
                <a:r>
                  <a:rPr lang="zh-CN" altLang="en-US" dirty="0">
                    <a:solidFill>
                      <a:srgbClr val="FF0000"/>
                    </a:solidFill>
                  </a:rPr>
                  <a:t>、</a:t>
                </a:r>
                <a:r>
                  <a:rPr lang="en-US" altLang="zh-CN" dirty="0">
                    <a:solidFill>
                      <a:srgbClr val="FF0000"/>
                    </a:solidFill>
                  </a:rPr>
                  <a:t>95%</a:t>
                </a:r>
                <a:r>
                  <a:rPr lang="zh-CN" altLang="en-US" dirty="0">
                    <a:solidFill>
                      <a:srgbClr val="FF0000"/>
                    </a:solidFill>
                  </a:rPr>
                  <a:t>功率带宽</a:t>
                </a:r>
                <a:endParaRPr lang="en-US" altLang="zh-CN" dirty="0">
                  <a:solidFill>
                    <a:srgbClr val="FF0000"/>
                  </a:solidFill>
                </a:endParaRPr>
              </a:p>
              <a:p>
                <a:pPr marL="0" indent="0">
                  <a:lnSpc>
                    <a:spcPct val="150000"/>
                  </a:lnSpc>
                  <a:buNone/>
                </a:pPr>
                <a:r>
                  <a:rPr lang="zh-CN" altLang="en-US" dirty="0">
                    <a:latin typeface="Cambria Math" panose="02040503050406030204" pitchFamily="18" charset="0"/>
                  </a:rPr>
                  <a:t>低通信号：</a:t>
                </a:r>
                <a14:m>
                  <m:oMath xmlns:m="http://schemas.openxmlformats.org/officeDocument/2006/math">
                    <m:r>
                      <a:rPr lang="en-US" altLang="zh-CN">
                        <a:latin typeface="Cambria Math" panose="02040503050406030204" pitchFamily="18" charset="0"/>
                      </a:rPr>
                      <m:t>   </m:t>
                    </m:r>
                    <m:sSub>
                      <m:sSubPr>
                        <m:ctrlPr>
                          <a:rPr lang="en-US" altLang="zh-CN" i="1">
                            <a:latin typeface="Cambria Math" panose="02040503050406030204" pitchFamily="18" charset="0"/>
                          </a:rPr>
                        </m:ctrlPr>
                      </m:sSubPr>
                      <m:e>
                        <m:f>
                          <m:fPr>
                            <m:ctrlPr>
                              <a:rPr lang="en-US" altLang="zh-CN" i="1">
                                <a:latin typeface="Cambria Math" panose="02040503050406030204" pitchFamily="18" charset="0"/>
                              </a:rPr>
                            </m:ctrlPr>
                          </m:fPr>
                          <m:num>
                            <m:r>
                              <a:rPr lang="en-US" altLang="zh-CN" i="1">
                                <a:latin typeface="Cambria Math" panose="02040503050406030204" pitchFamily="18" charset="0"/>
                              </a:rPr>
                              <m:t>𝟏</m:t>
                            </m:r>
                          </m:num>
                          <m:den>
                            <m:r>
                              <a:rPr lang="en-US" altLang="zh-CN" i="1">
                                <a:latin typeface="Cambria Math" panose="02040503050406030204" pitchFamily="18" charset="0"/>
                              </a:rPr>
                              <m:t>𝟐</m:t>
                            </m:r>
                            <m:r>
                              <a:rPr lang="zh-CN" altLang="en-US" i="1">
                                <a:latin typeface="Cambria Math" panose="02040503050406030204" pitchFamily="18" charset="0"/>
                              </a:rPr>
                              <m:t>𝝅</m:t>
                            </m:r>
                          </m:den>
                        </m:f>
                        <m:nary>
                          <m:naryPr>
                            <m:ctrlPr>
                              <a:rPr lang="en-US" altLang="zh-CN" i="1">
                                <a:latin typeface="Cambria Math" panose="02040503050406030204" pitchFamily="18" charset="0"/>
                              </a:rPr>
                            </m:ctrlPr>
                          </m:naryPr>
                          <m: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𝝎</m:t>
                                </m:r>
                              </m:e>
                              <m:sub>
                                <m:r>
                                  <a:rPr lang="en-US" altLang="zh-CN" i="1">
                                    <a:latin typeface="Cambria Math" panose="02040503050406030204" pitchFamily="18" charset="0"/>
                                  </a:rPr>
                                  <m:t>𝒄</m:t>
                                </m:r>
                              </m:sub>
                            </m:sSub>
                          </m:sub>
                          <m:sup>
                            <m:sSub>
                              <m:sSubPr>
                                <m:ctrlPr>
                                  <a:rPr lang="en-US" altLang="zh-CN" i="1">
                                    <a:latin typeface="Cambria Math" panose="02040503050406030204" pitchFamily="18" charset="0"/>
                                  </a:rPr>
                                </m:ctrlPr>
                              </m:sSubPr>
                              <m:e>
                                <m:r>
                                  <a:rPr lang="zh-CN" altLang="en-US" i="1">
                                    <a:latin typeface="Cambria Math" panose="02040503050406030204" pitchFamily="18" charset="0"/>
                                  </a:rPr>
                                  <m:t>𝝎</m:t>
                                </m:r>
                              </m:e>
                              <m:sub>
                                <m:r>
                                  <a:rPr lang="en-US" altLang="zh-CN" i="1">
                                    <a:latin typeface="Cambria Math" panose="02040503050406030204" pitchFamily="18" charset="0"/>
                                  </a:rPr>
                                  <m:t>𝒄</m:t>
                                </m:r>
                              </m:sub>
                            </m:s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𝑿</m:t>
                                </m:r>
                              </m:sub>
                            </m:sSub>
                            <m:d>
                              <m:dPr>
                                <m:ctrlPr>
                                  <a:rPr lang="en-US" altLang="zh-CN" i="1">
                                    <a:latin typeface="Cambria Math" panose="02040503050406030204" pitchFamily="18" charset="0"/>
                                  </a:rPr>
                                </m:ctrlPr>
                              </m:dPr>
                              <m:e>
                                <m:r>
                                  <a:rPr lang="zh-CN" altLang="en-US" i="1">
                                    <a:latin typeface="Cambria Math" panose="02040503050406030204" pitchFamily="18" charset="0"/>
                                  </a:rPr>
                                  <m:t>𝝎</m:t>
                                </m:r>
                              </m:e>
                            </m:d>
                            <m:r>
                              <a:rPr lang="en-US" altLang="zh-CN" i="1">
                                <a:latin typeface="Cambria Math" panose="02040503050406030204" pitchFamily="18" charset="0"/>
                              </a:rPr>
                              <m:t>𝒅</m:t>
                            </m:r>
                            <m:r>
                              <a:rPr lang="zh-CN" altLang="en-US" i="1">
                                <a:latin typeface="Cambria Math" panose="02040503050406030204" pitchFamily="18" charset="0"/>
                              </a:rPr>
                              <m:t>𝝎</m:t>
                            </m:r>
                          </m:e>
                        </m:nary>
                        <m:r>
                          <a:rPr lang="en-US" altLang="zh-CN" i="1">
                            <a:latin typeface="Cambria Math" panose="02040503050406030204" pitchFamily="18" charset="0"/>
                          </a:rPr>
                          <m:t>=</m:t>
                        </m:r>
                        <m:r>
                          <a:rPr lang="en-US" altLang="zh-CN" i="1">
                            <a:latin typeface="Cambria Math" panose="02040503050406030204" pitchFamily="18" charset="0"/>
                          </a:rPr>
                          <m:t>𝟎</m:t>
                        </m:r>
                        <m:r>
                          <a:rPr lang="en-US" altLang="zh-CN" i="1">
                            <a:latin typeface="Cambria Math" panose="02040503050406030204" pitchFamily="18" charset="0"/>
                          </a:rPr>
                          <m:t>.</m:t>
                        </m:r>
                        <m:r>
                          <a:rPr lang="en-US" altLang="zh-CN" i="1">
                            <a:latin typeface="Cambria Math" panose="02040503050406030204" pitchFamily="18" charset="0"/>
                          </a:rPr>
                          <m:t>𝟗𝟓</m:t>
                        </m:r>
                        <m:r>
                          <a:rPr lang="en-US" altLang="zh-CN" i="1" smtClean="0">
                            <a:latin typeface="Cambria Math" panose="02040503050406030204" pitchFamily="18" charset="0"/>
                          </a:rPr>
                          <m:t>×</m:t>
                        </m:r>
                        <m:r>
                          <a:rPr lang="en-US" altLang="zh-CN" b="1" i="1" smtClean="0">
                            <a:latin typeface="Cambria Math" panose="02040503050406030204" pitchFamily="18" charset="0"/>
                          </a:rPr>
                          <m:t>𝑹</m:t>
                        </m:r>
                      </m:e>
                      <m:sub>
                        <m:r>
                          <a:rPr lang="en-US" altLang="zh-CN" i="1">
                            <a:latin typeface="Cambria Math" panose="02040503050406030204" pitchFamily="18" charset="0"/>
                          </a:rPr>
                          <m:t>𝑿</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𝟎</m:t>
                        </m:r>
                      </m:e>
                    </m:d>
                  </m:oMath>
                </a14:m>
                <a:r>
                  <a:rPr lang="en-US" altLang="zh-CN" i="1" dirty="0">
                    <a:latin typeface="Cambria Math" panose="02040503050406030204" pitchFamily="18" charset="0"/>
                  </a:rPr>
                  <a:t>,       </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𝟐</m:t>
                        </m:r>
                        <m:r>
                          <a:rPr lang="zh-CN" altLang="en-US" i="1">
                            <a:latin typeface="Cambria Math" panose="02040503050406030204" pitchFamily="18" charset="0"/>
                          </a:rPr>
                          <m:t>𝝎</m:t>
                        </m:r>
                      </m:e>
                      <m:sub>
                        <m:r>
                          <a:rPr lang="en-US" altLang="zh-CN" i="1">
                            <a:latin typeface="Cambria Math" panose="02040503050406030204" pitchFamily="18" charset="0"/>
                          </a:rPr>
                          <m:t>𝒄</m:t>
                        </m:r>
                      </m:sub>
                    </m:sSub>
                  </m:oMath>
                </a14:m>
                <a:endParaRPr lang="en-US" altLang="zh-CN" dirty="0"/>
              </a:p>
              <a:p>
                <a:pPr marL="0" indent="0">
                  <a:lnSpc>
                    <a:spcPct val="150000"/>
                  </a:lnSpc>
                  <a:buNone/>
                </a:pPr>
                <a:r>
                  <a:rPr lang="zh-CN" altLang="en-US" dirty="0"/>
                  <a:t>带通信号： </a:t>
                </a:r>
                <a:r>
                  <a:rPr lang="en-US" altLang="zh-CN" dirty="0"/>
                  <a:t>2×</a:t>
                </a:r>
                <a:r>
                  <a:rPr lang="zh-CN" altLang="en-US" dirty="0"/>
                  <a:t> </a:t>
                </a:r>
                <a14:m>
                  <m:oMath xmlns:m="http://schemas.openxmlformats.org/officeDocument/2006/math">
                    <m:sSub>
                      <m:sSubPr>
                        <m:ctrlPr>
                          <a:rPr lang="en-US" altLang="zh-CN" i="1">
                            <a:latin typeface="Cambria Math" panose="02040503050406030204" pitchFamily="18" charset="0"/>
                          </a:rPr>
                        </m:ctrlPr>
                      </m:sSubPr>
                      <m:e>
                        <m:f>
                          <m:fPr>
                            <m:ctrlPr>
                              <a:rPr lang="en-US" altLang="zh-CN" i="1">
                                <a:latin typeface="Cambria Math" panose="02040503050406030204" pitchFamily="18" charset="0"/>
                              </a:rPr>
                            </m:ctrlPr>
                          </m:fPr>
                          <m:num>
                            <m:r>
                              <a:rPr lang="en-US" altLang="zh-CN" i="1">
                                <a:latin typeface="Cambria Math" panose="02040503050406030204" pitchFamily="18" charset="0"/>
                              </a:rPr>
                              <m:t>𝟏</m:t>
                            </m:r>
                          </m:num>
                          <m:den>
                            <m:r>
                              <a:rPr lang="en-US" altLang="zh-CN" i="1">
                                <a:latin typeface="Cambria Math" panose="02040503050406030204" pitchFamily="18" charset="0"/>
                              </a:rPr>
                              <m:t>𝟐</m:t>
                            </m:r>
                            <m:r>
                              <a:rPr lang="zh-CN" altLang="en-US" i="1">
                                <a:latin typeface="Cambria Math" panose="02040503050406030204" pitchFamily="18" charset="0"/>
                              </a:rPr>
                              <m:t>𝝅</m:t>
                            </m:r>
                          </m:den>
                        </m:f>
                        <m:nary>
                          <m:naryPr>
                            <m:ctrlPr>
                              <a:rPr lang="en-US" altLang="zh-CN" i="1">
                                <a:latin typeface="Cambria Math" panose="02040503050406030204" pitchFamily="18" charset="0"/>
                              </a:rPr>
                            </m:ctrlPr>
                          </m:naryPr>
                          <m:sub>
                            <m:sSub>
                              <m:sSubPr>
                                <m:ctrlPr>
                                  <a:rPr lang="en-US" altLang="zh-CN" i="1">
                                    <a:latin typeface="Cambria Math" panose="02040503050406030204" pitchFamily="18" charset="0"/>
                                  </a:rPr>
                                </m:ctrlPr>
                              </m:sSubPr>
                              <m:e>
                                <m:r>
                                  <a:rPr lang="zh-CN" altLang="en-US" i="1">
                                    <a:latin typeface="Cambria Math" panose="02040503050406030204" pitchFamily="18" charset="0"/>
                                  </a:rPr>
                                  <m:t>𝝎</m:t>
                                </m:r>
                              </m:e>
                              <m:sub>
                                <m:r>
                                  <a:rPr lang="en-US" altLang="zh-CN" i="1">
                                    <a:latin typeface="Cambria Math" panose="02040503050406030204" pitchFamily="18" charset="0"/>
                                  </a:rPr>
                                  <m:t>𝟎</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𝝎</m:t>
                                </m:r>
                              </m:e>
                              <m:sub>
                                <m:r>
                                  <a:rPr lang="en-US" altLang="zh-CN" i="1">
                                    <a:latin typeface="Cambria Math" panose="02040503050406030204" pitchFamily="18" charset="0"/>
                                  </a:rPr>
                                  <m:t>𝒄</m:t>
                                </m:r>
                              </m:sub>
                            </m:sSub>
                          </m:sub>
                          <m:sup>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a:rPr lang="zh-CN" altLang="en-US" i="1">
                                        <a:latin typeface="Cambria Math" panose="02040503050406030204" pitchFamily="18" charset="0"/>
                                      </a:rPr>
                                      <m:t>𝝎</m:t>
                                    </m:r>
                                  </m:e>
                                  <m:sub>
                                    <m:r>
                                      <a:rPr lang="en-US" altLang="zh-CN" i="1">
                                        <a:latin typeface="Cambria Math" panose="02040503050406030204" pitchFamily="18" charset="0"/>
                                      </a:rPr>
                                      <m:t>𝟎</m:t>
                                    </m:r>
                                  </m:sub>
                                </m:sSub>
                                <m:r>
                                  <a:rPr lang="en-US" altLang="zh-CN" b="1" i="1" smtClean="0">
                                    <a:latin typeface="Cambria Math" panose="02040503050406030204" pitchFamily="18" charset="0"/>
                                  </a:rPr>
                                  <m:t>+</m:t>
                                </m:r>
                                <m:r>
                                  <a:rPr lang="zh-CN" altLang="en-US" i="1">
                                    <a:latin typeface="Cambria Math" panose="02040503050406030204" pitchFamily="18" charset="0"/>
                                  </a:rPr>
                                  <m:t>𝝎</m:t>
                                </m:r>
                              </m:e>
                              <m:sub>
                                <m:r>
                                  <a:rPr lang="en-US" altLang="zh-CN" i="1">
                                    <a:latin typeface="Cambria Math" panose="02040503050406030204" pitchFamily="18" charset="0"/>
                                  </a:rPr>
                                  <m:t>𝒄</m:t>
                                </m:r>
                              </m:sub>
                            </m:s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𝑿</m:t>
                                </m:r>
                              </m:sub>
                            </m:sSub>
                            <m:d>
                              <m:dPr>
                                <m:ctrlPr>
                                  <a:rPr lang="en-US" altLang="zh-CN" i="1">
                                    <a:latin typeface="Cambria Math" panose="02040503050406030204" pitchFamily="18" charset="0"/>
                                  </a:rPr>
                                </m:ctrlPr>
                              </m:dPr>
                              <m:e>
                                <m:r>
                                  <a:rPr lang="zh-CN" altLang="en-US" i="1">
                                    <a:latin typeface="Cambria Math" panose="02040503050406030204" pitchFamily="18" charset="0"/>
                                  </a:rPr>
                                  <m:t>𝝎</m:t>
                                </m:r>
                              </m:e>
                            </m:d>
                            <m:r>
                              <a:rPr lang="en-US" altLang="zh-CN" i="1">
                                <a:latin typeface="Cambria Math" panose="02040503050406030204" pitchFamily="18" charset="0"/>
                              </a:rPr>
                              <m:t>𝒅</m:t>
                            </m:r>
                            <m:r>
                              <a:rPr lang="zh-CN" altLang="en-US" i="1">
                                <a:latin typeface="Cambria Math" panose="02040503050406030204" pitchFamily="18" charset="0"/>
                              </a:rPr>
                              <m:t>𝝎</m:t>
                            </m:r>
                          </m:e>
                        </m:nary>
                        <m:r>
                          <a:rPr lang="en-US" altLang="zh-CN" i="1">
                            <a:latin typeface="Cambria Math" panose="02040503050406030204" pitchFamily="18" charset="0"/>
                          </a:rPr>
                          <m:t>=</m:t>
                        </m:r>
                        <m:r>
                          <a:rPr lang="en-US" altLang="zh-CN" i="1">
                            <a:latin typeface="Cambria Math" panose="02040503050406030204" pitchFamily="18" charset="0"/>
                          </a:rPr>
                          <m:t>𝟎</m:t>
                        </m:r>
                        <m:r>
                          <a:rPr lang="en-US" altLang="zh-CN" i="1">
                            <a:latin typeface="Cambria Math" panose="02040503050406030204" pitchFamily="18" charset="0"/>
                          </a:rPr>
                          <m:t>.</m:t>
                        </m:r>
                        <m:r>
                          <a:rPr lang="en-US" altLang="zh-CN" i="1">
                            <a:latin typeface="Cambria Math" panose="02040503050406030204" pitchFamily="18" charset="0"/>
                          </a:rPr>
                          <m:t>𝟗𝟓</m:t>
                        </m:r>
                        <m:r>
                          <a:rPr lang="en-US" altLang="zh-CN" i="1">
                            <a:latin typeface="Cambria Math" panose="02040503050406030204" pitchFamily="18" charset="0"/>
                          </a:rPr>
                          <m:t>×</m:t>
                        </m:r>
                        <m:r>
                          <a:rPr lang="en-US" altLang="zh-CN" i="1">
                            <a:latin typeface="Cambria Math" panose="02040503050406030204" pitchFamily="18" charset="0"/>
                          </a:rPr>
                          <m:t>𝑹</m:t>
                        </m:r>
                      </m:e>
                      <m:sub>
                        <m:r>
                          <a:rPr lang="en-US" altLang="zh-CN" i="1">
                            <a:latin typeface="Cambria Math" panose="02040503050406030204" pitchFamily="18" charset="0"/>
                          </a:rPr>
                          <m:t>𝑿</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𝟎</m:t>
                        </m:r>
                      </m:e>
                    </m:d>
                  </m:oMath>
                </a14:m>
                <a:r>
                  <a:rPr lang="en-US" altLang="zh-CN" i="1" dirty="0">
                    <a:latin typeface="Cambria Math" panose="02040503050406030204" pitchFamily="18" charset="0"/>
                  </a:rPr>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𝟐</m:t>
                        </m:r>
                        <m:r>
                          <a:rPr lang="zh-CN" altLang="en-US" i="1">
                            <a:latin typeface="Cambria Math" panose="02040503050406030204" pitchFamily="18" charset="0"/>
                          </a:rPr>
                          <m:t>𝝎</m:t>
                        </m:r>
                      </m:e>
                      <m:sub>
                        <m:r>
                          <a:rPr lang="en-US" altLang="zh-CN" i="1">
                            <a:latin typeface="Cambria Math" panose="02040503050406030204" pitchFamily="18" charset="0"/>
                          </a:rPr>
                          <m:t>𝒄</m:t>
                        </m:r>
                      </m:sub>
                    </m:sSub>
                  </m:oMath>
                </a14:m>
                <a:endParaRPr lang="en-US" altLang="zh-CN" dirty="0">
                  <a:solidFill>
                    <a:srgbClr val="FF0000"/>
                  </a:solidFill>
                </a:endParaRPr>
              </a:p>
            </p:txBody>
          </p:sp>
        </mc:Choice>
        <mc:Fallback xmlns="">
          <p:sp>
            <p:nvSpPr>
              <p:cNvPr id="4" name="内容占位符 3">
                <a:extLst>
                  <a:ext uri="{FF2B5EF4-FFF2-40B4-BE49-F238E27FC236}">
                    <a16:creationId xmlns:a16="http://schemas.microsoft.com/office/drawing/2014/main" id="{AEA8FE0D-94A9-48A1-9AEB-C24E8D3B3E38}"/>
                  </a:ext>
                </a:extLst>
              </p:cNvPr>
              <p:cNvSpPr>
                <a:spLocks noGrp="1" noRot="1" noChangeAspect="1" noMove="1" noResize="1" noEditPoints="1" noAdjustHandles="1" noChangeArrowheads="1" noChangeShapeType="1" noTextEdit="1"/>
              </p:cNvSpPr>
              <p:nvPr>
                <p:ph/>
              </p:nvPr>
            </p:nvSpPr>
            <p:spPr>
              <a:xfrm>
                <a:off x="464059" y="975682"/>
                <a:ext cx="8255000" cy="4627304"/>
              </a:xfrm>
              <a:blipFill>
                <a:blip r:embed="rId2"/>
                <a:stretch>
                  <a:fillRect l="-88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65416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E005C098-AC50-49D8-83C2-238735FC244B}"/>
                  </a:ext>
                </a:extLst>
              </p:cNvPr>
              <p:cNvSpPr>
                <a:spLocks noGrp="1"/>
              </p:cNvSpPr>
              <p:nvPr>
                <p:ph/>
              </p:nvPr>
            </p:nvSpPr>
            <p:spPr/>
            <p:txBody>
              <a:bodyPr/>
              <a:lstStyle/>
              <a:p>
                <a:pPr marL="0" indent="0">
                  <a:buNone/>
                </a:pPr>
                <a:r>
                  <a:rPr lang="zh-CN" altLang="en-US" dirty="0"/>
                  <a:t>例：求双极性二元传输信号</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𝒙</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𝒕</m:t>
                          </m:r>
                        </m:e>
                      </m:d>
                      <m:r>
                        <a:rPr lang="en-US" altLang="zh-CN" b="1" i="1" smtClean="0">
                          <a:latin typeface="Cambria Math" panose="02040503050406030204" pitchFamily="18" charset="0"/>
                        </a:rPr>
                        <m:t>=</m:t>
                      </m:r>
                      <m:nary>
                        <m:naryPr>
                          <m:chr m:val="∑"/>
                          <m:ctrlPr>
                            <a:rPr lang="en-US" altLang="zh-CN" b="1" i="1" smtClean="0">
                              <a:latin typeface="Cambria Math" panose="02040503050406030204" pitchFamily="18" charset="0"/>
                            </a:rPr>
                          </m:ctrlPr>
                        </m:naryPr>
                        <m:sub>
                          <m:r>
                            <m:rPr>
                              <m:brk m:alnAt="23"/>
                            </m:rPr>
                            <a:rPr lang="en-US" altLang="zh-CN" b="1" i="1" smtClean="0">
                              <a:latin typeface="Cambria Math" panose="02040503050406030204" pitchFamily="18" charset="0"/>
                            </a:rPr>
                            <m:t>𝒏</m:t>
                          </m:r>
                          <m:r>
                            <a:rPr lang="en-US" altLang="zh-CN" b="1" i="1" smtClean="0">
                              <a:latin typeface="Cambria Math" panose="02040503050406030204" pitchFamily="18" charset="0"/>
                            </a:rPr>
                            <m:t>=−∞</m:t>
                          </m:r>
                        </m:sub>
                        <m:sup>
                          <m:r>
                            <a:rPr lang="en-US" altLang="zh-CN" b="1" i="1" smtClean="0">
                              <a:latin typeface="Cambria Math" panose="02040503050406030204" pitchFamily="18" charset="0"/>
                              <a:ea typeface="Cambria Math" panose="02040503050406030204" pitchFamily="18" charset="0"/>
                            </a:rPr>
                            <m:t>∞</m:t>
                          </m:r>
                        </m:sup>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𝒏</m:t>
                              </m:r>
                            </m:sub>
                          </m:sSub>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𝒈</m:t>
                              </m:r>
                            </m:e>
                            <m:sub>
                              <m:r>
                                <a:rPr lang="en-US" altLang="zh-CN" b="1" i="1" smtClean="0">
                                  <a:latin typeface="Cambria Math" panose="02040503050406030204" pitchFamily="18" charset="0"/>
                                </a:rPr>
                                <m:t>𝑻</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r>
                            <a:rPr lang="en-US" altLang="zh-CN" b="1" i="1" smtClean="0">
                              <a:latin typeface="Cambria Math" panose="02040503050406030204" pitchFamily="18" charset="0"/>
                            </a:rPr>
                            <m:t>𝒏𝑻</m:t>
                          </m:r>
                          <m:r>
                            <a:rPr lang="en-US" altLang="zh-CN" b="1" i="1" smtClean="0">
                              <a:latin typeface="Cambria Math" panose="02040503050406030204" pitchFamily="18" charset="0"/>
                            </a:rPr>
                            <m:t>)</m:t>
                          </m:r>
                        </m:e>
                      </m:nary>
                    </m:oMath>
                  </m:oMathPara>
                </a14:m>
                <a:endParaRPr lang="en-US" altLang="zh-CN" dirty="0"/>
              </a:p>
              <a:p>
                <a:pPr marL="0" indent="0">
                  <a:buNone/>
                </a:pPr>
                <a:r>
                  <a:rPr lang="zh-CN" altLang="en-US" dirty="0"/>
                  <a:t>的等效矩形带宽。已知二进制序列</a:t>
                </a:r>
                <a14:m>
                  <m:oMath xmlns:m="http://schemas.openxmlformats.org/officeDocument/2006/math">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𝒏</m:t>
                            </m:r>
                          </m:sub>
                        </m:sSub>
                      </m:e>
                    </m:d>
                  </m:oMath>
                </a14:m>
                <a:r>
                  <a:rPr lang="zh-CN" altLang="en-US" dirty="0"/>
                  <a:t>以相同概率（</a:t>
                </a:r>
                <a:r>
                  <a:rPr lang="en-US" altLang="zh-CN" dirty="0"/>
                  <a:t>0.5</a:t>
                </a:r>
                <a:r>
                  <a:rPr lang="zh-CN" altLang="en-US" dirty="0"/>
                  <a:t>）取值“</a:t>
                </a:r>
                <a:r>
                  <a:rPr lang="en-US" altLang="zh-CN" dirty="0"/>
                  <a:t>+1</a:t>
                </a:r>
                <a:r>
                  <a:rPr lang="zh-CN" altLang="en-US" dirty="0"/>
                  <a:t>”和“</a:t>
                </a:r>
                <a:r>
                  <a:rPr lang="en-US" altLang="zh-CN" dirty="0"/>
                  <a:t>-1</a:t>
                </a:r>
                <a:r>
                  <a:rPr lang="zh-CN" altLang="en-US" dirty="0"/>
                  <a:t>”。</a:t>
                </a: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𝒈</m:t>
                          </m:r>
                        </m:e>
                        <m:sub>
                          <m:r>
                            <a:rPr lang="en-US" altLang="zh-CN" b="1" i="1" smtClean="0">
                              <a:latin typeface="Cambria Math" panose="02040503050406030204" pitchFamily="18" charset="0"/>
                            </a:rPr>
                            <m:t>𝑻</m:t>
                          </m:r>
                        </m:sub>
                      </m:sSub>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𝒕</m:t>
                          </m:r>
                        </m:e>
                      </m:d>
                      <m:r>
                        <a:rPr lang="en-US" altLang="zh-CN" b="1" i="1" smtClean="0">
                          <a:latin typeface="Cambria Math" panose="02040503050406030204" pitchFamily="18" charset="0"/>
                        </a:rPr>
                        <m:t>=</m:t>
                      </m:r>
                      <m:d>
                        <m:dPr>
                          <m:begChr m:val="{"/>
                          <m:endChr m:val=""/>
                          <m:ctrlPr>
                            <a:rPr lang="en-US" altLang="zh-CN" b="1" i="1" smtClean="0">
                              <a:latin typeface="Cambria Math" panose="02040503050406030204" pitchFamily="18" charset="0"/>
                            </a:rPr>
                          </m:ctrlPr>
                        </m:dPr>
                        <m:e>
                          <m:eqArr>
                            <m:eqArrPr>
                              <m:ctrlPr>
                                <a:rPr lang="en-US" altLang="zh-CN" b="1" i="1" smtClean="0">
                                  <a:latin typeface="Cambria Math" panose="02040503050406030204" pitchFamily="18" charset="0"/>
                                </a:rPr>
                              </m:ctrlPr>
                            </m:eqArrPr>
                            <m:e>
                              <m:r>
                                <a:rPr lang="en-US" altLang="zh-CN" b="1" i="1" smtClean="0">
                                  <a:latin typeface="Cambria Math" panose="02040503050406030204" pitchFamily="18" charset="0"/>
                                </a:rPr>
                                <m:t>𝟏</m:t>
                              </m:r>
                              <m:r>
                                <a:rPr lang="en-US" altLang="zh-CN" b="1" i="1" smtClean="0">
                                  <a:latin typeface="Cambria Math" panose="02040503050406030204" pitchFamily="18" charset="0"/>
                                </a:rPr>
                                <m:t>,  </m:t>
                              </m:r>
                              <m:r>
                                <a:rPr lang="en-US" altLang="zh-CN" b="1" i="1" smtClean="0">
                                  <a:latin typeface="Cambria Math" panose="02040503050406030204" pitchFamily="18" charset="0"/>
                                </a:rPr>
                                <m:t>𝟎</m:t>
                              </m:r>
                              <m:r>
                                <a:rPr lang="en-US" altLang="zh-CN" i="1">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𝒕</m:t>
                              </m:r>
                              <m:r>
                                <a:rPr lang="en-US" altLang="zh-CN" b="1" i="1" smtClean="0">
                                  <a:latin typeface="Cambria Math" panose="02040503050406030204" pitchFamily="18" charset="0"/>
                                  <a:ea typeface="Cambria Math" panose="02040503050406030204" pitchFamily="18" charset="0"/>
                                </a:rPr>
                                <m:t>&lt;</m:t>
                              </m:r>
                              <m:r>
                                <a:rPr lang="en-US" altLang="zh-CN" b="1" i="1" smtClean="0">
                                  <a:latin typeface="Cambria Math" panose="02040503050406030204" pitchFamily="18" charset="0"/>
                                  <a:ea typeface="Cambria Math" panose="02040503050406030204" pitchFamily="18" charset="0"/>
                                </a:rPr>
                                <m:t>𝑻</m:t>
                              </m:r>
                            </m:e>
                            <m:e>
                              <m:r>
                                <a:rPr lang="en-US" altLang="zh-CN" b="1" i="1" smtClean="0">
                                  <a:latin typeface="Cambria Math" panose="02040503050406030204" pitchFamily="18" charset="0"/>
                                </a:rPr>
                                <m:t>𝟎</m:t>
                              </m:r>
                              <m:r>
                                <a:rPr lang="en-US" altLang="zh-CN" b="1" i="1" smtClean="0">
                                  <a:latin typeface="Cambria Math" panose="02040503050406030204" pitchFamily="18" charset="0"/>
                                </a:rPr>
                                <m:t>,           </m:t>
                              </m:r>
                              <m:r>
                                <a:rPr lang="zh-CN" altLang="en-US" i="1">
                                  <a:latin typeface="Cambria Math" panose="02040503050406030204" pitchFamily="18" charset="0"/>
                                </a:rPr>
                                <m:t>其他</m:t>
                              </m:r>
                            </m:e>
                          </m:eqArr>
                        </m:e>
                      </m:d>
                    </m:oMath>
                  </m:oMathPara>
                </a14:m>
                <a:endParaRPr lang="en-US" altLang="zh-CN" dirty="0"/>
              </a:p>
              <a:p>
                <a:pPr marL="0" indent="0">
                  <a:buNone/>
                </a:pPr>
                <a:endParaRPr lang="zh-CN" altLang="en-US" dirty="0"/>
              </a:p>
            </p:txBody>
          </p:sp>
        </mc:Choice>
        <mc:Fallback xmlns="">
          <p:sp>
            <p:nvSpPr>
              <p:cNvPr id="2" name="内容占位符 1">
                <a:extLst>
                  <a:ext uri="{FF2B5EF4-FFF2-40B4-BE49-F238E27FC236}">
                    <a16:creationId xmlns:a16="http://schemas.microsoft.com/office/drawing/2014/main" id="{E005C098-AC50-49D8-83C2-238735FC244B}"/>
                  </a:ext>
                </a:extLst>
              </p:cNvPr>
              <p:cNvSpPr>
                <a:spLocks noGrp="1" noRot="1" noChangeAspect="1" noMove="1" noResize="1" noEditPoints="1" noAdjustHandles="1" noChangeArrowheads="1" noChangeShapeType="1" noTextEdit="1"/>
              </p:cNvSpPr>
              <p:nvPr>
                <p:ph/>
              </p:nvPr>
            </p:nvSpPr>
            <p:spPr>
              <a:blipFill>
                <a:blip r:embed="rId2"/>
                <a:stretch>
                  <a:fillRect l="-1107" t="-1467" r="-941"/>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76B9C4D8-6571-44CC-8531-388D9BAAA332}"/>
              </a:ext>
            </a:extLst>
          </p:cNvPr>
          <p:cNvPicPr>
            <a:picLocks noChangeAspect="1"/>
          </p:cNvPicPr>
          <p:nvPr/>
        </p:nvPicPr>
        <p:blipFill>
          <a:blip r:embed="rId3"/>
          <a:stretch>
            <a:fillRect/>
          </a:stretch>
        </p:blipFill>
        <p:spPr>
          <a:xfrm>
            <a:off x="3460128" y="4088266"/>
            <a:ext cx="2249144" cy="1763217"/>
          </a:xfrm>
          <a:prstGeom prst="rect">
            <a:avLst/>
          </a:prstGeom>
        </p:spPr>
      </p:pic>
    </p:spTree>
    <p:extLst>
      <p:ext uri="{BB962C8B-B14F-4D97-AF65-F5344CB8AC3E}">
        <p14:creationId xmlns:p14="http://schemas.microsoft.com/office/powerpoint/2010/main" val="1471897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1994CB6B-23FC-4595-8552-E5F2CDC53344}"/>
                  </a:ext>
                </a:extLst>
              </p:cNvPr>
              <p:cNvSpPr>
                <a:spLocks noGrp="1"/>
              </p:cNvSpPr>
              <p:nvPr>
                <p:ph/>
              </p:nvPr>
            </p:nvSpPr>
            <p:spPr>
              <a:xfrm>
                <a:off x="457201" y="1325440"/>
                <a:ext cx="8255000" cy="4249283"/>
              </a:xfrm>
            </p:spPr>
            <p:txBody>
              <a:bodyPr/>
              <a:lstStyle/>
              <a:p>
                <a:pPr marL="0" indent="0">
                  <a:buNone/>
                </a:pPr>
                <a:r>
                  <a:rPr lang="zh-CN" altLang="en-US" dirty="0"/>
                  <a:t>解：由书上式（</a:t>
                </a:r>
                <a:r>
                  <a:rPr lang="en-US" altLang="zh-CN" dirty="0"/>
                  <a:t>3.34</a:t>
                </a:r>
                <a:r>
                  <a:rPr lang="zh-CN" altLang="en-US" dirty="0"/>
                  <a:t>）有</a:t>
                </a: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d>
                        <m:dPr>
                          <m:ctrlPr>
                            <a:rPr lang="en-US" altLang="zh-CN" i="1">
                              <a:latin typeface="Cambria Math" panose="02040503050406030204" pitchFamily="18" charset="0"/>
                            </a:rPr>
                          </m:ctrlPr>
                        </m:dPr>
                        <m:e>
                          <m:r>
                            <a:rPr lang="zh-CN" altLang="en-US" i="1">
                              <a:latin typeface="Cambria Math" panose="02040503050406030204" pitchFamily="18" charset="0"/>
                            </a:rPr>
                            <m:t>𝝉</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𝟏</m:t>
                              </m:r>
                              <m:r>
                                <a:rPr lang="en-US" altLang="zh-CN" i="1">
                                  <a:latin typeface="Cambria Math" panose="02040503050406030204" pitchFamily="18" charset="0"/>
                                </a:rPr>
                                <m:t>−</m:t>
                              </m:r>
                              <m:f>
                                <m:fPr>
                                  <m:ctrlPr>
                                    <a:rPr lang="en-US" altLang="zh-CN" i="1">
                                      <a:latin typeface="Cambria Math" panose="02040503050406030204" pitchFamily="18" charset="0"/>
                                    </a:rPr>
                                  </m:ctrlPr>
                                </m:fPr>
                                <m:num>
                                  <m:d>
                                    <m:dPr>
                                      <m:begChr m:val="|"/>
                                      <m:endChr m:val="|"/>
                                      <m:ctrlPr>
                                        <a:rPr lang="en-US" altLang="zh-CN" i="1">
                                          <a:latin typeface="Cambria Math" panose="02040503050406030204" pitchFamily="18" charset="0"/>
                                        </a:rPr>
                                      </m:ctrlPr>
                                    </m:dPr>
                                    <m:e>
                                      <m:r>
                                        <a:rPr lang="zh-CN" altLang="en-US" i="1">
                                          <a:latin typeface="Cambria Math" panose="02040503050406030204" pitchFamily="18" charset="0"/>
                                        </a:rPr>
                                        <m:t>𝝉</m:t>
                                      </m:r>
                                    </m:e>
                                  </m:d>
                                </m:num>
                                <m:den>
                                  <m:r>
                                    <a:rPr lang="en-US" altLang="zh-CN" i="1">
                                      <a:latin typeface="Cambria Math" panose="02040503050406030204" pitchFamily="18" charset="0"/>
                                    </a:rPr>
                                    <m:t>𝑻</m:t>
                                  </m:r>
                                </m:den>
                              </m:f>
                              <m:r>
                                <a:rPr lang="en-US" altLang="zh-CN" i="1">
                                  <a:latin typeface="Cambria Math" panose="02040503050406030204" pitchFamily="18" charset="0"/>
                                </a:rPr>
                                <m:t>, </m:t>
                              </m:r>
                              <m:d>
                                <m:dPr>
                                  <m:begChr m:val="|"/>
                                  <m:endChr m:val="|"/>
                                  <m:ctrlPr>
                                    <a:rPr lang="en-US" altLang="zh-CN" i="1">
                                      <a:latin typeface="Cambria Math" panose="02040503050406030204" pitchFamily="18" charset="0"/>
                                    </a:rPr>
                                  </m:ctrlPr>
                                </m:dPr>
                                <m:e>
                                  <m:r>
                                    <a:rPr lang="zh-CN" altLang="en-US" i="1">
                                      <a:latin typeface="Cambria Math" panose="02040503050406030204" pitchFamily="18" charset="0"/>
                                    </a:rPr>
                                    <m:t>𝝉</m:t>
                                  </m:r>
                                </m:e>
                              </m:d>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𝑻</m:t>
                              </m:r>
                            </m:e>
                            <m:e>
                              <m:r>
                                <a:rPr lang="en-US" altLang="zh-CN" i="1">
                                  <a:latin typeface="Cambria Math" panose="02040503050406030204" pitchFamily="18" charset="0"/>
                                </a:rPr>
                                <m:t>𝟎</m:t>
                              </m:r>
                              <m:r>
                                <a:rPr lang="en-US" altLang="zh-CN" i="1">
                                  <a:latin typeface="Cambria Math" panose="02040503050406030204" pitchFamily="18" charset="0"/>
                                </a:rPr>
                                <m:t>,     </m:t>
                              </m:r>
                              <m:d>
                                <m:dPr>
                                  <m:begChr m:val="|"/>
                                  <m:endChr m:val="|"/>
                                  <m:ctrlPr>
                                    <a:rPr lang="en-US" altLang="zh-CN" i="1">
                                      <a:latin typeface="Cambria Math" panose="02040503050406030204" pitchFamily="18" charset="0"/>
                                    </a:rPr>
                                  </m:ctrlPr>
                                </m:dPr>
                                <m:e>
                                  <m:r>
                                    <a:rPr lang="zh-CN" altLang="en-US" i="1">
                                      <a:latin typeface="Cambria Math" panose="02040503050406030204" pitchFamily="18" charset="0"/>
                                    </a:rPr>
                                    <m:t>𝝉</m:t>
                                  </m:r>
                                </m:e>
                              </m:d>
                              <m:r>
                                <a:rPr lang="en-US" altLang="zh-CN" i="1">
                                  <a:latin typeface="Cambria Math" panose="02040503050406030204" pitchFamily="18" charset="0"/>
                                </a:rPr>
                                <m:t>&gt;</m:t>
                              </m:r>
                              <m:r>
                                <a:rPr lang="en-US" altLang="zh-CN" i="1">
                                  <a:latin typeface="Cambria Math" panose="02040503050406030204" pitchFamily="18" charset="0"/>
                                </a:rPr>
                                <m:t>𝑻</m:t>
                              </m:r>
                            </m:e>
                          </m:eqArr>
                        </m:e>
                      </m:d>
                    </m:oMath>
                  </m:oMathPara>
                </a14:m>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𝑺</m:t>
                          </m:r>
                        </m:e>
                        <m:sub>
                          <m:r>
                            <a:rPr lang="en-US" altLang="zh-CN" b="1" i="1" smtClean="0">
                              <a:latin typeface="Cambria Math" panose="02040503050406030204" pitchFamily="18" charset="0"/>
                            </a:rPr>
                            <m:t>𝑿</m:t>
                          </m:r>
                        </m:sub>
                      </m:sSub>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𝒇</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𝑻</m:t>
                      </m:r>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𝒔𝒊𝒏𝒄</m:t>
                          </m:r>
                        </m:e>
                        <m:sup>
                          <m:r>
                            <a:rPr lang="en-US" altLang="zh-CN" b="1" i="1" smtClean="0">
                              <a:latin typeface="Cambria Math" panose="02040503050406030204" pitchFamily="18" charset="0"/>
                            </a:rPr>
                            <m:t>𝟐</m:t>
                          </m:r>
                        </m:sup>
                      </m:sSup>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𝒇𝑻</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𝑻</m:t>
                      </m:r>
                      <m:f>
                        <m:fPr>
                          <m:ctrlPr>
                            <a:rPr lang="en-US" altLang="zh-CN" b="1" i="1" smtClean="0">
                              <a:latin typeface="Cambria Math" panose="02040503050406030204" pitchFamily="18" charset="0"/>
                            </a:rPr>
                          </m:ctrlPr>
                        </m:fPr>
                        <m:num>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𝒔𝒊𝒏</m:t>
                              </m:r>
                            </m:e>
                            <m:sup>
                              <m:r>
                                <a:rPr lang="en-US" altLang="zh-CN" b="1" i="1" smtClean="0">
                                  <a:latin typeface="Cambria Math" panose="02040503050406030204" pitchFamily="18" charset="0"/>
                                </a:rPr>
                                <m:t>𝟐</m:t>
                              </m:r>
                            </m:sup>
                          </m:sSup>
                          <m:r>
                            <a:rPr lang="en-US" altLang="zh-CN" b="1" i="1" smtClean="0">
                              <a:latin typeface="Cambria Math" panose="02040503050406030204" pitchFamily="18" charset="0"/>
                            </a:rPr>
                            <m:t>(</m:t>
                          </m:r>
                          <m:r>
                            <a:rPr lang="zh-CN" altLang="en-US" b="1" i="1" smtClean="0">
                              <a:latin typeface="Cambria Math" panose="02040503050406030204" pitchFamily="18" charset="0"/>
                            </a:rPr>
                            <m:t>𝝅</m:t>
                          </m:r>
                          <m:r>
                            <a:rPr lang="en-US" altLang="zh-CN" b="1" i="1" smtClean="0">
                              <a:latin typeface="Cambria Math" panose="02040503050406030204" pitchFamily="18" charset="0"/>
                            </a:rPr>
                            <m:t>𝒇𝑻</m:t>
                          </m:r>
                          <m:r>
                            <a:rPr lang="en-US" altLang="zh-CN" b="1" i="1" smtClean="0">
                              <a:latin typeface="Cambria Math" panose="02040503050406030204" pitchFamily="18" charset="0"/>
                            </a:rPr>
                            <m:t>)</m:t>
                          </m:r>
                        </m:num>
                        <m:den>
                          <m:sSup>
                            <m:sSupPr>
                              <m:ctrlPr>
                                <a:rPr lang="en-US" altLang="zh-CN" b="1" i="1" smtClean="0">
                                  <a:latin typeface="Cambria Math" panose="02040503050406030204" pitchFamily="18" charset="0"/>
                                </a:rPr>
                              </m:ctrlPr>
                            </m:sSupPr>
                            <m:e>
                              <m:d>
                                <m:dPr>
                                  <m:ctrlPr>
                                    <a:rPr lang="en-US" altLang="zh-CN" b="1" i="1" smtClean="0">
                                      <a:latin typeface="Cambria Math" panose="02040503050406030204" pitchFamily="18" charset="0"/>
                                    </a:rPr>
                                  </m:ctrlPr>
                                </m:dPr>
                                <m:e>
                                  <m:r>
                                    <a:rPr lang="zh-CN" altLang="en-US" b="1" i="1" smtClean="0">
                                      <a:latin typeface="Cambria Math" panose="02040503050406030204" pitchFamily="18" charset="0"/>
                                    </a:rPr>
                                    <m:t>𝝅</m:t>
                                  </m:r>
                                  <m:r>
                                    <a:rPr lang="en-US" altLang="zh-CN" b="1" i="1" smtClean="0">
                                      <a:latin typeface="Cambria Math" panose="02040503050406030204" pitchFamily="18" charset="0"/>
                                    </a:rPr>
                                    <m:t>𝒇𝑻</m:t>
                                  </m:r>
                                </m:e>
                              </m:d>
                            </m:e>
                            <m:sup>
                              <m:r>
                                <a:rPr lang="en-US" altLang="zh-CN" b="1" i="1" smtClean="0">
                                  <a:latin typeface="Cambria Math" panose="02040503050406030204" pitchFamily="18" charset="0"/>
                                </a:rPr>
                                <m:t>𝟐</m:t>
                              </m:r>
                            </m:sup>
                          </m:sSup>
                        </m:den>
                      </m:f>
                    </m:oMath>
                  </m:oMathPara>
                </a14:m>
                <a:endParaRPr lang="en-US" altLang="zh-CN" dirty="0"/>
              </a:p>
              <a:p>
                <a:pPr marL="0" indent="0">
                  <a:lnSpc>
                    <a:spcPct val="150000"/>
                  </a:lnSpc>
                  <a:buNone/>
                </a:pPr>
                <a:r>
                  <a:rPr lang="zh-CN" altLang="en-US" dirty="0"/>
                  <a:t>因为</a:t>
                </a:r>
                <a14:m>
                  <m:oMath xmlns:m="http://schemas.openxmlformats.org/officeDocument/2006/math">
                    <m:r>
                      <a:rPr lang="en-US" altLang="zh-CN" b="1" i="1" smtClean="0">
                        <a:latin typeface="Cambria Math" panose="02040503050406030204" pitchFamily="18" charset="0"/>
                      </a:rPr>
                      <m:t>𝑿</m:t>
                    </m:r>
                    <m:d>
                      <m:dPr>
                        <m:ctrlPr>
                          <a:rPr lang="en-US" altLang="zh-CN" i="1">
                            <a:latin typeface="Cambria Math" panose="02040503050406030204" pitchFamily="18" charset="0"/>
                          </a:rPr>
                        </m:ctrlPr>
                      </m:dPr>
                      <m:e>
                        <m:r>
                          <a:rPr lang="en-US" altLang="zh-CN" i="1">
                            <a:latin typeface="Cambria Math" panose="02040503050406030204" pitchFamily="18" charset="0"/>
                          </a:rPr>
                          <m:t>𝒕</m:t>
                        </m:r>
                      </m:e>
                    </m:d>
                  </m:oMath>
                </a14:m>
                <a:r>
                  <a:rPr lang="zh-CN" altLang="en-US" dirty="0"/>
                  <a:t>为低通型信号，这里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𝒇</m:t>
                        </m:r>
                      </m:e>
                      <m:sub>
                        <m:r>
                          <a:rPr lang="en-US" altLang="zh-CN" i="1">
                            <a:latin typeface="Cambria Math" panose="02040503050406030204" pitchFamily="18" charset="0"/>
                          </a:rPr>
                          <m:t>𝟎</m:t>
                        </m:r>
                      </m:sub>
                    </m:sSub>
                  </m:oMath>
                </a14:m>
                <a:r>
                  <a:rPr lang="en-US" altLang="zh-CN" dirty="0"/>
                  <a:t> = 0</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𝑩</m:t>
                          </m:r>
                        </m:e>
                        <m:sub>
                          <m:r>
                            <a:rPr lang="en-US" altLang="zh-CN" i="1">
                              <a:latin typeface="Cambria Math" panose="02040503050406030204" pitchFamily="18" charset="0"/>
                            </a:rPr>
                            <m:t>𝒆𝒒</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𝑹</m:t>
                              </m:r>
                            </m:e>
                            <m:sub>
                              <m:r>
                                <a:rPr lang="en-US" altLang="zh-CN" i="1">
                                  <a:latin typeface="Cambria Math" panose="02040503050406030204" pitchFamily="18" charset="0"/>
                                </a:rPr>
                                <m:t>𝑿</m:t>
                              </m:r>
                            </m:sub>
                          </m:sSub>
                          <m:r>
                            <a:rPr lang="en-US" altLang="zh-CN" i="1">
                              <a:latin typeface="Cambria Math" panose="02040503050406030204" pitchFamily="18" charset="0"/>
                            </a:rPr>
                            <m:t>(</m:t>
                          </m:r>
                          <m:r>
                            <a:rPr lang="en-US" altLang="zh-CN" i="1">
                              <a:latin typeface="Cambria Math" panose="02040503050406030204" pitchFamily="18" charset="0"/>
                            </a:rPr>
                            <m:t>𝟎</m:t>
                          </m:r>
                          <m:r>
                            <a:rPr lang="en-US" altLang="zh-CN" i="1">
                              <a:latin typeface="Cambria Math" panose="02040503050406030204" pitchFamily="18" charset="0"/>
                            </a:rPr>
                            <m:t>)</m:t>
                          </m:r>
                        </m:num>
                        <m:den>
                          <m:r>
                            <a:rPr lang="en-US" altLang="zh-CN" i="1">
                              <a:latin typeface="Cambria Math" panose="02040503050406030204" pitchFamily="18" charset="0"/>
                            </a:rPr>
                            <m:t>𝟐</m:t>
                          </m:r>
                          <m:sSub>
                            <m:sSubPr>
                              <m:ctrlPr>
                                <a:rPr lang="en-US" altLang="zh-CN" i="1">
                                  <a:latin typeface="Cambria Math" panose="02040503050406030204" pitchFamily="18" charset="0"/>
                                </a:rPr>
                              </m:ctrlPr>
                            </m:sSubPr>
                            <m:e>
                              <m:r>
                                <a:rPr lang="en-US" altLang="zh-CN" i="1">
                                  <a:latin typeface="Cambria Math" panose="02040503050406030204" pitchFamily="18" charset="0"/>
                                </a:rPr>
                                <m:t>𝑺</m:t>
                              </m:r>
                            </m:e>
                            <m:sub>
                              <m:r>
                                <a:rPr lang="en-US" altLang="zh-CN" i="1">
                                  <a:latin typeface="Cambria Math" panose="02040503050406030204" pitchFamily="18" charset="0"/>
                                </a:rPr>
                                <m:t>𝑿</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𝒇</m:t>
                              </m:r>
                            </m:e>
                            <m:sub>
                              <m:r>
                                <a:rPr lang="en-US" altLang="zh-CN" i="1">
                                  <a:latin typeface="Cambria Math" panose="02040503050406030204" pitchFamily="18" charset="0"/>
                                </a:rPr>
                                <m:t>𝟎</m:t>
                              </m:r>
                            </m:sub>
                          </m:sSub>
                          <m:r>
                            <a:rPr lang="en-US" altLang="zh-CN" i="1">
                              <a:latin typeface="Cambria Math" panose="02040503050406030204" pitchFamily="18" charset="0"/>
                            </a:rPr>
                            <m:t>)</m:t>
                          </m:r>
                        </m:den>
                      </m:f>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𝟐</m:t>
                          </m:r>
                          <m:r>
                            <a:rPr lang="en-US" altLang="zh-CN" b="1" i="1" smtClean="0">
                              <a:latin typeface="Cambria Math" panose="02040503050406030204" pitchFamily="18" charset="0"/>
                            </a:rPr>
                            <m:t>𝑻</m:t>
                          </m:r>
                        </m:den>
                      </m:f>
                    </m:oMath>
                  </m:oMathPara>
                </a14:m>
                <a:endParaRPr lang="en-US" altLang="zh-CN" dirty="0"/>
              </a:p>
              <a:p>
                <a:pPr marL="0" indent="0">
                  <a:lnSpc>
                    <a:spcPct val="150000"/>
                  </a:lnSpc>
                  <a:buNone/>
                </a:pPr>
                <a:r>
                  <a:rPr lang="zh-CN" altLang="en-US" dirty="0"/>
                  <a:t>正好为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𝒈</m:t>
                        </m:r>
                      </m:e>
                      <m:sub>
                        <m:r>
                          <a:rPr lang="en-US" altLang="zh-CN" i="1">
                            <a:latin typeface="Cambria Math" panose="02040503050406030204" pitchFamily="18" charset="0"/>
                          </a:rPr>
                          <m:t>𝑻</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𝒕</m:t>
                        </m:r>
                      </m:e>
                    </m:d>
                  </m:oMath>
                </a14:m>
                <a:r>
                  <a:rPr lang="zh-CN" altLang="en-US" dirty="0"/>
                  <a:t>的第一过零点带宽。</a:t>
                </a:r>
              </a:p>
            </p:txBody>
          </p:sp>
        </mc:Choice>
        <mc:Fallback xmlns="">
          <p:sp>
            <p:nvSpPr>
              <p:cNvPr id="2" name="内容占位符 1">
                <a:extLst>
                  <a:ext uri="{FF2B5EF4-FFF2-40B4-BE49-F238E27FC236}">
                    <a16:creationId xmlns:a16="http://schemas.microsoft.com/office/drawing/2014/main" id="{1994CB6B-23FC-4595-8552-E5F2CDC53344}"/>
                  </a:ext>
                </a:extLst>
              </p:cNvPr>
              <p:cNvSpPr>
                <a:spLocks noGrp="1" noRot="1" noChangeAspect="1" noMove="1" noResize="1" noEditPoints="1" noAdjustHandles="1" noChangeArrowheads="1" noChangeShapeType="1" noTextEdit="1"/>
              </p:cNvSpPr>
              <p:nvPr>
                <p:ph/>
              </p:nvPr>
            </p:nvSpPr>
            <p:spPr>
              <a:xfrm>
                <a:off x="457201" y="1325440"/>
                <a:ext cx="8255000" cy="4249283"/>
              </a:xfrm>
              <a:blipFill>
                <a:blip r:embed="rId2"/>
                <a:stretch>
                  <a:fillRect l="-886" t="-1291" b="-5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873294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BE79AA-77E8-4FD8-83F4-BEA56AEB043F}"/>
              </a:ext>
            </a:extLst>
          </p:cNvPr>
          <p:cNvSpPr>
            <a:spLocks noGrp="1"/>
          </p:cNvSpPr>
          <p:nvPr>
            <p:ph type="title"/>
          </p:nvPr>
        </p:nvSpPr>
        <p:spPr/>
        <p:txBody>
          <a:bodyPr/>
          <a:lstStyle/>
          <a:p>
            <a:r>
              <a:rPr lang="zh-CN" altLang="en-US" dirty="0"/>
              <a:t>总 结</a:t>
            </a:r>
          </a:p>
        </p:txBody>
      </p:sp>
      <p:sp>
        <p:nvSpPr>
          <p:cNvPr id="3" name="内容占位符 2">
            <a:extLst>
              <a:ext uri="{FF2B5EF4-FFF2-40B4-BE49-F238E27FC236}">
                <a16:creationId xmlns:a16="http://schemas.microsoft.com/office/drawing/2014/main" id="{BF31DB79-64BF-4C4C-83A9-7C58D9D91C28}"/>
              </a:ext>
            </a:extLst>
          </p:cNvPr>
          <p:cNvSpPr>
            <a:spLocks noGrp="1"/>
          </p:cNvSpPr>
          <p:nvPr>
            <p:ph idx="1"/>
          </p:nvPr>
        </p:nvSpPr>
        <p:spPr>
          <a:xfrm>
            <a:off x="684213" y="2078831"/>
            <a:ext cx="7772400" cy="2082728"/>
          </a:xfrm>
        </p:spPr>
        <p:txBody>
          <a:bodyPr/>
          <a:lstStyle/>
          <a:p>
            <a:r>
              <a:rPr lang="zh-CN" altLang="en-US" dirty="0"/>
              <a:t>白噪声经过</a:t>
            </a:r>
            <a:r>
              <a:rPr lang="en-US" altLang="zh-CN" dirty="0"/>
              <a:t>LTI</a:t>
            </a:r>
            <a:r>
              <a:rPr lang="zh-CN" altLang="en-US" dirty="0"/>
              <a:t>系统后输出信号的特性</a:t>
            </a:r>
            <a:endParaRPr lang="en-US" altLang="zh-CN" dirty="0"/>
          </a:p>
          <a:p>
            <a:r>
              <a:rPr lang="zh-CN" altLang="en-US" dirty="0"/>
              <a:t>随机信号的带宽</a:t>
            </a:r>
            <a:endParaRPr lang="en-US" altLang="zh-CN" dirty="0"/>
          </a:p>
          <a:p>
            <a:r>
              <a:rPr lang="zh-CN" altLang="en-US" dirty="0"/>
              <a:t>作业：</a:t>
            </a:r>
            <a:r>
              <a:rPr lang="en-US" altLang="zh-CN" dirty="0"/>
              <a:t>5.10,  5.11</a:t>
            </a:r>
            <a:r>
              <a:rPr lang="zh-CN" altLang="en-US" dirty="0"/>
              <a:t>，</a:t>
            </a:r>
            <a:r>
              <a:rPr lang="en-US" altLang="zh-CN" dirty="0"/>
              <a:t>5.12,    5.13</a:t>
            </a:r>
          </a:p>
          <a:p>
            <a:endParaRPr lang="en-US" altLang="zh-CN" dirty="0"/>
          </a:p>
        </p:txBody>
      </p:sp>
    </p:spTree>
    <p:extLst>
      <p:ext uri="{BB962C8B-B14F-4D97-AF65-F5344CB8AC3E}">
        <p14:creationId xmlns:p14="http://schemas.microsoft.com/office/powerpoint/2010/main" val="959833057"/>
      </p:ext>
    </p:extLst>
  </p:cSld>
  <p:clrMapOvr>
    <a:masterClrMapping/>
  </p:clrMapOvr>
</p:sld>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Compressive Sensin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Pres_in_sample">
  <a:themeElements>
    <a:clrScheme name="1_Pres_in_sampl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Pres_in_sample">
      <a:majorFont>
        <a:latin typeface="黑体"/>
        <a:ea typeface="黑体"/>
        <a:cs typeface=""/>
      </a:majorFont>
      <a:minorFont>
        <a:latin typeface="仿宋_GB2312"/>
        <a:ea typeface="仿宋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Pres_in_sampl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Pres_in_sampl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Pres_in_sampl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Pres_in_sampl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Pres_in_sampl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Pres_in_sampl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Pres_in_sampl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Pres_in_sample">
  <a:themeElements>
    <a:clrScheme name="1_Pres_in_sampl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Pres_in_sample">
      <a:majorFont>
        <a:latin typeface="黑体"/>
        <a:ea typeface="黑体"/>
        <a:cs typeface=""/>
      </a:majorFont>
      <a:minorFont>
        <a:latin typeface="仿宋_GB2312"/>
        <a:ea typeface="仿宋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Pres_in_sampl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Pres_in_sampl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Pres_in_sampl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Pres_in_sampl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Pres_in_sampl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Pres_in_sampl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Pres_in_sampl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Compressive Sensing</Template>
  <TotalTime>9845</TotalTime>
  <Words>1130</Words>
  <Application>Microsoft Office PowerPoint</Application>
  <PresentationFormat>全屏显示(4:3)</PresentationFormat>
  <Paragraphs>110</Paragraphs>
  <Slides>30</Slides>
  <Notes>9</Notes>
  <HiddenSlides>0</HiddenSlides>
  <MMClips>0</MMClips>
  <ScaleCrop>false</ScaleCrop>
  <HeadingPairs>
    <vt:vector size="8" baseType="variant">
      <vt:variant>
        <vt:lpstr>已用的字体</vt:lpstr>
      </vt:variant>
      <vt:variant>
        <vt:i4>11</vt:i4>
      </vt:variant>
      <vt:variant>
        <vt:lpstr>主题</vt:lpstr>
      </vt:variant>
      <vt:variant>
        <vt:i4>5</vt:i4>
      </vt:variant>
      <vt:variant>
        <vt:lpstr>嵌入 OLE 服务器</vt:lpstr>
      </vt:variant>
      <vt:variant>
        <vt:i4>1</vt:i4>
      </vt:variant>
      <vt:variant>
        <vt:lpstr>幻灯片标题</vt:lpstr>
      </vt:variant>
      <vt:variant>
        <vt:i4>30</vt:i4>
      </vt:variant>
    </vt:vector>
  </HeadingPairs>
  <TitlesOfParts>
    <vt:vector size="47" baseType="lpstr">
      <vt:lpstr>Arial Unicode MS</vt:lpstr>
      <vt:lpstr>黑体</vt:lpstr>
      <vt:lpstr>宋体</vt:lpstr>
      <vt:lpstr>Arial</vt:lpstr>
      <vt:lpstr>Arial Black</vt:lpstr>
      <vt:lpstr>Calibri</vt:lpstr>
      <vt:lpstr>Cambria Math</vt:lpstr>
      <vt:lpstr>Comic Sans MS</vt:lpstr>
      <vt:lpstr>Tahoma</vt:lpstr>
      <vt:lpstr>Times New Roman</vt:lpstr>
      <vt:lpstr>Wingdings</vt:lpstr>
      <vt:lpstr>1_自定义设计方案</vt:lpstr>
      <vt:lpstr>自定义设计方案</vt:lpstr>
      <vt:lpstr>1_Compressive Sensing</vt:lpstr>
      <vt:lpstr>1_Pres_in_sample</vt:lpstr>
      <vt:lpstr>2_Pres_in_sample</vt:lpstr>
      <vt:lpstr>Photoshop.Image.7</vt:lpstr>
      <vt:lpstr>PowerPoint 演示文稿</vt:lpstr>
      <vt:lpstr>上次课总结</vt:lpstr>
      <vt:lpstr>公 式 总  结</vt:lpstr>
      <vt:lpstr>5.2  白噪声通过线性系统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5.2 平稳白噪声通过LTI系统</vt:lpstr>
      <vt:lpstr>PowerPoint 演示文稿</vt:lpstr>
      <vt:lpstr>5.2 平稳白噪声通过LTI系统</vt:lpstr>
      <vt:lpstr>PowerPoint 演示文稿</vt:lpstr>
      <vt:lpstr>PowerPoint 演示文稿</vt:lpstr>
      <vt:lpstr>PowerPoint 演示文稿</vt:lpstr>
      <vt:lpstr>PowerPoint 演示文稿</vt:lpstr>
      <vt:lpstr>PowerPoint 演示文稿</vt:lpstr>
      <vt:lpstr>"等效矩形带宽" B_N的含义 （低通系统和带通系统具有相同的形式）</vt:lpstr>
      <vt:lpstr>PowerPoint 演示文稿</vt:lpstr>
      <vt:lpstr>5.3  随机信号的带宽</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总 结</vt:lpstr>
    </vt:vector>
  </TitlesOfParts>
  <Company>Keio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Wensheng Zhang</dc:creator>
  <cp:lastModifiedBy>Wensheng Zhang</cp:lastModifiedBy>
  <cp:revision>960</cp:revision>
  <dcterms:created xsi:type="dcterms:W3CDTF">2012-07-10T00:46:24Z</dcterms:created>
  <dcterms:modified xsi:type="dcterms:W3CDTF">2024-12-13T03:02:14Z</dcterms:modified>
</cp:coreProperties>
</file>