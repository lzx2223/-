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4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60" r:id="rId2"/>
    <p:sldMasterId id="2147483686" r:id="rId3"/>
    <p:sldMasterId id="2147483690" r:id="rId4"/>
    <p:sldMasterId id="2147483708" r:id="rId5"/>
  </p:sldMasterIdLst>
  <p:notesMasterIdLst>
    <p:notesMasterId r:id="rId49"/>
  </p:notesMasterIdLst>
  <p:handoutMasterIdLst>
    <p:handoutMasterId r:id="rId50"/>
  </p:handoutMasterIdLst>
  <p:sldIdLst>
    <p:sldId id="360" r:id="rId6"/>
    <p:sldId id="380" r:id="rId7"/>
    <p:sldId id="381" r:id="rId8"/>
    <p:sldId id="382" r:id="rId9"/>
    <p:sldId id="383" r:id="rId10"/>
    <p:sldId id="385" r:id="rId11"/>
    <p:sldId id="386" r:id="rId12"/>
    <p:sldId id="387" r:id="rId13"/>
    <p:sldId id="389" r:id="rId14"/>
    <p:sldId id="390" r:id="rId15"/>
    <p:sldId id="391" r:id="rId16"/>
    <p:sldId id="392" r:id="rId17"/>
    <p:sldId id="393" r:id="rId18"/>
    <p:sldId id="394" r:id="rId19"/>
    <p:sldId id="395" r:id="rId20"/>
    <p:sldId id="396" r:id="rId21"/>
    <p:sldId id="397" r:id="rId22"/>
    <p:sldId id="398" r:id="rId23"/>
    <p:sldId id="399" r:id="rId24"/>
    <p:sldId id="400" r:id="rId25"/>
    <p:sldId id="361" r:id="rId26"/>
    <p:sldId id="362" r:id="rId27"/>
    <p:sldId id="363" r:id="rId28"/>
    <p:sldId id="364" r:id="rId29"/>
    <p:sldId id="365" r:id="rId30"/>
    <p:sldId id="366" r:id="rId31"/>
    <p:sldId id="367" r:id="rId32"/>
    <p:sldId id="368" r:id="rId33"/>
    <p:sldId id="369" r:id="rId34"/>
    <p:sldId id="370" r:id="rId35"/>
    <p:sldId id="371" r:id="rId36"/>
    <p:sldId id="372" r:id="rId37"/>
    <p:sldId id="373" r:id="rId38"/>
    <p:sldId id="374" r:id="rId39"/>
    <p:sldId id="375" r:id="rId40"/>
    <p:sldId id="376" r:id="rId41"/>
    <p:sldId id="377" r:id="rId42"/>
    <p:sldId id="378" r:id="rId43"/>
    <p:sldId id="379" r:id="rId44"/>
    <p:sldId id="257" r:id="rId45"/>
    <p:sldId id="258" r:id="rId46"/>
    <p:sldId id="259" r:id="rId47"/>
    <p:sldId id="261" r:id="rId48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ENOVO USER" initials="L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305"/>
    <a:srgbClr val="D09E00"/>
    <a:srgbClr val="FFD347"/>
    <a:srgbClr val="B88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96" autoAdjust="0"/>
    <p:restoredTop sz="88102" autoAdjust="0"/>
  </p:normalViewPr>
  <p:slideViewPr>
    <p:cSldViewPr>
      <p:cViewPr varScale="1">
        <p:scale>
          <a:sx n="92" d="100"/>
          <a:sy n="92" d="100"/>
        </p:scale>
        <p:origin x="167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1302"/>
    </p:cViewPr>
  </p:sorterViewPr>
  <p:notesViewPr>
    <p:cSldViewPr>
      <p:cViewPr varScale="1">
        <p:scale>
          <a:sx n="66" d="100"/>
          <a:sy n="66" d="100"/>
        </p:scale>
        <p:origin x="1579" y="53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8" Type="http://schemas.openxmlformats.org/officeDocument/2006/relationships/slide" Target="slides/slide3.xml"/><Relationship Id="rId51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215D6-64B5-4D81-A068-018BC9D15C70}" type="datetimeFigureOut">
              <a:rPr lang="zh-CN" altLang="en-US" smtClean="0"/>
              <a:pPr/>
              <a:t>2024/12/30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1B2BF-B727-4E7D-871C-58E4727485F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034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634918-EEE7-4DA3-9986-E691913FFCBE}" type="datetimeFigureOut">
              <a:rPr lang="zh-CN" altLang="en-US" smtClean="0"/>
              <a:pPr/>
              <a:t>2024/12/30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44D2F-56DD-4976-9716-D18248F948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873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225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994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微积分网站 </a:t>
            </a:r>
            <a:r>
              <a:rPr lang="en-US" altLang="zh-CN" dirty="0"/>
              <a:t>https://www.integral-calculator.com/</a:t>
            </a:r>
          </a:p>
          <a:p>
            <a:r>
              <a:rPr lang="en-US" altLang="zh-CN" dirty="0"/>
              <a:t>https://www.wolframalpha.com/</a:t>
            </a:r>
          </a:p>
          <a:p>
            <a:r>
              <a:rPr lang="en-US" altLang="zh-CN" dirty="0"/>
              <a:t>2. </a:t>
            </a:r>
            <a:r>
              <a:rPr lang="en-US" altLang="zh-CN" dirty="0" err="1"/>
              <a:t>Matlab</a:t>
            </a:r>
            <a:r>
              <a:rPr lang="en-US" altLang="zh-CN" dirty="0"/>
              <a:t>   </a:t>
            </a:r>
            <a:r>
              <a:rPr lang="en-US" altLang="zh-CN" dirty="0" err="1"/>
              <a:t>qfunc</a:t>
            </a:r>
            <a:r>
              <a:rPr lang="en-US" altLang="zh-CN" dirty="0"/>
              <a:t>   </a:t>
            </a:r>
            <a:r>
              <a:rPr lang="en-US" altLang="zh-CN" dirty="0" err="1"/>
              <a:t>normcdf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0656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任俐 朱琳雪 杨浩泽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040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高斯变量的线性组合。 </a:t>
            </a:r>
            <a:r>
              <a:rPr lang="en-US" altLang="zh-CN" dirty="0"/>
              <a:t>1.34</a:t>
            </a:r>
            <a:r>
              <a:rPr lang="zh-CN" altLang="en-US" dirty="0"/>
              <a:t>， 例题 </a:t>
            </a:r>
            <a:r>
              <a:rPr lang="en-US" altLang="zh-CN" dirty="0"/>
              <a:t>1.13</a:t>
            </a:r>
            <a:r>
              <a:rPr lang="zh-CN" altLang="en-US" dirty="0"/>
              <a:t>， </a:t>
            </a:r>
            <a:r>
              <a:rPr lang="en-US" altLang="zh-CN" dirty="0"/>
              <a:t>1.15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541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P13 </a:t>
            </a:r>
            <a:r>
              <a:rPr lang="zh-CN" altLang="en-US" dirty="0"/>
              <a:t>也可以按照例</a:t>
            </a:r>
            <a:r>
              <a:rPr lang="en-US" altLang="zh-CN" dirty="0"/>
              <a:t>1.12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5140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968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潘天龙 利用指数特征函数特性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78983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01263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5093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4909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4484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4294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4566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P71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4197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P71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43224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P71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48980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P71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5032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0731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9156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100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645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325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2024/12/30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56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2024/12/30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227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2024/12/30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70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2024/12/30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190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2024/12/30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0785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2024/12/30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102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355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791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51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4900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8297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2024/12/30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8879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2024/12/30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5047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2024/12/30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8882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2024/12/30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7844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2024/12/30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03969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2024/12/30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636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1754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1565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306488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00E5B7-4980-4DCB-B895-755E41E90C37}" type="datetime1">
              <a:rPr lang="es-ES" altLang="zh-CN" smtClean="0">
                <a:solidFill>
                  <a:prstClr val="black"/>
                </a:solidFill>
              </a:rPr>
              <a:pPr>
                <a:defRPr/>
              </a:pPr>
              <a:t>30/12/2024</a:t>
            </a:fld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prstClr val="black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89EF8F-819D-4663-82E4-C10ECE9AAC28}" type="slidenum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90180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>
          <a:xfrm>
            <a:off x="0" y="6425952"/>
            <a:ext cx="1691680" cy="43204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s-ES" altLang="zh-CN">
                <a:solidFill>
                  <a:prstClr val="black"/>
                </a:solidFill>
              </a:rPr>
              <a:t>Wensheng Zhang</a:t>
            </a:r>
            <a:endParaRPr lang="es-E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5885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0" y="0"/>
            <a:ext cx="8173156" cy="14176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s-ES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306488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9C957B-D1FD-480F-B320-0EDA5B29C51F}" type="datetime1">
              <a:rPr lang="es-ES" altLang="zh-CN" smtClean="0">
                <a:solidFill>
                  <a:prstClr val="black"/>
                </a:solidFill>
              </a:rPr>
              <a:pPr>
                <a:defRPr/>
              </a:pPr>
              <a:t>30/12/2024</a:t>
            </a:fld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627784" y="6381328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ECF0F2-C070-45F9-912E-4BD4A0D78506}" type="slidenum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7464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9918050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19659"/>
          </a:xfrm>
        </p:spPr>
        <p:txBody>
          <a:bodyPr>
            <a:normAutofit/>
          </a:bodyPr>
          <a:lstStyle>
            <a:lvl1pPr algn="ctr">
              <a:defRPr sz="2700" b="1" baseline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900"/>
              </a:spcBef>
              <a:defRPr sz="21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515631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75204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0743" y="234841"/>
            <a:ext cx="8229600" cy="67432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876686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00114" y="1484313"/>
            <a:ext cx="3775075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27588" y="1484313"/>
            <a:ext cx="3776662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1189" y="6381750"/>
            <a:ext cx="2447925" cy="4000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Copyrights Zhu, Weihong</a:t>
            </a:r>
            <a:r>
              <a:rPr lang="en-US" altLang="zh-CN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697970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404815"/>
            <a:ext cx="8134350" cy="8286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549073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209834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40"/>
            <a:ext cx="8229600" cy="8143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6725" y="1196977"/>
            <a:ext cx="4046538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65664" y="1196977"/>
            <a:ext cx="4046537" cy="2335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65664" y="3684588"/>
            <a:ext cx="4046537" cy="23352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0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	                                                                </a:t>
            </a:r>
            <a:fld id="{2ABEFC1A-4DB4-4CD2-A93A-BB13247C28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1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57134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77201"/>
            <a:ext cx="7772400" cy="712546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BF47E86D-3368-47CB-907D-8EA39BDBA8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66170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1" y="624254"/>
            <a:ext cx="8255000" cy="539554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647829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1_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76264" y="1368427"/>
            <a:ext cx="8351837" cy="53006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8D6CB5DB-820B-4257-AA8E-6DE44A77694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00959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5ED79246-7E55-4F6D-9798-0975818FCCC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66624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76264" y="1368425"/>
            <a:ext cx="4098925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27588" y="1368425"/>
            <a:ext cx="4100512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76264" y="4094165"/>
            <a:ext cx="4098925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827588" y="4094165"/>
            <a:ext cx="4100512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9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448E00CF-70E6-4210-B23A-8272C8897EC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62702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36331"/>
            <a:ext cx="7772400" cy="53469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569345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386863"/>
            <a:ext cx="7772400" cy="54964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15518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57201"/>
            <a:ext cx="7772400" cy="542607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6533028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30823"/>
            <a:ext cx="7772400" cy="5452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922463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80293"/>
            <a:ext cx="7772400" cy="53029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3013288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92991268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19659"/>
          </a:xfrm>
        </p:spPr>
        <p:txBody>
          <a:bodyPr>
            <a:normAutofit/>
          </a:bodyPr>
          <a:lstStyle>
            <a:lvl1pPr algn="ctr">
              <a:defRPr sz="2700" b="1" baseline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900"/>
              </a:spcBef>
              <a:defRPr sz="21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0273999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02961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0743" y="234841"/>
            <a:ext cx="8229600" cy="67432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306357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00114" y="1484313"/>
            <a:ext cx="3775075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27588" y="1484313"/>
            <a:ext cx="3776662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1189" y="6381750"/>
            <a:ext cx="2447925" cy="4000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Copyrights Zhu, Weihong</a:t>
            </a:r>
            <a:r>
              <a:rPr lang="en-US" altLang="zh-CN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655991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404815"/>
            <a:ext cx="8134350" cy="8286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549073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6278610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40"/>
            <a:ext cx="8229600" cy="8143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6725" y="1196977"/>
            <a:ext cx="4046538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65664" y="1196977"/>
            <a:ext cx="4046537" cy="2335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65664" y="3684588"/>
            <a:ext cx="4046537" cy="23352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0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	                                                                </a:t>
            </a:r>
            <a:fld id="{2ABEFC1A-4DB4-4CD2-A93A-BB13247C28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1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106709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77201"/>
            <a:ext cx="7772400" cy="712546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BF47E86D-3368-47CB-907D-8EA39BDBA8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33370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1" y="624254"/>
            <a:ext cx="8255000" cy="539554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0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by Hailiang Xiong</a:t>
            </a:r>
            <a:r>
              <a:rPr lang="zh-CN" altLang="en-US"/>
              <a:t>山东大学</a:t>
            </a:r>
            <a:r>
              <a:rPr lang="en-US" altLang="zh-CN">
                <a:latin typeface="Arial" panose="020B0604020202020204" pitchFamily="34" charset="0"/>
              </a:rPr>
              <a:t>	                                                                </a:t>
            </a:r>
            <a:fld id="{8FBAAC0D-07A3-4AB9-A234-A9E9A2F0A6FD}" type="slidenum">
              <a:rPr lang="en-US" altLang="zh-CN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13360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1_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76264" y="1368427"/>
            <a:ext cx="8351837" cy="53006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8D6CB5DB-820B-4257-AA8E-6DE44A77694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792535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5ED79246-7E55-4F6D-9798-0975818FCCC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479782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76264" y="1368425"/>
            <a:ext cx="4098925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27588" y="1368425"/>
            <a:ext cx="4100512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76264" y="4094165"/>
            <a:ext cx="4098925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827588" y="4094165"/>
            <a:ext cx="4100512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9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448E00CF-70E6-4210-B23A-8272C8897EC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45021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36331"/>
            <a:ext cx="7772400" cy="53469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3339054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386863"/>
            <a:ext cx="7772400" cy="54964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952685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57201"/>
            <a:ext cx="7772400" cy="542607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2658019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30823"/>
            <a:ext cx="7772400" cy="5452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0079967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80293"/>
            <a:ext cx="7772400" cy="53029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9568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5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FDD8F-1499-4C79-8BBC-577CD559A01B}" type="datetimeFigureOut">
              <a:rPr lang="zh-CN" altLang="en-US" smtClean="0"/>
              <a:pPr/>
              <a:t>2024/12/30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636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39855-D108-4DFB-8CB9-5769378610FC}" type="datetimeFigureOut">
              <a:rPr lang="zh-CN" altLang="en-US" smtClean="0"/>
              <a:pPr/>
              <a:t>2024/12/30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910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460432" y="6460772"/>
            <a:ext cx="7183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2" descr="C:\Users\Administrator\Downloads\SDU.jp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080" y="3235"/>
            <a:ext cx="880064" cy="836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接连接符 7"/>
          <p:cNvCxnSpPr/>
          <p:nvPr userDrawn="1"/>
        </p:nvCxnSpPr>
        <p:spPr>
          <a:xfrm>
            <a:off x="0" y="1124744"/>
            <a:ext cx="914302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6225" y="839047"/>
            <a:ext cx="124777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6329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dirty="0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628775"/>
            <a:ext cx="7772400" cy="425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dirty="0"/>
              <a:t>Klicken Sie, um die Formate des Vorlagentextes zu bearbeiten</a:t>
            </a:r>
          </a:p>
          <a:p>
            <a:pPr lvl="1"/>
            <a:r>
              <a:rPr lang="de-DE" altLang="zh-CN" dirty="0"/>
              <a:t>Zweite Ebene</a:t>
            </a:r>
          </a:p>
          <a:p>
            <a:pPr lvl="2"/>
            <a:r>
              <a:rPr lang="de-DE" altLang="zh-CN" dirty="0"/>
              <a:t>Dritte Ebene</a:t>
            </a:r>
          </a:p>
          <a:p>
            <a:pPr lvl="3"/>
            <a:r>
              <a:rPr lang="de-DE" altLang="zh-CN" dirty="0"/>
              <a:t>Vierte Ebene</a:t>
            </a:r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 flipV="1">
            <a:off x="591247" y="6389505"/>
            <a:ext cx="80645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289062" y="6415221"/>
            <a:ext cx="10668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de-DE" altLang="zh-CN" sz="900" dirty="0">
                <a:solidFill>
                  <a:srgbClr val="808080"/>
                </a:solidFill>
                <a:latin typeface="Arial" panose="020B0604020202020204" pitchFamily="34" charset="0"/>
              </a:rPr>
              <a:t>Slide </a:t>
            </a:r>
            <a:fld id="{ED94CCA2-7169-4BB5-975E-E6CC90B66E06}" type="slidenum">
              <a:rPr lang="de-DE" altLang="zh-CN" sz="900" smtClean="0">
                <a:solidFill>
                  <a:srgbClr val="808080"/>
                </a:solidFill>
                <a:latin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de-DE" altLang="zh-CN" sz="1050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2612555" y="6521901"/>
            <a:ext cx="3124200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50" b="1" kern="1200" dirty="0">
                <a:solidFill>
                  <a:schemeClr val="accent1">
                    <a:lumMod val="75000"/>
                  </a:schemeClr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随机信号分析   </a:t>
            </a:r>
            <a:r>
              <a:rPr lang="de-DE" altLang="zh-CN" sz="10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2022 </a:t>
            </a:r>
            <a:r>
              <a:rPr lang="en-US" altLang="zh-CN" sz="10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Fall</a:t>
            </a:r>
            <a:endParaRPr lang="zh-CN" altLang="de-DE" sz="105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08903" name="Text Box 7"/>
          <p:cNvSpPr txBox="1">
            <a:spLocks noChangeArrowheads="1"/>
          </p:cNvSpPr>
          <p:nvPr/>
        </p:nvSpPr>
        <p:spPr bwMode="auto">
          <a:xfrm>
            <a:off x="7808913" y="6461125"/>
            <a:ext cx="129540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s-ES" sz="15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幼圆" panose="02010509060101010101" pitchFamily="49" charset="-122"/>
              </a:rPr>
              <a:t>山东大学</a:t>
            </a:r>
            <a:endParaRPr lang="zh-CN" altLang="en-US" sz="15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208904" name="Text Box 8"/>
          <p:cNvSpPr txBox="1">
            <a:spLocks noChangeArrowheads="1"/>
          </p:cNvSpPr>
          <p:nvPr/>
        </p:nvSpPr>
        <p:spPr bwMode="auto">
          <a:xfrm>
            <a:off x="5720272" y="6461126"/>
            <a:ext cx="254635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s-ES" sz="1500" i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彩云" panose="02010800040101010101" pitchFamily="2" charset="-122"/>
              </a:rPr>
              <a:t>信息科学与工程学院</a:t>
            </a:r>
            <a:endParaRPr lang="zh-CN" altLang="en-US" sz="1500" i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华文彩云" panose="02010800040101010101" pitchFamily="2" charset="-122"/>
            </a:endParaRPr>
          </a:p>
        </p:txBody>
      </p:sp>
      <p:pic>
        <p:nvPicPr>
          <p:cNvPr id="1033" name="Picture 9"/>
          <p:cNvPicPr preferRelativeResize="0">
            <a:picLocks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6" y="58913"/>
            <a:ext cx="540000" cy="7200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1979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 kern="1200" baseline="0">
          <a:solidFill>
            <a:srgbClr val="FF0000"/>
          </a:solidFill>
          <a:latin typeface="Times New Roman" panose="02020603050405020304" pitchFamily="18" charset="0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1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18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dirty="0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628775"/>
            <a:ext cx="7772400" cy="425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dirty="0"/>
              <a:t>Klicken Sie, um die Formate des Vorlagentextes zu bearbeiten</a:t>
            </a:r>
          </a:p>
          <a:p>
            <a:pPr lvl="1"/>
            <a:r>
              <a:rPr lang="de-DE" altLang="zh-CN" dirty="0"/>
              <a:t>Zweite Ebene</a:t>
            </a:r>
          </a:p>
          <a:p>
            <a:pPr lvl="2"/>
            <a:r>
              <a:rPr lang="de-DE" altLang="zh-CN" dirty="0"/>
              <a:t>Dritte Ebene</a:t>
            </a:r>
          </a:p>
          <a:p>
            <a:pPr lvl="3"/>
            <a:r>
              <a:rPr lang="de-DE" altLang="zh-CN" dirty="0"/>
              <a:t>Vierte Ebene</a:t>
            </a:r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 flipV="1">
            <a:off x="591247" y="6389505"/>
            <a:ext cx="80645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611560" y="6415220"/>
            <a:ext cx="504056" cy="307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ED94CCA2-7169-4BB5-975E-E6CC90B66E06}" type="slidenum">
              <a:rPr lang="de-DE" altLang="zh-CN" sz="1800" smtClean="0">
                <a:solidFill>
                  <a:srgbClr val="808080"/>
                </a:solidFill>
                <a:latin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de-DE" altLang="zh-CN" sz="1800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3190419" y="6422607"/>
            <a:ext cx="258843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kern="1200" dirty="0">
                <a:solidFill>
                  <a:schemeClr val="accent1">
                    <a:lumMod val="75000"/>
                  </a:schemeClr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随机信号分析   </a:t>
            </a:r>
            <a:r>
              <a:rPr lang="de-DE" altLang="zh-CN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2022 </a:t>
            </a: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Fall</a:t>
            </a:r>
            <a:endParaRPr lang="zh-CN" altLang="de-DE" sz="16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08903" name="Text Box 7"/>
          <p:cNvSpPr txBox="1">
            <a:spLocks noChangeArrowheads="1"/>
          </p:cNvSpPr>
          <p:nvPr/>
        </p:nvSpPr>
        <p:spPr bwMode="auto">
          <a:xfrm>
            <a:off x="7596336" y="6439619"/>
            <a:ext cx="12954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s-E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幼圆" panose="02010509060101010101" pitchFamily="49" charset="-122"/>
              </a:rPr>
              <a:t>山东大学</a:t>
            </a:r>
            <a:endParaRPr lang="zh-CN" altLang="en-US" sz="16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48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 kern="1200" baseline="0">
          <a:solidFill>
            <a:srgbClr val="FF0000"/>
          </a:solidFill>
          <a:latin typeface="Times New Roman" panose="02020603050405020304" pitchFamily="18" charset="0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1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18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179512" y="512180"/>
            <a:ext cx="8496944" cy="1224136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C00000"/>
                </a:solidFill>
                <a:latin typeface="宋体"/>
              </a:rPr>
              <a:t>随机信号分析</a:t>
            </a:r>
            <a:endParaRPr lang="en-US" altLang="zh-CN" b="1" dirty="0">
              <a:solidFill>
                <a:srgbClr val="C00000"/>
              </a:solidFill>
              <a:latin typeface="宋体"/>
            </a:endParaRPr>
          </a:p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signal analysis</a:t>
            </a:r>
            <a:endParaRPr lang="es-HN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15616" y="3933056"/>
            <a:ext cx="748883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prstClr val="white"/>
                </a:solidFill>
                <a:latin typeface="宋体"/>
              </a:rPr>
              <a:t>马丕明 张文胜 </a:t>
            </a:r>
            <a:endParaRPr lang="en-US" altLang="zh-CN" sz="3600" b="1" dirty="0">
              <a:solidFill>
                <a:prstClr val="white"/>
              </a:solidFill>
              <a:latin typeface="宋体"/>
            </a:endParaRPr>
          </a:p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宋体"/>
              </a:rPr>
              <a:t>微信：</a:t>
            </a:r>
            <a:r>
              <a:rPr lang="en-US" altLang="zh-CN" sz="2800" b="1" dirty="0">
                <a:solidFill>
                  <a:prstClr val="white"/>
                </a:solidFill>
                <a:latin typeface="宋体"/>
              </a:rPr>
              <a:t>15063339795  QQ:762329090</a:t>
            </a:r>
          </a:p>
          <a:p>
            <a:pPr algn="ctr"/>
            <a:r>
              <a:rPr lang="en-US" altLang="zh-CN" sz="24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zhangwsh@sdu.edu.cn</a:t>
            </a:r>
          </a:p>
          <a:p>
            <a:pPr algn="ctr"/>
            <a:r>
              <a:rPr lang="en-US" altLang="zh-HK" sz="24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zhang8181@gmail.com</a:t>
            </a:r>
          </a:p>
          <a:p>
            <a:pPr algn="ctr"/>
            <a:r>
              <a:rPr lang="en-US" altLang="zh-HK" sz="20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School of Information Science and Engineering</a:t>
            </a:r>
          </a:p>
          <a:p>
            <a:pPr algn="ctr"/>
            <a:r>
              <a:rPr lang="en-US" altLang="zh-HK" sz="24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Shandong University</a:t>
            </a:r>
            <a:endParaRPr lang="zh-TW" altLang="zh-HK" sz="2800" dirty="0">
              <a:solidFill>
                <a:prstClr val="white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endParaRPr lang="zh-TW" altLang="zh-HK" sz="2400" dirty="0">
              <a:solidFill>
                <a:prstClr val="white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827584" y="2248402"/>
            <a:ext cx="7488832" cy="647576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>
                <a:cs typeface="Arial Unicode MS" pitchFamily="34" charset="-122"/>
              </a:rPr>
              <a:t>课程号</a:t>
            </a:r>
            <a:r>
              <a:rPr lang="en-US" altLang="zh-CN" sz="2800" b="1" dirty="0">
                <a:cs typeface="Arial Unicode MS" pitchFamily="34" charset="-122"/>
              </a:rPr>
              <a:t>: </a:t>
            </a:r>
            <a:r>
              <a:rPr lang="en-US" altLang="zh-CN" sz="2800" b="1" dirty="0"/>
              <a:t>sd01234090-1    </a:t>
            </a:r>
            <a:r>
              <a:rPr lang="zh-CN" altLang="en-US" sz="2800" b="1" dirty="0"/>
              <a:t>周五</a:t>
            </a:r>
            <a:r>
              <a:rPr lang="en-US" altLang="zh-CN" sz="2800" b="1" dirty="0"/>
              <a:t>1-2</a:t>
            </a:r>
            <a:r>
              <a:rPr lang="zh-CN" altLang="en-US" sz="2800" b="1" dirty="0"/>
              <a:t>节  </a:t>
            </a:r>
            <a:endParaRPr lang="en-US" altLang="zh-CN" sz="2800" b="1" dirty="0"/>
          </a:p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>
                <a:cs typeface="Arial Unicode MS" pitchFamily="34" charset="-122"/>
              </a:rPr>
              <a:t>振声苑</a:t>
            </a:r>
            <a:r>
              <a:rPr lang="en-US" altLang="zh-CN" sz="2800" b="1" dirty="0">
                <a:cs typeface="Arial Unicode MS" pitchFamily="34" charset="-122"/>
              </a:rPr>
              <a:t>W102</a:t>
            </a:r>
            <a:r>
              <a:rPr lang="zh-CN" altLang="en-US" sz="2800" b="1" dirty="0">
                <a:cs typeface="Arial Unicode MS" pitchFamily="34" charset="-122"/>
              </a:rPr>
              <a:t>，通信</a:t>
            </a:r>
            <a:r>
              <a:rPr lang="en-US" altLang="zh-CN" sz="2800" b="1" dirty="0">
                <a:cs typeface="Arial Unicode MS" pitchFamily="34" charset="-122"/>
              </a:rPr>
              <a:t>21[1-3]</a:t>
            </a:r>
            <a:r>
              <a:rPr lang="zh-CN" altLang="en-US" sz="2800" b="1" dirty="0">
                <a:cs typeface="Arial Unicode MS" pitchFamily="34" charset="-122"/>
              </a:rPr>
              <a:t>班，</a:t>
            </a:r>
            <a:r>
              <a:rPr lang="en-US" altLang="zh-CN" sz="2800" b="1" dirty="0">
                <a:cs typeface="Arial Unicode MS" pitchFamily="34" charset="-122"/>
              </a:rPr>
              <a:t>2022</a:t>
            </a:r>
            <a:r>
              <a:rPr lang="zh-CN" altLang="en-US" sz="2800" b="1" dirty="0">
                <a:cs typeface="Arial Unicode MS" pitchFamily="34" charset="-122"/>
              </a:rPr>
              <a:t>年秋</a:t>
            </a:r>
            <a:endParaRPr lang="es-HN" sz="2800" b="1" dirty="0"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0101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F9FF6-E09F-4489-BF2C-BF3EA6BFD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332656"/>
            <a:ext cx="3024336" cy="543593"/>
          </a:xfrm>
        </p:spPr>
        <p:txBody>
          <a:bodyPr/>
          <a:lstStyle/>
          <a:p>
            <a:pPr algn="l"/>
            <a:r>
              <a:rPr lang="zh-CN" altLang="en-US" sz="2800" b="1" dirty="0"/>
              <a:t>第一章作业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7BC75A6-4F92-4360-80DA-22C59C8D1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587" y="1772816"/>
            <a:ext cx="7434826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089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3BE3613-3AC2-4074-AA6E-ABEEFF4B0813}"/>
              </a:ext>
            </a:extLst>
          </p:cNvPr>
          <p:cNvSpPr/>
          <p:nvPr/>
        </p:nvSpPr>
        <p:spPr>
          <a:xfrm>
            <a:off x="251520" y="404664"/>
            <a:ext cx="5688632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1.10 </a:t>
            </a:r>
            <a:r>
              <a:rPr lang="zh-CN" altLang="en-US" sz="24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设随机变量</a:t>
            </a:r>
            <a:r>
              <a:rPr lang="en-US" altLang="zh-CN" sz="24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24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的绝对值不大于</a:t>
            </a:r>
            <a:r>
              <a:rPr lang="en-US" altLang="zh-CN" sz="24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FFE3D1D-5370-474F-8660-DF8D98D855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340768"/>
            <a:ext cx="6264696" cy="464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666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3BE3613-3AC2-4074-AA6E-ABEEFF4B0813}"/>
              </a:ext>
            </a:extLst>
          </p:cNvPr>
          <p:cNvSpPr/>
          <p:nvPr/>
        </p:nvSpPr>
        <p:spPr>
          <a:xfrm>
            <a:off x="323528" y="260648"/>
            <a:ext cx="7776864" cy="16677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1.11 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分正负讨论   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PDF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全部面积为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1.15 </a:t>
            </a:r>
            <a:r>
              <a:rPr lang="zh-CN" altLang="en-US" sz="24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怎么算的？这么算对吗？ </a:t>
            </a:r>
            <a:r>
              <a:rPr lang="en-US" altLang="zh-CN" sz="24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N(mu,sigm^2)? </a:t>
            </a:r>
            <a:r>
              <a:rPr lang="zh-CN" altLang="en-US" sz="24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怎么算？</a:t>
            </a:r>
            <a:endParaRPr lang="en-US" altLang="zh-CN" sz="2400" b="1" dirty="0">
              <a:highlight>
                <a:srgbClr val="FFFF00"/>
              </a:highligh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0C415EA-E5EB-4C35-8C4B-39096BFD0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424" y="1484784"/>
            <a:ext cx="8681151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228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C143749-E840-47DD-A229-6C79F5267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260648"/>
            <a:ext cx="8784976" cy="288032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C1DA884-C6E9-4234-AFE6-5317C18AF7E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356992"/>
            <a:ext cx="8712968" cy="2448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8293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3BE3613-3AC2-4074-AA6E-ABEEFF4B0813}"/>
              </a:ext>
            </a:extLst>
          </p:cNvPr>
          <p:cNvSpPr/>
          <p:nvPr/>
        </p:nvSpPr>
        <p:spPr>
          <a:xfrm>
            <a:off x="323528" y="260648"/>
            <a:ext cx="7776864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1.16 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证明独立。 相关、正交。 答案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459A8D5-B0FB-4D45-A4D2-1B592EA56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1268760"/>
            <a:ext cx="7992888" cy="518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476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3BE3613-3AC2-4074-AA6E-ABEEFF4B0813}"/>
              </a:ext>
            </a:extLst>
          </p:cNvPr>
          <p:cNvSpPr/>
          <p:nvPr/>
        </p:nvSpPr>
        <p:spPr>
          <a:xfrm>
            <a:off x="323528" y="260648"/>
            <a:ext cx="7776864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1.20 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串联 并联 备用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7CB503F-85BE-4850-8632-10B670E51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980728"/>
            <a:ext cx="8640960" cy="372179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768D995-159B-4E34-B0A8-439C178276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18455"/>
            <a:ext cx="9144000" cy="3888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28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3BE3613-3AC2-4074-AA6E-ABEEFF4B0813}"/>
              </a:ext>
            </a:extLst>
          </p:cNvPr>
          <p:cNvSpPr/>
          <p:nvPr/>
        </p:nvSpPr>
        <p:spPr>
          <a:xfrm>
            <a:off x="323528" y="260648"/>
            <a:ext cx="7776864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1.22 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独立 相关 正交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ECCBAAF-B633-470D-9A7D-AA5384944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1556792"/>
            <a:ext cx="6840760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700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3BE3613-3AC2-4074-AA6E-ABEEFF4B0813}"/>
              </a:ext>
            </a:extLst>
          </p:cNvPr>
          <p:cNvSpPr/>
          <p:nvPr/>
        </p:nvSpPr>
        <p:spPr>
          <a:xfrm>
            <a:off x="323528" y="260648"/>
            <a:ext cx="7776864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1.29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0449328-988E-4D40-ADB2-F81FDBC28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484784"/>
            <a:ext cx="7513969" cy="501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27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3BE3613-3AC2-4074-AA6E-ABEEFF4B0813}"/>
              </a:ext>
            </a:extLst>
          </p:cNvPr>
          <p:cNvSpPr/>
          <p:nvPr/>
        </p:nvSpPr>
        <p:spPr>
          <a:xfrm>
            <a:off x="323528" y="260648"/>
            <a:ext cx="7776864" cy="16677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1.31 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特征函数唯一性。 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结论独立高斯线性组合仍为高斯。 独立随机变量和的概率密度函数是各概率密度函数的卷积。 特征函数的乘积。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024E863-F2DE-4B03-B9FF-D1309701EA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2132856"/>
            <a:ext cx="5976665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881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F9FF6-E09F-4489-BF2C-BF3EA6BFD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332656"/>
            <a:ext cx="3024336" cy="543593"/>
          </a:xfrm>
        </p:spPr>
        <p:txBody>
          <a:bodyPr/>
          <a:lstStyle/>
          <a:p>
            <a:pPr algn="l"/>
            <a:r>
              <a:rPr lang="zh-CN" altLang="en-US" sz="2800" b="1" dirty="0"/>
              <a:t>第二章作业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7F67191-A1C0-4751-83D6-E1DEDAA15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835696" y="764704"/>
            <a:ext cx="5328592" cy="633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242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F9FF6-E09F-4489-BF2C-BF3EA6BFD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332656"/>
            <a:ext cx="3024336" cy="543593"/>
          </a:xfrm>
        </p:spPr>
        <p:txBody>
          <a:bodyPr/>
          <a:lstStyle/>
          <a:p>
            <a:pPr algn="l"/>
            <a:r>
              <a:rPr lang="zh-CN" altLang="en-US" sz="2800" b="1" dirty="0"/>
              <a:t>第二章作业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663B496-B51C-4104-8FD9-0DF8F24388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209428" y="859024"/>
            <a:ext cx="5157192" cy="597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678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F9FF6-E09F-4489-BF2C-BF3EA6BFD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332656"/>
            <a:ext cx="3024336" cy="543593"/>
          </a:xfrm>
        </p:spPr>
        <p:txBody>
          <a:bodyPr/>
          <a:lstStyle/>
          <a:p>
            <a:pPr algn="l"/>
            <a:r>
              <a:rPr lang="zh-CN" altLang="en-US" sz="2800" b="1" dirty="0"/>
              <a:t>第二章作业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3936D72-C2B7-4BCD-B567-0FD02609F4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849388" y="643000"/>
            <a:ext cx="5445224" cy="669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272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F9FF6-E09F-4489-BF2C-BF3EA6BFD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332656"/>
            <a:ext cx="3024336" cy="543593"/>
          </a:xfrm>
        </p:spPr>
        <p:txBody>
          <a:bodyPr/>
          <a:lstStyle/>
          <a:p>
            <a:pPr algn="l"/>
            <a:r>
              <a:rPr lang="zh-CN" altLang="en-US" sz="2800" b="1" dirty="0"/>
              <a:t>第二章作业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EBD9241-4742-492A-9F7E-BB7CD65036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091147" y="1040693"/>
            <a:ext cx="5157192" cy="581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888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F9FF6-E09F-4489-BF2C-BF3EA6BFD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332656"/>
            <a:ext cx="3024336" cy="543593"/>
          </a:xfrm>
        </p:spPr>
        <p:txBody>
          <a:bodyPr/>
          <a:lstStyle/>
          <a:p>
            <a:pPr algn="l"/>
            <a:r>
              <a:rPr lang="zh-CN" altLang="en-US" sz="2800" b="1" dirty="0"/>
              <a:t>第三章作业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A1662C3-081C-4D25-9A5C-1CE6F535D2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544393" y="905449"/>
            <a:ext cx="5479149" cy="604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83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F9FF6-E09F-4489-BF2C-BF3EA6BFD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332656"/>
            <a:ext cx="3024336" cy="543593"/>
          </a:xfrm>
        </p:spPr>
        <p:txBody>
          <a:bodyPr/>
          <a:lstStyle/>
          <a:p>
            <a:pPr algn="l"/>
            <a:r>
              <a:rPr lang="zh-CN" altLang="en-US" sz="2800" b="1" dirty="0"/>
              <a:t>第三章作业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9321986-1780-4F96-AE7E-AD8CC6BEE8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01316" y="857250"/>
            <a:ext cx="674136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400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F9FF6-E09F-4489-BF2C-BF3EA6BFD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332656"/>
            <a:ext cx="3024336" cy="543593"/>
          </a:xfrm>
        </p:spPr>
        <p:txBody>
          <a:bodyPr/>
          <a:lstStyle/>
          <a:p>
            <a:pPr algn="l"/>
            <a:r>
              <a:rPr lang="zh-CN" altLang="en-US" sz="2800" b="1" dirty="0"/>
              <a:t>第三章作业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0725BB2-8A11-4466-B00E-5E0783C6B1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3000" y="857250"/>
            <a:ext cx="6858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670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F9FF6-E09F-4489-BF2C-BF3EA6BFD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332656"/>
            <a:ext cx="3024336" cy="543593"/>
          </a:xfrm>
        </p:spPr>
        <p:txBody>
          <a:bodyPr/>
          <a:lstStyle/>
          <a:p>
            <a:pPr algn="l"/>
            <a:r>
              <a:rPr lang="zh-CN" altLang="en-US" sz="2800" b="1" dirty="0"/>
              <a:t>第三章作业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AB3CB47-4446-4502-BF33-BE625E910C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381336" y="936671"/>
            <a:ext cx="638132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120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F9FF6-E09F-4489-BF2C-BF3EA6BFD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332656"/>
            <a:ext cx="3024336" cy="543593"/>
          </a:xfrm>
        </p:spPr>
        <p:txBody>
          <a:bodyPr/>
          <a:lstStyle/>
          <a:p>
            <a:pPr algn="l"/>
            <a:r>
              <a:rPr lang="zh-CN" altLang="en-US" sz="2800" b="1" dirty="0"/>
              <a:t>第三章作业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7D2B1A1-AE4C-4189-8264-8146AEB039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763688" y="1137511"/>
            <a:ext cx="561662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0226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F9FF6-E09F-4489-BF2C-BF3EA6BFD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332656"/>
            <a:ext cx="3024336" cy="543593"/>
          </a:xfrm>
        </p:spPr>
        <p:txBody>
          <a:bodyPr/>
          <a:lstStyle/>
          <a:p>
            <a:pPr algn="l"/>
            <a:r>
              <a:rPr lang="zh-CN" altLang="en-US" sz="2800" b="1" dirty="0"/>
              <a:t>第三章作业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35AECB8-9BCB-4CDD-97DE-8C7A332871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489348" y="1083556"/>
            <a:ext cx="616530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6938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F9FF6-E09F-4489-BF2C-BF3EA6BFD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188640"/>
            <a:ext cx="2016224" cy="543593"/>
          </a:xfrm>
        </p:spPr>
        <p:txBody>
          <a:bodyPr/>
          <a:lstStyle/>
          <a:p>
            <a:pPr algn="l"/>
            <a:r>
              <a:rPr lang="zh-CN" altLang="en-US" dirty="0"/>
              <a:t>作业 </a:t>
            </a:r>
            <a:r>
              <a:rPr lang="en-US" altLang="zh-CN" dirty="0"/>
              <a:t>1118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D3323F1-61E2-4F97-B5B1-EC2592BB5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08720"/>
            <a:ext cx="9133367" cy="92774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F36E88E-CBF0-460B-AB55-6544EC1D1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1916832"/>
            <a:ext cx="6624736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2576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D3323F1-61E2-4F97-B5B1-EC2592BB5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08720"/>
            <a:ext cx="9133367" cy="92774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EDE5B91-2652-4676-9C3C-4831E16C7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1836469"/>
            <a:ext cx="6552728" cy="4472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1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1ED3C11-C955-470F-A3C2-AA41016BF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2" y="200990"/>
            <a:ext cx="9144000" cy="319860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48A3791-CEDA-4A7F-81C3-E95DFE9E1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769825"/>
            <a:ext cx="77724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550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74D709C-7704-48DE-905B-32A8F55AE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620688"/>
            <a:ext cx="6480720" cy="525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4075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D2C3691-5C1A-4C99-BAF2-49AC2C37B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836712"/>
            <a:ext cx="7272808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8424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E710C77-2D18-4E6E-A59B-02D73B192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4" y="332656"/>
            <a:ext cx="9144000" cy="101082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AA39AB8-F46D-427F-907F-246AC3538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5" y="1652587"/>
            <a:ext cx="7115664" cy="4368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0522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54B47AA-34F1-45AC-B209-CB550DD39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640"/>
            <a:ext cx="9144000" cy="136387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A269B94-BCDB-415C-902D-0259F5AC9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" y="142875"/>
            <a:ext cx="9020175" cy="65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664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54B47AA-34F1-45AC-B209-CB550DD39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640"/>
            <a:ext cx="9144000" cy="136387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9DDB877-A9F7-43C1-8190-7AE9B6017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268760"/>
            <a:ext cx="7934325" cy="553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066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A492D0A-9498-4995-B7CE-B55DB9267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2656"/>
            <a:ext cx="9144000" cy="87858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65A26B2-CE5A-4A6D-BDEA-6892835CD4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1196752"/>
            <a:ext cx="8058150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0288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F9FF6-E09F-4489-BF2C-BF3EA6BFD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188640"/>
            <a:ext cx="2016224" cy="543593"/>
          </a:xfrm>
        </p:spPr>
        <p:txBody>
          <a:bodyPr/>
          <a:lstStyle/>
          <a:p>
            <a:pPr algn="l"/>
            <a:r>
              <a:rPr lang="zh-CN" altLang="en-US" dirty="0"/>
              <a:t>作业 </a:t>
            </a:r>
            <a:r>
              <a:rPr lang="en-US" altLang="zh-CN" dirty="0"/>
              <a:t>1125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EC440D1-61B2-415A-A88E-DE7287D37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08720"/>
            <a:ext cx="9144000" cy="280450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51DB283-215E-48F5-AC6E-C826F5CDAD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2132856"/>
            <a:ext cx="8280920" cy="459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259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0CD657A-7069-4D43-BBEC-C083B677E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0648"/>
            <a:ext cx="9144000" cy="139690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7201802-6E0A-4215-AEA9-54E328FC3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6" y="1988840"/>
            <a:ext cx="8208912" cy="41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6021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C3EF9E0-9DEE-41AC-9B69-8F8946D5A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1" y="404664"/>
            <a:ext cx="9144000" cy="353765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ACC96EC-6047-40CF-81D2-FADAF7D4D7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4" y="938576"/>
            <a:ext cx="7056784" cy="5901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4008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96C1849-6EE9-40F3-9356-FC339D91A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2656"/>
            <a:ext cx="9144000" cy="191860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7BEC009-1E56-4616-8086-221FB5E83F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18" y="2377355"/>
            <a:ext cx="3168352" cy="210328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EE90CE0-81CC-483E-932B-BD13C5B7F1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3848" y="1412776"/>
            <a:ext cx="5709859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698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F9FF6-E09F-4489-BF2C-BF3EA6BFD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188640"/>
            <a:ext cx="2016224" cy="543593"/>
          </a:xfrm>
        </p:spPr>
        <p:txBody>
          <a:bodyPr/>
          <a:lstStyle/>
          <a:p>
            <a:pPr algn="l"/>
            <a:r>
              <a:rPr lang="zh-CN" altLang="en-US" dirty="0"/>
              <a:t>第五章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7D2C8F-02E0-4302-97F1-9BAA5C2D3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7" y="1052736"/>
            <a:ext cx="8412731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7623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F9FF6-E09F-4489-BF2C-BF3EA6BFD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188640"/>
            <a:ext cx="2016224" cy="543593"/>
          </a:xfrm>
        </p:spPr>
        <p:txBody>
          <a:bodyPr/>
          <a:lstStyle/>
          <a:p>
            <a:pPr algn="l"/>
            <a:r>
              <a:rPr lang="zh-CN" altLang="en-US" dirty="0"/>
              <a:t>第五章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A062F14-E9A8-43C9-87F8-A41F1664E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24744"/>
            <a:ext cx="8172400" cy="358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5141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F9FF6-E09F-4489-BF2C-BF3EA6BFD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188640"/>
            <a:ext cx="2016224" cy="543593"/>
          </a:xfrm>
        </p:spPr>
        <p:txBody>
          <a:bodyPr/>
          <a:lstStyle/>
          <a:p>
            <a:pPr algn="l"/>
            <a:r>
              <a:rPr lang="en-US" altLang="zh-CN" dirty="0"/>
              <a:t>5.4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E712997-5724-4503-A009-95418F4CF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052736"/>
            <a:ext cx="7272808" cy="547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1847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F9FF6-E09F-4489-BF2C-BF3EA6BFD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188640"/>
            <a:ext cx="2016224" cy="543593"/>
          </a:xfrm>
        </p:spPr>
        <p:txBody>
          <a:bodyPr/>
          <a:lstStyle/>
          <a:p>
            <a:pPr algn="l"/>
            <a:r>
              <a:rPr lang="en-US" altLang="zh-CN" dirty="0"/>
              <a:t>5.4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5720FEA-55B3-4DFE-ACD5-1F7A40A8B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" y="764704"/>
            <a:ext cx="8267700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6165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F9FF6-E09F-4489-BF2C-BF3EA6BFD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188640"/>
            <a:ext cx="2016224" cy="543593"/>
          </a:xfrm>
        </p:spPr>
        <p:txBody>
          <a:bodyPr/>
          <a:lstStyle/>
          <a:p>
            <a:pPr algn="l"/>
            <a:r>
              <a:rPr lang="en-US" altLang="zh-CN" dirty="0"/>
              <a:t>5.5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D4EE7C6-E702-49C4-967B-00E361A6D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548680"/>
            <a:ext cx="7981950" cy="583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6988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F9FF6-E09F-4489-BF2C-BF3EA6BFD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188640"/>
            <a:ext cx="2016224" cy="543593"/>
          </a:xfrm>
        </p:spPr>
        <p:txBody>
          <a:bodyPr/>
          <a:lstStyle/>
          <a:p>
            <a:pPr algn="l"/>
            <a:r>
              <a:rPr lang="en-US" altLang="zh-CN" dirty="0"/>
              <a:t>5.5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E21957D-DCE9-43BB-A788-500D9CCE7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3" y="332656"/>
            <a:ext cx="560504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8466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C1D5C5-5D05-4B6A-A9F1-8BA2E7408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第一章 概率论基础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6CE8AB-C4B0-4239-BFD2-270F2CA8F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</a:t>
            </a:r>
            <a:r>
              <a:rPr lang="zh-CN" altLang="zh-CN" dirty="0"/>
              <a:t>、随机变量的概率分布</a:t>
            </a:r>
          </a:p>
          <a:p>
            <a:pPr marL="0" indent="0">
              <a:buNone/>
            </a:pPr>
            <a:r>
              <a:rPr lang="en-US" altLang="zh-CN" dirty="0"/>
              <a:t>       PMF</a:t>
            </a:r>
            <a:r>
              <a:rPr lang="zh-CN" altLang="zh-CN" dirty="0"/>
              <a:t>、</a:t>
            </a:r>
            <a:r>
              <a:rPr lang="en-US" altLang="zh-CN" dirty="0"/>
              <a:t>CDF</a:t>
            </a:r>
            <a:r>
              <a:rPr lang="zh-CN" altLang="zh-CN" dirty="0"/>
              <a:t>、</a:t>
            </a:r>
            <a:r>
              <a:rPr lang="en-US" altLang="zh-CN" dirty="0"/>
              <a:t>PDF</a:t>
            </a:r>
          </a:p>
          <a:p>
            <a:pPr marL="0" indent="0">
              <a:buNone/>
            </a:pPr>
            <a:r>
              <a:rPr lang="en-US" altLang="zh-CN" dirty="0"/>
              <a:t>      </a:t>
            </a:r>
            <a:r>
              <a:rPr lang="zh-CN" altLang="zh-CN" dirty="0"/>
              <a:t>联合分布</a:t>
            </a:r>
            <a:r>
              <a:rPr lang="en-US" altLang="zh-CN" dirty="0"/>
              <a:t>*</a:t>
            </a:r>
            <a:r>
              <a:rPr lang="zh-CN" altLang="zh-CN" dirty="0"/>
              <a:t>、边缘分布</a:t>
            </a:r>
            <a:r>
              <a:rPr lang="en-US" altLang="zh-CN" dirty="0"/>
              <a:t>*</a:t>
            </a:r>
            <a:r>
              <a:rPr lang="zh-CN" altLang="zh-CN" dirty="0"/>
              <a:t>、条件分布</a:t>
            </a:r>
            <a:r>
              <a:rPr lang="en-US" altLang="zh-CN" dirty="0"/>
              <a:t>*</a:t>
            </a:r>
            <a:endParaRPr lang="zh-CN" altLang="zh-CN" dirty="0"/>
          </a:p>
          <a:p>
            <a:r>
              <a:rPr lang="en-US" altLang="zh-CN" dirty="0"/>
              <a:t>2</a:t>
            </a:r>
            <a:r>
              <a:rPr lang="zh-CN" altLang="zh-CN" dirty="0"/>
              <a:t>、随机变量的数字特征</a:t>
            </a:r>
            <a:r>
              <a:rPr lang="en-US" altLang="zh-CN" dirty="0"/>
              <a:t>*</a:t>
            </a:r>
            <a:endParaRPr lang="zh-CN" altLang="zh-CN" dirty="0"/>
          </a:p>
          <a:p>
            <a:r>
              <a:rPr lang="en-US" altLang="zh-CN" dirty="0"/>
              <a:t>3</a:t>
            </a:r>
            <a:r>
              <a:rPr lang="zh-CN" altLang="zh-CN" dirty="0"/>
              <a:t>、随机变量的特征函数</a:t>
            </a:r>
            <a:r>
              <a:rPr lang="en-US" altLang="zh-CN" dirty="0"/>
              <a:t>*</a:t>
            </a:r>
            <a:endParaRPr lang="zh-CN" altLang="zh-CN" dirty="0"/>
          </a:p>
          <a:p>
            <a:r>
              <a:rPr lang="en-US" altLang="zh-CN" dirty="0"/>
              <a:t>4</a:t>
            </a:r>
            <a:r>
              <a:rPr lang="zh-CN" altLang="zh-CN" dirty="0"/>
              <a:t>、随机变量的正交</a:t>
            </a:r>
            <a:r>
              <a:rPr lang="en-US" altLang="zh-CN" dirty="0"/>
              <a:t>*</a:t>
            </a:r>
            <a:r>
              <a:rPr lang="zh-CN" altLang="zh-CN" dirty="0"/>
              <a:t>、不相关</a:t>
            </a:r>
            <a:r>
              <a:rPr lang="en-US" altLang="zh-CN" dirty="0"/>
              <a:t>*</a:t>
            </a:r>
            <a:r>
              <a:rPr lang="zh-CN" altLang="zh-CN" dirty="0"/>
              <a:t>、统计独立</a:t>
            </a:r>
            <a:r>
              <a:rPr lang="en-US" altLang="zh-CN" dirty="0"/>
              <a:t>*</a:t>
            </a:r>
            <a:endParaRPr lang="zh-CN" altLang="zh-CN" dirty="0"/>
          </a:p>
          <a:p>
            <a:r>
              <a:rPr lang="en-US" altLang="zh-CN" dirty="0"/>
              <a:t>5</a:t>
            </a:r>
            <a:r>
              <a:rPr lang="zh-CN" altLang="zh-CN" dirty="0"/>
              <a:t>、常用的概率分布的概率分布、数字特征和特征函数</a:t>
            </a:r>
          </a:p>
          <a:p>
            <a:pPr marL="0" indent="0">
              <a:buNone/>
            </a:pPr>
            <a:r>
              <a:rPr lang="en-US" altLang="zh-CN" dirty="0"/>
              <a:t>          0-1</a:t>
            </a:r>
            <a:r>
              <a:rPr lang="zh-CN" altLang="zh-CN" dirty="0"/>
              <a:t>分布、</a:t>
            </a:r>
            <a:r>
              <a:rPr lang="zh-CN" altLang="en-US" dirty="0"/>
              <a:t>均匀分布、</a:t>
            </a:r>
            <a:r>
              <a:rPr lang="zh-CN" altLang="zh-CN" dirty="0"/>
              <a:t>泊松分布、指数分布、高斯分布</a:t>
            </a:r>
            <a:r>
              <a:rPr lang="zh-CN" altLang="en-US" dirty="0"/>
              <a:t>*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8816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0BCEC0-696F-4231-92F0-D1E0F35A0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随机信号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8E408B-489D-4A69-BAC5-6FD266E82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</a:t>
            </a:r>
            <a:r>
              <a:rPr lang="zh-CN" altLang="zh-CN" dirty="0"/>
              <a:t>、随机信号的概率特性和数字特征</a:t>
            </a:r>
          </a:p>
          <a:p>
            <a:pPr marL="0" indent="0">
              <a:buNone/>
            </a:pPr>
            <a:r>
              <a:rPr lang="en-US" altLang="zh-CN" dirty="0"/>
              <a:t>     </a:t>
            </a:r>
            <a:r>
              <a:rPr lang="zh-CN" altLang="zh-CN" dirty="0"/>
              <a:t>一维、二维的</a:t>
            </a:r>
            <a:r>
              <a:rPr lang="en-US" altLang="zh-CN" dirty="0"/>
              <a:t>CDF*</a:t>
            </a:r>
            <a:r>
              <a:rPr lang="zh-CN" altLang="zh-CN" dirty="0"/>
              <a:t>、</a:t>
            </a:r>
            <a:r>
              <a:rPr lang="en-US" altLang="zh-CN" dirty="0"/>
              <a:t>PDF*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 </a:t>
            </a:r>
            <a:r>
              <a:rPr lang="zh-CN" altLang="zh-CN" dirty="0"/>
              <a:t>均值</a:t>
            </a:r>
            <a:r>
              <a:rPr lang="en-US" altLang="zh-CN" dirty="0"/>
              <a:t>*</a:t>
            </a:r>
            <a:r>
              <a:rPr lang="zh-CN" altLang="zh-CN" dirty="0"/>
              <a:t>、相关函数</a:t>
            </a:r>
            <a:r>
              <a:rPr lang="en-US" altLang="zh-CN" dirty="0"/>
              <a:t>*</a:t>
            </a:r>
            <a:r>
              <a:rPr lang="zh-CN" altLang="zh-CN" dirty="0"/>
              <a:t>、协方差函数</a:t>
            </a:r>
            <a:r>
              <a:rPr lang="en-US" altLang="zh-CN" dirty="0"/>
              <a:t>*</a:t>
            </a:r>
            <a:endParaRPr lang="zh-CN" altLang="zh-CN" dirty="0"/>
          </a:p>
          <a:p>
            <a:r>
              <a:rPr lang="en-US" altLang="zh-CN" dirty="0"/>
              <a:t>2</a:t>
            </a:r>
            <a:r>
              <a:rPr lang="zh-CN" altLang="zh-CN" dirty="0"/>
              <a:t>、典型信号的基本特性</a:t>
            </a:r>
          </a:p>
          <a:p>
            <a:pPr marL="0" indent="0">
              <a:buNone/>
            </a:pPr>
            <a:r>
              <a:rPr lang="en-US" altLang="zh-CN" dirty="0"/>
              <a:t>     1</a:t>
            </a:r>
            <a:r>
              <a:rPr lang="zh-CN" altLang="zh-CN" dirty="0"/>
              <a:t>）随机正弦信号</a:t>
            </a:r>
            <a:r>
              <a:rPr lang="en-US" altLang="zh-CN" dirty="0"/>
              <a:t>*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 2</a:t>
            </a:r>
            <a:r>
              <a:rPr lang="zh-CN" altLang="zh-CN" dirty="0"/>
              <a:t>）贝努利随机序列</a:t>
            </a:r>
            <a:r>
              <a:rPr lang="zh-CN" altLang="en-US" dirty="0"/>
              <a:t>*</a:t>
            </a:r>
            <a:endParaRPr lang="zh-CN" altLang="zh-CN" dirty="0"/>
          </a:p>
          <a:p>
            <a:r>
              <a:rPr lang="en-US" altLang="zh-CN" dirty="0"/>
              <a:t>3</a:t>
            </a:r>
            <a:r>
              <a:rPr lang="zh-CN" altLang="zh-CN" dirty="0"/>
              <a:t>、多维高斯分布和高斯随机信号</a:t>
            </a:r>
            <a:r>
              <a:rPr lang="en-US" altLang="zh-CN" dirty="0"/>
              <a:t>*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 </a:t>
            </a:r>
            <a:r>
              <a:rPr lang="zh-CN" altLang="zh-CN" dirty="0"/>
              <a:t>多维概率密度函数、特征函数、性质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8604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F65E3A-4313-4549-98EE-0FC3BBD0C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第三</a:t>
            </a:r>
            <a:r>
              <a:rPr lang="zh-CN" altLang="en-US" dirty="0"/>
              <a:t>、四</a:t>
            </a:r>
            <a:r>
              <a:rPr lang="zh-CN" altLang="zh-CN" dirty="0"/>
              <a:t>章 平稳性</a:t>
            </a:r>
            <a:r>
              <a:rPr lang="zh-CN" altLang="en-US" dirty="0"/>
              <a:t>、</a:t>
            </a:r>
            <a:r>
              <a:rPr lang="zh-CN" altLang="zh-CN" dirty="0"/>
              <a:t>功率谱密度</a:t>
            </a:r>
            <a:r>
              <a:rPr lang="zh-CN" altLang="en-US" dirty="0"/>
              <a:t>和各态历经性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E0D070-7995-4610-BB60-0EA592F1C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zh-CN" dirty="0"/>
              <a:t>、严格平稳和宽平稳信号的定义和特点</a:t>
            </a:r>
            <a:r>
              <a:rPr lang="zh-CN" altLang="en-US" dirty="0"/>
              <a:t>*</a:t>
            </a:r>
            <a:endParaRPr lang="zh-CN" altLang="zh-CN" dirty="0"/>
          </a:p>
          <a:p>
            <a:r>
              <a:rPr lang="en-US" altLang="zh-CN" dirty="0"/>
              <a:t>2</a:t>
            </a:r>
            <a:r>
              <a:rPr lang="zh-CN" altLang="zh-CN" dirty="0"/>
              <a:t>、宽平稳信号的相关函数的特点</a:t>
            </a:r>
          </a:p>
          <a:p>
            <a:r>
              <a:rPr lang="en-US" altLang="zh-CN" dirty="0"/>
              <a:t>3</a:t>
            </a:r>
            <a:r>
              <a:rPr lang="zh-CN" altLang="zh-CN" dirty="0"/>
              <a:t>、信号的能量和功率的计算</a:t>
            </a:r>
            <a:r>
              <a:rPr lang="en-US" altLang="zh-CN" dirty="0"/>
              <a:t>*</a:t>
            </a:r>
            <a:endParaRPr lang="zh-CN" altLang="zh-CN" dirty="0"/>
          </a:p>
          <a:p>
            <a:r>
              <a:rPr lang="en-US" altLang="zh-CN" dirty="0"/>
              <a:t>4</a:t>
            </a:r>
            <a:r>
              <a:rPr lang="zh-CN" altLang="zh-CN" dirty="0"/>
              <a:t>、随机信号的功率谱密度的定义、特点</a:t>
            </a:r>
          </a:p>
          <a:p>
            <a:r>
              <a:rPr lang="en-US" altLang="zh-CN" dirty="0"/>
              <a:t>5</a:t>
            </a:r>
            <a:r>
              <a:rPr lang="zh-CN" altLang="zh-CN" dirty="0"/>
              <a:t>、宽平稳随机信号的功率谱密度和相关函数的关系</a:t>
            </a:r>
            <a:r>
              <a:rPr lang="en-US" altLang="zh-CN" dirty="0"/>
              <a:t>*</a:t>
            </a:r>
            <a:endParaRPr lang="zh-CN" altLang="zh-CN" dirty="0"/>
          </a:p>
          <a:p>
            <a:r>
              <a:rPr lang="en-US" altLang="zh-CN" dirty="0"/>
              <a:t>6</a:t>
            </a:r>
            <a:r>
              <a:rPr lang="zh-CN" altLang="zh-CN" dirty="0"/>
              <a:t>、白噪声信号的特点</a:t>
            </a:r>
            <a:r>
              <a:rPr lang="en-US" altLang="zh-CN" dirty="0"/>
              <a:t>*</a:t>
            </a:r>
            <a:endParaRPr lang="zh-CN" altLang="zh-CN" dirty="0"/>
          </a:p>
          <a:p>
            <a:r>
              <a:rPr lang="en-US" altLang="zh-CN" dirty="0"/>
              <a:t>7</a:t>
            </a:r>
            <a:r>
              <a:rPr lang="zh-CN" altLang="zh-CN" dirty="0"/>
              <a:t>、宽平稳随机信号的各态历经性的定义和意义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06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08B845-BD45-461C-B5F4-E07FD4D82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第五章 随机信号通过线性系统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873D78-3397-4883-B700-A02B5E13D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zh-CN" dirty="0"/>
              <a:t>、平稳随机信号通过线性系统的输出信号的特征</a:t>
            </a:r>
            <a:r>
              <a:rPr lang="zh-CN" altLang="en-US" dirty="0"/>
              <a:t>*</a:t>
            </a:r>
            <a:endParaRPr lang="zh-CN" altLang="zh-CN" dirty="0"/>
          </a:p>
          <a:p>
            <a:r>
              <a:rPr lang="en-US" altLang="zh-CN" dirty="0"/>
              <a:t>2</a:t>
            </a:r>
            <a:r>
              <a:rPr lang="zh-CN" altLang="zh-CN" dirty="0"/>
              <a:t>、白噪声通过线性系统</a:t>
            </a:r>
            <a:r>
              <a:rPr lang="zh-CN" altLang="en-US" dirty="0"/>
              <a:t>*</a:t>
            </a:r>
            <a:endParaRPr lang="zh-CN" altLang="zh-CN" dirty="0"/>
          </a:p>
          <a:p>
            <a:r>
              <a:rPr lang="en-US" altLang="zh-CN" dirty="0"/>
              <a:t>3</a:t>
            </a:r>
            <a:r>
              <a:rPr lang="zh-CN" altLang="zh-CN" dirty="0"/>
              <a:t>、低通白噪声、带通白噪声的基本特征</a:t>
            </a:r>
          </a:p>
          <a:p>
            <a:r>
              <a:rPr lang="en-US" altLang="zh-CN" dirty="0"/>
              <a:t>4</a:t>
            </a:r>
            <a:r>
              <a:rPr lang="zh-CN" altLang="zh-CN" dirty="0"/>
              <a:t>、随机信号的等效噪声带宽、第一零点带宽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5808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Compressive Sens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Pres_in_sample">
  <a:themeElements>
    <a:clrScheme name="1_Pres_in_sampl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_in_sample">
      <a:majorFont>
        <a:latin typeface="黑体"/>
        <a:ea typeface="黑体"/>
        <a:cs typeface=""/>
      </a:majorFont>
      <a:minorFont>
        <a:latin typeface="仿宋_GB2312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Pres_in_sampl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_in_sampl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Pres_in_sample">
  <a:themeElements>
    <a:clrScheme name="1_Pres_in_sampl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_in_sample">
      <a:majorFont>
        <a:latin typeface="黑体"/>
        <a:ea typeface="黑体"/>
        <a:cs typeface=""/>
      </a:majorFont>
      <a:minorFont>
        <a:latin typeface="仿宋_GB2312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Pres_in_sampl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_in_sampl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Compressive Sensing</Template>
  <TotalTime>9439</TotalTime>
  <Words>539</Words>
  <Application>Microsoft Office PowerPoint</Application>
  <PresentationFormat>全屏显示(4:3)</PresentationFormat>
  <Paragraphs>100</Paragraphs>
  <Slides>43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43</vt:i4>
      </vt:variant>
    </vt:vector>
  </HeadingPairs>
  <TitlesOfParts>
    <vt:vector size="58" baseType="lpstr">
      <vt:lpstr>Arial Unicode MS</vt:lpstr>
      <vt:lpstr>黑体</vt:lpstr>
      <vt:lpstr>楷体</vt:lpstr>
      <vt:lpstr>宋体</vt:lpstr>
      <vt:lpstr>Arial</vt:lpstr>
      <vt:lpstr>Arial Black</vt:lpstr>
      <vt:lpstr>Calibri</vt:lpstr>
      <vt:lpstr>Comic Sans MS</vt:lpstr>
      <vt:lpstr>Tahoma</vt:lpstr>
      <vt:lpstr>Times New Roman</vt:lpstr>
      <vt:lpstr>1_自定义设计方案</vt:lpstr>
      <vt:lpstr>自定义设计方案</vt:lpstr>
      <vt:lpstr>1_Compressive Sensing</vt:lpstr>
      <vt:lpstr>1_Pres_in_sample</vt:lpstr>
      <vt:lpstr>2_Pres_in_sample</vt:lpstr>
      <vt:lpstr>PowerPoint 演示文稿</vt:lpstr>
      <vt:lpstr>第一章作业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第二章作业</vt:lpstr>
      <vt:lpstr>第二章作业</vt:lpstr>
      <vt:lpstr>第二章作业</vt:lpstr>
      <vt:lpstr>第二章作业</vt:lpstr>
      <vt:lpstr>第三章作业</vt:lpstr>
      <vt:lpstr>第三章作业</vt:lpstr>
      <vt:lpstr>第三章作业</vt:lpstr>
      <vt:lpstr>第三章作业</vt:lpstr>
      <vt:lpstr>第三章作业</vt:lpstr>
      <vt:lpstr>第三章作业</vt:lpstr>
      <vt:lpstr>作业 1118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作业 1125</vt:lpstr>
      <vt:lpstr>PowerPoint 演示文稿</vt:lpstr>
      <vt:lpstr>PowerPoint 演示文稿</vt:lpstr>
      <vt:lpstr>PowerPoint 演示文稿</vt:lpstr>
      <vt:lpstr>第五章</vt:lpstr>
      <vt:lpstr>第五章</vt:lpstr>
      <vt:lpstr>5.4</vt:lpstr>
      <vt:lpstr>5.4</vt:lpstr>
      <vt:lpstr>5.5</vt:lpstr>
      <vt:lpstr>5.5</vt:lpstr>
      <vt:lpstr>第一章 概率论基础</vt:lpstr>
      <vt:lpstr>第二章 随机信号</vt:lpstr>
      <vt:lpstr>第三、四章 平稳性、功率谱密度和各态历经性</vt:lpstr>
      <vt:lpstr>第五章 随机信号通过线性系统</vt:lpstr>
    </vt:vector>
  </TitlesOfParts>
  <Company>Keio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Wensheng Zhang</dc:creator>
  <cp:lastModifiedBy>翔宇 吴</cp:lastModifiedBy>
  <cp:revision>947</cp:revision>
  <dcterms:created xsi:type="dcterms:W3CDTF">2012-07-10T00:46:24Z</dcterms:created>
  <dcterms:modified xsi:type="dcterms:W3CDTF">2024-12-30T15:56:07Z</dcterms:modified>
</cp:coreProperties>
</file>