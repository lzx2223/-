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79" r:id="rId24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100" y="2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77240"/>
            <a:ext cx="2377440" cy="10587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9659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7C1C23"/>
                </a:solidFill>
                <a:latin typeface="Microsoft YaHei"/>
              </a:defRPr>
            </a:pPr>
            <a:r>
              <a:t>学生信息管理系统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60807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  <a:latin typeface="Microsoft YaHei"/>
              </a:defRPr>
            </a:pPr>
            <a:r>
              <a:t>数据结构与算法导论课程大作业</a:t>
            </a:r>
          </a:p>
          <a:p>
            <a:pPr>
              <a:defRPr sz="1300">
                <a:solidFill>
                  <a:srgbClr val="646464"/>
                </a:solidFill>
                <a:latin typeface="Microsoft YaHei"/>
              </a:defRPr>
            </a:pPr>
            <a:r>
              <a:t>汇报人：刘哲旭    学号：202400120045    专业班级：通信二班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657600"/>
            <a:ext cx="9875520" cy="54864"/>
          </a:xfrm>
          <a:prstGeom prst="rect">
            <a:avLst/>
          </a:prstGeom>
          <a:solidFill>
            <a:srgbClr val="7C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7882127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Microsoft YaHei"/>
              </a:defRPr>
            </a:pPr>
            <a:r>
              <a:t>数据结构与算法导论 · 学生信息管理系统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7C1C23"/>
                </a:solidFill>
                <a:latin typeface="Microsoft YaHei"/>
              </a:defRPr>
            </a:pPr>
            <a:r>
              <a:t>项目文件结构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3441680" cy="32004"/>
          </a:xfrm>
          <a:prstGeom prst="rect">
            <a:avLst/>
          </a:prstGeom>
          <a:solidFill>
            <a:srgbClr val="7C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0" y="228600"/>
            <a:ext cx="2057400" cy="91623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417320"/>
            <a:ext cx="4023360" cy="1417320"/>
          </a:xfrm>
          <a:prstGeom prst="roundRect">
            <a:avLst/>
          </a:prstGeom>
          <a:solidFill>
            <a:srgbClr val="FFFAEE"/>
          </a:solidFill>
          <a:ln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tlCol="0" anchor="ctr"/>
          <a:lstStyle/>
          <a:p>
            <a:pPr algn="ctr">
              <a:defRPr sz="1700" b="1">
                <a:solidFill>
                  <a:srgbClr val="7C1C23"/>
                </a:solidFill>
                <a:latin typeface="Microsoft YaHei"/>
              </a:defRPr>
            </a:pPr>
            <a:r>
              <a:t>main.c</a:t>
            </a:r>
          </a:p>
          <a:p>
            <a:pPr>
              <a:defRPr sz="1200">
                <a:solidFill>
                  <a:srgbClr val="282828"/>
                </a:solidFill>
                <a:latin typeface="Microsoft YaHei"/>
              </a:defRPr>
            </a:pPr>
            <a:r>
              <a:t>菜单循环与功能调度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417320"/>
            <a:ext cx="4023360" cy="1417320"/>
          </a:xfrm>
          <a:prstGeom prst="roundRect">
            <a:avLst/>
          </a:prstGeom>
          <a:solidFill>
            <a:srgbClr val="FFFAEE"/>
          </a:solidFill>
          <a:ln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tlCol="0" anchor="ctr"/>
          <a:lstStyle/>
          <a:p>
            <a:pPr algn="ctr">
              <a:defRPr sz="1700" b="1">
                <a:solidFill>
                  <a:srgbClr val="7C1C23"/>
                </a:solidFill>
                <a:latin typeface="Microsoft YaHei"/>
              </a:defRPr>
            </a:pPr>
            <a:r>
              <a:t>common.h</a:t>
            </a:r>
          </a:p>
          <a:p>
            <a:pPr>
              <a:defRPr sz="1200">
                <a:solidFill>
                  <a:srgbClr val="282828"/>
                </a:solidFill>
                <a:latin typeface="Microsoft YaHei"/>
              </a:defRPr>
            </a:pPr>
            <a:r>
              <a:t>核心常量与结构体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1417320"/>
            <a:ext cx="4023360" cy="1417320"/>
          </a:xfrm>
          <a:prstGeom prst="roundRect">
            <a:avLst/>
          </a:prstGeom>
          <a:solidFill>
            <a:srgbClr val="FFFAEE"/>
          </a:solidFill>
          <a:ln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tlCol="0" anchor="ctr"/>
          <a:lstStyle/>
          <a:p>
            <a:pPr algn="ctr">
              <a:defRPr sz="1700" b="1">
                <a:solidFill>
                  <a:srgbClr val="7C1C23"/>
                </a:solidFill>
                <a:latin typeface="Microsoft YaHei"/>
              </a:defRPr>
            </a:pPr>
            <a:r>
              <a:t>input.c</a:t>
            </a:r>
          </a:p>
          <a:p>
            <a:pPr>
              <a:defRPr sz="1200">
                <a:solidFill>
                  <a:srgbClr val="282828"/>
                </a:solidFill>
                <a:latin typeface="Microsoft YaHei"/>
              </a:defRPr>
            </a:pPr>
            <a:r>
              <a:t>输入合法性校验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474720"/>
            <a:ext cx="4023360" cy="1417320"/>
          </a:xfrm>
          <a:prstGeom prst="roundRect">
            <a:avLst/>
          </a:prstGeom>
          <a:solidFill>
            <a:srgbClr val="FFFAEE"/>
          </a:solidFill>
          <a:ln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tlCol="0" anchor="ctr"/>
          <a:lstStyle/>
          <a:p>
            <a:pPr algn="ctr">
              <a:defRPr sz="1700" b="1">
                <a:solidFill>
                  <a:srgbClr val="7C1C23"/>
                </a:solidFill>
                <a:latin typeface="Microsoft YaHei"/>
              </a:defRPr>
            </a:pPr>
            <a:r>
              <a:t>academic.c</a:t>
            </a:r>
          </a:p>
          <a:p>
            <a:pPr>
              <a:defRPr sz="1200">
                <a:solidFill>
                  <a:srgbClr val="282828"/>
                </a:solidFill>
                <a:latin typeface="Microsoft YaHei"/>
              </a:defRPr>
            </a:pPr>
            <a:r>
              <a:t>年级、学院、专业、班级选择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3474720"/>
            <a:ext cx="4023360" cy="1417320"/>
          </a:xfrm>
          <a:prstGeom prst="roundRect">
            <a:avLst/>
          </a:prstGeom>
          <a:solidFill>
            <a:srgbClr val="FFFAEE"/>
          </a:solidFill>
          <a:ln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tlCol="0" anchor="ctr"/>
          <a:lstStyle/>
          <a:p>
            <a:pPr algn="ctr">
              <a:defRPr sz="1700" b="1">
                <a:solidFill>
                  <a:srgbClr val="7C1C23"/>
                </a:solidFill>
                <a:latin typeface="Microsoft YaHei"/>
              </a:defRPr>
            </a:pPr>
            <a:r>
              <a:t>student.c</a:t>
            </a:r>
          </a:p>
          <a:p>
            <a:pPr>
              <a:defRPr sz="1200">
                <a:solidFill>
                  <a:srgbClr val="282828"/>
                </a:solidFill>
                <a:latin typeface="Microsoft YaHei"/>
              </a:defRPr>
            </a:pPr>
            <a:r>
              <a:t>增删改查、成绩、排序、统计、撤销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66960" y="3474720"/>
            <a:ext cx="4023360" cy="1417320"/>
          </a:xfrm>
          <a:prstGeom prst="roundRect">
            <a:avLst/>
          </a:prstGeom>
          <a:solidFill>
            <a:srgbClr val="FFFAEE"/>
          </a:solidFill>
          <a:ln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tlCol="0" anchor="ctr"/>
          <a:lstStyle/>
          <a:p>
            <a:pPr algn="ctr">
              <a:defRPr sz="1700" b="1">
                <a:solidFill>
                  <a:srgbClr val="7C1C23"/>
                </a:solidFill>
                <a:latin typeface="Microsoft YaHei"/>
              </a:defRPr>
            </a:pPr>
            <a:r>
              <a:t>*.h</a:t>
            </a:r>
          </a:p>
          <a:p>
            <a:pPr>
              <a:defRPr sz="1200">
                <a:solidFill>
                  <a:srgbClr val="282828"/>
                </a:solidFill>
                <a:latin typeface="Microsoft YaHei"/>
              </a:defRPr>
            </a:pPr>
            <a:r>
              <a:t>函数声明与模块接口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7882127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Microsoft YaHei"/>
              </a:defRPr>
            </a:pPr>
            <a:r>
              <a:t>数据结构与算法导论 · 学生信息管理系统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7C1C23"/>
                </a:solidFill>
                <a:latin typeface="Microsoft YaHei"/>
              </a:defRPr>
            </a:pPr>
            <a:r>
              <a:t>核心数据结构：common.h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464"/>
                </a:solidFill>
                <a:latin typeface="Microsoft YaHei"/>
              </a:defRPr>
            </a:pPr>
            <a:r>
              <a:t>学生链表、成绩链表、哈希表和撤销栈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3441680" cy="32004"/>
          </a:xfrm>
          <a:prstGeom prst="rect">
            <a:avLst/>
          </a:prstGeom>
          <a:solidFill>
            <a:srgbClr val="7C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0" y="228600"/>
            <a:ext cx="2057400" cy="91623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1444752"/>
            <a:ext cx="6574536" cy="57424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5004" y="2164805"/>
            <a:ext cx="6428232" cy="415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struct GradeNode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    char subject[SUBJECT_LEN];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    float score;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    GradeNode *next;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};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struct Student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    char id[ID_LEN];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    char name[NAME_LEN];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    int age;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    char gender[GENDER_LEN];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    char gradeYear[GRADE_LEN];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    char college[COLLEGE_LEN];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    char major[MAJOR_LEN];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    char className[CLASS_LEN];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    char dorm[DORM_LEN];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    char phone[PHONE_LEN];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    GradeNode *grades;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};</a:t>
            </a:r>
          </a:p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endParaRPr sz="830">
              <a:solidFill>
                <a:srgbClr val="262626"/>
              </a:solidFill>
              <a:latin typeface="Consola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70064" y="1444752"/>
            <a:ext cx="6574536" cy="57424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46136" y="2090827"/>
            <a:ext cx="3545842" cy="34737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struct StudentNode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    Student data;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    StudentNode *next;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};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struct HashNode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    char id[ID_LEN];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    StudentNode *studentPtr;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    HashNode *next;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};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struct UndoNode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    Student data;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    UndoNode *next;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262626"/>
                </a:solidFill>
                <a:latin typeface="Consolas"/>
              </a:rPr>
              <a:t>};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7269480"/>
            <a:ext cx="13258800" cy="411480"/>
          </a:xfrm>
          <a:prstGeom prst="roundRect">
            <a:avLst/>
          </a:prstGeom>
          <a:solidFill>
            <a:srgbClr val="FFF8EB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rIns="109728" rtlCol="0" anchor="ctr"/>
          <a:lstStyle/>
          <a:p>
            <a:pPr algn="ctr">
              <a:defRPr sz="950">
                <a:solidFill>
                  <a:srgbClr val="282828"/>
                </a:solidFill>
                <a:latin typeface="Microsoft YaHei"/>
              </a:defRPr>
            </a:pPr>
            <a:r>
              <a:rPr sz="1600"/>
              <a:t>展示 StudentNode、GradeNode、HashNode、UndoNode，体现链表、哈希表与栈的综合使用。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7882127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Microsoft YaHei"/>
              </a:defRPr>
            </a:pPr>
            <a:r>
              <a:t>数据结构与算法导论 · 学生信息管理系统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7C1C23"/>
                </a:solidFill>
                <a:latin typeface="Microsoft YaHei"/>
              </a:defRPr>
            </a:pPr>
            <a:r>
              <a:t>主菜单与功能调度：main.c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464"/>
                </a:solidFill>
                <a:latin typeface="Microsoft YaHei"/>
              </a:defRPr>
            </a:pPr>
            <a:r>
              <a:t>menu() + main() switch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3441680" cy="32004"/>
          </a:xfrm>
          <a:prstGeom prst="rect">
            <a:avLst/>
          </a:prstGeom>
          <a:solidFill>
            <a:srgbClr val="7C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0" y="228600"/>
            <a:ext cx="2057400" cy="91623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4360" y="1444752"/>
            <a:ext cx="3762756" cy="52852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2859" y="1803931"/>
            <a:ext cx="3694922" cy="4347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void menu()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printf("1. 添加学生信息\n");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printf("2. 显示所有学生信息\n");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printf("3. 按学号查找学生\n");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printf("4. 修改学生基本信息\n");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printf("5. 删除学生信息\n");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printf("6. 为已有学生添加课程成绩\n");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printf("7. 按平均成绩排序显示\n");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printf("8. 成绩统计\n");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printf("9. 撤销上一次删除\n");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printf("0. 退出系统\n");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2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int main()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int choice;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2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while (1)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    menu();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    choice = readInt("请输入你的选择：");</a:t>
            </a:r>
          </a:p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endParaRPr sz="830">
              <a:solidFill>
                <a:srgbClr val="262626"/>
              </a:solidFill>
              <a:latin typeface="Consola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466844" y="1444752"/>
            <a:ext cx="3762756" cy="52852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83964" y="1924812"/>
            <a:ext cx="3816750" cy="3962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500"/>
              </a:lnSpc>
            </a:pPr>
            <a:r>
              <a:rPr sz="1200">
                <a:solidFill>
                  <a:srgbClr val="262626"/>
                </a:solidFill>
                <a:latin typeface="Consolas"/>
              </a:rPr>
              <a:t>        switch (choice)</a:t>
            </a:r>
          </a:p>
          <a:p>
            <a:pPr>
              <a:lnSpc>
                <a:spcPts val="1500"/>
              </a:lnSpc>
            </a:pPr>
            <a:r>
              <a:rPr sz="1200">
                <a:solidFill>
                  <a:srgbClr val="262626"/>
                </a:solidFill>
                <a:latin typeface="Consolas"/>
              </a:rPr>
              <a:t>        {</a:t>
            </a:r>
          </a:p>
          <a:p>
            <a:pPr>
              <a:lnSpc>
                <a:spcPts val="1500"/>
              </a:lnSpc>
            </a:pPr>
            <a:r>
              <a:rPr sz="1200">
                <a:solidFill>
                  <a:srgbClr val="262626"/>
                </a:solidFill>
                <a:latin typeface="Consolas"/>
              </a:rPr>
              <a:t>        case 1: addStudent(); break;</a:t>
            </a:r>
          </a:p>
          <a:p>
            <a:pPr>
              <a:lnSpc>
                <a:spcPts val="1500"/>
              </a:lnSpc>
            </a:pPr>
            <a:r>
              <a:rPr sz="1200">
                <a:solidFill>
                  <a:srgbClr val="262626"/>
                </a:solidFill>
                <a:latin typeface="Consolas"/>
              </a:rPr>
              <a:t>        case 2: showStudents(); break;</a:t>
            </a:r>
          </a:p>
          <a:p>
            <a:pPr>
              <a:lnSpc>
                <a:spcPts val="1500"/>
              </a:lnSpc>
            </a:pPr>
            <a:r>
              <a:rPr sz="1200">
                <a:solidFill>
                  <a:srgbClr val="262626"/>
                </a:solidFill>
                <a:latin typeface="Consolas"/>
              </a:rPr>
              <a:t>        case 3: searchStudent(); break;</a:t>
            </a:r>
          </a:p>
          <a:p>
            <a:pPr>
              <a:lnSpc>
                <a:spcPts val="1500"/>
              </a:lnSpc>
            </a:pPr>
            <a:r>
              <a:rPr sz="1200">
                <a:solidFill>
                  <a:srgbClr val="262626"/>
                </a:solidFill>
                <a:latin typeface="Consolas"/>
              </a:rPr>
              <a:t>        case 4: modifyStudent(); break;</a:t>
            </a:r>
          </a:p>
          <a:p>
            <a:pPr>
              <a:lnSpc>
                <a:spcPts val="1500"/>
              </a:lnSpc>
            </a:pPr>
            <a:r>
              <a:rPr sz="1200">
                <a:solidFill>
                  <a:srgbClr val="262626"/>
                </a:solidFill>
                <a:latin typeface="Consolas"/>
              </a:rPr>
              <a:t>        case 5: deleteStudent(); break;</a:t>
            </a:r>
          </a:p>
          <a:p>
            <a:pPr>
              <a:lnSpc>
                <a:spcPts val="1500"/>
              </a:lnSpc>
            </a:pPr>
            <a:r>
              <a:rPr sz="1200">
                <a:solidFill>
                  <a:srgbClr val="262626"/>
                </a:solidFill>
                <a:latin typeface="Consolas"/>
              </a:rPr>
              <a:t>        case 6: addGradeForStudent(); break;</a:t>
            </a:r>
          </a:p>
          <a:p>
            <a:pPr>
              <a:lnSpc>
                <a:spcPts val="1500"/>
              </a:lnSpc>
            </a:pPr>
            <a:r>
              <a:rPr sz="1200">
                <a:solidFill>
                  <a:srgbClr val="262626"/>
                </a:solidFill>
                <a:latin typeface="Consolas"/>
              </a:rPr>
              <a:t>        case 7: sortByAverageScore(); break;</a:t>
            </a:r>
          </a:p>
          <a:p>
            <a:pPr>
              <a:lnSpc>
                <a:spcPts val="1500"/>
              </a:lnSpc>
            </a:pPr>
            <a:r>
              <a:rPr sz="1200">
                <a:solidFill>
                  <a:srgbClr val="262626"/>
                </a:solidFill>
                <a:latin typeface="Consolas"/>
              </a:rPr>
              <a:t>        case 8: statistics(); break;</a:t>
            </a:r>
          </a:p>
          <a:p>
            <a:pPr>
              <a:lnSpc>
                <a:spcPts val="1500"/>
              </a:lnSpc>
            </a:pPr>
            <a:r>
              <a:rPr sz="1200">
                <a:solidFill>
                  <a:srgbClr val="262626"/>
                </a:solidFill>
                <a:latin typeface="Consolas"/>
              </a:rPr>
              <a:t>        case 9: undoDelete(); break;</a:t>
            </a:r>
          </a:p>
          <a:p>
            <a:pPr>
              <a:lnSpc>
                <a:spcPts val="1500"/>
              </a:lnSpc>
            </a:pPr>
            <a:r>
              <a:rPr sz="1200">
                <a:solidFill>
                  <a:srgbClr val="262626"/>
                </a:solidFill>
                <a:latin typeface="Consolas"/>
              </a:rPr>
              <a:t>        case 0:</a:t>
            </a:r>
          </a:p>
          <a:p>
            <a:pPr>
              <a:lnSpc>
                <a:spcPts val="1500"/>
              </a:lnSpc>
            </a:pPr>
            <a:r>
              <a:rPr sz="1200">
                <a:solidFill>
                  <a:srgbClr val="262626"/>
                </a:solidFill>
                <a:latin typeface="Consolas"/>
              </a:rPr>
              <a:t>            freeAllStudents();</a:t>
            </a:r>
          </a:p>
          <a:p>
            <a:pPr>
              <a:lnSpc>
                <a:spcPts val="1500"/>
              </a:lnSpc>
            </a:pPr>
            <a:r>
              <a:rPr sz="1200">
                <a:solidFill>
                  <a:srgbClr val="262626"/>
                </a:solidFill>
                <a:latin typeface="Consolas"/>
              </a:rPr>
              <a:t>            freeHashTable();</a:t>
            </a:r>
          </a:p>
          <a:p>
            <a:pPr>
              <a:lnSpc>
                <a:spcPts val="1500"/>
              </a:lnSpc>
            </a:pPr>
            <a:r>
              <a:rPr sz="1200">
                <a:solidFill>
                  <a:srgbClr val="262626"/>
                </a:solidFill>
                <a:latin typeface="Consolas"/>
              </a:rPr>
              <a:t>            freeUndoStack();</a:t>
            </a:r>
          </a:p>
          <a:p>
            <a:pPr>
              <a:lnSpc>
                <a:spcPts val="1500"/>
              </a:lnSpc>
            </a:pPr>
            <a:r>
              <a:rPr sz="1200">
                <a:solidFill>
                  <a:srgbClr val="262626"/>
                </a:solidFill>
                <a:latin typeface="Consolas"/>
              </a:rPr>
              <a:t>            return 0;</a:t>
            </a:r>
          </a:p>
          <a:p>
            <a:pPr>
              <a:lnSpc>
                <a:spcPts val="1500"/>
              </a:lnSpc>
            </a:pPr>
            <a:r>
              <a:rPr sz="1200">
                <a:solidFill>
                  <a:srgbClr val="262626"/>
                </a:solidFill>
                <a:latin typeface="Consolas"/>
              </a:rPr>
              <a:t>        default:</a:t>
            </a:r>
          </a:p>
          <a:p>
            <a:pPr>
              <a:lnSpc>
                <a:spcPts val="1500"/>
              </a:lnSpc>
            </a:pPr>
            <a:r>
              <a:rPr sz="1200">
                <a:solidFill>
                  <a:srgbClr val="262626"/>
                </a:solidFill>
                <a:latin typeface="Consolas"/>
              </a:rPr>
              <a:t>            printf("输入有误，请重新选择！\n");</a:t>
            </a:r>
          </a:p>
          <a:p>
            <a:pPr>
              <a:lnSpc>
                <a:spcPts val="1500"/>
              </a:lnSpc>
            </a:pPr>
            <a:r>
              <a:rPr sz="1200">
                <a:solidFill>
                  <a:srgbClr val="262626"/>
                </a:solidFill>
                <a:latin typeface="Consolas"/>
              </a:rPr>
              <a:t>        }</a:t>
            </a:r>
          </a:p>
          <a:p>
            <a:pPr>
              <a:lnSpc>
                <a:spcPts val="1500"/>
              </a:lnSpc>
            </a:pPr>
            <a:r>
              <a:rPr sz="12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r>
              <a:rPr sz="830">
                <a:solidFill>
                  <a:srgbClr val="262626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1197864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7C1C23"/>
                </a:solidFill>
                <a:latin typeface="Microsoft YaHei"/>
              </a:defRPr>
            </a:pPr>
            <a:r>
              <a:t>运行结果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6903720"/>
            <a:ext cx="13258800" cy="694944"/>
          </a:xfrm>
          <a:prstGeom prst="roundRect">
            <a:avLst/>
          </a:prstGeom>
          <a:solidFill>
            <a:srgbClr val="FFF8EB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rIns="109728" rtlCol="0" anchor="ctr"/>
          <a:lstStyle/>
          <a:p>
            <a:pPr algn="ctr">
              <a:defRPr sz="950">
                <a:solidFill>
                  <a:srgbClr val="282828"/>
                </a:solidFill>
                <a:latin typeface="Microsoft YaHei"/>
              </a:defRPr>
            </a:pPr>
            <a:r>
              <a:rPr sz="1600"/>
              <a:t>主函数负责菜单循环和功能分发；退出时释放学生链表、哈希表和撤销栈。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7882127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Microsoft YaHei"/>
              </a:defRPr>
            </a:pPr>
            <a:r>
              <a:t>数据结构与算法导论 · 学生信息管理系统    04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9356BDAA-7105-F741-CB31-0B6DE0BDE1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877"/>
          <a:stretch>
            <a:fillRect/>
          </a:stretch>
        </p:blipFill>
        <p:spPr>
          <a:xfrm>
            <a:off x="8823960" y="1909954"/>
            <a:ext cx="4590472" cy="35614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391164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7C1C23"/>
                </a:solidFill>
                <a:latin typeface="Microsoft YaHei"/>
              </a:defRPr>
            </a:pPr>
            <a:r>
              <a:t>输入校验模块：input.c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464"/>
                </a:solidFill>
                <a:latin typeface="Microsoft YaHei"/>
              </a:defRPr>
            </a:pPr>
            <a:r>
              <a:t>readIntRange()、readFloatRange()、readStudentId()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3441680" cy="32004"/>
          </a:xfrm>
          <a:prstGeom prst="rect">
            <a:avLst/>
          </a:prstGeom>
          <a:solidFill>
            <a:srgbClr val="7C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0" y="228600"/>
            <a:ext cx="2057400" cy="91623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1444752"/>
            <a:ext cx="6574536" cy="57424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3134" y="1690196"/>
            <a:ext cx="6064161" cy="55915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int readIntRange(const char *prompt, int min, int max)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{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int value;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while (1)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value = readInt(prompt);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if (value &gt;= min &amp;&amp; value &lt;= max)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{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    return value;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}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printf("输入错误，请输入 %d 到 %d 之间的整数。\n", min, max);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}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float readFloatRange(const char *prompt, float min, float max)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{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char line[100];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float value;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char extra;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while (1)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printf("%s", prompt);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readLine(line, sizeof(line));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if (sscanf(line, "%f %c", &amp;value, &amp;extra) == 1)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{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    if (value &gt;= min &amp;&amp; value &lt;= max)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    {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        return value;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    }</a:t>
            </a:r>
          </a:p>
          <a:p>
            <a:pPr>
              <a:lnSpc>
                <a:spcPts val="724"/>
              </a:lnSpc>
              <a:spcBef>
                <a:spcPts val="0"/>
              </a:spcBef>
              <a:spcAft>
                <a:spcPts val="0"/>
              </a:spcAft>
            </a:pPr>
            <a:endParaRPr sz="690">
              <a:solidFill>
                <a:srgbClr val="262626"/>
              </a:solidFill>
              <a:latin typeface="Consola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70064" y="1444752"/>
            <a:ext cx="6574536" cy="57424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42977" y="2195344"/>
            <a:ext cx="5908669" cy="43390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        printf("输入错误，数值范围应为 %.1f 到 %.1f。\n", min, max);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    }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    else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    {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        printf("输入错误，请输入合法数字。\n");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    }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}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void readStudentId(char *id)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{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char temp[100];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endParaRPr sz="12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while (1)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    printf("请输入学号（12位数字）：");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    readLine(temp, sizeof(temp));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endParaRPr sz="12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    if (strlen(temp) == 12 &amp;&amp; isAllDigits(temp))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    {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        strcpy(id, temp);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        return;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    }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endParaRPr sz="12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    printf("输入错误，学号必须是 12 位数字。\n");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7269480"/>
            <a:ext cx="13258800" cy="411480"/>
          </a:xfrm>
          <a:prstGeom prst="roundRect">
            <a:avLst/>
          </a:prstGeom>
          <a:solidFill>
            <a:srgbClr val="FFF8EB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rIns="109728" rtlCol="0" anchor="ctr"/>
          <a:lstStyle/>
          <a:p>
            <a:pPr algn="ctr">
              <a:defRPr sz="1100" b="1">
                <a:solidFill>
                  <a:srgbClr val="7C1C23"/>
                </a:solidFill>
                <a:latin typeface="Microsoft YaHei"/>
              </a:defRPr>
            </a:pPr>
            <a:endParaRPr/>
          </a:p>
          <a:p>
            <a:pPr algn="ctr">
              <a:defRPr sz="950">
                <a:solidFill>
                  <a:srgbClr val="282828"/>
                </a:solidFill>
                <a:latin typeface="Microsoft YaHei"/>
              </a:defRPr>
            </a:pPr>
            <a:r>
              <a:rPr sz="1600"/>
              <a:t>统一处理整数范围、成绩范围和 12 位学号校验，避免业务代码中重复编写输入判断。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7882127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Microsoft YaHei"/>
              </a:defRPr>
            </a:pPr>
            <a:r>
              <a:t>数据结构与算法导论 · 学生信息管理系统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7C1C23"/>
                </a:solidFill>
                <a:latin typeface="Microsoft YaHei"/>
              </a:defRPr>
            </a:pPr>
            <a:r>
              <a:t>学籍信息选择模块：academic.c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464"/>
                </a:solidFill>
                <a:latin typeface="Microsoft YaHei"/>
              </a:defRPr>
            </a:pPr>
            <a:r>
              <a:t>chooseAcademicInfo() + chooseCollege() + chooseMajorByCollege()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3441680" cy="32004"/>
          </a:xfrm>
          <a:prstGeom prst="rect">
            <a:avLst/>
          </a:prstGeom>
          <a:solidFill>
            <a:srgbClr val="7C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0" y="228600"/>
            <a:ext cx="2057400" cy="91623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1444752"/>
            <a:ext cx="6574536" cy="57424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1220" y="2121407"/>
            <a:ext cx="5052665" cy="45397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void chooseAcademicInfo(Student *s)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chooseGrade(s-&gt;gradeYear);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int collegeChoice = chooseCollege(s-&gt;college);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chooseMajorByCollege(collegeChoice, s-&gt;major);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inputClassName(s-&gt;className, s-&gt;major);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static int chooseCollege(char *college)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printf("请选择学院：\n");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for (int i = 0; i &lt; 7; i++)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printf("%d. %s\n", i + 1, colleges[i]);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int choice = readIntRange("请输入选项：", 1, 7);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strcpy(college, colleges[choice - 1]);</a:t>
            </a:r>
          </a:p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endParaRPr sz="830">
              <a:solidFill>
                <a:srgbClr val="262626"/>
              </a:solidFill>
              <a:latin typeface="Consola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70064" y="1444752"/>
            <a:ext cx="6574536" cy="57424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27895" y="2098493"/>
            <a:ext cx="6658874" cy="403956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return choice;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static void chooseMajorByCollege(int collegeChoice, char *major)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switch (collegeChoice)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case 1: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chooseMajorFromList(major, infoMajors, INFO_MAJOR_COUNT);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break;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case 2: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chooseMajorFromList(major, csMajors, CS_MAJOR_COUNT);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break;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case 3: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chooseMajorFromList(major, cyberMajors, CYBER_MAJOR_COUNT);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break;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default: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chooseMajorFromList(major, otherMajors, OTHER_MAJOR_COUNT);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break;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8495" y="7429445"/>
            <a:ext cx="13258800" cy="411480"/>
          </a:xfrm>
          <a:prstGeom prst="roundRect">
            <a:avLst/>
          </a:prstGeom>
          <a:solidFill>
            <a:srgbClr val="FFF8EB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rIns="109728" rtlCol="0" anchor="ctr"/>
          <a:lstStyle/>
          <a:p>
            <a:pPr algn="ctr">
              <a:defRPr sz="950">
                <a:solidFill>
                  <a:srgbClr val="282828"/>
                </a:solidFill>
                <a:latin typeface="Microsoft YaHei"/>
              </a:defRPr>
            </a:pPr>
            <a:r>
              <a:rPr sz="1600"/>
              <a:t>将学院、专业、班级选择从学生管理逻辑中分离，使用学院选择联动专业列表。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7882127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Microsoft YaHei"/>
              </a:defRPr>
            </a:pPr>
            <a:r>
              <a:t>数据结构与算法导论 · 学生信息管理系统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7C1C23"/>
                </a:solidFill>
                <a:latin typeface="Microsoft YaHei"/>
              </a:defRPr>
            </a:pPr>
            <a:r>
              <a:t>添加学生信息：student.c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464"/>
                </a:solidFill>
                <a:latin typeface="Microsoft YaHei"/>
              </a:defRPr>
            </a:pPr>
            <a:r>
              <a:t>addStudent() 主流程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3441680" cy="32004"/>
          </a:xfrm>
          <a:prstGeom prst="rect">
            <a:avLst/>
          </a:prstGeom>
          <a:solidFill>
            <a:srgbClr val="7C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0" y="228600"/>
            <a:ext cx="2057400" cy="91623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1444752"/>
            <a:ext cx="6574536" cy="57424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5077" y="2019684"/>
            <a:ext cx="6395982" cy="41549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void addStudent()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StudentNode *newNode = (StudentNode *)malloc(sizeof(StudentNode));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if (newNode == NULL)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printf("内存申请失败！\n");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return;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newNode-&gt;data.grades = NULL;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newNode-&gt;next = NULL;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readStudentId(newNode-&gt;data.id);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if (searchHash(newNode-&gt;data.id) != NULL)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printf("该学号已存在，添加失败！\n");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free(newNode);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return;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endParaRPr sz="830">
              <a:solidFill>
                <a:srgbClr val="262626"/>
              </a:solidFill>
              <a:latin typeface="Consola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70064" y="1444752"/>
            <a:ext cx="6574536" cy="57424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43216" y="1881715"/>
            <a:ext cx="5477462" cy="32072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readName(newNode-&gt;data.name);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newNode-&gt;data.age = readIntRange("请输入年龄：", 1, 100);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chooseGender(newNode-&gt;data.gender);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chooseAcademicInfo(&amp;newNode-&gt;data);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readDorm(newNode-&gt;data.dorm);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readPhone(newNode-&gt;data.phone);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inputGrades(&amp;newNode-&gt;data);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newNode-&gt;next = studentHead;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studentHead = newNode;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studentCount++;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insertHash(newNode-&gt;data.id, newNode);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printf("学生信息添加成功！\n");</a:t>
            </a:r>
          </a:p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" y="7269480"/>
            <a:ext cx="13258800" cy="411480"/>
          </a:xfrm>
          <a:prstGeom prst="roundRect">
            <a:avLst/>
          </a:prstGeom>
          <a:solidFill>
            <a:srgbClr val="FFF8EB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rIns="109728" rtlCol="0" anchor="ctr"/>
          <a:lstStyle/>
          <a:p>
            <a:pPr algn="ctr">
              <a:defRPr sz="950">
                <a:solidFill>
                  <a:srgbClr val="282828"/>
                </a:solidFill>
                <a:latin typeface="Microsoft YaHei"/>
              </a:defRPr>
            </a:pPr>
            <a:r>
              <a:rPr sz="1600"/>
              <a:t>添加学生时依次录入基本信息、学籍信息和成绩，并同步插入学生链表与哈希表。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7882127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Microsoft YaHei"/>
              </a:defRPr>
            </a:pPr>
            <a:r>
              <a:t>数据结构与算法导论 · 学生信息管理系统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7C1C23"/>
                </a:solidFill>
                <a:latin typeface="Microsoft YaHei"/>
              </a:defRPr>
            </a:pPr>
            <a:r>
              <a:t>课程成绩录入：student.c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464"/>
                </a:solidFill>
                <a:latin typeface="Microsoft YaHei"/>
              </a:defRPr>
            </a:pPr>
            <a:r>
              <a:t>inputGrades()：多门课程成绩链表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3441680" cy="32004"/>
          </a:xfrm>
          <a:prstGeom prst="rect">
            <a:avLst/>
          </a:prstGeom>
          <a:solidFill>
            <a:srgbClr val="7C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0" y="228600"/>
            <a:ext cx="2057400" cy="91623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1444752"/>
            <a:ext cx="6574536" cy="57424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10455" y="1892808"/>
            <a:ext cx="5536772" cy="357790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static void inputGrades(Student *s)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char subject[SUBJECT_LEN];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float score;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while (1)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readString("请输入科目名称，输入 0 结束成绩录入：", </a:t>
            </a:r>
            <a:endParaRPr lang="en-US"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solidFill>
                  <a:srgbClr val="262626"/>
                </a:solidFill>
                <a:latin typeface="Consolas"/>
              </a:rPr>
              <a:t>       </a:t>
            </a:r>
            <a:r>
              <a:rPr sz="1400">
                <a:solidFill>
                  <a:srgbClr val="262626"/>
                </a:solidFill>
                <a:latin typeface="Consolas"/>
              </a:rPr>
              <a:t>subject,SUBJECT_LEN);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if (strcmp(subject, "0") == 0)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    printf("成绩录入结束。\n");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    break;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char prompt[100];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sprintf(prompt, "请输入 %s 的成绩：", subject);</a:t>
            </a:r>
          </a:p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endParaRPr sz="830">
              <a:solidFill>
                <a:srgbClr val="262626"/>
              </a:solidFill>
              <a:latin typeface="Consola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70064" y="1444752"/>
            <a:ext cx="6574536" cy="57424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43216" y="1517904"/>
            <a:ext cx="6161943" cy="30777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score = readFloatRange(prompt, 0, 100);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GradeNode *newGrade = createGradeNode(subject, score);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if (newGrade == NULL)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    printf("成绩结点创建失败！\n");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    return;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newGrade-&gt;next = s-&gt;grades;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s-&gt;grades = newGrade;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printf("成绩录入成功！\n");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7269480"/>
            <a:ext cx="13258800" cy="411480"/>
          </a:xfrm>
          <a:prstGeom prst="roundRect">
            <a:avLst/>
          </a:prstGeom>
          <a:solidFill>
            <a:srgbClr val="FFF8EB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rIns="109728" rtlCol="0" anchor="ctr"/>
          <a:lstStyle/>
          <a:p>
            <a:pPr algn="ctr">
              <a:defRPr sz="950">
                <a:solidFill>
                  <a:srgbClr val="282828"/>
                </a:solidFill>
                <a:latin typeface="Microsoft YaHei"/>
              </a:defRPr>
            </a:pPr>
            <a:r>
              <a:rPr sz="1600"/>
              <a:t>每输入一门课程就创建一个 GradeNode，并用头插法加入当前学生的成绩链表。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7882127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Microsoft YaHei"/>
              </a:defRPr>
            </a:pPr>
            <a:r>
              <a:t>数据结构与算法导论 · 学生信息管理系统   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7C1C23"/>
                </a:solidFill>
                <a:latin typeface="Microsoft YaHei"/>
              </a:defRPr>
            </a:pPr>
            <a:r>
              <a:t>添加学生信息：运行结果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3441680" cy="32004"/>
          </a:xfrm>
          <a:prstGeom prst="rect">
            <a:avLst/>
          </a:prstGeom>
          <a:solidFill>
            <a:srgbClr val="7C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0" y="228600"/>
            <a:ext cx="2057400" cy="91623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7461504"/>
            <a:ext cx="13258800" cy="338328"/>
          </a:xfrm>
          <a:prstGeom prst="roundRect">
            <a:avLst/>
          </a:prstGeom>
          <a:solidFill>
            <a:srgbClr val="FFF8EB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rIns="109728" rtlCol="0" anchor="ctr"/>
          <a:lstStyle/>
          <a:p>
            <a:pPr algn="ctr">
              <a:defRPr sz="950">
                <a:solidFill>
                  <a:srgbClr val="282828"/>
                </a:solidFill>
                <a:latin typeface="Microsoft YaHei"/>
              </a:defRPr>
            </a:pPr>
            <a:r>
              <a:rPr sz="1600"/>
              <a:t>该页竖向展示完整添加流程：学号、姓名、性别、学院、专业、手机号和多门课程成绩。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882127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Microsoft YaHei"/>
              </a:defRPr>
            </a:pPr>
            <a:r>
              <a:t>数据结构与算法导论 · 学生信息管理系统    08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6DA44A7-BD52-EC05-64AD-96181C13C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941"/>
            <a:ext cx="3140455" cy="629927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9D831F9-47EF-8C1E-4D5B-1224C5BE8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6448" y="1035841"/>
            <a:ext cx="3745312" cy="641651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02CD936-37CE-5D05-01D5-41D4B3D994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301" y="1026697"/>
            <a:ext cx="3203255" cy="64165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7C1C23"/>
                </a:solidFill>
                <a:latin typeface="Microsoft YaHei"/>
              </a:defRPr>
            </a:pPr>
            <a:r>
              <a:t>显示所有学生信息：student.c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464"/>
                </a:solidFill>
                <a:latin typeface="Microsoft YaHei"/>
              </a:defRPr>
            </a:pPr>
            <a:r>
              <a:t>showStudents() + showOneStudent()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3441680" cy="32004"/>
          </a:xfrm>
          <a:prstGeom prst="rect">
            <a:avLst/>
          </a:prstGeom>
          <a:solidFill>
            <a:srgbClr val="7C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0" y="228600"/>
            <a:ext cx="2057400" cy="91623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1444752"/>
            <a:ext cx="6574536" cy="57424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9717" y="1625350"/>
            <a:ext cx="6283771" cy="548868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void showStudents()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if (studentHead == NULL)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printf("当前没有学生信息。\n");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return;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StudentNode *p = studentHead;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int index = 1;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while (p != NULL)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printf("\n---------- 第 %d 个学生 ----------\n", index);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showOneStudent(p-&gt;data);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p = p-&gt;next;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index++;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static void showOneStudent(Student s)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printf("学号：%s\n", s.id);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printf("姓名：%s\n", s.name);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printf("年龄：%d\n", s.age);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printf("性别：%s\n", s.gender);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printf("学院：%s\n", s.college);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printf("专业：%s\n", s.major);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printf("班级：%s\n", s.className);</a:t>
            </a:r>
          </a:p>
          <a:p>
            <a:pPr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endParaRPr sz="740">
              <a:solidFill>
                <a:srgbClr val="262626"/>
              </a:solidFill>
              <a:latin typeface="Consola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70064" y="1444752"/>
            <a:ext cx="6574536" cy="57424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53004" y="1759544"/>
            <a:ext cx="5645776" cy="3270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if (s.grades == NULL)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printf("课程成绩：暂无\n");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else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GradeNode *g = s.grades;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while (g != NULL)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    printf("  %s：%.2f\n", g-&gt;subject, g-&gt;score);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    g = g-&gt;next;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printf("平均成绩：%.2f\n", getAverageScore(s));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7269480"/>
            <a:ext cx="13258800" cy="411480"/>
          </a:xfrm>
          <a:prstGeom prst="roundRect">
            <a:avLst/>
          </a:prstGeom>
          <a:solidFill>
            <a:srgbClr val="FFF8EB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rIns="109728" rtlCol="0" anchor="ctr"/>
          <a:lstStyle/>
          <a:p>
            <a:pPr algn="ctr">
              <a:defRPr sz="950">
                <a:solidFill>
                  <a:srgbClr val="282828"/>
                </a:solidFill>
                <a:latin typeface="Microsoft YaHei"/>
              </a:defRPr>
            </a:pPr>
            <a:r>
              <a:rPr sz="1600"/>
              <a:t>外层遍历学生链表，内层遍历该学生的成绩链表，并调用 getAverageScore() 输出平均成绩。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7882127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Microsoft YaHei"/>
              </a:defRPr>
            </a:pPr>
            <a:r>
              <a:t>数据结构与算法导论 · 学生信息管理系统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7C1C23"/>
                </a:solidFill>
                <a:latin typeface="Microsoft YaHei"/>
              </a:defRPr>
            </a:pPr>
            <a:r>
              <a:t>显示所有学生信息：运行结果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464"/>
                </a:solidFill>
                <a:latin typeface="Microsoft YaHei"/>
              </a:defRPr>
            </a:pPr>
            <a:r>
              <a:t>竖向结果图单独成页放大展示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3441680" cy="32004"/>
          </a:xfrm>
          <a:prstGeom prst="rect">
            <a:avLst/>
          </a:prstGeom>
          <a:solidFill>
            <a:srgbClr val="7C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0" y="228600"/>
            <a:ext cx="2057400" cy="91623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7461504"/>
            <a:ext cx="13258800" cy="338328"/>
          </a:xfrm>
          <a:prstGeom prst="roundRect">
            <a:avLst/>
          </a:prstGeom>
          <a:solidFill>
            <a:srgbClr val="FFF8EB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rIns="109728" rtlCol="0" anchor="ctr"/>
          <a:lstStyle/>
          <a:p>
            <a:pPr algn="ctr">
              <a:defRPr sz="1100" b="1">
                <a:solidFill>
                  <a:srgbClr val="7C1C23"/>
                </a:solidFill>
                <a:latin typeface="Microsoft YaHei"/>
              </a:defRPr>
            </a:pPr>
            <a:endParaRPr/>
          </a:p>
          <a:p>
            <a:pPr>
              <a:defRPr sz="950">
                <a:solidFill>
                  <a:srgbClr val="282828"/>
                </a:solidFill>
                <a:latin typeface="Microsoft YaHei"/>
              </a:defRPr>
            </a:pPr>
            <a:r>
              <a:t>运行结果完整展示多个学生的基本信息、课程成绩与平均成绩。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882127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Microsoft YaHei"/>
              </a:defRPr>
            </a:pPr>
            <a:r>
              <a:t>数据结构与算法导论 · 学生信息管理系统    11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D2F52C2-756F-F14B-401F-7B2C198B3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562" y="1092707"/>
            <a:ext cx="2659244" cy="63276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7C1C23"/>
                </a:solidFill>
                <a:latin typeface="Microsoft YaHei"/>
              </a:defRPr>
            </a:pPr>
            <a:r>
              <a:t>按学号查找学生：student.c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464"/>
                </a:solidFill>
                <a:latin typeface="Microsoft YaHei"/>
              </a:defRPr>
            </a:pPr>
            <a:r>
              <a:t>searchStudent() + searchHash()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3441680" cy="32004"/>
          </a:xfrm>
          <a:prstGeom prst="rect">
            <a:avLst/>
          </a:prstGeom>
          <a:solidFill>
            <a:srgbClr val="7C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0" y="228600"/>
            <a:ext cx="2057400" cy="9162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197864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7C1C23"/>
                </a:solidFill>
                <a:latin typeface="Microsoft YaHei"/>
              </a:defRPr>
            </a:pPr>
            <a:r>
              <a:t>可编辑核心代码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44752"/>
            <a:ext cx="3762756" cy="52852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789901"/>
            <a:ext cx="3746218" cy="41549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void searchStudent()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char id[ID_LEN];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readStudentId(id);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StudentNode *result = searchHash(id);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if (result == NULL)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printf("未找到该学生信息。\n");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else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printf("查找成功！\n");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showOneStudent(result-&gt;data);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static StudentNode *searchHash(char id[])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unsigned int index = hashFunc(id);</a:t>
            </a:r>
          </a:p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endParaRPr sz="830">
              <a:solidFill>
                <a:srgbClr val="262626"/>
              </a:solidFill>
              <a:latin typeface="Consola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466844" y="1444752"/>
            <a:ext cx="3762756" cy="52852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39996" y="1517904"/>
            <a:ext cx="3197991" cy="26930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500"/>
              </a:lnSpc>
            </a:pPr>
            <a:r>
              <a:rPr sz="1300">
                <a:solidFill>
                  <a:srgbClr val="262626"/>
                </a:solidFill>
                <a:latin typeface="Consolas"/>
              </a:rPr>
              <a:t>    HashNode *p = hashTable[index];</a:t>
            </a:r>
          </a:p>
          <a:p>
            <a:pPr>
              <a:lnSpc>
                <a:spcPts val="1500"/>
              </a:lnSpc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</a:pPr>
            <a:r>
              <a:rPr sz="1300">
                <a:solidFill>
                  <a:srgbClr val="262626"/>
                </a:solidFill>
                <a:latin typeface="Consolas"/>
              </a:rPr>
              <a:t>    while (p != NULL)</a:t>
            </a:r>
          </a:p>
          <a:p>
            <a:pPr>
              <a:lnSpc>
                <a:spcPts val="1500"/>
              </a:lnSpc>
            </a:pPr>
            <a:r>
              <a:rPr sz="13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1500"/>
              </a:lnSpc>
            </a:pPr>
            <a:r>
              <a:rPr sz="1300">
                <a:solidFill>
                  <a:srgbClr val="262626"/>
                </a:solidFill>
                <a:latin typeface="Consolas"/>
              </a:rPr>
              <a:t>        if (strcmp(p-&gt;id, id) == 0)</a:t>
            </a:r>
          </a:p>
          <a:p>
            <a:pPr>
              <a:lnSpc>
                <a:spcPts val="1500"/>
              </a:lnSpc>
            </a:pPr>
            <a:r>
              <a:rPr sz="1300">
                <a:solidFill>
                  <a:srgbClr val="262626"/>
                </a:solidFill>
                <a:latin typeface="Consolas"/>
              </a:rPr>
              <a:t>        {</a:t>
            </a:r>
          </a:p>
          <a:p>
            <a:pPr>
              <a:lnSpc>
                <a:spcPts val="1500"/>
              </a:lnSpc>
            </a:pPr>
            <a:r>
              <a:rPr sz="1300">
                <a:solidFill>
                  <a:srgbClr val="262626"/>
                </a:solidFill>
                <a:latin typeface="Consolas"/>
              </a:rPr>
              <a:t>            return p-&gt;studentPtr;</a:t>
            </a:r>
          </a:p>
          <a:p>
            <a:pPr>
              <a:lnSpc>
                <a:spcPts val="1500"/>
              </a:lnSpc>
            </a:pPr>
            <a:r>
              <a:rPr sz="1300">
                <a:solidFill>
                  <a:srgbClr val="262626"/>
                </a:solidFill>
                <a:latin typeface="Consolas"/>
              </a:rPr>
              <a:t>        }</a:t>
            </a:r>
          </a:p>
          <a:p>
            <a:pPr>
              <a:lnSpc>
                <a:spcPts val="1500"/>
              </a:lnSpc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</a:pPr>
            <a:r>
              <a:rPr sz="1300">
                <a:solidFill>
                  <a:srgbClr val="262626"/>
                </a:solidFill>
                <a:latin typeface="Consolas"/>
              </a:rPr>
              <a:t>        p = p-&gt;next;</a:t>
            </a:r>
          </a:p>
          <a:p>
            <a:pPr>
              <a:lnSpc>
                <a:spcPts val="1500"/>
              </a:lnSpc>
            </a:pPr>
            <a:r>
              <a:rPr sz="13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1500"/>
              </a:lnSpc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</a:pPr>
            <a:r>
              <a:rPr sz="1300">
                <a:solidFill>
                  <a:srgbClr val="262626"/>
                </a:solidFill>
                <a:latin typeface="Consolas"/>
              </a:rPr>
              <a:t>    return NULL;</a:t>
            </a:r>
          </a:p>
          <a:p>
            <a:pPr>
              <a:lnSpc>
                <a:spcPts val="1500"/>
              </a:lnSpc>
            </a:pPr>
            <a:r>
              <a:rPr lang="en-US" altLang="zh-CN" sz="1300">
                <a:solidFill>
                  <a:srgbClr val="262626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1197864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7C1C23"/>
                </a:solidFill>
                <a:latin typeface="Microsoft YaHei"/>
              </a:defRPr>
            </a:pPr>
            <a:r>
              <a:t>运行结果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6903720"/>
            <a:ext cx="13258800" cy="694944"/>
          </a:xfrm>
          <a:prstGeom prst="roundRect">
            <a:avLst/>
          </a:prstGeom>
          <a:solidFill>
            <a:srgbClr val="FFF8EB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rIns="109728" rtlCol="0" anchor="ctr"/>
          <a:lstStyle/>
          <a:p>
            <a:pPr algn="ctr">
              <a:defRPr sz="950">
                <a:solidFill>
                  <a:srgbClr val="282828"/>
                </a:solidFill>
                <a:latin typeface="Microsoft YaHei"/>
              </a:defRPr>
            </a:pPr>
            <a:r>
              <a:rPr sz="1600"/>
              <a:t>按学号计算哈希地址，再在冲突链表中查找对应学生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7882127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Microsoft YaHei"/>
              </a:defRPr>
            </a:pPr>
            <a:r>
              <a:t>数据结构与算法导论 · 学生信息管理系统    12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F2799178-BFA7-009A-04C1-A2BE8CFFF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1086" y="1924812"/>
            <a:ext cx="4397853" cy="43479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7C1C23"/>
                </a:solidFill>
                <a:latin typeface="Microsoft YaHei"/>
              </a:defRPr>
            </a:pPr>
            <a:r>
              <a:t>修改学生基本信息：student.c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464"/>
                </a:solidFill>
                <a:latin typeface="Microsoft YaHei"/>
              </a:defRPr>
            </a:pPr>
            <a:r>
              <a:t>临时副本修改 + 确认保存机制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3441680" cy="32004"/>
          </a:xfrm>
          <a:prstGeom prst="rect">
            <a:avLst/>
          </a:prstGeom>
          <a:solidFill>
            <a:srgbClr val="7C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0" y="228600"/>
            <a:ext cx="2057400" cy="9162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197864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7C1C23"/>
                </a:solidFill>
                <a:latin typeface="Microsoft YaHei"/>
              </a:defRPr>
            </a:pPr>
            <a:r>
              <a:t>可编辑核心代码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44752"/>
            <a:ext cx="6574536" cy="57424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1201" y="1892808"/>
            <a:ext cx="5068695" cy="37702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void modifyStudent()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StudentNode *target = selectStudentForModify();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Student temp;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int choice;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if (target == NULL)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printf("已取消修改学生基本信息。\n");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return;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temp = target-&gt;data;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while (1)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printf("当前待保存的学生信息如下：\n");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showOneStudent(temp);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showModifyFieldMenu();</a:t>
            </a:r>
          </a:p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endParaRPr sz="830">
              <a:solidFill>
                <a:srgbClr val="262626"/>
              </a:solidFill>
              <a:latin typeface="Consola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70064" y="1444752"/>
            <a:ext cx="6574536" cy="57424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43216" y="1791548"/>
            <a:ext cx="6075381" cy="34624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    choice = readIntRange("请输入选项：", 0, 8);</a:t>
            </a:r>
          </a:p>
          <a:p>
            <a:pPr>
              <a:lnSpc>
                <a:spcPts val="1500"/>
              </a:lnSpc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    if (choice == 0)</a:t>
            </a: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    {</a:t>
            </a: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        printf("已取消修改学生基本信息，原信息保持不变。\n");</a:t>
            </a: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        return;</a:t>
            </a: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    }</a:t>
            </a:r>
          </a:p>
          <a:p>
            <a:pPr>
              <a:lnSpc>
                <a:spcPts val="1500"/>
              </a:lnSpc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    if (choice == 8)</a:t>
            </a: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    {</a:t>
            </a: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        copyBasicInfo(&amp;target-&gt;data, temp);</a:t>
            </a: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        printf("学生基本信息修改已保存！\n");</a:t>
            </a: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        return;</a:t>
            </a: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    }</a:t>
            </a:r>
          </a:p>
          <a:p>
            <a:pPr>
              <a:lnSpc>
                <a:spcPts val="1500"/>
              </a:lnSpc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    modifyOneBasicField(&amp;temp, choice);</a:t>
            </a: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7269480"/>
            <a:ext cx="13258800" cy="411480"/>
          </a:xfrm>
          <a:prstGeom prst="roundRect">
            <a:avLst/>
          </a:prstGeom>
          <a:solidFill>
            <a:srgbClr val="FFF8EB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rIns="109728" rtlCol="0" anchor="ctr"/>
          <a:lstStyle/>
          <a:p>
            <a:pPr algn="ctr">
              <a:defRPr sz="950">
                <a:solidFill>
                  <a:srgbClr val="282828"/>
                </a:solidFill>
                <a:latin typeface="Microsoft YaHei"/>
              </a:defRPr>
            </a:pPr>
            <a:r>
              <a:rPr sz="1600"/>
              <a:t>修改时先操作临时变量 temp，只有选择保存后才写回原学生结点，避免误操作。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7882127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Microsoft YaHei"/>
              </a:defRPr>
            </a:pPr>
            <a:r>
              <a:t>数据结构与算法导论 · 学生信息管理系统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7C1C23"/>
                </a:solidFill>
                <a:latin typeface="Microsoft YaHei"/>
              </a:defRPr>
            </a:pPr>
            <a:r>
              <a:t>修改学生信息：运行结果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464"/>
                </a:solidFill>
                <a:latin typeface="Microsoft YaHei"/>
              </a:defRPr>
            </a:pPr>
            <a:r>
              <a:t>两个结果横向对照展示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3441680" cy="32004"/>
          </a:xfrm>
          <a:prstGeom prst="rect">
            <a:avLst/>
          </a:prstGeom>
          <a:solidFill>
            <a:srgbClr val="7C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0" y="228600"/>
            <a:ext cx="2057400" cy="916237"/>
          </a:xfrm>
          <a:prstGeom prst="rect">
            <a:avLst/>
          </a:prstGeom>
        </p:spPr>
      </p:pic>
      <p:pic>
        <p:nvPicPr>
          <p:cNvPr id="7" name="Picture 6" descr="modify_id.png"/>
          <p:cNvPicPr>
            <a:picLocks noChangeAspect="1"/>
          </p:cNvPicPr>
          <p:nvPr/>
        </p:nvPicPr>
        <p:blipFill>
          <a:blip r:embed="rId3"/>
          <a:srcRect l="9269" t="7015" r="10378"/>
          <a:stretch>
            <a:fillRect/>
          </a:stretch>
        </p:blipFill>
        <p:spPr>
          <a:xfrm>
            <a:off x="1828798" y="1357883"/>
            <a:ext cx="3597641" cy="6090027"/>
          </a:xfrm>
          <a:prstGeom prst="rect">
            <a:avLst/>
          </a:prstGeom>
        </p:spPr>
      </p:pic>
      <p:pic>
        <p:nvPicPr>
          <p:cNvPr id="8" name="Picture 7" descr="modify_name.png"/>
          <p:cNvPicPr>
            <a:picLocks noChangeAspect="1"/>
          </p:cNvPicPr>
          <p:nvPr/>
        </p:nvPicPr>
        <p:blipFill>
          <a:blip r:embed="rId4"/>
          <a:srcRect l="10153" t="3732" r="8957" b="17527"/>
          <a:stretch>
            <a:fillRect/>
          </a:stretch>
        </p:blipFill>
        <p:spPr>
          <a:xfrm>
            <a:off x="8823960" y="1088136"/>
            <a:ext cx="4645077" cy="588873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7461504"/>
            <a:ext cx="13258800" cy="338328"/>
          </a:xfrm>
          <a:prstGeom prst="roundRect">
            <a:avLst/>
          </a:prstGeom>
          <a:solidFill>
            <a:srgbClr val="FFF8EB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rIns="109728" rtlCol="0" anchor="ctr"/>
          <a:lstStyle/>
          <a:p>
            <a:pPr algn="ctr">
              <a:defRPr sz="950">
                <a:solidFill>
                  <a:srgbClr val="282828"/>
                </a:solidFill>
                <a:latin typeface="Microsoft YaHei"/>
              </a:defRPr>
            </a:pPr>
            <a:r>
              <a:rPr sz="1600"/>
              <a:t>左侧展示按学号修改，右侧展示按姓名查找时处理同名学生的情况。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7882127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Microsoft YaHei"/>
              </a:defRPr>
            </a:pPr>
            <a:r>
              <a:t>数据结构与算法导论 · 学生信息管理系统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7C1C23"/>
                </a:solidFill>
                <a:latin typeface="Microsoft YaHei"/>
              </a:defRPr>
            </a:pPr>
            <a:r>
              <a:t>删除学生信息：student.c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464"/>
                </a:solidFill>
                <a:latin typeface="Microsoft YaHei"/>
              </a:defRPr>
            </a:pPr>
            <a:r>
              <a:t>deleteStudent()：删除前压栈，链表与哈希表同步删除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3441680" cy="32004"/>
          </a:xfrm>
          <a:prstGeom prst="rect">
            <a:avLst/>
          </a:prstGeom>
          <a:solidFill>
            <a:srgbClr val="7C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0" y="228600"/>
            <a:ext cx="2057400" cy="91623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1444752"/>
            <a:ext cx="6574536" cy="57424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6290" y="1796462"/>
            <a:ext cx="5565626" cy="3962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void deleteStudent()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char id[ID_LEN];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readStudentId(id);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StudentNode *cur = studentHead;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StudentNode *pre = NULL;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while (cur != NULL &amp;&amp; strcmp(cur-&gt;data.id, id) != 0)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pre = cur;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cur = cur-&gt;next;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if (cur == NULL)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printf("未找到该学生，无法删除！\n");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return;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endParaRPr sz="830">
              <a:solidFill>
                <a:srgbClr val="262626"/>
              </a:solidFill>
              <a:latin typeface="Consola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70064" y="1444752"/>
            <a:ext cx="6574536" cy="57424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43216" y="1638613"/>
            <a:ext cx="5937523" cy="34624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pushUndo(cur-&gt;data);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if (pre == NULL)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studentHead = cur-&gt;next;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else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pre-&gt;next = cur-&gt;next;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removeHash(id);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freeGrades(cur-&gt;data.grades);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free(cur);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studentCount--;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printf("学生信息删除成功！可以通过菜单 9 撤销本次删除。\n");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7269480"/>
            <a:ext cx="13258800" cy="411480"/>
          </a:xfrm>
          <a:prstGeom prst="roundRect">
            <a:avLst/>
          </a:prstGeom>
          <a:solidFill>
            <a:srgbClr val="FFF8EB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rIns="109728" rtlCol="0" anchor="ctr"/>
          <a:lstStyle/>
          <a:p>
            <a:pPr algn="ctr">
              <a:defRPr sz="950">
                <a:solidFill>
                  <a:srgbClr val="282828"/>
                </a:solidFill>
                <a:latin typeface="Microsoft YaHei"/>
              </a:defRPr>
            </a:pPr>
            <a:r>
              <a:rPr sz="1600"/>
              <a:t>删除前将学生信息压入撤销栈；删除时同时更新学生链表和哈希表，并释放动态内存。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7882127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Microsoft YaHei"/>
              </a:defRPr>
            </a:pPr>
            <a:r>
              <a:t>数据结构与算法导论 · 学生信息管理系统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18873"/>
            <a:ext cx="14630400" cy="8229600"/>
          </a:xfrm>
          <a:prstGeom prst="rect">
            <a:avLst/>
          </a:prstGeom>
          <a:solidFill>
            <a:srgbClr val="F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7C1C23"/>
                </a:solidFill>
                <a:latin typeface="Microsoft YaHei"/>
              </a:defRPr>
            </a:pPr>
            <a:r>
              <a:t>删除学生信息：运行结果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464"/>
                </a:solidFill>
                <a:latin typeface="Microsoft YaHei"/>
              </a:defRPr>
            </a:pPr>
            <a:r>
              <a:t>删除操作结果竖向放大展示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3441680" cy="32004"/>
          </a:xfrm>
          <a:prstGeom prst="rect">
            <a:avLst/>
          </a:prstGeom>
          <a:solidFill>
            <a:srgbClr val="7C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0" y="228600"/>
            <a:ext cx="2057400" cy="91623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7461504"/>
            <a:ext cx="13258800" cy="338328"/>
          </a:xfrm>
          <a:prstGeom prst="roundRect">
            <a:avLst/>
          </a:prstGeom>
          <a:solidFill>
            <a:srgbClr val="FFF8EB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rIns="109728" rtlCol="0" anchor="ctr"/>
          <a:lstStyle/>
          <a:p>
            <a:pPr algn="ctr">
              <a:defRPr sz="950">
                <a:solidFill>
                  <a:srgbClr val="282828"/>
                </a:solidFill>
                <a:latin typeface="Microsoft YaHei"/>
              </a:defRPr>
            </a:pPr>
            <a:r>
              <a:rPr sz="1600"/>
              <a:t>结果展示删除前后的菜单操作与“可以通过菜单 9 撤销本次删除”的提示。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882127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Microsoft YaHei"/>
              </a:defRPr>
            </a:pPr>
            <a:r>
              <a:t>数据结构与算法导论 · 学生信息管理系统    16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34E8A73-73C3-BE94-E32D-C6232EDFC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761" y="3642824"/>
            <a:ext cx="4952124" cy="127395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8C04742-0E8E-1A54-24D5-262F0BC45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9755" y="1101264"/>
            <a:ext cx="3397425" cy="627610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7C1C23"/>
                </a:solidFill>
                <a:latin typeface="Microsoft YaHei"/>
              </a:defRPr>
            </a:pPr>
            <a:r>
              <a:t>撤销删除：student.c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464"/>
                </a:solidFill>
                <a:latin typeface="Microsoft YaHei"/>
              </a:defRPr>
            </a:pPr>
            <a:r>
              <a:t>undoDelete()：撤销栈恢复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3441680" cy="32004"/>
          </a:xfrm>
          <a:prstGeom prst="rect">
            <a:avLst/>
          </a:prstGeom>
          <a:solidFill>
            <a:srgbClr val="7C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0" y="228600"/>
            <a:ext cx="2057400" cy="91623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9675" y="1060704"/>
            <a:ext cx="6574536" cy="612648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494368"/>
            <a:ext cx="6395982" cy="23083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void undoDelete()</a:t>
            </a:r>
          </a:p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{</a:t>
            </a:r>
          </a:p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if (undoTop == NULL)</a:t>
            </a:r>
          </a:p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printf("当前没有可撤销的删除操作。\n");</a:t>
            </a:r>
          </a:p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return;</a:t>
            </a:r>
          </a:p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if (searchHash(undoTop-&gt;data.id) != NULL)</a:t>
            </a:r>
          </a:p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printf("该学号当前已存在，无法恢复。\n");</a:t>
            </a:r>
          </a:p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return;</a:t>
            </a:r>
          </a:p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UndoNode *temp = undoTop;</a:t>
            </a:r>
          </a:p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undoTop = undoTop-&gt;next;</a:t>
            </a:r>
          </a:p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StudentNode *newNode = (StudentNode *)malloc(sizeof(StudentNode));</a:t>
            </a:r>
            <a:endParaRPr lang="en-US"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endParaRPr sz="830">
              <a:solidFill>
                <a:srgbClr val="262626"/>
              </a:solidFill>
              <a:latin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112" y="3702174"/>
            <a:ext cx="4053995" cy="3270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if (newNode == NULL)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printf("恢复失败，内存不足！\n");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return;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newNode-&gt;data = temp-&gt;data;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newNode-&gt;next = studentHead;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studentHead = newNode;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insertHash(newNode-&gt;data.id, newNode);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studentCount++;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free(temp);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printf("撤销删除成功，学生信息已恢复！\n");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7269480"/>
            <a:ext cx="13258800" cy="411480"/>
          </a:xfrm>
          <a:prstGeom prst="roundRect">
            <a:avLst/>
          </a:prstGeom>
          <a:solidFill>
            <a:srgbClr val="FFF8EB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rIns="109728" rtlCol="0" anchor="ctr"/>
          <a:lstStyle/>
          <a:p>
            <a:pPr algn="ctr">
              <a:defRPr sz="950">
                <a:solidFill>
                  <a:srgbClr val="282828"/>
                </a:solidFill>
                <a:latin typeface="Microsoft YaHei"/>
              </a:defRPr>
            </a:pPr>
            <a:r>
              <a:rPr sz="1600"/>
              <a:t>撤销时从 undoTop 弹出最近删除的学生，重新插入学生链表和哈希表，体现后进先出。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7882127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Microsoft YaHei"/>
              </a:defRPr>
            </a:pPr>
            <a:r>
              <a:t>数据结构与算法导论 · 学生信息管理系统    17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649179F-4FE6-C7C3-4E98-3E49BD5C1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1189" y="2902788"/>
            <a:ext cx="2800494" cy="65408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8DFAD75-3FC9-BF94-97FB-BC363F414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446" y="1569250"/>
            <a:ext cx="2413718" cy="5648101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1BE96121-CA94-0DD1-DAA6-F088BB0CE9AB}"/>
              </a:ext>
            </a:extLst>
          </p:cNvPr>
          <p:cNvSpPr txBox="1"/>
          <p:nvPr/>
        </p:nvSpPr>
        <p:spPr>
          <a:xfrm>
            <a:off x="7772400" y="2174901"/>
            <a:ext cx="73601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7C1C23"/>
                </a:solidFill>
                <a:latin typeface="Microsoft YaHei"/>
              </a:defRPr>
            </a:pPr>
            <a:r>
              <a:rPr lang="zh-CN" altLang="en-US"/>
              <a:t>运行结果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7C1C23"/>
                </a:solidFill>
                <a:latin typeface="Microsoft YaHei"/>
              </a:defRPr>
            </a:pPr>
            <a:r>
              <a:t>为已有学生添加课程成绩：student.c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464"/>
                </a:solidFill>
                <a:latin typeface="Microsoft YaHei"/>
              </a:defRPr>
            </a:pPr>
            <a:r>
              <a:t>addGradeForStudent() + inputGrades()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3441680" cy="32004"/>
          </a:xfrm>
          <a:prstGeom prst="rect">
            <a:avLst/>
          </a:prstGeom>
          <a:solidFill>
            <a:srgbClr val="7C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0" y="228600"/>
            <a:ext cx="2057400" cy="9162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197864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7C1C23"/>
                </a:solidFill>
                <a:latin typeface="Microsoft YaHei"/>
              </a:defRPr>
            </a:pPr>
            <a:r>
              <a:t>可编辑核心代码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31620"/>
            <a:ext cx="5971332" cy="5198364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3651" y="1865376"/>
            <a:ext cx="3746218" cy="14619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void addGradeForStudent()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char id[ID_LEN];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readStudentId(id);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StudentNode *target = searchHash(id);</a:t>
            </a:r>
          </a:p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endParaRPr sz="830">
              <a:solidFill>
                <a:srgbClr val="262626"/>
              </a:solidFill>
              <a:latin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3651" y="3439465"/>
            <a:ext cx="5655394" cy="17312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500"/>
              </a:lnSpc>
            </a:pPr>
            <a:r>
              <a:rPr sz="1300">
                <a:solidFill>
                  <a:srgbClr val="262626"/>
                </a:solidFill>
                <a:latin typeface="Consolas"/>
              </a:rPr>
              <a:t>    if (target == NULL)</a:t>
            </a:r>
          </a:p>
          <a:p>
            <a:pPr>
              <a:lnSpc>
                <a:spcPts val="1500"/>
              </a:lnSpc>
            </a:pPr>
            <a:r>
              <a:rPr sz="13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1500"/>
              </a:lnSpc>
            </a:pPr>
            <a:r>
              <a:rPr sz="1300">
                <a:solidFill>
                  <a:srgbClr val="262626"/>
                </a:solidFill>
                <a:latin typeface="Consolas"/>
              </a:rPr>
              <a:t>        printf("未找到该学生，无法添加成绩！\n");</a:t>
            </a:r>
          </a:p>
          <a:p>
            <a:pPr>
              <a:lnSpc>
                <a:spcPts val="1500"/>
              </a:lnSpc>
            </a:pPr>
            <a:r>
              <a:rPr sz="1300">
                <a:solidFill>
                  <a:srgbClr val="262626"/>
                </a:solidFill>
                <a:latin typeface="Consolas"/>
              </a:rPr>
              <a:t>        return;</a:t>
            </a:r>
          </a:p>
          <a:p>
            <a:pPr>
              <a:lnSpc>
                <a:spcPts val="1500"/>
              </a:lnSpc>
            </a:pPr>
            <a:r>
              <a:rPr sz="13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1500"/>
              </a:lnSpc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</a:pPr>
            <a:r>
              <a:rPr sz="1300">
                <a:solidFill>
                  <a:srgbClr val="262626"/>
                </a:solidFill>
                <a:latin typeface="Consolas"/>
              </a:rPr>
              <a:t>    printf("正在为学生 %s 添加课程成绩。\n", target-&gt;data.name);</a:t>
            </a:r>
          </a:p>
          <a:p>
            <a:pPr>
              <a:lnSpc>
                <a:spcPts val="1500"/>
              </a:lnSpc>
            </a:pPr>
            <a:r>
              <a:rPr sz="1300">
                <a:solidFill>
                  <a:srgbClr val="262626"/>
                </a:solidFill>
                <a:latin typeface="Consolas"/>
              </a:rPr>
              <a:t>    inputGrades(&amp;target-&gt;data);</a:t>
            </a:r>
          </a:p>
          <a:p>
            <a:pPr>
              <a:lnSpc>
                <a:spcPts val="1500"/>
              </a:lnSpc>
            </a:pPr>
            <a:r>
              <a:rPr sz="1300">
                <a:solidFill>
                  <a:srgbClr val="262626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1197864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7C1C23"/>
                </a:solidFill>
                <a:latin typeface="Microsoft YaHei"/>
              </a:defRPr>
            </a:pPr>
            <a:r>
              <a:t>运行结果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6903720"/>
            <a:ext cx="13258800" cy="694944"/>
          </a:xfrm>
          <a:prstGeom prst="roundRect">
            <a:avLst/>
          </a:prstGeom>
          <a:solidFill>
            <a:srgbClr val="FFF8EB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rIns="109728" rtlCol="0" anchor="ctr"/>
          <a:lstStyle/>
          <a:p>
            <a:pPr algn="ctr">
              <a:defRPr sz="950">
                <a:solidFill>
                  <a:srgbClr val="282828"/>
                </a:solidFill>
                <a:latin typeface="Microsoft YaHei"/>
              </a:defRPr>
            </a:pPr>
            <a:r>
              <a:rPr sz="1600"/>
              <a:t>先按学号查找学生，找到后调用 inputGrades() 向该学生成绩链表继续添加课程</a:t>
            </a:r>
            <a:r>
              <a:t>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7882127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Microsoft YaHei"/>
              </a:defRPr>
            </a:pPr>
            <a:r>
              <a:t>数据结构与算法导论 · 学生信息管理系统    19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4E84C9C-597B-A72F-B5B4-4236D27F4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451" y="4247882"/>
            <a:ext cx="25401" cy="19051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76FBB19E-5593-4658-4BC6-AA79C9AA96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3512" y="1806398"/>
            <a:ext cx="3333921" cy="1663786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BEEB29B4-577E-F16A-E1B3-447631049C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7718" y="3643920"/>
            <a:ext cx="3244256" cy="297195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7C1C23"/>
                </a:solidFill>
                <a:latin typeface="Microsoft YaHei"/>
              </a:defRPr>
            </a:pPr>
            <a:r>
              <a:t>按平均成绩排序：student.c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464"/>
                </a:solidFill>
                <a:latin typeface="Microsoft YaHei"/>
              </a:defRPr>
            </a:pPr>
            <a:r>
              <a:t>链表转数组 + 快速排序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3441680" cy="32004"/>
          </a:xfrm>
          <a:prstGeom prst="rect">
            <a:avLst/>
          </a:prstGeom>
          <a:solidFill>
            <a:srgbClr val="7C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0" y="228600"/>
            <a:ext cx="2057400" cy="9162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197864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7C1C23"/>
                </a:solidFill>
                <a:latin typeface="Microsoft YaHei"/>
              </a:defRPr>
            </a:pPr>
            <a:r>
              <a:t>可编辑核心代码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44752"/>
            <a:ext cx="6574536" cy="57424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3883" y="1650793"/>
            <a:ext cx="6730343" cy="58734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void sortByAverageScore()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if (studentCount == 0)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printf("当前没有学生信息，无法排序。\n");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return;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StudentNode **arr = (StudentNode **)malloc(sizeof(StudentNode *) *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studentCount);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StudentNode *p = studentHead;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int i = 0;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while (p != NULL)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arr[i++] = p;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p = p-&gt;next;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quickSort(arr, 0, studentCount - 1);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printf("\n按平均成绩从高到低排序结果：\n");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for (i = 0; i &lt; studentCount; i++)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printf("\n第 %d 名：\n", i + 1);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showOneStudent(arr[i]-&gt;data);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endParaRPr sz="740">
              <a:solidFill>
                <a:srgbClr val="262626"/>
              </a:solidFill>
              <a:latin typeface="Consola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70064" y="1444752"/>
            <a:ext cx="6574536" cy="57424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94226" y="1631529"/>
            <a:ext cx="6460102" cy="500136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free(arr);</a:t>
            </a: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}</a:t>
            </a: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static void quickSort(StudentNode *arr[], int left, int right)</a:t>
            </a: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{</a:t>
            </a: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int i = left;</a:t>
            </a: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int j = right;</a:t>
            </a: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float pivot = getAverageScore(arr[(left + right) / 2]-&gt;data);</a:t>
            </a:r>
          </a:p>
          <a:p>
            <a:pPr>
              <a:lnSpc>
                <a:spcPts val="1500"/>
              </a:lnSpc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while (i &lt;= j)</a:t>
            </a: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    while (getAverageScore(arr[i]-&gt;data) &gt; pivot) i++;</a:t>
            </a: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    while (getAverageScore(arr[j]-&gt;data) &lt; pivot) j--;</a:t>
            </a:r>
          </a:p>
          <a:p>
            <a:pPr>
              <a:lnSpc>
                <a:spcPts val="1500"/>
              </a:lnSpc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    if (i &lt;= j)</a:t>
            </a: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    {</a:t>
            </a: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        StudentNode *temp = arr[i];</a:t>
            </a: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        arr[i] = arr[j];</a:t>
            </a: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        arr[j] = temp;</a:t>
            </a: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        i++;</a:t>
            </a: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        j--;</a:t>
            </a: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    }</a:t>
            </a: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1500"/>
              </a:lnSpc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if (left &lt; j) quickSort(arr, left, j);</a:t>
            </a: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    if (i &lt; right) quickSort(arr, i, right);</a:t>
            </a:r>
          </a:p>
          <a:p>
            <a:pPr>
              <a:lnSpc>
                <a:spcPts val="1500"/>
              </a:lnSpc>
            </a:pPr>
            <a:r>
              <a:rPr sz="1400">
                <a:solidFill>
                  <a:srgbClr val="262626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7269480"/>
            <a:ext cx="13258800" cy="411480"/>
          </a:xfrm>
          <a:prstGeom prst="roundRect">
            <a:avLst/>
          </a:prstGeom>
          <a:solidFill>
            <a:srgbClr val="FFF8EB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rIns="109728" rtlCol="0" anchor="ctr"/>
          <a:lstStyle/>
          <a:p>
            <a:pPr algn="ctr">
              <a:defRPr sz="950">
                <a:solidFill>
                  <a:srgbClr val="282828"/>
                </a:solidFill>
                <a:latin typeface="Microsoft YaHei"/>
              </a:defRPr>
            </a:pPr>
            <a:r>
              <a:rPr sz="1600"/>
              <a:t>链表不适合随机访问，所以先将学生结点指针存入数组，再使用 quickSort() 降序排序。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7882127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Microsoft YaHei"/>
              </a:defRPr>
            </a:pPr>
            <a:r>
              <a:t>数据结构与算法导论 · 学生信息管理系统   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7C1C23"/>
                </a:solidFill>
                <a:latin typeface="Microsoft YaHei"/>
              </a:defRPr>
            </a:pPr>
            <a:r>
              <a:t>按平均成绩排序：运行结果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3441680" cy="32004"/>
          </a:xfrm>
          <a:prstGeom prst="rect">
            <a:avLst/>
          </a:prstGeom>
          <a:solidFill>
            <a:srgbClr val="7C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0" y="228600"/>
            <a:ext cx="2057400" cy="91623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7461504"/>
            <a:ext cx="13258800" cy="338328"/>
          </a:xfrm>
          <a:prstGeom prst="roundRect">
            <a:avLst/>
          </a:prstGeom>
          <a:solidFill>
            <a:srgbClr val="FFF8EB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rIns="109728" rtlCol="0" anchor="ctr"/>
          <a:lstStyle/>
          <a:p>
            <a:pPr algn="ctr">
              <a:defRPr sz="950">
                <a:solidFill>
                  <a:srgbClr val="282828"/>
                </a:solidFill>
                <a:latin typeface="Microsoft YaHei"/>
              </a:defRPr>
            </a:pPr>
            <a:r>
              <a:rPr sz="1600"/>
              <a:t>排序结果按平均成绩从高到低输出，每个学生仍显示完整基本信息和课程成绩。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882127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Microsoft YaHei"/>
              </a:defRPr>
            </a:pPr>
            <a:r>
              <a:t>数据结构与算法导论 · 学生信息管理系统    21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A75DFAD-F3AE-7189-D06B-235AF3E55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952" y="3195512"/>
            <a:ext cx="109717" cy="4571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D2A594D-0BEE-CCC6-5421-802A5060A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8467" y="1031893"/>
            <a:ext cx="3158529" cy="634731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7C1C23"/>
                </a:solidFill>
                <a:latin typeface="Microsoft YaHei"/>
              </a:defRPr>
            </a:pPr>
            <a:r>
              <a:t>成绩统计：student.c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464"/>
                </a:solidFill>
                <a:latin typeface="Microsoft YaHei"/>
              </a:defRPr>
            </a:pPr>
            <a:r>
              <a:t>statistics()：人数、平均分、最高和最低平均分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3441680" cy="32004"/>
          </a:xfrm>
          <a:prstGeom prst="rect">
            <a:avLst/>
          </a:prstGeom>
          <a:solidFill>
            <a:srgbClr val="7C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0" y="228600"/>
            <a:ext cx="2057400" cy="9162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197864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7C1C23"/>
                </a:solidFill>
                <a:latin typeface="Microsoft YaHei"/>
              </a:defRPr>
            </a:pPr>
            <a:r>
              <a:t>可编辑核心代码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59" y="1444752"/>
            <a:ext cx="4252767" cy="52852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2002706"/>
            <a:ext cx="4252767" cy="37702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void statistics()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if (studentHead == NULL)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printf("当前没有学生信息，无法统计。\n");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return;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StudentNode *p = studentHead;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float sum = 0;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float maxAvg = getAverageScore(p-&gt;data);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float minAvg = getAverageScore(p-&gt;data);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StudentNode *maxNode = p;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StudentNode *minNode = p;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while (p != NULL)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float avg = getAverageScore(p-&gt;data);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sum += avg;</a:t>
            </a:r>
          </a:p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endParaRPr sz="830">
              <a:solidFill>
                <a:srgbClr val="262626"/>
              </a:solidFill>
              <a:latin typeface="Consola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880205" y="1339596"/>
            <a:ext cx="5246629" cy="52852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20279" y="1741932"/>
            <a:ext cx="5246629" cy="42319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if (avg &gt; maxAvg)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    maxAvg = avg;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    maxNode = p;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if (avg &lt; minAvg)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    minAvg = avg;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    minNode = p;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p = p-&gt;next;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printf("学生总人数：%d\n", studentCount);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printf("全体学生平均成绩：%.2f\n", sum / studentCount);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printf("平均成绩最高：%s，学号：%s，平均分：%.2f\n",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   maxNode-&gt;data.name, maxNode-&gt;data.id, maxAvg);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printf("平均成绩最低：%s，学号：%s，平均分：%.2f\n",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           minNode-&gt;data.name, minNode-&gt;data.id, minAvg);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2626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51893" y="1264195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7C1C23"/>
                </a:solidFill>
                <a:latin typeface="Microsoft YaHei"/>
              </a:defRPr>
            </a:pPr>
            <a:r>
              <a:t>运行结果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6903720"/>
            <a:ext cx="13258800" cy="694944"/>
          </a:xfrm>
          <a:prstGeom prst="roundRect">
            <a:avLst/>
          </a:prstGeom>
          <a:solidFill>
            <a:srgbClr val="FFF8EB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rIns="109728" rtlCol="0" anchor="ctr"/>
          <a:lstStyle/>
          <a:p>
            <a:pPr algn="ctr">
              <a:defRPr sz="950">
                <a:solidFill>
                  <a:srgbClr val="282828"/>
                </a:solidFill>
                <a:latin typeface="Microsoft YaHei"/>
              </a:defRPr>
            </a:pPr>
            <a:r>
              <a:rPr sz="1600"/>
              <a:t>遍历学生链表累计平均成绩，同时记录最高平均分和最低平均分对应学生。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7882127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Microsoft YaHei"/>
              </a:defRPr>
            </a:pPr>
            <a:r>
              <a:t>数据结构与算法导论 · 学生信息管理系统    22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9DE7DB58-B3C5-C380-0198-3EA1F9E5D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982" y="1892808"/>
            <a:ext cx="4197566" cy="111130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7C1C23"/>
                </a:solidFill>
                <a:latin typeface="Microsoft YaHei"/>
              </a:defRPr>
            </a:pPr>
            <a:r>
              <a:t>程序退出与内存释放：student.c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464"/>
                </a:solidFill>
                <a:latin typeface="Microsoft YaHei"/>
              </a:defRPr>
            </a:pPr>
            <a:r>
              <a:t>freeAllStudents() + freeHashTable()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3441680" cy="32004"/>
          </a:xfrm>
          <a:prstGeom prst="rect">
            <a:avLst/>
          </a:prstGeom>
          <a:solidFill>
            <a:srgbClr val="7C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0" y="228600"/>
            <a:ext cx="2057400" cy="91623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1444752"/>
            <a:ext cx="6574536" cy="57424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14984" y="1890971"/>
            <a:ext cx="3776675" cy="24237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void freeAllStudents()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StudentNode *cur = studentHead;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StudentNode *temp;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while (cur != NULL)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temp = cur;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cur = cur-&gt;next;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freeGrades(temp-&gt;data.grades);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    free(temp);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871"/>
              </a:lnSpc>
              <a:spcBef>
                <a:spcPts val="0"/>
              </a:spcBef>
              <a:spcAft>
                <a:spcPts val="0"/>
              </a:spcAft>
            </a:pPr>
            <a:endParaRPr sz="830">
              <a:solidFill>
                <a:srgbClr val="262626"/>
              </a:solidFill>
              <a:latin typeface="Consola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0" y="1444752"/>
            <a:ext cx="6574536" cy="57424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262626"/>
                </a:solidFill>
                <a:latin typeface="Consolas"/>
              </a:rPr>
              <a:t>void freeHashTable()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262626"/>
                </a:solidFill>
                <a:latin typeface="Consolas"/>
              </a:rPr>
              <a:t>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262626"/>
                </a:solidFill>
                <a:latin typeface="Consolas"/>
              </a:rPr>
              <a:t>    for (int i = 0; i &lt; HASH_SIZE; i++)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262626"/>
                </a:solidFill>
                <a:latin typeface="Consolas"/>
              </a:rPr>
              <a:t>    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262626"/>
                </a:solidFill>
                <a:latin typeface="Consolas"/>
              </a:rPr>
              <a:t>        HashNode *cur = hashTable[i];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262626"/>
                </a:solidFill>
                <a:latin typeface="Consolas"/>
              </a:rPr>
              <a:t>        HashNode *temp;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262626"/>
                </a:solidFill>
                <a:latin typeface="Consolas"/>
              </a:rPr>
              <a:t>        while (cur != NULL)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262626"/>
                </a:solidFill>
                <a:latin typeface="Consolas"/>
              </a:rPr>
              <a:t>        {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262626"/>
                </a:solidFill>
                <a:latin typeface="Consolas"/>
              </a:rPr>
              <a:t>            temp = cur;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262626"/>
                </a:solidFill>
                <a:latin typeface="Consolas"/>
              </a:rPr>
              <a:t>            cur = cur-&gt;next;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262626"/>
                </a:solidFill>
                <a:latin typeface="Consolas"/>
              </a:rPr>
              <a:t>            free(temp);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262626"/>
                </a:solidFill>
                <a:latin typeface="Consolas"/>
              </a:rPr>
              <a:t>        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>
              <a:solidFill>
                <a:srgbClr val="262626"/>
              </a:solidFill>
              <a:latin typeface="Consolas"/>
            </a:endParaR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262626"/>
                </a:solidFill>
                <a:latin typeface="Consolas"/>
              </a:rPr>
              <a:t>        hashTable[i] = NULL;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262626"/>
                </a:solidFill>
                <a:latin typeface="Consolas"/>
              </a:rPr>
              <a:t>    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262626"/>
                </a:solidFill>
                <a:latin typeface="Consolas"/>
              </a:rPr>
              <a:t>}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5290" y="4514981"/>
            <a:ext cx="2285882" cy="76944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studentHead = NULL;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    studentCount = 0;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62626"/>
                </a:solidFill>
                <a:latin typeface="Consolas"/>
              </a:rPr>
              <a:t>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262626"/>
              </a:solidFill>
              <a:latin typeface="Consola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85800" y="7269480"/>
            <a:ext cx="13258800" cy="411480"/>
          </a:xfrm>
          <a:prstGeom prst="roundRect">
            <a:avLst/>
          </a:prstGeom>
          <a:solidFill>
            <a:srgbClr val="FFF8EB"/>
          </a:solidFill>
          <a:ln w="12700"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rIns="109728" rtlCol="0" anchor="ctr"/>
          <a:lstStyle/>
          <a:p>
            <a:pPr algn="ctr">
              <a:defRPr sz="950">
                <a:solidFill>
                  <a:srgbClr val="282828"/>
                </a:solidFill>
                <a:latin typeface="Microsoft YaHei"/>
              </a:defRPr>
            </a:pPr>
            <a:r>
              <a:rPr sz="1600"/>
              <a:t>释放学生链表、每个学生的成绩链表和哈希表，避免 malloc 申请的动态内存泄漏。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7882127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Microsoft YaHei"/>
              </a:defRPr>
            </a:pPr>
            <a:r>
              <a:t>数据结构与算法导论 · 学生信息管理系统   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7C1C23"/>
                </a:solidFill>
                <a:latin typeface="Microsoft YaHei"/>
              </a:defRPr>
            </a:pPr>
            <a:r>
              <a:t>总结：代码与运行结果展示重点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464"/>
                </a:solidFill>
                <a:latin typeface="Microsoft YaHei"/>
              </a:defRPr>
            </a:pPr>
            <a:r>
              <a:t>围绕数据结构、模块化设计和功能结果进行汇报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3441680" cy="32004"/>
          </a:xfrm>
          <a:prstGeom prst="rect">
            <a:avLst/>
          </a:prstGeom>
          <a:solidFill>
            <a:srgbClr val="7C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0" y="228600"/>
            <a:ext cx="2057400" cy="91623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14400" y="1417320"/>
            <a:ext cx="12801600" cy="713232"/>
          </a:xfrm>
          <a:prstGeom prst="roundRect">
            <a:avLst/>
          </a:prstGeom>
          <a:solidFill>
            <a:srgbClr val="FFFAEE"/>
          </a:solidFill>
          <a:ln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>
              <a:defRPr sz="1600">
                <a:solidFill>
                  <a:srgbClr val="282828"/>
                </a:solidFill>
                <a:latin typeface="Microsoft YaHei"/>
              </a:defRPr>
            </a:pPr>
            <a:r>
              <a:t>链表：StudentNode 保存学生；GradeNode 保存多门课程成绩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41448"/>
            <a:ext cx="12801600" cy="713232"/>
          </a:xfrm>
          <a:prstGeom prst="roundRect">
            <a:avLst/>
          </a:prstGeom>
          <a:solidFill>
            <a:srgbClr val="FFFAEE"/>
          </a:solidFill>
          <a:ln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>
              <a:defRPr sz="1600">
                <a:solidFill>
                  <a:srgbClr val="282828"/>
                </a:solidFill>
                <a:latin typeface="Microsoft YaHei"/>
              </a:defRPr>
            </a:pPr>
            <a:r>
              <a:t>哈希表：以学号为关键字，实现快速查找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465576"/>
            <a:ext cx="12801600" cy="713232"/>
          </a:xfrm>
          <a:prstGeom prst="roundRect">
            <a:avLst/>
          </a:prstGeom>
          <a:solidFill>
            <a:srgbClr val="FFFAEE"/>
          </a:solidFill>
          <a:ln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>
              <a:defRPr sz="1600">
                <a:solidFill>
                  <a:srgbClr val="282828"/>
                </a:solidFill>
                <a:latin typeface="Microsoft YaHei"/>
              </a:defRPr>
            </a:pPr>
            <a:r>
              <a:t>栈：保存删除记录，实现撤销删除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89704"/>
            <a:ext cx="12801600" cy="713232"/>
          </a:xfrm>
          <a:prstGeom prst="roundRect">
            <a:avLst/>
          </a:prstGeom>
          <a:solidFill>
            <a:srgbClr val="FFFAEE"/>
          </a:solidFill>
          <a:ln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>
              <a:defRPr sz="1600">
                <a:solidFill>
                  <a:srgbClr val="282828"/>
                </a:solidFill>
                <a:latin typeface="Microsoft YaHei"/>
              </a:defRPr>
            </a:pPr>
            <a:r>
              <a:t>快速排序：链表转数组后按平均成绩排序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513832"/>
            <a:ext cx="12801600" cy="713232"/>
          </a:xfrm>
          <a:prstGeom prst="roundRect">
            <a:avLst/>
          </a:prstGeom>
          <a:solidFill>
            <a:srgbClr val="FFFAEE"/>
          </a:solidFill>
          <a:ln>
            <a:solidFill>
              <a:srgbClr val="E1C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>
              <a:defRPr sz="1600">
                <a:solidFill>
                  <a:srgbClr val="282828"/>
                </a:solidFill>
                <a:latin typeface="Microsoft YaHei"/>
              </a:defRPr>
            </a:pPr>
            <a:r>
              <a:t>模块化：输入校验、学籍选择和学生管理分文件实现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7882127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Microsoft YaHei"/>
              </a:defRPr>
            </a:pPr>
            <a:r>
              <a:t>数据结构与算法导论 · 学生信息管理系统   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3377</Words>
  <Application>Microsoft Office PowerPoint</Application>
  <PresentationFormat>自定义</PresentationFormat>
  <Paragraphs>707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哲旭 刘</cp:lastModifiedBy>
  <cp:revision>13</cp:revision>
  <dcterms:created xsi:type="dcterms:W3CDTF">2013-01-27T09:14:16Z</dcterms:created>
  <dcterms:modified xsi:type="dcterms:W3CDTF">2026-06-02T05:29:09Z</dcterms:modified>
  <cp:category/>
</cp:coreProperties>
</file>