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1" r:id="rId3"/>
    <p:sldMasterId id="2147483670" r:id="rId4"/>
    <p:sldMasterId id="2147483688" r:id="rId5"/>
    <p:sldMasterId id="2147483715" r:id="rId6"/>
  </p:sldMasterIdLst>
  <p:notesMasterIdLst>
    <p:notesMasterId r:id="rId30"/>
  </p:notesMasterIdLst>
  <p:sldIdLst>
    <p:sldId id="460" r:id="rId7"/>
    <p:sldId id="461" r:id="rId8"/>
    <p:sldId id="462" r:id="rId9"/>
    <p:sldId id="557" r:id="rId10"/>
    <p:sldId id="558" r:id="rId11"/>
    <p:sldId id="469" r:id="rId12"/>
    <p:sldId id="560" r:id="rId13"/>
    <p:sldId id="565" r:id="rId14"/>
    <p:sldId id="535" r:id="rId15"/>
    <p:sldId id="561" r:id="rId16"/>
    <p:sldId id="566" r:id="rId17"/>
    <p:sldId id="567" r:id="rId18"/>
    <p:sldId id="554" r:id="rId19"/>
    <p:sldId id="562" r:id="rId20"/>
    <p:sldId id="568" r:id="rId21"/>
    <p:sldId id="571" r:id="rId22"/>
    <p:sldId id="555" r:id="rId23"/>
    <p:sldId id="563" r:id="rId24"/>
    <p:sldId id="569" r:id="rId25"/>
    <p:sldId id="556" r:id="rId26"/>
    <p:sldId id="564" r:id="rId27"/>
    <p:sldId id="570" r:id="rId28"/>
    <p:sldId id="479" r:id="rId29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B0C21"/>
    <a:srgbClr val="9E282E"/>
    <a:srgbClr val="970B1C"/>
    <a:srgbClr val="EF1B39"/>
    <a:srgbClr val="FF8A98"/>
    <a:srgbClr val="ED0F2F"/>
    <a:srgbClr val="44546A"/>
    <a:srgbClr val="194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6314" autoAdjust="0"/>
  </p:normalViewPr>
  <p:slideViewPr>
    <p:cSldViewPr snapToGrid="0" showGuides="1">
      <p:cViewPr varScale="1">
        <p:scale>
          <a:sx n="154" d="100"/>
          <a:sy n="154" d="100"/>
        </p:scale>
        <p:origin x="156" y="318"/>
      </p:cViewPr>
      <p:guideLst>
        <p:guide orient="horz" pos="2121"/>
        <p:guide pos="3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C303D-B686-4E9A-9B4B-6FD30633AA4A}" type="datetimeFigureOut">
              <a:rPr lang="zh-CN" altLang="en-US" smtClean="0"/>
              <a:t>2025/6/20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DD0AC-7F07-4128-B9A6-9AC6CBCF66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2025/6/20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2025/6/20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200441" y="193607"/>
            <a:ext cx="578289" cy="578289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/>
          <p:cNvSpPr/>
          <p:nvPr userDrawn="1"/>
        </p:nvSpPr>
        <p:spPr>
          <a:xfrm>
            <a:off x="798672" y="736271"/>
            <a:ext cx="215597" cy="21559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/>
          <p:cNvSpPr/>
          <p:nvPr userDrawn="1"/>
        </p:nvSpPr>
        <p:spPr>
          <a:xfrm>
            <a:off x="995732" y="542126"/>
            <a:ext cx="132077" cy="13207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691574" y="6625037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200441" y="193607"/>
            <a:ext cx="578289" cy="578289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/>
          <p:cNvSpPr/>
          <p:nvPr userDrawn="1"/>
        </p:nvSpPr>
        <p:spPr>
          <a:xfrm>
            <a:off x="798672" y="736271"/>
            <a:ext cx="215597" cy="21559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/>
          <p:cNvSpPr/>
          <p:nvPr userDrawn="1"/>
        </p:nvSpPr>
        <p:spPr>
          <a:xfrm>
            <a:off x="995732" y="542126"/>
            <a:ext cx="132077" cy="13207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691574" y="6625037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200441" y="193607"/>
            <a:ext cx="578289" cy="578289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/>
          <p:cNvSpPr/>
          <p:nvPr userDrawn="1"/>
        </p:nvSpPr>
        <p:spPr>
          <a:xfrm>
            <a:off x="798672" y="736271"/>
            <a:ext cx="215597" cy="21559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/>
          <p:cNvSpPr/>
          <p:nvPr userDrawn="1"/>
        </p:nvSpPr>
        <p:spPr>
          <a:xfrm>
            <a:off x="995732" y="542126"/>
            <a:ext cx="132077" cy="13207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691574" y="6625037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200441" y="193607"/>
            <a:ext cx="578289" cy="578289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3" name="圆角矩形 2"/>
          <p:cNvSpPr/>
          <p:nvPr userDrawn="1"/>
        </p:nvSpPr>
        <p:spPr>
          <a:xfrm>
            <a:off x="798672" y="736271"/>
            <a:ext cx="215597" cy="21559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  <p:sp>
        <p:nvSpPr>
          <p:cNvPr id="4" name="圆角矩形 3"/>
          <p:cNvSpPr/>
          <p:nvPr userDrawn="1"/>
        </p:nvSpPr>
        <p:spPr>
          <a:xfrm>
            <a:off x="995732" y="542126"/>
            <a:ext cx="132077" cy="13207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691574" y="6625037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200441" y="193607"/>
            <a:ext cx="578289" cy="578289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圆角矩形 2"/>
          <p:cNvSpPr/>
          <p:nvPr userDrawn="1"/>
        </p:nvSpPr>
        <p:spPr>
          <a:xfrm>
            <a:off x="798672" y="736271"/>
            <a:ext cx="215597" cy="21559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/>
          <p:cNvSpPr/>
          <p:nvPr userDrawn="1"/>
        </p:nvSpPr>
        <p:spPr>
          <a:xfrm>
            <a:off x="995732" y="542126"/>
            <a:ext cx="132077" cy="132077"/>
          </a:xfrm>
          <a:prstGeom prst="flowChartConnector">
            <a:avLst/>
          </a:prstGeom>
          <a:solidFill>
            <a:srgbClr val="970B1C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691574" y="6625037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31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39.xml"/><Relationship Id="rId9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山东大学校徽与中英文校名标准组合（横式）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55555" y="0"/>
            <a:ext cx="2036445" cy="9074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山东大学校徽与中英文校名标准组合（横式）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55555" y="0"/>
            <a:ext cx="2036445" cy="9074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山东大学校徽与中英文校名标准组合（横式）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55555" y="0"/>
            <a:ext cx="2036445" cy="9074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山东大学校徽与中英文校名标准组合（横式）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55555" y="0"/>
            <a:ext cx="2036445" cy="9074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山东大学校徽与中英文校名标准组合（横式）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55555" y="0"/>
            <a:ext cx="2036445" cy="9074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山东大学校徽与中英文校名标准组合（横式）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55555" y="0"/>
            <a:ext cx="2036445" cy="9074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Layout" Target="../slideLayouts/slideLayout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3" Type="http://schemas.openxmlformats.org/officeDocument/2006/relationships/tags" Target="../tags/tag29.xml"/><Relationship Id="rId7" Type="http://schemas.openxmlformats.org/officeDocument/2006/relationships/slideLayout" Target="../slideLayouts/slideLayout3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5422945" y="1374175"/>
            <a:ext cx="4165636" cy="4165636"/>
          </a:xfrm>
          <a:prstGeom prst="flowChartConnector">
            <a:avLst/>
          </a:prstGeom>
          <a:solidFill>
            <a:srgbClr val="970B1C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76972" y="3001674"/>
            <a:ext cx="5032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商品进销货系统</a:t>
            </a:r>
          </a:p>
        </p:txBody>
      </p:sp>
      <p:sp>
        <p:nvSpPr>
          <p:cNvPr id="6" name="燕尾形 5"/>
          <p:cNvSpPr/>
          <p:nvPr>
            <p:custDataLst>
              <p:tags r:id="rId2"/>
            </p:custDataLst>
          </p:nvPr>
        </p:nvSpPr>
        <p:spPr>
          <a:xfrm flipH="1">
            <a:off x="10361691" y="4123250"/>
            <a:ext cx="208052" cy="208052"/>
          </a:xfrm>
          <a:prstGeom prst="chevron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9" name="直线连接符 8"/>
          <p:cNvCxnSpPr/>
          <p:nvPr>
            <p:custDataLst>
              <p:tags r:id="rId3"/>
            </p:custDataLst>
          </p:nvPr>
        </p:nvCxnSpPr>
        <p:spPr>
          <a:xfrm>
            <a:off x="1714891" y="3462407"/>
            <a:ext cx="3662081" cy="0"/>
          </a:xfrm>
          <a:prstGeom prst="line">
            <a:avLst/>
          </a:prstGeom>
          <a:ln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>
            <a:off x="8948653" y="989538"/>
            <a:ext cx="397329" cy="397329"/>
          </a:xfrm>
          <a:prstGeom prst="flowChartConnector">
            <a:avLst/>
          </a:prstGeom>
          <a:solidFill>
            <a:srgbClr val="EF1B3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圆角矩形 10"/>
          <p:cNvSpPr/>
          <p:nvPr>
            <p:custDataLst>
              <p:tags r:id="rId5"/>
            </p:custDataLst>
          </p:nvPr>
        </p:nvSpPr>
        <p:spPr>
          <a:xfrm>
            <a:off x="9530019" y="1702449"/>
            <a:ext cx="209070" cy="209070"/>
          </a:xfrm>
          <a:prstGeom prst="flowChartConnector">
            <a:avLst/>
          </a:prstGeom>
          <a:solidFill>
            <a:srgbClr val="EF1B3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97250" y="3060700"/>
            <a:ext cx="23082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数据结构与算法导论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</a:p>
        </p:txBody>
      </p:sp>
      <p:sp>
        <p:nvSpPr>
          <p:cNvPr id="22" name="圆角矩形 21"/>
          <p:cNvSpPr/>
          <p:nvPr>
            <p:custDataLst>
              <p:tags r:id="rId6"/>
            </p:custDataLst>
          </p:nvPr>
        </p:nvSpPr>
        <p:spPr>
          <a:xfrm>
            <a:off x="5886930" y="5196046"/>
            <a:ext cx="209070" cy="209070"/>
          </a:xfrm>
          <a:prstGeom prst="flowChartConnector">
            <a:avLst/>
          </a:prstGeom>
          <a:solidFill>
            <a:srgbClr val="EF1B3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6" grpId="0" bldLvl="0" animBg="1"/>
      <p:bldP spid="10" grpId="0" bldLvl="0" animBg="1"/>
      <p:bldP spid="11" grpId="0" bldLvl="0" animBg="1"/>
      <p:bldP spid="15" grpId="0"/>
      <p:bldP spid="2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1377185" y="1908877"/>
            <a:ext cx="2916000" cy="2916000"/>
          </a:xfrm>
          <a:prstGeom prst="flowChartConnector">
            <a:avLst/>
          </a:prstGeom>
          <a:solidFill>
            <a:srgbClr val="970B1C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1377185" y="4764589"/>
            <a:ext cx="397329" cy="397329"/>
          </a:xfrm>
          <a:prstGeom prst="flowChartConnector">
            <a:avLst/>
          </a:prstGeom>
          <a:solidFill>
            <a:schemeClr val="lt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914622" y="4901681"/>
            <a:ext cx="209070" cy="209070"/>
          </a:xfrm>
          <a:prstGeom prst="flowChartConnector">
            <a:avLst/>
          </a:prstGeom>
          <a:solidFill>
            <a:schemeClr val="lt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4288951" y="2408609"/>
            <a:ext cx="209070" cy="209070"/>
          </a:xfrm>
          <a:prstGeom prst="flowChartConnector">
            <a:avLst/>
          </a:prstGeom>
          <a:solidFill>
            <a:schemeClr val="lt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0060" y="2721610"/>
            <a:ext cx="4017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Contents</a:t>
            </a: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5592453" y="1461110"/>
            <a:ext cx="787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01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5592452" y="2545356"/>
            <a:ext cx="787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5592451" y="3629602"/>
            <a:ext cx="787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03</a:t>
            </a: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5592451" y="4725723"/>
            <a:ext cx="787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6391910" y="1510665"/>
            <a:ext cx="5471160" cy="565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主菜单和功能对应部分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&amp;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链表的创建</a:t>
            </a:r>
          </a:p>
        </p:txBody>
      </p:sp>
      <p:sp>
        <p:nvSpPr>
          <p:cNvPr id="18" name="文本框 17"/>
          <p:cNvSpPr txBox="1"/>
          <p:nvPr>
            <p:custDataLst>
              <p:tags r:id="rId10"/>
            </p:custDataLst>
          </p:nvPr>
        </p:nvSpPr>
        <p:spPr>
          <a:xfrm>
            <a:off x="6430010" y="2620010"/>
            <a:ext cx="5761990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添加、进货与销售商品的实现</a:t>
            </a: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6430010" y="3629660"/>
            <a:ext cx="538607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根据编号实时查询商品状况或对全体商品进行总展示</a:t>
            </a:r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6391721" y="4808729"/>
            <a:ext cx="53860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计算商品总成本、保存数据至文件和从文件加载数据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08715" y="373487"/>
            <a:ext cx="6096000" cy="6737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typedef struct Product {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    int id;             </a:t>
            </a:r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char name[50];      </a:t>
            </a:r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float price;        </a:t>
            </a:r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float cost;         </a:t>
            </a:r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int stock;          </a:t>
            </a:r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kern="100" dirty="0"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struct Product* next;  </a:t>
            </a:r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} Product;</a:t>
            </a:r>
          </a:p>
          <a:p>
            <a:pPr algn="just"/>
            <a:endParaRPr lang="en-US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Product* head = NULL;   </a:t>
            </a:r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endParaRPr lang="zh-CN" altLang="en-US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show_menu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int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is_id_exist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(int id);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add_product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update_stock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(int mode);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display_products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search_product_by_id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();  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calculate_total_cost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save_to_file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load_from_file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();</a:t>
            </a:r>
          </a:p>
          <a:p>
            <a:pPr algn="just"/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void </a:t>
            </a:r>
            <a:r>
              <a:rPr lang="en-US" altLang="zh-CN" sz="1800" kern="100" dirty="0" err="1">
                <a:effectLst/>
                <a:latin typeface="+mn-ea"/>
                <a:cs typeface="Times New Roman" panose="02020603050405020304" pitchFamily="18" charset="0"/>
              </a:rPr>
              <a:t>free_all</a:t>
            </a:r>
            <a:r>
              <a:rPr lang="en-US" altLang="zh-CN" sz="1800" kern="100" dirty="0">
                <a:effectLst/>
                <a:latin typeface="+mn-ea"/>
                <a:cs typeface="Times New Roman" panose="02020603050405020304" pitchFamily="18" charset="0"/>
              </a:rPr>
              <a:t>();</a:t>
            </a:r>
            <a:endParaRPr lang="zh-CN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D24002-6172-4185-858B-CD125F868140}"/>
              </a:ext>
            </a:extLst>
          </p:cNvPr>
          <p:cNvSpPr txBox="1"/>
          <p:nvPr/>
        </p:nvSpPr>
        <p:spPr>
          <a:xfrm>
            <a:off x="6281509" y="1075690"/>
            <a:ext cx="5212885" cy="5782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void </a:t>
            </a:r>
            <a:r>
              <a:rPr lang="en-US" altLang="zh-CN" b="0" dirty="0" err="1">
                <a:latin typeface="+mn-ea"/>
              </a:rPr>
              <a:t>show_menu</a:t>
            </a:r>
            <a:r>
              <a:rPr lang="en-US" altLang="zh-CN" b="0" dirty="0">
                <a:latin typeface="+mn-ea"/>
              </a:rPr>
              <a:t>() {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system("</a:t>
            </a:r>
            <a:r>
              <a:rPr lang="en-US" altLang="zh-CN" b="0" dirty="0" err="1">
                <a:latin typeface="+mn-ea"/>
              </a:rPr>
              <a:t>cls</a:t>
            </a:r>
            <a:r>
              <a:rPr lang="en-US" altLang="zh-CN" b="0" dirty="0">
                <a:latin typeface="+mn-ea"/>
              </a:rPr>
              <a:t>");  // </a:t>
            </a:r>
            <a:r>
              <a:rPr lang="zh-CN" altLang="en-US" b="0" dirty="0">
                <a:latin typeface="+mn-ea"/>
              </a:rPr>
              <a:t>清屏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zh-CN" altLang="en-US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("=== </a:t>
            </a:r>
            <a:r>
              <a:rPr lang="zh-CN" altLang="en-US" b="0" dirty="0">
                <a:latin typeface="+mn-ea"/>
              </a:rPr>
              <a:t>商品管理系统 </a:t>
            </a:r>
            <a:r>
              <a:rPr lang="en-US" altLang="zh-CN" b="0" dirty="0">
                <a:latin typeface="+mn-ea"/>
              </a:rPr>
              <a:t>===\n");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("1. </a:t>
            </a:r>
            <a:r>
              <a:rPr lang="zh-CN" altLang="en-US" b="0" dirty="0">
                <a:latin typeface="+mn-ea"/>
              </a:rPr>
              <a:t>添加商品</a:t>
            </a:r>
            <a:r>
              <a:rPr lang="en-US" altLang="zh-CN" b="0" dirty="0">
                <a:latin typeface="+mn-ea"/>
              </a:rPr>
              <a:t>\n"); 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("2. </a:t>
            </a:r>
            <a:r>
              <a:rPr lang="zh-CN" altLang="en-US" b="0" dirty="0">
                <a:latin typeface="+mn-ea"/>
              </a:rPr>
              <a:t>商品进货</a:t>
            </a:r>
            <a:r>
              <a:rPr lang="en-US" altLang="zh-CN" b="0" dirty="0">
                <a:latin typeface="+mn-ea"/>
              </a:rPr>
              <a:t>\n");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("3. </a:t>
            </a:r>
            <a:r>
              <a:rPr lang="zh-CN" altLang="en-US" b="0" dirty="0">
                <a:latin typeface="+mn-ea"/>
              </a:rPr>
              <a:t>商品销售</a:t>
            </a:r>
            <a:r>
              <a:rPr lang="en-US" altLang="zh-CN" b="0" dirty="0">
                <a:latin typeface="+mn-ea"/>
              </a:rPr>
              <a:t>\n");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("4. </a:t>
            </a:r>
            <a:r>
              <a:rPr lang="zh-CN" altLang="en-US" b="0" dirty="0">
                <a:latin typeface="+mn-ea"/>
              </a:rPr>
              <a:t>显示所有商品</a:t>
            </a:r>
            <a:r>
              <a:rPr lang="en-US" altLang="zh-CN" b="0" dirty="0">
                <a:latin typeface="+mn-ea"/>
              </a:rPr>
              <a:t>\n");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("5. </a:t>
            </a:r>
            <a:r>
              <a:rPr lang="zh-CN" altLang="en-US" b="0" dirty="0">
                <a:latin typeface="+mn-ea"/>
              </a:rPr>
              <a:t>查询商品信息</a:t>
            </a:r>
            <a:r>
              <a:rPr lang="en-US" altLang="zh-CN" b="0" dirty="0">
                <a:latin typeface="+mn-ea"/>
              </a:rPr>
              <a:t>\n"); 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("6. </a:t>
            </a:r>
            <a:r>
              <a:rPr lang="zh-CN" altLang="en-US" b="0" dirty="0">
                <a:latin typeface="+mn-ea"/>
              </a:rPr>
              <a:t>计算总成本</a:t>
            </a:r>
            <a:r>
              <a:rPr lang="en-US" altLang="zh-CN" b="0" dirty="0">
                <a:latin typeface="+mn-ea"/>
              </a:rPr>
              <a:t>\n");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("7. </a:t>
            </a:r>
            <a:r>
              <a:rPr lang="zh-CN" altLang="en-US" b="0" dirty="0">
                <a:latin typeface="+mn-ea"/>
              </a:rPr>
              <a:t>保存数据</a:t>
            </a:r>
            <a:r>
              <a:rPr lang="en-US" altLang="zh-CN" b="0" dirty="0">
                <a:latin typeface="+mn-ea"/>
              </a:rPr>
              <a:t>\n");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("8. </a:t>
            </a:r>
            <a:r>
              <a:rPr lang="zh-CN" altLang="en-US" b="0" dirty="0">
                <a:latin typeface="+mn-ea"/>
              </a:rPr>
              <a:t>加载数据</a:t>
            </a:r>
            <a:r>
              <a:rPr lang="en-US" altLang="zh-CN" b="0" dirty="0">
                <a:latin typeface="+mn-ea"/>
              </a:rPr>
              <a:t>\n");    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    </a:t>
            </a:r>
            <a:r>
              <a:rPr lang="en-US" altLang="zh-CN" b="0" dirty="0" err="1">
                <a:latin typeface="+mn-ea"/>
              </a:rPr>
              <a:t>printf</a:t>
            </a:r>
            <a:r>
              <a:rPr lang="en-US" altLang="zh-CN" b="0" dirty="0">
                <a:latin typeface="+mn-ea"/>
              </a:rPr>
              <a:t>("0. </a:t>
            </a:r>
            <a:r>
              <a:rPr lang="zh-CN" altLang="en-US" b="0" dirty="0">
                <a:latin typeface="+mn-ea"/>
              </a:rPr>
              <a:t>退出系统</a:t>
            </a:r>
            <a:r>
              <a:rPr lang="en-US" altLang="zh-CN" b="0" dirty="0">
                <a:latin typeface="+mn-ea"/>
              </a:rPr>
              <a:t>\n");</a:t>
            </a:r>
          </a:p>
          <a:p>
            <a:pPr indent="406400" fontAlgn="auto">
              <a:extLst>
                <a:ext uri="{35155182-B16C-46BC-9424-99874614C6A1}">
                  <wpsdc:indentchars xmlns:wpsdc="http://www.wps.cn/officeDocument/2017/drawingmlCustomData" xmlns="" val="200" checksum="1740828767"/>
                </a:ext>
              </a:extLst>
            </a:pPr>
            <a:r>
              <a:rPr lang="en-US" altLang="zh-CN" b="0" dirty="0">
                <a:latin typeface="+mn-ea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0988A1-8272-4ED0-AFEF-9D7BA9E9AB0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149098" y="257703"/>
            <a:ext cx="5471160" cy="565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主菜单和功能对应部分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&amp;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链表的创建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3178" y="254864"/>
            <a:ext cx="5730490" cy="619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ym typeface="+mn-ea"/>
              </a:rPr>
              <a:t>int main() {</a:t>
            </a:r>
          </a:p>
          <a:p>
            <a:r>
              <a:rPr lang="en-US" altLang="zh-CN" dirty="0">
                <a:sym typeface="+mn-ea"/>
              </a:rPr>
              <a:t>    int choice;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load_from_file</a:t>
            </a:r>
            <a:r>
              <a:rPr lang="en-US" altLang="zh-CN" dirty="0">
                <a:sym typeface="+mn-ea"/>
              </a:rPr>
              <a:t>();  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    </a:t>
            </a:r>
          </a:p>
          <a:p>
            <a:r>
              <a:rPr lang="zh-CN" altLang="en-US" dirty="0">
                <a:sym typeface="+mn-ea"/>
              </a:rPr>
              <a:t>    </a:t>
            </a:r>
            <a:r>
              <a:rPr lang="en-US" altLang="zh-CN" dirty="0">
                <a:sym typeface="+mn-ea"/>
              </a:rPr>
              <a:t>do {</a:t>
            </a:r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show_menu</a:t>
            </a:r>
            <a:r>
              <a:rPr lang="en-US" altLang="zh-CN" dirty="0">
                <a:sym typeface="+mn-ea"/>
              </a:rPr>
              <a:t>();</a:t>
            </a:r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请选择操作：</a:t>
            </a:r>
            <a:r>
              <a:rPr lang="en-US" altLang="zh-CN" dirty="0">
                <a:sym typeface="+mn-ea"/>
              </a:rPr>
              <a:t>");</a:t>
            </a:r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scanf</a:t>
            </a:r>
            <a:r>
              <a:rPr lang="en-US" altLang="zh-CN" dirty="0">
                <a:sym typeface="+mn-ea"/>
              </a:rPr>
              <a:t>("%d", &amp;choice);</a:t>
            </a: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        switch(choice) {</a:t>
            </a:r>
          </a:p>
          <a:p>
            <a:r>
              <a:rPr lang="en-US" altLang="zh-CN" dirty="0">
                <a:sym typeface="+mn-ea"/>
              </a:rPr>
              <a:t>            case 1: </a:t>
            </a:r>
            <a:r>
              <a:rPr lang="en-US" altLang="zh-CN" dirty="0" err="1">
                <a:sym typeface="+mn-ea"/>
              </a:rPr>
              <a:t>add_product</a:t>
            </a:r>
            <a:r>
              <a:rPr lang="en-US" altLang="zh-CN" dirty="0">
                <a:sym typeface="+mn-ea"/>
              </a:rPr>
              <a:t>(); break;</a:t>
            </a:r>
          </a:p>
          <a:p>
            <a:r>
              <a:rPr lang="en-US" altLang="zh-CN" dirty="0">
                <a:sym typeface="+mn-ea"/>
              </a:rPr>
              <a:t>            case 2: </a:t>
            </a:r>
            <a:r>
              <a:rPr lang="en-US" altLang="zh-CN" dirty="0" err="1">
                <a:sym typeface="+mn-ea"/>
              </a:rPr>
              <a:t>update_stock</a:t>
            </a:r>
            <a:r>
              <a:rPr lang="en-US" altLang="zh-CN" dirty="0">
                <a:sym typeface="+mn-ea"/>
              </a:rPr>
              <a:t>(2); break;</a:t>
            </a:r>
          </a:p>
          <a:p>
            <a:r>
              <a:rPr lang="en-US" altLang="zh-CN" dirty="0">
                <a:sym typeface="+mn-ea"/>
              </a:rPr>
              <a:t>            case 3: </a:t>
            </a:r>
            <a:r>
              <a:rPr lang="en-US" altLang="zh-CN" dirty="0" err="1">
                <a:sym typeface="+mn-ea"/>
              </a:rPr>
              <a:t>update_stock</a:t>
            </a:r>
            <a:r>
              <a:rPr lang="en-US" altLang="zh-CN" dirty="0">
                <a:sym typeface="+mn-ea"/>
              </a:rPr>
              <a:t>(3); break;</a:t>
            </a:r>
          </a:p>
          <a:p>
            <a:r>
              <a:rPr lang="en-US" altLang="zh-CN" dirty="0">
                <a:sym typeface="+mn-ea"/>
              </a:rPr>
              <a:t>            case 4: </a:t>
            </a:r>
            <a:r>
              <a:rPr lang="en-US" altLang="zh-CN" dirty="0" err="1">
                <a:sym typeface="+mn-ea"/>
              </a:rPr>
              <a:t>display_products</a:t>
            </a:r>
            <a:r>
              <a:rPr lang="en-US" altLang="zh-CN" dirty="0">
                <a:sym typeface="+mn-ea"/>
              </a:rPr>
              <a:t>(); break;</a:t>
            </a:r>
          </a:p>
          <a:p>
            <a:r>
              <a:rPr lang="en-US" altLang="zh-CN" dirty="0">
                <a:sym typeface="+mn-ea"/>
              </a:rPr>
              <a:t>            case 5: </a:t>
            </a:r>
            <a:r>
              <a:rPr lang="en-US" altLang="zh-CN" dirty="0" err="1">
                <a:sym typeface="+mn-ea"/>
              </a:rPr>
              <a:t>search_product_by_id</a:t>
            </a:r>
            <a:r>
              <a:rPr lang="en-US" altLang="zh-CN" dirty="0">
                <a:sym typeface="+mn-ea"/>
              </a:rPr>
              <a:t>(); break;  </a:t>
            </a:r>
          </a:p>
          <a:p>
            <a:r>
              <a:rPr lang="en-US" altLang="zh-CN" dirty="0">
                <a:sym typeface="+mn-ea"/>
              </a:rPr>
              <a:t>            case 6: </a:t>
            </a:r>
            <a:r>
              <a:rPr lang="en-US" altLang="zh-CN" dirty="0" err="1">
                <a:sym typeface="+mn-ea"/>
              </a:rPr>
              <a:t>calculate_total_cost</a:t>
            </a:r>
            <a:r>
              <a:rPr lang="en-US" altLang="zh-CN" dirty="0">
                <a:sym typeface="+mn-ea"/>
              </a:rPr>
              <a:t>(); break;</a:t>
            </a:r>
          </a:p>
          <a:p>
            <a:r>
              <a:rPr lang="en-US" altLang="zh-CN" dirty="0">
                <a:sym typeface="+mn-ea"/>
              </a:rPr>
              <a:t>            case 7: </a:t>
            </a:r>
            <a:r>
              <a:rPr lang="en-US" altLang="zh-CN" dirty="0" err="1">
                <a:sym typeface="+mn-ea"/>
              </a:rPr>
              <a:t>save_to_file</a:t>
            </a:r>
            <a:r>
              <a:rPr lang="en-US" altLang="zh-CN" dirty="0">
                <a:sym typeface="+mn-ea"/>
              </a:rPr>
              <a:t>(); break;</a:t>
            </a:r>
          </a:p>
          <a:p>
            <a:r>
              <a:rPr lang="en-US" altLang="zh-CN" dirty="0">
                <a:sym typeface="+mn-ea"/>
              </a:rPr>
              <a:t>            case 8: </a:t>
            </a:r>
            <a:r>
              <a:rPr lang="en-US" altLang="zh-CN" dirty="0" err="1">
                <a:sym typeface="+mn-ea"/>
              </a:rPr>
              <a:t>load_from_file</a:t>
            </a:r>
            <a:r>
              <a:rPr lang="en-US" altLang="zh-CN" dirty="0">
                <a:sym typeface="+mn-ea"/>
              </a:rPr>
              <a:t>(); break;        </a:t>
            </a:r>
          </a:p>
          <a:p>
            <a:r>
              <a:rPr lang="en-US" altLang="zh-CN" dirty="0">
                <a:sym typeface="+mn-ea"/>
              </a:rPr>
              <a:t>            case 0: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正在退出</a:t>
            </a:r>
            <a:r>
              <a:rPr lang="en-US" altLang="zh-CN" dirty="0">
                <a:sym typeface="+mn-ea"/>
              </a:rPr>
              <a:t>...\n"); break;</a:t>
            </a:r>
          </a:p>
          <a:p>
            <a:r>
              <a:rPr lang="en-US" altLang="zh-CN" dirty="0">
                <a:sym typeface="+mn-ea"/>
              </a:rPr>
              <a:t>            default: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无效选择！</a:t>
            </a:r>
            <a:r>
              <a:rPr lang="en-US" altLang="zh-CN" dirty="0">
                <a:sym typeface="+mn-ea"/>
              </a:rPr>
              <a:t>\n");</a:t>
            </a:r>
          </a:p>
          <a:p>
            <a:r>
              <a:rPr lang="en-US" altLang="zh-CN" dirty="0">
                <a:sym typeface="+mn-ea"/>
              </a:rPr>
              <a:t>        }</a:t>
            </a:r>
          </a:p>
          <a:p>
            <a:endParaRPr lang="en-US" altLang="zh-CN" dirty="0"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918CFC-ECAA-449B-8966-B733ACD081DD}"/>
              </a:ext>
            </a:extLst>
          </p:cNvPr>
          <p:cNvSpPr txBox="1"/>
          <p:nvPr/>
        </p:nvSpPr>
        <p:spPr>
          <a:xfrm>
            <a:off x="6148334" y="864673"/>
            <a:ext cx="60949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ym typeface="+mn-ea"/>
              </a:rPr>
              <a:t> if (choice != 0) {</a:t>
            </a:r>
          </a:p>
          <a:p>
            <a:r>
              <a:rPr lang="en-US" altLang="zh-CN" dirty="0">
                <a:sym typeface="+mn-ea"/>
              </a:rPr>
              <a:t>        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按任意键继续</a:t>
            </a:r>
            <a:r>
              <a:rPr lang="en-US" altLang="zh-CN" dirty="0">
                <a:sym typeface="+mn-ea"/>
              </a:rPr>
              <a:t>...");</a:t>
            </a:r>
          </a:p>
          <a:p>
            <a:r>
              <a:rPr lang="en-US" altLang="zh-CN" dirty="0">
                <a:sym typeface="+mn-ea"/>
              </a:rPr>
              <a:t>            while(</a:t>
            </a:r>
            <a:r>
              <a:rPr lang="en-US" altLang="zh-CN" dirty="0" err="1">
                <a:sym typeface="+mn-ea"/>
              </a:rPr>
              <a:t>getchar</a:t>
            </a:r>
            <a:r>
              <a:rPr lang="en-US" altLang="zh-CN" dirty="0">
                <a:sym typeface="+mn-ea"/>
              </a:rPr>
              <a:t>() != '\n'); 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            </a:t>
            </a:r>
            <a:r>
              <a:rPr lang="en-US" altLang="zh-CN" dirty="0" err="1">
                <a:sym typeface="+mn-ea"/>
              </a:rPr>
              <a:t>getchar</a:t>
            </a:r>
            <a:r>
              <a:rPr lang="en-US" altLang="zh-CN" dirty="0">
                <a:sym typeface="+mn-ea"/>
              </a:rPr>
              <a:t>(); }</a:t>
            </a:r>
          </a:p>
          <a:p>
            <a:r>
              <a:rPr lang="en-US" altLang="zh-CN" dirty="0">
                <a:sym typeface="+mn-ea"/>
              </a:rPr>
              <a:t>    } while(choice != 0);</a:t>
            </a: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save_to_file</a:t>
            </a:r>
            <a:r>
              <a:rPr lang="en-US" altLang="zh-CN" dirty="0">
                <a:sym typeface="+mn-ea"/>
              </a:rPr>
              <a:t>(); 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free_all</a:t>
            </a:r>
            <a:r>
              <a:rPr lang="en-US" altLang="zh-CN" dirty="0">
                <a:sym typeface="+mn-ea"/>
              </a:rPr>
              <a:t>();     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    </a:t>
            </a:r>
            <a:r>
              <a:rPr lang="en-US" altLang="zh-CN" dirty="0">
                <a:sym typeface="+mn-ea"/>
              </a:rPr>
              <a:t>return 0;</a:t>
            </a:r>
          </a:p>
          <a:p>
            <a:r>
              <a:rPr lang="en-US" altLang="zh-CN" dirty="0">
                <a:sym typeface="+mn-ea"/>
              </a:rPr>
              <a:t>}</a:t>
            </a:r>
            <a:endParaRPr lang="en-US" altLang="zh-CN" sz="1800" dirty="0"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FACB2F-4EF2-4DB2-B61C-3F644181CE6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123342" y="254864"/>
            <a:ext cx="5471160" cy="565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主菜单和功能对应部分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&amp;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链表的创建</a:t>
            </a:r>
          </a:p>
        </p:txBody>
      </p:sp>
    </p:spTree>
    <p:extLst>
      <p:ext uri="{BB962C8B-B14F-4D97-AF65-F5344CB8AC3E}">
        <p14:creationId xmlns:p14="http://schemas.microsoft.com/office/powerpoint/2010/main" val="370702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9C4258B-529F-442A-83E6-289468218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6987540" y="3026410"/>
            <a:ext cx="358584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dirty="0">
              <a:solidFill>
                <a:srgbClr val="9E282E"/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2228" y="850527"/>
            <a:ext cx="6519213" cy="6275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/>
              <a:t>int </a:t>
            </a:r>
            <a:r>
              <a:rPr lang="en-US" altLang="zh-CN" dirty="0" err="1"/>
              <a:t>is_id_exist</a:t>
            </a:r>
            <a:r>
              <a:rPr lang="en-US" altLang="zh-CN" dirty="0"/>
              <a:t>(int id) {</a:t>
            </a:r>
          </a:p>
          <a:p>
            <a:r>
              <a:rPr lang="en-US" altLang="zh-CN" dirty="0"/>
              <a:t>    Product* p = head;</a:t>
            </a:r>
          </a:p>
          <a:p>
            <a:r>
              <a:rPr lang="en-US" altLang="zh-CN" dirty="0"/>
              <a:t>    while (p) {</a:t>
            </a:r>
          </a:p>
          <a:p>
            <a:r>
              <a:rPr lang="en-US" altLang="zh-CN" dirty="0"/>
              <a:t>        if (p-&gt;id == id) return 1;</a:t>
            </a:r>
          </a:p>
          <a:p>
            <a:r>
              <a:rPr lang="en-US" altLang="zh-CN" dirty="0"/>
              <a:t>        p = p-&gt;next;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void </a:t>
            </a:r>
            <a:r>
              <a:rPr lang="en-US" altLang="zh-CN" dirty="0" err="1"/>
              <a:t>add_product</a:t>
            </a:r>
            <a:r>
              <a:rPr lang="en-US" altLang="zh-CN" dirty="0"/>
              <a:t>() {</a:t>
            </a:r>
          </a:p>
          <a:p>
            <a:r>
              <a:rPr lang="en-US" altLang="zh-CN" dirty="0"/>
              <a:t>    Product* </a:t>
            </a:r>
            <a:r>
              <a:rPr lang="en-US" altLang="zh-CN" dirty="0" err="1"/>
              <a:t>new_prod</a:t>
            </a:r>
            <a:r>
              <a:rPr lang="en-US" altLang="zh-CN" dirty="0"/>
              <a:t> = (Product*)malloc(</a:t>
            </a:r>
            <a:r>
              <a:rPr lang="en-US" altLang="zh-CN" dirty="0" err="1"/>
              <a:t>sizeof</a:t>
            </a:r>
            <a:r>
              <a:rPr lang="en-US" altLang="zh-CN" dirty="0"/>
              <a:t>(Product));</a:t>
            </a:r>
          </a:p>
          <a:p>
            <a:r>
              <a:rPr lang="en-US" altLang="zh-CN" dirty="0"/>
              <a:t>    </a:t>
            </a:r>
          </a:p>
          <a:p>
            <a:r>
              <a:rPr lang="en-US" altLang="zh-CN" dirty="0" err="1"/>
              <a:t>printf</a:t>
            </a:r>
            <a:r>
              <a:rPr lang="en-US" altLang="zh-CN" dirty="0"/>
              <a:t>("\n</a:t>
            </a:r>
            <a:r>
              <a:rPr lang="zh-CN" altLang="en-US" dirty="0"/>
              <a:t>输入商品编号：</a:t>
            </a:r>
            <a:r>
              <a:rPr lang="en-US" altLang="zh-CN" dirty="0"/>
              <a:t>");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scanf</a:t>
            </a:r>
            <a:r>
              <a:rPr lang="en-US" altLang="zh-CN" dirty="0"/>
              <a:t>("%d", &amp;</a:t>
            </a:r>
            <a:r>
              <a:rPr lang="en-US" altLang="zh-CN" dirty="0" err="1"/>
              <a:t>new_prod</a:t>
            </a:r>
            <a:r>
              <a:rPr lang="en-US" altLang="zh-CN" dirty="0"/>
              <a:t>-&gt;id);</a:t>
            </a:r>
          </a:p>
          <a:p>
            <a:r>
              <a:rPr lang="en-US" altLang="zh-CN" dirty="0"/>
              <a:t>    if (</a:t>
            </a:r>
            <a:r>
              <a:rPr lang="en-US" altLang="zh-CN" dirty="0" err="1"/>
              <a:t>is_id_exist</a:t>
            </a:r>
            <a:r>
              <a:rPr lang="en-US" altLang="zh-CN" dirty="0"/>
              <a:t>(</a:t>
            </a:r>
            <a:r>
              <a:rPr lang="en-US" altLang="zh-CN" dirty="0" err="1"/>
              <a:t>new_prod</a:t>
            </a:r>
            <a:r>
              <a:rPr lang="en-US" altLang="zh-CN" dirty="0"/>
              <a:t>-&gt;id)) 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("</a:t>
            </a:r>
            <a:r>
              <a:rPr lang="zh-CN" altLang="en-US" dirty="0"/>
              <a:t>编号已存在！</a:t>
            </a:r>
            <a:r>
              <a:rPr lang="en-US" altLang="zh-CN" dirty="0"/>
              <a:t>\n");</a:t>
            </a:r>
          </a:p>
          <a:p>
            <a:r>
              <a:rPr lang="en-US" altLang="zh-CN" dirty="0"/>
              <a:t>        free(</a:t>
            </a:r>
            <a:r>
              <a:rPr lang="en-US" altLang="zh-CN" dirty="0" err="1"/>
              <a:t>new_prod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    return;</a:t>
            </a:r>
          </a:p>
          <a:p>
            <a:r>
              <a:rPr lang="en-US" altLang="zh-CN" dirty="0"/>
              <a:t>    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BFAB48-4808-419F-98B3-7636566E03D6}"/>
              </a:ext>
            </a:extLst>
          </p:cNvPr>
          <p:cNvSpPr txBox="1"/>
          <p:nvPr/>
        </p:nvSpPr>
        <p:spPr>
          <a:xfrm>
            <a:off x="6987540" y="428178"/>
            <a:ext cx="426189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ym typeface="+mn-ea"/>
              </a:rPr>
              <a:t>printf</a:t>
            </a:r>
            <a:r>
              <a:rPr lang="en-US" altLang="zh-CN" sz="1600" dirty="0">
                <a:sym typeface="+mn-ea"/>
              </a:rPr>
              <a:t>("</a:t>
            </a:r>
            <a:r>
              <a:rPr lang="zh-CN" altLang="en-US" sz="1600" dirty="0">
                <a:sym typeface="+mn-ea"/>
              </a:rPr>
              <a:t>输入商品名称：</a:t>
            </a:r>
            <a:r>
              <a:rPr lang="en-US" altLang="zh-CN" sz="1600" dirty="0">
                <a:sym typeface="+mn-ea"/>
              </a:rPr>
              <a:t>");</a:t>
            </a:r>
          </a:p>
          <a:p>
            <a:r>
              <a:rPr lang="en-US" altLang="zh-CN" sz="1600" dirty="0">
                <a:sym typeface="+mn-ea"/>
              </a:rPr>
              <a:t>    </a:t>
            </a:r>
            <a:r>
              <a:rPr lang="en-US" altLang="zh-CN" sz="1600" dirty="0" err="1">
                <a:sym typeface="+mn-ea"/>
              </a:rPr>
              <a:t>scanf</a:t>
            </a:r>
            <a:r>
              <a:rPr lang="en-US" altLang="zh-CN" sz="1600" dirty="0">
                <a:sym typeface="+mn-ea"/>
              </a:rPr>
              <a:t>("%s", </a:t>
            </a:r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-&gt;name);</a:t>
            </a:r>
          </a:p>
          <a:p>
            <a:r>
              <a:rPr lang="en-US" altLang="zh-CN" sz="1600" dirty="0">
                <a:sym typeface="+mn-ea"/>
              </a:rPr>
              <a:t>    </a:t>
            </a:r>
          </a:p>
          <a:p>
            <a:r>
              <a:rPr lang="en-US" altLang="zh-CN" sz="1600" dirty="0">
                <a:sym typeface="+mn-ea"/>
              </a:rPr>
              <a:t>do {</a:t>
            </a:r>
          </a:p>
          <a:p>
            <a:r>
              <a:rPr lang="en-US" altLang="zh-CN" sz="1600" dirty="0">
                <a:sym typeface="+mn-ea"/>
              </a:rPr>
              <a:t>        </a:t>
            </a:r>
            <a:r>
              <a:rPr lang="en-US" altLang="zh-CN" sz="1600" dirty="0" err="1">
                <a:sym typeface="+mn-ea"/>
              </a:rPr>
              <a:t>printf</a:t>
            </a:r>
            <a:r>
              <a:rPr lang="en-US" altLang="zh-CN" sz="1600" dirty="0">
                <a:sym typeface="+mn-ea"/>
              </a:rPr>
              <a:t>("</a:t>
            </a:r>
            <a:r>
              <a:rPr lang="zh-CN" altLang="en-US" sz="1600" dirty="0">
                <a:sym typeface="+mn-ea"/>
              </a:rPr>
              <a:t>输入销售价：</a:t>
            </a:r>
            <a:r>
              <a:rPr lang="en-US" altLang="zh-CN" sz="1600" dirty="0">
                <a:sym typeface="+mn-ea"/>
              </a:rPr>
              <a:t>");</a:t>
            </a:r>
          </a:p>
          <a:p>
            <a:r>
              <a:rPr lang="en-US" altLang="zh-CN" sz="1600" dirty="0">
                <a:sym typeface="+mn-ea"/>
              </a:rPr>
              <a:t>        </a:t>
            </a:r>
            <a:r>
              <a:rPr lang="en-US" altLang="zh-CN" sz="1600" dirty="0" err="1">
                <a:sym typeface="+mn-ea"/>
              </a:rPr>
              <a:t>scanf</a:t>
            </a:r>
            <a:r>
              <a:rPr lang="en-US" altLang="zh-CN" sz="1600" dirty="0">
                <a:sym typeface="+mn-ea"/>
              </a:rPr>
              <a:t>("%f", &amp;</a:t>
            </a:r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-&gt;price);</a:t>
            </a:r>
          </a:p>
          <a:p>
            <a:r>
              <a:rPr lang="en-US" altLang="zh-CN" sz="1600" dirty="0">
                <a:sym typeface="+mn-ea"/>
              </a:rPr>
              <a:t>    } while (</a:t>
            </a:r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-&gt;price &lt;= 0);</a:t>
            </a:r>
          </a:p>
          <a:p>
            <a:endParaRPr lang="en-US" altLang="zh-CN" sz="1600" dirty="0">
              <a:sym typeface="+mn-ea"/>
            </a:endParaRPr>
          </a:p>
          <a:p>
            <a:r>
              <a:rPr lang="en-US" altLang="zh-CN" sz="1600" dirty="0">
                <a:sym typeface="+mn-ea"/>
              </a:rPr>
              <a:t>    do {</a:t>
            </a:r>
          </a:p>
          <a:p>
            <a:r>
              <a:rPr lang="en-US" altLang="zh-CN" sz="1600" dirty="0">
                <a:sym typeface="+mn-ea"/>
              </a:rPr>
              <a:t>        </a:t>
            </a:r>
            <a:r>
              <a:rPr lang="en-US" altLang="zh-CN" sz="1600" dirty="0" err="1">
                <a:sym typeface="+mn-ea"/>
              </a:rPr>
              <a:t>printf</a:t>
            </a:r>
            <a:r>
              <a:rPr lang="en-US" altLang="zh-CN" sz="1600" dirty="0">
                <a:sym typeface="+mn-ea"/>
              </a:rPr>
              <a:t>("</a:t>
            </a:r>
            <a:r>
              <a:rPr lang="zh-CN" altLang="en-US" sz="1600" dirty="0">
                <a:sym typeface="+mn-ea"/>
              </a:rPr>
              <a:t>输入成本价：</a:t>
            </a:r>
            <a:r>
              <a:rPr lang="en-US" altLang="zh-CN" sz="1600" dirty="0">
                <a:sym typeface="+mn-ea"/>
              </a:rPr>
              <a:t>");</a:t>
            </a:r>
          </a:p>
          <a:p>
            <a:r>
              <a:rPr lang="en-US" altLang="zh-CN" sz="1600" dirty="0">
                <a:sym typeface="+mn-ea"/>
              </a:rPr>
              <a:t>        </a:t>
            </a:r>
            <a:r>
              <a:rPr lang="en-US" altLang="zh-CN" sz="1600" dirty="0" err="1">
                <a:sym typeface="+mn-ea"/>
              </a:rPr>
              <a:t>scanf</a:t>
            </a:r>
            <a:r>
              <a:rPr lang="en-US" altLang="zh-CN" sz="1600" dirty="0">
                <a:sym typeface="+mn-ea"/>
              </a:rPr>
              <a:t>("%f", &amp;</a:t>
            </a:r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-&gt;cost);</a:t>
            </a:r>
          </a:p>
          <a:p>
            <a:r>
              <a:rPr lang="en-US" altLang="zh-CN" sz="1600" dirty="0">
                <a:sym typeface="+mn-ea"/>
              </a:rPr>
              <a:t>    } while (</a:t>
            </a:r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-&gt;cost &lt;= 0);</a:t>
            </a:r>
          </a:p>
          <a:p>
            <a:endParaRPr lang="en-US" altLang="zh-CN" sz="1600" dirty="0">
              <a:sym typeface="+mn-ea"/>
            </a:endParaRPr>
          </a:p>
          <a:p>
            <a:r>
              <a:rPr lang="en-US" altLang="zh-CN" sz="1600" dirty="0">
                <a:sym typeface="+mn-ea"/>
              </a:rPr>
              <a:t>    do {</a:t>
            </a:r>
          </a:p>
          <a:p>
            <a:r>
              <a:rPr lang="en-US" altLang="zh-CN" sz="1600" dirty="0">
                <a:sym typeface="+mn-ea"/>
              </a:rPr>
              <a:t>        </a:t>
            </a:r>
            <a:r>
              <a:rPr lang="en-US" altLang="zh-CN" sz="1600" dirty="0" err="1">
                <a:sym typeface="+mn-ea"/>
              </a:rPr>
              <a:t>printf</a:t>
            </a:r>
            <a:r>
              <a:rPr lang="en-US" altLang="zh-CN" sz="1600" dirty="0">
                <a:sym typeface="+mn-ea"/>
              </a:rPr>
              <a:t>("</a:t>
            </a:r>
            <a:r>
              <a:rPr lang="zh-CN" altLang="en-US" sz="1600" dirty="0">
                <a:sym typeface="+mn-ea"/>
              </a:rPr>
              <a:t>输入库存：</a:t>
            </a:r>
            <a:r>
              <a:rPr lang="en-US" altLang="zh-CN" sz="1600" dirty="0">
                <a:sym typeface="+mn-ea"/>
              </a:rPr>
              <a:t>");</a:t>
            </a:r>
          </a:p>
          <a:p>
            <a:r>
              <a:rPr lang="en-US" altLang="zh-CN" sz="1600" dirty="0">
                <a:sym typeface="+mn-ea"/>
              </a:rPr>
              <a:t>        </a:t>
            </a:r>
            <a:r>
              <a:rPr lang="en-US" altLang="zh-CN" sz="1600" dirty="0" err="1">
                <a:sym typeface="+mn-ea"/>
              </a:rPr>
              <a:t>scanf</a:t>
            </a:r>
            <a:r>
              <a:rPr lang="en-US" altLang="zh-CN" sz="1600" dirty="0">
                <a:sym typeface="+mn-ea"/>
              </a:rPr>
              <a:t>("%d", &amp;</a:t>
            </a:r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-&gt;stock);</a:t>
            </a:r>
          </a:p>
          <a:p>
            <a:r>
              <a:rPr lang="en-US" altLang="zh-CN" sz="1600" dirty="0">
                <a:sym typeface="+mn-ea"/>
              </a:rPr>
              <a:t>    } while (</a:t>
            </a:r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-&gt;stock &lt; 0);</a:t>
            </a:r>
          </a:p>
          <a:p>
            <a:endParaRPr lang="en-US" altLang="zh-CN" sz="1600" dirty="0">
              <a:sym typeface="+mn-ea"/>
            </a:endParaRPr>
          </a:p>
          <a:p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-&gt;next = head;</a:t>
            </a:r>
          </a:p>
          <a:p>
            <a:r>
              <a:rPr lang="en-US" altLang="zh-CN" sz="1600" dirty="0">
                <a:sym typeface="+mn-ea"/>
              </a:rPr>
              <a:t>    head = </a:t>
            </a:r>
            <a:r>
              <a:rPr lang="en-US" altLang="zh-CN" sz="1600" dirty="0" err="1">
                <a:sym typeface="+mn-ea"/>
              </a:rPr>
              <a:t>new_prod</a:t>
            </a:r>
            <a:r>
              <a:rPr lang="en-US" altLang="zh-CN" sz="1600" dirty="0">
                <a:sym typeface="+mn-ea"/>
              </a:rPr>
              <a:t>;</a:t>
            </a:r>
          </a:p>
          <a:p>
            <a:r>
              <a:rPr lang="en-US" altLang="zh-CN" sz="1600" dirty="0">
                <a:sym typeface="+mn-ea"/>
              </a:rPr>
              <a:t>    </a:t>
            </a:r>
            <a:r>
              <a:rPr lang="en-US" altLang="zh-CN" sz="1600" dirty="0" err="1">
                <a:sym typeface="+mn-ea"/>
              </a:rPr>
              <a:t>printf</a:t>
            </a:r>
            <a:r>
              <a:rPr lang="en-US" altLang="zh-CN" sz="1600" dirty="0">
                <a:sym typeface="+mn-ea"/>
              </a:rPr>
              <a:t>("</a:t>
            </a:r>
            <a:r>
              <a:rPr lang="zh-CN" altLang="en-US" sz="1600" dirty="0">
                <a:sym typeface="+mn-ea"/>
              </a:rPr>
              <a:t>添加成功！</a:t>
            </a:r>
            <a:r>
              <a:rPr lang="en-US" altLang="zh-CN" sz="1600" dirty="0">
                <a:sym typeface="+mn-ea"/>
              </a:rPr>
              <a:t>\n");</a:t>
            </a:r>
          </a:p>
          <a:p>
            <a:r>
              <a:rPr lang="en-US" altLang="zh-CN" sz="1600" dirty="0">
                <a:sym typeface="+mn-ea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7E01A4B-0A99-43AC-95F6-EBBB1411C1D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25550" y="240535"/>
            <a:ext cx="5761990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添加、进货与销售商品的实现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D070282-4CA8-4C1A-805A-5286DD4B5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9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8A736D2-2285-48AB-850E-6064A1664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8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2052" y="1313644"/>
            <a:ext cx="5730490" cy="619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ym typeface="+mn-ea"/>
              </a:rPr>
              <a:t>//mode: 2-</a:t>
            </a:r>
            <a:r>
              <a:rPr lang="zh-CN" altLang="en-US" dirty="0">
                <a:sym typeface="+mn-ea"/>
              </a:rPr>
              <a:t>进货</a:t>
            </a:r>
            <a:r>
              <a:rPr lang="en-US" altLang="zh-CN" dirty="0">
                <a:sym typeface="+mn-ea"/>
              </a:rPr>
              <a:t>, 3-</a:t>
            </a:r>
            <a:r>
              <a:rPr lang="zh-CN" altLang="en-US" dirty="0">
                <a:sym typeface="+mn-ea"/>
              </a:rPr>
              <a:t>销售 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void </a:t>
            </a:r>
            <a:r>
              <a:rPr lang="en-US" altLang="zh-CN" dirty="0" err="1">
                <a:sym typeface="+mn-ea"/>
              </a:rPr>
              <a:t>update_stock</a:t>
            </a:r>
            <a:r>
              <a:rPr lang="en-US" altLang="zh-CN" dirty="0">
                <a:sym typeface="+mn-ea"/>
              </a:rPr>
              <a:t>(int mode) {</a:t>
            </a:r>
          </a:p>
          <a:p>
            <a:r>
              <a:rPr lang="en-US" altLang="zh-CN" dirty="0">
                <a:sym typeface="+mn-ea"/>
              </a:rPr>
              <a:t>    int </a:t>
            </a:r>
            <a:r>
              <a:rPr lang="en-US" altLang="zh-CN" dirty="0" err="1">
                <a:sym typeface="+mn-ea"/>
              </a:rPr>
              <a:t>target_id</a:t>
            </a:r>
            <a:r>
              <a:rPr lang="en-US" altLang="zh-CN" dirty="0">
                <a:sym typeface="+mn-ea"/>
              </a:rPr>
              <a:t>, quantity;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("\n</a:t>
            </a:r>
            <a:r>
              <a:rPr lang="zh-CN" altLang="en-US" dirty="0">
                <a:sym typeface="+mn-ea"/>
              </a:rPr>
              <a:t>输入商品编号：</a:t>
            </a:r>
            <a:r>
              <a:rPr lang="en-US" altLang="zh-CN" dirty="0">
                <a:sym typeface="+mn-ea"/>
              </a:rPr>
              <a:t>");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scanf</a:t>
            </a:r>
            <a:r>
              <a:rPr lang="en-US" altLang="zh-CN" dirty="0">
                <a:sym typeface="+mn-ea"/>
              </a:rPr>
              <a:t>("%d", &amp;</a:t>
            </a:r>
            <a:r>
              <a:rPr lang="en-US" altLang="zh-CN" dirty="0" err="1">
                <a:sym typeface="+mn-ea"/>
              </a:rPr>
              <a:t>target_id</a:t>
            </a:r>
            <a:r>
              <a:rPr lang="en-US" altLang="zh-CN" dirty="0">
                <a:sym typeface="+mn-ea"/>
              </a:rPr>
              <a:t>);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Product* p = head;</a:t>
            </a:r>
          </a:p>
          <a:p>
            <a:r>
              <a:rPr lang="en-US" altLang="zh-CN" dirty="0">
                <a:sym typeface="+mn-ea"/>
              </a:rPr>
              <a:t>    while (p &amp;&amp; p-&gt;id != </a:t>
            </a:r>
            <a:r>
              <a:rPr lang="en-US" altLang="zh-CN" dirty="0" err="1">
                <a:sym typeface="+mn-ea"/>
              </a:rPr>
              <a:t>target_id</a:t>
            </a:r>
            <a:r>
              <a:rPr lang="en-US" altLang="zh-CN" dirty="0">
                <a:sym typeface="+mn-ea"/>
              </a:rPr>
              <a:t>) p = p-&gt;next;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    if (!p) {</a:t>
            </a:r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(“</a:t>
            </a:r>
            <a:r>
              <a:rPr lang="zh-CN" altLang="en-US" dirty="0">
                <a:sym typeface="+mn-ea"/>
              </a:rPr>
              <a:t>商品不存在。</a:t>
            </a:r>
            <a:r>
              <a:rPr lang="en-US" altLang="zh-CN" dirty="0">
                <a:sym typeface="+mn-ea"/>
              </a:rPr>
              <a:t>\n");</a:t>
            </a:r>
          </a:p>
          <a:p>
            <a:r>
              <a:rPr lang="en-US" altLang="zh-CN" dirty="0">
                <a:sym typeface="+mn-ea"/>
              </a:rPr>
              <a:t>        return;</a:t>
            </a:r>
          </a:p>
          <a:p>
            <a:r>
              <a:rPr lang="en-US" altLang="zh-CN" dirty="0">
                <a:sym typeface="+mn-ea"/>
              </a:rPr>
              <a:t>    }</a:t>
            </a:r>
          </a:p>
          <a:p>
            <a:r>
              <a:rPr lang="en-US" altLang="zh-CN" dirty="0">
                <a:sym typeface="+mn-ea"/>
              </a:rPr>
              <a:t>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918CFC-ECAA-449B-8966-B733ACD081DD}"/>
              </a:ext>
            </a:extLst>
          </p:cNvPr>
          <p:cNvSpPr txBox="1"/>
          <p:nvPr/>
        </p:nvSpPr>
        <p:spPr>
          <a:xfrm>
            <a:off x="5887257" y="1313644"/>
            <a:ext cx="60949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("</a:t>
            </a:r>
            <a:r>
              <a:rPr lang="zh-CN" altLang="en-US" sz="1800" dirty="0">
                <a:sym typeface="+mn-ea"/>
              </a:rPr>
              <a:t>当前库存：</a:t>
            </a:r>
            <a:r>
              <a:rPr lang="en-US" altLang="zh-CN" sz="1800" dirty="0">
                <a:sym typeface="+mn-ea"/>
              </a:rPr>
              <a:t>%d\n</a:t>
            </a:r>
            <a:r>
              <a:rPr lang="zh-CN" altLang="en-US" sz="1800" dirty="0">
                <a:sym typeface="+mn-ea"/>
              </a:rPr>
              <a:t>输入数量：</a:t>
            </a:r>
            <a:r>
              <a:rPr lang="en-US" altLang="zh-CN" sz="1800" dirty="0">
                <a:sym typeface="+mn-ea"/>
              </a:rPr>
              <a:t>", p-&gt;stock);</a:t>
            </a:r>
          </a:p>
          <a:p>
            <a:r>
              <a:rPr lang="en-US" altLang="zh-CN" sz="1800" dirty="0">
                <a:sym typeface="+mn-ea"/>
              </a:rPr>
              <a:t>    </a:t>
            </a:r>
            <a:r>
              <a:rPr lang="en-US" altLang="zh-CN" sz="1800" dirty="0" err="1">
                <a:sym typeface="+mn-ea"/>
              </a:rPr>
              <a:t>scanf</a:t>
            </a:r>
            <a:r>
              <a:rPr lang="en-US" altLang="zh-CN" sz="1800" dirty="0">
                <a:sym typeface="+mn-ea"/>
              </a:rPr>
              <a:t>("%d", &amp;quantity);</a:t>
            </a:r>
          </a:p>
          <a:p>
            <a:r>
              <a:rPr lang="en-US" altLang="zh-CN" sz="1800" dirty="0">
                <a:sym typeface="+mn-ea"/>
              </a:rPr>
              <a:t>    </a:t>
            </a:r>
          </a:p>
          <a:p>
            <a:r>
              <a:rPr lang="en-US" altLang="zh-CN" sz="1800" dirty="0">
                <a:sym typeface="+mn-ea"/>
              </a:rPr>
              <a:t>    if (mode == 3) {  // </a:t>
            </a:r>
            <a:r>
              <a:rPr lang="zh-CN" altLang="en-US" sz="1800" dirty="0">
                <a:sym typeface="+mn-ea"/>
              </a:rPr>
              <a:t>销售模式</a:t>
            </a:r>
          </a:p>
          <a:p>
            <a:r>
              <a:rPr lang="zh-CN" altLang="en-US" sz="1800" dirty="0">
                <a:sym typeface="+mn-ea"/>
              </a:rPr>
              <a:t>        </a:t>
            </a:r>
            <a:r>
              <a:rPr lang="en-US" altLang="zh-CN" sz="1800" dirty="0">
                <a:sym typeface="+mn-ea"/>
              </a:rPr>
              <a:t>if (p-&gt;stock &lt; quantity) {</a:t>
            </a:r>
          </a:p>
          <a:p>
            <a:r>
              <a:rPr lang="en-US" altLang="zh-CN" sz="1800" dirty="0">
                <a:sym typeface="+mn-ea"/>
              </a:rPr>
              <a:t>            </a:t>
            </a:r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("</a:t>
            </a:r>
            <a:r>
              <a:rPr lang="zh-CN" altLang="en-US" sz="1800" dirty="0">
                <a:sym typeface="+mn-ea"/>
              </a:rPr>
              <a:t>库存不足！</a:t>
            </a:r>
            <a:r>
              <a:rPr lang="en-US" altLang="zh-CN" sz="1800" dirty="0">
                <a:sym typeface="+mn-ea"/>
              </a:rPr>
              <a:t>\n");</a:t>
            </a:r>
          </a:p>
          <a:p>
            <a:r>
              <a:rPr lang="en-US" altLang="zh-CN" sz="1800" dirty="0">
                <a:sym typeface="+mn-ea"/>
              </a:rPr>
              <a:t>            return;</a:t>
            </a:r>
          </a:p>
          <a:p>
            <a:r>
              <a:rPr lang="en-US" altLang="zh-CN" sz="1800" dirty="0">
                <a:sym typeface="+mn-ea"/>
              </a:rPr>
              <a:t>        }</a:t>
            </a:r>
          </a:p>
          <a:p>
            <a:r>
              <a:rPr lang="en-US" altLang="zh-CN" sz="1800" dirty="0">
                <a:sym typeface="+mn-ea"/>
              </a:rPr>
              <a:t>        p-&gt;stock -= quantity;</a:t>
            </a:r>
          </a:p>
          <a:p>
            <a:r>
              <a:rPr lang="en-US" altLang="zh-CN" sz="1800" dirty="0">
                <a:sym typeface="+mn-ea"/>
              </a:rPr>
              <a:t>    } else {          // </a:t>
            </a:r>
            <a:r>
              <a:rPr lang="zh-CN" altLang="en-US" sz="1800" dirty="0">
                <a:sym typeface="+mn-ea"/>
              </a:rPr>
              <a:t>进货模式</a:t>
            </a:r>
          </a:p>
          <a:p>
            <a:r>
              <a:rPr lang="zh-CN" altLang="en-US" sz="1800" dirty="0">
                <a:sym typeface="+mn-ea"/>
              </a:rPr>
              <a:t>        </a:t>
            </a:r>
            <a:r>
              <a:rPr lang="en-US" altLang="zh-CN" sz="1800" dirty="0">
                <a:sym typeface="+mn-ea"/>
              </a:rPr>
              <a:t>p-&gt;stock += quantity;</a:t>
            </a:r>
          </a:p>
          <a:p>
            <a:r>
              <a:rPr lang="en-US" altLang="zh-CN" sz="1800" dirty="0">
                <a:sym typeface="+mn-ea"/>
              </a:rPr>
              <a:t>    }</a:t>
            </a:r>
          </a:p>
          <a:p>
            <a:r>
              <a:rPr lang="en-US" altLang="zh-CN" sz="1800" dirty="0">
                <a:sym typeface="+mn-ea"/>
              </a:rPr>
              <a:t>    </a:t>
            </a:r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("</a:t>
            </a:r>
            <a:r>
              <a:rPr lang="zh-CN" altLang="en-US" sz="1800" dirty="0">
                <a:sym typeface="+mn-ea"/>
              </a:rPr>
              <a:t>当前库存：</a:t>
            </a:r>
            <a:r>
              <a:rPr lang="en-US" altLang="zh-CN" sz="1800" dirty="0">
                <a:sym typeface="+mn-ea"/>
              </a:rPr>
              <a:t>%d\n", p-&gt;stock);</a:t>
            </a:r>
          </a:p>
          <a:p>
            <a:r>
              <a:rPr lang="en-US" altLang="zh-CN" sz="1800" dirty="0">
                <a:sym typeface="+mn-ea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52E71C-D1FE-4959-84C7-B814EDE5BA5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25550" y="240535"/>
            <a:ext cx="5761990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添加、进货与销售商品的实现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A83DD8E-F013-45F6-BE6E-EC85166AA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0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10302AA-F4AC-4F3C-AEB6-D1FBB86F6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62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44FF43-676D-4C96-A2E1-228347493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1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09817" y="254865"/>
            <a:ext cx="5730490" cy="619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ym typeface="+mn-ea"/>
              </a:rPr>
              <a:t>void </a:t>
            </a:r>
            <a:r>
              <a:rPr lang="en-US" altLang="zh-CN" dirty="0" err="1">
                <a:sym typeface="+mn-ea"/>
              </a:rPr>
              <a:t>search_product_by_id</a:t>
            </a:r>
            <a:r>
              <a:rPr lang="en-US" altLang="zh-CN" dirty="0">
                <a:sym typeface="+mn-ea"/>
              </a:rPr>
              <a:t>() {</a:t>
            </a:r>
          </a:p>
          <a:p>
            <a:r>
              <a:rPr lang="en-US" altLang="zh-CN" dirty="0">
                <a:sym typeface="+mn-ea"/>
              </a:rPr>
              <a:t>    int </a:t>
            </a:r>
            <a:r>
              <a:rPr lang="en-US" altLang="zh-CN" dirty="0" err="1">
                <a:sym typeface="+mn-ea"/>
              </a:rPr>
              <a:t>target_id</a:t>
            </a:r>
            <a:r>
              <a:rPr lang="en-US" altLang="zh-CN" dirty="0">
                <a:sym typeface="+mn-ea"/>
              </a:rPr>
              <a:t>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("\n</a:t>
            </a:r>
            <a:r>
              <a:rPr lang="zh-CN" altLang="en-US" dirty="0">
                <a:sym typeface="+mn-ea"/>
              </a:rPr>
              <a:t>输入查询的商品编号：</a:t>
            </a:r>
            <a:r>
              <a:rPr lang="en-US" altLang="zh-CN" dirty="0">
                <a:sym typeface="+mn-ea"/>
              </a:rPr>
              <a:t>");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scanf</a:t>
            </a:r>
            <a:r>
              <a:rPr lang="en-US" altLang="zh-CN" dirty="0">
                <a:sym typeface="+mn-ea"/>
              </a:rPr>
              <a:t>("%d", &amp;</a:t>
            </a:r>
            <a:r>
              <a:rPr lang="en-US" altLang="zh-CN" dirty="0" err="1">
                <a:sym typeface="+mn-ea"/>
              </a:rPr>
              <a:t>target_id</a:t>
            </a:r>
            <a:r>
              <a:rPr lang="en-US" altLang="zh-CN" dirty="0">
                <a:sym typeface="+mn-ea"/>
              </a:rPr>
              <a:t>);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    Product* p = head;</a:t>
            </a:r>
          </a:p>
          <a:p>
            <a:r>
              <a:rPr lang="en-US" altLang="zh-CN" dirty="0">
                <a:sym typeface="+mn-ea"/>
              </a:rPr>
              <a:t>    while (p &amp;&amp; p-&gt;id != </a:t>
            </a:r>
            <a:r>
              <a:rPr lang="en-US" altLang="zh-CN" dirty="0" err="1">
                <a:sym typeface="+mn-ea"/>
              </a:rPr>
              <a:t>target_id</a:t>
            </a:r>
            <a:r>
              <a:rPr lang="en-US" altLang="zh-CN" dirty="0">
                <a:sym typeface="+mn-ea"/>
              </a:rPr>
              <a:t>) p = p-&gt;next;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    if (!p) {</a:t>
            </a:r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(“</a:t>
            </a:r>
            <a:r>
              <a:rPr lang="zh-CN" altLang="en-US" dirty="0">
                <a:sym typeface="+mn-ea"/>
              </a:rPr>
              <a:t>未找到该商品。</a:t>
            </a:r>
            <a:r>
              <a:rPr lang="en-US" altLang="zh-CN" dirty="0">
                <a:sym typeface="+mn-ea"/>
              </a:rPr>
              <a:t>\n");</a:t>
            </a:r>
          </a:p>
          <a:p>
            <a:r>
              <a:rPr lang="en-US" altLang="zh-CN" dirty="0">
                <a:sym typeface="+mn-ea"/>
              </a:rPr>
              <a:t>        return;</a:t>
            </a:r>
          </a:p>
          <a:p>
            <a:r>
              <a:rPr lang="en-US" altLang="zh-CN" dirty="0">
                <a:sym typeface="+mn-ea"/>
              </a:rPr>
              <a:t>    }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    // </a:t>
            </a:r>
            <a:r>
              <a:rPr lang="zh-CN" altLang="en-US" dirty="0">
                <a:sym typeface="+mn-ea"/>
              </a:rPr>
              <a:t>格式化输出商品信息</a:t>
            </a:r>
          </a:p>
          <a:p>
            <a:r>
              <a:rPr lang="zh-CN" altLang="en-US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("\n===== </a:t>
            </a:r>
            <a:r>
              <a:rPr lang="zh-CN" altLang="en-US" dirty="0">
                <a:sym typeface="+mn-ea"/>
              </a:rPr>
              <a:t>详细信息 </a:t>
            </a:r>
            <a:r>
              <a:rPr lang="en-US" altLang="zh-CN" dirty="0">
                <a:sym typeface="+mn-ea"/>
              </a:rPr>
              <a:t>=====\n");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商品编号</a:t>
            </a:r>
            <a:r>
              <a:rPr lang="en-US" altLang="zh-CN" dirty="0">
                <a:sym typeface="+mn-ea"/>
              </a:rPr>
              <a:t>: %d\n", p-&gt;id);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商品名称</a:t>
            </a:r>
            <a:r>
              <a:rPr lang="en-US" altLang="zh-CN" dirty="0">
                <a:sym typeface="+mn-ea"/>
              </a:rPr>
              <a:t>: %s\n", p-&gt;name);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销售价格</a:t>
            </a:r>
            <a:r>
              <a:rPr lang="en-US" altLang="zh-CN" dirty="0">
                <a:sym typeface="+mn-ea"/>
              </a:rPr>
              <a:t>: %.2f\n", p-&gt;price);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成本价格</a:t>
            </a:r>
            <a:r>
              <a:rPr lang="en-US" altLang="zh-CN" dirty="0">
                <a:sym typeface="+mn-ea"/>
              </a:rPr>
              <a:t>: %.2f\n", p-&gt;cost);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库存数量</a:t>
            </a:r>
            <a:r>
              <a:rPr lang="en-US" altLang="zh-CN" dirty="0">
                <a:sym typeface="+mn-ea"/>
              </a:rPr>
              <a:t>: %d\n", p-&gt;stock);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("========================\n");</a:t>
            </a:r>
          </a:p>
          <a:p>
            <a:r>
              <a:rPr lang="en-US" altLang="zh-CN" dirty="0">
                <a:sym typeface="+mn-ea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918CFC-ECAA-449B-8966-B733ACD081DD}"/>
              </a:ext>
            </a:extLst>
          </p:cNvPr>
          <p:cNvSpPr txBox="1"/>
          <p:nvPr/>
        </p:nvSpPr>
        <p:spPr>
          <a:xfrm>
            <a:off x="6097074" y="1372882"/>
            <a:ext cx="60949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ym typeface="+mn-ea"/>
              </a:rPr>
              <a:t>void </a:t>
            </a:r>
            <a:r>
              <a:rPr lang="en-US" altLang="zh-CN" sz="1800" dirty="0" err="1">
                <a:sym typeface="+mn-ea"/>
              </a:rPr>
              <a:t>display_products</a:t>
            </a:r>
            <a:r>
              <a:rPr lang="en-US" altLang="zh-CN" sz="1800" dirty="0">
                <a:sym typeface="+mn-ea"/>
              </a:rPr>
              <a:t>() {</a:t>
            </a:r>
          </a:p>
          <a:p>
            <a:r>
              <a:rPr lang="en-US" altLang="zh-CN" sz="1800" dirty="0">
                <a:sym typeface="+mn-ea"/>
              </a:rPr>
              <a:t>    </a:t>
            </a:r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("\n%-8s%-20s%-10s%-10s%-8s\n", "</a:t>
            </a:r>
            <a:r>
              <a:rPr lang="zh-CN" altLang="en-US" sz="1800" dirty="0">
                <a:sym typeface="+mn-ea"/>
              </a:rPr>
              <a:t>编号</a:t>
            </a:r>
            <a:r>
              <a:rPr lang="en-US" altLang="zh-CN" sz="1800" dirty="0">
                <a:sym typeface="+mn-ea"/>
              </a:rPr>
              <a:t>", "</a:t>
            </a:r>
            <a:r>
              <a:rPr lang="zh-CN" altLang="en-US" sz="1800" dirty="0">
                <a:sym typeface="+mn-ea"/>
              </a:rPr>
              <a:t>名称</a:t>
            </a:r>
            <a:r>
              <a:rPr lang="en-US" altLang="zh-CN" sz="1800" dirty="0">
                <a:sym typeface="+mn-ea"/>
              </a:rPr>
              <a:t>", "</a:t>
            </a:r>
            <a:r>
              <a:rPr lang="zh-CN" altLang="en-US" sz="1800" dirty="0">
                <a:sym typeface="+mn-ea"/>
              </a:rPr>
              <a:t>销售价</a:t>
            </a:r>
            <a:r>
              <a:rPr lang="en-US" altLang="zh-CN" sz="1800" dirty="0">
                <a:sym typeface="+mn-ea"/>
              </a:rPr>
              <a:t>", "</a:t>
            </a:r>
            <a:r>
              <a:rPr lang="zh-CN" altLang="en-US" sz="1800" dirty="0">
                <a:sym typeface="+mn-ea"/>
              </a:rPr>
              <a:t>成本价</a:t>
            </a:r>
            <a:r>
              <a:rPr lang="en-US" altLang="zh-CN" sz="1800" dirty="0">
                <a:sym typeface="+mn-ea"/>
              </a:rPr>
              <a:t>", "</a:t>
            </a:r>
            <a:r>
              <a:rPr lang="zh-CN" altLang="en-US" sz="1800" dirty="0">
                <a:sym typeface="+mn-ea"/>
              </a:rPr>
              <a:t>库存</a:t>
            </a:r>
            <a:r>
              <a:rPr lang="en-US" altLang="zh-CN" sz="1800" dirty="0">
                <a:sym typeface="+mn-ea"/>
              </a:rPr>
              <a:t>");</a:t>
            </a:r>
          </a:p>
          <a:p>
            <a:r>
              <a:rPr lang="en-US" altLang="zh-CN" sz="1800" dirty="0">
                <a:sym typeface="+mn-ea"/>
              </a:rPr>
              <a:t>    </a:t>
            </a:r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("---------------------------------------------------\n");</a:t>
            </a:r>
          </a:p>
          <a:p>
            <a:r>
              <a:rPr lang="en-US" altLang="zh-CN" sz="1800" dirty="0">
                <a:sym typeface="+mn-ea"/>
              </a:rPr>
              <a:t>    </a:t>
            </a:r>
          </a:p>
          <a:p>
            <a:r>
              <a:rPr lang="en-US" altLang="zh-CN" sz="1800" dirty="0">
                <a:sym typeface="+mn-ea"/>
              </a:rPr>
              <a:t>    Product* p = head;</a:t>
            </a:r>
          </a:p>
          <a:p>
            <a:r>
              <a:rPr lang="en-US" altLang="zh-CN" sz="1800" dirty="0">
                <a:sym typeface="+mn-ea"/>
              </a:rPr>
              <a:t>    while (p) {</a:t>
            </a:r>
          </a:p>
          <a:p>
            <a:r>
              <a:rPr lang="en-US" altLang="zh-CN" sz="1800" dirty="0">
                <a:sym typeface="+mn-ea"/>
              </a:rPr>
              <a:t>        </a:t>
            </a:r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("%-8d%-20s%-10.2f%-10.2f%-8d\n", </a:t>
            </a:r>
          </a:p>
          <a:p>
            <a:r>
              <a:rPr lang="en-US" altLang="zh-CN" sz="1800" dirty="0">
                <a:sym typeface="+mn-ea"/>
              </a:rPr>
              <a:t>              p-&gt;id, p-&gt;name, p-&gt;price, p-&gt;cost, p-&gt;stock);</a:t>
            </a:r>
          </a:p>
          <a:p>
            <a:r>
              <a:rPr lang="en-US" altLang="zh-CN" sz="1800" dirty="0">
                <a:sym typeface="+mn-ea"/>
              </a:rPr>
              <a:t>        p = p-&gt;next;</a:t>
            </a:r>
          </a:p>
          <a:p>
            <a:r>
              <a:rPr lang="en-US" altLang="zh-CN" sz="1800" dirty="0">
                <a:sym typeface="+mn-ea"/>
              </a:rPr>
              <a:t>    }</a:t>
            </a:r>
          </a:p>
          <a:p>
            <a:r>
              <a:rPr lang="en-US" altLang="zh-CN" sz="1800" dirty="0">
                <a:sym typeface="+mn-ea"/>
              </a:rPr>
              <a:t>    </a:t>
            </a:r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("\n");</a:t>
            </a:r>
          </a:p>
          <a:p>
            <a:r>
              <a:rPr lang="en-US" altLang="zh-CN" sz="1800" dirty="0">
                <a:sym typeface="+mn-ea"/>
              </a:rPr>
              <a:t>}</a:t>
            </a:r>
          </a:p>
          <a:p>
            <a:endParaRPr lang="en-US" altLang="zh-CN" sz="1800" dirty="0">
              <a:sym typeface="+mn-ea"/>
            </a:endParaRPr>
          </a:p>
          <a:p>
            <a:endParaRPr lang="en-US" altLang="zh-CN" sz="1800" dirty="0"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1F384A-113B-41FE-9E69-3957451E879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40307" y="222655"/>
            <a:ext cx="4240138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根据编号实时查询商品状况或对全体商品进行总展示</a:t>
            </a:r>
          </a:p>
        </p:txBody>
      </p:sp>
    </p:spTree>
    <p:extLst>
      <p:ext uri="{BB962C8B-B14F-4D97-AF65-F5344CB8AC3E}">
        <p14:creationId xmlns:p14="http://schemas.microsoft.com/office/powerpoint/2010/main" val="337678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2FB2627-E7DB-4BA8-99B6-49A081401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4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A43B52F-4AF2-44FE-8B9D-A544C32D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08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F3AB4F6-2080-4F58-A980-404355E3C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4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3178" y="1355754"/>
            <a:ext cx="5730490" cy="619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ym typeface="+mn-ea"/>
              </a:rPr>
              <a:t>void </a:t>
            </a:r>
            <a:r>
              <a:rPr lang="en-US" altLang="zh-CN" dirty="0" err="1">
                <a:sym typeface="+mn-ea"/>
              </a:rPr>
              <a:t>calculate_total_cost</a:t>
            </a:r>
            <a:r>
              <a:rPr lang="en-US" altLang="zh-CN" dirty="0">
                <a:sym typeface="+mn-ea"/>
              </a:rPr>
              <a:t>() {</a:t>
            </a:r>
          </a:p>
          <a:p>
            <a:r>
              <a:rPr lang="en-US" altLang="zh-CN" dirty="0">
                <a:sym typeface="+mn-ea"/>
              </a:rPr>
              <a:t>    float </a:t>
            </a:r>
            <a:r>
              <a:rPr lang="en-US" altLang="zh-CN" dirty="0" err="1">
                <a:sym typeface="+mn-ea"/>
              </a:rPr>
              <a:t>total_cost</a:t>
            </a:r>
            <a:r>
              <a:rPr lang="en-US" altLang="zh-CN" dirty="0">
                <a:sym typeface="+mn-ea"/>
              </a:rPr>
              <a:t> = 0;</a:t>
            </a:r>
          </a:p>
          <a:p>
            <a:r>
              <a:rPr lang="en-US" altLang="zh-CN" dirty="0">
                <a:sym typeface="+mn-ea"/>
              </a:rPr>
              <a:t>    Product* p = head;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    while (p) {</a:t>
            </a:r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total_cost</a:t>
            </a:r>
            <a:r>
              <a:rPr lang="en-US" altLang="zh-CN" dirty="0">
                <a:sym typeface="+mn-ea"/>
              </a:rPr>
              <a:t> += p-&gt;cost * p-&gt;stock;</a:t>
            </a:r>
          </a:p>
          <a:p>
            <a:r>
              <a:rPr lang="en-US" altLang="zh-CN" dirty="0">
                <a:sym typeface="+mn-ea"/>
              </a:rPr>
              <a:t>        p = p-&gt;next;</a:t>
            </a:r>
          </a:p>
          <a:p>
            <a:r>
              <a:rPr lang="en-US" altLang="zh-CN" dirty="0">
                <a:sym typeface="+mn-ea"/>
              </a:rPr>
              <a:t>    }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("\n</a:t>
            </a:r>
            <a:r>
              <a:rPr lang="zh-CN" altLang="en-US" dirty="0">
                <a:sym typeface="+mn-ea"/>
              </a:rPr>
              <a:t>商品总成本</a:t>
            </a:r>
            <a:r>
              <a:rPr lang="en-US" altLang="zh-CN" dirty="0">
                <a:sym typeface="+mn-ea"/>
              </a:rPr>
              <a:t>: %.2f\n", </a:t>
            </a:r>
            <a:r>
              <a:rPr lang="en-US" altLang="zh-CN" dirty="0" err="1">
                <a:sym typeface="+mn-ea"/>
              </a:rPr>
              <a:t>total_cost</a:t>
            </a:r>
            <a:r>
              <a:rPr lang="en-US" altLang="zh-CN" dirty="0">
                <a:sym typeface="+mn-ea"/>
              </a:rPr>
              <a:t>);</a:t>
            </a:r>
          </a:p>
          <a:p>
            <a:r>
              <a:rPr lang="en-US" altLang="zh-CN" dirty="0">
                <a:sym typeface="+mn-ea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918CFC-ECAA-449B-8966-B733ACD081DD}"/>
              </a:ext>
            </a:extLst>
          </p:cNvPr>
          <p:cNvSpPr txBox="1"/>
          <p:nvPr/>
        </p:nvSpPr>
        <p:spPr>
          <a:xfrm>
            <a:off x="5972834" y="1138560"/>
            <a:ext cx="609492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ym typeface="+mn-ea"/>
              </a:rPr>
              <a:t>void </a:t>
            </a:r>
            <a:r>
              <a:rPr lang="en-US" altLang="zh-CN" sz="1800" dirty="0" err="1">
                <a:sym typeface="+mn-ea"/>
              </a:rPr>
              <a:t>save_to_file</a:t>
            </a:r>
            <a:r>
              <a:rPr lang="en-US" altLang="zh-CN" sz="1800" dirty="0">
                <a:sym typeface="+mn-ea"/>
              </a:rPr>
              <a:t>() {</a:t>
            </a:r>
          </a:p>
          <a:p>
            <a:r>
              <a:rPr lang="en-US" altLang="zh-CN" sz="1800" dirty="0">
                <a:sym typeface="+mn-ea"/>
              </a:rPr>
              <a:t>    FILE* </a:t>
            </a:r>
            <a:r>
              <a:rPr lang="en-US" altLang="zh-CN" sz="1800" dirty="0" err="1">
                <a:sym typeface="+mn-ea"/>
              </a:rPr>
              <a:t>fp</a:t>
            </a:r>
            <a:r>
              <a:rPr lang="en-US" altLang="zh-CN" sz="1800" dirty="0">
                <a:sym typeface="+mn-ea"/>
              </a:rPr>
              <a:t> = </a:t>
            </a:r>
            <a:r>
              <a:rPr lang="en-US" altLang="zh-CN" sz="1800" dirty="0" err="1">
                <a:sym typeface="+mn-ea"/>
              </a:rPr>
              <a:t>fopen</a:t>
            </a:r>
            <a:r>
              <a:rPr lang="en-US" altLang="zh-CN" sz="1800" dirty="0">
                <a:sym typeface="+mn-ea"/>
              </a:rPr>
              <a:t>("data.txt", "w");</a:t>
            </a:r>
          </a:p>
          <a:p>
            <a:r>
              <a:rPr lang="en-US" altLang="zh-CN" sz="1800" dirty="0">
                <a:sym typeface="+mn-ea"/>
              </a:rPr>
              <a:t>    if (!</a:t>
            </a:r>
            <a:r>
              <a:rPr lang="en-US" altLang="zh-CN" sz="1800" dirty="0" err="1">
                <a:sym typeface="+mn-ea"/>
              </a:rPr>
              <a:t>fp</a:t>
            </a:r>
            <a:r>
              <a:rPr lang="en-US" altLang="zh-CN" sz="1800" dirty="0">
                <a:sym typeface="+mn-ea"/>
              </a:rPr>
              <a:t>) {</a:t>
            </a:r>
          </a:p>
          <a:p>
            <a:r>
              <a:rPr lang="en-US" altLang="zh-CN" sz="1800" dirty="0">
                <a:sym typeface="+mn-ea"/>
              </a:rPr>
              <a:t>        </a:t>
            </a:r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("</a:t>
            </a:r>
            <a:r>
              <a:rPr lang="zh-CN" altLang="en-US" sz="1800" dirty="0">
                <a:sym typeface="+mn-ea"/>
              </a:rPr>
              <a:t>保存失败！</a:t>
            </a:r>
            <a:r>
              <a:rPr lang="en-US" altLang="zh-CN" sz="1800" dirty="0">
                <a:sym typeface="+mn-ea"/>
              </a:rPr>
              <a:t>\n");</a:t>
            </a:r>
          </a:p>
          <a:p>
            <a:r>
              <a:rPr lang="en-US" altLang="zh-CN" sz="1800" dirty="0">
                <a:sym typeface="+mn-ea"/>
              </a:rPr>
              <a:t>        return;</a:t>
            </a:r>
          </a:p>
          <a:p>
            <a:r>
              <a:rPr lang="en-US" altLang="zh-CN" sz="1800" dirty="0">
                <a:sym typeface="+mn-ea"/>
              </a:rPr>
              <a:t>    }</a:t>
            </a:r>
          </a:p>
          <a:p>
            <a:r>
              <a:rPr lang="en-US" altLang="zh-CN" sz="1800" dirty="0">
                <a:sym typeface="+mn-ea"/>
              </a:rPr>
              <a:t>    </a:t>
            </a:r>
          </a:p>
          <a:p>
            <a:r>
              <a:rPr lang="en-US" altLang="zh-CN" sz="1800" dirty="0">
                <a:sym typeface="+mn-ea"/>
              </a:rPr>
              <a:t>    Product* p = head;</a:t>
            </a:r>
          </a:p>
          <a:p>
            <a:r>
              <a:rPr lang="en-US" altLang="zh-CN" sz="1800" dirty="0">
                <a:sym typeface="+mn-ea"/>
              </a:rPr>
              <a:t>    while (p) {</a:t>
            </a:r>
          </a:p>
          <a:p>
            <a:r>
              <a:rPr lang="en-US" altLang="zh-CN" sz="1800" dirty="0">
                <a:sym typeface="+mn-ea"/>
              </a:rPr>
              <a:t>        </a:t>
            </a:r>
            <a:r>
              <a:rPr lang="en-US" altLang="zh-CN" sz="1800" dirty="0" err="1">
                <a:sym typeface="+mn-ea"/>
              </a:rPr>
              <a:t>fprintf</a:t>
            </a:r>
            <a:r>
              <a:rPr lang="en-US" altLang="zh-CN" sz="1800" dirty="0">
                <a:sym typeface="+mn-ea"/>
              </a:rPr>
              <a:t>(</a:t>
            </a:r>
            <a:r>
              <a:rPr lang="en-US" altLang="zh-CN" sz="1800" dirty="0" err="1">
                <a:sym typeface="+mn-ea"/>
              </a:rPr>
              <a:t>fp</a:t>
            </a:r>
            <a:r>
              <a:rPr lang="en-US" altLang="zh-CN" sz="1800" dirty="0">
                <a:sym typeface="+mn-ea"/>
              </a:rPr>
              <a:t>, "%d %s %.2f %.2f %d\n", </a:t>
            </a:r>
          </a:p>
          <a:p>
            <a:r>
              <a:rPr lang="en-US" altLang="zh-CN" sz="1800" dirty="0">
                <a:sym typeface="+mn-ea"/>
              </a:rPr>
              <a:t>               p-&gt;id, p-&gt;name, p-&gt;price, p-&gt;cost, p-&gt;stock);</a:t>
            </a:r>
          </a:p>
          <a:p>
            <a:r>
              <a:rPr lang="en-US" altLang="zh-CN" sz="1800" dirty="0">
                <a:sym typeface="+mn-ea"/>
              </a:rPr>
              <a:t>        p = p-&gt;next;</a:t>
            </a:r>
          </a:p>
          <a:p>
            <a:r>
              <a:rPr lang="en-US" altLang="zh-CN" sz="1800" dirty="0">
                <a:sym typeface="+mn-ea"/>
              </a:rPr>
              <a:t>    }</a:t>
            </a:r>
          </a:p>
          <a:p>
            <a:r>
              <a:rPr lang="en-US" altLang="zh-CN" sz="1800" dirty="0">
                <a:sym typeface="+mn-ea"/>
              </a:rPr>
              <a:t>    </a:t>
            </a:r>
            <a:r>
              <a:rPr lang="en-US" altLang="zh-CN" sz="1800" dirty="0" err="1">
                <a:sym typeface="+mn-ea"/>
              </a:rPr>
              <a:t>fclose</a:t>
            </a:r>
            <a:r>
              <a:rPr lang="en-US" altLang="zh-CN" sz="1800" dirty="0">
                <a:sym typeface="+mn-ea"/>
              </a:rPr>
              <a:t>(</a:t>
            </a:r>
            <a:r>
              <a:rPr lang="en-US" altLang="zh-CN" sz="1800" dirty="0" err="1">
                <a:sym typeface="+mn-ea"/>
              </a:rPr>
              <a:t>fp</a:t>
            </a:r>
            <a:r>
              <a:rPr lang="en-US" altLang="zh-CN" sz="1800" dirty="0">
                <a:sym typeface="+mn-ea"/>
              </a:rPr>
              <a:t>);</a:t>
            </a:r>
          </a:p>
          <a:p>
            <a:r>
              <a:rPr lang="en-US" altLang="zh-CN" sz="1800" dirty="0">
                <a:sym typeface="+mn-ea"/>
              </a:rPr>
              <a:t>    </a:t>
            </a:r>
            <a:r>
              <a:rPr lang="en-US" altLang="zh-CN" sz="1800" dirty="0" err="1">
                <a:sym typeface="+mn-ea"/>
              </a:rPr>
              <a:t>printf</a:t>
            </a:r>
            <a:r>
              <a:rPr lang="en-US" altLang="zh-CN" sz="1800" dirty="0">
                <a:sym typeface="+mn-ea"/>
              </a:rPr>
              <a:t>(“</a:t>
            </a:r>
            <a:r>
              <a:rPr lang="zh-CN" altLang="en-US" sz="1800" dirty="0">
                <a:sym typeface="+mn-ea"/>
              </a:rPr>
              <a:t>数据已保存至</a:t>
            </a:r>
            <a:r>
              <a:rPr lang="en-US" altLang="zh-CN" sz="1800" dirty="0">
                <a:sym typeface="+mn-ea"/>
              </a:rPr>
              <a:t>data.txt</a:t>
            </a:r>
            <a:r>
              <a:rPr lang="zh-CN" altLang="en-US" dirty="0">
                <a:sym typeface="+mn-ea"/>
              </a:rPr>
              <a:t>。</a:t>
            </a:r>
            <a:r>
              <a:rPr lang="en-US" altLang="zh-CN" sz="1800" dirty="0">
                <a:sym typeface="+mn-ea"/>
              </a:rPr>
              <a:t>\n");</a:t>
            </a:r>
          </a:p>
          <a:p>
            <a:r>
              <a:rPr lang="en-US" altLang="zh-CN" sz="1800" dirty="0">
                <a:sym typeface="+mn-ea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066D14-EB68-4428-A529-21909A25400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497749" y="307563"/>
            <a:ext cx="48901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计算商品总成本、保存数据至文件和从文件加载数据</a:t>
            </a:r>
          </a:p>
        </p:txBody>
      </p:sp>
    </p:spTree>
    <p:extLst>
      <p:ext uri="{BB962C8B-B14F-4D97-AF65-F5344CB8AC3E}">
        <p14:creationId xmlns:p14="http://schemas.microsoft.com/office/powerpoint/2010/main" val="125403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150A00-3981-4035-AE44-8180AC51A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4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887A72-8A15-42FF-99F6-709AAFB59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9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3178" y="254864"/>
            <a:ext cx="5730490" cy="6196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ym typeface="+mn-ea"/>
              </a:rPr>
              <a:t>void </a:t>
            </a:r>
            <a:r>
              <a:rPr lang="en-US" altLang="zh-CN" dirty="0" err="1">
                <a:sym typeface="+mn-ea"/>
              </a:rPr>
              <a:t>load_from_file</a:t>
            </a:r>
            <a:r>
              <a:rPr lang="en-US" altLang="zh-CN" dirty="0">
                <a:sym typeface="+mn-ea"/>
              </a:rPr>
              <a:t>() {</a:t>
            </a:r>
          </a:p>
          <a:p>
            <a:r>
              <a:rPr lang="en-US" altLang="zh-CN" dirty="0">
                <a:sym typeface="+mn-ea"/>
              </a:rPr>
              <a:t>    FILE* </a:t>
            </a:r>
            <a:r>
              <a:rPr lang="en-US" altLang="zh-CN" dirty="0" err="1">
                <a:sym typeface="+mn-ea"/>
              </a:rPr>
              <a:t>fp</a:t>
            </a:r>
            <a:r>
              <a:rPr lang="en-US" altLang="zh-CN" dirty="0">
                <a:sym typeface="+mn-ea"/>
              </a:rPr>
              <a:t> = </a:t>
            </a:r>
            <a:r>
              <a:rPr lang="en-US" altLang="zh-CN" dirty="0" err="1">
                <a:sym typeface="+mn-ea"/>
              </a:rPr>
              <a:t>fopen</a:t>
            </a:r>
            <a:r>
              <a:rPr lang="en-US" altLang="zh-CN" dirty="0">
                <a:sym typeface="+mn-ea"/>
              </a:rPr>
              <a:t>("data.txt", "r");</a:t>
            </a:r>
          </a:p>
          <a:p>
            <a:r>
              <a:rPr lang="en-US" altLang="zh-CN" dirty="0">
                <a:sym typeface="+mn-ea"/>
              </a:rPr>
              <a:t>    if (!</a:t>
            </a:r>
            <a:r>
              <a:rPr lang="en-US" altLang="zh-CN" dirty="0" err="1">
                <a:sym typeface="+mn-ea"/>
              </a:rPr>
              <a:t>fp</a:t>
            </a:r>
            <a:r>
              <a:rPr lang="en-US" altLang="zh-CN" dirty="0">
                <a:sym typeface="+mn-ea"/>
              </a:rPr>
              <a:t>) {</a:t>
            </a:r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未找到数据文件！</a:t>
            </a:r>
            <a:r>
              <a:rPr lang="en-US" altLang="zh-CN" dirty="0">
                <a:sym typeface="+mn-ea"/>
              </a:rPr>
              <a:t>\n");</a:t>
            </a:r>
          </a:p>
          <a:p>
            <a:r>
              <a:rPr lang="en-US" altLang="zh-CN" dirty="0">
                <a:sym typeface="+mn-ea"/>
              </a:rPr>
              <a:t>        return;</a:t>
            </a:r>
          </a:p>
          <a:p>
            <a:r>
              <a:rPr lang="en-US" altLang="zh-CN" dirty="0">
                <a:sym typeface="+mn-ea"/>
              </a:rPr>
              <a:t>    }</a:t>
            </a:r>
          </a:p>
          <a:p>
            <a:r>
              <a:rPr lang="en-US" altLang="zh-CN" dirty="0">
                <a:sym typeface="+mn-ea"/>
              </a:rPr>
              <a:t>    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free_all</a:t>
            </a:r>
            <a:r>
              <a:rPr lang="en-US" altLang="zh-CN" dirty="0">
                <a:sym typeface="+mn-ea"/>
              </a:rPr>
              <a:t>();  // </a:t>
            </a:r>
            <a:r>
              <a:rPr lang="zh-CN" altLang="en-US" dirty="0">
                <a:sym typeface="+mn-ea"/>
              </a:rPr>
              <a:t>清空当前链表</a:t>
            </a:r>
          </a:p>
          <a:p>
            <a:r>
              <a:rPr lang="zh-CN" altLang="en-US" dirty="0">
                <a:sym typeface="+mn-ea"/>
              </a:rPr>
              <a:t>    </a:t>
            </a:r>
          </a:p>
          <a:p>
            <a:r>
              <a:rPr lang="zh-CN" altLang="en-US" dirty="0">
                <a:sym typeface="+mn-ea"/>
              </a:rPr>
              <a:t>    </a:t>
            </a:r>
            <a:r>
              <a:rPr lang="en-US" altLang="zh-CN" dirty="0">
                <a:sym typeface="+mn-ea"/>
              </a:rPr>
              <a:t>Product temp, *</a:t>
            </a:r>
            <a:r>
              <a:rPr lang="en-US" altLang="zh-CN" dirty="0" err="1">
                <a:sym typeface="+mn-ea"/>
              </a:rPr>
              <a:t>new_node</a:t>
            </a:r>
            <a:r>
              <a:rPr lang="en-US" altLang="zh-CN" dirty="0">
                <a:sym typeface="+mn-ea"/>
              </a:rPr>
              <a:t>;</a:t>
            </a:r>
          </a:p>
          <a:p>
            <a:r>
              <a:rPr lang="en-US" altLang="zh-CN" dirty="0">
                <a:sym typeface="+mn-ea"/>
              </a:rPr>
              <a:t>    while(</a:t>
            </a:r>
            <a:r>
              <a:rPr lang="en-US" altLang="zh-CN" dirty="0" err="1">
                <a:sym typeface="+mn-ea"/>
              </a:rPr>
              <a:t>fscanf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fp</a:t>
            </a:r>
            <a:r>
              <a:rPr lang="en-US" altLang="zh-CN" dirty="0">
                <a:sym typeface="+mn-ea"/>
              </a:rPr>
              <a:t>, "%d %s %f %f %d", </a:t>
            </a:r>
          </a:p>
          <a:p>
            <a:r>
              <a:rPr lang="en-US" altLang="zh-CN" dirty="0">
                <a:sym typeface="+mn-ea"/>
              </a:rPr>
              <a:t>                &amp;temp.id, temp.name, &amp;</a:t>
            </a:r>
            <a:r>
              <a:rPr lang="en-US" altLang="zh-CN" dirty="0" err="1">
                <a:sym typeface="+mn-ea"/>
              </a:rPr>
              <a:t>temp.price</a:t>
            </a:r>
            <a:r>
              <a:rPr lang="en-US" altLang="zh-CN" dirty="0">
                <a:sym typeface="+mn-ea"/>
              </a:rPr>
              <a:t>, &amp;</a:t>
            </a:r>
            <a:r>
              <a:rPr lang="en-US" altLang="zh-CN" dirty="0" err="1">
                <a:sym typeface="+mn-ea"/>
              </a:rPr>
              <a:t>temp.cost</a:t>
            </a:r>
            <a:r>
              <a:rPr lang="en-US" altLang="zh-CN" dirty="0">
                <a:sym typeface="+mn-ea"/>
              </a:rPr>
              <a:t>, &amp;</a:t>
            </a:r>
            <a:r>
              <a:rPr lang="en-US" altLang="zh-CN" dirty="0" err="1">
                <a:sym typeface="+mn-ea"/>
              </a:rPr>
              <a:t>temp.stock</a:t>
            </a:r>
            <a:r>
              <a:rPr lang="en-US" altLang="zh-CN" dirty="0">
                <a:sym typeface="+mn-ea"/>
              </a:rPr>
              <a:t>) != EOF) {</a:t>
            </a:r>
          </a:p>
          <a:p>
            <a:r>
              <a:rPr lang="en-US" altLang="zh-CN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new_node</a:t>
            </a:r>
            <a:r>
              <a:rPr lang="en-US" altLang="zh-CN" dirty="0">
                <a:sym typeface="+mn-ea"/>
              </a:rPr>
              <a:t> = (Product*)malloc(</a:t>
            </a:r>
            <a:r>
              <a:rPr lang="en-US" altLang="zh-CN" dirty="0" err="1">
                <a:sym typeface="+mn-ea"/>
              </a:rPr>
              <a:t>sizeof</a:t>
            </a:r>
            <a:r>
              <a:rPr lang="en-US" altLang="zh-CN" dirty="0">
                <a:sym typeface="+mn-ea"/>
              </a:rPr>
              <a:t>(Product));</a:t>
            </a:r>
          </a:p>
          <a:p>
            <a:r>
              <a:rPr lang="en-US" altLang="zh-CN" dirty="0">
                <a:sym typeface="+mn-ea"/>
              </a:rPr>
              <a:t>        *</a:t>
            </a:r>
            <a:r>
              <a:rPr lang="en-US" altLang="zh-CN" dirty="0" err="1">
                <a:sym typeface="+mn-ea"/>
              </a:rPr>
              <a:t>new_node</a:t>
            </a:r>
            <a:r>
              <a:rPr lang="en-US" altLang="zh-CN" dirty="0">
                <a:sym typeface="+mn-ea"/>
              </a:rPr>
              <a:t> = temp;  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        </a:t>
            </a:r>
            <a:r>
              <a:rPr lang="en-US" altLang="zh-CN" dirty="0" err="1">
                <a:sym typeface="+mn-ea"/>
              </a:rPr>
              <a:t>new_node</a:t>
            </a:r>
            <a:r>
              <a:rPr lang="en-US" altLang="zh-CN" dirty="0">
                <a:sym typeface="+mn-ea"/>
              </a:rPr>
              <a:t>-&gt;next = head;</a:t>
            </a:r>
          </a:p>
          <a:p>
            <a:r>
              <a:rPr lang="en-US" altLang="zh-CN" dirty="0">
                <a:sym typeface="+mn-ea"/>
              </a:rPr>
              <a:t>        head = </a:t>
            </a:r>
            <a:r>
              <a:rPr lang="en-US" altLang="zh-CN" dirty="0" err="1">
                <a:sym typeface="+mn-ea"/>
              </a:rPr>
              <a:t>new_node</a:t>
            </a:r>
            <a:r>
              <a:rPr lang="en-US" altLang="zh-CN" dirty="0">
                <a:sym typeface="+mn-ea"/>
              </a:rPr>
              <a:t>;</a:t>
            </a:r>
          </a:p>
          <a:p>
            <a:r>
              <a:rPr lang="en-US" altLang="zh-CN" dirty="0">
                <a:sym typeface="+mn-ea"/>
              </a:rPr>
              <a:t>    }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fclose</a:t>
            </a:r>
            <a:r>
              <a:rPr lang="en-US" altLang="zh-CN" dirty="0">
                <a:sym typeface="+mn-ea"/>
              </a:rPr>
              <a:t>(</a:t>
            </a:r>
            <a:r>
              <a:rPr lang="en-US" altLang="zh-CN" dirty="0" err="1">
                <a:sym typeface="+mn-ea"/>
              </a:rPr>
              <a:t>fp</a:t>
            </a:r>
            <a:r>
              <a:rPr lang="en-US" altLang="zh-CN" dirty="0">
                <a:sym typeface="+mn-ea"/>
              </a:rPr>
              <a:t>);</a:t>
            </a:r>
          </a:p>
          <a:p>
            <a:r>
              <a:rPr lang="en-US" altLang="zh-CN" dirty="0">
                <a:sym typeface="+mn-ea"/>
              </a:rPr>
              <a:t>    </a:t>
            </a:r>
            <a:r>
              <a:rPr lang="en-US" altLang="zh-CN" dirty="0" err="1">
                <a:sym typeface="+mn-ea"/>
              </a:rPr>
              <a:t>printf</a:t>
            </a:r>
            <a:r>
              <a:rPr lang="en-US" altLang="zh-CN" dirty="0">
                <a:sym typeface="+mn-ea"/>
              </a:rPr>
              <a:t>("</a:t>
            </a:r>
            <a:r>
              <a:rPr lang="zh-CN" altLang="en-US" dirty="0">
                <a:sym typeface="+mn-ea"/>
              </a:rPr>
              <a:t>数据加载成功！</a:t>
            </a:r>
            <a:r>
              <a:rPr lang="en-US" altLang="zh-CN" dirty="0">
                <a:sym typeface="+mn-ea"/>
              </a:rPr>
              <a:t>\n");</a:t>
            </a:r>
          </a:p>
          <a:p>
            <a:r>
              <a:rPr lang="en-US" altLang="zh-CN" dirty="0">
                <a:sym typeface="+mn-ea"/>
              </a:rPr>
              <a:t>}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918CFC-ECAA-449B-8966-B733ACD081DD}"/>
              </a:ext>
            </a:extLst>
          </p:cNvPr>
          <p:cNvSpPr txBox="1"/>
          <p:nvPr/>
        </p:nvSpPr>
        <p:spPr>
          <a:xfrm>
            <a:off x="6097074" y="1701800"/>
            <a:ext cx="60949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ym typeface="+mn-ea"/>
              </a:rPr>
              <a:t>void </a:t>
            </a:r>
            <a:r>
              <a:rPr lang="en-US" altLang="zh-CN" sz="1800" dirty="0" err="1">
                <a:sym typeface="+mn-ea"/>
              </a:rPr>
              <a:t>free_all</a:t>
            </a:r>
            <a:r>
              <a:rPr lang="en-US" altLang="zh-CN" sz="1800" dirty="0">
                <a:sym typeface="+mn-ea"/>
              </a:rPr>
              <a:t>() {</a:t>
            </a:r>
          </a:p>
          <a:p>
            <a:r>
              <a:rPr lang="en-US" altLang="zh-CN" sz="1800" dirty="0">
                <a:sym typeface="+mn-ea"/>
              </a:rPr>
              <a:t>    Product* p = head;</a:t>
            </a:r>
          </a:p>
          <a:p>
            <a:r>
              <a:rPr lang="en-US" altLang="zh-CN" sz="1800" dirty="0">
                <a:sym typeface="+mn-ea"/>
              </a:rPr>
              <a:t>    while (p) {</a:t>
            </a:r>
          </a:p>
          <a:p>
            <a:r>
              <a:rPr lang="en-US" altLang="zh-CN" sz="1800" dirty="0">
                <a:sym typeface="+mn-ea"/>
              </a:rPr>
              <a:t>        Product* temp = p;</a:t>
            </a:r>
          </a:p>
          <a:p>
            <a:r>
              <a:rPr lang="en-US" altLang="zh-CN" sz="1800" dirty="0">
                <a:sym typeface="+mn-ea"/>
              </a:rPr>
              <a:t>        p = p-&gt;next;</a:t>
            </a:r>
          </a:p>
          <a:p>
            <a:r>
              <a:rPr lang="en-US" altLang="zh-CN" sz="1800" dirty="0">
                <a:sym typeface="+mn-ea"/>
              </a:rPr>
              <a:t>        free(temp);</a:t>
            </a:r>
          </a:p>
          <a:p>
            <a:r>
              <a:rPr lang="en-US" altLang="zh-CN" sz="1800" dirty="0">
                <a:sym typeface="+mn-ea"/>
              </a:rPr>
              <a:t>    }</a:t>
            </a:r>
          </a:p>
          <a:p>
            <a:r>
              <a:rPr lang="en-US" altLang="zh-CN" sz="1800" dirty="0">
                <a:sym typeface="+mn-ea"/>
              </a:rPr>
              <a:t>    head = NULL;</a:t>
            </a:r>
          </a:p>
          <a:p>
            <a:r>
              <a:rPr lang="en-US" altLang="zh-CN" sz="1800" dirty="0">
                <a:sym typeface="+mn-ea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F5F4903-BA7B-4790-B321-61871FD37C3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490200" y="316654"/>
            <a:ext cx="4838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计算商品总成本、保存数据至文件和从文件加载数据</a:t>
            </a:r>
          </a:p>
        </p:txBody>
      </p:sp>
    </p:spTree>
    <p:extLst>
      <p:ext uri="{BB962C8B-B14F-4D97-AF65-F5344CB8AC3E}">
        <p14:creationId xmlns:p14="http://schemas.microsoft.com/office/powerpoint/2010/main" val="315437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DF7F581-687D-48F2-9294-D209158B7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3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EBB999D-3E3D-4B46-827C-297B3211A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09" y="405190"/>
            <a:ext cx="10752381" cy="6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48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6096000" y="2149867"/>
            <a:ext cx="2558265" cy="2558265"/>
          </a:xfrm>
          <a:prstGeom prst="flowChartConnector">
            <a:avLst/>
          </a:prstGeom>
          <a:solidFill>
            <a:srgbClr val="BB0C21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97210" y="2644169"/>
            <a:ext cx="262128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96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谢谢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343334" y="4006001"/>
            <a:ext cx="2988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E282E"/>
                </a:solidFill>
                <a:effectLst/>
                <a:uLnTx/>
                <a:uFillTx/>
                <a:cs typeface="+mn-ea"/>
                <a:sym typeface="+mn-lt"/>
              </a:rPr>
              <a:t>THANK YOU</a:t>
            </a:r>
          </a:p>
        </p:txBody>
      </p:sp>
      <p:sp>
        <p:nvSpPr>
          <p:cNvPr id="6" name="燕尾形 5"/>
          <p:cNvSpPr/>
          <p:nvPr>
            <p:custDataLst>
              <p:tags r:id="rId2"/>
            </p:custDataLst>
          </p:nvPr>
        </p:nvSpPr>
        <p:spPr>
          <a:xfrm flipH="1">
            <a:off x="10361691" y="4123250"/>
            <a:ext cx="208052" cy="208052"/>
          </a:xfrm>
          <a:prstGeom prst="chevron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圆角矩形 9"/>
          <p:cNvSpPr/>
          <p:nvPr>
            <p:custDataLst>
              <p:tags r:id="rId3"/>
            </p:custDataLst>
          </p:nvPr>
        </p:nvSpPr>
        <p:spPr>
          <a:xfrm>
            <a:off x="9060621" y="1752538"/>
            <a:ext cx="397329" cy="397329"/>
          </a:xfrm>
          <a:prstGeom prst="flowChartConnector">
            <a:avLst/>
          </a:prstGeom>
          <a:solidFill>
            <a:srgbClr val="BB0C21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圆角矩形 10"/>
          <p:cNvSpPr/>
          <p:nvPr>
            <p:custDataLst>
              <p:tags r:id="rId4"/>
            </p:custDataLst>
          </p:nvPr>
        </p:nvSpPr>
        <p:spPr>
          <a:xfrm>
            <a:off x="9527960" y="2435099"/>
            <a:ext cx="209070" cy="209070"/>
          </a:xfrm>
          <a:prstGeom prst="flowChartConnector">
            <a:avLst/>
          </a:prstGeom>
          <a:solidFill>
            <a:srgbClr val="BB0C21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3" name="直线连接符 12"/>
          <p:cNvCxnSpPr/>
          <p:nvPr>
            <p:custDataLst>
              <p:tags r:id="rId5"/>
            </p:custDataLst>
          </p:nvPr>
        </p:nvCxnSpPr>
        <p:spPr>
          <a:xfrm>
            <a:off x="7016366" y="4227276"/>
            <a:ext cx="339777" cy="0"/>
          </a:xfrm>
          <a:prstGeom prst="line">
            <a:avLst/>
          </a:prstGeom>
          <a:ln w="44450" cap="rnd">
            <a:solidFill>
              <a:schemeClr val="dk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>
            <p:custDataLst>
              <p:tags r:id="rId6"/>
            </p:custDataLst>
          </p:nvPr>
        </p:nvSpPr>
        <p:spPr>
          <a:xfrm>
            <a:off x="6255843" y="4972111"/>
            <a:ext cx="209070" cy="209070"/>
          </a:xfrm>
          <a:prstGeom prst="flowChartConnector">
            <a:avLst/>
          </a:prstGeom>
          <a:solidFill>
            <a:srgbClr val="BB0C21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E282E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5" grpId="0"/>
      <p:bldP spid="6" grpId="0" bldLvl="0" animBg="1"/>
      <p:bldP spid="10" grpId="0" bldLvl="0" animBg="1"/>
      <p:bldP spid="11" grpId="0" bldLvl="0" animBg="1"/>
      <p:bldP spid="22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lhZjBhZmRjNDg3MTAxODYyNDkwNjExMTk0NWZhZm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5"/>
  <p:tag name="KSO_WM_UNI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5"/>
  <p:tag name="KSO_WM_UNIT_LINE_FILL_TYPE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0.1655118110236,&quot;left&quot;:440.3504724409448,&quot;top&quot;:115.04803149606298,&quot;width&quot;:519.6495275590552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15"/>
  <p:tag name="KSO_WM_UNI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"/>
  <p:tag name="KSO_WM_UNIT_LINE_FORE_SCHEMECOLOR_INDEX" val="15"/>
  <p:tag name="KSO_WM_UNIT_LINE_FILL_TYPE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第一PPT，www.1ppt.com">
  <a:themeElements>
    <a:clrScheme name="">
      <a:dk1>
        <a:srgbClr val="5A0610"/>
      </a:dk1>
      <a:lt1>
        <a:srgbClr val="FFFFFF"/>
      </a:lt1>
      <a:dk2>
        <a:srgbClr val="970B1C"/>
      </a:dk2>
      <a:lt2>
        <a:srgbClr val="970B1C"/>
      </a:lt2>
      <a:accent1>
        <a:srgbClr val="C00000"/>
      </a:accent1>
      <a:accent2>
        <a:srgbClr val="970B1C"/>
      </a:accent2>
      <a:accent3>
        <a:srgbClr val="5A0610"/>
      </a:accent3>
      <a:accent4>
        <a:srgbClr val="920D14"/>
      </a:accent4>
      <a:accent5>
        <a:srgbClr val="5A0610"/>
      </a:accent5>
      <a:accent6>
        <a:srgbClr val="920D14"/>
      </a:accent6>
      <a:hlink>
        <a:srgbClr val="0563C1"/>
      </a:hlink>
      <a:folHlink>
        <a:srgbClr val="954F72"/>
      </a:folHlink>
    </a:clrScheme>
    <a:fontScheme name="gbfxqyqh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第一PPT，www.1ppt.com">
  <a:themeElements>
    <a:clrScheme name="">
      <a:dk1>
        <a:srgbClr val="5A0610"/>
      </a:dk1>
      <a:lt1>
        <a:srgbClr val="FFFFFF"/>
      </a:lt1>
      <a:dk2>
        <a:srgbClr val="970B1C"/>
      </a:dk2>
      <a:lt2>
        <a:srgbClr val="970B1C"/>
      </a:lt2>
      <a:accent1>
        <a:srgbClr val="C00000"/>
      </a:accent1>
      <a:accent2>
        <a:srgbClr val="970B1C"/>
      </a:accent2>
      <a:accent3>
        <a:srgbClr val="5A0610"/>
      </a:accent3>
      <a:accent4>
        <a:srgbClr val="920D14"/>
      </a:accent4>
      <a:accent5>
        <a:srgbClr val="5A0610"/>
      </a:accent5>
      <a:accent6>
        <a:srgbClr val="920D14"/>
      </a:accent6>
      <a:hlink>
        <a:srgbClr val="0563C1"/>
      </a:hlink>
      <a:folHlink>
        <a:srgbClr val="954F72"/>
      </a:folHlink>
    </a:clrScheme>
    <a:fontScheme name="gbfxqyqh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第一PPT，www.1ppt.com">
  <a:themeElements>
    <a:clrScheme name="">
      <a:dk1>
        <a:srgbClr val="5A0610"/>
      </a:dk1>
      <a:lt1>
        <a:srgbClr val="FFFFFF"/>
      </a:lt1>
      <a:dk2>
        <a:srgbClr val="970B1C"/>
      </a:dk2>
      <a:lt2>
        <a:srgbClr val="970B1C"/>
      </a:lt2>
      <a:accent1>
        <a:srgbClr val="C00000"/>
      </a:accent1>
      <a:accent2>
        <a:srgbClr val="970B1C"/>
      </a:accent2>
      <a:accent3>
        <a:srgbClr val="5A0610"/>
      </a:accent3>
      <a:accent4>
        <a:srgbClr val="920D14"/>
      </a:accent4>
      <a:accent5>
        <a:srgbClr val="5A0610"/>
      </a:accent5>
      <a:accent6>
        <a:srgbClr val="920D14"/>
      </a:accent6>
      <a:hlink>
        <a:srgbClr val="0563C1"/>
      </a:hlink>
      <a:folHlink>
        <a:srgbClr val="954F72"/>
      </a:folHlink>
    </a:clrScheme>
    <a:fontScheme name="gbfxqyqh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2_第一PPT，www.1ppt.com">
  <a:themeElements>
    <a:clrScheme name="">
      <a:dk1>
        <a:srgbClr val="5A0610"/>
      </a:dk1>
      <a:lt1>
        <a:srgbClr val="FFFFFF"/>
      </a:lt1>
      <a:dk2>
        <a:srgbClr val="970B1C"/>
      </a:dk2>
      <a:lt2>
        <a:srgbClr val="970B1C"/>
      </a:lt2>
      <a:accent1>
        <a:srgbClr val="C00000"/>
      </a:accent1>
      <a:accent2>
        <a:srgbClr val="970B1C"/>
      </a:accent2>
      <a:accent3>
        <a:srgbClr val="5A0610"/>
      </a:accent3>
      <a:accent4>
        <a:srgbClr val="920D14"/>
      </a:accent4>
      <a:accent5>
        <a:srgbClr val="5A0610"/>
      </a:accent5>
      <a:accent6>
        <a:srgbClr val="920D14"/>
      </a:accent6>
      <a:hlink>
        <a:srgbClr val="0563C1"/>
      </a:hlink>
      <a:folHlink>
        <a:srgbClr val="954F72"/>
      </a:folHlink>
    </a:clrScheme>
    <a:fontScheme name="gbfxqyqh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2_第一PPT，www.1ppt.com">
  <a:themeElements>
    <a:clrScheme name="">
      <a:dk1>
        <a:srgbClr val="5A0610"/>
      </a:dk1>
      <a:lt1>
        <a:srgbClr val="FFFFFF"/>
      </a:lt1>
      <a:dk2>
        <a:srgbClr val="970B1C"/>
      </a:dk2>
      <a:lt2>
        <a:srgbClr val="970B1C"/>
      </a:lt2>
      <a:accent1>
        <a:srgbClr val="C00000"/>
      </a:accent1>
      <a:accent2>
        <a:srgbClr val="970B1C"/>
      </a:accent2>
      <a:accent3>
        <a:srgbClr val="5A0610"/>
      </a:accent3>
      <a:accent4>
        <a:srgbClr val="920D14"/>
      </a:accent4>
      <a:accent5>
        <a:srgbClr val="5A0610"/>
      </a:accent5>
      <a:accent6>
        <a:srgbClr val="920D14"/>
      </a:accent6>
      <a:hlink>
        <a:srgbClr val="0563C1"/>
      </a:hlink>
      <a:folHlink>
        <a:srgbClr val="954F72"/>
      </a:folHlink>
    </a:clrScheme>
    <a:fontScheme name="gbfxqyqh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1762</Words>
  <Application>Microsoft Office PowerPoint</Application>
  <PresentationFormat>宽屏</PresentationFormat>
  <Paragraphs>250</Paragraphs>
  <Slides>23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方正细谭黑简体</vt:lpstr>
      <vt:lpstr>微软雅黑</vt:lpstr>
      <vt:lpstr>Arial</vt:lpstr>
      <vt:lpstr>Calibri</vt:lpstr>
      <vt:lpstr>自定义设计方案</vt:lpstr>
      <vt:lpstr>3_第一PPT，www.1ppt.com</vt:lpstr>
      <vt:lpstr>4_第一PPT，www.1ppt.com</vt:lpstr>
      <vt:lpstr>5_第一PPT，www.1ppt.com</vt:lpstr>
      <vt:lpstr>12_第一PPT，www.1ppt.com</vt:lpstr>
      <vt:lpstr>22_第一PPT，www.1ppt.com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极简工作总结计划</dc:title>
  <dc:creator>第一PPT</dc:creator>
  <cp:keywords>www.1ppt.com</cp:keywords>
  <dc:description>www.1ppt.com</dc:description>
  <cp:lastModifiedBy>红伟 陈</cp:lastModifiedBy>
  <cp:revision>90</cp:revision>
  <dcterms:created xsi:type="dcterms:W3CDTF">2022-05-05T01:53:00Z</dcterms:created>
  <dcterms:modified xsi:type="dcterms:W3CDTF">2025-06-20T14:58:33Z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mondata">
    <vt:lpwstr>eyJoZGlkIjoiNDA0ODg2Yjk0MDA3ZGUzMDkzY2NlMmQwNDBkOGJmYTEifQ==</vt:lpwstr>
  </property>
  <property fmtid="{D5CDD505-2E9C-101B-9397-08002B2CF9AE}" pid="3" name="ICV">
    <vt:lpwstr>7FD5E1FE3ADA4131BCFBC540AE231A53_13</vt:lpwstr>
  </property>
  <property fmtid="{D5CDD505-2E9C-101B-9397-08002B2CF9AE}" pid="4" name="KSOProductBuildVer">
    <vt:lpwstr>2052-12.1.0.16929</vt:lpwstr>
  </property>
</Properties>
</file>